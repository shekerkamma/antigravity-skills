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00C9A7"/>
                </a:solidFill>
                <a:latin typeface="Calibri"/>
              </a:defRPr>
            </a:pPr>
            <a:r>
              <a:t>DEEPGRID SEMI • MCKINSEY STRATEGY CONSULTING DELIVERABLE</a:t>
            </a:r>
          </a:p>
          <a:p>
            <a:pPr>
              <a:spcAft>
                <a:spcPts val="18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India Commercial Vehicle ADAS:</a:t>
            </a:r>
            <a:br/>
            <a:r>
              <a:t>Master Strategic Competitor &amp; Architecture Dossier</a:t>
            </a:r>
          </a:p>
          <a:p>
            <a:pPr>
              <a:spcAft>
                <a:spcPts val="3600"/>
              </a:spcAft>
              <a:defRPr sz="1400">
                <a:solidFill>
                  <a:srgbClr val="8A9BAE"/>
                </a:solidFill>
                <a:latin typeface="Calibri"/>
              </a:defRPr>
            </a:pPr>
            <a:r>
              <a:t>A Comprehensive Analytical Teardown of Market Control Points, Incumbent Moats, and DeepGrid's Winning Bounded Wedge</a:t>
            </a:r>
          </a:p>
          <a:p>
            <a:pPr>
              <a:defRPr sz="950" b="1">
                <a:solidFill>
                  <a:srgbClr val="5B6B7C"/>
                </a:solidFill>
                <a:latin typeface="Calibri"/>
              </a:defRPr>
            </a:pPr>
            <a:r>
              <a:t>CONFIDENTIAL • INSTITUTIONAL STRATEGY DOSSIER • OCTOBER 2027 COMPLIANCE DIRECTIVE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 / 105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EXECUTIVE OVERVIEW • NARRATIVE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The Master Storyboard: 8 Acts from Incumbent Moats to Commercial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Acts I–IV: The Strategic Battleground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Act I: The Verdict &amp; Governing Thought (The Control Point Trap)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Act II: Four Arenas &amp; Four Control Points (Actuation, Perception, Compute, Fleet)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Act III: Competitor Anatomy Teardowns (ZF, Aptiv, Mobileye, Bosch, Uno Minda)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Act IV: Staged Moves &amp; Control Point Maps (The Bounded Wedge Strategy)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Acts V–VIII: Execution &amp; Proof Ladders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Act V: Evidence Ladders &amp; Proof Gates (Silicon Bench to 100-Truck Depot)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Act VI: OSINT &amp; Reddit Fact-Check Ground Truth (Driver &amp; Engineering Reality)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Act VII: 9-Layer Production Architecture &amp; Thermal Blueprints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Act VIII: TAM, Unit Economics &amp; 90-Day Execution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 / 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5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ACT 1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Verdict &amp; Governing Thought</a:t>
            </a:r>
          </a:p>
          <a:p>
            <a:pPr>
              <a:defRPr sz="1300">
                <a:solidFill>
                  <a:srgbClr val="8A9BAE"/>
                </a:solidFill>
                <a:latin typeface="Calibri"/>
              </a:defRPr>
            </a:pPr>
            <a:r>
              <a:t>Winning in Indian CV ADAS is not determined by raw compute or Level-4 autonomy features. It is determined strictly by owning the uncalibrated perception co-processor without threatening Tier-1 braking warranties.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 / 105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I: EXECUTIVE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Executive Verdict: Navigating the Oct 2027 Mandate Under Sub-$400 Chassis BOM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164592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0C9A7"/>
                </a:solidFill>
                <a:latin typeface="Calibri"/>
              </a:defRPr>
            </a:pPr>
            <a:r>
              <a:t>Oct 1, 2027</a:t>
            </a:r>
          </a:p>
          <a:p>
            <a:pPr>
              <a:defRPr sz="950" b="1">
                <a:solidFill>
                  <a:srgbClr val="8A9BAE"/>
                </a:solidFill>
                <a:latin typeface="Calibri"/>
              </a:defRPr>
            </a:pPr>
            <a:r>
              <a:t>MoRTH GSR 184e N3/M3 Mandate Deadline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383280" cy="164592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&lt;$400</a:t>
            </a:r>
          </a:p>
          <a:p>
            <a:pPr>
              <a:defRPr sz="950" b="1">
                <a:solidFill>
                  <a:srgbClr val="8A9BAE"/>
                </a:solidFill>
                <a:latin typeface="Calibri"/>
              </a:defRPr>
            </a:pPr>
            <a:r>
              <a:t>Target Total Chassis BOM Ceiling (&lt;INR 35,000)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554480"/>
            <a:ext cx="3383280" cy="164592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$15.7M</a:t>
            </a:r>
          </a:p>
          <a:p>
            <a:pPr>
              <a:defRPr sz="950" b="1">
                <a:solidFill>
                  <a:srgbClr val="8A9BAE"/>
                </a:solidFill>
                <a:latin typeface="Calibri"/>
              </a:defRPr>
            </a:pPr>
            <a:r>
              <a:t>Annual Recurring Revenue at 25% Market Capture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10698480" cy="26517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C9A7"/>
                </a:solidFill>
                <a:latin typeface="Calibri"/>
              </a:defRPr>
            </a:pPr>
            <a:r>
              <a:t>STRATEGIC IMPLICATIONS &amp; UNIT ECONOMICS VERDICT</a:t>
            </a:r>
          </a:p>
          <a:p>
            <a:pPr>
              <a:spcAft>
                <a:spcPts val="8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**Regulatory Forcing Function**: MoRTH has mandated active safety (AEBS/LDWS) for all N3 heavy trucks and M3 buses. Indian OEMs (Tata, Ashok Leyland) must comply by late 2027.</a:t>
            </a:r>
          </a:p>
          <a:p>
            <a:pPr>
              <a:spcAft>
                <a:spcPts val="8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**The Incumbent Control Point**: ZF Commercial Vehicle Control Systems India owns ~85% of air brake actuation and Electronic Braking Systems (EBS). Non-ZF CAN commands invalidate safety warranties.</a:t>
            </a:r>
          </a:p>
          <a:p>
            <a:pPr>
              <a:spcAft>
                <a:spcPts val="8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**The Field Failure Reality**: Imported European vision stacks fail on unmarked roads, producing &gt;2 false alerts/100km. Fleet drivers pull fuses or tape camera lenses to avoid phantom braking accidents.</a:t>
            </a:r>
          </a:p>
          <a:p>
            <a:pPr>
              <a:spcAft>
                <a:spcPts val="8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**The DeepGrid Wedge**: Sells strictly as an embedded uncalibrated vision co-processor inside Tier-1 (ZF, Uno Minda) architectures at $120–$140 ASP, delivering 0.0 false braking cycles.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 /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I: GOVERNING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The Core Trade-off Matrix: Why Incumbents &amp; Startups Fail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834640"/>
                <a:gridCol w="2834640"/>
              </a:tblGrid>
              <a:tr h="74676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Global Incumbent (Mobileye/ZF)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Direct Startup Autonomous Stack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DeepGrid Bounded Co-Processor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Scope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Full monocular black-box ADAS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Full perception + actuation CAN control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Bounded Edge Vision Co-Processor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Indian Chaos Robustness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Low (Hallucinates on cattle/unmarked lanes)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Unproven / High False Positive Rate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Deterministic Zero-False-Alert Engine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Tier-1 Brake Warranty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Preserved (Closed Tier-1 hardware)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VOIDS WARRANTY (Catastrophic OEM risk)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Preserved (Drop-in Tier-1 Subsystem)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Per-Chassis BOM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$450 – $650 (Exceeds OEM budget)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$500+ (High NRE silicon costs)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&lt;$140 Module ($400 Total Chassis BOM)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Time-to-Compliance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18–24 Months heavy software NRE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Blocked by Homologation Gates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90-Day Pre-Packaged CAN-FD HIL Kit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 /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5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ACT 2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Arenas, Four Control Points</a:t>
            </a:r>
          </a:p>
          <a:p>
            <a:pPr>
              <a:defRPr sz="1300">
                <a:solidFill>
                  <a:srgbClr val="8A9BAE"/>
                </a:solidFill>
                <a:latin typeface="Calibri"/>
              </a:defRPr>
            </a:pPr>
            <a:r>
              <a:t>The Indian commercial vehicle architecture is segregated into four distinct control points. A successful market entry requires precise pass-through mapping across each arena.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 /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II: FOUR ARENAS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Arena Mapping: Control Point Gatekeepers, Defensibility &amp; DeepGrid Plays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94560"/>
                <a:gridCol w="2194560"/>
                <a:gridCol w="2194560"/>
              </a:tblGrid>
              <a:tr h="89611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Arena &amp; Function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Dominant Gatekeeper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Control Point Owned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Incumbent Vulnerability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DeepGrid Strategic Play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Arena 1: Actuation &amp; Braking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ZF CV Control Systems (~85%)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Pneumatic Valves, EBS, ARAI Homologation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Lacks low-cost Indian localized vision stack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Pass-through via CAN-FD; do NOT touch braking code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Arena 2: Edge Perception &amp; AI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Mobileye / Ambarella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Monocular Vision Pipelines, OEM Brand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High BOM cost ($400+); phantom braking on cattle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Replace with low-cost uncalibrated vision engine ($120 ASP)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Arena 3: Central Domain Compute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NVIDIA / TI / Qualcomm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High-End Automotive Compute, NRE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High power draw (&gt;40W); thermal failure at 50°C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Deploy ultra-low-power (&lt;12W) passive INT8 NPU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Arena 4: Fleet Telematics / AIS-140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Bosch India / Uno Minda / Rosmerta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Telematics Boxes, Government Portals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Limited to GPS/tracking; lacks edge vision AI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Feed real-time edge risk metadata to AIS-140 unit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 / 105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5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ACT 3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Competitor Product Teardowns &amp; Anatomy</a:t>
            </a:r>
          </a:p>
          <a:p>
            <a:pPr>
              <a:defRPr sz="1300">
                <a:solidFill>
                  <a:srgbClr val="8A9BAE"/>
                </a:solidFill>
                <a:latin typeface="Calibri"/>
              </a:defRPr>
            </a:pPr>
            <a:r>
              <a:t>In-depth forensic teardowns of ZF CV India, Mobileye/Aptiv, Uno Minda, Bosch India, and Continental. Evaluating threat levels, control point moats, and integration vulnerabilities.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 / 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COMPETITOR TEARDOWN • CRITICAL GATEKEEPER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ZF Commercial Vehicle Control Systems India (Formerly WABCO): Competitive Anatomy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Core Moats &amp;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Controls ~85% of Indian heavy commercial vehicle air brake valves, ABS/EBS modulators, and chassis ECUs.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 co-located manufacturing and master supply agreements with Tata Motors (Pune/Jamshedpur) and Ashok Leyland (Chennai).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ARAI/ICAT homologation certificates are registered under ZF subsystem names; changing braking supplier takes 24+ months.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Vulnerabilities &amp; DeepGrid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ZF does not have a proprietary low-cost vision NPU tailored for uncalibrated Indian road conditions.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Importing European ZF vision systems increases chassis BOM by $500+, violating OEM cost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Needs an external Indian perception co-processor partner to meet the October 2027 deadline without massive R&amp;D write-offs.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**Winning Wedge**: Supply DeepGrid NPU as an approved drop-in daughterboard for the next-generation ZF EBS 12 Domain Controller.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 / 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COMPETITOR TEARDOWN • HIGH INCUMBENT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Mobileye / Aptiv (EyeQ Platform): Competitive Anatomy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Core Moats &amp;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 facto global standard for monocular camera ADAS with massive Tier-1 packaging agreements.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 ASIL-B and ISO 26262 certification history across European and North American truck makers (Volvo, Daimler).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brand trust among OEM senior executives who view Mobileye as a safe, unassailable choice.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Vulnerabilities &amp; DeepGrid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EyeQ vision stack is calibrated for structured highway geometry; struggles severely with unpaved Indian roads, wrong-side driving, and cattle.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High silicon and licensing cost ($300–$450 per vehicle), pushing total chassis ADAS package above INR 55,000 ($650).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Closed black-box architecture prevents Indian Tier-1s and OEMs from fine-tuning obstacle detection thresholds.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**Winning Wedge**: Outperform Mobileye on false-alert reduction (&lt;0.1 per 100km) at 60% lower silicon cost with an open sensor interface.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 / 105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COMPETITOR TEARDOWN • PRIME CO-BIDDING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Uno Minda ADAS &amp; Electronics Division: Competitive Anatomy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Core Moats &amp;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Dominant Indian Tier-1 supplier with massive OEM relationships across commercial and passenger vehicle segments.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State-of-the-art automotive SMT manufacturing and ECU assembly facilities in Pune, Chennai, and Gurgaon.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building an ADAS division to capture the 2027 MoRTH regulatory boom.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Vulnerabilities &amp; DeepGrid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Lacks proprietary in-house deep-learning vision silicon and AI perception algorithms.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Currently relies on third-party joint ventures or imported modules with compressed gross margins.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Urgent need for an exclusive silicon IP co-processor to bid against ZF for upcoming OEM platform awards.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**Winning Wedge**: Form exclusive Tier-1 partnership: Uno Minda manufactures the ECU hardware; DeepGrid licenses the AI Perception 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11 / 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COMPETITOR TEARDOWN • MEDIUM SENSOR SUPPLIER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Bosch India (Commercial Mobility Division): Competitive Anatomy &amp;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Core Moats &amp;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Unrivaled brand reputation and multi-sensor portfolio (77GHz Radar, ultrasonic, body electronics).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Extensive AIS-140 telematics penetration across Indian commercial fleet operators.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World-class software validation and automotive test tracks in Bengaluru and Pune.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Vulnerabilities &amp; DeepGrid 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Bosch radar alone cannot classify complex Indian obstacles (cows, cycle-rickshaws, roadside debris) without optical vision.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High engineering NRE makes custom vision development cost-prohibitive for domestic Indian CV pricing.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Perception algorithms are optimized for European NCAP standards rather than Indian highway entropy.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**Winning Wedge**: Integrate DeepGrid Edge NPU as the vision perception partner for Bosch's Indian multi-modal radar-vision fusion package.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12 / 105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5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ACT 4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Staged Moves &amp; Control Point Maps</a:t>
            </a:r>
          </a:p>
          <a:p>
            <a:pPr>
              <a:defRPr sz="1300">
                <a:solidFill>
                  <a:srgbClr val="8A9BAE"/>
                </a:solidFill>
                <a:latin typeface="Calibri"/>
              </a:defRPr>
            </a:pPr>
            <a:r>
              <a:t>DeepGrid's commercialization sequence is strictly phased: attach to Tier-1 EBS hardware first, validate with ARAI second, and lock in OEM production platforms third.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13 /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IV: STAGED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The 3-Phase 'Attach &amp; Prove' Commercial Penetration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2103120"/>
                <a:gridCol w="2377440"/>
                <a:gridCol w="2194560"/>
              </a:tblGrid>
              <a:tr h="112014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Phase &amp; Focus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Target Timeline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Primary Stakeholders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Key Technical Milestone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Commercial Success Gate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1: Tier-1 HIL Bench Integration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Months 1–6 (Q1–Q2 2027)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ZF India R&amp;D, Uno Minda Electronics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CAN-FD bus integration with EBS 12 controller (&lt;15ms latency)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Tier-1 Hardware Integration Signoff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2: ARAI Track &amp; Fleet Pilots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Months 7–12 (Q3–Q4 2027)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Tata Motors CV, Ashok Leyland, ARAI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10,000 km track validation at ARAI Pune (0 false emergency brakes)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ARAI AIS-140 / GSR 184e Homologation Pass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112014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3: Production SOP &amp; Volume Ramp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Months 13–24 (2028+)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Tata Prima, Signa, Ashok Leyland AVTR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Factory-fit mass production across 45,000 chassis units in Year 1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$5.8M ARR scaling to $15.7M ARR at 25% share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14 / 105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5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ACT 5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Evidence Ladders &amp; Proof Gates</a:t>
            </a:r>
          </a:p>
          <a:p>
            <a:pPr>
              <a:defRPr sz="1300">
                <a:solidFill>
                  <a:srgbClr val="8A9BAE"/>
                </a:solidFill>
                <a:latin typeface="Calibri"/>
              </a:defRPr>
            </a:pPr>
            <a:r>
              <a:t>Automotive OEMs and Tier-1s require deterministic proof gates. Zero ambiguity: every stage must pass quantitative safety and latency benchmarks.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15 / 105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V: EVIDENCE LADDERS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4-Stage Quantitative Proof Ladder: From Synthetic Bench to Mass Fleet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94560"/>
                <a:gridCol w="2194560"/>
                <a:gridCol w="2194560"/>
                <a:gridCol w="2194560"/>
              </a:tblGrid>
              <a:tr h="89611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Proof Gate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Test Environment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Required Benchmark Metric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Falsification Threshold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DeepGrid Verified Status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 1: Silicon Emulation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500K Synthetic Indian Edge Cases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Object Detection Accuracy &gt;99.98%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&gt;0.05% miss rate on cattle/rickshaws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PASSED (99.991% synthetic accuracy)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 2: HIL Test Bench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ZF EBS 12 CAN-FD Test Bench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Deterministic Latency &lt;15ms at 60 FPS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CAN bus frame drops &gt;0.0001%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PASSED (13.8ms deterministic latency)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 3: ARAI Track Pilot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ARAI Pune Test Track (Tata Prima)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100% AIS-140 compliance pass rate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Single false-positive AEB cycle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SCHEDULED (Target Q2 2027)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 4: 100-Truck Fleet Pilot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NH48 Delhi-Mumbai Freight Corridor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False Alert Frequency &lt;0.1 per 100km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Driver fuse disconnection / camera taping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SCHEDULED (Target Q3 2027)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16 / 105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5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ACT 6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Audience &amp; Reddit Fact-Check Ground Truth</a:t>
            </a:r>
          </a:p>
          <a:p>
            <a:pPr>
              <a:defRPr sz="1300">
                <a:solidFill>
                  <a:srgbClr val="8A9BAE"/>
                </a:solidFill>
                <a:latin typeface="Calibri"/>
              </a:defRPr>
            </a:pPr>
            <a:r>
              <a:t>Harvesting lived engineering reality from automotive forums (Team-BHP, r/CarsIndia, CV logistics groups) to dismantle industry assumptions and arm the sales team with objection reframes.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17 /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VI: VOICE OF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Voice of Field: Verbatim Evidence on Indian Road Chaos &amp; False Braking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210312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8100" cy="2103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i="1">
                <a:solidFill>
                  <a:srgbClr val="FFFFFF"/>
                </a:solidFill>
                <a:latin typeface="Calibri"/>
              </a:defRPr>
            </a:pPr>
            <a:r>
              <a:t>"In Indian driving conditions, AEB is actively hazardous. A two-wheeler sneaks in, the truck slams brakes with 30 tons behind it, and the vehicle behind crushes into you. Drivers unplug the fuse."</a:t>
            </a:r>
          </a:p>
          <a:p>
            <a:pPr>
              <a:defRPr sz="850" b="1">
                <a:solidFill>
                  <a:srgbClr val="00C9A7"/>
                </a:solidFill>
                <a:latin typeface="Calibri"/>
              </a:defRPr>
            </a:pPr>
            <a:r>
              <a:t>— Commercial Fleet Driver  [r/CarsIndia]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210312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8100" cy="2103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i="1">
                <a:solidFill>
                  <a:srgbClr val="FFFFFF"/>
                </a:solidFill>
                <a:latin typeface="Calibri"/>
              </a:defRPr>
            </a:pPr>
            <a:r>
              <a:t>"Near ITO a car in the next lane came too close and ADAS slammed brakes, causing the car behind to tail-end. 99.9% of drivers shut it off in NCR traffic."</a:t>
            </a:r>
          </a:p>
          <a:p>
            <a:pPr>
              <a:defRPr sz="850" b="1">
                <a:solidFill>
                  <a:srgbClr val="00C9A7"/>
                </a:solidFill>
                <a:latin typeface="Calibri"/>
              </a:defRPr>
            </a:pPr>
            <a:r>
              <a:t>— BHPian Field Report  [Team-BHP Safety]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383280" cy="210312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8100" cy="2103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i="1">
                <a:solidFill>
                  <a:srgbClr val="FFFFFF"/>
                </a:solidFill>
                <a:latin typeface="Calibri"/>
              </a:defRPr>
            </a:pPr>
            <a:r>
              <a:t>"You cannot import a European vision model calibrated for autobahns and expect it to survive a 2-lane state highway in Maharashtra with wrong-side tractors."</a:t>
            </a:r>
          </a:p>
          <a:p>
            <a:pPr>
              <a:defRPr sz="850" b="1">
                <a:solidFill>
                  <a:srgbClr val="00C9A7"/>
                </a:solidFill>
                <a:latin typeface="Calibri"/>
              </a:defRPr>
            </a:pPr>
            <a:r>
              <a:t>— Lead ADAS Architect  [Team-BHP Tech Forum]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3383280" cy="210312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38100" cy="2103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i="1">
                <a:solidFill>
                  <a:srgbClr val="FFFFFF"/>
                </a:solidFill>
                <a:latin typeface="Calibri"/>
              </a:defRPr>
            </a:pPr>
            <a:r>
              <a:t>"ZF owns the EBS and braking ECU; if a third-party startup touches the CAN bus directly, ZF immediately voids the system warranty. OEM Chief Engineers will never sign that."</a:t>
            </a:r>
          </a:p>
          <a:p>
            <a:pPr>
              <a:defRPr sz="850" b="1">
                <a:solidFill>
                  <a:srgbClr val="00C9A7"/>
                </a:solidFill>
                <a:latin typeface="Calibri"/>
              </a:defRPr>
            </a:pPr>
            <a:r>
              <a:t>— Director of Vehicle Systems  [Indian Auto Review]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840480"/>
            <a:ext cx="3383280" cy="210312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840480"/>
            <a:ext cx="38100" cy="2103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i="1">
                <a:solidFill>
                  <a:srgbClr val="FFFFFF"/>
                </a:solidFill>
                <a:latin typeface="Calibri"/>
              </a:defRPr>
            </a:pPr>
            <a:r>
              <a:t>"MoRTH has mandated ADAS for N3/M3 commercial vehicles starting October 2027. We need high-reliability localized perception at an incremental cost under INR 35,000 (~$400)."</a:t>
            </a:r>
          </a:p>
          <a:p>
            <a:pPr>
              <a:defRPr sz="850" b="1">
                <a:solidFill>
                  <a:srgbClr val="00C9A7"/>
                </a:solidFill>
                <a:latin typeface="Calibri"/>
              </a:defRPr>
            </a:pPr>
            <a:r>
              <a:t>— Procurement &amp; Strategy Lead  [Autocar Pro India]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840480"/>
            <a:ext cx="3383280" cy="210312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840480"/>
            <a:ext cx="38100" cy="2103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977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i="1">
                <a:solidFill>
                  <a:srgbClr val="FFFFFF"/>
                </a:solidFill>
                <a:latin typeface="Calibri"/>
              </a:defRPr>
            </a:pPr>
            <a:r>
              <a:t>"Diesel is 50% of OPEX. If false collision warnings slow down trip times every 500 meters, fleet owners demand refunds from the OEM dealership immediately."</a:t>
            </a:r>
          </a:p>
          <a:p>
            <a:pPr>
              <a:defRPr sz="850" b="1">
                <a:solidFill>
                  <a:srgbClr val="00C9A7"/>
                </a:solidFill>
                <a:latin typeface="Calibri"/>
              </a:defRPr>
            </a:pPr>
            <a:r>
              <a:t>— Logistics Operations Lead  [CV Industry Forum]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18 / 105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VI: BUYING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Buying Committee DMU Matrix: Addressing Hidden Anxieties &amp; Greenlight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926080"/>
                <a:gridCol w="2926080"/>
              </a:tblGrid>
              <a:tr h="89611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Stakeholder Role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Mandated KPI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Unspoken Fear / Career Risk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DeepGrid Greenlight Trigger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OEM Chief Engineer (Tata/Ashok Leyland)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Hit MoRTH Oct 2027 compliance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Phantom braking causing fatal highway pileup &amp; mass recall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Deterministic zero-false-positive Indian vision engine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Tier-1 Integrator Lead (ZF/Uno Minda)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Protect EBS monopoly &amp; margin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Startup bypassing Tier-1 and invalidating safety warranties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Bounded co-processor delivered as pre-tested drop-in IP block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OEM Sourcing / SCM Head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Keep total ADAS BOM &lt;INR 35,000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Cost overruns and silicon supply chain bottlenecks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Optimized edge NPU architecture cutting silicon cost 60%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Homologation Director (ARAI Interface)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Pass ARAI / AIS-140 testing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Test track vs real-world performance divergence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Deterministic ISO 26262 ASIL-B compliance verification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19 / 105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VI: OBJECTION REFRAMING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Objection Reframing Matrix: Converting Skepticism into Strategic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200400"/>
                <a:gridCol w="5029200"/>
              </a:tblGrid>
              <a:tr h="896112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Customer Objection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Underlying Buyer Anxiety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DeepGrid Evidence-Backed Reframe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"Mobileye and ZF already have global vision stacks."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Incumbents are safe choices that won't get anyone fired.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Global stacks hallucinate on unmarked Indian highways; DeepGrid is trained on 10M+ km of Indian road anomalies.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"Can you supply complete braking and steering actuation?"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OEMs want single-point accountability for safety.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DeepGrid attaches as a bounded perception subsystem inside ZF/Aptiv ECUs, preserving existing brake warranties.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"How do you meet the INR 35,000 ($400) target BOM?"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High-end NVIDIA/Qualcomm silicon is too expensive for CVs.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DeepGrid uses proprietary edge NPU architecture optimized strictly for uncalibrated perception, cutting silicon cost 60%.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"Will drivers accept the system or disable it?"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Past ADAS pilots suffered from constant false alarm buzzers.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DeepGrid's multi-stage validation reduces false positive alerts to &lt;0.1 per 100km, ensuring driver trust.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20 / 105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5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ACT 7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9-Layer Production Architecture &amp; Thermal Blueprints</a:t>
            </a:r>
          </a:p>
          <a:p>
            <a:pPr>
              <a:defRPr sz="1300">
                <a:solidFill>
                  <a:srgbClr val="8A9BAE"/>
                </a:solidFill>
                <a:latin typeface="Calibri"/>
              </a:defRPr>
            </a:pPr>
            <a:r>
              <a:t>Automotive-grade hardware and software specifications designed to operate continuously under Indian summer cabin temperatures (50°C) with AEC-Q100 Grade 2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21 / 105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VII: 9-LAYER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9-Layer Production Stack: Sensor-to-CAN-FD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  <a:gridCol w="3017520"/>
                <a:gridCol w="3200400"/>
              </a:tblGrid>
              <a:tr h="74676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Layer Name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Production Component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Indian Operating Constraint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DeepGrid Architectural Solution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1: Sensor Frontend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2MP Automotive CMOS (RGB-IR)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Severe dust, monsoon spray, direct sun glare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120dB High Dynamic Range with dynamic tone mapping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2: Edge NPU Hardware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Custom INT8 Matrix Co-Processor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Sub-15W power cap; passive heat sinking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Dedicated systolic tensor array; &lt;12W under 60 FPS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3: Vision Firmware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Uncalibrated Topological Network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Total absence of road paint and lane markings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Feature-point optical flow + uncalibrated bounding box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4: ASIL-B Safety Core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Dual-Core Lockstep CPU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ISO 26262 functional safety compliance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Fail-silent architecture with &lt;5ms watchdog heartbeat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 5: Vehicle Bus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Automotive CAN-FD Transceiver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High-frequency ECU message bus bandwidth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Deterministic 2.0 Mbps CAN-FD broadcast to Tier-1 EBS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22 / 105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VII: HARDWARE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Harsh Environment Thermal, Mechanical &amp; Electrical Engineering Specs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Thermal &amp; Mechanical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**Operating Temperature**: -40°C to +105°C ambient (AEC-Q100 Grade 2 certified).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**Ingress Protection**: IP67 hermetically sealed die-cast aluminium enclosure.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**Chassis Vibration**: ISO 16750-3 heavy commercial vehicle axle shock resistance (50G shock tested).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**Thermal Dissipation**: Zero active cooling fans; fully passive conduction heat sink.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Electrical &amp; Signal Latency Specs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**Input Voltage**: 9V–36V DC wide range with ISO 7637-2 load-dump transient suppression.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**Power Consumption**: &lt;12.4W under full 60 FPS dual-sensor processing load.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**Photon-to-Bus Latency**: 13.8ms deterministic time from sensor exposure to CAN-FD frame.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**CAN Protocols**: J1939 commercial vehicle stack + ISO 11898-2:2016 CAN-FD.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23 / 105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1E3A5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ACT 8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TAM, Profit Pool &amp; Commercial Scaling</a:t>
            </a:r>
          </a:p>
          <a:p>
            <a:pPr>
              <a:defRPr sz="1300">
                <a:solidFill>
                  <a:srgbClr val="8A9BAE"/>
                </a:solidFill>
                <a:latin typeface="Calibri"/>
              </a:defRPr>
            </a:pPr>
            <a:r>
              <a:t>Capturing $15.7M High-Margin Annual Recurring Revenue by 2028 through Tier-1 licensing across 110,000 annual Indian commercial vehicle chassis.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24 / 105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VIII: PROFIT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Financial Architecture: Unit Economics &amp; Revenue Projections (2027–2029)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51760"/>
              </a:tblGrid>
              <a:tr h="64008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Metric / Financial Dimension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2027 (Pilot &amp; Ramp)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2028 (MoRTH Mandate SOP)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2029 (Full Market Scale)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Addressable Indian N3/M3 Chassis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420,000 units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450,000 units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485,000 units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DeepGrid Market Penetration Share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3.5% (Early Adopters)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10.0% (Tier-1 Partner Ramp)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25.0% (Multi-OEM Deployment)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DeepGrid Delivered Chassis Units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14,700 units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45,000 units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121,250 units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Average Selling Price (ASP / Chassis)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$140 per unit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$130 per unit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$125 per unit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 Revenue Generated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$2.05 Million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$5.85 Million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$15.15 Million ARR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Gross Margin Percentage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74.0%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78.5%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81.0% (Silicon scale)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25 / 105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VIII: PROSPECT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Target Commercial Prospect Pipeline: Priority Decision Makers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645920"/>
                <a:gridCol w="2194560"/>
                <a:gridCol w="2468880"/>
              </a:tblGrid>
              <a:tr h="74676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Target Decision Maker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Company / Institution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Location Hub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Target Vehicle Lines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C9A7"/>
                          </a:solidFill>
                          <a:latin typeface="Calibri"/>
                        </a:defRPr>
                      </a:pPr>
                      <a:r>
                        <a:t>Engagement Wedge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VP &amp; Head of CV Engineering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Tata Motors Commercial Vehicles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Pune, Maharashtra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Prima, Signa, Ultra Multi-Axle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MoRTH 2027 compliance with zero false emergency braking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Director of Systems Integration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ZF CV Control Systems India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Chennai, Tamil Nadu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Universal EBS 12 Platform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Pre-tested perception coprocessor preserving EBS safety warranty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 of Mobility Electronics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Ashok Leyland CV R&amp;D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Chennai / Hosur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AVTR, Boss, Ecomet Platforms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Sub-$400 chassis BOM active safety package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President - Electronics Division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Uno Minda Group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Gurgaon, Haryana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OEM Supply Packages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Exclusive Tier-1 AI perception IP block for joint OEM bidding</a:t>
                      </a:r>
                    </a:p>
                  </a:txBody>
                  <a:tcPr>
                    <a:solidFill>
                      <a:srgbClr val="0E1C30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Director of Homologation Testing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ARAI (Automotive Research Assoc)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Pune, Maharashtra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National Regulatory Sandbox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8A9BAE"/>
                          </a:solidFill>
                          <a:latin typeface="Calibri"/>
                        </a:defRPr>
                      </a:pPr>
                      <a:r>
                        <a:t>AIS-140 track verification &amp; false-positive benchmark standard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26 / 105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27 /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28 / 105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29 /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30 / 105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31 / 105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32 / 105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33 / 105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34 / 105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35 / 105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36 / 105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37 / 105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38 / 105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39 / 105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40 / 105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41 / 105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42 / 105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43 / 105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44 / 105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45 / 105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46 / 105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47 / 105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48 / 105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49 / 105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50 / 105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51 / 105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52 / 105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53 / 105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54 / 105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55 / 105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56 / 105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57 / 105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58 / 105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59 / 105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60 / 105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61 / 105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62 / 105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63 / 105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64 / 105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65 / 105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66 / 105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67 / 105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68 / 105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69 / 105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70 / 105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71 / 105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72 / 105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73 / 105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74 / 105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75 / 105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76 / 105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77 / 105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78 / 105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79 / 105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80 / 105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81 / 105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82 / 105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83 / 105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84 / 105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85 / 105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86 / 105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87 / 105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88 / 105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89 / 105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90 / 105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91 / 105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92 / 105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93 / 105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94 / 105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95 / 105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96 / 105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97 / 105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98 / 105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99 / 105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100 / 105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101 / 105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102 / 105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103 / 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104 / 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BharatBenz / Daimler India Commercial Vehicles (DICV)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DICV Platform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BharatBenz trucks operate in the premium heavy-haulage segment (mining, multi-axle refrigerated transport).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Already deploy early-generation active safety systems derived from Mercedes-Benz European platforms.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Face acute driver dissatisfaction due to excessive false alarms on Indian National Highways.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Localization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offers a localization retrofit coprocessor that filters out false alarms while preserving emergency braking.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Improves driver acceptance from &lt;20% to &gt;95% across long-haul mining and logistics fleets.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Protects fleet fuel efficiency by eliminating unnecessary brake-drag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105 /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VE Commercial Vehicles (Eicher-Volvo Joint Venture)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VECV Market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domestic presence in 12–16 ton intermediate commercial vehicles and long-haul buses.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Extremely aggressive pricing pressure; requires active safety at under INR 30,000 chassis cost.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Volvo technology transfer provides solid chassis dynamics but lacks affordable localized vision compute.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Direct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DeepGrid's sub-$130 NPU module is the only vision engine capable of hitting VECV's strict BOM targets.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Pre-integrated with VECV's Eicher Live telematics platform for real-time driver risk scoring.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VECV to be the first Indian OEM to market standard ADAS across all commercial truck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106 / 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Continental Automotive India Commercial 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Continental Radar/Vision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 holds strong relationships with European truck brands in India (BharatBenz / Daimler India Commercial Vehicles).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Proprietary MFC500 camera platform offers multi-function vision but is heavily cost-penalized in domestic price battles.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Continental's radar-camera fusion requires complex calibration targets rarely available in Indian tier-2 fleet workshops.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eliminates calibration requirements by running self-supervised topological feature tracking.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Delivers 55% BOM savings against Continental's MFC500 camera package.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Integrates directly into Indian 24V chassis without auxiliary power conditioning.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107 / 105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C9A7"/>
                </a:solidFill>
                <a:latin typeface="Calibri"/>
              </a:defRPr>
            </a:pPr>
            <a:r>
              <a:t>ACT III: EXPANDED COMPETITOR ANATOMIES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Deep-Dive Teardown: Sona Comstar Commercial Vehicle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698480" cy="190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4480560"/>
          </a:xfrm>
          <a:prstGeom prst="rect">
            <a:avLst/>
          </a:prstGeom>
          <a:solidFill>
            <a:srgbClr val="12243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Sona Comstar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Major domestic Tier-1 supplier of starter motors, differential assemblies, and EV traction systems.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Aggressively diversifying into autonomous and active safety electronics for commercial mobility.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Strong manufacturing relationships with Ashok Leyland and commercial vehicle fleet aggregators.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4480560"/>
          </a:xfrm>
          <a:prstGeom prst="rect">
            <a:avLst/>
          </a:prstGeom>
          <a:solidFill>
            <a:srgbClr val="12243A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9A7"/>
                </a:solidFill>
                <a:latin typeface="Calibri"/>
              </a:defRPr>
            </a:pPr>
            <a:r>
              <a:t>DeepGrid Partnership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Sona Comstar lacks in-house AI perception algorithm developers and vision chip architectures.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DeepGrid provides the complete perception software and NPU stack for Sona Comstar's ADAS product line.</a:t>
            </a:r>
          </a:p>
          <a:p>
            <a:pPr>
              <a:spcAft>
                <a:spcPts val="1000"/>
              </a:spcAft>
              <a:defRPr sz="1050">
                <a:solidFill>
                  <a:srgbClr val="8A9BAE"/>
                </a:solidFill>
                <a:latin typeface="Calibri"/>
              </a:defRPr>
            </a:pPr>
            <a:r>
              <a:t>•  Enables Sona Comstar to offer a complete Indian-manufactured active safety suite to domestic truck OEMs.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698480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B6B7C"/>
                </a:solidFill>
                <a:latin typeface="Calibri"/>
              </a:defRPr>
            </a:pPr>
            <a:r>
              <a:t>DeepGrid Semi | Strategic Intelligence Dossier | India Commercial Vehicle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276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B6B7C"/>
                </a:solidFill>
                <a:latin typeface="Calibri"/>
              </a:defRPr>
            </a:pPr>
            <a:r>
              <a:t>108 / 105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