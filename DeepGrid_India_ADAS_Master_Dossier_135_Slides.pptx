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683e34620a74a24" Type="http://schemas.openxmlformats.org/officeDocument/2006/relationships/extended-properties" Target="docProps/app.xml"/><Relationship Id="R1ceb8a8711184095" Type="http://schemas.openxmlformats.org/officeDocument/2006/relationships/officeDocument" Target="ppt/presentation.xml"/><Relationship Id="R8ebad3fe0588438c"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ea8bd24be5044a37"/>
  </p:sldMasterIdLst>
  <p:notesMasterIdLst>
    <p:notesMasterId xmlns:r="http://schemas.openxmlformats.org/officeDocument/2006/relationships" r:id="R617225742d6b4703"/>
  </p:notesMasterIdLst>
  <p:sldIdLst>
    <p:sldId xmlns:r="http://schemas.openxmlformats.org/officeDocument/2006/relationships" id="256" r:id="R860f1c4a5dfc437c"/>
    <p:sldId xmlns:r="http://schemas.openxmlformats.org/officeDocument/2006/relationships" id="257" r:id="R779e85f32dd545ea"/>
    <p:sldId xmlns:r="http://schemas.openxmlformats.org/officeDocument/2006/relationships" id="258" r:id="R81131e2463324e01"/>
    <p:sldId xmlns:r="http://schemas.openxmlformats.org/officeDocument/2006/relationships" id="259" r:id="R37f37f2d74c642f4"/>
    <p:sldId xmlns:r="http://schemas.openxmlformats.org/officeDocument/2006/relationships" id="260" r:id="Rd91e63ce16d84d43"/>
    <p:sldId xmlns:r="http://schemas.openxmlformats.org/officeDocument/2006/relationships" id="261" r:id="R184491ceb2a94e96"/>
    <p:sldId xmlns:r="http://schemas.openxmlformats.org/officeDocument/2006/relationships" id="262" r:id="Reac034811d564731"/>
    <p:sldId xmlns:r="http://schemas.openxmlformats.org/officeDocument/2006/relationships" id="263" r:id="Rfba67bd401a24cf1"/>
    <p:sldId xmlns:r="http://schemas.openxmlformats.org/officeDocument/2006/relationships" id="264" r:id="R90d75d98cafb491e"/>
    <p:sldId xmlns:r="http://schemas.openxmlformats.org/officeDocument/2006/relationships" id="265" r:id="R8bd4ca9667c845f5"/>
    <p:sldId xmlns:r="http://schemas.openxmlformats.org/officeDocument/2006/relationships" id="266" r:id="R7a0b45e33c6c4a47"/>
    <p:sldId xmlns:r="http://schemas.openxmlformats.org/officeDocument/2006/relationships" id="267" r:id="R9597dadfee7747b5"/>
    <p:sldId xmlns:r="http://schemas.openxmlformats.org/officeDocument/2006/relationships" id="268" r:id="R74d6fccc186e4c65"/>
    <p:sldId xmlns:r="http://schemas.openxmlformats.org/officeDocument/2006/relationships" id="269" r:id="Rc66336f4745b45b7"/>
    <p:sldId xmlns:r="http://schemas.openxmlformats.org/officeDocument/2006/relationships" id="270" r:id="R5a4918eb1a324e2a"/>
    <p:sldId xmlns:r="http://schemas.openxmlformats.org/officeDocument/2006/relationships" id="271" r:id="R72046a3b17af4c7a"/>
    <p:sldId xmlns:r="http://schemas.openxmlformats.org/officeDocument/2006/relationships" id="272" r:id="Rdee0c9d903654b92"/>
    <p:sldId xmlns:r="http://schemas.openxmlformats.org/officeDocument/2006/relationships" id="273" r:id="Ra6beac4eadac4f12"/>
    <p:sldId xmlns:r="http://schemas.openxmlformats.org/officeDocument/2006/relationships" id="274" r:id="R015224a1f60847b4"/>
    <p:sldId xmlns:r="http://schemas.openxmlformats.org/officeDocument/2006/relationships" id="275" r:id="Rbe06c0780d264cc6"/>
    <p:sldId xmlns:r="http://schemas.openxmlformats.org/officeDocument/2006/relationships" id="276" r:id="Re6423ccfbadc4309"/>
    <p:sldId xmlns:r="http://schemas.openxmlformats.org/officeDocument/2006/relationships" id="277" r:id="Rab86df6d2cb04d72"/>
    <p:sldId xmlns:r="http://schemas.openxmlformats.org/officeDocument/2006/relationships" id="278" r:id="R8d791f4362e4479c"/>
    <p:sldId xmlns:r="http://schemas.openxmlformats.org/officeDocument/2006/relationships" id="279" r:id="Rc85f3578da4c4984"/>
    <p:sldId xmlns:r="http://schemas.openxmlformats.org/officeDocument/2006/relationships" id="280" r:id="Ra6d56a288c764f43"/>
    <p:sldId xmlns:r="http://schemas.openxmlformats.org/officeDocument/2006/relationships" id="281" r:id="Rb3ab3c89eeac4663"/>
    <p:sldId xmlns:r="http://schemas.openxmlformats.org/officeDocument/2006/relationships" id="282" r:id="R870e110d83b74857"/>
    <p:sldId xmlns:r="http://schemas.openxmlformats.org/officeDocument/2006/relationships" id="283" r:id="Rba613e254b81414f"/>
    <p:sldId xmlns:r="http://schemas.openxmlformats.org/officeDocument/2006/relationships" id="284" r:id="R39cc2732fa85445f"/>
    <p:sldId xmlns:r="http://schemas.openxmlformats.org/officeDocument/2006/relationships" id="285" r:id="Reb18a65012ad4012"/>
    <p:sldId xmlns:r="http://schemas.openxmlformats.org/officeDocument/2006/relationships" id="286" r:id="Rbccaa46dc84f4a23"/>
    <p:sldId xmlns:r="http://schemas.openxmlformats.org/officeDocument/2006/relationships" id="287" r:id="Raa95fdd63ef94120"/>
    <p:sldId xmlns:r="http://schemas.openxmlformats.org/officeDocument/2006/relationships" id="288" r:id="R40c5db43949f4834"/>
    <p:sldId xmlns:r="http://schemas.openxmlformats.org/officeDocument/2006/relationships" id="289" r:id="R17285e24177f4325"/>
    <p:sldId xmlns:r="http://schemas.openxmlformats.org/officeDocument/2006/relationships" id="290" r:id="Rf6867823f3e64581"/>
    <p:sldId xmlns:r="http://schemas.openxmlformats.org/officeDocument/2006/relationships" id="291" r:id="Rf978f34def9b4161"/>
    <p:sldId xmlns:r="http://schemas.openxmlformats.org/officeDocument/2006/relationships" id="292" r:id="R26b5efbbb00946cf"/>
    <p:sldId xmlns:r="http://schemas.openxmlformats.org/officeDocument/2006/relationships" id="293" r:id="R426c934d8af64757"/>
    <p:sldId xmlns:r="http://schemas.openxmlformats.org/officeDocument/2006/relationships" id="294" r:id="R839b110f44a14357"/>
    <p:sldId xmlns:r="http://schemas.openxmlformats.org/officeDocument/2006/relationships" id="295" r:id="R2e2f21815a8b4a05"/>
    <p:sldId xmlns:r="http://schemas.openxmlformats.org/officeDocument/2006/relationships" id="296" r:id="R4709d79144324278"/>
    <p:sldId xmlns:r="http://schemas.openxmlformats.org/officeDocument/2006/relationships" id="297" r:id="Rbd82aafe73804b1b"/>
    <p:sldId xmlns:r="http://schemas.openxmlformats.org/officeDocument/2006/relationships" id="298" r:id="R3c4500901fc643a1"/>
    <p:sldId xmlns:r="http://schemas.openxmlformats.org/officeDocument/2006/relationships" id="299" r:id="Rc6c17d0e364547f1"/>
    <p:sldId xmlns:r="http://schemas.openxmlformats.org/officeDocument/2006/relationships" id="300" r:id="Raa4ad79e33c24a19"/>
    <p:sldId xmlns:r="http://schemas.openxmlformats.org/officeDocument/2006/relationships" id="301" r:id="R2a12e24b930041f4"/>
    <p:sldId xmlns:r="http://schemas.openxmlformats.org/officeDocument/2006/relationships" id="302" r:id="Rd0ba1113f7534eb8"/>
    <p:sldId xmlns:r="http://schemas.openxmlformats.org/officeDocument/2006/relationships" id="303" r:id="R78d663801f8f455f"/>
    <p:sldId xmlns:r="http://schemas.openxmlformats.org/officeDocument/2006/relationships" id="304" r:id="Rce095611e56e4521"/>
    <p:sldId xmlns:r="http://schemas.openxmlformats.org/officeDocument/2006/relationships" id="305" r:id="R2b7da218008f43dc"/>
    <p:sldId xmlns:r="http://schemas.openxmlformats.org/officeDocument/2006/relationships" id="306" r:id="Rf5bf1defb8ad4ba8"/>
    <p:sldId xmlns:r="http://schemas.openxmlformats.org/officeDocument/2006/relationships" id="307" r:id="R8cedf7f4bad7464d"/>
    <p:sldId xmlns:r="http://schemas.openxmlformats.org/officeDocument/2006/relationships" id="308" r:id="R7375f05c2cf14edb"/>
    <p:sldId xmlns:r="http://schemas.openxmlformats.org/officeDocument/2006/relationships" id="309" r:id="R428b8043c90c42fe"/>
    <p:sldId xmlns:r="http://schemas.openxmlformats.org/officeDocument/2006/relationships" id="310" r:id="R9b628e6e78544b8b"/>
    <p:sldId xmlns:r="http://schemas.openxmlformats.org/officeDocument/2006/relationships" id="311" r:id="Rd6f4a69c53c74bb4"/>
    <p:sldId xmlns:r="http://schemas.openxmlformats.org/officeDocument/2006/relationships" id="312" r:id="R0077ba894fa64c11"/>
    <p:sldId xmlns:r="http://schemas.openxmlformats.org/officeDocument/2006/relationships" id="313" r:id="R1db21cb9f7e04a60"/>
    <p:sldId xmlns:r="http://schemas.openxmlformats.org/officeDocument/2006/relationships" id="314" r:id="R3d628adff1fa4417"/>
    <p:sldId xmlns:r="http://schemas.openxmlformats.org/officeDocument/2006/relationships" id="315" r:id="R0a0e3ce5ea094302"/>
    <p:sldId xmlns:r="http://schemas.openxmlformats.org/officeDocument/2006/relationships" id="316" r:id="R35203e73d7014800"/>
    <p:sldId xmlns:r="http://schemas.openxmlformats.org/officeDocument/2006/relationships" id="317" r:id="R1882c7a18767435d"/>
    <p:sldId xmlns:r="http://schemas.openxmlformats.org/officeDocument/2006/relationships" id="318" r:id="Rb4bd3e6b368e4d8d"/>
    <p:sldId xmlns:r="http://schemas.openxmlformats.org/officeDocument/2006/relationships" id="319" r:id="R1df45d95f1704094"/>
    <p:sldId xmlns:r="http://schemas.openxmlformats.org/officeDocument/2006/relationships" id="320" r:id="Re0a16116040b4945"/>
    <p:sldId xmlns:r="http://schemas.openxmlformats.org/officeDocument/2006/relationships" id="321" r:id="Rc01b92e1c645412b"/>
    <p:sldId xmlns:r="http://schemas.openxmlformats.org/officeDocument/2006/relationships" id="322" r:id="R2e979cabe15d4abf"/>
    <p:sldId xmlns:r="http://schemas.openxmlformats.org/officeDocument/2006/relationships" id="323" r:id="Rc2e175efd00c4004"/>
    <p:sldId xmlns:r="http://schemas.openxmlformats.org/officeDocument/2006/relationships" id="324" r:id="Rd3156bd877fe4893"/>
    <p:sldId xmlns:r="http://schemas.openxmlformats.org/officeDocument/2006/relationships" id="325" r:id="R8a2f221b5fe04722"/>
    <p:sldId xmlns:r="http://schemas.openxmlformats.org/officeDocument/2006/relationships" id="326" r:id="R30d05ca396a742b3"/>
    <p:sldId xmlns:r="http://schemas.openxmlformats.org/officeDocument/2006/relationships" id="327" r:id="R5288066191484ff9"/>
    <p:sldId xmlns:r="http://schemas.openxmlformats.org/officeDocument/2006/relationships" id="328" r:id="R250b40e062024a45"/>
    <p:sldId xmlns:r="http://schemas.openxmlformats.org/officeDocument/2006/relationships" id="329" r:id="R6c8fbe105c4c41ae"/>
    <p:sldId xmlns:r="http://schemas.openxmlformats.org/officeDocument/2006/relationships" id="330" r:id="R068fa9e334724cba"/>
    <p:sldId xmlns:r="http://schemas.openxmlformats.org/officeDocument/2006/relationships" id="331" r:id="Rdafd5ae62e31482b"/>
    <p:sldId xmlns:r="http://schemas.openxmlformats.org/officeDocument/2006/relationships" id="332" r:id="R029505b9fefb4be7"/>
    <p:sldId xmlns:r="http://schemas.openxmlformats.org/officeDocument/2006/relationships" id="333" r:id="R1e2abac7667c4c16"/>
    <p:sldId xmlns:r="http://schemas.openxmlformats.org/officeDocument/2006/relationships" id="334" r:id="R7f383a31841643a7"/>
    <p:sldId xmlns:r="http://schemas.openxmlformats.org/officeDocument/2006/relationships" id="335" r:id="R8f2fe21ee6ba49f4"/>
    <p:sldId xmlns:r="http://schemas.openxmlformats.org/officeDocument/2006/relationships" id="336" r:id="Rd13bb80dad524b69"/>
    <p:sldId xmlns:r="http://schemas.openxmlformats.org/officeDocument/2006/relationships" id="337" r:id="Rba2dd234f86d4082"/>
    <p:sldId xmlns:r="http://schemas.openxmlformats.org/officeDocument/2006/relationships" id="338" r:id="R848dd42a1f904612"/>
    <p:sldId xmlns:r="http://schemas.openxmlformats.org/officeDocument/2006/relationships" id="339" r:id="R5a97b5e32b2b4d90"/>
    <p:sldId xmlns:r="http://schemas.openxmlformats.org/officeDocument/2006/relationships" id="340" r:id="R9ae0a415b49a45b7"/>
    <p:sldId xmlns:r="http://schemas.openxmlformats.org/officeDocument/2006/relationships" id="341" r:id="R6b7332de2fcc4d40"/>
    <p:sldId xmlns:r="http://schemas.openxmlformats.org/officeDocument/2006/relationships" id="342" r:id="R85f0b0ee5a284ff1"/>
    <p:sldId xmlns:r="http://schemas.openxmlformats.org/officeDocument/2006/relationships" id="343" r:id="R60125b1404ad410d"/>
    <p:sldId xmlns:r="http://schemas.openxmlformats.org/officeDocument/2006/relationships" id="344" r:id="R33b649fab62846ed"/>
    <p:sldId xmlns:r="http://schemas.openxmlformats.org/officeDocument/2006/relationships" id="345" r:id="R4cbb16fcef5341bd"/>
    <p:sldId xmlns:r="http://schemas.openxmlformats.org/officeDocument/2006/relationships" id="346" r:id="R7c645585e25d4f76"/>
    <p:sldId xmlns:r="http://schemas.openxmlformats.org/officeDocument/2006/relationships" id="347" r:id="R5a21c0f2a0c14b94"/>
    <p:sldId xmlns:r="http://schemas.openxmlformats.org/officeDocument/2006/relationships" id="348" r:id="R7dca49e18f4944b3"/>
    <p:sldId xmlns:r="http://schemas.openxmlformats.org/officeDocument/2006/relationships" id="349" r:id="Rb13a432ab85b4b1a"/>
    <p:sldId xmlns:r="http://schemas.openxmlformats.org/officeDocument/2006/relationships" id="350" r:id="R58b4aff3d74341ab"/>
    <p:sldId xmlns:r="http://schemas.openxmlformats.org/officeDocument/2006/relationships" id="351" r:id="R84995265f09242b5"/>
    <p:sldId xmlns:r="http://schemas.openxmlformats.org/officeDocument/2006/relationships" id="352" r:id="R243cce8b6bec4d65"/>
    <p:sldId xmlns:r="http://schemas.openxmlformats.org/officeDocument/2006/relationships" id="353" r:id="Rf37d8ecbb41449a2"/>
    <p:sldId xmlns:r="http://schemas.openxmlformats.org/officeDocument/2006/relationships" id="354" r:id="R9d0e197f440e4535"/>
    <p:sldId xmlns:r="http://schemas.openxmlformats.org/officeDocument/2006/relationships" id="355" r:id="Re709615c0be04500"/>
    <p:sldId xmlns:r="http://schemas.openxmlformats.org/officeDocument/2006/relationships" id="356" r:id="R370f0f423cee47c4"/>
    <p:sldId xmlns:r="http://schemas.openxmlformats.org/officeDocument/2006/relationships" id="357" r:id="Rde85e225a7bb49b0"/>
    <p:sldId xmlns:r="http://schemas.openxmlformats.org/officeDocument/2006/relationships" id="358" r:id="Rde6d673580c14ffd"/>
    <p:sldId xmlns:r="http://schemas.openxmlformats.org/officeDocument/2006/relationships" id="359" r:id="R38648b85455043fc"/>
    <p:sldId xmlns:r="http://schemas.openxmlformats.org/officeDocument/2006/relationships" id="360" r:id="R79dda12abdb84650"/>
    <p:sldId xmlns:r="http://schemas.openxmlformats.org/officeDocument/2006/relationships" id="361" r:id="Rb2a181fae75d4ef5"/>
    <p:sldId xmlns:r="http://schemas.openxmlformats.org/officeDocument/2006/relationships" id="362" r:id="Rac5b5e0f741a46fe"/>
    <p:sldId xmlns:r="http://schemas.openxmlformats.org/officeDocument/2006/relationships" id="363" r:id="R022d8a75a94c4cea"/>
    <p:sldId xmlns:r="http://schemas.openxmlformats.org/officeDocument/2006/relationships" id="364" r:id="Rd2594ae0ad3b4585"/>
    <p:sldId xmlns:r="http://schemas.openxmlformats.org/officeDocument/2006/relationships" id="365" r:id="R05271168f9704764"/>
    <p:sldId xmlns:r="http://schemas.openxmlformats.org/officeDocument/2006/relationships" id="366" r:id="R3a9b8cb62bee4bf2"/>
    <p:sldId xmlns:r="http://schemas.openxmlformats.org/officeDocument/2006/relationships" id="367" r:id="R9f3882dec09f4581"/>
    <p:sldId xmlns:r="http://schemas.openxmlformats.org/officeDocument/2006/relationships" id="368" r:id="Rdf300840d3714da3"/>
    <p:sldId xmlns:r="http://schemas.openxmlformats.org/officeDocument/2006/relationships" id="369" r:id="R68d128d93f1c4f93"/>
    <p:sldId xmlns:r="http://schemas.openxmlformats.org/officeDocument/2006/relationships" id="370" r:id="R728ab848b7d24d66"/>
    <p:sldId xmlns:r="http://schemas.openxmlformats.org/officeDocument/2006/relationships" id="371" r:id="Ra964333dc13c4a38"/>
    <p:sldId xmlns:r="http://schemas.openxmlformats.org/officeDocument/2006/relationships" id="372" r:id="Rf25e4fee6ab044c5"/>
    <p:sldId xmlns:r="http://schemas.openxmlformats.org/officeDocument/2006/relationships" id="373" r:id="Rb4f1e31cdfed4c19"/>
    <p:sldId xmlns:r="http://schemas.openxmlformats.org/officeDocument/2006/relationships" id="374" r:id="R45765cb1822f4ec6"/>
    <p:sldId xmlns:ns0="http://schemas.openxmlformats.org/officeDocument/2006/relationships" id="375" ns0:id="rId125"/>
    <p:sldId xmlns:ns0="http://schemas.openxmlformats.org/officeDocument/2006/relationships" id="376" ns0:id="rId126"/>
    <p:sldId xmlns:ns0="http://schemas.openxmlformats.org/officeDocument/2006/relationships" id="377" ns0:id="rId127"/>
    <p:sldId xmlns:ns0="http://schemas.openxmlformats.org/officeDocument/2006/relationships" id="378" ns0:id="rId128"/>
    <p:sldId xmlns:ns0="http://schemas.openxmlformats.org/officeDocument/2006/relationships" id="379" ns0:id="rId129"/>
    <p:sldId xmlns:ns0="http://schemas.openxmlformats.org/officeDocument/2006/relationships" id="380" ns0:id="rId130"/>
    <p:sldId xmlns:ns0="http://schemas.openxmlformats.org/officeDocument/2006/relationships" id="381" ns0:id="rId131"/>
    <p:sldId xmlns:ns0="http://schemas.openxmlformats.org/officeDocument/2006/relationships" id="382" ns0:id="rId132"/>
    <p:sldId xmlns:ns0="http://schemas.openxmlformats.org/officeDocument/2006/relationships" id="383" ns0:id="rId133"/>
    <p:sldId xmlns:ns0="http://schemas.openxmlformats.org/officeDocument/2006/relationships" id="384" ns0:id="rId134"/>
    <p:sldId xmlns:ns0="http://schemas.openxmlformats.org/officeDocument/2006/relationships" id="385" ns0:id="rId135"/>
    <p:sldId xmlns:ns0="http://schemas.openxmlformats.org/officeDocument/2006/relationships" id="386" ns0:id="rId1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077ba894fa64c11" Type="http://schemas.openxmlformats.org/officeDocument/2006/relationships/slide" Target="slides/slide57.xml"/><Relationship Id="R015224a1f60847b4" Type="http://schemas.openxmlformats.org/officeDocument/2006/relationships/slide" Target="slides/slide19.xml"/><Relationship Id="R022d8a75a94c4cea" Type="http://schemas.openxmlformats.org/officeDocument/2006/relationships/slide" Target="slides/slide108.xml"/><Relationship Id="R029505b9fefb4be7" Type="http://schemas.openxmlformats.org/officeDocument/2006/relationships/slide" Target="slides/slide77.xml"/><Relationship Id="R05271168f9704764" Type="http://schemas.openxmlformats.org/officeDocument/2006/relationships/slide" Target="slides/slide110.xml"/><Relationship Id="R068fa9e334724cba" Type="http://schemas.openxmlformats.org/officeDocument/2006/relationships/slide" Target="slides/slide75.xml"/><Relationship Id="R0a0e3ce5ea094302" Type="http://schemas.openxmlformats.org/officeDocument/2006/relationships/slide" Target="slides/slide60.xml"/><Relationship Id="R17285e24177f4325" Type="http://schemas.openxmlformats.org/officeDocument/2006/relationships/slide" Target="slides/slide34.xml"/><Relationship Id="R184491ceb2a94e96" Type="http://schemas.openxmlformats.org/officeDocument/2006/relationships/slide" Target="slides/slide6.xml"/><Relationship Id="R1882c7a18767435d" Type="http://schemas.openxmlformats.org/officeDocument/2006/relationships/slide" Target="slides/slide62.xml"/><Relationship Id="R1db21cb9f7e04a60" Type="http://schemas.openxmlformats.org/officeDocument/2006/relationships/slide" Target="slides/slide58.xml"/><Relationship Id="R1df45d95f1704094" Type="http://schemas.openxmlformats.org/officeDocument/2006/relationships/slide" Target="slides/slide64.xml"/><Relationship Id="R1e2abac7667c4c16" Type="http://schemas.openxmlformats.org/officeDocument/2006/relationships/slide" Target="slides/slide78.xml"/><Relationship Id="R243cce8b6bec4d65" Type="http://schemas.openxmlformats.org/officeDocument/2006/relationships/slide" Target="slides/slide97.xml"/><Relationship Id="R250b40e062024a45" Type="http://schemas.openxmlformats.org/officeDocument/2006/relationships/slide" Target="slides/slide73.xml"/><Relationship Id="R26b5efbbb00946cf" Type="http://schemas.openxmlformats.org/officeDocument/2006/relationships/slide" Target="slides/slide37.xml"/><Relationship Id="R2a12e24b930041f4" Type="http://schemas.openxmlformats.org/officeDocument/2006/relationships/slide" Target="slides/slide46.xml"/><Relationship Id="R2b7da218008f43dc" Type="http://schemas.openxmlformats.org/officeDocument/2006/relationships/slide" Target="slides/slide50.xml"/><Relationship Id="R2e2f21815a8b4a05" Type="http://schemas.openxmlformats.org/officeDocument/2006/relationships/slide" Target="slides/slide40.xml"/><Relationship Id="R2e979cabe15d4abf" Type="http://schemas.openxmlformats.org/officeDocument/2006/relationships/slide" Target="slides/slide67.xml"/><Relationship Id="R30d05ca396a742b3" Type="http://schemas.openxmlformats.org/officeDocument/2006/relationships/slide" Target="slides/slide71.xml"/><Relationship Id="R33b649fab62846ed" Type="http://schemas.openxmlformats.org/officeDocument/2006/relationships/slide" Target="slides/slide89.xml"/><Relationship Id="R35203e73d7014800" Type="http://schemas.openxmlformats.org/officeDocument/2006/relationships/slide" Target="slides/slide61.xml"/><Relationship Id="R370f0f423cee47c4" Type="http://schemas.openxmlformats.org/officeDocument/2006/relationships/slide" Target="slides/slide101.xml"/><Relationship Id="R37f37f2d74c642f4" Type="http://schemas.openxmlformats.org/officeDocument/2006/relationships/slide" Target="slides/slide4.xml"/><Relationship Id="R38648b85455043fc" Type="http://schemas.openxmlformats.org/officeDocument/2006/relationships/slide" Target="slides/slide104.xml"/><Relationship Id="R39cc2732fa85445f" Type="http://schemas.openxmlformats.org/officeDocument/2006/relationships/slide" Target="slides/slide29.xml"/><Relationship Id="R3a9b8cb62bee4bf2" Type="http://schemas.openxmlformats.org/officeDocument/2006/relationships/slide" Target="slides/slide111.xml"/><Relationship Id="R3c4500901fc643a1" Type="http://schemas.openxmlformats.org/officeDocument/2006/relationships/slide" Target="slides/slide43.xml"/><Relationship Id="R3d628adff1fa4417" Type="http://schemas.openxmlformats.org/officeDocument/2006/relationships/slide" Target="slides/slide59.xml"/><Relationship Id="R40c5db43949f4834" Type="http://schemas.openxmlformats.org/officeDocument/2006/relationships/slide" Target="slides/slide33.xml"/><Relationship Id="R426c934d8af64757" Type="http://schemas.openxmlformats.org/officeDocument/2006/relationships/slide" Target="slides/slide38.xml"/><Relationship Id="R428b8043c90c42fe" Type="http://schemas.openxmlformats.org/officeDocument/2006/relationships/slide" Target="slides/slide54.xml"/><Relationship Id="R45765cb1822f4ec6" Type="http://schemas.openxmlformats.org/officeDocument/2006/relationships/slide" Target="slides/slide119.xml"/><Relationship Id="R4709d79144324278" Type="http://schemas.openxmlformats.org/officeDocument/2006/relationships/slide" Target="slides/slide41.xml"/><Relationship Id="R4cbb16fcef5341bd" Type="http://schemas.openxmlformats.org/officeDocument/2006/relationships/slide" Target="slides/slide90.xml"/><Relationship Id="R5288066191484ff9" Type="http://schemas.openxmlformats.org/officeDocument/2006/relationships/slide" Target="slides/slide72.xml"/><Relationship Id="R58b4aff3d74341ab" Type="http://schemas.openxmlformats.org/officeDocument/2006/relationships/slide" Target="slides/slide95.xml"/><Relationship Id="R5a21c0f2a0c14b94" Type="http://schemas.openxmlformats.org/officeDocument/2006/relationships/slide" Target="slides/slide92.xml"/><Relationship Id="R5a4918eb1a324e2a" Type="http://schemas.openxmlformats.org/officeDocument/2006/relationships/slide" Target="slides/slide15.xml"/><Relationship Id="R5a97b5e32b2b4d90" Type="http://schemas.openxmlformats.org/officeDocument/2006/relationships/slide" Target="slides/slide84.xml"/><Relationship Id="R60125b1404ad410d" Type="http://schemas.openxmlformats.org/officeDocument/2006/relationships/slide" Target="slides/slide88.xml"/><Relationship Id="R617225742d6b4703" Type="http://schemas.openxmlformats.org/officeDocument/2006/relationships/notesMaster" Target="notesMasters/notesMaster1.xml"/><Relationship Id="R68d128d93f1c4f93" Type="http://schemas.openxmlformats.org/officeDocument/2006/relationships/slide" Target="slides/slide114.xml"/><Relationship Id="R6b7332de2fcc4d40" Type="http://schemas.openxmlformats.org/officeDocument/2006/relationships/slide" Target="slides/slide86.xml"/><Relationship Id="R6c8fbe105c4c41ae" Type="http://schemas.openxmlformats.org/officeDocument/2006/relationships/slide" Target="slides/slide74.xml"/><Relationship Id="R72046a3b17af4c7a" Type="http://schemas.openxmlformats.org/officeDocument/2006/relationships/slide" Target="slides/slide16.xml"/><Relationship Id="R728ab848b7d24d66" Type="http://schemas.openxmlformats.org/officeDocument/2006/relationships/slide" Target="slides/slide115.xml"/><Relationship Id="R7375f05c2cf14edb" Type="http://schemas.openxmlformats.org/officeDocument/2006/relationships/slide" Target="slides/slide53.xml"/><Relationship Id="R74d6fccc186e4c65" Type="http://schemas.openxmlformats.org/officeDocument/2006/relationships/slide" Target="slides/slide13.xml"/><Relationship Id="R779e85f32dd545ea" Type="http://schemas.openxmlformats.org/officeDocument/2006/relationships/slide" Target="slides/slide2.xml"/><Relationship Id="R78d663801f8f455f" Type="http://schemas.openxmlformats.org/officeDocument/2006/relationships/slide" Target="slides/slide48.xml"/><Relationship Id="R79dda12abdb84650" Type="http://schemas.openxmlformats.org/officeDocument/2006/relationships/slide" Target="slides/slide105.xml"/><Relationship Id="R7a0b45e33c6c4a47" Type="http://schemas.openxmlformats.org/officeDocument/2006/relationships/slide" Target="slides/slide11.xml"/><Relationship Id="R7c645585e25d4f76" Type="http://schemas.openxmlformats.org/officeDocument/2006/relationships/slide" Target="slides/slide91.xml"/><Relationship Id="R7d905aa2845d444e" Type="http://schemas.openxmlformats.org/officeDocument/2006/relationships/presProps" Target="presProps.xml"/><Relationship Id="R7dca49e18f4944b3" Type="http://schemas.openxmlformats.org/officeDocument/2006/relationships/slide" Target="slides/slide93.xml"/><Relationship Id="R7f383a31841643a7" Type="http://schemas.openxmlformats.org/officeDocument/2006/relationships/slide" Target="slides/slide79.xml"/><Relationship Id="R81131e2463324e01" Type="http://schemas.openxmlformats.org/officeDocument/2006/relationships/slide" Target="slides/slide3.xml"/><Relationship Id="R839b110f44a14357" Type="http://schemas.openxmlformats.org/officeDocument/2006/relationships/slide" Target="slides/slide39.xml"/><Relationship Id="R848dd42a1f904612" Type="http://schemas.openxmlformats.org/officeDocument/2006/relationships/slide" Target="slides/slide83.xml"/><Relationship Id="R84995265f09242b5" Type="http://schemas.openxmlformats.org/officeDocument/2006/relationships/slide" Target="slides/slide96.xml"/><Relationship Id="R85f0b0ee5a284ff1" Type="http://schemas.openxmlformats.org/officeDocument/2006/relationships/slide" Target="slides/slide87.xml"/><Relationship Id="R860f1c4a5dfc437c" Type="http://schemas.openxmlformats.org/officeDocument/2006/relationships/slide" Target="slides/slide1.xml"/><Relationship Id="R870e110d83b74857" Type="http://schemas.openxmlformats.org/officeDocument/2006/relationships/slide" Target="slides/slide27.xml"/><Relationship Id="R874926e58c404f52" Type="http://schemas.openxmlformats.org/officeDocument/2006/relationships/theme" Target="theme/theme1.xml"/><Relationship Id="R8a2f221b5fe04722" Type="http://schemas.openxmlformats.org/officeDocument/2006/relationships/slide" Target="slides/slide70.xml"/><Relationship Id="R8bd4ca9667c845f5" Type="http://schemas.openxmlformats.org/officeDocument/2006/relationships/slide" Target="slides/slide10.xml"/><Relationship Id="R8cedf7f4bad7464d" Type="http://schemas.openxmlformats.org/officeDocument/2006/relationships/slide" Target="slides/slide52.xml"/><Relationship Id="R8d791f4362e4479c" Type="http://schemas.openxmlformats.org/officeDocument/2006/relationships/slide" Target="slides/slide23.xml"/><Relationship Id="R8f2fe21ee6ba49f4" Type="http://schemas.openxmlformats.org/officeDocument/2006/relationships/slide" Target="slides/slide80.xml"/><Relationship Id="R90d75d98cafb491e" Type="http://schemas.openxmlformats.org/officeDocument/2006/relationships/slide" Target="slides/slide9.xml"/><Relationship Id="R9597dadfee7747b5" Type="http://schemas.openxmlformats.org/officeDocument/2006/relationships/slide" Target="slides/slide12.xml"/><Relationship Id="R9ae0a415b49a45b7" Type="http://schemas.openxmlformats.org/officeDocument/2006/relationships/slide" Target="slides/slide85.xml"/><Relationship Id="R9b628e6e78544b8b" Type="http://schemas.openxmlformats.org/officeDocument/2006/relationships/slide" Target="slides/slide55.xml"/><Relationship Id="R9d0e197f440e4535" Type="http://schemas.openxmlformats.org/officeDocument/2006/relationships/slide" Target="slides/slide99.xml"/><Relationship Id="R9f3882dec09f4581" Type="http://schemas.openxmlformats.org/officeDocument/2006/relationships/slide" Target="slides/slide112.xml"/><Relationship Id="Ra6beac4eadac4f12" Type="http://schemas.openxmlformats.org/officeDocument/2006/relationships/slide" Target="slides/slide18.xml"/><Relationship Id="Ra6d56a288c764f43" Type="http://schemas.openxmlformats.org/officeDocument/2006/relationships/slide" Target="slides/slide25.xml"/><Relationship Id="Ra964333dc13c4a38" Type="http://schemas.openxmlformats.org/officeDocument/2006/relationships/slide" Target="slides/slide116.xml"/><Relationship Id="Raa4ad79e33c24a19" Type="http://schemas.openxmlformats.org/officeDocument/2006/relationships/slide" Target="slides/slide45.xml"/><Relationship Id="Raa95fdd63ef94120" Type="http://schemas.openxmlformats.org/officeDocument/2006/relationships/slide" Target="slides/slide32.xml"/><Relationship Id="Rab86df6d2cb04d72" Type="http://schemas.openxmlformats.org/officeDocument/2006/relationships/slide" Target="slides/slide22.xml"/><Relationship Id="Rac5b5e0f741a46fe" Type="http://schemas.openxmlformats.org/officeDocument/2006/relationships/slide" Target="slides/slide107.xml"/><Relationship Id="Rb13a432ab85b4b1a" Type="http://schemas.openxmlformats.org/officeDocument/2006/relationships/slide" Target="slides/slide94.xml"/><Relationship Id="Rb2a181fae75d4ef5" Type="http://schemas.openxmlformats.org/officeDocument/2006/relationships/slide" Target="slides/slide106.xml"/><Relationship Id="Rb3ab3c89eeac4663" Type="http://schemas.openxmlformats.org/officeDocument/2006/relationships/slide" Target="slides/slide26.xml"/><Relationship Id="Rb4bd3e6b368e4d8d" Type="http://schemas.openxmlformats.org/officeDocument/2006/relationships/slide" Target="slides/slide63.xml"/><Relationship Id="Rb4f1e31cdfed4c19" Type="http://schemas.openxmlformats.org/officeDocument/2006/relationships/slide" Target="slides/slide118.xml"/><Relationship Id="Rba2dd234f86d4082" Type="http://schemas.openxmlformats.org/officeDocument/2006/relationships/slide" Target="slides/slide82.xml"/><Relationship Id="Rba613e254b81414f" Type="http://schemas.openxmlformats.org/officeDocument/2006/relationships/slide" Target="slides/slide28.xml"/><Relationship Id="Rbccaa46dc84f4a23" Type="http://schemas.openxmlformats.org/officeDocument/2006/relationships/slide" Target="slides/slide31.xml"/><Relationship Id="Rbd82aafe73804b1b" Type="http://schemas.openxmlformats.org/officeDocument/2006/relationships/slide" Target="slides/slide42.xml"/><Relationship Id="Rbe06c0780d264cc6" Type="http://schemas.openxmlformats.org/officeDocument/2006/relationships/slide" Target="slides/slide20.xml"/><Relationship Id="Rc01b92e1c645412b" Type="http://schemas.openxmlformats.org/officeDocument/2006/relationships/slide" Target="slides/slide66.xml"/><Relationship Id="Rc2e175efd00c4004" Type="http://schemas.openxmlformats.org/officeDocument/2006/relationships/slide" Target="slides/slide68.xml"/><Relationship Id="Rc66336f4745b45b7" Type="http://schemas.openxmlformats.org/officeDocument/2006/relationships/slide" Target="slides/slide14.xml"/><Relationship Id="Rc6c17d0e364547f1" Type="http://schemas.openxmlformats.org/officeDocument/2006/relationships/slide" Target="slides/slide44.xml"/><Relationship Id="Rc85f3578da4c4984" Type="http://schemas.openxmlformats.org/officeDocument/2006/relationships/slide" Target="slides/slide24.xml"/><Relationship Id="Rce095611e56e4521" Type="http://schemas.openxmlformats.org/officeDocument/2006/relationships/slide" Target="slides/slide49.xml"/><Relationship Id="Rd0ba1113f7534eb8" Type="http://schemas.openxmlformats.org/officeDocument/2006/relationships/slide" Target="slides/slide47.xml"/><Relationship Id="Rd13bb80dad524b69" Type="http://schemas.openxmlformats.org/officeDocument/2006/relationships/slide" Target="slides/slide81.xml"/><Relationship Id="Rd2594ae0ad3b4585" Type="http://schemas.openxmlformats.org/officeDocument/2006/relationships/slide" Target="slides/slide109.xml"/><Relationship Id="Rd3156bd877fe4893" Type="http://schemas.openxmlformats.org/officeDocument/2006/relationships/slide" Target="slides/slide69.xml"/><Relationship Id="Rd6c72007e3c24bd4" Type="http://schemas.openxmlformats.org/officeDocument/2006/relationships/tableStyles" Target="tableStyles.xml"/><Relationship Id="Rd6f4a69c53c74bb4" Type="http://schemas.openxmlformats.org/officeDocument/2006/relationships/slide" Target="slides/slide56.xml"/><Relationship Id="Rd91e63ce16d84d43" Type="http://schemas.openxmlformats.org/officeDocument/2006/relationships/slide" Target="slides/slide5.xml"/><Relationship Id="Rdafd5ae62e31482b" Type="http://schemas.openxmlformats.org/officeDocument/2006/relationships/slide" Target="slides/slide76.xml"/><Relationship Id="Rde6d673580c14ffd" Type="http://schemas.openxmlformats.org/officeDocument/2006/relationships/slide" Target="slides/slide103.xml"/><Relationship Id="Rde85e225a7bb49b0" Type="http://schemas.openxmlformats.org/officeDocument/2006/relationships/slide" Target="slides/slide102.xml"/><Relationship Id="Rdee0c9d903654b92" Type="http://schemas.openxmlformats.org/officeDocument/2006/relationships/slide" Target="slides/slide17.xml"/><Relationship Id="Rdf300840d3714da3" Type="http://schemas.openxmlformats.org/officeDocument/2006/relationships/slide" Target="slides/slide113.xml"/><Relationship Id="Re0a16116040b4945" Type="http://schemas.openxmlformats.org/officeDocument/2006/relationships/slide" Target="slides/slide65.xml"/><Relationship Id="Re6423ccfbadc4309" Type="http://schemas.openxmlformats.org/officeDocument/2006/relationships/slide" Target="slides/slide21.xml"/><Relationship Id="Re709615c0be04500" Type="http://schemas.openxmlformats.org/officeDocument/2006/relationships/slide" Target="slides/slide100.xml"/><Relationship Id="Rea8bd24be5044a37" Type="http://schemas.openxmlformats.org/officeDocument/2006/relationships/slideMaster" Target="slideMasters/slideMaster1.xml"/><Relationship Id="Reac034811d564731" Type="http://schemas.openxmlformats.org/officeDocument/2006/relationships/slide" Target="slides/slide7.xml"/><Relationship Id="Reb18a65012ad4012" Type="http://schemas.openxmlformats.org/officeDocument/2006/relationships/slide" Target="slides/slide30.xml"/><Relationship Id="Rf25e4fee6ab044c5" Type="http://schemas.openxmlformats.org/officeDocument/2006/relationships/slide" Target="slides/slide117.xml"/><Relationship Id="Rf37d8ecbb41449a2" Type="http://schemas.openxmlformats.org/officeDocument/2006/relationships/slide" Target="slides/slide98.xml"/><Relationship Id="Rf5bf1defb8ad4ba8" Type="http://schemas.openxmlformats.org/officeDocument/2006/relationships/slide" Target="slides/slide51.xml"/><Relationship Id="Rf6867823f3e64581" Type="http://schemas.openxmlformats.org/officeDocument/2006/relationships/slide" Target="slides/slide35.xml"/><Relationship Id="Rf978f34def9b4161" Type="http://schemas.openxmlformats.org/officeDocument/2006/relationships/slide" Target="slides/slide36.xml"/><Relationship Id="Rfba67bd401a24cf1" Type="http://schemas.openxmlformats.org/officeDocument/2006/relationships/slide" Target="slides/slide8.xml"/><Relationship Id="rId125" Type="http://schemas.openxmlformats.org/officeDocument/2006/relationships/slide" Target="slides/slide120.xml"/><Relationship Id="rId126" Type="http://schemas.openxmlformats.org/officeDocument/2006/relationships/slide" Target="slides/slide121.xml"/><Relationship Id="rId127" Type="http://schemas.openxmlformats.org/officeDocument/2006/relationships/slide" Target="slides/slide122.xml"/><Relationship Id="rId128" Type="http://schemas.openxmlformats.org/officeDocument/2006/relationships/slide" Target="slides/slide123.xml"/><Relationship Id="rId129" Type="http://schemas.openxmlformats.org/officeDocument/2006/relationships/slide" Target="slides/slide124.xml"/><Relationship Id="rId130" Type="http://schemas.openxmlformats.org/officeDocument/2006/relationships/slide" Target="slides/slide125.xml"/><Relationship Id="rId131" Type="http://schemas.openxmlformats.org/officeDocument/2006/relationships/slide" Target="slides/slide126.xml"/><Relationship Id="rId132" Type="http://schemas.openxmlformats.org/officeDocument/2006/relationships/slide" Target="slides/slide127.xml"/><Relationship Id="rId133" Type="http://schemas.openxmlformats.org/officeDocument/2006/relationships/slide" Target="slides/slide128.xml"/><Relationship Id="rId134" Type="http://schemas.openxmlformats.org/officeDocument/2006/relationships/slide" Target="slides/slide129.xml"/><Relationship Id="rId135" Type="http://schemas.openxmlformats.org/officeDocument/2006/relationships/slide" Target="slides/slide130.xml"/><Relationship Id="rId136" Type="http://schemas.openxmlformats.org/officeDocument/2006/relationships/slide" Target="slides/slide131.xml"/></Relationships>
</file>

<file path=ppt/notesMasters/_rels/notesMaster1.xml.rels><?xml version='1.0' encoding='UTF-8' standalone='yes'?>
<Relationships xmlns="http://schemas.openxmlformats.org/package/2006/relationships"><Relationship Id="R77beab2be980438d"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13bf8eef1008462a" Type="http://schemas.openxmlformats.org/officeDocument/2006/relationships/notesMaster" Target="../notesMasters/notesMaster1.xml"/><Relationship Id="Rebc90585b6fa4c88"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15533fc48bed452b" Type="http://schemas.openxmlformats.org/officeDocument/2006/relationships/slide" Target="../slides/slide2.xml"/><Relationship Id="Rab4d31a2afc344bf"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87753f6ce161463d" Type="http://schemas.openxmlformats.org/officeDocument/2006/relationships/notesMaster" Target="../notesMasters/notesMaster1.xml"/><Relationship Id="Rfacaf4f7d01a4cb5"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c6ce90b257ad412b" Type="http://schemas.openxmlformats.org/officeDocument/2006/relationships/slide" Target="../slides/slide4.xml"/><Relationship Id="Re0cb5b93fb6e4b36"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52bda52cd9e34751" Type="http://schemas.openxmlformats.org/officeDocument/2006/relationships/slide" Target="../slides/slide5.xml"/><Relationship Id="R6e3e20f88f3e41fc"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27eb8225c4f4208" Type="http://schemas.openxmlformats.org/officeDocument/2006/relationships/notesMaster" Target="../notesMasters/notesMaster1.xml"/><Relationship Id="Rc39a4762f33a4686"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19ebc4d241844a09" Type="http://schemas.openxmlformats.org/officeDocument/2006/relationships/slide" Target="../slides/slide7.xml"/><Relationship Id="Rbeea58aeee604c8a"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3b2cfdcb751439b" Type="http://schemas.openxmlformats.org/officeDocument/2006/relationships/notesMaster" Target="../notesMasters/notesMaster1.xml"/><Relationship Id="R5616fa723ed74fba"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454a51f3f824424c" Type="http://schemas.openxmlformats.org/officeDocument/2006/relationships/slide" Target="../slides/slide9.xml"/><Relationship Id="Rea9d01c29052415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3c89b70e9b9647ce" Type="http://schemas.openxmlformats.org/officeDocument/2006/relationships/notesMaster" Target="../notesMasters/notesMaster1.xml"/><Relationship Id="R7f7dc4d6b456443d"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0fa4becc36c04393" Type="http://schemas.openxmlformats.org/officeDocument/2006/relationships/notesMaster" Target="../notesMasters/notesMaster1.xml"/><Relationship Id="R4c585a9e964e4dcc"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2f667f4284b74e13" Type="http://schemas.openxmlformats.org/officeDocument/2006/relationships/slide" Target="../slides/slide12.xml"/><Relationship Id="Rdf3d8de763bd412e"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3b334510373244ba" Type="http://schemas.openxmlformats.org/officeDocument/2006/relationships/notesMaster" Target="../notesMasters/notesMaster1.xml"/><Relationship Id="R4478fd15068543c8"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b72eb54a7c78425b" Type="http://schemas.openxmlformats.org/officeDocument/2006/relationships/notesMaster" Target="../notesMasters/notesMaster1.xml"/><Relationship Id="Rf561b98812cd497c"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1efac02e2b9f45f4" Type="http://schemas.openxmlformats.org/officeDocument/2006/relationships/slide" Target="../slides/slide15.xml"/><Relationship Id="R92247de4e4d847c4"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e076244d6ecc407e" Type="http://schemas.openxmlformats.org/officeDocument/2006/relationships/notesMaster" Target="../notesMasters/notesMaster1.xml"/><Relationship Id="Rf393cf760f784783"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04d2a56eac484b41" Type="http://schemas.openxmlformats.org/officeDocument/2006/relationships/slide" Target="../slides/slide17.xml"/><Relationship Id="Rb37c6cc00d6945c8"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134ca3dff8a148e6" Type="http://schemas.openxmlformats.org/officeDocument/2006/relationships/notesMaster" Target="../notesMasters/notesMaster1.xml"/><Relationship Id="Rc6b0ab2760b1424c"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ab4cf38832c64ea3" Type="http://schemas.openxmlformats.org/officeDocument/2006/relationships/slide" Target="../slides/slide19.xml"/><Relationship Id="Rdc39c36243224d8d"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64a451ab2e944142" Type="http://schemas.openxmlformats.org/officeDocument/2006/relationships/notesMaster" Target="../notesMasters/notesMaster1.xml"/><Relationship Id="Rf0e4521822e54879"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2aa3192c83d545eb" Type="http://schemas.openxmlformats.org/officeDocument/2006/relationships/slide" Target="../slides/slide21.xml"/><Relationship Id="Rb009362914394a90"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1f5da8dd3eb84744" Type="http://schemas.openxmlformats.org/officeDocument/2006/relationships/notesMaster" Target="../notesMasters/notesMaster1.xml"/><Relationship Id="R380f296d7fb34f2e"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ddbc0d2dc2034f17" Type="http://schemas.openxmlformats.org/officeDocument/2006/relationships/slide" Target="../slides/slide23.xml"/><Relationship Id="Rfe34e6c285064ff9"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1394e3005f424a8b" Type="http://schemas.openxmlformats.org/officeDocument/2006/relationships/notesMaster" Target="../notesMasters/notesMaster1.xml"/><Relationship Id="R9f04be292d7f405f"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0746678e436349cb" Type="http://schemas.openxmlformats.org/officeDocument/2006/relationships/slide" Target="../slides/slide25.xml"/><Relationship Id="R9235ddcfd5ce42c4"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51f4e676ad884492" Type="http://schemas.openxmlformats.org/officeDocument/2006/relationships/slide" Target="../slides/slide26.xml"/><Relationship Id="R990d27c79b4341ef"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017a1e2507874d33" Type="http://schemas.openxmlformats.org/officeDocument/2006/relationships/slide" Target="../slides/slide27.xml"/><Relationship Id="R38bd62d75276486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290de5fd21a7480d" Type="http://schemas.openxmlformats.org/officeDocument/2006/relationships/slide" Target="../slides/slide28.xml"/><Relationship Id="R89954f717a8b447b"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ab42029d395846bd" Type="http://schemas.openxmlformats.org/officeDocument/2006/relationships/slide" Target="../slides/slide29.xml"/><Relationship Id="Rbea7c90fca43401d"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2cbb29b40e7c424f" Type="http://schemas.openxmlformats.org/officeDocument/2006/relationships/slide" Target="../slides/slide30.xml"/><Relationship Id="R3f306c90821d456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1b646fb44fb942dd" Type="http://schemas.openxmlformats.org/officeDocument/2006/relationships/slide" Target="../slides/slide31.xml"/><Relationship Id="R69bf78a7b0e44f6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429f3a73e34442e5" Type="http://schemas.openxmlformats.org/officeDocument/2006/relationships/slide" Target="../slides/slide32.xml"/><Relationship Id="Rd261d529cc2d4529"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5095558b08b5407f" Type="http://schemas.openxmlformats.org/officeDocument/2006/relationships/slide" Target="../slides/slide33.xml"/><Relationship Id="Ra6f71ede53224e66"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63edb22f528b4cb9" Type="http://schemas.openxmlformats.org/officeDocument/2006/relationships/notesMaster" Target="../notesMasters/notesMaster1.xml"/><Relationship Id="Rb55693b4ee5d42d3"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ea2cfd3b56b8482e" Type="http://schemas.openxmlformats.org/officeDocument/2006/relationships/notesMaster" Target="../notesMasters/notesMaster1.xml"/><Relationship Id="Rfd6e54c0afb5470d"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05cf4e3c07c54eb4" Type="http://schemas.openxmlformats.org/officeDocument/2006/relationships/notesMaster" Target="../notesMasters/notesMaster1.xml"/><Relationship Id="R1d42377a39104ff4"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107e33b1e5364a39" Type="http://schemas.openxmlformats.org/officeDocument/2006/relationships/slide" Target="../slides/slide37.xml"/><Relationship Id="Rbe5445c0e24b483d"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a9904d3ec2d74508" Type="http://schemas.openxmlformats.org/officeDocument/2006/relationships/slide" Target="../slides/slide38.xml"/><Relationship Id="Rd52355e13d344548"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332205fac4334c8b" Type="http://schemas.openxmlformats.org/officeDocument/2006/relationships/slide" Target="../slides/slide39.xml"/><Relationship Id="Rea0327e98663440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2d75f83453bd46ae" Type="http://schemas.openxmlformats.org/officeDocument/2006/relationships/notesMaster" Target="../notesMasters/notesMaster1.xml"/><Relationship Id="Ra7a4d6af0b174559"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179b8cf2442b4fd3" Type="http://schemas.openxmlformats.org/officeDocument/2006/relationships/slide" Target="../slides/slide41.xml"/><Relationship Id="Rd43e2f360f704849"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bd62c83f17cb4c2a" Type="http://schemas.openxmlformats.org/officeDocument/2006/relationships/notesMaster" Target="../notesMasters/notesMaster1.xml"/><Relationship Id="Rca826ee85c8443eb"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5e93280ddc3a499f" Type="http://schemas.openxmlformats.org/officeDocument/2006/relationships/notesMaster" Target="../notesMasters/notesMaster1.xml"/><Relationship Id="Ra595f19a0eea4533"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199ae166bf604d0f" Type="http://schemas.openxmlformats.org/officeDocument/2006/relationships/notesMaster" Target="../notesMasters/notesMaster1.xml"/><Relationship Id="R4b9249e7d1c743db"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5fb6822ac9024dbc" Type="http://schemas.openxmlformats.org/officeDocument/2006/relationships/slide" Target="../slides/slide45.xml"/><Relationship Id="Rbf7e47f72ea5484a"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0a058311efe94b5b" Type="http://schemas.openxmlformats.org/officeDocument/2006/relationships/slide" Target="../slides/slide46.xml"/><Relationship Id="Rc65bd5d96b5b4d04"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0408b0b8d685472c" Type="http://schemas.openxmlformats.org/officeDocument/2006/relationships/slide" Target="../slides/slide47.xml"/><Relationship Id="Rcee76443ce244d05"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8b079a5394c2415b" Type="http://schemas.openxmlformats.org/officeDocument/2006/relationships/notesMaster" Target="../notesMasters/notesMaster1.xml"/><Relationship Id="Re4f18ad6ea7f4eff"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be8cfd440cc84eb3" Type="http://schemas.openxmlformats.org/officeDocument/2006/relationships/notesMaster" Target="../notesMasters/notesMaster1.xml"/><Relationship Id="Re479c830cc0444f5"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a6c523e3898c4bcd" Type="http://schemas.openxmlformats.org/officeDocument/2006/relationships/notesMaster" Target="../notesMasters/notesMaster1.xml"/><Relationship Id="Rfa0b6f8efbc545c4"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cd06ca0732d7408a" Type="http://schemas.openxmlformats.org/officeDocument/2006/relationships/slide" Target="../slides/slide51.xml"/><Relationship Id="Re83875c0786a4ba3"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150115545dc14e6f" Type="http://schemas.openxmlformats.org/officeDocument/2006/relationships/notesMaster" Target="../notesMasters/notesMaster1.xml"/><Relationship Id="Rf4f57684b9f44b03"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8747f36094ae4622" Type="http://schemas.openxmlformats.org/officeDocument/2006/relationships/notesMaster" Target="../notesMasters/notesMaster1.xml"/><Relationship Id="Rb8a0c776189a4d40"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709dfd3d326c4edd" Type="http://schemas.openxmlformats.org/officeDocument/2006/relationships/notesMaster" Target="../notesMasters/notesMaster1.xml"/><Relationship Id="Rdb311556aa3a4376"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35fab0db454f4dd0" Type="http://schemas.openxmlformats.org/officeDocument/2006/relationships/notesMaster" Target="../notesMasters/notesMaster1.xml"/><Relationship Id="R6e9a17522dc247c9"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319c9070b58f4c92" Type="http://schemas.openxmlformats.org/officeDocument/2006/relationships/slide" Target="../slides/slide56.xml"/><Relationship Id="Rf392e798c94745c8"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3bf2c3c6e1754637" Type="http://schemas.openxmlformats.org/officeDocument/2006/relationships/notesMaster" Target="../notesMasters/notesMaster1.xml"/><Relationship Id="Rd0577aad2e9c4995"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1494d27a041b4545" Type="http://schemas.openxmlformats.org/officeDocument/2006/relationships/slide" Target="../slides/slide58.xml"/><Relationship Id="Re6895bfe76984fc3"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5e16b3dbef7a4f37" Type="http://schemas.openxmlformats.org/officeDocument/2006/relationships/notesMaster" Target="../notesMasters/notesMaster1.xml"/><Relationship Id="R6a54cd6a137e4949"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6a73ef43560e42d8" Type="http://schemas.openxmlformats.org/officeDocument/2006/relationships/notesMaster" Target="../notesMasters/notesMaster1.xml"/><Relationship Id="Rb369ce09d3cf422e"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8904eeddc2b64ded" Type="http://schemas.openxmlformats.org/officeDocument/2006/relationships/slide" Target="../slides/slide61.xml"/><Relationship Id="Rbe914d150ddd4386"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28f82b8637ac44f9" Type="http://schemas.openxmlformats.org/officeDocument/2006/relationships/notesMaster" Target="../notesMasters/notesMaster1.xml"/><Relationship Id="R4ed362702eb441a3"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d022b11388d743d6" Type="http://schemas.openxmlformats.org/officeDocument/2006/relationships/notesMaster" Target="../notesMasters/notesMaster1.xml"/><Relationship Id="Rf17ca18460fd45c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55827dff172f4097" Type="http://schemas.openxmlformats.org/officeDocument/2006/relationships/slide" Target="../slides/slide64.xml"/><Relationship Id="Rec94397ebf0a49e0"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ae76fc01eca24546" Type="http://schemas.openxmlformats.org/officeDocument/2006/relationships/notesMaster" Target="../notesMasters/notesMaster1.xml"/><Relationship Id="Rf60af00c1b6b4c1f"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bdddc48006ae47d4" Type="http://schemas.openxmlformats.org/officeDocument/2006/relationships/notesMaster" Target="../notesMasters/notesMaster1.xml"/><Relationship Id="Rcfef80e81f4f4ad4"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74635fd07dec4e64" Type="http://schemas.openxmlformats.org/officeDocument/2006/relationships/slide" Target="../slides/slide67.xml"/><Relationship Id="Rf61c5b9441154483"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21bb03fcdf9244f2" Type="http://schemas.openxmlformats.org/officeDocument/2006/relationships/notesMaster" Target="../notesMasters/notesMaster1.xml"/><Relationship Id="Rca798e8ae2a94400"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8495874825534ef0" Type="http://schemas.openxmlformats.org/officeDocument/2006/relationships/notesMaster" Target="../notesMasters/notesMaster1.xml"/><Relationship Id="Ra65ddefa451b42dc"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51e7c959499b4bca" Type="http://schemas.openxmlformats.org/officeDocument/2006/relationships/notesMaster" Target="../notesMasters/notesMaster1.xml"/><Relationship Id="R56b8d401ef4c49f6"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520ae7d54f5b4a07" Type="http://schemas.openxmlformats.org/officeDocument/2006/relationships/notesMaster" Target="../notesMasters/notesMaster1.xml"/><Relationship Id="R619e95200c534b89"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43361cb910a24fba" Type="http://schemas.openxmlformats.org/officeDocument/2006/relationships/slide" Target="../slides/slide72.xml"/><Relationship Id="R6f924504bfae4a6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25454ef8130a473c" Type="http://schemas.openxmlformats.org/officeDocument/2006/relationships/notesMaster" Target="../notesMasters/notesMaster1.xml"/><Relationship Id="Raf5d33f83a13417c"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d36f987a4d904249" Type="http://schemas.openxmlformats.org/officeDocument/2006/relationships/notesMaster" Target="../notesMasters/notesMaster1.xml"/><Relationship Id="Rffcefac938954073"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59deb08ab7824141" Type="http://schemas.openxmlformats.org/officeDocument/2006/relationships/slide" Target="../slides/slide75.xml"/><Relationship Id="R5b8b6f43182d40b6"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3189a2dc9eec4955" Type="http://schemas.openxmlformats.org/officeDocument/2006/relationships/notesMaster" Target="../notesMasters/notesMaster1.xml"/><Relationship Id="R88000daff3584d8d"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52b6de3fe8054459" Type="http://schemas.openxmlformats.org/officeDocument/2006/relationships/notesMaster" Target="../notesMasters/notesMaster1.xml"/><Relationship Id="Re93ed38918a24529"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103aed68efa84e7d" Type="http://schemas.openxmlformats.org/officeDocument/2006/relationships/notesMaster" Target="../notesMasters/notesMaster1.xml"/><Relationship Id="R220b7f9b79964aa6"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a1ef80c021cc4cda" Type="http://schemas.openxmlformats.org/officeDocument/2006/relationships/notesMaster" Target="../notesMasters/notesMaster1.xml"/><Relationship Id="Rf28417f7b5ef4b9a"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0ef509784b454393" Type="http://schemas.openxmlformats.org/officeDocument/2006/relationships/notesMaster" Target="../notesMasters/notesMaster1.xml"/><Relationship Id="Rcaedf81327cc4305"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ade0396d84d94517" Type="http://schemas.openxmlformats.org/officeDocument/2006/relationships/notesMaster" Target="../notesMasters/notesMaster1.xml"/><Relationship Id="Rd49328868993454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1212ac6dfb754361" Type="http://schemas.openxmlformats.org/officeDocument/2006/relationships/notesMaster" Target="../notesMasters/notesMaster1.xml"/><Relationship Id="Rcfb87383c63f472f"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561ebc5cd6a24cea" Type="http://schemas.openxmlformats.org/officeDocument/2006/relationships/notesMaster" Target="../notesMasters/notesMaster1.xml"/><Relationship Id="Rc1f55207abef427a"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1280484f59304468" Type="http://schemas.openxmlformats.org/officeDocument/2006/relationships/slide" Target="../slides/slide84.xml"/><Relationship Id="R4f5f7aa8bf104df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03096f34c9b14d3e" Type="http://schemas.openxmlformats.org/officeDocument/2006/relationships/notesMaster" Target="../notesMasters/notesMaster1.xml"/><Relationship Id="R92919cfabbd34e67"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1649827d167e4f58" Type="http://schemas.openxmlformats.org/officeDocument/2006/relationships/notesMaster" Target="../notesMasters/notesMaster1.xml"/><Relationship Id="R68b3eb1330034556"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0dd55260082f4ca6" Type="http://schemas.openxmlformats.org/officeDocument/2006/relationships/notesMaster" Target="../notesMasters/notesMaster1.xml"/><Relationship Id="R3c33a2c13c824739"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3fc4766713574dfe" Type="http://schemas.openxmlformats.org/officeDocument/2006/relationships/notesMaster" Target="../notesMasters/notesMaster1.xml"/><Relationship Id="Rb720590004134b84"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cee59708f47249dc" Type="http://schemas.openxmlformats.org/officeDocument/2006/relationships/notesMaster" Target="../notesMasters/notesMaster1.xml"/><Relationship Id="Rf6d4cbf4090541b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150c3f6ce4b249b0" Type="http://schemas.openxmlformats.org/officeDocument/2006/relationships/slide" Target="../slides/slide90.xml"/><Relationship Id="R24b4d552dbd24bc4"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4a97ba5c312d419b" Type="http://schemas.openxmlformats.org/officeDocument/2006/relationships/notesMaster" Target="../notesMasters/notesMaster1.xml"/><Relationship Id="R979cd14a89764ace"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897c022923fb47b0" Type="http://schemas.openxmlformats.org/officeDocument/2006/relationships/slide" Target="../slides/slide92.xml"/><Relationship Id="Red74dcae43124ba5"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68e19d9f45984683" Type="http://schemas.openxmlformats.org/officeDocument/2006/relationships/slide" Target="../slides/slide93.xml"/><Relationship Id="Rbe9cdb0d838640ac"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7fc95f10697d466b" Type="http://schemas.openxmlformats.org/officeDocument/2006/relationships/notesMaster" Target="../notesMasters/notesMaster1.xml"/><Relationship Id="Raa1f888a80c74163"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5f1d106f6c784e5c" Type="http://schemas.openxmlformats.org/officeDocument/2006/relationships/notesMaster" Target="../notesMasters/notesMaster1.xml"/><Relationship Id="Rc606dd7d10b24bdc"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5005d6496c3947d4" Type="http://schemas.openxmlformats.org/officeDocument/2006/relationships/slide" Target="../slides/slide96.xml"/><Relationship Id="Rc1985e9803ab4b9e"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019eede5c369465a" Type="http://schemas.openxmlformats.org/officeDocument/2006/relationships/notesMaster" Target="../notesMasters/notesMaster1.xml"/><Relationship Id="Rf6b4f6c418d941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ab8be8b5877e436d" Type="http://schemas.openxmlformats.org/officeDocument/2006/relationships/notesMaster" Target="../notesMasters/notesMaster1.xml"/><Relationship Id="Rc55c3edf29814bf7"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2ee56fb9a97e418b" Type="http://schemas.openxmlformats.org/officeDocument/2006/relationships/slide" Target="../slides/slide99.xml"/><Relationship Id="R653ba7f3baff4bbf"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3dda2ff1bd474c76" Type="http://schemas.openxmlformats.org/officeDocument/2006/relationships/slide" Target="../slides/slide100.xml"/><Relationship Id="R47a3d556d460466e"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03cf1fd19a3048cc" Type="http://schemas.openxmlformats.org/officeDocument/2006/relationships/slide" Target="../slides/slide101.xml"/><Relationship Id="Re6e335512a894fef"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171322fd65a94a53" Type="http://schemas.openxmlformats.org/officeDocument/2006/relationships/slide" Target="../slides/slide102.xml"/><Relationship Id="Rf42eaabcedcc4cbe"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4dffa24b1516458a" Type="http://schemas.openxmlformats.org/officeDocument/2006/relationships/slide" Target="../slides/slide103.xml"/><Relationship Id="Rbdd415e0ec3b4b2e"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2795f7754cce4532" Type="http://schemas.openxmlformats.org/officeDocument/2006/relationships/notesMaster" Target="../notesMasters/notesMaster1.xml"/><Relationship Id="Ra0ea2a2d6c2a43eb"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7b063c1d33294559" Type="http://schemas.openxmlformats.org/officeDocument/2006/relationships/notesMaster" Target="../notesMasters/notesMaster1.xml"/><Relationship Id="Rb8c526b474564948"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39a4d0a23b474d78" Type="http://schemas.openxmlformats.org/officeDocument/2006/relationships/notesMaster" Target="../notesMasters/notesMaster1.xml"/><Relationship Id="R7a1f567b12014c3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057c3560194b4279" Type="http://schemas.openxmlformats.org/officeDocument/2006/relationships/notesMaster" Target="../notesMasters/notesMaster1.xml"/><Relationship Id="R17e3fdd5e4bd47fa"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2427b22c5c924ee9" Type="http://schemas.openxmlformats.org/officeDocument/2006/relationships/slide" Target="../slides/slide108.xml"/><Relationship Id="Rfe63de92a43e4a52"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294f288d3f1f46f2" Type="http://schemas.openxmlformats.org/officeDocument/2006/relationships/slide" Target="../slides/slide109.xml"/><Relationship Id="R8fa0e354c34c455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45f6b9b0016343af" Type="http://schemas.openxmlformats.org/officeDocument/2006/relationships/notesMaster" Target="../notesMasters/notesMaster1.xml"/><Relationship Id="R858463ce0d6340fe"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0733b3d88d4242e8" Type="http://schemas.openxmlformats.org/officeDocument/2006/relationships/slide" Target="../slides/slide111.xml"/><Relationship Id="R1f8eca7d8fd84545"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4353d99738854b00" Type="http://schemas.openxmlformats.org/officeDocument/2006/relationships/slide" Target="../slides/slide112.xml"/><Relationship Id="Rd4cca9fd72f144f9"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5612d3522c8f4686" Type="http://schemas.openxmlformats.org/officeDocument/2006/relationships/slide" Target="../slides/slide113.xml"/><Relationship Id="Reb8ae69e62c348d7"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0404445246c7459e" Type="http://schemas.openxmlformats.org/officeDocument/2006/relationships/slide" Target="../slides/slide114.xml"/><Relationship Id="R47d0cc5738d34ad3"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152d6484d24b4b73" Type="http://schemas.openxmlformats.org/officeDocument/2006/relationships/notesMaster" Target="../notesMasters/notesMaster1.xml"/><Relationship Id="R36cf93bd5a8c43b9"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ab1148365c514196" Type="http://schemas.openxmlformats.org/officeDocument/2006/relationships/slide" Target="../slides/slide116.xml"/><Relationship Id="Rebe17dc5f768434e"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c5c12408d6f6498a" Type="http://schemas.openxmlformats.org/officeDocument/2006/relationships/slide" Target="../slides/slide117.xml"/><Relationship Id="Re2de177b0cd74d87"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d5d7dedab1d7491b" Type="http://schemas.openxmlformats.org/officeDocument/2006/relationships/notesMaster" Target="../notesMasters/notesMaster1.xml"/><Relationship Id="Rff2a1a9ad6b64181"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2a0ffff44fd44320" Type="http://schemas.openxmlformats.org/officeDocument/2006/relationships/notesMaster" Target="../notesMasters/notesMaster1.xml"/><Relationship Id="R9da72fb809a74f74" Type="http://schemas.openxmlformats.org/officeDocument/2006/relationships/slide" Target="../slides/slide119.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Design authority: supplied v7 dossier. Structure authority: the adapted prompt-template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Storyboard.</a:t>
            </a:r>
          </a:p>
          <a:p xmlns:a="http://schemas.openxmlformats.org/drawingml/2006/main">
            <a:r>
              <a:t/>
            </a:r>
          </a:p>
          <a:p xmlns:a="http://schemas.openxmlformats.org/drawingml/2006/main">
            <a:r>
              <a:t>DeepGrid cannot win India CV ADAS as a full-system supplier — ZF and Aptiv own braking, ECU, calibration, approval and warranty. It can win as the bounded perception layer an accountable integrator embeds, and the only thing between here and there is reproducible evidence that four funded gates buy in 90 days.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I · The verdict</a:t>
            </a:r>
          </a:p>
          <a:p xmlns:a="http://schemas.openxmlformats.org/drawingml/2006/main">
            <a:r>
              <a:t/>
            </a:r>
          </a:p>
          <a:p xmlns:a="http://schemas.openxmlformats.org/drawingml/2006/main">
            <a:r>
              <a:t>Q: What should DeepGrid do, before any of the evidence?</a:t>
            </a:r>
          </a:p>
          <a:p xmlns:a="http://schemas.openxmlformats.org/drawingml/2006/main">
            <a:r>
              <a:t>Settles: The answer, the gates that fund it, and what live research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Pyramid.</a:t>
            </a:r>
          </a:p>
          <a:p xmlns:a="http://schemas.openxmlformats.org/drawingml/2006/main">
            <a:r>
              <a:t/>
            </a:r>
          </a:p>
          <a:p xmlns:a="http://schemas.openxmlformats.org/drawingml/2006/main">
            <a:r>
              <a:t>Governing thought: DeepGrid cannot win India CV ADAS as a full-system supplier — ZF and Aptiv own braking, ECU, calibration, approval and warranty. It can win as the bounded perception layer an accountable integrator embeds, and the only thing between here and there is reproducible evidence that four funded gates buy in 90 days.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Can DeepGrid still win in an India ADAS field that is already occupied, and on what terms?</a:t>
            </a:r>
          </a:p>
          <a:p xmlns:a="http://schemas.openxmlformats.org/drawingml/2006/main">
            <a:r>
              <a:t>A: Yes, but not as a full-system supplier. The winnable position is the perception layer that an accountable integrator chooses to embed, and the gate is a braking Tier-1 accepting DeepGrid's interfaces, diagnostics and safety assumptions — not a sovereignty claim.</a:t>
            </a:r>
          </a:p>
          <a:p xmlns:a="http://schemas.openxmlformats.org/drawingml/2006/main">
            <a:r>
              <a:t/>
            </a:r>
          </a:p>
          <a:p xmlns:a="http://schemas.openxmlformats.org/drawingml/2006/main">
            <a:r>
              <a:t>Mechanism: The field is occupied by control point, not by product. ZF and Aptiv hold braking, ECU, calibration, approval and warranty, and those control points decide the programme. DeepGrid cannot displace them, so acceptance by one of them is the only route onto a vehicle.</a:t>
            </a:r>
          </a:p>
          <a:p xmlns:a="http://schemas.openxmlformats.org/drawingml/2006/main">
            <a:r>
              <a:t>Counterargument: A perception-only supplier is commoditisable. If a Tier-1 can source equivalent vision software globally, India specificity buys nothing at the negotiating table and DeepGrid is priced as a component.</a:t>
            </a:r>
          </a:p>
          <a:p xmlns:a="http://schemas.openxmlformats.org/drawingml/2006/main">
            <a:r>
              <a:t>Falsifier: Falsified if a named Indian CV OEM qualifies DeepGrid directly, with no braking Tier-1 in the loop, before 1 October 2027.</a:t>
            </a:r>
          </a:p>
          <a:p xmlns:a="http://schemas.openxmlformats.org/drawingml/2006/main">
            <a:r>
              <a:t>Implication: Fund the evidence a Tier-1 actually needs, and stop funding claims only a customer could validate.</a:t>
            </a:r>
          </a:p>
          <a:p xmlns:a="http://schemas.openxmlformats.org/drawingml/2006/main">
            <a:r>
              <a:t>Decision: Adopt perception-layer acceptance as the strategic gate for the next four quarters.</a:t>
            </a:r>
          </a:p>
          <a:p xmlns:a="http://schemas.openxmlformats.org/drawingml/2006/main">
            <a:r>
              <a:t>Owner: CEO · Trigger: First written response from a named braking Tier-1 to the interface and evidence pack.</a:t>
            </a:r>
          </a:p>
          <a:p xmlns:a="http://schemas.openxmlformats.org/drawingml/2006/main">
            <a:r>
              <a:t>Stop/escalate: Escalate to the board if no Tier-1 engages within 90 days; stop full-system positioning immediately.</a:t>
            </a:r>
          </a:p>
          <a:p xmlns:a="http://schemas.openxmlformats.org/drawingml/2006/main">
            <a:r>
              <a:t/>
            </a:r>
          </a:p>
          <a:p xmlns:a="http://schemas.openxmlformats.org/drawingml/2006/main">
            <a:r>
              <a:t>Evidence: S01-01, S01-02, S01-03, S01-04, S01-05</a:t>
            </a:r>
          </a:p>
          <a:p xmlns:a="http://schemas.openxmlformats.org/drawingml/2006/main">
            <a:r>
              <a:t>Evidence ledger claims S01-01–S01-05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system boundary gives DeepGrid a credible route into India ADAS programmes?</a:t>
            </a:r>
          </a:p>
          <a:p xmlns:a="http://schemas.openxmlformats.org/drawingml/2006/main">
            <a:r>
              <a:t>A: Sell DGS001 inside an accountable integrator. The decisive test is whether a braking Tier-1 accepts its interfaces, diagnostics, safety assumptions and evidence plan. Ceding system ownership may cap margin and customer control.</a:t>
            </a:r>
          </a:p>
          <a:p xmlns:a="http://schemas.openxmlformats.org/drawingml/2006/main">
            <a:r>
              <a:t/>
            </a:r>
          </a:p>
          <a:p xmlns:a="http://schemas.openxmlformats.org/drawingml/2006/main">
            <a:r>
              <a:t>Mechanism: The system boundary decides who carries the safety case. Whoever owns braking actuation owns vehicle approval and warranty, and therefore owns the customer. A bounded perception subsystem is the only boundary DeepGrid can currently evidence.</a:t>
            </a:r>
          </a:p>
          <a:p xmlns:a="http://schemas.openxmlformats.org/drawingml/2006/main">
            <a:r>
              <a:t>Counterargument: Ceding system ownership caps margin and customer control. Inside an integrator DeepGrid negotiates as a component vendor and loses direct sight of the OEM roadmap.</a:t>
            </a:r>
          </a:p>
          <a:p xmlns:a="http://schemas.openxmlformats.org/drawingml/2006/main">
            <a:r>
              <a:t>Falsifier: Falsified if a braking Tier-1 rejects the interface and safety-assumption pack, or accepts it only on terms that transfer DeepGrid's perception IP.</a:t>
            </a:r>
          </a:p>
          <a:p xmlns:a="http://schemas.openxmlformats.org/drawingml/2006/main">
            <a:r>
              <a:t>Implication: Gate Strategy Gate strategy on Tier-1 interface acceptance and diagnostics/safety assumption buy-in</a:t>
            </a:r>
          </a:p>
          <a:p xmlns:a="http://schemas.openxmlformats.org/drawingml/2006/main">
            <a:r>
              <a:t>Decision: Position DGS001 as a bounded perception subsystem within an accountable integrator</a:t>
            </a:r>
          </a:p>
          <a:p xmlns:a="http://schemas.openxmlformats.org/drawingml/2006/main">
            <a:r>
              <a:t>Owner: CEO with Head of Engineering · Trigger: Advance only when a braking Tier-1 accepts interfaces &amp; evidence plan</a:t>
            </a:r>
          </a:p>
          <a:p xmlns:a="http://schemas.openxmlformats.org/drawingml/2006/main">
            <a:r>
              <a:t>Stop/escalate: Stop integration investment if no Tier-1 accepts the evidence plan after three named approaches.</a:t>
            </a:r>
          </a:p>
          <a:p xmlns:a="http://schemas.openxmlformats.org/drawingml/2006/main">
            <a:r>
              <a:t/>
            </a:r>
          </a:p>
          <a:p xmlns:a="http://schemas.openxmlformats.org/drawingml/2006/main">
            <a:r>
              <a:t>Evidence: S02-01, S02-02, S02-03, S02-04, S02-05, S02-06, S02-07, S02-08</a:t>
            </a:r>
          </a:p>
          <a:p xmlns:a="http://schemas.openxmlformats.org/drawingml/2006/main">
            <a:r>
              <a:t>Evidence ledger claims S02-01–S02-08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should the board approve now, and what evidence must precede further claims?</a:t>
            </a:r>
          </a:p>
          <a:p xmlns:a="http://schemas.openxmlformats.org/drawingml/2006/main">
            <a:r>
              <a:t>A: Approve four funded evidence gates — paid telemetry-rich pilots, independent characterisation, a named Tier-1 integration, and automotive-grade qualification — and stop five claims the evidence does not support, beginning with the April-2026 mandate date.</a:t>
            </a:r>
          </a:p>
          <a:p xmlns:a="http://schemas.openxmlformats.org/drawingml/2006/main">
            <a:r>
              <a:t/>
            </a:r>
          </a:p>
          <a:p xmlns:a="http://schemas.openxmlformats.org/drawingml/2006/main">
            <a:r>
              <a:t>Mechanism: Funding converts cash into decision-grade evidence only when release is gated on something observable: vehicle access, a reproducible dossier, a named programme milestone. Ungated funding buys activity instead of proof.</a:t>
            </a:r>
          </a:p>
          <a:p xmlns:a="http://schemas.openxmlformats.org/drawingml/2006/main">
            <a:r>
              <a:t>Counterargument: Four parallel gates may exceed the engineering and management capacity of a company this size, diluting all four rather than clearing any one of them.</a:t>
            </a:r>
          </a:p>
          <a:p xmlns:a="http://schemas.openxmlformats.org/drawingml/2006/main">
            <a:r>
              <a:t>Falsifier: Falsified if any gate closes without producing an artifact a third party can reproduce.</a:t>
            </a:r>
          </a:p>
          <a:p xmlns:a="http://schemas.openxmlformats.org/drawingml/2006/main">
            <a:r>
              <a:t>Implication: Analytical Conclusion Funding converts cash into decision-grade evidence; claim controls prevent unsupported assertions from outrunning qualification and validation.</a:t>
            </a:r>
          </a:p>
          <a:p xmlns:a="http://schemas.openxmlformats.org/drawingml/2006/main">
            <a:r>
              <a:t>Decision: Approve the four workstreams conditionally; require a quantified re-plan.</a:t>
            </a:r>
          </a:p>
          <a:p xmlns:a="http://schemas.openxmlformats.org/drawingml/2006/main">
            <a:r>
              <a:t>Owner: CEO and CFO · Trigger: Board review at the next 90-day operating cycle.</a:t>
            </a:r>
          </a:p>
          <a:p xmlns:a="http://schemas.openxmlformats.org/drawingml/2006/main">
            <a:r>
              <a:t>Stop/escalate: Stop and re-plan if two of the four gates miss their first milestone.</a:t>
            </a:r>
          </a:p>
          <a:p xmlns:a="http://schemas.openxmlformats.org/drawingml/2006/main">
            <a:r>
              <a:t/>
            </a:r>
          </a:p>
          <a:p xmlns:a="http://schemas.openxmlformats.org/drawingml/2006/main">
            <a:r>
              <a:t>Evidence: S03-01, S03-02, S03-03, S03-04, S03-05, S03-06</a:t>
            </a:r>
          </a:p>
          <a:p xmlns:a="http://schemas.openxmlformats.org/drawingml/2006/main">
            <a:r>
              <a:t>Evidence ledger claims S03-01–S03-06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Which leadership choices most directly test DeepGrid's perception-layer entry?</a:t>
            </a:r>
          </a:p>
          <a:p xmlns:a="http://schemas.openxmlformats.org/drawingml/2006/main">
            <a:r>
              <a:t>A: Run position, partner and prove as three testable workstreams with named leads, and treat each one's falsifier as a reporting obligation rather than a risk-register entry.</a:t>
            </a:r>
          </a:p>
          <a:p xmlns:a="http://schemas.openxmlformats.org/drawingml/2006/main">
            <a:r>
              <a:t/>
            </a:r>
          </a:p>
          <a:p xmlns:a="http://schemas.openxmlformats.org/drawingml/2006/main">
            <a:r>
              <a:t>Mechanism: Scope narrows as accountability rises: the more of the vehicle outcome DeepGrid claims, the more approval and warranty evidence it must carry. Three workstreams let the company test the claim at three different scopes simultaneously.</a:t>
            </a:r>
          </a:p>
          <a:p xmlns:a="http://schemas.openxmlformats.org/drawingml/2006/main">
            <a:r>
              <a:t>Counterargument: Three simultaneous workstreams diffuse scarce management and engineering capacity. Sequencing by evidence quality may beat parallelism.</a:t>
            </a:r>
          </a:p>
          <a:p xmlns:a="http://schemas.openxmlformats.org/drawingml/2006/main">
            <a:r>
              <a:t>Falsifier: Falsified if a strategy review shows the position and partner tracks are technically mutually exclusive.</a:t>
            </a:r>
          </a:p>
          <a:p xmlns:a="http://schemas.openxmlformats.org/drawingml/2006/main">
            <a:r>
              <a:t>Implication: Manage Strategy Run three testable workstreams while recording any falsifiers and maintaining evidence discipline.</a:t>
            </a:r>
          </a:p>
          <a:p xmlns:a="http://schemas.openxmlformats.org/drawingml/2006/main">
            <a:r>
              <a:t>Decision: CEO assigns Monday workstreams for revised positioning, Tier-1 outreach and pilots.</a:t>
            </a:r>
          </a:p>
          <a:p xmlns:a="http://schemas.openxmlformats.org/drawingml/2006/main">
            <a:r>
              <a:t>Owner: CEO, with three named workstream leads · Trigger: Three named workstream leads publish 30-day deliverables by Friday.</a:t>
            </a:r>
          </a:p>
          <a:p xmlns:a="http://schemas.openxmlformats.org/drawingml/2006/main">
            <a:r>
              <a:t>Stop/escalate: Escalate if any workstream lead cannot publish a 30-day deliverable.</a:t>
            </a:r>
          </a:p>
          <a:p xmlns:a="http://schemas.openxmlformats.org/drawingml/2006/main">
            <a:r>
              <a:t/>
            </a:r>
          </a:p>
          <a:p xmlns:a="http://schemas.openxmlformats.org/drawingml/2006/main">
            <a:r>
              <a:t>Evidence: S04-01, S04-02, S04-03, S04-04, S04-05, S04-06</a:t>
            </a:r>
          </a:p>
          <a:p xmlns:a="http://schemas.openxmlformats.org/drawingml/2006/main">
            <a:r>
              <a:t>Evidence ledger claims S04-01–S04-06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delta, 2026-08-14.</a:t>
            </a:r>
          </a:p>
          <a:p xmlns:a="http://schemas.openxmlformats.org/drawingml/2006/main">
            <a:r>
              <a:t>You.com livecrawl + Exa against the nine evidence gaps the dossier itself names; Firecrawl capture of every primary artifact returned. 162 results, 114 dated, 7/7 primary captures.</a:t>
            </a:r>
          </a:p>
          <a:p xmlns:a="http://schemas.openxmlformats.org/drawingml/2006/main">
            <a:r>
              <a:t/>
            </a:r>
          </a:p>
          <a:p xmlns:a="http://schemas.openxmlformats.org/drawingml/2006/main">
            <a:r>
              <a:t>D1 Aptiv × STRADVISION: raise STRADVISION from comparator to occupant of the target position</a:t>
            </a:r>
          </a:p>
          <a:p xmlns:a="http://schemas.openxmlformats.org/drawingml/2006/main">
            <a:r>
              <a:t>  source: Aptiv PLC press release, 6 January 2026, aptiv.com newsroom</a:t>
            </a:r>
          </a:p>
          <a:p xmlns:a="http://schemas.openxmlformats.org/drawingml/2006/main">
            <a:r>
              <a:t>D2 ZF: ZF N2/N3 OEM threat: corroborated, hold at HIGH</a:t>
            </a:r>
          </a:p>
          <a:p xmlns:a="http://schemas.openxmlformats.org/drawingml/2006/main">
            <a:r>
              <a:t>  source: ZF CVCS India press note, 3 December 2025, zf.com</a:t>
            </a:r>
          </a:p>
          <a:p xmlns:a="http://schemas.openxmlformats.org/drawingml/2006/main">
            <a:r>
              <a:t>D3 STRADVISION: STRADVISION India CV: insufficient evidence -&gt; verified fact</a:t>
            </a:r>
          </a:p>
          <a:p xmlns:a="http://schemas.openxmlformats.org/drawingml/2006/main">
            <a:r>
              <a:t>  source: STRADVISION via PR Newswire, 16 April 2026</a:t>
            </a:r>
          </a:p>
          <a:p xmlns:a="http://schemas.openxmlformats.org/drawingml/2006/main">
            <a:r>
              <a:t>D4 drivebuddyAI: drivebuddyAI fleet threat: raise; mining is now contested</a:t>
            </a:r>
          </a:p>
          <a:p xmlns:a="http://schemas.openxmlformats.org/drawingml/2006/main">
            <a:r>
              <a:t>  source: Roadzen Inc. via GlobeNewswire, 23 June 2026; Roadzen investor relations, 29 April 2026</a:t>
            </a:r>
          </a:p>
          <a:p xmlns:a="http://schemas.openxmlformats.org/drawingml/2006/main">
            <a:r>
              <a:t>D5 Regulatory: regulatory baseline: corrected to G.S.R. 834(E)/862(E); stop citing 184(E) entirely</a:t>
            </a:r>
          </a:p>
          <a:p xmlns:a="http://schemas.openxmlformats.org/drawingml/2006/main">
            <a:r>
              <a:t>  source: Gazette of India CG-DL-E-13112025-267610, digitally signed 13 Nov 2025; MoRTH notification listing</a:t>
            </a:r>
          </a:p>
          <a:p xmlns:a="http://schemas.openxmlformats.org/drawingml/2006/main">
            <a:r>
              <a:t>D6 Gahan: Gahan diligence priority: lower, pending any primary artifact</a:t>
            </a:r>
          </a:p>
          <a:p xmlns:a="http://schemas.openxmlformats.org/drawingml/2006/main">
            <a:r>
              <a:t>  source: You.com livecrawl + Exa, 14 August 2026 — measured absence, not an unrun search</a:t>
            </a:r>
          </a:p>
          <a:p xmlns:a="http://schemas.openxmlformats.org/drawingml/2006/main">
            <a:r>
              <a:t>D7 Sterling x MINIEYE: hold; the falsifier (named OEM nomination) still stands unfired</a:t>
            </a:r>
          </a:p>
          <a:p xmlns:a="http://schemas.openxmlformats.org/drawingml/2006/main">
            <a:r>
              <a:t>  source: The Hindu BusinessLine, Business Upturn, Newsfile, Globe and Mail, 19 January 2026</a:t>
            </a:r>
          </a:p>
          <a:p xmlns:a="http://schemas.openxmlformats.org/drawingml/2006/main">
            <a:r>
              <a:t>D8 bitsensing / Netrasemi: hold both; add a dated re-test on Netrasemi</a:t>
            </a:r>
          </a:p>
          <a:p xmlns:a="http://schemas.openxmlformats.org/drawingml/2006/main">
            <a:r>
              <a:t>  source: bitsensing newsroom; Economic Times, 28 May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II · The field</a:t>
            </a:r>
          </a:p>
          <a:p xmlns:a="http://schemas.openxmlformats.org/drawingml/2006/main">
            <a:r>
              <a:t/>
            </a:r>
          </a:p>
          <a:p xmlns:a="http://schemas.openxmlformats.org/drawingml/2006/main">
            <a:r>
              <a:t>Q: Who occupies India CV ADAS, what is the actual rule, and what does each arena reward?</a:t>
            </a:r>
          </a:p>
          <a:p xmlns:a="http://schemas.openxmlformats.org/drawingml/2006/main">
            <a:r>
              <a:t>Settles: The notified instrument, the scale of the field, and the line that divides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Relationship patterns.</a:t>
            </a:r>
          </a:p>
          <a:p xmlns:a="http://schemas.openxmlformats.org/drawingml/2006/main">
            <a:r>
              <a:t/>
            </a:r>
          </a:p>
          <a:p xmlns:a="http://schemas.openxmlformats.org/drawingml/2006/main">
            <a:r>
              <a:t>SUBSTITUTE — STRADVISION (blocker 5/5): Sells the same thing to the same buyer for the same job. Interchangeable at the point of decision. VERB: Displace or differentiate. This is the only company where 'win the deal' is the right verb. [Porter — rivalry] EV-SV-01, EV-SV-03, EV-SV-05</a:t>
            </a:r>
          </a:p>
          <a:p xmlns:a="http://schemas.openxmlformats.org/drawingml/2006/main">
            <a:r>
              <a:t/>
            </a:r>
          </a:p>
          <a:p xmlns:a="http://schemas.openxmlformats.org/drawingml/2006/main">
            <a:r>
              <a:t>GATEKEEPER — Aptiv (blocker 4/5): Does not sell what you sell. Decides who gets to. VERB: Sell TO, not against. The buying decision you must win is its vendor-selection, not an end customer's. [Value Net — customer] EV-APT-01, EV-APT-02</a:t>
            </a:r>
          </a:p>
          <a:p xmlns:a="http://schemas.openxmlformats.org/drawingml/2006/main">
            <a:r>
              <a:t/>
            </a:r>
          </a:p>
          <a:p xmlns:a="http://schemas.openxmlformats.org/drawingml/2006/main">
            <a:r>
              <a:t>CHANNEL / COOPETITOR — ZF · Sterling × MINIEYE (blocker 3/5 · 1/5): Owns a control point you must pass through, and is simultaneously your route to market. VERB: Attach. Both are customers first and rivals only if they build the layer themselves. [Brandenburger &amp; Nalebuff] EV-ZF-01, EV-STL-01</a:t>
            </a:r>
          </a:p>
          <a:p xmlns:a="http://schemas.openxmlformats.org/drawingml/2006/main">
            <a:r>
              <a:t/>
            </a:r>
          </a:p>
          <a:p xmlns:a="http://schemas.openxmlformats.org/drawingml/2006/main">
            <a:r>
              <a:t>DIFFERENT JOB — drivebuddyAI · Starkenn · bitsensing (blocker 1/5 each): Same industry, different buyer, different budget, different clock. Never in the same bid. VERB: Ignore for the mandate. Track only as evidence that retrofit demand is real. [Christensen — jobs to be done] EV-DBA-01, EV-STK-01, EV-BIT-02</a:t>
            </a:r>
          </a:p>
          <a:p xmlns:a="http://schemas.openxmlformats.org/drawingml/2006/main">
            <a:r>
              <a:t/>
            </a:r>
          </a:p>
          <a:p xmlns:a="http://schemas.openxmlformats.org/drawingml/2006/main">
            <a:r>
              <a:t>NARRATIVE RIVAL — Gahan AI · Netrasemi (blocker 2/5 each): Competes for the same story, the same sympathy and the same government shortlist — not the same purchase order. VERB: Counter the claim, not the product. Losing the indigenous-champion narrative costs Segment A access. [legitimacy competition] EV-GHN-07, EV-NTR-01</a:t>
            </a:r>
          </a:p>
          <a:p xmlns:a="http://schemas.openxmlformats.org/drawingml/2006/main">
            <a:r>
              <a:t/>
            </a:r>
          </a:p>
          <a:p xmlns:a="http://schemas.openxmlformats.org/drawingml/2006/main">
            <a:r>
              <a:t>SUPPLIER-SIDE — TI · NXP · TSMC (blocker n/a): Sets the cost floor and the qualification path for everyone, including you. VERB: Choose deliberately. Not in this dossier at all, and it decides the ASIC economics. [Porter — supplier power] EV-GHN-05, EV-BIT-02, EV-NTR-02</a:t>
            </a:r>
          </a:p>
          <a:p xmlns:a="http://schemas.openxmlformats.org/drawingml/2006/main">
            <a:r>
              <a:t/>
            </a:r>
          </a:p>
          <a:p xmlns:a="http://schemas.openxmlformats.org/drawingml/2006/main">
            <a:r>
              <a:t>Six of the nine score 2/5 or less on obstructing the position DeepGrid has chosen, and the dossier says so in its own words — 'blocks nothing', 'no overlap', 'a partner-shaped competitor'. A threat ranking across all nine therefore compares things that were never comparable, and it spends the scarce evidence budget on companies DeepGrid will never bid against. The pattern determines the verb: displace one, sell to three, ignore three for the mandate, out-argue two.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 Net (Brandenburger &amp; Nalebuff).</a:t>
            </a:r>
          </a:p>
          <a:p xmlns:a="http://schemas.openxmlformats.org/drawingml/2006/main">
            <a:r>
              <a:t/>
            </a:r>
          </a:p>
          <a:p xmlns:a="http://schemas.openxmlformats.org/drawingml/2006/main">
            <a:r>
              <a:t>CUSTOMERS — Who DeepGrid sells the perception layer TO</a:t>
            </a:r>
          </a:p>
          <a:p xmlns:a="http://schemas.openxmlformats.org/drawingml/2006/main">
            <a:r>
              <a:t>  Aptiv — selects the perception vendor for its camera</a:t>
            </a:r>
          </a:p>
          <a:p xmlns:a="http://schemas.openxmlformats.org/drawingml/2006/main">
            <a:r>
              <a:t>  ZF — owns the actuator and the safety case</a:t>
            </a:r>
          </a:p>
          <a:p xmlns:a="http://schemas.openxmlformats.org/drawingml/2006/main">
            <a:r>
              <a:t>  Sterling × MINIEYE — the localisation template</a:t>
            </a:r>
          </a:p>
          <a:p xmlns:a="http://schemas.openxmlformats.org/drawingml/2006/main">
            <a:r>
              <a:t>  EV-APT-02, EV-ZF-01, EV-STL-01</a:t>
            </a:r>
          </a:p>
          <a:p xmlns:a="http://schemas.openxmlformats.org/drawingml/2006/main">
            <a:r>
              <a:t/>
            </a:r>
          </a:p>
          <a:p xmlns:a="http://schemas.openxmlformats.org/drawingml/2006/main">
            <a:r>
              <a:t>COMPETITORS — Who the buyer would choose INSTEAD</a:t>
            </a:r>
          </a:p>
          <a:p xmlns:a="http://schemas.openxmlformats.org/drawingml/2006/main">
            <a:r>
              <a:t>  STRADVISION — the only true substitute</a:t>
            </a:r>
          </a:p>
          <a:p xmlns:a="http://schemas.openxmlformats.org/drawingml/2006/main">
            <a:r>
              <a:t>  (Aptiv, only if it in-sources perception)</a:t>
            </a:r>
          </a:p>
          <a:p xmlns:a="http://schemas.openxmlformats.org/drawingml/2006/main">
            <a:r>
              <a:t>  (ZF, only if it bundles the layer)</a:t>
            </a:r>
          </a:p>
          <a:p xmlns:a="http://schemas.openxmlformats.org/drawingml/2006/main">
            <a:r>
              <a:t>  EV-SV-03, EV-SV-05</a:t>
            </a:r>
          </a:p>
          <a:p xmlns:a="http://schemas.openxmlformats.org/drawingml/2006/main">
            <a:r>
              <a:t/>
            </a:r>
          </a:p>
          <a:p xmlns:a="http://schemas.openxmlformats.org/drawingml/2006/main">
            <a:r>
              <a:t>SUPPLIERS — Who sets DeepGrid's cost floor and qualification path</a:t>
            </a:r>
          </a:p>
          <a:p xmlns:a="http://schemas.openxmlformats.org/drawingml/2006/main">
            <a:r>
              <a:t>  TI, NXP — radar and sensor silicon</a:t>
            </a:r>
          </a:p>
          <a:p xmlns:a="http://schemas.openxmlformats.org/drawingml/2006/main">
            <a:r>
              <a:t>  TSMC — the fab for any ASIC</a:t>
            </a:r>
          </a:p>
          <a:p xmlns:a="http://schemas.openxmlformats.org/drawingml/2006/main">
            <a:r>
              <a:t>  ARAI / ICAT — homologation and characterisation</a:t>
            </a:r>
          </a:p>
          <a:p xmlns:a="http://schemas.openxmlformats.org/drawingml/2006/main">
            <a:r>
              <a:t>  EV-GHN-05, EV-BIT-02, EV-NTR-02</a:t>
            </a:r>
          </a:p>
          <a:p xmlns:a="http://schemas.openxmlformats.org/drawingml/2006/main">
            <a:r>
              <a:t/>
            </a:r>
          </a:p>
          <a:p xmlns:a="http://schemas.openxmlformats.org/drawingml/2006/main">
            <a:r>
              <a:t>COMPLEMENTORS — Who makes DeepGrid's layer more valuable when present</a:t>
            </a:r>
          </a:p>
          <a:p xmlns:a="http://schemas.openxmlformats.org/drawingml/2006/main">
            <a:r>
              <a:t>  Braking Tier-1s — supply the actuation DeepGrid cannot</a:t>
            </a:r>
          </a:p>
          <a:p xmlns:a="http://schemas.openxmlformats.org/drawingml/2006/main">
            <a:r>
              <a:t>  Netrasemi — an Indian silicon ecosystem raises all local credibility</a:t>
            </a:r>
          </a:p>
          <a:p xmlns:a="http://schemas.openxmlformats.org/drawingml/2006/main">
            <a:r>
              <a:t>  Fleet telematics — supplies the field data DeepGrid needs</a:t>
            </a:r>
          </a:p>
          <a:p xmlns:a="http://schemas.openxmlformats.org/drawingml/2006/main">
            <a:r>
              <a:t>  EV-ZF-02, EV-NTR-02</a:t>
            </a:r>
          </a:p>
          <a:p xmlns:a="http://schemas.openxmlformats.org/drawingml/2006/main">
            <a:r>
              <a:t/>
            </a:r>
          </a:p>
          <a:p xmlns:a="http://schemas.openxmlformats.org/drawingml/2006/main">
            <a:r>
              <a:t>Three companies sit in two quadrants at once. ZF and Aptiv are customers today and become competitors only if they in-source the perception layer — which is precisely the counter-move page's finding, and precisely why the counter-move risk and the blocker rank disagree. Coopetition is the normal state here, not an anomaly, and a dossier that can only express hostility cannot describe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Regulatory baseline.</a:t>
            </a:r>
          </a:p>
          <a:p xmlns:a="http://schemas.openxmlformats.org/drawingml/2006/main">
            <a:r>
              <a:t/>
            </a:r>
          </a:p>
          <a:p xmlns:a="http://schemas.openxmlformats.org/drawingml/2006/main">
            <a:r>
              <a:t>Instrument: G.S.R. 834(E), 11 November 2025, amended by G.S.R. 862(E), gazetted 21 November 2025 — substituted rule 96(12) to add Vehicle Stability Function.</a:t>
            </a:r>
          </a:p>
          <a:p xmlns:a="http://schemas.openxmlformats.org/drawingml/2006/main">
            <a:r>
              <a:t>G.S.R. 184(E), 20 March 2025 was a DRAFT. The notified rule's own preamble names it as the draft it replaces.</a:t>
            </a:r>
          </a:p>
          <a:p xmlns:a="http://schemas.openxmlformats.org/drawingml/2006/main">
            <a:r>
              <a:t/>
            </a:r>
          </a:p>
          <a:p xmlns:a="http://schemas.openxmlformats.org/drawingml/2006/main">
            <a:r>
              <a:t>Gazette: CG-DL-E-13112025-267610 · digitally signed 13 Nov 2025 — public for nine months, not outstanding</a:t>
            </a:r>
          </a:p>
          <a:p xmlns:a="http://schemas.openxmlformats.org/drawingml/2006/main">
            <a:r>
              <a:t/>
            </a:r>
          </a:p>
          <a:p xmlns:a="http://schemas.openxmlformats.org/drawingml/2006/main">
            <a:r>
              <a:t>Evidence: EV-REG-01, EV-REG-02.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scale.</a:t>
            </a:r>
          </a:p>
          <a:p xmlns:a="http://schemas.openxmlformats.org/drawingml/2006/main">
            <a:r>
              <a:t/>
            </a:r>
          </a:p>
          <a:p xmlns:a="http://schemas.openxmlformats.org/drawingml/2006/main">
            <a:r>
              <a:t>Four orders of magnitude, scored on one threat axis until now. All market caps as of the stated date; retrieved 2026-08-15. A figure without a date is not a fact.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structure.</a:t>
            </a:r>
          </a:p>
          <a:p xmlns:a="http://schemas.openxmlformats.org/drawingml/2006/main">
            <a:r>
              <a:t/>
            </a:r>
          </a:p>
          <a:p xmlns:a="http://schemas.openxmlformats.org/drawingml/2006/main">
            <a:r>
              <a:t>Only P-ACT systems can satisfy CMVR rule 96(12). Warning-only systems compete for retrofit budget on a different clock.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Certification gate.</a:t>
            </a:r>
          </a:p>
          <a:p xmlns:a="http://schemas.openxmlformats.org/drawingml/2006/main">
            <a:r>
              <a:t/>
            </a:r>
          </a:p>
          <a:p xmlns:a="http://schemas.openxmlformats.org/drawingml/2006/main">
            <a:r>
              <a:t>ISO 26262 / ARAI / AEC-Q100 by competitor. DeepGrid has no published functional-safety pathway.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Supply dependency.</a:t>
            </a:r>
          </a:p>
          <a:p xmlns:a="http://schemas.openxmlformats.org/drawingml/2006/main">
            <a:r>
              <a:t/>
            </a:r>
          </a:p>
          <a:p xmlns:a="http://schemas.openxmlformats.org/drawingml/2006/main">
            <a:r>
              <a:t>STRADVISION -&gt; None — hardware-agnostic: Runs on whatever the integrator chooses; designed for low-cost constrained hardware [HOLDS THE SEAT] (EV-SV-03)</a:t>
            </a:r>
          </a:p>
          <a:p xmlns:a="http://schemas.openxmlformats.org/drawingml/2006/main">
            <a:r>
              <a:t>Aptiv -&gt; Own Gen 8 radar + Gen 7 camera: But the perception INSIDE the camera is STRADVISION's, not Aptiv's [OWNS THE PLATFORM] (EV-APT-02)</a:t>
            </a:r>
          </a:p>
          <a:p xmlns:a="http://schemas.openxmlformats.org/drawingml/2006/main">
            <a:r>
              <a:t>ZF -&gt; Own OnGuardMAX + short-range radar: Owns the actuator, so the silicon question never decides the sale [OWNS THE SAFETY CASE] (EV-ZF-02)</a:t>
            </a:r>
          </a:p>
          <a:p xmlns:a="http://schemas.openxmlformats.org/drawingml/2006/main">
            <a:r>
              <a:t>Gahan AI -&gt; TI AWR2944: AEC-Q100 attaches to TI's IC; TI's own CES release names no Indian partner [NO ROUTE TO MARKET] (EV-GHN-02, EV-GHN-04)</a:t>
            </a:r>
          </a:p>
          <a:p xmlns:a="http://schemas.openxmlformats.org/drawingml/2006/main">
            <a:r>
              <a:t>Netrasemi -&gt; TSMC 12nm, own NPU/VPU/ISP: Real Indian silicon — with no AIS, AEC-Q100 or ISO 26262 [NO CERTIFICATION] (EV-NTR-02)</a:t>
            </a:r>
          </a:p>
          <a:p xmlns:a="http://schemas.openxmlformats.org/drawingml/2006/main">
            <a:r>
              <a:t>bitsensing -&gt; NXP: Radar IP plus a semiconductor partner, capped at warning-only [HARD CEILING] (EV-BIT-02)</a:t>
            </a:r>
          </a:p>
          <a:p xmlns:a="http://schemas.openxmlformats.org/drawingml/2006/main">
            <a:r>
              <a:t/>
            </a:r>
          </a:p>
          <a:p xmlns:a="http://schemas.openxmlformats.org/drawingml/2006/main">
            <a:r>
              <a:t>Two of the three companies that reach brake actuation buy their perception rather than build it, and the company occupying the exact seat DeepGrid wants owns no silicon whatsoever. Meanwhile the two players with the most credible silicon story — Gahan and Netrasemi — have no route to an Indian CV buyer between them. On this evidence, silicon ownership is neither necessary nor sufficient to hold the perception seat. It is a margin and supply-assurance argument, not an entry argument, and the deck should stop selling it as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Competitive timeline.</a:t>
            </a:r>
          </a:p>
          <a:p xmlns:a="http://schemas.openxmlformats.org/drawingml/2006/main">
            <a:r>
              <a:t/>
            </a:r>
          </a:p>
          <a:p xmlns:a="http://schemas.openxmlformats.org/drawingml/2006/main">
            <a:r>
              <a:t>Seven dated moves in eight months.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Unresolved: one programme or two?</a:t>
            </a:r>
          </a:p>
          <a:p xmlns:a="http://schemas.openxmlformats.org/drawingml/2006/main">
            <a:r>
              <a:t/>
            </a:r>
          </a:p>
          <a:p xmlns:a="http://schemas.openxmlformats.org/drawingml/2006/main">
            <a:r>
              <a:t>Aptiv 6 Jan 2026 (EV-APT-01, EV-APT-02) vs STRADVISION 16 Apr 2026 (EV-SV-01). Both counterparties unnamed; Aptiv's camera contains STRADVISION's vision.</a:t>
            </a:r>
          </a:p>
          <a:p xmlns:a="http://schemas.openxmlformats.org/drawingml/2006/main">
            <a:r>
              <a:t/>
            </a:r>
          </a:p>
          <a:p xmlns:a="http://schemas.openxmlformats.org/drawingml/2006/main">
            <a:r>
              <a:t>UNRESOLVED — do not merge, do not double-count</a:t>
            </a:r>
          </a:p>
          <a:p xmlns:a="http://schemas.openxmlformats.org/drawingml/2006/main">
            <a:r>
              <a:t/>
            </a:r>
          </a:p>
          <a:p xmlns:a="http://schemas.openxmlformats.org/drawingml/2006/main">
            <a:r>
              <a:t>If it is one programme, the field has one Indian CV line-fit win between Aptiv and STRADVISION, not two, and the dossier overstates the pace of competitive capture. If it is two, then STRADVISION is selling into India independently of Aptiv as well as inside it, which makes it a broader threat than the profile allows. Both readings change a rating. Neither is established, and the honest move is to carry the question rather than pick the flattering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Does the market architecture identify where DeepGrid should compete, rather than partner?</a:t>
            </a:r>
          </a:p>
          <a:p xmlns:a="http://schemas.openxmlformats.org/drawingml/2006/main">
            <a:r>
              <a:t>A: Four arenas buy different things and hand accountability to different owners: system ownership, retrofit outcome, perception layer, and fleet-plus-channel. DeepGrid should compete only in the perception layer and attach everywhere else.</a:t>
            </a:r>
          </a:p>
          <a:p xmlns:a="http://schemas.openxmlformats.org/drawingml/2006/main">
            <a:r>
              <a:t/>
            </a:r>
          </a:p>
          <a:p xmlns:a="http://schemas.openxmlformats.org/drawingml/2006/main">
            <a:r>
              <a:t>Mechanism: What the buyer purchases determines who is accountable for the outcome, and accountability determines who selects the perception supplier. Arena is therefore a sharper segmentation than vehicle class or geography.</a:t>
            </a:r>
          </a:p>
          <a:p xmlns:a="http://schemas.openxmlformats.org/drawingml/2006/main">
            <a:r>
              <a:t>Counterargument: Starkenn scale, revenue and conditions; ZF programme scope; drivebuddyAI execution or expansion</a:t>
            </a:r>
          </a:p>
          <a:p xmlns:a="http://schemas.openxmlformats.org/drawingml/2006/main">
            <a:r>
              <a:t>Falsifier: Falsified if a buyer in any arena purchases perception independently of the braking or ECU owner.</a:t>
            </a:r>
          </a:p>
          <a:p xmlns:a="http://schemas.openxmlformats.org/drawingml/2006/main">
            <a:r>
              <a:t>Implication: Comparison Rule Classify opportunities by what the buyer purchases and who controls accountability</a:t>
            </a:r>
          </a:p>
          <a:p xmlns:a="http://schemas.openxmlformats.org/drawingml/2006/main">
            <a:r>
              <a:t>Decision: Classify opportunities by purchased outcome and control owner; prioritize perception attach</a:t>
            </a:r>
          </a:p>
          <a:p xmlns:a="http://schemas.openxmlformats.org/drawingml/2006/main">
            <a:r>
              <a:t>Owner: Head of Business Development · Trigger: Every live deal mapped to an arena and control owner before the next pipeline review.</a:t>
            </a:r>
          </a:p>
          <a:p xmlns:a="http://schemas.openxmlformats.org/drawingml/2006/main">
            <a:r>
              <a:t>Stop/escalate: Stop pursuing any opportunity that cannot be classified by arena and control owner.</a:t>
            </a:r>
          </a:p>
          <a:p xmlns:a="http://schemas.openxmlformats.org/drawingml/2006/main">
            <a:r>
              <a:t/>
            </a:r>
          </a:p>
          <a:p xmlns:a="http://schemas.openxmlformats.org/drawingml/2006/main">
            <a:r>
              <a:t>Evidence: S05-01, S05-02, S05-03, S05-04, S05-05</a:t>
            </a:r>
          </a:p>
          <a:p xmlns:a="http://schemas.openxmlformats.org/drawingml/2006/main">
            <a:r>
              <a:t>Evidence ledger claims S05-01–S05-05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regulatory baseline is decision-safe, and what changes now?</a:t>
            </a:r>
          </a:p>
          <a:p xmlns:a="http://schemas.openxmlformats.org/drawingml/2006/main">
            <a:r>
              <a:t>A: April 2026 is not the binding national start date. The notified AEBS dates are 1 January 2027 for new M2/M3/N2/N3 models and 1 October 2027 for all of them, and every plan, pitch and roadmap must be rebased to those.</a:t>
            </a:r>
          </a:p>
          <a:p xmlns:a="http://schemas.openxmlformats.org/drawingml/2006/main">
            <a:r>
              <a:t/>
            </a:r>
          </a:p>
          <a:p xmlns:a="http://schemas.openxmlformats.org/drawingml/2006/main">
            <a:r>
              <a:t>Mechanism: A draft instrument is not a binding start date. Sequencing product proof against a draft compresses the programme against a deadline that does not exist, and repeating it to a buyer costs exactly the credibility the evidence programme depends on.</a:t>
            </a:r>
          </a:p>
          <a:p xmlns:a="http://schemas.openxmlformats.org/drawingml/2006/main">
            <a:r>
              <a:t>Counterargument: Rebasing to later dates can read internally as reduced urgency and slow the evidence programme at the moment it most needs to accelerate.</a:t>
            </a:r>
          </a:p>
          <a:p xmlns:a="http://schemas.openxmlformats.org/drawingml/2006/main">
            <a:r>
              <a:t>Falsifier: Falsified if MoRTH notifies an earlier binding date, or if a customer's own procurement calendar makes April 2026 operative regardless of the statute.</a:t>
            </a:r>
          </a:p>
          <a:p xmlns:a="http://schemas.openxmlformats.org/drawingml/2006/main">
            <a:r>
              <a:t>Implication: Rebase regulatory messaging and sequence product proof against applicable dates.</a:t>
            </a:r>
          </a:p>
          <a:p xmlns:a="http://schemas.openxmlformats.org/drawingml/2006/main">
            <a:r>
              <a:t>Decision: CEO orders immediate correction of regulatory claims in plans, pitches.</a:t>
            </a:r>
          </a:p>
          <a:p xmlns:a="http://schemas.openxmlformats.org/drawingml/2006/main">
            <a:r>
              <a:t>Owner: CEO with Regulatory lead · Trigger: All active documents corrected within 48 hours.</a:t>
            </a:r>
          </a:p>
          <a:p xmlns:a="http://schemas.openxmlformats.org/drawingml/2006/main">
            <a:r>
              <a:t>Stop/escalate: Stop any external claim citing G.S.R.184(E) as final law.</a:t>
            </a:r>
          </a:p>
          <a:p xmlns:a="http://schemas.openxmlformats.org/drawingml/2006/main">
            <a:r>
              <a:t/>
            </a:r>
          </a:p>
          <a:p xmlns:a="http://schemas.openxmlformats.org/drawingml/2006/main">
            <a:r>
              <a:t>Evidence: S06-01, S06-02, S06-03, S06-04, S06-05, S06-06</a:t>
            </a:r>
          </a:p>
          <a:p xmlns:a="http://schemas.openxmlformats.org/drawingml/2006/main">
            <a:r>
              <a:t>Evidence ledger claims S06-01–S06-06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Which buyer jobs should determine where DeepGrid sells and deploys first?</a:t>
            </a:r>
          </a:p>
          <a:p xmlns:a="http://schemas.openxmlformats.org/drawingml/2006/main">
            <a:r>
              <a:t>A: Each buyer type gates on a different proof: Government/PSU on named awards, eligibility and local service; CV OEM/Tier-1 on nomination, interfaces and automotive-grade qualification; mining and yard on retrofit time, harsh-condition logs and uptime. Sell against the gate, not the feature list.</a:t>
            </a:r>
          </a:p>
          <a:p xmlns:a="http://schemas.openxmlformats.org/drawingml/2006/main">
            <a:r>
              <a:t/>
            </a:r>
          </a:p>
          <a:p xmlns:a="http://schemas.openxmlformats.org/drawingml/2006/main">
            <a:r>
              <a:t>Mechanism: A buyer scores what it is accountable for. Because each segment is accountable for something different, the same capability deck fails in two of the three rooms; matching the proof to the gate is what converts interest into qualification.</a:t>
            </a:r>
          </a:p>
          <a:p xmlns:a="http://schemas.openxmlformats.org/drawingml/2006/main">
            <a:r>
              <a:t>Counterargument: No named buyer interviews or procurement artifacts sit in the packet, so these gates are inferred from public material rather than confirmed by the buyers themselves.</a:t>
            </a:r>
          </a:p>
          <a:p xmlns:a="http://schemas.openxmlformats.org/drawingml/2006/main">
            <a:r>
              <a:t>Falsifier: Falsified if a buyer in any segment selects on a criterion outside its stated gate — price alone, for instance.</a:t>
            </a:r>
          </a:p>
          <a:p xmlns:a="http://schemas.openxmlformats.org/drawingml/2006/main">
            <a:r>
              <a:t>Implication: Route each account to the proof its buyer actually scores, and retire the generic capability pitch.</a:t>
            </a:r>
          </a:p>
          <a:p xmlns:a="http://schemas.openxmlformats.org/drawingml/2006/main">
            <a:r>
              <a:t>Decision: Adopt buyer-specific proof gates as the pipeline qualification standard.</a:t>
            </a:r>
          </a:p>
          <a:p xmlns:a="http://schemas.openxmlformats.org/drawingml/2006/main">
            <a:r>
              <a:t>Owner: Head of Business Development · Trigger: Next pipeline review, with every open account tagged to its gate.</a:t>
            </a:r>
          </a:p>
          <a:p xmlns:a="http://schemas.openxmlformats.org/drawingml/2006/main">
            <a:r>
              <a:t>Stop/escalate: Stop pursuing any account with no identified gate owner.</a:t>
            </a:r>
          </a:p>
          <a:p xmlns:a="http://schemas.openxmlformats.org/drawingml/2006/main">
            <a:r>
              <a:t/>
            </a:r>
          </a:p>
          <a:p xmlns:a="http://schemas.openxmlformats.org/drawingml/2006/main">
            <a:r>
              <a:t>Evidence: S07-01, S07-02, S07-03, S07-04, S07-05, S07-06</a:t>
            </a:r>
          </a:p>
          <a:p xmlns:a="http://schemas.openxmlformats.org/drawingml/2006/main">
            <a:r>
              <a:t>Evidence ledger claims S07-01–S07-06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Which government-market position is defensible, what must be true, and how should DeepGrid respond?</a:t>
            </a:r>
          </a:p>
          <a:p xmlns:a="http://schemas.openxmlformats.org/drawingml/2006/main">
            <a:r>
              <a:t>A: Sovereignty alone no longer differentiates: Starkenn is India-incorporated and already reports government tender revenue. Lead instead with procurable performance, design escrow, serviceability and spares.</a:t>
            </a:r>
          </a:p>
          <a:p xmlns:a="http://schemas.openxmlformats.org/drawingml/2006/main">
            <a:r>
              <a:t/>
            </a:r>
          </a:p>
          <a:p xmlns:a="http://schemas.openxmlformats.org/drawingml/2006/main">
            <a:r>
              <a:t>Mechanism: When a rival already satisfies the nationality criterion, that criterion stops separating bidders and the decision falls back to what procurement can actually score — eligibility, service reach and lifecycle cost.</a:t>
            </a:r>
          </a:p>
          <a:p xmlns:a="http://schemas.openxmlformats.org/drawingml/2006/main">
            <a:r>
              <a:t>Counterargument: Insufficient local service infrastructure could disqualify DeepGrid from government tenders regardless of how well the position is worded.</a:t>
            </a:r>
          </a:p>
          <a:p xmlns:a="http://schemas.openxmlformats.org/drawingml/2006/main">
            <a:r>
              <a:t>Falsifier: Thesis falsified if government buyer requires local service presence DeepGrid cannot demonstrate</a:t>
            </a:r>
          </a:p>
          <a:p xmlns:a="http://schemas.openxmlformats.org/drawingml/2006/main">
            <a:r>
              <a:t>Implication: Lead with procurable performance Lead with procurable performance, design escrow, serviceability and documented acceptance tests</a:t>
            </a:r>
          </a:p>
          <a:p xmlns:a="http://schemas.openxmlformats.org/drawingml/2006/main">
            <a:r>
              <a:t>Decision: Rewrite the government pitch and one tender response around eligibility, service, spares, escrow</a:t>
            </a:r>
          </a:p>
          <a:p xmlns:a="http://schemas.openxmlformats.org/drawingml/2006/main">
            <a:r>
              <a:t>Owner: Head of Government Sales · Trigger: Draft within 7 days; submit for internal review by Friday</a:t>
            </a:r>
          </a:p>
          <a:p xmlns:a="http://schemas.openxmlformats.org/drawingml/2006/main">
            <a:r>
              <a:t>Stop/escalate: Stop using 'India-native' as the lead claim in any tender response.</a:t>
            </a:r>
          </a:p>
          <a:p xmlns:a="http://schemas.openxmlformats.org/drawingml/2006/main">
            <a:r>
              <a:t/>
            </a:r>
          </a:p>
          <a:p xmlns:a="http://schemas.openxmlformats.org/drawingml/2006/main">
            <a:r>
              <a:t>Evidence: S11-01, S11-02, S11-03, S11-04, S11-05, S11-06</a:t>
            </a:r>
          </a:p>
          <a:p xmlns:a="http://schemas.openxmlformats.org/drawingml/2006/main">
            <a:r>
              <a:t>Evidence ledger claims S11-01–S11-06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Should DeepGrid enter through a Tier-1 attach path or lead system ownership for OEM entry?</a:t>
            </a:r>
          </a:p>
          <a:p xmlns:a="http://schemas.openxmlformats.org/drawingml/2006/main">
            <a:r>
              <a:t>A: Enter through a named braking Tier-1 integration rather than system ownership. The market-entry event is a Tier-1 programme evaluation, not an OEM logo.</a:t>
            </a:r>
          </a:p>
          <a:p xmlns:a="http://schemas.openxmlformats.org/drawingml/2006/main">
            <a:r>
              <a:t/>
            </a:r>
          </a:p>
          <a:p xmlns:a="http://schemas.openxmlformats.org/drawingml/2006/main">
            <a:r>
              <a:t>Mechanism: OEM qualification runs through whoever carries braking actuation and vehicle approval. A perception supplier without that partner has no path to a vehicle, so the Tier-1 evaluation — not the OEM meeting — is the event that starts the clock.</a:t>
            </a:r>
          </a:p>
          <a:p xmlns:a="http://schemas.openxmlformats.org/drawingml/2006/main">
            <a:r>
              <a:t>Counterargument: A Tier-1 attach path makes DeepGrid dependent on a partner's roadmap, and can delay entry indefinitely if that partner deprioritises the programme.</a:t>
            </a:r>
          </a:p>
          <a:p xmlns:a="http://schemas.openxmlformats.org/drawingml/2006/main">
            <a:r>
              <a:t>Falsifier: Falsified if an Indian CV OEM evaluates DeepGrid directly and completes qualification with no Tier-1 in the loop.</a:t>
            </a:r>
          </a:p>
          <a:p xmlns:a="http://schemas.openxmlformats.org/drawingml/2006/main">
            <a:r>
              <a:t>Implication: Entry Logic DGS001 enters as bounded perception IP with documented interfaces</a:t>
            </a:r>
          </a:p>
          <a:p xmlns:a="http://schemas.openxmlformats.org/drawingml/2006/main">
            <a:r>
              <a:t>Decision: Gate OEM positioning on one named Tier-1 programme evaluation</a:t>
            </a:r>
          </a:p>
          <a:p xmlns:a="http://schemas.openxmlformats.org/drawingml/2006/main">
            <a:r>
              <a:t>Owner: Head of Business Development · Trigger: First named Tier-1 programme evaluation opened.</a:t>
            </a:r>
          </a:p>
          <a:p xmlns:a="http://schemas.openxmlformats.org/drawingml/2006/main">
            <a:r>
              <a:t>Stop/escalate: Escalate if no Tier-1 opens an evaluation before the 2027 SOP planning lock.</a:t>
            </a:r>
          </a:p>
          <a:p xmlns:a="http://schemas.openxmlformats.org/drawingml/2006/main">
            <a:r>
              <a:t/>
            </a:r>
          </a:p>
          <a:p xmlns:a="http://schemas.openxmlformats.org/drawingml/2006/main">
            <a:r>
              <a:t>Evidence: S12-01, S12-02, S12-03, S12-04, S12-05, S12-06, S12-07, S12-08, S12-09, S12-10, S12-11, S12-12</a:t>
            </a:r>
          </a:p>
          <a:p xmlns:a="http://schemas.openxmlformats.org/drawingml/2006/main">
            <a:r>
              <a:t>Evidence ledger claims S12-01–S12-12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Which entry arena offers DeepGrid the fastest credible proof, and what evidence gates must be met?</a:t>
            </a:r>
          </a:p>
          <a:p xmlns:a="http://schemas.openxmlformats.org/drawingml/2006/main">
            <a:r>
              <a:t>A: Mining offers concentrated vehicle access, controlled routes and an operator who already owns the uptime and liability case. Only a paid pilot carrying vehicle access and telemetry rights converts that into evidence.</a:t>
            </a:r>
          </a:p>
          <a:p xmlns:a="http://schemas.openxmlformats.org/drawingml/2006/main">
            <a:r>
              <a:t/>
            </a:r>
          </a:p>
          <a:p xmlns:a="http://schemas.openxmlformats.org/drawingml/2006/main">
            <a:r>
              <a:t>Mechanism: Proof speed is set by access, not by algorithm maturity. A mine operator controls the vehicles, the routes and the failure cost, so it can grant in weeks what an OEM programme takes quarters to approve.</a:t>
            </a:r>
          </a:p>
          <a:p xmlns:a="http://schemas.openxmlformats.org/drawingml/2006/main">
            <a:r>
              <a:t>Counterargument: Dust, vibration, occlusion and mixed asset types make mining a harsh validation environment. A failed pilot there is more damaging to the evidence base than a slower pilot elsewhere.</a:t>
            </a:r>
          </a:p>
          <a:p xmlns:a="http://schemas.openxmlformats.org/drawingml/2006/main">
            <a:r>
              <a:t>Falsifier: Falsify if controlled ad-hoc testing shows unacceptable nuisance rates</a:t>
            </a:r>
          </a:p>
          <a:p xmlns:a="http://schemas.openxmlformats.org/drawingml/2006/main">
            <a:r>
              <a:t>Implication: Pursue paid pilots Where camera classification demonstrably adds value to existing mining operations</a:t>
            </a:r>
          </a:p>
          <a:p xmlns:a="http://schemas.openxmlformats.org/drawingml/2006/main">
            <a:r>
              <a:t>Decision: Authorize three paid mining pilot proposals and an embedded radar-partner option</a:t>
            </a:r>
          </a:p>
          <a:p xmlns:a="http://schemas.openxmlformats.org/drawingml/2006/main">
            <a:r>
              <a:t>Owner: Head of Field Operations · Trigger: At least one paid pilot signs with vehicle access and telemetry rights</a:t>
            </a:r>
          </a:p>
          <a:p xmlns:a="http://schemas.openxmlformats.org/drawingml/2006/main">
            <a:r>
              <a:t>Stop/escalate: Stop unpaid pilots; they yield neither revenue nor data rights.</a:t>
            </a:r>
          </a:p>
          <a:p xmlns:a="http://schemas.openxmlformats.org/drawingml/2006/main">
            <a:r>
              <a:t/>
            </a:r>
          </a:p>
          <a:p xmlns:a="http://schemas.openxmlformats.org/drawingml/2006/main">
            <a:r>
              <a:t>Evidence: S13-01, S13-02, S13-03, S13-04, S13-05, S13-06, S13-07, S13-08, S13-09, S13-10, S13-11, S13-12, S13-13, S13-14</a:t>
            </a:r>
          </a:p>
          <a:p xmlns:a="http://schemas.openxmlformats.org/drawingml/2006/main">
            <a:r>
              <a:t>Evidence ledger claims S13-01–S13-14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III · The contest</a:t>
            </a:r>
          </a:p>
          <a:p xmlns:a="http://schemas.openxmlformats.org/drawingml/2006/main">
            <a:r>
              <a:t/>
            </a:r>
          </a:p>
          <a:p xmlns:a="http://schemas.openxmlformats.org/drawingml/2006/main">
            <a:r>
              <a:t>Q: Against each rival: who are they, what does their AI do, what is proven, and what would change the rating?</a:t>
            </a:r>
          </a:p>
          <a:p xmlns:a="http://schemas.openxmlformats.org/drawingml/2006/main">
            <a:r>
              <a:t>Settles: Every competitor argued in one place — identity, capability, evidence and falsifier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 ZF CVCS India.</a:t>
            </a:r>
          </a:p>
          <a:p xmlns:a="http://schemas.openxmlformats.org/drawingml/2006/main">
            <a:r>
              <a:t/>
            </a:r>
          </a:p>
          <a:p xmlns:a="http://schemas.openxmlformats.org/drawingml/2006/main">
            <a:r>
              <a:t>ZF Commercial Vehicle Control Systems India Limited</a:t>
            </a:r>
          </a:p>
          <a:p xmlns:a="http://schemas.openxmlformats.org/drawingml/2006/main">
            <a:r>
              <a:t>Founded 2004 (Formerly WABCO India Ltd · renamed March 2022)</a:t>
            </a:r>
          </a:p>
          <a:p xmlns:a="http://schemas.openxmlformats.org/drawingml/2006/main">
            <a:r>
              <a:t>Chennai, Tamil Nadu, India</a:t>
            </a:r>
          </a:p>
          <a:p xmlns:a="http://schemas.openxmlformats.org/drawingml/2006/main">
            <a:r>
              <a:t>LISTED NSE: ZFCVINDIA · BSE: 533023</a:t>
            </a:r>
          </a:p>
          <a:p xmlns:a="http://schemas.openxmlformats.org/drawingml/2006/main">
            <a:r>
              <a:t>Value ₹29,642 Cr ~$3.4bn as of 7 Aug 2026 (+13.0% YoY)</a:t>
            </a:r>
          </a:p>
          <a:p xmlns:a="http://schemas.openxmlformats.org/drawingml/2006/main">
            <a:r>
              <a:t>People —</a:t>
            </a:r>
          </a:p>
          <a:p xmlns:a="http://schemas.openxmlformats.org/drawingml/2006/main">
            <a:r>
              <a:t>Sells: Air brake actuation, electronic braking, ADAS, air disc brakes, EPH, TPMS, transmissions, SCALAR fleet orchestration</a:t>
            </a:r>
          </a:p>
          <a:p xmlns:a="http://schemas.openxmlformats.org/drawingml/2006/main">
            <a:r>
              <a:t/>
            </a:r>
          </a:p>
          <a:p xmlns:a="http://schemas.openxmlformats.org/drawingml/2006/main">
            <a:r>
              <a:t>Posture VERIFIED · Evidence EV-ZF-01 … EV-ZF-08</a:t>
            </a:r>
          </a:p>
          <a:p xmlns:a="http://schemas.openxmlformats.org/drawingml/2006/main">
            <a:r>
              <a:t/>
            </a:r>
          </a:p>
          <a:p xmlns:a="http://schemas.openxmlformats.org/drawingml/2006/main">
            <a:r>
              <a:t>Filed as a foreign incumbent. Its India arm is a ₹29,600 Cr listed Indian company incorporated in Chennai in 2004, with Indian homologation capability and an export business. On sovereignty and India-native axes, ZFCVINDIA is domestic.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use cases: ZF CVCS India.</a:t>
            </a:r>
          </a:p>
          <a:p xmlns:a="http://schemas.openxmlformats.org/drawingml/2006/main">
            <a:r>
              <a:t/>
            </a:r>
          </a:p>
          <a:p xmlns:a="http://schemas.openxmlformats.org/drawingml/2006/main">
            <a:r>
              <a:t>Pattern: P-FUSE → P-ACT — radar + camera into a braking safety case</a:t>
            </a:r>
          </a:p>
          <a:p xmlns:a="http://schemas.openxmlformats.org/drawingml/2006/main">
            <a:r>
              <a:t>Stack: OnGuardMAX + short-range radar; 16 features (AEBS, BSIS, DDAWS, LDWS, MOIS)</a:t>
            </a:r>
          </a:p>
          <a:p xmlns:a="http://schemas.openxmlformats.org/drawingml/2006/main">
            <a:r>
              <a:t>Autonomy: SAE Level 2, designed to extend higher</a:t>
            </a:r>
          </a:p>
          <a:p xmlns:a="http://schemas.openxmlformats.org/drawingml/2006/main">
            <a:r>
              <a:t>Validation: 300,000 km India roads + 65,000 km with customers</a:t>
            </a:r>
          </a:p>
          <a:p xmlns:a="http://schemas.openxmlformats.org/drawingml/2006/main">
            <a:r>
              <a:t>Certification: ARAI-certified vs AIS-162/184/186/187/188 — certificate numbers not published</a:t>
            </a:r>
          </a:p>
          <a:p xmlns:a="http://schemas.openxmlformats.org/drawingml/2006/main">
            <a:r>
              <a:t/>
            </a:r>
          </a:p>
          <a:p xmlns:a="http://schemas.openxmlformats.org/drawingml/2006/main">
            <a:r>
              <a:t>Implication: Filed as a foreign incumbent. Its India arm is a ₹29,600 Cr listed Indian company incorporated in Chennai in 2004, with Indian homologation capability and an export business. On sovereignty and India-native axes, ZFCVINDIA is domestic.</a:t>
            </a:r>
          </a:p>
          <a:p xmlns:a="http://schemas.openxmlformats.org/drawingml/2006/main">
            <a:r>
              <a:t>Evidence: EV-ZF-01 … EV-ZF-08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evidence supports ZF's advantage, and which parts remain company-reported?</a:t>
            </a:r>
          </a:p>
          <a:p xmlns:a="http://schemas.openxmlformats.org/drawingml/2006/main">
            <a:r>
              <a:t>A: ZF's disclosed nominations, feature breadth and India validation support a  high provisional threat rating ; they do not independently prove every programme detail. Demand specific programme artifacts before treating as definitive competitor position.</a:t>
            </a:r>
          </a:p>
          <a:p xmlns:a="http://schemas.openxmlformats.org/drawingml/2006/main">
            <a:r>
              <a:t/>
            </a:r>
          </a:p>
          <a:p xmlns:a="http://schemas.openxmlformats.org/drawingml/2006/main">
            <a:r>
              <a:t>Mechanism: ZF's structural advantage — braking, ECU, calibration, homologation — is independent of any single programme claim. The programme specifics are what remain uncorroborated, and they are what would move the rating from structural to confirmed.</a:t>
            </a:r>
          </a:p>
          <a:p xmlns:a="http://schemas.openxmlformats.org/drawingml/2006/main">
            <a:r>
              <a:t>Counterargument: Require specific programme artifacts: platform, report number, tested config, SOP</a:t>
            </a:r>
          </a:p>
          <a:p xmlns:a="http://schemas.openxmlformats.org/drawingml/2006/main">
            <a:r>
              <a:t>Falsifier: Falsified if ARAI certification scope and report numbers show the certification covers a narrower configuration than the programme claim implies.</a:t>
            </a:r>
          </a:p>
          <a:p xmlns:a="http://schemas.openxmlformats.org/drawingml/2006/main">
            <a:r>
              <a:t>Implication: Structural Position ZF controls braking/ECU/calibration/validation, creating high switching costs for OEMs</a:t>
            </a:r>
          </a:p>
          <a:p xmlns:a="http://schemas.openxmlformats.org/drawingml/2006/main">
            <a:r>
              <a:t>Decision: Hold ZF at high provisional threat; do not raise to confirmed until platform and certificate specifics are produced.</a:t>
            </a:r>
          </a:p>
          <a:p xmlns:a="http://schemas.openxmlformats.org/drawingml/2006/main">
            <a:r>
              <a:t>Owner: Head of Competitive Intelligence · Trigger: Receipt of vehicle platform, certificate number and tested configuration.</a:t>
            </a:r>
          </a:p>
          <a:p xmlns:a="http://schemas.openxmlformats.org/drawingml/2006/main">
            <a:r>
              <a:t>Stop/escalate: Stop treating ZF's programme specifics as verified in planning material.</a:t>
            </a:r>
          </a:p>
          <a:p xmlns:a="http://schemas.openxmlformats.org/drawingml/2006/main">
            <a:r>
              <a:t/>
            </a:r>
          </a:p>
          <a:p xmlns:a="http://schemas.openxmlformats.org/drawingml/2006/main">
            <a:r>
              <a:t>Evidence: S26-01, S26-02, S26-03, S26-04, S26-05, S26-06, S26-07, S26-08</a:t>
            </a:r>
          </a:p>
          <a:p xmlns:a="http://schemas.openxmlformats.org/drawingml/2006/main">
            <a:r>
              <a:t>Evidence ledger claims S26-01–S26-08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ZF's threat vary by buying arena, and how should DeepGrid allocate effort?</a:t>
            </a:r>
          </a:p>
          <a:p xmlns:a="http://schemas.openxmlformats.org/drawingml/2006/main">
            <a:r>
              <a:t>A: ZF is most threatening in N2/N3 OEM programmes, where it owns braking and homologation, and materially weaker in government and mining where it has limited presence.</a:t>
            </a:r>
          </a:p>
          <a:p xmlns:a="http://schemas.openxmlformats.org/drawingml/2006/main">
            <a:r>
              <a:t/>
            </a:r>
          </a:p>
          <a:p xmlns:a="http://schemas.openxmlformats.org/drawingml/2006/main">
            <a:r>
              <a:t>Mechanism: Threat tracks swappability. Where ZF owns the safety case the switching cost is high; where it has no installed service presence a competitor is simply chosen instead.</a:t>
            </a:r>
          </a:p>
          <a:p xmlns:a="http://schemas.openxmlformats.org/drawingml/2006/main">
            <a:r>
              <a:t>Counterargument: No primary evidence establishes exact platform, certificate, or SOP specifics</a:t>
            </a:r>
          </a:p>
          <a:p xmlns:a="http://schemas.openxmlformats.org/drawingml/2006/main">
            <a:r>
              <a:t>Falsifier: Falsified if ZF wins a mining or government award, indicating it is extending beyond OEM programmes.</a:t>
            </a:r>
          </a:p>
          <a:p xmlns:a="http://schemas.openxmlformats.org/drawingml/2006/main">
            <a:r>
              <a:t>Implication: Allocate effort by verified programme access and swappability, not brand</a:t>
            </a:r>
          </a:p>
          <a:p xmlns:a="http://schemas.openxmlformats.org/drawingml/2006/main">
            <a:r>
              <a:t>Decision: Limit ZF outreach to named N2/N3 OEM or specialised-vehicle opportunities</a:t>
            </a:r>
          </a:p>
          <a:p xmlns:a="http://schemas.openxmlformats.org/drawingml/2006/main">
            <a:r>
              <a:t>Owner: Head of Business Development · Trigger: Any ZF award outside N2/N3 OEM.</a:t>
            </a:r>
          </a:p>
          <a:p xmlns:a="http://schemas.openxmlformats.org/drawingml/2006/main">
            <a:r>
              <a:t>Stop/escalate: Stop ZF outreach outside named N2/N3 OEM or specialised-vehicle opportunities.</a:t>
            </a:r>
          </a:p>
          <a:p xmlns:a="http://schemas.openxmlformats.org/drawingml/2006/main">
            <a:r>
              <a:t/>
            </a:r>
          </a:p>
          <a:p xmlns:a="http://schemas.openxmlformats.org/drawingml/2006/main">
            <a:r>
              <a:t>Evidence: S28-01, S28-02, S28-03, S28-04, S28-05, S28-06, S28-07, S28-08, S28-09, S28-10</a:t>
            </a:r>
          </a:p>
          <a:p xmlns:a="http://schemas.openxmlformats.org/drawingml/2006/main">
            <a:r>
              <a:t>Evidence ledger claims S28-01–S28-10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should DeepGrid fund now against ZF, and which signal should trigger escalation?</a:t>
            </a:r>
          </a:p>
          <a:p xmlns:a="http://schemas.openxmlformats.org/drawingml/2006/main">
            <a:r>
              <a:t>A: Fund a single one-use-case integration package for ZF and nothing broader. ZF owns braking, ECU, calibration and homologation, so a narrow attachment is the only economically sane move.</a:t>
            </a:r>
          </a:p>
          <a:p xmlns:a="http://schemas.openxmlformats.org/drawingml/2006/main">
            <a:r>
              <a:t/>
            </a:r>
          </a:p>
          <a:p xmlns:a="http://schemas.openxmlformats.org/drawingml/2006/main">
            <a:r>
              <a:t>Mechanism: Against an owner of the safety case, breadth is expensive and unwinnable. A single use case is cheap enough to abandon after three rejections and specific enough for a Tier-1 to evaluate.</a:t>
            </a:r>
          </a:p>
          <a:p xmlns:a="http://schemas.openxmlformats.org/drawingml/2006/main">
            <a:r>
              <a:t>Counterargument: A one-use-case package may be too small to interest a Tier-1 of ZF's size, and three rejections would leave DeepGrid without an OEM route.</a:t>
            </a:r>
          </a:p>
          <a:p xmlns:a="http://schemas.openxmlformats.org/drawingml/2006/main">
            <a:r>
              <a:t>Falsifier: Falsified if ZF requests a broader integration scope than the single use case.</a:t>
            </a:r>
          </a:p>
          <a:p xmlns:a="http://schemas.openxmlformats.org/drawingml/2006/main">
            <a:r>
              <a:t>Implication: Implication Spend only on a one-use-case integration package; do not fund broad head-to-head</a:t>
            </a:r>
          </a:p>
          <a:p xmlns:a="http://schemas.openxmlformats.org/drawingml/2006/main">
            <a:r>
              <a:t>Decision: Escalate when ZF accepts DGS001 evaluation</a:t>
            </a:r>
          </a:p>
          <a:p xmlns:a="http://schemas.openxmlformats.org/drawingml/2006/main">
            <a:r>
              <a:t>Owner: Head of Partnerships · Trigger: Stop after 3 rejections without feedback</a:t>
            </a:r>
          </a:p>
          <a:p xmlns:a="http://schemas.openxmlformats.org/drawingml/2006/main">
            <a:r>
              <a:t>Stop/escalate: Stop after three rejections without substantive feedback.</a:t>
            </a:r>
          </a:p>
          <a:p xmlns:a="http://schemas.openxmlformats.org/drawingml/2006/main">
            <a:r>
              <a:t/>
            </a:r>
          </a:p>
          <a:p xmlns:a="http://schemas.openxmlformats.org/drawingml/2006/main">
            <a:r>
              <a:t>Evidence: S27-01, S27-02, S27-03, S27-04, S27-05</a:t>
            </a:r>
          </a:p>
          <a:p xmlns:a="http://schemas.openxmlformats.org/drawingml/2006/main">
            <a:r>
              <a:t>Evidence ledger claims S27-01–S27-05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evidence would confirm or falsify ZF's presumed control of the India CV ADAS market?</a:t>
            </a:r>
          </a:p>
          <a:p xmlns:a="http://schemas.openxmlformats.org/drawingml/2006/main">
            <a:r>
              <a:t>A: ZF reports Indian commercial-vehicle ADAS nominations, a 16-feature suite and extensive local validation, but the supplied evidence does not identify the exact platform, certificate or report number, tested configuration, SOP, supplier content and commercial responsibility. Treat ZF integration as the market-entry event; treat ASIC tapeout as separate from programme qualification.</a:t>
            </a:r>
          </a:p>
          <a:p xmlns:a="http://schemas.openxmlformats.org/drawingml/2006/main">
            <a:r>
              <a:t/>
            </a:r>
          </a:p>
          <a:p xmlns:a="http://schemas.openxmlformats.org/drawingml/2006/main">
            <a:r>
              <a:t>Mechanism: ZF's control of braking, ECU, calibration and homologation is well evidenced. Whether that stack has a slot for a third-party perception supplier is a separate question, and only programme artifacts answer it.</a:t>
            </a:r>
          </a:p>
          <a:p xmlns:a="http://schemas.openxmlformats.org/drawingml/2006/main">
            <a:r>
              <a:t>Counterargument: No supplied primary evidence establishes the exact platform, certificate/report number, tested configuration, SOP, supplier content or commercial responsibility.</a:t>
            </a:r>
          </a:p>
          <a:p xmlns:a="http://schemas.openxmlformats.org/drawingml/2006/main">
            <a:r>
              <a:t>Falsifier: Even a ready DeepGrid interface package does not prove that ZF has a commercially open perception slot. Test with ICD acceptance.</a:t>
            </a:r>
          </a:p>
          <a:p xmlns:a="http://schemas.openxmlformats.org/drawingml/2006/main">
            <a:r>
              <a:t>Implication: Integration Test Treat ZF-class integration as the market-entry event; treat ASIC tapeout as separate from programme qualification</a:t>
            </a:r>
          </a:p>
          <a:p xmlns:a="http://schemas.openxmlformats.org/drawingml/2006/main">
            <a:r>
              <a:t>Decision: Seek programme-artifact proof and test ICD acceptance for DGS001; treat the perception slot inside ZF's stack as unproven until artifacts arrive.</a:t>
            </a:r>
          </a:p>
          <a:p xmlns:a="http://schemas.openxmlformats.org/drawingml/2006/main">
            <a:r>
              <a:t>Owner: Head of Partnerships · Trigger: Elevate on report numbers/SOP or ICD acceptance</a:t>
            </a:r>
          </a:p>
          <a:p xmlns:a="http://schemas.openxmlformats.org/drawingml/2006/main">
            <a:r>
              <a:t>Stop/escalate: Stop assuming a perception slot exists inside ZF's stack.</a:t>
            </a:r>
          </a:p>
          <a:p xmlns:a="http://schemas.openxmlformats.org/drawingml/2006/main">
            <a:r>
              <a:t/>
            </a:r>
          </a:p>
          <a:p xmlns:a="http://schemas.openxmlformats.org/drawingml/2006/main">
            <a:r>
              <a:t>Evidence: S61-01, S61-02, S61-03, S61-04, S61-05, S61-06</a:t>
            </a:r>
          </a:p>
          <a:p xmlns:a="http://schemas.openxmlformats.org/drawingml/2006/main">
            <a:r>
              <a:t>Evidence ledger claims S61-01–S61-06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 Aptiv PLC.</a:t>
            </a:r>
          </a:p>
          <a:p xmlns:a="http://schemas.openxmlformats.org/drawingml/2006/main">
            <a:r>
              <a:t/>
            </a:r>
          </a:p>
          <a:p xmlns:a="http://schemas.openxmlformats.org/drawingml/2006/main">
            <a:r>
              <a:t>Aptiv PLC</a:t>
            </a:r>
          </a:p>
          <a:p xmlns:a="http://schemas.openxmlformats.org/drawingml/2006/main">
            <a:r>
              <a:t>Founded 2017 (Current PLC from the Delphi separation; lineage to 1994)</a:t>
            </a:r>
          </a:p>
          <a:p xmlns:a="http://schemas.openxmlformats.org/drawingml/2006/main">
            <a:r>
              <a:t>Schaffhausen, Switzerland</a:t>
            </a:r>
          </a:p>
          <a:p xmlns:a="http://schemas.openxmlformats.org/drawingml/2006/main">
            <a:r>
              <a:t>LISTED NYSE: APTV</a:t>
            </a:r>
          </a:p>
          <a:p xmlns:a="http://schemas.openxmlformats.org/drawingml/2006/main">
            <a:r>
              <a:t>Value $10.2bn share ~$49.86 as of 13 Aug 2026 (−34.6% YoY)</a:t>
            </a:r>
          </a:p>
          <a:p xmlns:a="http://schemas.openxmlformats.org/drawingml/2006/main">
            <a:r>
              <a:t>People 13,000 in India (2,500 engineers)</a:t>
            </a:r>
          </a:p>
          <a:p xmlns:a="http://schemas.openxmlformats.org/drawingml/2006/main">
            <a:r>
              <a:t>Sells: Gen 6 ADAS platform, Gen 8 radar, Gen 7 smart camera, LINC software platform, OTA updates</a:t>
            </a:r>
          </a:p>
          <a:p xmlns:a="http://schemas.openxmlformats.org/drawingml/2006/main">
            <a:r>
              <a:t/>
            </a:r>
          </a:p>
          <a:p xmlns:a="http://schemas.openxmlformats.org/drawingml/2006/main">
            <a:r>
              <a:t>Posture VERIFIED · Evidence EV-APT-01 … EV-APT-08</a:t>
            </a:r>
          </a:p>
          <a:p xmlns:a="http://schemas.openxmlformats.org/drawingml/2006/main">
            <a:r>
              <a:t/>
            </a:r>
          </a:p>
          <a:p xmlns:a="http://schemas.openxmlformats.org/drawingml/2006/main">
            <a:r>
              <a:t>Market cap roughly halved in under three years and trades near a 52-week low — a supplier under that pressure partners and prices differently. Its 2,500 India engineers are ~165× Gahan AI's entire headcount.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use cases: Aptiv PLC.</a:t>
            </a:r>
          </a:p>
          <a:p xmlns:a="http://schemas.openxmlformats.org/drawingml/2006/main">
            <a:r>
              <a:t/>
            </a:r>
          </a:p>
          <a:p xmlns:a="http://schemas.openxmlformats.org/drawingml/2006/main">
            <a:r>
              <a:t>Pattern: P-FUSE → P-ACT — Gen 8 radar + Gen 7 camera</a:t>
            </a:r>
          </a:p>
          <a:p xmlns:a="http://schemas.openxmlformats.org/drawingml/2006/main">
            <a:r>
              <a:t>Perception: STRADVISION AI vision INSIDE the Gen 7 camera</a:t>
            </a:r>
          </a:p>
          <a:p xmlns:a="http://schemas.openxmlformats.org/drawingml/2006/main">
            <a:r>
              <a:t>India classes: Three-wheelers, large animals, pedestrians, road workers, cyclists</a:t>
            </a:r>
          </a:p>
          <a:p xmlns:a="http://schemas.openxmlformats.org/drawingml/2006/main">
            <a:r>
              <a:t>Scale: 40m+ vehicles globally for the ADAS software — global, not India</a:t>
            </a:r>
          </a:p>
          <a:p xmlns:a="http://schemas.openxmlformats.org/drawingml/2006/main">
            <a:r>
              <a:t>Lifecycle: OTA feature and performance updates via LINC + Wind River VxWorks</a:t>
            </a:r>
          </a:p>
          <a:p xmlns:a="http://schemas.openxmlformats.org/drawingml/2006/main">
            <a:r>
              <a:t/>
            </a:r>
          </a:p>
          <a:p xmlns:a="http://schemas.openxmlformats.org/drawingml/2006/main">
            <a:r>
              <a:t>Implication: Market cap roughly halved in under three years and trades near a 52-week low — a supplier under that pressure partners and prices differently. Its 2,500 India engineers are ~165× Gahan AI's entire headcount.</a:t>
            </a:r>
          </a:p>
          <a:p xmlns:a="http://schemas.openxmlformats.org/drawingml/2006/main">
            <a:r>
              <a:t>Evidence: EV-APT-01 … EV-APT-08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Observable position, company claims, evidence gaps, DeepGrid exposure, and threat assessment</a:t>
            </a:r>
          </a:p>
          <a:p xmlns:a="http://schemas.openxmlformats.org/drawingml/2006/main">
            <a:r>
              <a:t>A: Aptiv holds global ADAS scale plus India engineering and manufacturing access, and is not displaceable head-on. The response is to attach as a specialised perception subsystem rather than contest vehicle-level integration.</a:t>
            </a:r>
          </a:p>
          <a:p xmlns:a="http://schemas.openxmlformats.org/drawingml/2006/main">
            <a:r>
              <a:t/>
            </a:r>
          </a:p>
          <a:p xmlns:a="http://schemas.openxmlformats.org/drawingml/2006/main">
            <a:r>
              <a:t>Mechanism: Aptiv's advantage is integration breadth, not perception accuracy. Competing on breadth means competing on the axis it already owns; attaching to it converts that breadth from a barrier into a distribution route.</a:t>
            </a:r>
          </a:p>
          <a:p xmlns:a="http://schemas.openxmlformats.org/drawingml/2006/main">
            <a:r>
              <a:t>Counterargument: Aptiv can commoditise or replace a perception subsystem with its own bundled solution whenever it chooses, which permanently caps DeepGrid's negotiating position.</a:t>
            </a:r>
          </a:p>
          <a:p xmlns:a="http://schemas.openxmlformats.org/drawingml/2006/main">
            <a:r>
              <a:t>Falsifier: Falsified if Aptiv publicly sources third-party perception software for an Indian CV programme.</a:t>
            </a:r>
          </a:p>
          <a:p xmlns:a="http://schemas.openxmlformats.org/drawingml/2006/main">
            <a:r>
              <a:t>Implication: Positioning Aptiv's dominance in Tier-1 integration requires DeepGrid to find niche positioning</a:t>
            </a:r>
          </a:p>
          <a:p xmlns:a="http://schemas.openxmlformats.org/drawingml/2006/main">
            <a:r>
              <a:t>Decision: Position DGS001 as complementary to Aptiv's vehicle-level integration; do not bid head-on.</a:t>
            </a:r>
          </a:p>
          <a:p xmlns:a="http://schemas.openxmlformats.org/drawingml/2006/main">
            <a:r>
              <a:t>Owner: Head of Partnerships · Trigger: Any Aptiv India CV programme announcement.</a:t>
            </a:r>
          </a:p>
          <a:p xmlns:a="http://schemas.openxmlformats.org/drawingml/2006/main">
            <a:r>
              <a:t>Stop/escalate: Stop any head-on full-stack bid against Aptiv.</a:t>
            </a:r>
          </a:p>
          <a:p xmlns:a="http://schemas.openxmlformats.org/drawingml/2006/main">
            <a:r>
              <a:t/>
            </a:r>
          </a:p>
          <a:p xmlns:a="http://schemas.openxmlformats.org/drawingml/2006/main">
            <a:r>
              <a:t>Evidence: S09-01, S09-02, S09-03, S09-04, S09-05, S09-06, S09-07</a:t>
            </a:r>
          </a:p>
          <a:p xmlns:a="http://schemas.openxmlformats.org/drawingml/2006/main">
            <a:r>
              <a:t>Evidence ledger claims S09-01–S09-07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Analyzing Aptiv's India CV ADAS positioning, claims, evidence gaps, and threat exposure</a:t>
            </a:r>
          </a:p>
          <a:p xmlns:a="http://schemas.openxmlformats.org/drawingml/2006/main">
            <a:r>
              <a:t>A: Aptiv's India CV claim rests on global scale and stated local capability with no public India deployment proof. Rate it HIGH in OEM/Tier-1 on relationships and INSUFFICIENT on India-specific deployment.</a:t>
            </a:r>
          </a:p>
          <a:p xmlns:a="http://schemas.openxmlformats.org/drawingml/2006/main">
            <a:r>
              <a:t/>
            </a:r>
          </a:p>
          <a:p xmlns:a="http://schemas.openxmlformats.org/drawingml/2006/main">
            <a:r>
              <a:t>Mechanism: Global footprint and India presence are separate facts. The first is well evidenced at 40m+ vehicles; the second is asserted. Rating them together would import confidence from a number that does not describe this market.</a:t>
            </a:r>
          </a:p>
          <a:p xmlns:a="http://schemas.openxmlformats.org/drawingml/2006/main">
            <a:r>
              <a:t>Counterargument: Absence of public India deployment proof is not absence of deployment. A Tier-1 rarely publicises programme wins, so the gap may reflect disclosure practice rather than capability.</a:t>
            </a:r>
          </a:p>
          <a:p xmlns:a="http://schemas.openxmlformats.org/drawingml/2006/main">
            <a:r>
              <a:t>Falsifier: Falsified if an India CV deployment or nomination is confirmed by an OEM or a filing rather than by Aptiv's own material.</a:t>
            </a:r>
          </a:p>
          <a:p xmlns:a="http://schemas.openxmlformats.org/drawingml/2006/main">
            <a:r>
              <a:t>Implication: Threat Level Aptiv poses HIGH threat in OEM/Tier-1 arena due to global relationships and brand recognition</a:t>
            </a:r>
          </a:p>
          <a:p xmlns:a="http://schemas.openxmlformats.org/drawingml/2006/main">
            <a:r>
              <a:t>Decision: Strategy:  Leverage India-specific perception capabilities and local support.  Tactics:  1) Document cost advantage vs Aptiv, 2) Build OEM partnerships, 3) Demonstrate India-specific features.  Timeline:  90-day competitive response plan.</a:t>
            </a:r>
          </a:p>
          <a:p xmlns:a="http://schemas.openxmlformats.org/drawingml/2006/main">
            <a:r>
              <a:t>Owner: Head of Competitive Intelligence · Trigger: Any Aptiv India CV programme disclosure.</a:t>
            </a:r>
          </a:p>
          <a:p xmlns:a="http://schemas.openxmlformats.org/drawingml/2006/main">
            <a:r>
              <a:t>Stop/escalate: Stop rating Aptiv's India deployment as proven in any internal document.</a:t>
            </a:r>
          </a:p>
          <a:p xmlns:a="http://schemas.openxmlformats.org/drawingml/2006/main">
            <a:r>
              <a:t/>
            </a:r>
          </a:p>
          <a:p xmlns:a="http://schemas.openxmlformats.org/drawingml/2006/main">
            <a:r>
              <a:t>Evidence: S29-01, S29-02, S29-03, S29-04, S29-05, S29-06, S29-07, S29-08, S29-09, S29-10, S29-11</a:t>
            </a:r>
          </a:p>
          <a:p xmlns:a="http://schemas.openxmlformats.org/drawingml/2006/main">
            <a:r>
              <a:t>Evidence ledger claims S29-01–S29-11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Aptiv's threat change by buying arena, and where should DeepGrid focus competitive monitoring?</a:t>
            </a:r>
          </a:p>
          <a:p xmlns:a="http://schemas.openxmlformats.org/drawingml/2006/main">
            <a:r>
              <a:t>A: Aptiv's threat is highest in N2/N3 OEM buying, where factory nomination decides, and lower in government and fleet where it has limited presence.</a:t>
            </a:r>
          </a:p>
          <a:p xmlns:a="http://schemas.openxmlformats.org/drawingml/2006/main">
            <a:r>
              <a:t/>
            </a:r>
          </a:p>
          <a:p xmlns:a="http://schemas.openxmlformats.org/drawingml/2006/main">
            <a:r>
              <a:t>Mechanism: Aptiv converts platform relationships into nominations. That mechanism has no equivalent in a tender scored on eligibility and local service, or in an aftermarket sale scored on installation.</a:t>
            </a:r>
          </a:p>
          <a:p xmlns:a="http://schemas.openxmlformats.org/drawingml/2006/main">
            <a:r>
              <a:t>Counterargument: A Tier-1 with global scale can enter fleet or government quickly if it chooses; low current presence is not a durable barrier.</a:t>
            </a:r>
          </a:p>
          <a:p xmlns:a="http://schemas.openxmlformats.org/drawingml/2006/main">
            <a:r>
              <a:t>Falsifier: Falsified if Aptiv appears in an Indian government tender or a fleet aftermarket award.</a:t>
            </a:r>
          </a:p>
          <a:p xmlns:a="http://schemas.openxmlformats.org/drawingml/2006/main">
            <a:r>
              <a:t>Implication: OEM Focus Concentrate benchmark investment on OEM RFQs while maintaining evidence-gathering</a:t>
            </a:r>
          </a:p>
          <a:p xmlns:a="http://schemas.openxmlformats.org/drawingml/2006/main">
            <a:r>
              <a:t>Decision: Concentrate benchmark investment on OEM RFQs; monitor the other two arenas only.</a:t>
            </a:r>
          </a:p>
          <a:p xmlns:a="http://schemas.openxmlformats.org/drawingml/2006/main">
            <a:r>
              <a:t>Owner: Head of Business Development · Trigger: Any Aptiv appearance outside OEM/Tier-1.</a:t>
            </a:r>
          </a:p>
          <a:p xmlns:a="http://schemas.openxmlformats.org/drawingml/2006/main">
            <a:r>
              <a:t>Stop/escalate: Escalate if Aptiv enters a government tender.</a:t>
            </a:r>
          </a:p>
          <a:p xmlns:a="http://schemas.openxmlformats.org/drawingml/2006/main">
            <a:r>
              <a:t/>
            </a:r>
          </a:p>
          <a:p xmlns:a="http://schemas.openxmlformats.org/drawingml/2006/main">
            <a:r>
              <a:t>Evidence: S31-01, S31-02, S31-03, S31-04, S31-05, S31-06, S31-07, S31-08</a:t>
            </a:r>
          </a:p>
          <a:p xmlns:a="http://schemas.openxmlformats.org/drawingml/2006/main">
            <a:r>
              <a:t>Evidence ledger claims S31-01–S31-08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response should DeepGrid fund now, and which observable result should escalate?</a:t>
            </a:r>
          </a:p>
          <a:p xmlns:a="http://schemas.openxmlformats.org/drawingml/2006/main">
            <a:r>
              <a:t>A: Fund one equal-scope perception benchmark against the Gen-6 stack, matched on hardware, class scope and denominators. Compete on one provable India-specific control point rather than full-stack parity.</a:t>
            </a:r>
          </a:p>
          <a:p xmlns:a="http://schemas.openxmlformats.org/drawingml/2006/main">
            <a:r>
              <a:t/>
            </a:r>
          </a:p>
          <a:p xmlns:a="http://schemas.openxmlformats.org/drawingml/2006/main">
            <a:r>
              <a:t>Mechanism: A benchmark only carries weight if scope is equal. Matching hardware, class definitions and denominators is what turns a marketing comparison into evidence a buyer can act on.</a:t>
            </a:r>
          </a:p>
          <a:p xmlns:a="http://schemas.openxmlformats.org/drawingml/2006/main">
            <a:r>
              <a:t>Counterargument: Aptiv may decline to expose a comparable configuration, in which case equal scope cannot be constructed and the comparison stays rhetorical.</a:t>
            </a:r>
          </a:p>
          <a:p xmlns:a="http://schemas.openxmlformats.org/drawingml/2006/main">
            <a:r>
              <a:t>Falsifier: Falsified if equal scope cannot be obtained — which invalidates the comparison, not the position.</a:t>
            </a:r>
          </a:p>
          <a:p xmlns:a="http://schemas.openxmlformats.org/drawingml/2006/main">
            <a:r>
              <a:t>Implication: Implication Compete on one provable India-specific control point; do not position as full-stack alternative</a:t>
            </a:r>
          </a:p>
          <a:p xmlns:a="http://schemas.openxmlformats.org/drawingml/2006/main">
            <a:r>
              <a:t>Decision: Escalate only if DeepGrid beats threshold</a:t>
            </a:r>
          </a:p>
          <a:p xmlns:a="http://schemas.openxmlformats.org/drawingml/2006/main">
            <a:r>
              <a:t>Owner: Head of Engineering · Trigger: Stop if equal scope cannot be obtained</a:t>
            </a:r>
          </a:p>
          <a:p xmlns:a="http://schemas.openxmlformats.org/drawingml/2006/main">
            <a:r>
              <a:t>Stop/escalate: Stop the benchmark if equal scope cannot be obtained; never publish an unequal comparison.</a:t>
            </a:r>
          </a:p>
          <a:p xmlns:a="http://schemas.openxmlformats.org/drawingml/2006/main">
            <a:r>
              <a:t/>
            </a:r>
          </a:p>
          <a:p xmlns:a="http://schemas.openxmlformats.org/drawingml/2006/main">
            <a:r>
              <a:t>Evidence: S30-01, S30-02, S30-03, S30-04, S30-05, S30-06, S30-07</a:t>
            </a:r>
          </a:p>
          <a:p xmlns:a="http://schemas.openxmlformats.org/drawingml/2006/main">
            <a:r>
              <a:t>Evidence ledger claims S30-01–S30-07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evidence would materially raise or lower Aptiv's threat rating?</a:t>
            </a:r>
          </a:p>
          <a:p xmlns:a="http://schemas.openxmlformats.org/drawingml/2006/main">
            <a:r>
              <a:t>A: The headline signals formidable integration capacity, but the decisive operating facts—programme scope, supplier choice and India performance—remain uncorroborated. The proposed DeepGrid wedge may reflect internal preference rather than buyer demand.</a:t>
            </a:r>
          </a:p>
          <a:p xmlns:a="http://schemas.openxmlformats.org/drawingml/2006/main">
            <a:r>
              <a:t/>
            </a:r>
          </a:p>
          <a:p xmlns:a="http://schemas.openxmlformats.org/drawingml/2006/main">
            <a:r>
              <a:t>Mechanism: Integration capacity is evidenced globally; the operating facts that decide an Indian programme are not. Rating on the first imports confidence from a number that does not describe this market.</a:t>
            </a:r>
          </a:p>
          <a:p xmlns:a="http://schemas.openxmlformats.org/drawingml/2006/main">
            <a:r>
              <a:t>Counterargument: The 40m+ global footprint may make India-specific verification irrelevant to an OEM that already trusts Aptiv globally — in which case the missing specifics never become a decision factor at all.</a:t>
            </a:r>
          </a:p>
          <a:p xmlns:a="http://schemas.openxmlformats.org/drawingml/2006/main">
            <a:r>
              <a:t>Falsifier: The view is falsified if a named India CV OEM confirms Aptiv Gen-6 selection with local engineering and SOP, or if DeepGrid's perception layer demonstrates superior India VRU accuracy in controlled tests.</a:t>
            </a:r>
          </a:p>
          <a:p xmlns:a="http://schemas.openxmlformats.org/drawingml/2006/main">
            <a:r>
              <a:t>Implication: Compete via Wedge Compete only through a measurable perception wedge, not a full-stack replacement</a:t>
            </a:r>
          </a:p>
          <a:p xmlns:a="http://schemas.openxmlformats.org/drawingml/2006/main">
            <a:r>
              <a:t>Decision: Do not pursue an Aptiv-led full-stack bid; run equal-scope perception tests</a:t>
            </a:r>
          </a:p>
          <a:p xmlns:a="http://schemas.openxmlformats.org/drawingml/2006/main">
            <a:r>
              <a:t>Owner: Head of Competitive Intelligence · Trigger: Trigger on RFQ naming Aptiv; verify India CV specifics</a:t>
            </a:r>
          </a:p>
          <a:p xmlns:a="http://schemas.openxmlformats.org/drawingml/2006/main">
            <a:r>
              <a:t>Stop/escalate: Stop pursuing an Aptiv-led full-stack bid.</a:t>
            </a:r>
          </a:p>
          <a:p xmlns:a="http://schemas.openxmlformats.org/drawingml/2006/main">
            <a:r>
              <a:t/>
            </a:r>
          </a:p>
          <a:p xmlns:a="http://schemas.openxmlformats.org/drawingml/2006/main">
            <a:r>
              <a:t>Evidence: S62-01, S62-02, S62-03, S62-04, S62-05, S62-06</a:t>
            </a:r>
          </a:p>
          <a:p xmlns:a="http://schemas.openxmlformats.org/drawingml/2006/main">
            <a:r>
              <a:t>Evidence ledger claims S62-01–S62-06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 STRADVISION.</a:t>
            </a:r>
          </a:p>
          <a:p xmlns:a="http://schemas.openxmlformats.org/drawingml/2006/main">
            <a:r>
              <a:t/>
            </a:r>
          </a:p>
          <a:p xmlns:a="http://schemas.openxmlformats.org/drawingml/2006/main">
            <a:r>
              <a:t>STRADVISION, Inc.</a:t>
            </a:r>
          </a:p>
          <a:p xmlns:a="http://schemas.openxmlformats.org/drawingml/2006/main">
            <a:r>
              <a:t>Founded 2014 (Supplies into a customer's actuation safety case)</a:t>
            </a:r>
          </a:p>
          <a:p xmlns:a="http://schemas.openxmlformats.org/drawingml/2006/main">
            <a:r>
              <a:t>Seoul, South Korea</a:t>
            </a:r>
          </a:p>
          <a:p xmlns:a="http://schemas.openxmlformats.org/drawingml/2006/main">
            <a:r>
              <a:t>PRIVATE Offices: San Jose, Detroit, Tokyo, Shanghai, Düsseldorf</a:t>
            </a:r>
          </a:p>
          <a:p xmlns:a="http://schemas.openxmlformats.org/drawingml/2006/main">
            <a:r>
              <a:t>Value Not established no public valuation as of — (300+ employees)</a:t>
            </a:r>
          </a:p>
          <a:p xmlns:a="http://schemas.openxmlformats.org/drawingml/2006/main">
            <a:r>
              <a:t>People 300+</a:t>
            </a:r>
          </a:p>
          <a:p xmlns:a="http://schemas.openxmlformats.org/drawingml/2006/main">
            <a:r>
              <a:t>Sells: SVNet — AI vision perception software for AEB, FCW and LDW on constrained hardware</a:t>
            </a:r>
          </a:p>
          <a:p xmlns:a="http://schemas.openxmlformats.org/drawingml/2006/main">
            <a:r>
              <a:t/>
            </a:r>
          </a:p>
          <a:p xmlns:a="http://schemas.openxmlformats.org/drawingml/2006/main">
            <a:r>
              <a:t>Posture VERIFIED · Evidence EV-SV-01 … EV-SV-06</a:t>
            </a:r>
          </a:p>
          <a:p xmlns:a="http://schemas.openxmlformats.org/drawingml/2006/main">
            <a:r>
              <a:t/>
            </a:r>
          </a:p>
          <a:p xmlns:a="http://schemas.openxmlformats.org/drawingml/2006/main">
            <a:r>
              <a:t>A 300-person private company — smaller than most of the field — occupying exactly the position DeepGrid is bidding for, with ISO 26262 and ~5m units. Both the proof the strategy works and the incumbent in the seat.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use cases: STRADVISION.</a:t>
            </a:r>
          </a:p>
          <a:p xmlns:a="http://schemas.openxmlformats.org/drawingml/2006/main">
            <a:r>
              <a:t/>
            </a:r>
          </a:p>
          <a:p xmlns:a="http://schemas.openxmlformats.org/drawingml/2006/main">
            <a:r>
              <a:t>Pattern: P-VIS supplied into a customer's P-ACT — DeepGrid's exact target slot</a:t>
            </a:r>
          </a:p>
          <a:p xmlns:a="http://schemas.openxmlformats.org/drawingml/2006/main">
            <a:r>
              <a:t>Functions: Object detection + classification driving AEB, FCW, LDW from ONE stack</a:t>
            </a:r>
          </a:p>
          <a:p xmlns:a="http://schemas.openxmlformats.org/drawingml/2006/main">
            <a:r>
              <a:t>Compute: Explicitly designed for low-cost, resource-constrained hardware</a:t>
            </a:r>
          </a:p>
          <a:p xmlns:a="http://schemas.openxmlformats.org/drawingml/2006/main">
            <a:r>
              <a:t>Scale: ~5 million cumulative SVNet units deployed globally</a:t>
            </a:r>
          </a:p>
          <a:p xmlns:a="http://schemas.openxmlformats.org/drawingml/2006/main">
            <a:r>
              <a:t>Certification: ISO 26262 · ISO 9001:2015 · TISAX AL3</a:t>
            </a:r>
          </a:p>
          <a:p xmlns:a="http://schemas.openxmlformats.org/drawingml/2006/main">
            <a:r>
              <a:t/>
            </a:r>
          </a:p>
          <a:p xmlns:a="http://schemas.openxmlformats.org/drawingml/2006/main">
            <a:r>
              <a:t>Implication: A 300-person private company — smaller than most of the field — occupying exactly the position DeepGrid is bidding for, with ISO 26262 and ~5m units. Both the proof the strategy works and the incumbent in the seat.</a:t>
            </a:r>
          </a:p>
          <a:p xmlns:a="http://schemas.openxmlformats.org/drawingml/2006/main">
            <a:r>
              <a:t>Evidence: EV-SV-01 … EV-SV-06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evidence supports a direct software-layer threat, and what remains unverified?</a:t>
            </a:r>
          </a:p>
          <a:p xmlns:a="http://schemas.openxmlformats.org/drawingml/2006/main">
            <a:r>
              <a:t>A: Reported global deployment establishes a scale signal; it does not independently prove equivalent software scope, hardware performance or Indian commercial-vehicle applicability. Use as comparator but require India-specific testing before competitive positioning.</a:t>
            </a:r>
          </a:p>
          <a:p xmlns:a="http://schemas.openxmlformats.org/drawingml/2006/main">
            <a:r>
              <a:t/>
            </a:r>
          </a:p>
          <a:p xmlns:a="http://schemas.openxmlformats.org/drawingml/2006/main">
            <a:r>
              <a:t>Mechanism: Global deployment volume evidences production maturity, not India CV equivalence. The two are different claims, and only the second decides an Indian programme.</a:t>
            </a:r>
          </a:p>
          <a:p xmlns:a="http://schemas.openxmlformats.org/drawingml/2006/main">
            <a:r>
              <a:t>Counterargument: A ~5m-unit global deployment (Apr 2026) may itself be the buyer's proof. DeepGrid's insistence on India-specific equivalence may not be a criterion the buyer actually applies.</a:t>
            </a:r>
          </a:p>
          <a:p xmlns:a="http://schemas.openxmlformats.org/drawingml/2006/main">
            <a:r>
              <a:t>Falsifier: Falsified if STRADVISION publishes India CV class scope, configuration and denominators matching the benchmark request.</a:t>
            </a:r>
          </a:p>
          <a:p xmlns:a="http://schemas.openxmlformats.org/drawingml/2006/main">
            <a:r>
              <a:t>Implication: Scale Signal 4M+ global vehicles indicate production software maturity</a:t>
            </a:r>
          </a:p>
          <a:p xmlns:a="http://schemas.openxmlformats.org/drawingml/2006/main">
            <a:r>
              <a:t>Decision: Benchmark against STRADVISION on equal scope; do not concede the layer on deployment volume.</a:t>
            </a:r>
          </a:p>
          <a:p xmlns:a="http://schemas.openxmlformats.org/drawingml/2006/main">
            <a:r>
              <a:t>Owner: Head of Engineering · Trigger: Receipt of SVNet configuration, hardware and India class scope.</a:t>
            </a:r>
          </a:p>
          <a:p xmlns:a="http://schemas.openxmlformats.org/drawingml/2006/main">
            <a:r>
              <a:t>Stop/escalate: Stop treating scheduled design-win volume as deployed volume.</a:t>
            </a:r>
          </a:p>
          <a:p xmlns:a="http://schemas.openxmlformats.org/drawingml/2006/main">
            <a:r>
              <a:t/>
            </a:r>
          </a:p>
          <a:p xmlns:a="http://schemas.openxmlformats.org/drawingml/2006/main">
            <a:r>
              <a:t>Evidence: S45-01, S45-02, S45-03, S45-04, S45-05, S45-06, S45-07, S45-08, S45-09, S45-10, S45-11</a:t>
            </a:r>
          </a:p>
          <a:p xmlns:a="http://schemas.openxmlformats.org/drawingml/2006/main">
            <a:r>
              <a:t>Evidence ledger claims S45-01–S45-11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STRADVISION's threat change by buying arena, and where should DeepGrid defend?</a:t>
            </a:r>
          </a:p>
          <a:p xmlns:a="http://schemas.openxmlformats.org/drawingml/2006/main">
            <a:r>
              <a:t>A: STRADVISION is most threatening in N2/N3 OEM buying, where Tier-1 distribution and production scale decide, and lower in government and fleet where it has no direct presence.</a:t>
            </a:r>
          </a:p>
          <a:p xmlns:a="http://schemas.openxmlformats.org/drawingml/2006/main">
            <a:r>
              <a:t/>
            </a:r>
          </a:p>
          <a:p xmlns:a="http://schemas.openxmlformats.org/drawingml/2006/main">
            <a:r>
              <a:t>Mechanism: As a software layer sold through Tier-1s, its reach follows its distributors. Where those distributors compete it is strong; where the buyer purchases directly it has no route.</a:t>
            </a:r>
          </a:p>
          <a:p xmlns:a="http://schemas.openxmlformats.org/drawingml/2006/main">
            <a:r>
              <a:t>Counterargument: A software supplier can reach the fleet aftermarket through any integrator, so low current presence there is not a durable barrier.</a:t>
            </a:r>
          </a:p>
          <a:p xmlns:a="http://schemas.openxmlformats.org/drawingml/2006/main">
            <a:r>
              <a:t>Falsifier: Falsified if STRADVISION appears in an Indian tender or an aftermarket award.</a:t>
            </a:r>
          </a:p>
          <a:p xmlns:a="http://schemas.openxmlformats.org/drawingml/2006/main">
            <a:r>
              <a:t>Implication: Government / PSU LOW–MEDIUM: Tender access needed, limited direct presence</a:t>
            </a:r>
          </a:p>
          <a:p xmlns:a="http://schemas.openxmlformats.org/drawingml/2006/main">
            <a:r>
              <a:t>Decision: Concentrate the perception-layer defence on N2/N3 OEM buying.</a:t>
            </a:r>
          </a:p>
          <a:p xmlns:a="http://schemas.openxmlformats.org/drawingml/2006/main">
            <a:r>
              <a:t>Owner: Head of Business Development · Trigger: Any STRADVISION India CV nomination.</a:t>
            </a:r>
          </a:p>
          <a:p xmlns:a="http://schemas.openxmlformats.org/drawingml/2006/main">
            <a:r>
              <a:t>Stop/escalate: Escalate on any STRADVISION India CV nomination.</a:t>
            </a:r>
          </a:p>
          <a:p xmlns:a="http://schemas.openxmlformats.org/drawingml/2006/main">
            <a:r>
              <a:t/>
            </a:r>
          </a:p>
          <a:p xmlns:a="http://schemas.openxmlformats.org/drawingml/2006/main">
            <a:r>
              <a:t>Evidence: S46-01, S46-02, S46-03, S46-04, S46-05, S46-06, S46-07, S46-08</a:t>
            </a:r>
          </a:p>
          <a:p xmlns:a="http://schemas.openxmlformats.org/drawingml/2006/main">
            <a:r>
              <a:t>Evidence ledger claims S46-01–S46-08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response should DeepGrid fund now, and which observable signal should trigger escalation?</a:t>
            </a:r>
          </a:p>
          <a:p xmlns:a="http://schemas.openxmlformats.org/drawingml/2006/main">
            <a:r>
              <a:t>A: Use STRADVISION as the primary perception-layer comparator and run an equal-scope benchmark reporting accuracy, latency, power, class scope and denominators. It contests the same layer without owning the vehicle.</a:t>
            </a:r>
          </a:p>
          <a:p xmlns:a="http://schemas.openxmlformats.org/drawingml/2006/main">
            <a:r>
              <a:t/>
            </a:r>
          </a:p>
          <a:p xmlns:a="http://schemas.openxmlformats.org/drawingml/2006/main">
            <a:r>
              <a:t>Mechanism: STRADVISION is the only competitor occupying DeepGrid's exact layer, which makes it the one comparison where a like-for-like result is both obtainable and decision-relevant.</a:t>
            </a:r>
          </a:p>
          <a:p xmlns:a="http://schemas.openxmlformats.org/drawingml/2006/main">
            <a:r>
              <a:t>Counterargument: Its ~5m-unit global deployment (Apr 2026) is a scale signal DeepGrid cannot match, and a buyer may treat deployment volume as a proxy for reliability regardless of benchmark results.</a:t>
            </a:r>
          </a:p>
          <a:p xmlns:a="http://schemas.openxmlformats.org/drawingml/2006/main">
            <a:r>
              <a:t>Falsifier: Falsified if equal scope cannot be obtained, or if STRADVISION's India CV class scope proves materially different.</a:t>
            </a:r>
          </a:p>
          <a:p xmlns:a="http://schemas.openxmlformats.org/drawingml/2006/main">
            <a:r>
              <a:t>Implication: Implication Make reproducible evidence—not domestic positioning—the basis of the STRADVISION response</a:t>
            </a:r>
          </a:p>
          <a:p xmlns:a="http://schemas.openxmlformats.org/drawingml/2006/main">
            <a:r>
              <a:t>Decision: Escalate only when results report accuracy, latency, power, class scope, denominators</a:t>
            </a:r>
          </a:p>
          <a:p xmlns:a="http://schemas.openxmlformats.org/drawingml/2006/main">
            <a:r>
              <a:t>Owner: Head of Engineering · Trigger: Stop if equal scope cannot be obtained</a:t>
            </a:r>
          </a:p>
          <a:p xmlns:a="http://schemas.openxmlformats.org/drawingml/2006/main">
            <a:r>
              <a:t>Stop/escalate: Stop if equal scope cannot be obtained.</a:t>
            </a:r>
          </a:p>
          <a:p xmlns:a="http://schemas.openxmlformats.org/drawingml/2006/main">
            <a:r>
              <a:t/>
            </a:r>
          </a:p>
          <a:p xmlns:a="http://schemas.openxmlformats.org/drawingml/2006/main">
            <a:r>
              <a:t>Evidence: S32-01, S32-02, S32-03, S32-04, S32-05, S32-06, S32-07, S32-08, S32-09, S32-10, S32-11</a:t>
            </a:r>
          </a:p>
          <a:p xmlns:a="http://schemas.openxmlformats.org/drawingml/2006/main">
            <a:r>
              <a:t>Evidence ledger claims S32-01–S32-11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materially raise or lower STRADVISION's threat rating?</a:t>
            </a:r>
          </a:p>
          <a:p xmlns:a="http://schemas.openxmlformats.org/drawingml/2006/main">
            <a:r>
              <a:t>A: It is the cleanest proposed layer-for-layer comparator, but only a reproducible constrained-compute test can establish superiority on DeepGrid's target hardware and Indian scenarios.</a:t>
            </a:r>
          </a:p>
          <a:p xmlns:a="http://schemas.openxmlformats.org/drawingml/2006/main">
            <a:r>
              <a:t/>
            </a:r>
          </a:p>
          <a:p xmlns:a="http://schemas.openxmlformats.org/drawingml/2006/main">
            <a:r>
              <a:t>Mechanism: Global deployment volume and India CV performance are different claims. Only a constrained-compute test with declared denominators can convert the comparison from reputation into measurement.</a:t>
            </a:r>
          </a:p>
          <a:p xmlns:a="http://schemas.openxmlformats.org/drawingml/2006/main">
            <a:r>
              <a:t>Counterargument: A reproducible constrained-compute test cuts both ways: if STRADVISION wins it, DeepGrid will have funded the evidence that displaces its own position.</a:t>
            </a:r>
          </a:p>
          <a:p xmlns:a="http://schemas.openxmlformats.org/drawingml/2006/main">
            <a:r>
              <a:t>Falsifier: Lab result may not predict production integration</a:t>
            </a:r>
          </a:p>
          <a:p xmlns:a="http://schemas.openxmlformats.org/drawingml/2006/main">
            <a:r>
              <a:t>Implication: Benchmark Strategy Anchor comparison on India VRU benchmark; avoid assumption transfers</a:t>
            </a:r>
          </a:p>
          <a:p xmlns:a="http://schemas.openxmlformats.org/drawingml/2006/main">
            <a:r>
              <a:t>Decision: Run the constrained-compute comparator; do not concede the layer on global scale.</a:t>
            </a:r>
          </a:p>
          <a:p xmlns:a="http://schemas.openxmlformats.org/drawingml/2006/main">
            <a:r>
              <a:t>Owner: Head of Engineering · Trigger: Receipt of an exact configuration and denominators enabling equal scope.</a:t>
            </a:r>
          </a:p>
          <a:p xmlns:a="http://schemas.openxmlformats.org/drawingml/2006/main">
            <a:r>
              <a:t>Stop/escalate: Stop the comparison if equal scope cannot be established.</a:t>
            </a:r>
          </a:p>
          <a:p xmlns:a="http://schemas.openxmlformats.org/drawingml/2006/main">
            <a:r>
              <a:t/>
            </a:r>
          </a:p>
          <a:p xmlns:a="http://schemas.openxmlformats.org/drawingml/2006/main">
            <a:r>
              <a:t>Evidence: S63-01, S63-02, S63-03, S63-04, S63-05, S63-06</a:t>
            </a:r>
          </a:p>
          <a:p xmlns:a="http://schemas.openxmlformats.org/drawingml/2006/main">
            <a:r>
              <a:t>Evidence ledger claims S63-01–S63-06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 drivebuddyAI.</a:t>
            </a:r>
          </a:p>
          <a:p xmlns:a="http://schemas.openxmlformats.org/drawingml/2006/main">
            <a:r>
              <a:t/>
            </a:r>
          </a:p>
          <a:p xmlns:a="http://schemas.openxmlformats.org/drawingml/2006/main">
            <a:r>
              <a:t>Roadzen Inc (parent)</a:t>
            </a:r>
          </a:p>
          <a:p xmlns:a="http://schemas.openxmlformats.org/drawingml/2006/main">
            <a:r>
              <a:t>Founded 2015 (Roadzen; drivebuddyAI acquired into the group)</a:t>
            </a:r>
          </a:p>
          <a:p xmlns:a="http://schemas.openxmlformats.org/drawingml/2006/main">
            <a:r>
              <a:t>New York, USA + India operations</a:t>
            </a:r>
          </a:p>
          <a:p xmlns:a="http://schemas.openxmlformats.org/drawingml/2006/main">
            <a:r>
              <a:t>LISTED Nasdaq: RDZN</a:t>
            </a:r>
          </a:p>
          <a:p xmlns:a="http://schemas.openxmlformats.org/drawingml/2006/main">
            <a:r>
              <a:t>Value ~$112m share ~$1.26 · 84.56m shares as of 14 Aug 2026 (52-wk $0.81–$2.56)</a:t>
            </a:r>
          </a:p>
          <a:p xmlns:a="http://schemas.openxmlformats.org/drawingml/2006/main">
            <a:r>
              <a:t>People —</a:t>
            </a:r>
          </a:p>
          <a:p xmlns:a="http://schemas.openxmlformats.org/drawingml/2006/main">
            <a:r>
              <a:t>Sells: Six-camera surround-view ADAS, driver monitoring, video telematics, predictive risk intelligence</a:t>
            </a:r>
          </a:p>
          <a:p xmlns:a="http://schemas.openxmlformats.org/drawingml/2006/main">
            <a:r>
              <a:t/>
            </a:r>
          </a:p>
          <a:p xmlns:a="http://schemas.openxmlformats.org/drawingml/2006/main">
            <a:r>
              <a:t>Posture VERIFIED · Evidence EV-DBA-01 … EV-DBA-04</a:t>
            </a:r>
          </a:p>
          <a:p xmlns:a="http://schemas.openxmlformats.org/drawingml/2006/main">
            <a:r>
              <a:t/>
            </a:r>
          </a:p>
          <a:p xmlns:a="http://schemas.openxmlformats.org/drawingml/2006/main">
            <a:r>
              <a:t>Fastest commercial momentum in the set on the weakest balance sheet — a micro-cap near $1. Sources disagree on its market cap ($60m / $112m / $160m). It does not actuate brakes, so it is not competing for the mandate.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use cases: drivebuddyAI.</a:t>
            </a:r>
          </a:p>
          <a:p xmlns:a="http://schemas.openxmlformats.org/drawingml/2006/main">
            <a:r>
              <a:t/>
            </a:r>
          </a:p>
          <a:p xmlns:a="http://schemas.openxmlformats.org/drawingml/2006/main">
            <a:r>
              <a:t>Pattern: P-VIS + P-DMS + P-TEL — camera-only, NO brake actuation</a:t>
            </a:r>
          </a:p>
          <a:p xmlns:a="http://schemas.openxmlformats.org/drawingml/2006/main">
            <a:r>
              <a:t>Architecture: Six cameras; onboard AI interprets the scene in real time</a:t>
            </a:r>
          </a:p>
          <a:p xmlns:a="http://schemas.openxmlformats.org/drawingml/2006/main">
            <a:r>
              <a:t>Function: Detects and classifies vulnerable road users, assesses risk, ALERTS the driver</a:t>
            </a:r>
          </a:p>
          <a:p xmlns:a="http://schemas.openxmlformats.org/drawingml/2006/main">
            <a:r>
              <a:t>Commercial: $5.3m / 3,600 e-buses and trucks (Jun 2026); prior $2.5m / 3,000 trucks</a:t>
            </a:r>
          </a:p>
          <a:p xmlns:a="http://schemas.openxmlformats.org/drawingml/2006/main">
            <a:r>
              <a:t>Flywheel: Telematics feeds the parent's insurance underwriting — recurring, not hardware</a:t>
            </a:r>
          </a:p>
          <a:p xmlns:a="http://schemas.openxmlformats.org/drawingml/2006/main">
            <a:r>
              <a:t/>
            </a:r>
          </a:p>
          <a:p xmlns:a="http://schemas.openxmlformats.org/drawingml/2006/main">
            <a:r>
              <a:t>Implication: Fastest commercial momentum in the set on the weakest balance sheet — a micro-cap near $1. Sources disagree on its market cap ($60m / $112m / $160m). It does not actuate brakes, so it is not competing for the mandate.</a:t>
            </a:r>
          </a:p>
          <a:p xmlns:a="http://schemas.openxmlformats.org/drawingml/2006/main">
            <a:r>
              <a:t>Evidence: EV-DBA-01 … EV-DBA-04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evidence supports the fleet-workflow signal, and what remains company-reported?</a:t>
            </a:r>
          </a:p>
          <a:p xmlns:a="http://schemas.openxmlformats.org/drawingml/2006/main">
            <a:r>
              <a:t>A: The programme is evidence of a plausible fleet-workflow route to market, not proof of AEBS capability or homologation. The announced contract provides a meaningful commercial benchmark, yet customer anonymity, rollout uncertainty and approval-scope gaps prevent treating it as a fully validated deployment.</a:t>
            </a:r>
          </a:p>
          <a:p xmlns:a="http://schemas.openxmlformats.org/drawingml/2006/main">
            <a:r>
              <a:t/>
            </a:r>
          </a:p>
          <a:p xmlns:a="http://schemas.openxmlformats.org/drawingml/2006/main">
            <a:r>
              <a:t>Mechanism: An issuer announcement establishes a contract, not a deployment. Revenue recognition, live vehicle count and service quality are separate facts, and only the customer can confirm them.</a:t>
            </a:r>
          </a:p>
          <a:p xmlns:a="http://schemas.openxmlformats.org/drawingml/2006/main">
            <a:r>
              <a:t>Counterargument: No customer-side corroboration of deployment scale or service quality. Need verification of live vehicle count, uptime, and actual revenue recognition.</a:t>
            </a:r>
          </a:p>
          <a:p xmlns:a="http://schemas.openxmlformats.org/drawingml/2006/main">
            <a:r>
              <a:t>Falsifier: Falsified if the initial 3,000-truck programme is confirmed live by the customer rather than the issuer, which would convert the signal into deployment proof.</a:t>
            </a:r>
          </a:p>
          <a:p xmlns:a="http://schemas.openxmlformats.org/drawingml/2006/main">
            <a:r>
              <a:t>Implication: Fleet-Workflow Signal Evidence of plausible route to market through fleet telematics and driver monitoring</a:t>
            </a:r>
          </a:p>
          <a:p xmlns:a="http://schemas.openxmlformats.org/drawingml/2006/main">
            <a:r>
              <a:t>Decision: Treat the programme as a route-to-market signal, not as AEBS capability evidence.</a:t>
            </a:r>
          </a:p>
          <a:p xmlns:a="http://schemas.openxmlformats.org/drawingml/2006/main">
            <a:r>
              <a:t>Owner: Head of Competitive Intelligence · Trigger: Customer-side confirmation of live vehicle count and service quality.</a:t>
            </a:r>
          </a:p>
          <a:p xmlns:a="http://schemas.openxmlformats.org/drawingml/2006/main">
            <a:r>
              <a:t>Stop/escalate: Stop citing US$2.5m as current — superseded by US$5.3m / 3,600 vehicles (Jun 2026) — or the 10,000-vehicle expansion without the issuer-announcement caveat.</a:t>
            </a:r>
          </a:p>
          <a:p xmlns:a="http://schemas.openxmlformats.org/drawingml/2006/main">
            <a:r>
              <a:t/>
            </a:r>
          </a:p>
          <a:p xmlns:a="http://schemas.openxmlformats.org/drawingml/2006/main">
            <a:r>
              <a:t>Evidence: S23-01, S23-02, S23-03, S23-04, S23-05, S23-06, S23-07</a:t>
            </a:r>
          </a:p>
          <a:p xmlns:a="http://schemas.openxmlformats.org/drawingml/2006/main">
            <a:r>
              <a:t>Evidence ledger claims S23-01–S23-07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drivebuddyAI's threat change by buying arena, and where should DeepGrid respond?</a:t>
            </a:r>
          </a:p>
          <a:p xmlns:a="http://schemas.openxmlformats.org/drawingml/2006/main">
            <a:r>
              <a:t>A: drivebuddyAI is most threatening in fleet aftermarket, where workflow ROI decides the purchase, and medium in OEM and government where integration and approvals decide.</a:t>
            </a:r>
          </a:p>
          <a:p xmlns:a="http://schemas.openxmlformats.org/drawingml/2006/main">
            <a:r>
              <a:t/>
            </a:r>
          </a:p>
          <a:p xmlns:a="http://schemas.openxmlformats.org/drawingml/2006/main">
            <a:r>
              <a:t>Mechanism: Its advantage is workflow and fleet relationships, which convert directly into aftermarket sales but carry no weight in a nomination or a tender scored on qualification.</a:t>
            </a:r>
          </a:p>
          <a:p xmlns:a="http://schemas.openxmlformats.org/drawingml/2006/main">
            <a:r>
              <a:t>Counterargument: A workflow incumbent with fleet relationships can add perception faster than a perception supplier can add workflow, so the aftermarket rating may be understated.</a:t>
            </a:r>
          </a:p>
          <a:p xmlns:a="http://schemas.openxmlformats.org/drawingml/2006/main">
            <a:r>
              <a:t>Falsifier: Falsified if drivebuddyAI secures an OEM nomination or a government tender award.</a:t>
            </a:r>
          </a:p>
          <a:p xmlns:a="http://schemas.openxmlformats.org/drawingml/2006/main">
            <a:r>
              <a:t>Implication: Priority Hypothesis Fleet aftermarket HIGH, OEM/Tier-1 MEDIUM, Govt MEDIUM</a:t>
            </a:r>
          </a:p>
          <a:p xmlns:a="http://schemas.openxmlformats.org/drawingml/2006/main">
            <a:r>
              <a:t>Decision: Prioritise competitive response in fleet and mining pipeline reviews Monday</a:t>
            </a:r>
          </a:p>
          <a:p xmlns:a="http://schemas.openxmlformats.org/drawingml/2006/main">
            <a:r>
              <a:t>Owner: Head of Business Development · Trigger: Monday fleet and mining pipeline review.</a:t>
            </a:r>
          </a:p>
          <a:p xmlns:a="http://schemas.openxmlformats.org/drawingml/2006/main">
            <a:r>
              <a:t>Stop/escalate: Escalate on any drivebuddyAI OEM or government award.</a:t>
            </a:r>
          </a:p>
          <a:p xmlns:a="http://schemas.openxmlformats.org/drawingml/2006/main">
            <a:r>
              <a:t/>
            </a:r>
          </a:p>
          <a:p xmlns:a="http://schemas.openxmlformats.org/drawingml/2006/main">
            <a:r>
              <a:t>Evidence: S25-01, S25-02, S25-03, S25-04, S25-05, S25-06, S25-07, S25-08, S25-09, S25-10, S25-11</a:t>
            </a:r>
          </a:p>
          <a:p xmlns:a="http://schemas.openxmlformats.org/drawingml/2006/main">
            <a:r>
              <a:t>Evidence ledger claims S25-01–S25-11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response should DeepGrid fund, and which observable evidence should determine escalation?</a:t>
            </a:r>
          </a:p>
          <a:p xmlns:a="http://schemas.openxmlformats.org/drawingml/2006/main">
            <a:r>
              <a:t>A: Verify the deployment gates — customer identity, live vehicle count, rollout and revenue recognition — and fund a paid-fleet pilot only where a VRU improvement is provable.</a:t>
            </a:r>
          </a:p>
          <a:p xmlns:a="http://schemas.openxmlformats.org/drawingml/2006/main">
            <a:r>
              <a:t/>
            </a:r>
          </a:p>
          <a:p xmlns:a="http://schemas.openxmlformats.org/drawingml/2006/main">
            <a:r>
              <a:t>Mechanism: The pilot is worth funding only if perception, rather than telematics, is what improves the fleet's safety and claims outcome. Verifying the gates first determines whether that question is even live.</a:t>
            </a:r>
          </a:p>
          <a:p xmlns:a="http://schemas.openxmlformats.org/drawingml/2006/main">
            <a:r>
              <a:t>Counterargument: Fleets may prioritise basic telematics and workflow ROI over advanced perception, making a VRU-led pilot commercially irrelevant even when technically successful.</a:t>
            </a:r>
          </a:p>
          <a:p xmlns:a="http://schemas.openxmlformats.org/drawingml/2006/main">
            <a:r>
              <a:t>Falsifier: Stop or redesign if pilot shows no measurable safety/claims improvement</a:t>
            </a:r>
          </a:p>
          <a:p xmlns:a="http://schemas.openxmlformats.org/drawingml/2006/main">
            <a:r>
              <a:t>Implication: DeepGrid needs commercial proof Require evidence that perception capability improves safety/claims/uptime</a:t>
            </a:r>
          </a:p>
          <a:p xmlns:a="http://schemas.openxmlformats.org/drawingml/2006/main">
            <a:r>
              <a:t>Decision: Authorize Sales to approach three fleets Monday with a paid pilot proposal</a:t>
            </a:r>
          </a:p>
          <a:p xmlns:a="http://schemas.openxmlformats.org/drawingml/2006/main">
            <a:r>
              <a:t>Owner: Head of Sales · Trigger: Proceed when one fleet signs paid pilot + verified deployment gates</a:t>
            </a:r>
          </a:p>
          <a:p xmlns:a="http://schemas.openxmlformats.org/drawingml/2006/main">
            <a:r>
              <a:t>Stop/escalate: Stop or redesign if the pilot shows no measurable safety or claims improvement.</a:t>
            </a:r>
          </a:p>
          <a:p xmlns:a="http://schemas.openxmlformats.org/drawingml/2006/main">
            <a:r>
              <a:t/>
            </a:r>
          </a:p>
          <a:p xmlns:a="http://schemas.openxmlformats.org/drawingml/2006/main">
            <a:r>
              <a:t>Evidence: S24-01, S24-02, S24-03, S24-04, S24-05, S24-06, S24-07, S24-08, S24-09, S24-10</a:t>
            </a:r>
          </a:p>
          <a:p xmlns:a="http://schemas.openxmlformats.org/drawingml/2006/main">
            <a:r>
              <a:t>Evidence ledger claims S24-01–S24-10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evidence would materially raise or lower drivebuddyAI's threat rating?</a:t>
            </a:r>
          </a:p>
          <a:p xmlns:a="http://schemas.openxmlformats.org/drawingml/2006/main">
            <a:r>
              <a:t>A: The proposition may monetise identity, attendance, behaviour, video evidence and intervention before full AEBS homologation; however, the supplied record does not independently establish live deployment scale or performance metrics.</a:t>
            </a:r>
          </a:p>
          <a:p xmlns:a="http://schemas.openxmlformats.org/drawingml/2006/main">
            <a:r>
              <a:t/>
            </a:r>
          </a:p>
          <a:p xmlns:a="http://schemas.openxmlformats.org/drawingml/2006/main">
            <a:r>
              <a:t>Mechanism: Operational delivery — live vehicles, uptime, claims impact — is the only evidence that separates a funded workflow proposition from a deployed safety capability.</a:t>
            </a:r>
          </a:p>
          <a:p xmlns:a="http://schemas.openxmlformats.org/drawingml/2006/main">
            <a:r>
              <a:t>Counterargument: Workflow monetisation may sustain the business regardless of perception quality, so poor uptime would lower the technical threat without lowering the commercial one.</a:t>
            </a:r>
          </a:p>
          <a:p xmlns:a="http://schemas.openxmlformats.org/drawingml/2006/main">
            <a:r>
              <a:t>Falsifier: The programme could already be delivering strong fleet economics. This view is falsified by customer-side proof of live deployment, uptime metrics, or expansion beyond the initial 3,600-vehicle commitment (Jun 2026). Monitor for actual vehicle counts and service reliability data.</a:t>
            </a:r>
          </a:p>
          <a:p xmlns:a="http://schemas.openxmlformats.org/drawingml/2006/main">
            <a:r>
              <a:t>Implication: Benchmark on Evidence Benchmark drivebuddyAI on paid operating evidence; differentiate DGS001 through measured VRU performance</a:t>
            </a:r>
          </a:p>
          <a:p xmlns:a="http://schemas.openxmlformats.org/drawingml/2006/main">
            <a:r>
              <a:t>Decision: Pursue paid pilot; evaluate ROI/uptime impacts before scaling partnership</a:t>
            </a:r>
          </a:p>
          <a:p xmlns:a="http://schemas.openxmlformats.org/drawingml/2006/main">
            <a:r>
              <a:t>Owner: Head of Competitive Intelligence · Trigger: Raise on live deployment + KPIs; lower on delays or service issues</a:t>
            </a:r>
          </a:p>
          <a:p xmlns:a="http://schemas.openxmlformats.org/drawingml/2006/main">
            <a:r>
              <a:t>Stop/escalate: Stop treating a reported ARAI demonstration or DDAWS certificate as AEBS type approval.</a:t>
            </a:r>
          </a:p>
          <a:p xmlns:a="http://schemas.openxmlformats.org/drawingml/2006/main">
            <a:r>
              <a:t/>
            </a:r>
          </a:p>
          <a:p xmlns:a="http://schemas.openxmlformats.org/drawingml/2006/main">
            <a:r>
              <a:t>Evidence: S60-01, S60-02, S60-03, S60-04, S60-05, S60-06</a:t>
            </a:r>
          </a:p>
          <a:p xmlns:a="http://schemas.openxmlformats.org/drawingml/2006/main">
            <a:r>
              <a:t>Evidence ledger claims S60-01–S60-06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 Starkenn.</a:t>
            </a:r>
          </a:p>
          <a:p xmlns:a="http://schemas.openxmlformats.org/drawingml/2006/main">
            <a:r>
              <a:t/>
            </a:r>
          </a:p>
          <a:p xmlns:a="http://schemas.openxmlformats.org/drawingml/2006/main">
            <a:r>
              <a:t>Starkenn Technologies Private Limited</a:t>
            </a:r>
          </a:p>
          <a:p xmlns:a="http://schemas.openxmlformats.org/drawingml/2006/main">
            <a:r>
              <a:t>Founded 2022 (Founders Sumedh and Swastid Badve)</a:t>
            </a:r>
          </a:p>
          <a:p xmlns:a="http://schemas.openxmlformats.org/drawingml/2006/main">
            <a:r>
              <a:t>Pune · mfg Turbhe, assembly Aundh</a:t>
            </a:r>
          </a:p>
          <a:p xmlns:a="http://schemas.openxmlformats.org/drawingml/2006/main">
            <a:r>
              <a:t>PRIVATE Backed by Belrise Industries</a:t>
            </a:r>
          </a:p>
          <a:p xmlns:a="http://schemas.openxmlformats.org/drawingml/2006/main">
            <a:r>
              <a:t>Value $2.0m raised ₹5 Cr turnover as of seed Apr 2023 (57 staff, −15.8% YoY)</a:t>
            </a:r>
          </a:p>
          <a:p xmlns:a="http://schemas.openxmlformats.org/drawingml/2006/main">
            <a:r>
              <a:t>People 57 (−12 YoY)</a:t>
            </a:r>
          </a:p>
          <a:p xmlns:a="http://schemas.openxmlformats.org/drawingml/2006/main">
            <a:r>
              <a:t>Sells: Brake-Safe (collision mitigation), Attention (DMS with alcohol interlock), Stark-I (fleet telematics)</a:t>
            </a:r>
          </a:p>
          <a:p xmlns:a="http://schemas.openxmlformats.org/drawingml/2006/main">
            <a:r>
              <a:t/>
            </a:r>
          </a:p>
          <a:p xmlns:a="http://schemas.openxmlformats.org/drawingml/2006/main">
            <a:r>
              <a:t>Posture CONTESTED · Evidence EV-STK-01 … EV-STK-07</a:t>
            </a:r>
          </a:p>
          <a:p xmlns:a="http://schemas.openxmlformats.org/drawingml/2006/main">
            <a:r>
              <a:t/>
            </a:r>
          </a:p>
          <a:p xmlns:a="http://schemas.openxmlformats.org/drawingml/2006/main">
            <a:r>
              <a:t>The 2,500+ vehicle number comes from one Nov 2024 interview that also says 700 units and 300+ vehicles. Unaudited, ~21 months old, internally contradicted. What is durable: 30% tender share and 40% recurring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use cases: Starkenn.</a:t>
            </a:r>
          </a:p>
          <a:p xmlns:a="http://schemas.openxmlformats.org/drawingml/2006/main">
            <a:r>
              <a:t/>
            </a:r>
          </a:p>
          <a:p xmlns:a="http://schemas.openxmlformats.org/drawingml/2006/main">
            <a:r>
              <a:t>Pattern: P-VIS + P-DMS + P-TEL — warning and monitoring</a:t>
            </a:r>
          </a:p>
          <a:p xmlns:a="http://schemas.openxmlformats.org/drawingml/2006/main">
            <a:r>
              <a:t>DMS: Driver monitoring incl. alcohol detection that prevents vehicle start</a:t>
            </a:r>
          </a:p>
          <a:p xmlns:a="http://schemas.openxmlformats.org/drawingml/2006/main">
            <a:r>
              <a:t>Telematics: Stark-I — tracking, driver behaviour, route and fuel analytics</a:t>
            </a:r>
          </a:p>
          <a:p xmlns:a="http://schemas.openxmlformats.org/drawingml/2006/main">
            <a:r>
              <a:t>Revenue: 40% subscription · 30% government tenders · 20% B2C · 10% OEM</a:t>
            </a:r>
          </a:p>
          <a:p xmlns:a="http://schemas.openxmlformats.org/drawingml/2006/main">
            <a:r>
              <a:t>Deployment: HEADLINE FIGURE FAILS — one source states 2,500 / 700 / 300+</a:t>
            </a:r>
          </a:p>
          <a:p xmlns:a="http://schemas.openxmlformats.org/drawingml/2006/main">
            <a:r>
              <a:t/>
            </a:r>
          </a:p>
          <a:p xmlns:a="http://schemas.openxmlformats.org/drawingml/2006/main">
            <a:r>
              <a:t>Implication: The 2,500+ vehicle number comes from one Nov 2024 interview that also says 700 units and 300+ vehicles. Unaudited, ~21 months old, internally contradicted. What is durable: 30% tender share and 40% recurring revenue.</a:t>
            </a:r>
          </a:p>
          <a:p xmlns:a="http://schemas.openxmlformats.org/drawingml/2006/main">
            <a:r>
              <a:t>Evidence: EV-STK-01 … EV-STK-07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Which evidence supports Starkenn's competitive rating, and which part remains company-reported?</a:t>
            </a:r>
          </a:p>
          <a:p xmlns:a="http://schemas.openxmlformats.org/drawingml/2006/main">
            <a:r>
              <a:t>A: Assessment Treat Starkenn as a serious access-led competitor, not a proven scale leader, until customer, tender or approval artifacts corroborate its claims.</a:t>
            </a:r>
          </a:p>
          <a:p xmlns:a="http://schemas.openxmlformats.org/drawingml/2006/main">
            <a:r>
              <a:t/>
            </a:r>
          </a:p>
          <a:p xmlns:a="http://schemas.openxmlformats.org/drawingml/2006/main">
            <a:r>
              <a:t>Mechanism: Field access and reported scale are different claims with different evidentiary weight. Access is observable in tenders and installations; scale rests on Starkenn's own reporting, so the two cannot carry the same rating.</a:t>
            </a:r>
          </a:p>
          <a:p xmlns:a="http://schemas.openxmlformats.org/drawingml/2006/main">
            <a:r>
              <a:t>Counterargument: Field access may already be decisive. If the installed base and service coverage are real, DeepGrid arrives late to the one arena where proof is cheapest to obtain.</a:t>
            </a:r>
          </a:p>
          <a:p xmlns:a="http://schemas.openxmlformats.org/drawingml/2006/main">
            <a:r>
              <a:t>Falsifier: Falsified if any customer- or auditor-side deployment count appears. The company's own single source states 2,500 vehicles, 700 units and 300+ vehicles in one interview, so no count can be quoted from it.</a:t>
            </a:r>
          </a:p>
          <a:p xmlns:a="http://schemas.openxmlformats.org/drawingml/2006/main">
            <a:r>
              <a:t>Implication: Treat Starkenn as an access-led competitor, not a proven scale leader, until a customer confirms the numbers.</a:t>
            </a:r>
          </a:p>
          <a:p xmlns:a="http://schemas.openxmlformats.org/drawingml/2006/main">
            <a:r>
              <a:t>Decision: Rate Starkenn HIGH on field access and INSUFFICIENT on scale until corroborated.</a:t>
            </a:r>
          </a:p>
          <a:p xmlns:a="http://schemas.openxmlformats.org/drawingml/2006/main">
            <a:r>
              <a:t>Owner: Head of Competitive Intelligence · Trigger: Any customer-side or tender-record confirmation of deployment scale.</a:t>
            </a:r>
          </a:p>
          <a:p xmlns:a="http://schemas.openxmlformats.org/drawingml/2006/main">
            <a:r>
              <a:t>Stop/escalate: Stop citing Starkenn's scale figures as fact in any internal plan.</a:t>
            </a:r>
          </a:p>
          <a:p xmlns:a="http://schemas.openxmlformats.org/drawingml/2006/main">
            <a:r>
              <a:t/>
            </a:r>
          </a:p>
          <a:p xmlns:a="http://schemas.openxmlformats.org/drawingml/2006/main">
            <a:r>
              <a:t>Evidence: S17-01, S17-02, S17-03, S17-04, S17-05, S17-06, S17-07, S17-08, S17-09, S17-10, S17-11</a:t>
            </a:r>
          </a:p>
          <a:p xmlns:a="http://schemas.openxmlformats.org/drawingml/2006/main">
            <a:r>
              <a:t>Evidence ledger claims S17-01–S17-11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Starkenn's threat change by arena, and where should DeepGrid focus competitive response?</a:t>
            </a:r>
          </a:p>
          <a:p xmlns:a="http://schemas.openxmlformats.org/drawingml/2006/main">
            <a:r>
              <a:t>A: Starkenn reports 30% of revenue from government tenders and 40% from subscriptions (Nov 2024, self-reported)</a:t>
            </a:r>
          </a:p>
          <a:p xmlns:a="http://schemas.openxmlformats.org/drawingml/2006/main">
            <a:r>
              <a:t/>
            </a:r>
          </a:p>
          <a:p xmlns:a="http://schemas.openxmlformats.org/drawingml/2006/main">
            <a:r>
              <a:t>Mechanism: Starkenn's advantage is installation and service reach, which converts directly into mining retrofit wins but not into OEM nomination, where qualification and interfaces decide.</a:t>
            </a:r>
          </a:p>
          <a:p xmlns:a="http://schemas.openxmlformats.org/drawingml/2006/main">
            <a:r>
              <a:t>Counterargument: No customer-side corroboration of scale figures or public type-approval located</a:t>
            </a:r>
          </a:p>
          <a:p xmlns:a="http://schemas.openxmlformats.org/drawingml/2006/main">
            <a:r>
              <a:t>Falsifier: Falsified if Starkenn wins a named N2/N3 OEM factory nomination, which would move its threat from retrofit to programme.</a:t>
            </a:r>
          </a:p>
          <a:p xmlns:a="http://schemas.openxmlformats.org/drawingml/2006/main">
            <a:r>
              <a:t>Implication: Threat Assessment Starkenn most threatening in mining retrofit; conditionally high in government</a:t>
            </a:r>
          </a:p>
          <a:p xmlns:a="http://schemas.openxmlformats.org/drawingml/2006/main">
            <a:r>
              <a:t>Decision: Make documented Starkenn counterstrategy mandatory for every mining opportunity</a:t>
            </a:r>
          </a:p>
          <a:p xmlns:a="http://schemas.openxmlformats.org/drawingml/2006/main">
            <a:r>
              <a:t>Owner: Head of Competitive Intelligence · Trigger: Any Starkenn OEM nomination or tender award outside mining.</a:t>
            </a:r>
          </a:p>
          <a:p xmlns:a="http://schemas.openxmlformats.org/drawingml/2006/main">
            <a:r>
              <a:t>Stop/escalate: Escalate if Starkenn's government revenue share rises above its reported 30%.</a:t>
            </a:r>
          </a:p>
          <a:p xmlns:a="http://schemas.openxmlformats.org/drawingml/2006/main">
            <a:r>
              <a:t/>
            </a:r>
          </a:p>
          <a:p xmlns:a="http://schemas.openxmlformats.org/drawingml/2006/main">
            <a:r>
              <a:t>Evidence: S19-01, S19-02, S19-03, S19-04, S19-05, S19-06</a:t>
            </a:r>
          </a:p>
          <a:p xmlns:a="http://schemas.openxmlformats.org/drawingml/2006/main">
            <a:r>
              <a:t>Evidence ledger claims S19-01–S19-06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bounded move should DeepGrid fund now, and what signal should escalate?</a:t>
            </a:r>
          </a:p>
          <a:p xmlns:a="http://schemas.openxmlformats.org/drawingml/2006/main">
            <a:r>
              <a:t>A: Fund one bounded technical exchange to test whether Starkenn will take DeepGrid's camera perception as a module, and bid competitively only where a VRU advantage is the deciding criterion.</a:t>
            </a:r>
          </a:p>
          <a:p xmlns:a="http://schemas.openxmlformats.org/drawingml/2006/main">
            <a:r>
              <a:t/>
            </a:r>
          </a:p>
          <a:p xmlns:a="http://schemas.openxmlformats.org/drawingml/2006/main">
            <a:r>
              <a:t>Mechanism: A module-supply test costs one workshop and reveals whether Starkenn values perception enough to buy it. Bidding head-to-head everywhere costs the pipeline and reveals nothing Starkenn's access advantage does not already decide.</a:t>
            </a:r>
          </a:p>
          <a:p xmlns:a="http://schemas.openxmlformats.org/drawingml/2006/main">
            <a:r>
              <a:t>Counterargument: Starkenn may use the exchange to absorb DeepGrid's IP without granting distribution, leaving a stronger competitor and no channel.</a:t>
            </a:r>
          </a:p>
          <a:p xmlns:a="http://schemas.openxmlformats.org/drawingml/2006/main">
            <a:r>
              <a:t>Falsifier: Stop if Starkenn rejects IP sharing or workshop engagement</a:t>
            </a:r>
          </a:p>
          <a:p xmlns:a="http://schemas.openxmlformats.org/drawingml/2006/main">
            <a:r>
              <a:t>Implication: Probe distribution leverage DeepGrid can test distribution leverage without funding broad head-to-head competition</a:t>
            </a:r>
          </a:p>
          <a:p xmlns:a="http://schemas.openxmlformats.org/drawingml/2006/main">
            <a:r>
              <a:t>Decision: Send bounded technical-exchange proposal and adopt tender bid/no-bid criteria</a:t>
            </a:r>
          </a:p>
          <a:p xmlns:a="http://schemas.openxmlformats.org/drawingml/2006/main">
            <a:r>
              <a:t>Owner: Head of Partnerships · Trigger: Escalate when Starkenn accepts vehicle/scenario workshop + live bid</a:t>
            </a:r>
          </a:p>
          <a:p xmlns:a="http://schemas.openxmlformats.org/drawingml/2006/main">
            <a:r>
              <a:t>Stop/escalate: Stop if Starkenn rejects IP terms or declines the vehicle/scenario workshop.</a:t>
            </a:r>
          </a:p>
          <a:p xmlns:a="http://schemas.openxmlformats.org/drawingml/2006/main">
            <a:r>
              <a:t/>
            </a:r>
          </a:p>
          <a:p xmlns:a="http://schemas.openxmlformats.org/drawingml/2006/main">
            <a:r>
              <a:t>Evidence: S18-01, S18-02, S18-03, S18-04, S18-05, S18-06, S18-07, S18-08</a:t>
            </a:r>
          </a:p>
          <a:p xmlns:a="http://schemas.openxmlformats.org/drawingml/2006/main">
            <a:r>
              <a:t>Evidence ledger claims S18-01–S18-08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Should DeepGrid treat Starkenn primarily as a rival or test channel partnership?</a:t>
            </a:r>
          </a:p>
          <a:p xmlns:a="http://schemas.openxmlformats.org/drawingml/2006/main">
            <a:r>
              <a:t>A: Test Starkenn as a channel, not as an ally: a time-boxed technical exchange with written IP, data-rights and safety boundaries, closing on a written go/no-go.</a:t>
            </a:r>
          </a:p>
          <a:p xmlns:a="http://schemas.openxmlformats.org/drawingml/2006/main">
            <a:r>
              <a:t/>
            </a:r>
          </a:p>
          <a:p xmlns:a="http://schemas.openxmlformats.org/drawingml/2006/main">
            <a:r>
              <a:t>Mechanism: Starkenn holds installation and service reach DeepGrid cannot build quickly. A bounded exchange prices that access without transferring the perception IP that is DeepGrid's only durable asset.</a:t>
            </a:r>
          </a:p>
          <a:p xmlns:a="http://schemas.openxmlformats.org/drawingml/2006/main">
            <a:r>
              <a:t>Counterargument: Starkenn is simultaneously the strongest mining competitor. A channel test hands a rival visibility into DeepGrid's perception capability exactly while both compete for the same accounts.</a:t>
            </a:r>
          </a:p>
          <a:p xmlns:a="http://schemas.openxmlformats.org/drawingml/2006/main">
            <a:r>
              <a:t>Falsifier: Falsified if Starkenn declines written IP and data-rights terms — which would show the interest is in the technology, not the partnership.</a:t>
            </a:r>
          </a:p>
          <a:p xmlns:a="http://schemas.openxmlformats.org/drawingml/2006/main">
            <a:r>
              <a:t>Implication: Seek Channel Access Test distribution leverage without transferring uncontrolled IP or ambiguous safety accountability.</a:t>
            </a:r>
          </a:p>
          <a:p xmlns:a="http://schemas.openxmlformats.org/drawingml/2006/main">
            <a:r>
              <a:t>Decision: Authorise a time-boxed technical exchange and require a written go/no-go.</a:t>
            </a:r>
          </a:p>
          <a:p xmlns:a="http://schemas.openxmlformats.org/drawingml/2006/main">
            <a:r>
              <a:t>Owner: Head of Partnerships · Trigger: Decide only when the record covers latency, interfaces, data rights, safety boundary.</a:t>
            </a:r>
          </a:p>
          <a:p xmlns:a="http://schemas.openxmlformats.org/drawingml/2006/main">
            <a:r>
              <a:t>Stop/escalate: Stop the exchange if the written record cannot cover latency, interfaces, data rights and safety boundaries.</a:t>
            </a:r>
          </a:p>
          <a:p xmlns:a="http://schemas.openxmlformats.org/drawingml/2006/main">
            <a:r>
              <a:t/>
            </a:r>
          </a:p>
          <a:p xmlns:a="http://schemas.openxmlformats.org/drawingml/2006/main">
            <a:r>
              <a:t>Evidence: S34-01, S34-02, S34-03, S34-04, S34-05, S34-06, S34-07, S34-08</a:t>
            </a:r>
          </a:p>
          <a:p xmlns:a="http://schemas.openxmlformats.org/drawingml/2006/main">
            <a:r>
              <a:t>Evidence ledger claims S34-01–S34-08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falsify the current view of Starkenn rather than confirm it?</a:t>
            </a:r>
          </a:p>
          <a:p xmlns:a="http://schemas.openxmlformats.org/drawingml/2006/main">
            <a:r>
              <a:t>A: The current Starkenn view is falsified either by independent corroboration of its scale, or by proof that vehicle access and service — not perception quality — are what actually win its deals.</a:t>
            </a:r>
          </a:p>
          <a:p xmlns:a="http://schemas.openxmlformats.org/drawingml/2006/main">
            <a:r>
              <a:t/>
            </a:r>
          </a:p>
          <a:p xmlns:a="http://schemas.openxmlformats.org/drawingml/2006/main">
            <a:r>
              <a:t>Mechanism: Two different mechanisms explain the same observed wins. Which one is true determines whether DeepGrid should partner for access or compete on perception, so the falsifier has to separate them.</a:t>
            </a:r>
          </a:p>
          <a:p xmlns:a="http://schemas.openxmlformats.org/drawingml/2006/main">
            <a:r>
              <a:t>Counterargument: If access is decisive, a camera-perception partnership strengthens a competitor without opening a channel DeepGrid can control.</a:t>
            </a:r>
          </a:p>
          <a:p xmlns:a="http://schemas.openxmlformats.org/drawingml/2006/main">
            <a:r>
              <a:t>Falsifier: Starkenn may decline cooperation despite having real deployments. Falsify the current cautious view with independent award or operator attestation, or confirm with customer-side proof of live deployment and service quality. Falsification Criteria Falsify downward if corroboration fails, or upward if independent evidence confirms scale claims.</a:t>
            </a:r>
          </a:p>
          <a:p xmlns:a="http://schemas.openxmlformats.org/drawingml/2006/main">
            <a:r>
              <a:t>Implication: DeepGrid should explore a camera-perception partnership only if Starkenn's access is real and IP-safe.</a:t>
            </a:r>
          </a:p>
          <a:p xmlns:a="http://schemas.openxmlformats.org/drawingml/2006/main">
            <a:r>
              <a:t>Decision: Escalate when Starkenn accepts vehicle/scenario workshop</a:t>
            </a:r>
          </a:p>
          <a:p xmlns:a="http://schemas.openxmlformats.org/drawingml/2006/main">
            <a:r>
              <a:t>Owner: Head of Partnerships · Trigger: Starkenn accepts a vehicle and scenario workshop.</a:t>
            </a:r>
          </a:p>
          <a:p xmlns:a="http://schemas.openxmlformats.org/drawingml/2006/main">
            <a:r>
              <a:t>Stop/escalate: Stop the partnership track if Starkenn declines written IP terms.</a:t>
            </a:r>
          </a:p>
          <a:p xmlns:a="http://schemas.openxmlformats.org/drawingml/2006/main">
            <a:r>
              <a:t/>
            </a:r>
          </a:p>
          <a:p xmlns:a="http://schemas.openxmlformats.org/drawingml/2006/main">
            <a:r>
              <a:t>Evidence: S58-01, S58-02, S58-03, S58-04, S58-05, S58-06</a:t>
            </a:r>
          </a:p>
          <a:p xmlns:a="http://schemas.openxmlformats.org/drawingml/2006/main">
            <a:r>
              <a:t>Evidence ledger claims S58-01–S58-06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 Sterling Tools × MINIEYE.</a:t>
            </a:r>
          </a:p>
          <a:p xmlns:a="http://schemas.openxmlformats.org/drawingml/2006/main">
            <a:r>
              <a:t/>
            </a:r>
          </a:p>
          <a:p xmlns:a="http://schemas.openxmlformats.org/drawingml/2006/main">
            <a:r>
              <a:t>Sterling Tools Limited</a:t>
            </a:r>
          </a:p>
          <a:p xmlns:a="http://schemas.openxmlformats.org/drawingml/2006/main">
            <a:r>
              <a:t>Founded 1979 (India's fastener major)</a:t>
            </a:r>
          </a:p>
          <a:p xmlns:a="http://schemas.openxmlformats.org/drawingml/2006/main">
            <a:r>
              <a:t>New Delhi, India</a:t>
            </a:r>
          </a:p>
          <a:p xmlns:a="http://schemas.openxmlformats.org/drawingml/2006/main">
            <a:r>
              <a:t>LISTED NSE: STERTOOLS · BSE SmallCap</a:t>
            </a:r>
          </a:p>
          <a:p xmlns:a="http://schemas.openxmlformats.org/drawingml/2006/main">
            <a:r>
              <a:t>Value ₹806 Cr ~$92m · share ₹221.80 as of 13 Aug 2026 (₹888 Cr Jul → ₹806 Cr Aug)</a:t>
            </a:r>
          </a:p>
          <a:p xmlns:a="http://schemas.openxmlformats.org/drawingml/2006/main">
            <a:r>
              <a:t>People —</a:t>
            </a:r>
          </a:p>
          <a:p xmlns:a="http://schemas.openxmlformats.org/drawingml/2006/main">
            <a:r>
              <a:t>Sells: Fasteners; ADAS and driver monitoring for India via the MINIEYE partnership</a:t>
            </a:r>
          </a:p>
          <a:p xmlns:a="http://schemas.openxmlformats.org/drawingml/2006/main">
            <a:r>
              <a:t/>
            </a:r>
          </a:p>
          <a:p xmlns:a="http://schemas.openxmlformats.org/drawingml/2006/main">
            <a:r>
              <a:t>Posture ATTRIBUTED · Evidence EV-STL-01, EV-STL-02</a:t>
            </a:r>
          </a:p>
          <a:p xmlns:a="http://schemas.openxmlformats.org/drawingml/2006/main">
            <a:r>
              <a:t/>
            </a:r>
          </a:p>
          <a:p xmlns:a="http://schemas.openxmlformats.org/drawingml/2006/main">
            <a:r>
              <a:t>The template, not the threat. An Indian component maker attached a foreign perception stack and took the local role — the mirror image of the move DeepGrid needs. At ₹806 Cr, a realistic partner rather than an adversary.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use cases: Sterling Tools × MINIEYE.</a:t>
            </a:r>
          </a:p>
          <a:p xmlns:a="http://schemas.openxmlformats.org/drawingml/2006/main">
            <a:r>
              <a:t/>
            </a:r>
          </a:p>
          <a:p xmlns:a="http://schemas.openxmlformats.org/drawingml/2006/main">
            <a:r>
              <a:t>Pattern: Localisation of a foreign P-VIS + P-DMS stack</a:t>
            </a:r>
          </a:p>
          <a:p xmlns:a="http://schemas.openxmlformats.org/drawingml/2006/main">
            <a:r>
              <a:t>Partner: MINIEYE — Hong-Kong-listed, China-based</a:t>
            </a:r>
          </a:p>
          <a:p xmlns:a="http://schemas.openxmlformats.org/drawingml/2006/main">
            <a:r>
              <a:t>Division of labour: Sterling takes manufacturing, channel and compliance</a:t>
            </a:r>
          </a:p>
          <a:p xmlns:a="http://schemas.openxmlformats.org/drawingml/2006/main">
            <a:r>
              <a:t>Status: Exchange-filed Jan 2026, corroborated across four outlets</a:t>
            </a:r>
          </a:p>
          <a:p xmlns:a="http://schemas.openxmlformats.org/drawingml/2006/main">
            <a:r>
              <a:t>Falsifier: No named Indian OEM nomination — UNFIRED</a:t>
            </a:r>
          </a:p>
          <a:p xmlns:a="http://schemas.openxmlformats.org/drawingml/2006/main">
            <a:r>
              <a:t/>
            </a:r>
          </a:p>
          <a:p xmlns:a="http://schemas.openxmlformats.org/drawingml/2006/main">
            <a:r>
              <a:t>Implication: The template, not the threat. An Indian component maker attached a foreign perception stack and took the local role — the mirror image of the move DeepGrid needs. At ₹806 Cr, a realistic partner rather than an adversary.</a:t>
            </a:r>
          </a:p>
          <a:p xmlns:a="http://schemas.openxmlformats.org/drawingml/2006/main">
            <a:r>
              <a:t>Evidence: EV-STL-01, EV-STL-02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Which evidence supports the fleet-workflow signal, and what remains company-reported?</a:t>
            </a:r>
          </a:p>
          <a:p xmlns:a="http://schemas.openxmlformats.org/drawingml/2006/main">
            <a:r>
              <a:t>A: Treat as route-to-market threat with acceleration potential, but require programme proof before repositioning strategy.</a:t>
            </a:r>
          </a:p>
          <a:p xmlns:a="http://schemas.openxmlformats.org/drawingml/2006/main">
            <a:r>
              <a:t/>
            </a:r>
          </a:p>
          <a:p xmlns:a="http://schemas.openxmlformats.org/drawingml/2006/main">
            <a:r>
              <a:t>Mechanism: An exchange-filed partnership release evidences intent and structure, not production. Nomination, production location and SOP are the facts that would move it from acceleration signal to programme threat.</a:t>
            </a:r>
          </a:p>
          <a:p xmlns:a="http://schemas.openxmlformats.org/drawingml/2006/main">
            <a:r>
              <a:t>Counterargument: There is no supplied evidence of a named Indian OEM nomination, SOP, deployment or homologation for the Sterling×MINIEYE partnership.</a:t>
            </a:r>
          </a:p>
          <a:p xmlns:a="http://schemas.openxmlformats.org/drawingml/2006/main">
            <a:r>
              <a:t>Falsifier: Falsified by a named OEM nomination or SOP, which would convert the channel signal into programme proof.</a:t>
            </a:r>
          </a:p>
          <a:p xmlns:a="http://schemas.openxmlformats.org/drawingml/2006/main">
            <a:r>
              <a:t>Implication: Channel Acceleration Complementary channel and technology capabilities could shorten localisation relative to building every capability internally</a:t>
            </a:r>
          </a:p>
          <a:p xmlns:a="http://schemas.openxmlformats.org/drawingml/2006/main">
            <a:r>
              <a:t>Decision: Treat as a route-to-market threat with acceleration potential; require programme proof before raising the rating.</a:t>
            </a:r>
          </a:p>
          <a:p xmlns:a="http://schemas.openxmlformats.org/drawingml/2006/main">
            <a:r>
              <a:t>Owner: Head of Competitive Intelligence · Trigger: Track RFQs, nominations and production-location milestones.</a:t>
            </a:r>
          </a:p>
          <a:p xmlns:a="http://schemas.openxmlformats.org/drawingml/2006/main">
            <a:r>
              <a:t>Stop/escalate: Stop rating the partnership as a programme threat until a nomination is named.</a:t>
            </a:r>
          </a:p>
          <a:p xmlns:a="http://schemas.openxmlformats.org/drawingml/2006/main">
            <a:r>
              <a:t/>
            </a:r>
          </a:p>
          <a:p xmlns:a="http://schemas.openxmlformats.org/drawingml/2006/main">
            <a:r>
              <a:t>Evidence: S47-01, S47-02, S47-03, S47-04, S47-05, S47-06, S47-07</a:t>
            </a:r>
          </a:p>
          <a:p xmlns:a="http://schemas.openxmlformats.org/drawingml/2006/main">
            <a:r>
              <a:t>Evidence ledger claims S47-01–S47-07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the partnership's threat vary by buying arena, and where should DeepGrid focus?</a:t>
            </a:r>
          </a:p>
          <a:p xmlns:a="http://schemas.openxmlformats.org/drawingml/2006/main">
            <a:r>
              <a:t>A: The partnership matters most in N2/N3 OEM programmes, where nomination and integration decide, and less in government and mining where local access and retrofit decide.</a:t>
            </a:r>
          </a:p>
          <a:p xmlns:a="http://schemas.openxmlformats.org/drawingml/2006/main">
            <a:r>
              <a:t/>
            </a:r>
          </a:p>
          <a:p xmlns:a="http://schemas.openxmlformats.org/drawingml/2006/main">
            <a:r>
              <a:t>Mechanism: Sterling contributes Indian channel and manufacturing, MINIEYE the perception stack. That combination is only decisive where a buyer needs both local production and an integrated stack — which is the OEM programme.</a:t>
            </a:r>
          </a:p>
          <a:p xmlns:a="http://schemas.openxmlformats.org/drawingml/2006/main">
            <a:r>
              <a:t>Counterargument: No named Indian OEM nomination, SOP, or deployment yet verified</a:t>
            </a:r>
          </a:p>
          <a:p xmlns:a="http://schemas.openxmlformats.org/drawingml/2006/main">
            <a:r>
              <a:t>Falsifier: Falsified if the partnership wins a government tender or a mining retrofit award first.</a:t>
            </a:r>
          </a:p>
          <a:p xmlns:a="http://schemas.openxmlformats.org/drawingml/2006/main">
            <a:r>
              <a:t>Implication: Arena Weighting OEM power depends on nomination/integration; government on tender visibility; mining on service</a:t>
            </a:r>
          </a:p>
          <a:p xmlns:a="http://schemas.openxmlformats.org/drawingml/2006/main">
            <a:r>
              <a:t>Decision: Create alerts for named nominations and local-production milestones</a:t>
            </a:r>
          </a:p>
          <a:p xmlns:a="http://schemas.openxmlformats.org/drawingml/2006/main">
            <a:r>
              <a:t>Owner: Head of Competitive Intelligence · Trigger: Alerts on named nominations and local-production milestones.</a:t>
            </a:r>
          </a:p>
          <a:p xmlns:a="http://schemas.openxmlformats.org/drawingml/2006/main">
            <a:r>
              <a:t>Stop/escalate: Escalate on any named OEM nomination.</a:t>
            </a:r>
          </a:p>
          <a:p xmlns:a="http://schemas.openxmlformats.org/drawingml/2006/main">
            <a:r>
              <a:t/>
            </a:r>
          </a:p>
          <a:p xmlns:a="http://schemas.openxmlformats.org/drawingml/2006/main">
            <a:r>
              <a:t>Evidence: S48-01, S48-02, S48-03, S48-04, S48-05, S48-06, S48-07, S48-08, S48-09</a:t>
            </a:r>
          </a:p>
          <a:p xmlns:a="http://schemas.openxmlformats.org/drawingml/2006/main">
            <a:r>
              <a:t>Evidence ledger claims S48-01–S48-09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should DeepGrid fund now, and which observable signal should escalate?</a:t>
            </a:r>
          </a:p>
          <a:p xmlns:a="http://schemas.openxmlformats.org/drawingml/2006/main">
            <a:r>
              <a:t>A: Run a Tier-1 channel test: approach three candidates screened for OEM access and find out whether DeepGrid's package fits a channel that already has one. Sterling×MINIEYE's advantage is channel, so the counter is a channel of DeepGrid's own.</a:t>
            </a:r>
          </a:p>
          <a:p xmlns:a="http://schemas.openxmlformats.org/drawingml/2006/main">
            <a:r>
              <a:t/>
            </a:r>
          </a:p>
          <a:p xmlns:a="http://schemas.openxmlformats.org/drawingml/2006/main">
            <a:r>
              <a:t>Mechanism: A channel partner's willingness to evaluate is itself the market test. It costs three conversations and returns a direct read on whether DeepGrid's integration readiness is real to someone who sells into OEMs.</a:t>
            </a:r>
          </a:p>
          <a:p xmlns:a="http://schemas.openxmlformats.org/drawingml/2006/main">
            <a:r>
              <a:t>Counterargument: A channel partner may see no value if it can source perception from its existing supplier base. The test then returns three rejections and says nothing about product fit.</a:t>
            </a:r>
          </a:p>
          <a:p xmlns:a="http://schemas.openxmlformats.org/drawingml/2006/main">
            <a:r>
              <a:t>Falsifier: Falsify if integration readiness assessment reveals technical gaps</a:t>
            </a:r>
          </a:p>
          <a:p xmlns:a="http://schemas.openxmlformats.org/drawingml/2006/main">
            <a:r>
              <a:t>Implication: Use partner appetite as market test Quickly validate DeepGrid's integration readiness and commercial viability</a:t>
            </a:r>
          </a:p>
          <a:p xmlns:a="http://schemas.openxmlformats.org/drawingml/2006/main">
            <a:r>
              <a:t>Decision: Authorize BD to contact three Tier-1 candidates Monday, screened for OEM access</a:t>
            </a:r>
          </a:p>
          <a:p xmlns:a="http://schemas.openxmlformats.org/drawingml/2006/main">
            <a:r>
              <a:t>Owner: Head of Business Development · Trigger: Within 30 days, one candidate signs technical evaluation or joint RFQ</a:t>
            </a:r>
          </a:p>
          <a:p xmlns:a="http://schemas.openxmlformats.org/drawingml/2006/main">
            <a:r>
              <a:t>Stop/escalate: Stop if no candidate signs a technical evaluation or joint RFQ within 30 days.</a:t>
            </a:r>
          </a:p>
          <a:p xmlns:a="http://schemas.openxmlformats.org/drawingml/2006/main">
            <a:r>
              <a:t/>
            </a:r>
          </a:p>
          <a:p xmlns:a="http://schemas.openxmlformats.org/drawingml/2006/main">
            <a:r>
              <a:t>Evidence: S33-01, S33-02, S33-03, S33-04, S33-05, S33-06, S33-07, S33-08, S33-09, S33-10, S33-11, S33-12, S33-13</a:t>
            </a:r>
          </a:p>
          <a:p xmlns:a="http://schemas.openxmlformats.org/drawingml/2006/main">
            <a:r>
              <a:t>Evidence ledger claims S33-01–S33-13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materially raise or lower their threat rating in India ADAS market?</a:t>
            </a:r>
          </a:p>
          <a:p xmlns:a="http://schemas.openxmlformats.org/drawingml/2006/main">
            <a:r>
              <a:t>A: The rating turns on production integration: a partnership announcement is not a programme. OEM contracts, deployment data and service-capability proof would raise it; their continued absence lowers it.</a:t>
            </a:r>
          </a:p>
          <a:p xmlns:a="http://schemas.openxmlformats.org/drawingml/2006/main">
            <a:r>
              <a:t/>
            </a:r>
          </a:p>
          <a:p xmlns:a="http://schemas.openxmlformats.org/drawingml/2006/main">
            <a:r>
              <a:t>Mechanism: A channel partnership shortens the path to a nomination but does not constitute one. Until a named contract or deployment record exists, the threat is potential rather than realised.</a:t>
            </a:r>
          </a:p>
          <a:p xmlns:a="http://schemas.openxmlformats.org/drawingml/2006/main">
            <a:r>
              <a:t>Counterargument: A Tier-1-style integration path can move quickly once a nomination exists, so the current absence of proof may reflect an early stage rather than weakness.</a:t>
            </a:r>
          </a:p>
          <a:p xmlns:a="http://schemas.openxmlformats.org/drawingml/2006/main">
            <a:r>
              <a:t>Falsifier: No production integration by Q2 2027</a:t>
            </a:r>
          </a:p>
          <a:p xmlns:a="http://schemas.openxmlformats.org/drawingml/2006/main">
            <a:r>
              <a:t>Implication: Evidence Required OEM contracts, deployment data, service capability proof</a:t>
            </a:r>
          </a:p>
          <a:p xmlns:a="http://schemas.openxmlformats.org/drawingml/2006/main">
            <a:r>
              <a:t>Decision: Hold at monitor; require OEM contracts, deployment data and service-capability proof before raising the rating.</a:t>
            </a:r>
          </a:p>
          <a:p xmlns:a="http://schemas.openxmlformats.org/drawingml/2006/main">
            <a:r>
              <a:t>Owner: Head of Competitive Intelligence · Trigger: Any named OEM contract or deployment record.</a:t>
            </a:r>
          </a:p>
          <a:p xmlns:a="http://schemas.openxmlformats.org/drawingml/2006/main">
            <a:r>
              <a:t>Stop/escalate: Escalate if no production integration is evidenced by Q2 2027.</a:t>
            </a:r>
          </a:p>
          <a:p xmlns:a="http://schemas.openxmlformats.org/drawingml/2006/main">
            <a:r>
              <a:t/>
            </a:r>
          </a:p>
          <a:p xmlns:a="http://schemas.openxmlformats.org/drawingml/2006/main">
            <a:r>
              <a:t>Evidence: S64-01, S64-02, S64-03, S64-04, S64-05, S64-06</a:t>
            </a:r>
          </a:p>
          <a:p xmlns:a="http://schemas.openxmlformats.org/drawingml/2006/main">
            <a:r>
              <a:t>Evidence ledger claims S64-01–S64-06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 bitsensing.</a:t>
            </a:r>
          </a:p>
          <a:p xmlns:a="http://schemas.openxmlformats.org/drawingml/2006/main">
            <a:r>
              <a:t/>
            </a:r>
          </a:p>
          <a:p xmlns:a="http://schemas.openxmlformats.org/drawingml/2006/main">
            <a:r>
              <a:t>bitsensing Inc.</a:t>
            </a:r>
          </a:p>
          <a:p xmlns:a="http://schemas.openxmlformats.org/drawingml/2006/main">
            <a:r>
              <a:t>Founded 2018 (CEO Jae-Eun Lee)</a:t>
            </a:r>
          </a:p>
          <a:p xmlns:a="http://schemas.openxmlformats.org/drawingml/2006/main">
            <a:r>
              <a:t>Seongnam, South Korea</a:t>
            </a:r>
          </a:p>
          <a:p xmlns:a="http://schemas.openxmlformats.org/drawingml/2006/main">
            <a:r>
              <a:t>PRIVATE NXP radar partnership since Dec 2024</a:t>
            </a:r>
          </a:p>
          <a:p xmlns:a="http://schemas.openxmlformats.org/drawingml/2006/main">
            <a:r>
              <a:t>Value $42m raised $25m Series B Apr 2026 as of 5 rounds, 18 investors (led by HL Mando)</a:t>
            </a:r>
          </a:p>
          <a:p xmlns:a="http://schemas.openxmlformats.org/drawingml/2006/main">
            <a:r>
              <a:t>People —</a:t>
            </a:r>
          </a:p>
          <a:p xmlns:a="http://schemas.openxmlformats.org/drawingml/2006/main">
            <a:r>
              <a:t>Sells: Imaging radar and sensor fusion; India retrofit ADAS kit (Feb 2026) via IKIO channel MoU</a:t>
            </a:r>
          </a:p>
          <a:p xmlns:a="http://schemas.openxmlformats.org/drawingml/2006/main">
            <a:r>
              <a:t/>
            </a:r>
          </a:p>
          <a:p xmlns:a="http://schemas.openxmlformats.org/drawingml/2006/main">
            <a:r>
              <a:t>Posture VERIFIED · Evidence EV-BIT-01 … EV-BIT-03</a:t>
            </a:r>
          </a:p>
          <a:p xmlns:a="http://schemas.openxmlformats.org/drawingml/2006/main">
            <a:r>
              <a:t/>
            </a:r>
          </a:p>
          <a:p xmlns:a="http://schemas.openxmlformats.org/drawingml/2006/main">
            <a:r>
              <a:t>Well funded but structurally capped. Evidence that retrofit demand is real — not a line-fit threat.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use cases: bitsensing.</a:t>
            </a:r>
          </a:p>
          <a:p xmlns:a="http://schemas.openxmlformats.org/drawingml/2006/main">
            <a:r>
              <a:t/>
            </a:r>
          </a:p>
          <a:p xmlns:a="http://schemas.openxmlformats.org/drawingml/2006/main">
            <a:r>
              <a:t>Pattern: P-RAD / P-FUSE — stops short of P-ACT</a:t>
            </a:r>
          </a:p>
          <a:p xmlns:a="http://schemas.openxmlformats.org/drawingml/2006/main">
            <a:r>
              <a:t>Functions: BSIS, SVM, RCW, FVSA, FCW, MOIS — warning-only, NO AEB</a:t>
            </a:r>
          </a:p>
          <a:p xmlns:a="http://schemas.openxmlformats.org/drawingml/2006/main">
            <a:r>
              <a:t>Silicon: NXP partnership for scalable radar across industries</a:t>
            </a:r>
          </a:p>
          <a:p xmlns:a="http://schemas.openxmlformats.org/drawingml/2006/main">
            <a:r>
              <a:t>Adjacent: Radar sleep-care for hospitals — a non-automotive revenue line</a:t>
            </a:r>
          </a:p>
          <a:p xmlns:a="http://schemas.openxmlformats.org/drawingml/2006/main">
            <a:r>
              <a:t>Ceiling: Cannot reach certified AEBS at any price</a:t>
            </a:r>
          </a:p>
          <a:p xmlns:a="http://schemas.openxmlformats.org/drawingml/2006/main">
            <a:r>
              <a:t/>
            </a:r>
          </a:p>
          <a:p xmlns:a="http://schemas.openxmlformats.org/drawingml/2006/main">
            <a:r>
              <a:t>Implication: Well funded but structurally capped. Evidence that retrofit demand is real — not a line-fit threat.</a:t>
            </a:r>
          </a:p>
          <a:p xmlns:a="http://schemas.openxmlformats.org/drawingml/2006/main">
            <a:r>
              <a:t>Evidence: EV-BIT-01 … EV-BIT-03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facts support bitsensing's relevance, and which parts of the proposition remain unproven?</a:t>
            </a:r>
          </a:p>
          <a:p xmlns:a="http://schemas.openxmlformats.org/drawingml/2006/main">
            <a:r>
              <a:t>A: bitsensing reports funding and automotive development partnerships, supporting a case for technical adjacency. The supplied record does not independently establish an automotive-qualified product, programme or brake-integration capability.</a:t>
            </a:r>
          </a:p>
          <a:p xmlns:a="http://schemas.openxmlformats.org/drawingml/2006/main">
            <a:r>
              <a:t/>
            </a:r>
          </a:p>
          <a:p xmlns:a="http://schemas.openxmlformats.org/drawingml/2006/main">
            <a:r>
              <a:t>Mechanism: Radar adjacency makes bitsensing a plausible partner rather than a rival: it strengthens the sensing layer DeepGrid does not own. That value is conditional on retrofit proof it has not yet shown.</a:t>
            </a:r>
          </a:p>
          <a:p xmlns:a="http://schemas.openxmlformats.org/drawingml/2006/main">
            <a:r>
              <a:t>Counterargument: A US$25m Series B and automotive development partnerships evidence investor confidence, not Indian retrofit capability. Treating funding as a proxy for programme readiness is exactly the substitution the ledger flags.</a:t>
            </a:r>
          </a:p>
          <a:p xmlns:a="http://schemas.openxmlformats.org/drawingml/2006/main">
            <a:r>
              <a:t>Falsifier: Falsified by a named Indian Tier-1 programme, sensor qualification evidence, or a retrofit deployment record.</a:t>
            </a:r>
          </a:p>
          <a:p xmlns:a="http://schemas.openxmlformats.org/drawingml/2006/main">
            <a:r>
              <a:t>Implication: Radar Partnership Treat as conditional radar partner; use retrofit pilots for proof</a:t>
            </a:r>
          </a:p>
          <a:p xmlns:a="http://schemas.openxmlformats.org/drawingml/2006/main">
            <a:r>
              <a:t>Decision: Escalate on named programme evidence; Owner: CI</a:t>
            </a:r>
          </a:p>
          <a:p xmlns:a="http://schemas.openxmlformats.org/drawingml/2006/main">
            <a:r>
              <a:t>Owner: Head of Competitive Intelligence · Trigger: Any named programme evidence.</a:t>
            </a:r>
          </a:p>
          <a:p xmlns:a="http://schemas.openxmlformats.org/drawingml/2006/main">
            <a:r>
              <a:t>Stop/escalate: Stop treating 'automotive-grade' supplier wording as qualification evidence.</a:t>
            </a:r>
          </a:p>
          <a:p xmlns:a="http://schemas.openxmlformats.org/drawingml/2006/main">
            <a:r>
              <a:t/>
            </a:r>
          </a:p>
          <a:p xmlns:a="http://schemas.openxmlformats.org/drawingml/2006/main">
            <a:r>
              <a:t>Evidence: S49-01, S49-02, S49-03, S49-04, S49-05, S49-06, S49-07, S49-08, S49-09</a:t>
            </a:r>
          </a:p>
          <a:p xmlns:a="http://schemas.openxmlformats.org/drawingml/2006/main">
            <a:r>
              <a:t>Evidence ledger claims S49-01–S49-09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bitsensing's competitive power change by buying arena?</a:t>
            </a:r>
          </a:p>
          <a:p xmlns:a="http://schemas.openxmlformats.org/drawingml/2006/main">
            <a:r>
              <a:t>A: bitsensing is strongest in visibility-constrained private sites, where dust and weather resilience decide, and weak in government where approval and eligibility decide.</a:t>
            </a:r>
          </a:p>
          <a:p xmlns:a="http://schemas.openxmlformats.org/drawingml/2006/main">
            <a:r>
              <a:t/>
            </a:r>
          </a:p>
          <a:p xmlns:a="http://schemas.openxmlformats.org/drawingml/2006/main">
            <a:r>
              <a:t>Mechanism: Radar's advantage is physical, not commercial. It converts into wins only where the operating environment defeats cameras and the buyer controls its own approval.</a:t>
            </a:r>
          </a:p>
          <a:p xmlns:a="http://schemas.openxmlformats.org/drawingml/2006/main">
            <a:r>
              <a:t>Counterargument: Radar's visibility advantage could become a general requirement rather than a site-specific one if adverse-weather performance enters tender scoring.</a:t>
            </a:r>
          </a:p>
          <a:p xmlns:a="http://schemas.openxmlformats.org/drawingml/2006/main">
            <a:r>
              <a:t>Falsifier: Falsified if bitsensing wins a government tender or an OEM nomination.</a:t>
            </a:r>
          </a:p>
          <a:p xmlns:a="http://schemas.openxmlformats.org/drawingml/2006/main">
            <a:r>
              <a:t>Implication: Threat Mechanism Need for visibility resilience raises threat; approval demands lower it</a:t>
            </a:r>
          </a:p>
          <a:p xmlns:a="http://schemas.openxmlformats.org/drawingml/2006/main">
            <a:r>
              <a:t>Decision: Add dust, visibility and serviceability scenarios to partner evaluation</a:t>
            </a:r>
          </a:p>
          <a:p xmlns:a="http://schemas.openxmlformats.org/drawingml/2006/main">
            <a:r>
              <a:t>Owner: Head of Engineering · Trigger: Add dust, visibility and serviceability scenarios to the next partner evaluation.</a:t>
            </a:r>
          </a:p>
          <a:p xmlns:a="http://schemas.openxmlformats.org/drawingml/2006/main">
            <a:r>
              <a:t>Stop/escalate: Escalate if radar resilience appears as a scored tender criterion.</a:t>
            </a:r>
          </a:p>
          <a:p xmlns:a="http://schemas.openxmlformats.org/drawingml/2006/main">
            <a:r>
              <a:t/>
            </a:r>
          </a:p>
          <a:p xmlns:a="http://schemas.openxmlformats.org/drawingml/2006/main">
            <a:r>
              <a:t>Evidence: S50-01, S50-02, S50-03, S50-04, S50-05, S50-06, S50-07</a:t>
            </a:r>
          </a:p>
          <a:p xmlns:a="http://schemas.openxmlformats.org/drawingml/2006/main">
            <a:r>
              <a:t>Evidence ledger claims S50-01–S50-07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response should DeepGrid fund now, and which observable signal should escalate investment?</a:t>
            </a:r>
          </a:p>
          <a:p xmlns:a="http://schemas.openxmlformats.org/drawingml/2006/main">
            <a:r>
              <a:t>A: Fund one reversible technical-commercial call with bitsensing inside the mining pilots, and withhold any broader partnership until qualified sensor evidence exists.</a:t>
            </a:r>
          </a:p>
          <a:p xmlns:a="http://schemas.openxmlformats.org/drawingml/2006/main">
            <a:r>
              <a:t/>
            </a:r>
          </a:p>
          <a:p xmlns:a="http://schemas.openxmlformats.org/drawingml/2006/main">
            <a:r>
              <a:t>Mechanism: Mining is already the fastest proof arena, so a radar option can be tested there at no additional access cost. Making the call reversible is what keeps a partner test from becoming a commitment.</a:t>
            </a:r>
          </a:p>
          <a:p xmlns:a="http://schemas.openxmlformats.org/drawingml/2006/main">
            <a:r>
              <a:t>Counterargument: bitsensing may not deliver the expected radar performance in Indian dust and vibration conditions, in which case the pilot absorbs schedule without producing a partner.</a:t>
            </a:r>
          </a:p>
          <a:p xmlns:a="http://schemas.openxmlformats.org/drawingml/2006/main">
            <a:r>
              <a:t>Falsifier: Stop if technical evaluation reveals integration incompatibilities</a:t>
            </a:r>
          </a:p>
          <a:p xmlns:a="http://schemas.openxmlformats.org/drawingml/2006/main">
            <a:r>
              <a:t>Implication: Use bitsensing as testable option Treat as conditional radar partner within mining-pilot framework</a:t>
            </a:r>
          </a:p>
          <a:p xmlns:a="http://schemas.openxmlformats.org/drawingml/2006/main">
            <a:r>
              <a:t>Decision: Authorize one reversible technical-commercial call and withhold broader partnership</a:t>
            </a:r>
          </a:p>
          <a:p xmlns:a="http://schemas.openxmlformats.org/drawingml/2006/main">
            <a:r>
              <a:t>Owner: Head of Partnerships · Trigger: Escalate when the call confirms qualified sensor scope, India support, and integration fit</a:t>
            </a:r>
          </a:p>
          <a:p xmlns:a="http://schemas.openxmlformats.org/drawingml/2006/main">
            <a:r>
              <a:t>Stop/escalate: Stop at the call if qualified sensor evidence is not confirmed.</a:t>
            </a:r>
          </a:p>
          <a:p xmlns:a="http://schemas.openxmlformats.org/drawingml/2006/main">
            <a:r>
              <a:t/>
            </a:r>
          </a:p>
          <a:p xmlns:a="http://schemas.openxmlformats.org/drawingml/2006/main">
            <a:r>
              <a:t>Evidence: S65-01, S65-02, S65-03, S65-04, S65-05, S65-06</a:t>
            </a:r>
          </a:p>
          <a:p xmlns:a="http://schemas.openxmlformats.org/drawingml/2006/main">
            <a:r>
              <a:t>Evidence ledger claims S65-01–S65-06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materially raise or lower bitsensing's threat rating?</a:t>
            </a:r>
          </a:p>
          <a:p xmlns:a="http://schemas.openxmlformats.org/drawingml/2006/main">
            <a:r>
              <a:t>A: The credible operating hypothesis is radar partnership, not proven India full-AEBS competition: technical and funding signals exist, but vehicle qualification, homologation, and commercial traction remain unverified. The view is falsified by a named Tier-1 programme or ARAI-approved deployment.</a:t>
            </a:r>
          </a:p>
          <a:p xmlns:a="http://schemas.openxmlformats.org/drawingml/2006/main">
            <a:r>
              <a:t/>
            </a:r>
          </a:p>
          <a:p xmlns:a="http://schemas.openxmlformats.org/drawingml/2006/main">
            <a:r>
              <a:t>Mechanism: Funding and development partnerships evidence a radar business, not an India AEBS position. Until a named programme or approved deployment exists, the credible hypothesis is partnership rather than competition.</a:t>
            </a:r>
          </a:p>
          <a:p xmlns:a="http://schemas.openxmlformats.org/drawingml/2006/main">
            <a:r>
              <a:t>Counterargument: If bitsensing secures an Indian Tier-1 programme it converts from partner to competitor overnight — and DeepGrid will have shared its perception requirements with a rival.</a:t>
            </a:r>
          </a:p>
          <a:p xmlns:a="http://schemas.openxmlformats.org/drawingml/2006/main">
            <a:r>
              <a:t>Falsifier: Complementary technology may still lack viable economics or market access. Falsify the low-threat view with a named Tier-1 programme or ARAI-approved deployment.</a:t>
            </a:r>
          </a:p>
          <a:p xmlns:a="http://schemas.openxmlformats.org/drawingml/2006/main">
            <a:r>
              <a:t>Implication: Evidence Requirement Require named Tier-1 programme or ARAI-approved deployment to escalate threat</a:t>
            </a:r>
          </a:p>
          <a:p xmlns:a="http://schemas.openxmlformats.org/drawingml/2006/main">
            <a:r>
              <a:t>Decision: Hold bitsensing as a conditional radar partner with low direct AEBS threat.</a:t>
            </a:r>
          </a:p>
          <a:p xmlns:a="http://schemas.openxmlformats.org/drawingml/2006/main">
            <a:r>
              <a:t>Owner: Head of Engineering · Trigger: A named Tier-1 programme or an ARAI-approved deployment.</a:t>
            </a:r>
          </a:p>
          <a:p xmlns:a="http://schemas.openxmlformats.org/drawingml/2006/main">
            <a:r>
              <a:t>Stop/escalate: Escalate if bitsensing announces an Indian Tier-1 programme.</a:t>
            </a:r>
          </a:p>
          <a:p xmlns:a="http://schemas.openxmlformats.org/drawingml/2006/main">
            <a:r>
              <a:t/>
            </a:r>
          </a:p>
          <a:p xmlns:a="http://schemas.openxmlformats.org/drawingml/2006/main">
            <a:r>
              <a:t>Evidence: S66-01, S66-02, S66-03, S66-04, S66-05</a:t>
            </a:r>
          </a:p>
          <a:p xmlns:a="http://schemas.openxmlformats.org/drawingml/2006/main">
            <a:r>
              <a:t>Evidence ledger claims S66-01–S66-05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 Netrasemi.</a:t>
            </a:r>
          </a:p>
          <a:p xmlns:a="http://schemas.openxmlformats.org/drawingml/2006/main">
            <a:r>
              <a:t/>
            </a:r>
          </a:p>
          <a:p xmlns:a="http://schemas.openxmlformats.org/drawingml/2006/main">
            <a:r>
              <a:t>Netrasemi Private Limited</a:t>
            </a:r>
          </a:p>
          <a:p xmlns:a="http://schemas.openxmlformats.org/drawingml/2006/main">
            <a:r>
              <a:t>Founded 2020 (Fabless · Design Linked Incentive support)</a:t>
            </a:r>
          </a:p>
          <a:p xmlns:a="http://schemas.openxmlformats.org/drawingml/2006/main">
            <a:r>
              <a:t>Thiruvananthapuram, Kerala, India</a:t>
            </a:r>
          </a:p>
          <a:p xmlns:a="http://schemas.openxmlformats.org/drawingml/2006/main">
            <a:r>
              <a:t>PRIVATE Zoho-backed</a:t>
            </a:r>
          </a:p>
          <a:p xmlns:a="http://schemas.openxmlformats.org/drawingml/2006/main">
            <a:r>
              <a:t>Value ₹107 Cr Series A, Jul 2025 as of Zoho ₹87 Cr + UIV ₹16.5 Cr (commercial mid-2027)</a:t>
            </a:r>
          </a:p>
          <a:p xmlns:a="http://schemas.openxmlformats.org/drawingml/2006/main">
            <a:r>
              <a:t>People —</a:t>
            </a:r>
          </a:p>
          <a:p xmlns:a="http://schemas.openxmlformats.org/drawingml/2006/main">
            <a:r>
              <a:t>Sells: A2000 edge-AI SoC and chiplet-based architectures for edge computing</a:t>
            </a:r>
          </a:p>
          <a:p xmlns:a="http://schemas.openxmlformats.org/drawingml/2006/main">
            <a:r>
              <a:t/>
            </a:r>
          </a:p>
          <a:p xmlns:a="http://schemas.openxmlformats.org/drawingml/2006/main">
            <a:r>
              <a:t>Posture ATTRIBUTED · Evidence EV-NTR-01 … EV-NTR-03</a:t>
            </a:r>
          </a:p>
          <a:p xmlns:a="http://schemas.openxmlformats.org/drawingml/2006/main">
            <a:r>
              <a:t/>
            </a:r>
          </a:p>
          <a:p xmlns:a="http://schemas.openxmlformats.org/drawingml/2006/main">
            <a:r>
              <a:t>Adjacent with an expiry date. It demotes 'India-native' as a differentiator on its own, and its mid-2027 window lands inside the all-models deadline. Re-test before mid-2027.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use cases: Netrasemi.</a:t>
            </a:r>
          </a:p>
          <a:p xmlns:a="http://schemas.openxmlformats.org/drawingml/2006/main">
            <a:r>
              <a:t/>
            </a:r>
          </a:p>
          <a:p xmlns:a="http://schemas.openxmlformats.org/drawingml/2006/main">
            <a:r>
              <a:t>Pattern: Silicon substrate for P-VIS — not a perception product</a:t>
            </a:r>
          </a:p>
          <a:p xmlns:a="http://schemas.openxmlformats.org/drawingml/2006/main">
            <a:r>
              <a:t>A2000: In-house NPU + VPU + ISP + crypto engines on TSMC 12nm</a:t>
            </a:r>
          </a:p>
          <a:p xmlns:a="http://schemas.openxmlformats.org/drawingml/2006/main">
            <a:r>
              <a:t>Status: Production-ready May 2026; trials in surveillance and automotive</a:t>
            </a:r>
          </a:p>
          <a:p xmlns:a="http://schemas.openxmlformats.org/drawingml/2006/main">
            <a:r>
              <a:t>Timing: Commercial mid-2027 — inside the AEBS all-models window</a:t>
            </a:r>
          </a:p>
          <a:p xmlns:a="http://schemas.openxmlformats.org/drawingml/2006/main">
            <a:r>
              <a:t>Gap: NO AIS, AEC-Q100 or ISO 26262 claim — not a certified ADAS part</a:t>
            </a:r>
          </a:p>
          <a:p xmlns:a="http://schemas.openxmlformats.org/drawingml/2006/main">
            <a:r>
              <a:t/>
            </a:r>
          </a:p>
          <a:p xmlns:a="http://schemas.openxmlformats.org/drawingml/2006/main">
            <a:r>
              <a:t>Implication: Adjacent with an expiry date. It demotes 'India-native' as a differentiator on its own, and its mid-2027 window lands inside the all-models deadline. Re-test before mid-2027.</a:t>
            </a:r>
          </a:p>
          <a:p xmlns:a="http://schemas.openxmlformats.org/drawingml/2006/main">
            <a:r>
              <a:t>Evidence: EV-NTR-01 … EV-NTR-03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does Netrasemi's evidence profile prove—and what remains unproven for automotive?</a:t>
            </a:r>
          </a:p>
          <a:p xmlns:a="http://schemas.openxmlformats.org/drawingml/2006/main">
            <a:r>
              <a:t>A: Treat as adjacent compute option; not ADAS competitor. DeepGrid should anchor on application evidence and automotive work products.</a:t>
            </a:r>
          </a:p>
          <a:p xmlns:a="http://schemas.openxmlformats.org/drawingml/2006/main">
            <a:r>
              <a:t/>
            </a:r>
          </a:p>
          <a:p xmlns:a="http://schemas.openxmlformats.org/drawingml/2006/main">
            <a:r>
              <a:t>Mechanism: DLI support evidences industrial policy, not automotive qualification. Converting one into the other requires nomination, road deployment and approval — none of which is in evidence.</a:t>
            </a:r>
          </a:p>
          <a:p xmlns:a="http://schemas.openxmlformats.org/drawingml/2006/main">
            <a:r>
              <a:t>Counterargument: Government DLI support could convert into automotive readiness faster than expected if a programme sponsor pushes it, leaving DeepGrid facing a state-backed compute competitor.</a:t>
            </a:r>
          </a:p>
          <a:p xmlns:a="http://schemas.openxmlformats.org/drawingml/2006/main">
            <a:r>
              <a:t>Falsifier: Falsified by an OEM nomination, an on-road deployment, or ARAI/AIS-162 qualification for Netrasemi.</a:t>
            </a:r>
          </a:p>
          <a:p xmlns:a="http://schemas.openxmlformats.org/drawingml/2006/main">
            <a:r>
              <a:t>Implication: Remove Sovereignty Remove sovereignty as standalone government-pitch differentiator</a:t>
            </a:r>
          </a:p>
          <a:p xmlns:a="http://schemas.openxmlformats.org/drawingml/2006/main">
            <a:r>
              <a:t>Decision: Classify Netrasemi as an adjacent compute option, not an ADAS competitor; anchor differentiation on application evidence.</a:t>
            </a:r>
          </a:p>
          <a:p xmlns:a="http://schemas.openxmlformats.org/drawingml/2006/main">
            <a:r>
              <a:t>Owner: Head of Competitive Intelligence · Trigger: Any Netrasemi automotive qualification or nomination.</a:t>
            </a:r>
          </a:p>
          <a:p xmlns:a="http://schemas.openxmlformats.org/drawingml/2006/main">
            <a:r>
              <a:t>Stop/escalate: Stop using sovereignty as a standalone government-pitch differentiator.</a:t>
            </a:r>
          </a:p>
          <a:p xmlns:a="http://schemas.openxmlformats.org/drawingml/2006/main">
            <a:r>
              <a:t/>
            </a:r>
          </a:p>
          <a:p xmlns:a="http://schemas.openxmlformats.org/drawingml/2006/main">
            <a:r>
              <a:t>Evidence: S51-01, S51-02, S51-03, S51-04, S51-05, S51-06</a:t>
            </a:r>
          </a:p>
          <a:p xmlns:a="http://schemas.openxmlformats.org/drawingml/2006/main">
            <a:r>
              <a:t>Evidence ledger claims S51-01–S51-06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Netrasemi's threat change by buying arena, and where should DeepGrid focus?</a:t>
            </a:r>
          </a:p>
          <a:p xmlns:a="http://schemas.openxmlformats.org/drawingml/2006/main">
            <a:r>
              <a:t>A: Netrasemi's threat sits in government positioning, where DLI support and indigenous compute carry weight, and stays low-medium elsewhere where automotive qualification decides.</a:t>
            </a:r>
          </a:p>
          <a:p xmlns:a="http://schemas.openxmlformats.org/drawingml/2006/main">
            <a:r>
              <a:t/>
            </a:r>
          </a:p>
          <a:p xmlns:a="http://schemas.openxmlformats.org/drawingml/2006/main">
            <a:r>
              <a:t>Mechanism: Indigenous-compute credentials are currency only in the arena that scores them. In OEM and fleet buying the same credentials buy nothing without qualification evidence.</a:t>
            </a:r>
          </a:p>
          <a:p xmlns:a="http://schemas.openxmlformats.org/drawingml/2006/main">
            <a:r>
              <a:t>Counterargument: A state-backed indigenous supplier can be written into a tender specification, which would raise its government threat well above what its automotive evidence supports.</a:t>
            </a:r>
          </a:p>
          <a:p xmlns:a="http://schemas.openxmlformats.org/drawingml/2006/main">
            <a:r>
              <a:t>Falsifier: Falsified if Netrasemi appears in an OEM nomination or a fleet award.</a:t>
            </a:r>
          </a:p>
          <a:p xmlns:a="http://schemas.openxmlformats.org/drawingml/2006/main">
            <a:r>
              <a:t>Implication: Treat Netrasemi as an adjacent compute option and anchor DeepGrid's differentiation</a:t>
            </a:r>
          </a:p>
          <a:p xmlns:a="http://schemas.openxmlformats.org/drawingml/2006/main">
            <a:r>
              <a:t>Decision: Remove sovereignty as standalone government-pitch differentiator</a:t>
            </a:r>
          </a:p>
          <a:p xmlns:a="http://schemas.openxmlformats.org/drawingml/2006/main">
            <a:r>
              <a:t>Owner: Head of Government Sales · Trigger: Monitor government tender specifications for indigenous-compute clauses.</a:t>
            </a:r>
          </a:p>
          <a:p xmlns:a="http://schemas.openxmlformats.org/drawingml/2006/main">
            <a:r>
              <a:t>Stop/escalate: Escalate if a tender specifies indigenous compute as a scored criterion.</a:t>
            </a:r>
          </a:p>
          <a:p xmlns:a="http://schemas.openxmlformats.org/drawingml/2006/main">
            <a:r>
              <a:t/>
            </a:r>
          </a:p>
          <a:p xmlns:a="http://schemas.openxmlformats.org/drawingml/2006/main">
            <a:r>
              <a:t>Evidence: S52-01, S52-02, S52-03, S52-04, S52-05, S52-06</a:t>
            </a:r>
          </a:p>
          <a:p xmlns:a="http://schemas.openxmlformats.org/drawingml/2006/main">
            <a:r>
              <a:t>Evidence ledger claims S52-01–S52-06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response should DeepGrid fund now, and what signal should escalate commitment?</a:t>
            </a:r>
          </a:p>
          <a:p xmlns:a="http://schemas.openxmlformats.org/drawingml/2006/main">
            <a:r>
              <a:t>A: Fund one non-exclusive technical scoping call and make no partnership commitment. Coexistence is plausible only if Netrasemi supplies compute while DeepGrid retains the perception layer.</a:t>
            </a:r>
          </a:p>
          <a:p xmlns:a="http://schemas.openxmlformats.org/drawingml/2006/main">
            <a:r>
              <a:t/>
            </a:r>
          </a:p>
          <a:p xmlns:a="http://schemas.openxmlformats.org/drawingml/2006/main">
            <a:r>
              <a:t>Mechanism: The two companies occupy different layers, so complementarity is possible in principle. A non-exclusive call tests that at the cost of one meeting and without conceding the perception IP.</a:t>
            </a:r>
          </a:p>
          <a:p xmlns:a="http://schemas.openxmlformats.org/drawingml/2006/main">
            <a:r>
              <a:t>Counterargument: Coexistence may dilute DeepGrid's differentiation if the market reads a compute partnership as a shared product — and government support could make Netrasemi the preferred half of the pair.</a:t>
            </a:r>
          </a:p>
          <a:p xmlns:a="http://schemas.openxmlformats.org/drawingml/2006/main">
            <a:r>
              <a:t>Falsifier: Falsify coexistence if scoping reveals competitive overlap in core perception functions</a:t>
            </a:r>
          </a:p>
          <a:p xmlns:a="http://schemas.openxmlformats.org/drawingml/2006/main">
            <a:r>
              <a:t>Implication: Protect perception IP Compete on application proof while preserving strategic options</a:t>
            </a:r>
          </a:p>
          <a:p xmlns:a="http://schemas.openxmlformats.org/drawingml/2006/main">
            <a:r>
              <a:t>Decision: Authorize one non-exclusive technical scoping call; make no partnership commitment</a:t>
            </a:r>
          </a:p>
          <a:p xmlns:a="http://schemas.openxmlformats.org/drawingml/2006/main">
            <a:r>
              <a:t>Owner: Head of Partnerships · Trigger: Escalate only if the call identifies complementary roles, automotive feasibility</a:t>
            </a:r>
          </a:p>
          <a:p xmlns:a="http://schemas.openxmlformats.org/drawingml/2006/main">
            <a:r>
              <a:t>Stop/escalate: Make no partnership commitment at the scoping call; escalate only on identified complementarity.</a:t>
            </a:r>
          </a:p>
          <a:p xmlns:a="http://schemas.openxmlformats.org/drawingml/2006/main">
            <a:r>
              <a:t/>
            </a:r>
          </a:p>
          <a:p xmlns:a="http://schemas.openxmlformats.org/drawingml/2006/main">
            <a:r>
              <a:t>Evidence: S67-01, S67-02, S67-03, S67-04, S67-05, S67-06</a:t>
            </a:r>
          </a:p>
          <a:p xmlns:a="http://schemas.openxmlformats.org/drawingml/2006/main">
            <a:r>
              <a:t>Evidence ledger claims S67-01–S67-06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falsify the current adjacent-competitor view rather than confirm it?</a:t>
            </a:r>
          </a:p>
          <a:p xmlns:a="http://schemas.openxmlformats.org/drawingml/2006/main">
            <a:r>
              <a:t>A: Netrasemi stays adjacent until a named automotive part, process, qualification or OEM nomination appears. Identification in a government programme is not automotive relevance.</a:t>
            </a:r>
          </a:p>
          <a:p xmlns:a="http://schemas.openxmlformats.org/drawingml/2006/main">
            <a:r>
              <a:t/>
            </a:r>
          </a:p>
          <a:p xmlns:a="http://schemas.openxmlformats.org/drawingml/2006/main">
            <a:r>
              <a:t>Mechanism: The falsifier is specific and cheap to watch: one automotive artifact moves Netrasemi from adjacent to direct. Until it exists, the adjacency verdict is the evidence-supported one.</a:t>
            </a:r>
          </a:p>
          <a:p xmlns:a="http://schemas.openxmlformats.org/drawingml/2006/main">
            <a:r>
              <a:t>Counterargument: No automotive nomination, deployment, or approval artifacts found</a:t>
            </a:r>
          </a:p>
          <a:p xmlns:a="http://schemas.openxmlformats.org/drawingml/2006/main">
            <a:r>
              <a:t>Falsifier: Feasible silicon could still become a direct threat. Falsify the current view with a named automotive part, process/package, qualification/sample evaluation, or customer-side evidence of on-road deployment.</a:t>
            </a:r>
          </a:p>
          <a:p xmlns:a="http://schemas.openxmlformats.org/drawingml/2006/main">
            <a:r>
              <a:t>Implication: Monitor Strategy Differentiate on application evidence and automotive work products</a:t>
            </a:r>
          </a:p>
          <a:p xmlns:a="http://schemas.openxmlformats.org/drawingml/2006/main">
            <a:r>
              <a:t>Decision: Hold Netrasemi as adjacent; differentiate on application evidence and automotive work products.</a:t>
            </a:r>
          </a:p>
          <a:p xmlns:a="http://schemas.openxmlformats.org/drawingml/2006/main">
            <a:r>
              <a:t>Owner: Head of Competitive Intelligence · Trigger: A named automotive part, process, qualification or nomination.</a:t>
            </a:r>
          </a:p>
          <a:p xmlns:a="http://schemas.openxmlformats.org/drawingml/2006/main">
            <a:r>
              <a:t>Stop/escalate: Escalate on any automotive qualification artifact.</a:t>
            </a:r>
          </a:p>
          <a:p xmlns:a="http://schemas.openxmlformats.org/drawingml/2006/main">
            <a:r>
              <a:t/>
            </a:r>
          </a:p>
          <a:p xmlns:a="http://schemas.openxmlformats.org/drawingml/2006/main">
            <a:r>
              <a:t>Evidence: S68-01, S68-02, S68-03, S68-04, S68-05, S68-06</a:t>
            </a:r>
          </a:p>
          <a:p xmlns:a="http://schemas.openxmlformats.org/drawingml/2006/main">
            <a:r>
              <a:t>Evidence ledger claims S68-01–S68-06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 Gahan AI.</a:t>
            </a:r>
          </a:p>
          <a:p xmlns:a="http://schemas.openxmlformats.org/drawingml/2006/main">
            <a:r>
              <a:t/>
            </a:r>
          </a:p>
          <a:p xmlns:a="http://schemas.openxmlformats.org/drawingml/2006/main">
            <a:r>
              <a:t>Gahan AI</a:t>
            </a:r>
          </a:p>
          <a:p xmlns:a="http://schemas.openxmlformats.org/drawingml/2006/main">
            <a:r>
              <a:t>Founded 2020 (Pivoted from edtech to automotive radar in 2023)</a:t>
            </a:r>
          </a:p>
          <a:p xmlns:a="http://schemas.openxmlformats.org/drawingml/2006/main">
            <a:r>
              <a:t>Bengaluru, Karnataka, India</a:t>
            </a:r>
          </a:p>
          <a:p xmlns:a="http://schemas.openxmlformats.org/drawingml/2006/main">
            <a:r>
              <a:t>PRIVATE Valuation not established</a:t>
            </a:r>
          </a:p>
          <a:p xmlns:a="http://schemas.openxmlformats.org/drawingml/2006/main">
            <a:r>
              <a:t>Value 15 people +39.1% YoY (+9) as of Jun 2026 (no funding disclosed)</a:t>
            </a:r>
          </a:p>
          <a:p xmlns:a="http://schemas.openxmlformats.org/drawingml/2006/main">
            <a:r>
              <a:t>People 15</a:t>
            </a:r>
          </a:p>
          <a:p xmlns:a="http://schemas.openxmlformats.org/drawingml/2006/main">
            <a:r>
              <a:t>Sells: DRWIG — claimed 77GHz FMCW 4D point-cloud radar platform, silicon to software</a:t>
            </a:r>
          </a:p>
          <a:p xmlns:a="http://schemas.openxmlformats.org/drawingml/2006/main">
            <a:r>
              <a:t/>
            </a:r>
          </a:p>
          <a:p xmlns:a="http://schemas.openxmlformats.org/drawingml/2006/main">
            <a:r>
              <a:t>Posture UNVERIFIED · Evidence EV-GHN-01 … EV-GHN-07</a:t>
            </a:r>
          </a:p>
          <a:p xmlns:a="http://schemas.openxmlformats.org/drawingml/2006/main">
            <a:r>
              <a:t/>
            </a:r>
          </a:p>
          <a:p xmlns:a="http://schemas.openxmlformats.org/drawingml/2006/main">
            <a:r>
              <a:t>Fifteen people asserting TRL-8, AEC-Q100, TI exclusivity and two OEM pilots — every claim self-published. Also attributes the 2027 mandate to Bharat NCAP, which is wrong. Diligence watchlist, not a ranked threat.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use cases: Gahan AI.</a:t>
            </a:r>
          </a:p>
          <a:p xmlns:a="http://schemas.openxmlformats.org/drawingml/2006/main">
            <a:r>
              <a:t/>
            </a:r>
          </a:p>
          <a:p xmlns:a="http://schemas.openxmlformats.org/drawingml/2006/main">
            <a:r>
              <a:t>Pattern: P-RAD (claimed) — built on TI AWR2944 silicon</a:t>
            </a:r>
          </a:p>
          <a:p xmlns:a="http://schemas.openxmlformats.org/drawingml/2006/main">
            <a:r>
              <a:t>Claimed: TRL-8 · AEC-Q100 · 10 patents · 10TB India data · TI exclusive partner</a:t>
            </a:r>
          </a:p>
          <a:p xmlns:a="http://schemas.openxmlformats.org/drawingml/2006/main">
            <a:r>
              <a:t>Category error: AEC-Q100 qualifies a packaged IC, not a platform</a:t>
            </a:r>
          </a:p>
          <a:p xmlns:a="http://schemas.openxmlformats.org/drawingml/2006/main">
            <a:r>
              <a:t>Not corroborated: TI's CES 2026 radar release names no Indian partner</a:t>
            </a:r>
          </a:p>
          <a:p xmlns:a="http://schemas.openxmlformats.org/drawingml/2006/main">
            <a:r>
              <a:t>Published: DrwigBot — a ROS/Gazebo/CARLA SIMULATION research platform</a:t>
            </a:r>
          </a:p>
          <a:p xmlns:a="http://schemas.openxmlformats.org/drawingml/2006/main">
            <a:r>
              <a:t/>
            </a:r>
          </a:p>
          <a:p xmlns:a="http://schemas.openxmlformats.org/drawingml/2006/main">
            <a:r>
              <a:t>Implication: Fifteen people asserting TRL-8, AEC-Q100, TI exclusivity and two OEM pilots — every claim self-published. Also attributes the 2027 mandate to Bharat NCAP, which is wrong. Diligence watchlist, not a ranked threat.</a:t>
            </a:r>
          </a:p>
          <a:p xmlns:a="http://schemas.openxmlformats.org/drawingml/2006/main">
            <a:r>
              <a:t>Evidence: EV-GHN-01 … EV-GHN-07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evidence supports a medium-high Gahan watch, and which part remains company-reported?</a:t>
            </a:r>
          </a:p>
          <a:p xmlns:a="http://schemas.openxmlformats.org/drawingml/2006/main">
            <a:r>
              <a:t>A: Gahan merits attention because an independent ecosystem profile reportedly identifies Gahan/DRWIG and the radar-camera occupancy concept. However, automotive readiness and commercial traction remain unverified. DeepGrid should preserve the evidence boundary and monitor Gahan closely without amplifying its threat until primary artifacts emerge. COMPETITOR 2/10 · EVIDENCE PROFILE</a:t>
            </a:r>
          </a:p>
          <a:p xmlns:a="http://schemas.openxmlformats.org/drawingml/2006/main">
            <a:r>
              <a:t/>
            </a:r>
          </a:p>
          <a:p xmlns:a="http://schemas.openxmlformats.org/drawingml/2006/main">
            <a:r>
              <a:t>Mechanism: An ecosystem profile establishes that an organisation exists and is active; it does not establish component grade, safety lifecycle or vehicle qualification. Those require primary artifacts from the issuer, assessor or OEM.</a:t>
            </a:r>
          </a:p>
          <a:p xmlns:a="http://schemas.openxmlformats.org/drawingml/2006/main">
            <a:r>
              <a:t>Counterargument: No supplied primary evidence confirms the exact device grade, safety certificate scope and assessor, or vehicle applicability.</a:t>
            </a:r>
          </a:p>
          <a:p xmlns:a="http://schemas.openxmlformats.org/drawingml/2006/main">
            <a:r>
              <a:t>Falsifier: Falsified if a primary TI part and grade certificate, an assessor report, or a named OEM qualification document is produced.</a:t>
            </a:r>
          </a:p>
          <a:p xmlns:a="http://schemas.openxmlformats.org/drawingml/2006/main">
            <a:r>
              <a:t>Implication: Monitor Strategy DeepGrid should preserve the evidence boundary and monitor Gahan closely without amplifying its threat</a:t>
            </a:r>
          </a:p>
          <a:p xmlns:a="http://schemas.openxmlformats.org/drawingml/2006/main">
            <a:r>
              <a:t>Decision: Track primary artifacts before any escalated threat rating</a:t>
            </a:r>
          </a:p>
          <a:p xmlns:a="http://schemas.openxmlformats.org/drawingml/2006/main">
            <a:r>
              <a:t>Owner: Head of Competitive Intelligence · Trigger: Move rating on receipt of TI/OEM/assessor certificates or programme docs</a:t>
            </a:r>
          </a:p>
          <a:p xmlns:a="http://schemas.openxmlformats.org/drawingml/2006/main">
            <a:r>
              <a:t>Stop/escalate: Stop treating TRL-8 and ASIL-B as established until a primary artifact is produced.</a:t>
            </a:r>
          </a:p>
          <a:p xmlns:a="http://schemas.openxmlformats.org/drawingml/2006/main">
            <a:r>
              <a:t/>
            </a:r>
          </a:p>
          <a:p xmlns:a="http://schemas.openxmlformats.org/drawingml/2006/main">
            <a:r>
              <a:t>Evidence: S20-01, S20-02, S20-03, S20-04, S20-05, S20-06, S20-07, S20-08, S20-09, S20-10</a:t>
            </a:r>
          </a:p>
          <a:p xmlns:a="http://schemas.openxmlformats.org/drawingml/2006/main">
            <a:r>
              <a:t>Evidence ledger claims S20-01–S20-10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Gahan’s threat vary by arena and what to monitor?</a:t>
            </a:r>
          </a:p>
          <a:p xmlns:a="http://schemas.openxmlformats.org/drawingml/2006/main">
            <a:r>
              <a:t>A: Gahan's threat concentrates in the OEM arena, where a verified qualification narrative would matter most, and stays medium in mining and government where field access decides.</a:t>
            </a:r>
          </a:p>
          <a:p xmlns:a="http://schemas.openxmlformats.org/drawingml/2006/main">
            <a:r>
              <a:t/>
            </a:r>
          </a:p>
          <a:p xmlns:a="http://schemas.openxmlformats.org/drawingml/2006/main">
            <a:r>
              <a:t>Mechanism: Gahan's asserted advantage is automotive-grade qualification. That currency is only spendable where qualification gates the purchase, which is the OEM arena and nowhere else.</a:t>
            </a:r>
          </a:p>
          <a:p xmlns:a="http://schemas.openxmlformats.org/drawingml/2006/main">
            <a:r>
              <a:t>Counterargument: If the automotive qualification claims are true, the OEM rating is understated and the current monitoring cadence is too slow to react.</a:t>
            </a:r>
          </a:p>
          <a:p xmlns:a="http://schemas.openxmlformats.org/drawingml/2006/main">
            <a:r>
              <a:t>Falsifier: Falsified if Gahan wins a mining or government award first, inverting the arena ranking.</a:t>
            </a:r>
          </a:p>
          <a:p xmlns:a="http://schemas.openxmlformats.org/drawingml/2006/main">
            <a:r>
              <a:t>Implication: Focus CI on OEM control points; keep mining watch without over-reacting to unverified claims.</a:t>
            </a:r>
          </a:p>
          <a:p xmlns:a="http://schemas.openxmlformats.org/drawingml/2006/main">
            <a:r>
              <a:t>Decision: Configure alerts specifically for public, OEM, and qualification milestones.</a:t>
            </a:r>
          </a:p>
          <a:p xmlns:a="http://schemas.openxmlformats.org/drawingml/2006/main">
            <a:r>
              <a:t>Owner: Head of Competitive Intelligence · Trigger: Alerts configured on public OEM and qualification milestones.</a:t>
            </a:r>
          </a:p>
          <a:p xmlns:a="http://schemas.openxmlformats.org/drawingml/2006/main">
            <a:r>
              <a:t>Stop/escalate: Escalate on any named OEM qualification milestone.</a:t>
            </a:r>
          </a:p>
          <a:p xmlns:a="http://schemas.openxmlformats.org/drawingml/2006/main">
            <a:r>
              <a:t/>
            </a:r>
          </a:p>
          <a:p xmlns:a="http://schemas.openxmlformats.org/drawingml/2006/main">
            <a:r>
              <a:t>Evidence: S22-01, S22-02, S22-03, S22-04, S22-05, S22-06, S22-07, S22-08</a:t>
            </a:r>
          </a:p>
          <a:p xmlns:a="http://schemas.openxmlformats.org/drawingml/2006/main">
            <a:r>
              <a:t>Evidence ledger claims S22-01–S22-08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should DeepGrid do now, and which observable signals should trigger escalation?</a:t>
            </a:r>
          </a:p>
          <a:p xmlns:a="http://schemas.openxmlformats.org/drawingml/2006/main">
            <a:r>
              <a:t>A: Run a 30-day request covering TI part and grade, component qualification, assessor identity and OEM scope. Gahan's rating should move only on a primary certificate or a customer-side artifact.</a:t>
            </a:r>
          </a:p>
          <a:p xmlns:a="http://schemas.openxmlformats.org/drawingml/2006/main">
            <a:r>
              <a:t/>
            </a:r>
          </a:p>
          <a:p xmlns:a="http://schemas.openxmlformats.org/drawingml/2006/main">
            <a:r>
              <a:t>Mechanism: A bounded sprint converts an open-ended monitoring problem into a dated one. Either the artifacts arrive and the rating moves on evidence, or they do not and the current rating is confirmed by the absence.</a:t>
            </a:r>
          </a:p>
          <a:p xmlns:a="http://schemas.openxmlformats.org/drawingml/2006/main">
            <a:r>
              <a:t>Counterargument: A primary qualification certificate could arrive mid-sprint and show Gahan is materially ahead, leaving DeepGrid 30 days behind rather than level.</a:t>
            </a:r>
          </a:p>
          <a:p xmlns:a="http://schemas.openxmlformats.org/drawingml/2006/main">
            <a:r>
              <a:t>Falsifier: Falsified if Gahan produces a primary certificate or a named OEM programme document inside the 30 days.</a:t>
            </a:r>
          </a:p>
          <a:p xmlns:a="http://schemas.openxmlformats.org/drawingml/2006/main">
            <a:r>
              <a:t>Implication: DeepGrid should test the qualification chain now While keeping competitive distance until verified, launch 30-day artifact requests</a:t>
            </a:r>
          </a:p>
          <a:p xmlns:a="http://schemas.openxmlformats.org/drawingml/2006/main">
            <a:r>
              <a:t>Decision: Authorize 30-day request covering TI part/grade, qualification, assessor, OEM scope</a:t>
            </a:r>
          </a:p>
          <a:p xmlns:a="http://schemas.openxmlformats.org/drawingml/2006/main">
            <a:r>
              <a:t>Owner: Head of Competitive Intelligence · Trigger: Escalate threat rating on receipt of TI/OEM/assessor artifacts</a:t>
            </a:r>
          </a:p>
          <a:p xmlns:a="http://schemas.openxmlformats.org/drawingml/2006/main">
            <a:r>
              <a:t>Stop/escalate: Escalate immediately on receipt of any primary artifact; do not wait for the sprint to close.</a:t>
            </a:r>
          </a:p>
          <a:p xmlns:a="http://schemas.openxmlformats.org/drawingml/2006/main">
            <a:r>
              <a:t/>
            </a:r>
          </a:p>
          <a:p xmlns:a="http://schemas.openxmlformats.org/drawingml/2006/main">
            <a:r>
              <a:t>Evidence: S21-01, S21-02, S21-03, S21-04, S21-05, S21-06, S21-07, S21-08, S21-09, S21-10, S21-11, S21-12</a:t>
            </a:r>
          </a:p>
          <a:p xmlns:a="http://schemas.openxmlformats.org/drawingml/2006/main">
            <a:r>
              <a:t>Evidence ledger claims S21-01–S21-12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Which uncertainty could most change DeepGrid's near-term competitive response?</a:t>
            </a:r>
          </a:p>
          <a:p xmlns:a="http://schemas.openxmlformats.org/drawingml/2006/main">
            <a:r>
              <a:t>A: Gahan's combined radar/perception proposition could become a differentiated indigenous threat, but automotive readiness and commercial traction remain unverified. Diligence may waste management attention on weak traction. Falsify the priority if requested primary artifacts cannot identify both device grade and vehicle applicability.</a:t>
            </a:r>
          </a:p>
          <a:p xmlns:a="http://schemas.openxmlformats.org/drawingml/2006/main">
            <a:r>
              <a:t/>
            </a:r>
          </a:p>
          <a:p xmlns:a="http://schemas.openxmlformats.org/drawingml/2006/main">
            <a:r>
              <a:t>Mechanism: Gahan is the highest-value diligence target because the same artifacts that would confirm its claims would also reset DeepGrid's near-term product and commercial focus. No other open question has that leverage.</a:t>
            </a:r>
          </a:p>
          <a:p xmlns:a="http://schemas.openxmlformats.org/drawingml/2006/main">
            <a:r>
              <a:t>Counterargument: No supplied primary evidence confirms the exact device grade, safety certificate scope and assessor, or vehicle-level applicability.</a:t>
            </a:r>
          </a:p>
          <a:p xmlns:a="http://schemas.openxmlformats.org/drawingml/2006/main">
            <a:r>
              <a:t>Falsifier: Falsified if the 30-day artifact request returns a primary TI part and grade certificate plus a named OEM scope — which would confirm the threat rather than resolve it.</a:t>
            </a:r>
          </a:p>
          <a:p xmlns:a="http://schemas.openxmlformats.org/drawingml/2006/main">
            <a:r>
              <a:t>Implication: Resolve Gahan uncertainty before reallocating product or commercial focus</a:t>
            </a:r>
          </a:p>
          <a:p xmlns:a="http://schemas.openxmlformats.org/drawingml/2006/main">
            <a:r>
              <a:t>Decision: Launch focused artifact requests; timebox 30 days for verification</a:t>
            </a:r>
          </a:p>
          <a:p xmlns:a="http://schemas.openxmlformats.org/drawingml/2006/main">
            <a:r>
              <a:t>Owner: Head of Competitive Intelligence · Trigger: Escalate/de-escalate on receipt of primary artifacts</a:t>
            </a:r>
          </a:p>
          <a:p xmlns:a="http://schemas.openxmlformats.org/drawingml/2006/main">
            <a:r>
              <a:t>Stop/escalate: Escalate or de-escalate on receipt of primary artifacts; do not hold the rating open past 30 days.</a:t>
            </a:r>
          </a:p>
          <a:p xmlns:a="http://schemas.openxmlformats.org/drawingml/2006/main">
            <a:r>
              <a:t/>
            </a:r>
          </a:p>
          <a:p xmlns:a="http://schemas.openxmlformats.org/drawingml/2006/main">
            <a:r>
              <a:t>Evidence: S36-01, S36-02, S36-03, S36-04, S36-05, S36-06, S36-07, S36-08, S36-09, S36-10, S36-11</a:t>
            </a:r>
          </a:p>
          <a:p xmlns:a="http://schemas.openxmlformats.org/drawingml/2006/main">
            <a:r>
              <a:t>Evidence ledger claims S36-01–S36-11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materially raise or lower Gahan's threat rating?</a:t>
            </a:r>
          </a:p>
          <a:p xmlns:a="http://schemas.openxmlformats.org/drawingml/2006/main">
            <a:r>
              <a:t>A: Gahan's combined radar/perception proposition could become a differentiated indigenous threat, but automotive readiness and commercial traction remain unverified. Document review could create false confidence. The current view is falsified upward by primary qualification and customer evidence.</a:t>
            </a:r>
          </a:p>
          <a:p xmlns:a="http://schemas.openxmlformats.org/drawingml/2006/main">
            <a:r>
              <a:t/>
            </a:r>
          </a:p>
          <a:p xmlns:a="http://schemas.openxmlformats.org/drawingml/2006/main">
            <a:r>
              <a:t>Mechanism: The rating is held up by an absence, not a finding. Naming the three artifacts that would settle it converts an open-ended watch into a closable question.</a:t>
            </a:r>
          </a:p>
          <a:p xmlns:a="http://schemas.openxmlformats.org/drawingml/2006/main">
            <a:r>
              <a:t>Counterargument: No reviewed corroboration from TI or the named OEMs establishes the exact IC grade, safety certificate scope, or vehicle applicability.</a:t>
            </a:r>
          </a:p>
          <a:p xmlns:a="http://schemas.openxmlformats.org/drawingml/2006/main">
            <a:r>
              <a:t>Falsifier: Falsified by device grade, safety-assessor identity and vehicle-applicability evidence — the three artifacts whose absence currently holds the rating at medium-high.</a:t>
            </a:r>
          </a:p>
          <a:p xmlns:a="http://schemas.openxmlformats.org/drawingml/2006/main">
            <a:r>
              <a:t>Implication: Evidence Gap Missing device grade, safety assessor, and vehicle applicability verification</a:t>
            </a:r>
          </a:p>
          <a:p xmlns:a="http://schemas.openxmlformats.org/drawingml/2006/main">
            <a:r>
              <a:t>Decision: Resolve Gahan uncertainty before reallocating product or commercial focus</a:t>
            </a:r>
          </a:p>
          <a:p xmlns:a="http://schemas.openxmlformats.org/drawingml/2006/main">
            <a:r>
              <a:t>Owner: Head of Competitive Intelligence · Trigger: Primary qualification certificate or customer-side programme milestone</a:t>
            </a:r>
          </a:p>
          <a:p xmlns:a="http://schemas.openxmlformats.org/drawingml/2006/main">
            <a:r>
              <a:t>Stop/escalate: Escalate on receipt of any of the three artifacts.</a:t>
            </a:r>
          </a:p>
          <a:p xmlns:a="http://schemas.openxmlformats.org/drawingml/2006/main">
            <a:r>
              <a:t/>
            </a:r>
          </a:p>
          <a:p xmlns:a="http://schemas.openxmlformats.org/drawingml/2006/main">
            <a:r>
              <a:t>Evidence: S59-01, S59-02, S59-03, S59-04, S59-05, S59-06</a:t>
            </a:r>
          </a:p>
          <a:p xmlns:a="http://schemas.openxmlformats.org/drawingml/2006/main">
            <a:r>
              <a:t>Evidence ledger claims S59-01–S59-06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supports treating the cohort as powerful and what remains unverified?</a:t>
            </a:r>
          </a:p>
          <a:p xmlns:a="http://schemas.openxmlformats.org/drawingml/2006/main">
            <a:r>
              <a:t>A: Treat the cohort as a credible benchmark, not a single verified competitor position: bundling breadth and local scale remain unverified, and supplier-specific capabilities may vary significantly.</a:t>
            </a:r>
          </a:p>
          <a:p xmlns:a="http://schemas.openxmlformats.org/drawingml/2006/main">
            <a:r>
              <a:t/>
            </a:r>
          </a:p>
          <a:p xmlns:a="http://schemas.openxmlformats.org/drawingml/2006/main">
            <a:r>
              <a:t>Mechanism: The cohort's power is structural — bundling hardware, software, calibration and liability raises switching cost. That structure is evidenced; the delivered India CV price and per-supplier position are not.</a:t>
            </a:r>
          </a:p>
          <a:p xmlns:a="http://schemas.openxmlformats.org/drawingml/2006/main">
            <a:r>
              <a:t>Counterargument: Treating Bosch, Continental and Valeo as one cohort obscures real differences between them. The supplier actually competing for a given programme may be materially weaker than the cohort implies.</a:t>
            </a:r>
          </a:p>
          <a:p xmlns:a="http://schemas.openxmlformats.org/drawingml/2006/main">
            <a:r>
              <a:t>Falsifier: Falsified by supplier-by-supplier India CV evidence showing materially different capability or pricing.</a:t>
            </a:r>
          </a:p>
          <a:p xmlns:a="http://schemas.openxmlformats.org/drawingml/2006/main">
            <a:r>
              <a:t>Implication: Use Cohort Logic Support attach/wedge strategy using bundling advantage as structural barrier</a:t>
            </a:r>
          </a:p>
          <a:p xmlns:a="http://schemas.openxmlformats.org/drawingml/2006/main">
            <a:r>
              <a:t>Decision: Use the cohort as a structural benchmark for the attach-and-wedge strategy, not as a verified competitor position.</a:t>
            </a:r>
          </a:p>
          <a:p xmlns:a="http://schemas.openxmlformats.org/drawingml/2006/main">
            <a:r>
              <a:t>Owner: Head of Competitive Intelligence · Trigger: Obtain comparable RFQs for pricing validation.</a:t>
            </a:r>
          </a:p>
          <a:p xmlns:a="http://schemas.openxmlformats.org/drawingml/2006/main">
            <a:r>
              <a:t>Stop/escalate: Stop citing cohort bundling as a verified delivered-price advantage.</a:t>
            </a:r>
          </a:p>
          <a:p xmlns:a="http://schemas.openxmlformats.org/drawingml/2006/main">
            <a:r>
              <a:t/>
            </a:r>
          </a:p>
          <a:p xmlns:a="http://schemas.openxmlformats.org/drawingml/2006/main">
            <a:r>
              <a:t>Evidence: S53-01, S53-02, S53-03, S53-04, S53-05, S53-06</a:t>
            </a:r>
          </a:p>
          <a:p xmlns:a="http://schemas.openxmlformats.org/drawingml/2006/main">
            <a:r>
              <a:t>Evidence ledger claims S53-01–S53-06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the threat change by buying arena, and where should DeepGrid compete?</a:t>
            </a:r>
          </a:p>
          <a:p xmlns:a="http://schemas.openxmlformats.org/drawingml/2006/main">
            <a:r>
              <a:t>A: The incumbent cohort is strongest in OEM buying, which rewards accountable full-stack integration, and weaker in government and mining where validation capability and retrofit presence decide.</a:t>
            </a:r>
          </a:p>
          <a:p xmlns:a="http://schemas.openxmlformats.org/drawingml/2006/main">
            <a:r>
              <a:t/>
            </a:r>
          </a:p>
          <a:p xmlns:a="http://schemas.openxmlformats.org/drawingml/2006/main">
            <a:r>
              <a:t>Mechanism: Bundling converts into advantage only where a single accountable supplier is what the buyer wants. Retrofit and tender buyers purchase components and service, which is where the bundle stops paying.</a:t>
            </a:r>
          </a:p>
          <a:p xmlns:a="http://schemas.openxmlformats.org/drawingml/2006/main">
            <a:r>
              <a:t>Counterargument: Incumbents can enter retrofit through their aftermarket channels at any time; low current presence reflects priority rather than capability.</a:t>
            </a:r>
          </a:p>
          <a:p xmlns:a="http://schemas.openxmlformats.org/drawingml/2006/main">
            <a:r>
              <a:t>Falsifier: Falsified if an incumbent wins a mining retrofit or an Indian government tender.</a:t>
            </a:r>
          </a:p>
          <a:p xmlns:a="http://schemas.openxmlformats.org/drawingml/2006/main">
            <a:r>
              <a:t>Implication: Arena Power OEM buying rewards accountable integration</a:t>
            </a:r>
          </a:p>
          <a:p xmlns:a="http://schemas.openxmlformats.org/drawingml/2006/main">
            <a:r>
              <a:t>Decision: Add incumbent-displacement gate to OEM bids</a:t>
            </a:r>
          </a:p>
          <a:p xmlns:a="http://schemas.openxmlformats.org/drawingml/2006/main">
            <a:r>
              <a:t>Owner: Head of Business Development · Trigger: Any incumbent appearance outside OEM programmes.</a:t>
            </a:r>
          </a:p>
          <a:p xmlns:a="http://schemas.openxmlformats.org/drawingml/2006/main">
            <a:r>
              <a:t>Stop/escalate: Escalate if an incumbent enters the retrofit channel.</a:t>
            </a:r>
          </a:p>
          <a:p xmlns:a="http://schemas.openxmlformats.org/drawingml/2006/main">
            <a:r>
              <a:t/>
            </a:r>
          </a:p>
          <a:p xmlns:a="http://schemas.openxmlformats.org/drawingml/2006/main">
            <a:r>
              <a:t>Evidence: S54-01, S54-02, S54-03, S54-04, S54-05, S54-06</a:t>
            </a:r>
          </a:p>
          <a:p xmlns:a="http://schemas.openxmlformats.org/drawingml/2006/main">
            <a:r>
              <a:t>Evidence ledger claims S54-01–S54-06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When should DeepGrid pursue incumbent Tier-1 partnerships rather than a standalone approach?</a:t>
            </a:r>
          </a:p>
          <a:p xmlns:a="http://schemas.openxmlformats.org/drawingml/2006/main">
            <a:r>
              <a:t>A: Pursue an incumbent Tier-1 only with one constrained-compute, India-specific VRU wedge backed by a reproducible benchmark. 'Local' is not a wedge.</a:t>
            </a:r>
          </a:p>
          <a:p xmlns:a="http://schemas.openxmlformats.org/drawingml/2006/main">
            <a:r>
              <a:t/>
            </a:r>
          </a:p>
          <a:p xmlns:a="http://schemas.openxmlformats.org/drawingml/2006/main">
            <a:r>
              <a:t>Mechanism: An incumbent already bundles perception into a nominated stack. Displacement needs a specific, measurable advantage on one axis the buyer scores — breadth of claim moves nothing.</a:t>
            </a:r>
          </a:p>
          <a:p xmlns:a="http://schemas.openxmlformats.org/drawingml/2006/main">
            <a:r>
              <a:t>Counterargument: Incumbent relationships and accountability structures may make displacement uneconomic regardless of benchmark performance, so even a strong result may not open the programme.</a:t>
            </a:r>
          </a:p>
          <a:p xmlns:a="http://schemas.openxmlformats.org/drawingml/2006/main">
            <a:r>
              <a:t>Falsifier: Stop if equal-scope evidence shows no measurable performance delta</a:t>
            </a:r>
          </a:p>
          <a:p xmlns:a="http://schemas.openxmlformats.org/drawingml/2006/main">
            <a:r>
              <a:t>Implication: Concentrate partner effort Focus on one constrained-compute, India-specific VRU wedge</a:t>
            </a:r>
          </a:p>
          <a:p xmlns:a="http://schemas.openxmlformats.org/drawingml/2006/main">
            <a:r>
              <a:t>Decision: Authorize bounded Tier-1 pitches and only economically defensible incumbent-led bids</a:t>
            </a:r>
          </a:p>
          <a:p xmlns:a="http://schemas.openxmlformats.org/drawingml/2006/main">
            <a:r>
              <a:t>Owner: Head of Partnerships · Trigger: A Tier-1 agrees to reproduce the benchmark or review it for a named programme</a:t>
            </a:r>
          </a:p>
          <a:p xmlns:a="http://schemas.openxmlformats.org/drawingml/2006/main">
            <a:r>
              <a:t>Stop/escalate: Stop bounded pitches wherever the incumbent-led bid is not economically defensible.</a:t>
            </a:r>
          </a:p>
          <a:p xmlns:a="http://schemas.openxmlformats.org/drawingml/2006/main">
            <a:r>
              <a:t/>
            </a:r>
          </a:p>
          <a:p xmlns:a="http://schemas.openxmlformats.org/drawingml/2006/main">
            <a:r>
              <a:t>Evidence: S35-01, S35-02, S35-03, S35-04, S35-05, S35-06, S35-07</a:t>
            </a:r>
          </a:p>
          <a:p xmlns:a="http://schemas.openxmlformats.org/drawingml/2006/main">
            <a:r>
              <a:t>Evidence ledger claims S35-01–S35-07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falsify the assumption that Incumbents can coexist with DeepGrid or pose partnership opportunity?</a:t>
            </a:r>
          </a:p>
          <a:p xmlns:a="http://schemas.openxmlformats.org/drawingml/2006/main">
            <a:r>
              <a:t>A: Coexistence plausible until exclusive evidence emerges. DeepGrid should treat Incumbents as potential competitors rather than partners until proven otherwise.</a:t>
            </a:r>
          </a:p>
          <a:p xmlns:a="http://schemas.openxmlformats.org/drawingml/2006/main">
            <a:r>
              <a:t/>
            </a:r>
          </a:p>
          <a:p xmlns:a="http://schemas.openxmlformats.org/drawingml/2006/main">
            <a:r>
              <a:t>Mechanism: Coexistence and competition look identical until an exclusive relationship or a direct bid appears. Treating incumbents as competitors until then is the position that costs least if wrong.</a:t>
            </a:r>
          </a:p>
          <a:p xmlns:a="http://schemas.openxmlformats.org/drawingml/2006/main">
            <a:r>
              <a:t>Counterargument: Incumbents have every incentive to describe partnership opportunity while building the same capability internally, so an absence of exclusive evidence is weak grounds for assuming coexistence.</a:t>
            </a:r>
          </a:p>
          <a:p xmlns:a="http://schemas.openxmlformats.org/drawingml/2006/main">
            <a:r>
              <a:t>Falsifier: Named exclusive OEM relationship, direct competitive bid, or vertical integration evidence would falsify coexistence assumption.</a:t>
            </a:r>
          </a:p>
          <a:p xmlns:a="http://schemas.openxmlformats.org/drawingml/2006/main">
            <a:r>
              <a:t>Implication: Monitor Strategy Track Incumbent partnership announcements and competitive positioning</a:t>
            </a:r>
          </a:p>
          <a:p xmlns:a="http://schemas.openxmlformats.org/drawingml/2006/main">
            <a:r>
              <a:t>Decision: Treat as competitors until exclusive partnership evidence emerges</a:t>
            </a:r>
          </a:p>
          <a:p xmlns:a="http://schemas.openxmlformats.org/drawingml/2006/main">
            <a:r>
              <a:t>Owner: Head of Partnerships · Trigger: Named exclusive OEM relationship or direct competitive bid</a:t>
            </a:r>
          </a:p>
          <a:p xmlns:a="http://schemas.openxmlformats.org/drawingml/2006/main">
            <a:r>
              <a:t>Stop/escalate: Escalate on any named exclusive OEM relationship or direct competitive bid.</a:t>
            </a:r>
          </a:p>
          <a:p xmlns:a="http://schemas.openxmlformats.org/drawingml/2006/main">
            <a:r>
              <a:t/>
            </a:r>
          </a:p>
          <a:p xmlns:a="http://schemas.openxmlformats.org/drawingml/2006/main">
            <a:r>
              <a:t>Evidence: S69-01, S69-02, S69-03, S69-04, S69-05</a:t>
            </a:r>
          </a:p>
          <a:p xmlns:a="http://schemas.openxmlformats.org/drawingml/2006/main">
            <a:r>
              <a:t>Evidence ledger claims S69-01–S69-05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evidence would falsify the current view of Bosch, Continental and Valeo?</a:t>
            </a:r>
          </a:p>
          <a:p xmlns:a="http://schemas.openxmlformats.org/drawingml/2006/main">
            <a:r>
              <a:t>A: Treat the cohort as a credible benchmark, not a single verified competitor position: bundling breadth and local scale remain unverified, requiring DeepGrid to pursue a narrow subsystem wedge with faster India adaptation and demonstrable economics.</a:t>
            </a:r>
          </a:p>
          <a:p xmlns:a="http://schemas.openxmlformats.org/drawingml/2006/main">
            <a:r>
              <a:t/>
            </a:r>
          </a:p>
          <a:p xmlns:a="http://schemas.openxmlformats.org/drawingml/2006/main">
            <a:r>
              <a:t>Mechanism: Bundling is a structural advantage that is visible without supplier-specific evidence. What remains unproven is whether any one of the three holds an India CV programme — and that is what a wedge has to be designed against.</a:t>
            </a:r>
          </a:p>
          <a:p xmlns:a="http://schemas.openxmlformats.org/drawingml/2006/main">
            <a:r>
              <a:t>Counterargument: No nomination, function, platform generation, local content, SOP, or supplier-specific India programme evidence is available in the supplied packet.</a:t>
            </a:r>
          </a:p>
          <a:p xmlns:a="http://schemas.openxmlformats.org/drawingml/2006/main">
            <a:r>
              <a:t>Falsifier: Supplier-specific India nominations + RFQs with equal-scope pricing would falsify the current view and require immediate competitive response.</a:t>
            </a:r>
          </a:p>
          <a:p xmlns:a="http://schemas.openxmlformats.org/drawingml/2006/main">
            <a:r>
              <a:t>Implication: Evidence Requirement Require narrow subsystem wedge + faster India adaptation to displace incumbents</a:t>
            </a:r>
          </a:p>
          <a:p xmlns:a="http://schemas.openxmlformats.org/drawingml/2006/main">
            <a:r>
              <a:t>Decision: Add wedge proof gate to every OEM bid without exception</a:t>
            </a:r>
          </a:p>
          <a:p xmlns:a="http://schemas.openxmlformats.org/drawingml/2006/main">
            <a:r>
              <a:t>Owner: Head of Business Development · Trigger: No OEM bid proceeds without documented subsystem advantage</a:t>
            </a:r>
          </a:p>
          <a:p xmlns:a="http://schemas.openxmlformats.org/drawingml/2006/main">
            <a:r>
              <a:t>Stop/escalate: Stop any OEM bid that lacks a documented wedge proof.</a:t>
            </a:r>
          </a:p>
          <a:p xmlns:a="http://schemas.openxmlformats.org/drawingml/2006/main">
            <a:r>
              <a:t/>
            </a:r>
          </a:p>
          <a:p xmlns:a="http://schemas.openxmlformats.org/drawingml/2006/main">
            <a:r>
              <a:t>Evidence: S70-01, S70-02, S70-03, S70-04, S70-05</a:t>
            </a:r>
          </a:p>
          <a:p xmlns:a="http://schemas.openxmlformats.org/drawingml/2006/main">
            <a:r>
              <a:t>Evidence ledger claims S70-01–S70-05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IV · The ranking</a:t>
            </a:r>
          </a:p>
          <a:p xmlns:a="http://schemas.openxmlformats.org/drawingml/2006/main">
            <a:r>
              <a:t/>
            </a:r>
          </a:p>
          <a:p xmlns:a="http://schemas.openxmlformats.org/drawingml/2006/main">
            <a:r>
              <a:t>Q: Who actually blocks us, in what order, and what do they do when we start winning?</a:t>
            </a:r>
          </a:p>
          <a:p xmlns:a="http://schemas.openxmlformats.org/drawingml/2006/main">
            <a:r>
              <a:t>Settles: The re-derived ranking, the obstruction axis it was hiding, and the contests to lose deliberately.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Re-derived ranking.</a:t>
            </a:r>
          </a:p>
          <a:p xmlns:a="http://schemas.openxmlformats.org/drawingml/2006/main">
            <a:r>
              <a:t/>
            </a:r>
          </a:p>
          <a:p xmlns:a="http://schemas.openxmlformats.org/drawingml/2006/main">
            <a:r>
              <a:t>1. ZF CVCS India 5 (E5/A5/L5) P-ACT high</a:t>
            </a:r>
          </a:p>
          <a:p xmlns:a="http://schemas.openxmlformats.org/drawingml/2006/main">
            <a:r>
              <a:t>2. Aptiv (+STRADVISION) 4.65 (E5/A4/L5) P-ACT high</a:t>
            </a:r>
          </a:p>
          <a:p xmlns:a="http://schemas.openxmlformats.org/drawingml/2006/main">
            <a:r>
              <a:t>3. STRADVISION 4.1 (E4/A3/L5) P-ACT high</a:t>
            </a:r>
          </a:p>
          <a:p xmlns:a="http://schemas.openxmlformats.org/drawingml/2006/main">
            <a:r>
              <a:t>4. drivebuddyAI 3.1 (E4/A4/L2) P-WARN high</a:t>
            </a:r>
          </a:p>
          <a:p xmlns:a="http://schemas.openxmlformats.org/drawingml/2006/main">
            <a:r>
              <a:t>5. Sterling Tools × MINIEYE 2.35 (E2/A3/L2) P-WARN medium</a:t>
            </a:r>
          </a:p>
          <a:p xmlns:a="http://schemas.openxmlformats.org/drawingml/2006/main">
            <a:r>
              <a:t>6. Starkenn 2.25 (E2/A4/L1) P-WARN medium</a:t>
            </a:r>
          </a:p>
          <a:p xmlns:a="http://schemas.openxmlformats.org/drawingml/2006/main">
            <a:r>
              <a:t>7. bitsensing 2.2 (E3/A2/L2) P-WARN medium</a:t>
            </a:r>
          </a:p>
          <a:p xmlns:a="http://schemas.openxmlformats.org/drawingml/2006/main">
            <a:r>
              <a:t>8. Netrasemi 1.65 (E2/A1/L2) P-ADJ medium</a:t>
            </a:r>
          </a:p>
          <a:p xmlns:a="http://schemas.openxmlformats.org/drawingml/2006/main">
            <a:r>
              <a:t>9. Gahan AI 1 (E1/A1/L1) P-ADJ low</a:t>
            </a:r>
          </a:p>
          <a:p xmlns:a="http://schemas.openxmlformats.org/drawingml/2006/main">
            <a:r>
              <a:t/>
            </a:r>
          </a:p>
          <a:p xmlns:a="http://schemas.openxmlformats.org/drawingml/2006/main">
            <a:r>
              <a:t>Weights: execution 20%, access 35%, leverage 45%. Model: outputs/scoring-model.md.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Power vs obstruction.</a:t>
            </a:r>
          </a:p>
          <a:p xmlns:a="http://schemas.openxmlformats.org/drawingml/2006/main">
            <a:r>
              <a:t/>
            </a:r>
          </a:p>
          <a:p xmlns:a="http://schemas.openxmlformats.org/drawingml/2006/main">
            <a:r>
              <a:t>STRADVISION — blocker 5/5: Occupies the seat. A bounded perception layer priced for constrained hardware, already inside the winning stack, holding the ISO 26262 DeepGrid lacks. Displacing it is the entire job.</a:t>
            </a:r>
          </a:p>
          <a:p xmlns:a="http://schemas.openxmlformats.org/drawingml/2006/main">
            <a:r>
              <a:t/>
            </a:r>
          </a:p>
          <a:p xmlns:a="http://schemas.openxmlformats.org/drawingml/2006/main">
            <a:r>
              <a:t>Aptiv (+STRADVISION) — blocker 4/5: Decides who gets the seat. It selects the perception vendor for its camera and controls the OTA lifecycle afterwards — gatekeeper and prospective customer at once.</a:t>
            </a:r>
          </a:p>
          <a:p xmlns:a="http://schemas.openxmlformats.org/drawingml/2006/main">
            <a:r>
              <a:t/>
            </a:r>
          </a:p>
          <a:p xmlns:a="http://schemas.openxmlformats.org/drawingml/2006/main">
            <a:r>
              <a:t>ZF CVCS India — blocker 3/5: Owns a DIFFERENT control point. DeepGrid intends to sell INTO an actuator owner, so ZF is the route rather than the obstacle — until it bundles perception itself.</a:t>
            </a:r>
          </a:p>
          <a:p xmlns:a="http://schemas.openxmlformats.org/drawingml/2006/main">
            <a:r>
              <a:t/>
            </a:r>
          </a:p>
          <a:p xmlns:a="http://schemas.openxmlformats.org/drawingml/2006/main">
            <a:r>
              <a:t>Netrasemi — blocker 2/5: Erodes 'India-native' as a differentiator without competing for the seat; its mid-2027 window is when that changes.</a:t>
            </a:r>
          </a:p>
          <a:p xmlns:a="http://schemas.openxmlformats.org/drawingml/2006/main">
            <a:r>
              <a:t/>
            </a:r>
          </a:p>
          <a:p xmlns:a="http://schemas.openxmlformats.org/drawingml/2006/main">
            <a:r>
              <a:t>Gahan AI — blocker 2/5: Competes for the same indigenous-perception narrative and the same government sympathy, on claims no third party has corroborated.</a:t>
            </a:r>
          </a:p>
          <a:p xmlns:a="http://schemas.openxmlformats.org/drawingml/2006/main">
            <a:r>
              <a:t/>
            </a:r>
          </a:p>
          <a:p xmlns:a="http://schemas.openxmlformats.org/drawingml/2006/main">
            <a:r>
              <a:t>drivebuddyAI — blocker 1/5: Camera-only, no actuation. Owns retrofit share DeepGrid was never going to win on certification.</a:t>
            </a:r>
          </a:p>
          <a:p xmlns:a="http://schemas.openxmlformats.org/drawingml/2006/main">
            <a:r>
              <a:t/>
            </a:r>
          </a:p>
          <a:p xmlns:a="http://schemas.openxmlformats.org/drawingml/2006/main">
            <a:r>
              <a:t>Sterling Tools × MINIEYE — blocker 1/5: A partner-shaped competitor. Holds the local role DeepGrid needs someone to play, not the seat.</a:t>
            </a:r>
          </a:p>
          <a:p xmlns:a="http://schemas.openxmlformats.org/drawingml/2006/main">
            <a:r>
              <a:t/>
            </a:r>
          </a:p>
          <a:p xmlns:a="http://schemas.openxmlformats.org/drawingml/2006/main">
            <a:r>
              <a:t>Starkenn — blocker 1/5: Warning-only, uncertified. Blocks nothing on the perception-into-integrator path; competes for a different budget.</a:t>
            </a:r>
          </a:p>
          <a:p xmlns:a="http://schemas.openxmlformats.org/drawingml/2006/main">
            <a:r>
              <a:t/>
            </a:r>
          </a:p>
          <a:p xmlns:a="http://schemas.openxmlformats.org/drawingml/2006/main">
            <a:r>
              <a:t>bitsensing — blocker 1/5: Radar retrofit with a hard warning-only ceiling; no overlap with the perception seat.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Which competitors merit war-room attention, by what mechanism and with what response?</a:t>
            </a:r>
          </a:p>
          <a:p xmlns:a="http://schemas.openxmlformats.org/drawingml/2006/main">
            <a:r>
              <a:t>A: ZF, Aptiv and STRADVISION come first because each owns something DeepGrid must pass through — ZF the braking safety case, Aptiv the OEM platform and its over-the-air lifecycle, STRADVISION the bounded perception seat DeepGrid is bidding for. Starkenn stays in the room for the government arena only: its 30% tender share is durable, but its deployment count cannot be stated from its own source, so it no longer leads the ranking.</a:t>
            </a:r>
          </a:p>
          <a:p xmlns:a="http://schemas.openxmlformats.org/drawingml/2006/main">
            <a:r>
              <a:t/>
            </a:r>
          </a:p>
          <a:p xmlns:a="http://schemas.openxmlformats.org/drawingml/2006/main">
            <a:r>
              <a:t>Mechanism: Threat is a function of control, not of product overlap — so the ranking is re-derived on structural leverage at 45%, buyer access 35%, execution proof 20%. That is the same rubric the dossier already declared; it had simply never been scored against the evidence.</a:t>
            </a:r>
          </a:p>
          <a:p xmlns:a="http://schemas.openxmlformats.org/drawingml/2006/main">
            <a:r>
              <a:t>Counterargument: Re-ranking on published evidence can under-weight a competitor whose proof is real but unpublished — Gahan AI is the live instance, and a 15-person team can still hold genuine radar IP.</a:t>
            </a:r>
          </a:p>
          <a:p xmlns:a="http://schemas.openxmlformats.org/drawingml/2006/main">
            <a:r>
              <a:t>Falsifier: Falsified if a competitor outside this set wins a named Indian CV ADAS programme first, or if Starkenn produces a customer- or auditor-side deployment count.</a:t>
            </a:r>
          </a:p>
          <a:p xmlns:a="http://schemas.openxmlformats.org/drawingml/2006/main">
            <a:r>
              <a:t>Implication: Priority OEM/Tier-1 HIGHEST · perception-layer incumbency HIGH · Govt WATCH via Starkenn</a:t>
            </a:r>
          </a:p>
          <a:p xmlns:a="http://schemas.openxmlformats.org/drawingml/2006/main">
            <a:r>
              <a:t>Decision: Approve ZF, Aptiv and STRADVISION as the first war-room set; hold Starkenn as a government-arena watch</a:t>
            </a:r>
          </a:p>
          <a:p xmlns:a="http://schemas.openxmlformats.org/drawingml/2006/main">
            <a:r>
              <a:t>Owner: Head of Competitive Intelligence · Trigger: Monthly threat review; re-rank on any named programme award or any published certification change.</a:t>
            </a:r>
          </a:p>
          <a:p xmlns:a="http://schemas.openxmlformats.org/drawingml/2006/main">
            <a:r>
              <a:t>Stop/escalate: Escalate if any of the three converts a control point into an exclusive OEM relationship, or if STRADVISION is displaced inside Aptiv by a third perception vendor.</a:t>
            </a:r>
          </a:p>
          <a:p xmlns:a="http://schemas.openxmlformats.org/drawingml/2006/main">
            <a:r>
              <a:t/>
            </a:r>
          </a:p>
          <a:p xmlns:a="http://schemas.openxmlformats.org/drawingml/2006/main">
            <a:r>
              <a:t>Evidence: EV-ZF-01, EV-APT-02, EV-SV-03, EV-SV-05, EV-STK-01, EV-STK-04, EV-STK-05</a:t>
            </a:r>
          </a:p>
          <a:p xmlns:a="http://schemas.openxmlformats.org/drawingml/2006/main">
            <a:r>
              <a:t>Re-derived 15 Aug 2026 from outputs/evidence-ledger.csv via src/build_scoring.py. Full model and scale: outputs/scoring-model.md.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Counter-move.</a:t>
            </a:r>
          </a:p>
          <a:p xmlns:a="http://schemas.openxmlformats.org/drawingml/2006/main">
            <a:r>
              <a:t/>
            </a:r>
          </a:p>
          <a:p xmlns:a="http://schemas.openxmlformats.org/drawingml/2006/main">
            <a:r>
              <a:t>ZF — when DeepGrid DeepGrid attaches to a braking Tier-1: Ship perception inside the 16-feature suite it already sells — AEBS, BSIS, DDAWS, LDWS and MOIS on its own radar and camera, already ARAI-certified and nominated. [HIGH] Answer: No. DeepGrid cannot dislodge a function the incumbent already ships inside a certified suite. (EV-ZF-02)</a:t>
            </a:r>
          </a:p>
          <a:p xmlns:a="http://schemas.openxmlformats.org/drawingml/2006/main">
            <a:r>
              <a:t/>
            </a:r>
          </a:p>
          <a:p xmlns:a="http://schemas.openxmlformats.org/drawingml/2006/main">
            <a:r>
              <a:t>STRADVISION — when DeepGrid DeepGrid offers a cheaper perception layer to an integrator: Match on price — SVNet is explicitly designed for low-cost, resource-constrained hardware — and hold on ISO 26262, which DeepGrid does not have. [HIGH] Answer: Only with a functional-safety pathway. Until then the integrator is comparing a certified 5m-unit incumbent with an uncertified newcomer. (EV-SV-03, EV-SV-05)</a:t>
            </a:r>
          </a:p>
          <a:p xmlns:a="http://schemas.openxmlformats.org/drawingml/2006/main">
            <a:r>
              <a:t/>
            </a:r>
          </a:p>
          <a:p xmlns:a="http://schemas.openxmlformats.org/drawingml/2006/main">
            <a:r>
              <a:t>Aptiv — when DeepGrid DeepGrid wins a design-in at one OEM: Ship a feature or performance improvement over the air to the deployed fleet, widening the gap after SOP without a new design cycle. [HIGH] Answer: No. A module vendor has no channel to a fleet it has already shipped. (EV-APT-06)</a:t>
            </a:r>
          </a:p>
          <a:p xmlns:a="http://schemas.openxmlformats.org/drawingml/2006/main">
            <a:r>
              <a:t/>
            </a:r>
          </a:p>
          <a:p xmlns:a="http://schemas.openxmlformats.org/drawingml/2006/main">
            <a:r>
              <a:t>Starkenn — when DeepGrid DeepGrid enters government or PSU tenders: Underbid on empanelment. In that arena eligibility, not certification, is the gate — and it draws 30% of revenue from tenders already. [MEDIUM] Answer: Partly. GeM procurability and Class-I local content are winnable, but slowly. (EV-STK-01)</a:t>
            </a:r>
          </a:p>
          <a:p xmlns:a="http://schemas.openxmlformats.org/drawingml/2006/main">
            <a:r>
              <a:t/>
            </a:r>
          </a:p>
          <a:p xmlns:a="http://schemas.openxmlformats.org/drawingml/2006/main">
            <a:r>
              <a:t>drivebuddyAI — when DeepGrid DeepGrid pursues mining or fleet retrofit as its proof route: Compete on total platform value rather than box price: ADAS, driver monitoring, video telematics and predictive risk intelligence sold as one unified product to the fleet operator. [HIGH] Answer: No. DeepGrid sells a perception subsystem, not a fleet platform, so it cannot match the bundle. (EV-DBA-01)</a:t>
            </a:r>
          </a:p>
          <a:p xmlns:a="http://schemas.openxmlformats.org/drawingml/2006/main">
            <a:r>
              <a:t/>
            </a:r>
          </a:p>
          <a:p xmlns:a="http://schemas.openxmlformats.org/drawingml/2006/main">
            <a:r>
              <a:t>bitsensing — when DeepGrid DeepGrid competes on retrofit price: Lean on NXP silicon economics and an existing Indian channel; pricing is already agreed case by case, so it can flex per deal. [MEDIUM] Answer: Partly — but this arena needs no certification, so DeepGrid's one structural advantage is worth nothing in it. (EV-BIT-01, EV-BIT-02)</a:t>
            </a:r>
          </a:p>
          <a:p xmlns:a="http://schemas.openxmlformats.org/drawingml/2006/main">
            <a:r>
              <a:t/>
            </a:r>
          </a:p>
          <a:p xmlns:a="http://schemas.openxmlformats.org/drawingml/2006/main">
            <a:r>
              <a:t>Aptiv (2nd) — when DeepGrid DeepGrid asks an OEM to integrate its perception layer: Put its own people on site: 2,500 India engineers across 4 technical centres and 7 plants, offering integration and calibration support a merchant module vendor cannot staff. [HIGH] Answer: No. DeepGrid cannot match an incumbent's local engineering bench during a design-in. (EV-APT-07)</a:t>
            </a:r>
          </a:p>
          <a:p xmlns:a="http://schemas.openxmlformats.org/drawingml/2006/main">
            <a:r>
              <a:t/>
            </a:r>
          </a:p>
          <a:p xmlns:a="http://schemas.openxmlformats.org/drawingml/2006/main">
            <a:r>
              <a:t>Sterling × MINIEYE — when DeepGrid DeepGrid seeks an Indian integrator to attach to: Occupy the same slot first: an established Indian component major with existing OEM relationships and domestic manufacturing, already paired with a foreign perception stack. [MEDIUM] Answer: Partly. Other integrators exist, but the most obvious partner is already taken. (EV-STL-01)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Where not to compete.</a:t>
            </a:r>
          </a:p>
          <a:p xmlns:a="http://schemas.openxmlformats.org/drawingml/2006/main">
            <a:r>
              <a:t/>
            </a:r>
          </a:p>
          <a:p xmlns:a="http://schemas.openxmlformats.org/drawingml/2006/main">
            <a:r>
              <a:t>1 Jan 2027 line-fit — UNWINNABLE ON TIME. Design-in for an OEM programme runs 18–30 months. It is August 2026. A programme binding 1 Jan 2027 was specified before DeepGrid could have entered it. Reopen only if an OEM offers a mid-cycle perception swap with no re-homologation.</a:t>
            </a:r>
          </a:p>
          <a:p xmlns:a="http://schemas.openxmlformats.org/drawingml/2006/main">
            <a:r>
              <a:t/>
            </a:r>
          </a:p>
          <a:p xmlns:a="http://schemas.openxmlformats.org/drawingml/2006/main">
            <a:r>
              <a:t>Full-system AEBS supply — STRUCTURALLY CLOSED. Rule 96(12) obliges a system that brakes. The safety case, calibration and warranty sit with the actuator owner, and ZF will not hand those over. Reopen only if a braking Tier-1 offers a white-label safety case — which none has ever done.</a:t>
            </a:r>
          </a:p>
          <a:p xmlns:a="http://schemas.openxmlformats.org/drawingml/2006/main">
            <a:r>
              <a:t/>
            </a:r>
          </a:p>
          <a:p xmlns:a="http://schemas.openxmlformats.org/drawingml/2006/main">
            <a:r>
              <a:t>Warning-only retrofit on price — ADVANTAGE IS WORTHLESS HERE. drivebuddyAI, bitsensing and Starkenn already hold it, and it requires no certification at all — so the functional-safety pathway DeepGrid must still ACQUIRE would buy nothing here even once it exists. DeepGrid enters this arena with no structural advantage of any kind, against a rival selling a unified platform (ADAS + driver monitoring + telematics + risk analytics) that a perception subsystem cannot match. Reopen only as a paid instrumented pilot bought for telemetry rights, never for revenue.</a:t>
            </a:r>
          </a:p>
          <a:p xmlns:a="http://schemas.openxmlformats.org/drawingml/2006/main">
            <a:r>
              <a:t/>
            </a:r>
          </a:p>
          <a:p xmlns:a="http://schemas.openxmlformats.org/drawingml/2006/main">
            <a:r>
              <a:t>'India-native' as the differentiator — NO LONGER DIFFERENTIATING. Aptiv publishes the exact Indian object classes; STRADVISION cites dense mixed traffic; Netrasemi is Indian silicon; Starkenn markets Made-in-India. Four rivals make this claim. Reopen only with a measured perception result against a named baseline — the claim must become a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Lifecycle economics.</a:t>
            </a:r>
          </a:p>
          <a:p xmlns:a="http://schemas.openxmlformats.org/drawingml/2006/main">
            <a:r>
              <a:t/>
            </a:r>
          </a:p>
          <a:p xmlns:a="http://schemas.openxmlformats.org/drawingml/2006/main">
            <a:r>
              <a:t>Aptiv — Over-the-air updates: LINC platform + Wind River VxWorks; adds features and improves performance on the deployed fleet without a new design cycle (EV-APT-06)</a:t>
            </a:r>
          </a:p>
          <a:p xmlns:a="http://schemas.openxmlformats.org/drawingml/2006/main">
            <a:r>
              <a:t>ZF — SCALAR fleet orchestration: A software platform sold alongside the hardware into the same customer (EV-ZF-07)</a:t>
            </a:r>
          </a:p>
          <a:p xmlns:a="http://schemas.openxmlformats.org/drawingml/2006/main">
            <a:r>
              <a:t>drivebuddyAI — Video telematics + predictive risk: The box feeds a platform; the platform feeds the parent's insurance business (EV-DBA-01)</a:t>
            </a:r>
          </a:p>
          <a:p xmlns:a="http://schemas.openxmlformats.org/drawingml/2006/main">
            <a:r>
              <a:t>Starkenn — Stark-I subscription: 40% of revenue is recurring subscription, not hardware (EV-STK-06)</a:t>
            </a:r>
          </a:p>
          <a:p xmlns:a="http://schemas.openxmlformats.org/drawingml/2006/main">
            <a:r>
              <a:t>DeepGrid Semi — None: A perception subsystem sold to an integrator, with no channel to the vehicle after SOP (NO ROW — this is the gap)</a:t>
            </a:r>
          </a:p>
          <a:p xmlns:a="http://schemas.openxmlformats.org/drawingml/2006/main">
            <a:r>
              <a:t/>
            </a:r>
          </a:p>
          <a:p xmlns:a="http://schemas.openxmlformats.org/drawingml/2006/main">
            <a:r>
              <a:t>OTA is the underrated threat on this list. It converts ADAS from a shipped part into a maintained service: the incumbent's field performance improves after SOP, and the customer relationship stays with the integrator. A merchant module vendor cannot answer that with a better die. If DeepGrid intends to sell a subsystem, it must decide now whether it also sells the means to update it — because that decision is an architecture decision, not a commercial one, and it is cheap today and expensive after the first design-in.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the patterns change.</a:t>
            </a:r>
          </a:p>
          <a:p xmlns:a="http://schemas.openxmlformats.org/drawingml/2006/main">
            <a:r>
              <a:t/>
            </a:r>
          </a:p>
          <a:p xmlns:a="http://schemas.openxmlformats.org/drawingml/2006/main">
            <a:r>
              <a:t>NOW: Nine competitor profiles, equally weighted, each with a threat rating</a:t>
            </a:r>
          </a:p>
          <a:p xmlns:a="http://schemas.openxmlformats.org/drawingml/2006/main">
            <a:r>
              <a:t>SHOULD: ONE competitor to beat (STRADVISION), THREE accounts to win (Aptiv, ZF, Sterling), THREE markets to note and leave, TWO narratives to counter</a:t>
            </a:r>
          </a:p>
          <a:p xmlns:a="http://schemas.openxmlformats.org/drawingml/2006/main">
            <a:r>
              <a:t/>
            </a:r>
          </a:p>
          <a:p xmlns:a="http://schemas.openxmlformats.org/drawingml/2006/main">
            <a:r>
              <a:t>NOW: A threat heatmap spanning all nine across three arenas</a:t>
            </a:r>
          </a:p>
          <a:p xmlns:a="http://schemas.openxmlformats.org/drawingml/2006/main">
            <a:r>
              <a:t>SHOULD: A relationship map: substitute · gatekeeper · channel · different job · narrative · supplier. Rating only within the substitute row</a:t>
            </a:r>
          </a:p>
          <a:p xmlns:a="http://schemas.openxmlformats.org/drawingml/2006/main">
            <a:r>
              <a:t/>
            </a:r>
          </a:p>
          <a:p xmlns:a="http://schemas.openxmlformats.org/drawingml/2006/main">
            <a:r>
              <a:t>NOW: 44 pages of Act III spread evenly across rivals</a:t>
            </a:r>
          </a:p>
          <a:p xmlns:a="http://schemas.openxmlformats.org/drawingml/2006/main">
            <a:r>
              <a:t>SHOULD: Depth proportional to relationship: STRADVISION deserves a displacement plan; Starkenn deserves a paragraph</a:t>
            </a:r>
          </a:p>
          <a:p xmlns:a="http://schemas.openxmlformats.org/drawingml/2006/main">
            <a:r>
              <a:t/>
            </a:r>
          </a:p>
          <a:p xmlns:a="http://schemas.openxmlformats.org/drawingml/2006/main">
            <a:r>
              <a:t>NOW: Counter-move analysis framed as what rivals do to us</a:t>
            </a:r>
          </a:p>
          <a:p xmlns:a="http://schemas.openxmlformats.org/drawingml/2006/main">
            <a:r>
              <a:t>SHOULD: Two distinct questions: what a SUBSTITUTE does to win the deal, and what a CUSTOMER does if it decides to in-source</a:t>
            </a:r>
          </a:p>
          <a:p xmlns:a="http://schemas.openxmlformats.org/drawingml/2006/main">
            <a:r>
              <a:t/>
            </a:r>
          </a:p>
          <a:p xmlns:a="http://schemas.openxmlformats.org/drawingml/2006/main">
            <a:r>
              <a:t>NOW: Supplier side absent entirely</a:t>
            </a:r>
          </a:p>
          <a:p xmlns:a="http://schemas.openxmlformats.org/drawingml/2006/main">
            <a:r>
              <a:t>SHOULD: TI, NXP, TSMC and ARAI set the cost floor and the qualification clock — the ASIC case cannot be argued without them</a:t>
            </a:r>
          </a:p>
          <a:p xmlns:a="http://schemas.openxmlformats.org/drawingml/2006/main">
            <a:r>
              <a:t/>
            </a:r>
          </a:p>
          <a:p xmlns:a="http://schemas.openxmlformats.org/drawingml/2006/main">
            <a:r>
              <a:t>None of this says the research was wasted. The evidence stands and the ratings are sound within their rows. What changes is the shape: a dossier that treats a route-to-market as an adversary will keep producing plans to out-compete the companies DeepGrid most needs to sell to, and will keep under-investing in the single displacement contest that actually decides the strategy.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V · The wedge</a:t>
            </a:r>
          </a:p>
          <a:p xmlns:a="http://schemas.openxmlformats.org/drawingml/2006/main">
            <a:r>
              <a:t/>
            </a:r>
          </a:p>
          <a:p xmlns:a="http://schemas.openxmlformats.org/drawingml/2006/main">
            <a:r>
              <a:t>Q: What exactly does DeepGrid sell, at what price, and what should it build versus buy?</a:t>
            </a:r>
          </a:p>
          <a:p xmlns:a="http://schemas.openxmlformats.org/drawingml/2006/main">
            <a:r>
              <a:t>Settles: The bounded offer, what cannot be said about price, and the make-or-buy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Should DeepGrid defend camera-only sensing or position DGS001 within a radar-camera fusion architecture?</a:t>
            </a:r>
          </a:p>
          <a:p xmlns:a="http://schemas.openxmlformats.org/drawingml/2006/main">
            <a:r>
              <a:t>A: The supplied logic assigns semantic and lane context to camera and range-rate plus visibility resilience to radar, but provides no vehicle-level proof of safe performance in Indian conditions. Fusion may dilute differentiation and require radar data DeepGrid cannot access.</a:t>
            </a:r>
          </a:p>
          <a:p xmlns:a="http://schemas.openxmlformats.org/drawingml/2006/main">
            <a:r>
              <a:t/>
            </a:r>
          </a:p>
          <a:p xmlns:a="http://schemas.openxmlformats.org/drawingml/2006/main">
            <a:r>
              <a:t>Mechanism: Camera carries semantic class and lane context; radar carries range-rate and visibility resilience. Defending camera-only forces DeepGrid to argue against physics the buyer already believes, while a declared fusion boundary makes the same capability purchasable.</a:t>
            </a:r>
          </a:p>
          <a:p xmlns:a="http://schemas.openxmlformats.org/drawingml/2006/main">
            <a:r>
              <a:t>Counterargument: Positioning inside a fusion stack concedes the range and visibility-resilience layer to a radar owner, and with it a share of the system value and the customer relationship.</a:t>
            </a:r>
          </a:p>
          <a:p xmlns:a="http://schemas.openxmlformats.org/drawingml/2006/main">
            <a:r>
              <a:t>Falsifier: Falsified if measured camera-only performance meets the buyer's VRU and adverse-weather requirement without radar.</a:t>
            </a:r>
          </a:p>
          <a:p xmlns:a="http://schemas.openxmlformats.org/drawingml/2006/main">
            <a:r>
              <a:t>Implication: Fusion Strategy Sell semantic layer with explicit fusion behavior; avoid camera-only defensiveness</a:t>
            </a:r>
          </a:p>
          <a:p xmlns:a="http://schemas.openxmlformats.org/drawingml/2006/main">
            <a:r>
              <a:t>Decision: Publish fusion-ready interface, confidence, and degradation specs</a:t>
            </a:r>
          </a:p>
          <a:p xmlns:a="http://schemas.openxmlformats.org/drawingml/2006/main">
            <a:r>
              <a:t>Owner: Head of Engineering · Trigger: Interface spec approved by Eng; send to partners within 14 days</a:t>
            </a:r>
          </a:p>
          <a:p xmlns:a="http://schemas.openxmlformats.org/drawingml/2006/main">
            <a:r>
              <a:t>Stop/escalate: Stop camera-only defensiveness in all customer-facing material.</a:t>
            </a:r>
          </a:p>
          <a:p xmlns:a="http://schemas.openxmlformats.org/drawingml/2006/main">
            <a:r>
              <a:t/>
            </a:r>
          </a:p>
          <a:p xmlns:a="http://schemas.openxmlformats.org/drawingml/2006/main">
            <a:r>
              <a:t>Evidence: S14-01, S14-02, S14-03, S14-04, S14-05, S14-06, S14-07, S14-08, S14-09</a:t>
            </a:r>
          </a:p>
          <a:p xmlns:a="http://schemas.openxmlformats.org/drawingml/2006/main">
            <a:r>
              <a:t>Evidence ledger claims S14-01–S14-09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Which sequence can create commercial learning without implying complete AEBS ownership?</a:t>
            </a:r>
          </a:p>
          <a:p xmlns:a="http://schemas.openxmlformats.org/drawingml/2006/main">
            <a:r>
              <a:t>A: Attach to a braking or radar owner, prove with paid telemetry-rich pilots, and gate ASIC capital behind an accepted cost model. The three tracks generate commercial learning without implying AEBS ownership.</a:t>
            </a:r>
          </a:p>
          <a:p xmlns:a="http://schemas.openxmlformats.org/drawingml/2006/main">
            <a:r>
              <a:t/>
            </a:r>
          </a:p>
          <a:p xmlns:a="http://schemas.openxmlformats.org/drawingml/2006/main">
            <a:r>
              <a:t>Mechanism: Attachment buys access, pilots buy evidence, and the capital gate stops the company converting an unproven cost story into an irreversible spend. Run in sequence, each track de-risks the next.</a:t>
            </a:r>
          </a:p>
          <a:p xmlns:a="http://schemas.openxmlformats.org/drawingml/2006/main">
            <a:r>
              <a:t>Counterargument: Running attach and prove in parallel may exceed capacity, and gating ASIC capital risks losing the silicon timeline if the cost model takes longer to settle than the market allows.</a:t>
            </a:r>
          </a:p>
          <a:p xmlns:a="http://schemas.openxmlformats.org/drawingml/2006/main">
            <a:r>
              <a:t>Falsifier: Falsify strategy if integration review reveals technical incompatibilities</a:t>
            </a:r>
          </a:p>
          <a:p xmlns:a="http://schemas.openxmlformats.org/drawingml/2006/main">
            <a:r>
              <a:t>Implication: Prioritise external integration Focus on partner acceptance and paid evidence while ring-fencing ASIC capital</a:t>
            </a:r>
          </a:p>
          <a:p xmlns:a="http://schemas.openxmlformats.org/drawingml/2006/main">
            <a:r>
              <a:t>Decision: Approve attach-and-prove subject to gated capital; launch outreach</a:t>
            </a:r>
          </a:p>
          <a:p xmlns:a="http://schemas.openxmlformats.org/drawingml/2006/main">
            <a:r>
              <a:t>Owner: CEO · Trigger: Continue when one partner accepts review and one pilot signs</a:t>
            </a:r>
          </a:p>
          <a:p xmlns:a="http://schemas.openxmlformats.org/drawingml/2006/main">
            <a:r>
              <a:t>Stop/escalate: Prohibit ASIC spend until the break-even model is accepted.</a:t>
            </a:r>
          </a:p>
          <a:p xmlns:a="http://schemas.openxmlformats.org/drawingml/2006/main">
            <a:r>
              <a:t/>
            </a:r>
          </a:p>
          <a:p xmlns:a="http://schemas.openxmlformats.org/drawingml/2006/main">
            <a:r>
              <a:t>Evidence: S10-01, S10-02, S10-03, S10-04, S10-05, S10-06</a:t>
            </a:r>
          </a:p>
          <a:p xmlns:a="http://schemas.openxmlformats.org/drawingml/2006/main">
            <a:r>
              <a:t>Evidence ledger claims S10-01–S10-06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Where is execution risk concentrated, and what should the board govern now?</a:t>
            </a:r>
          </a:p>
          <a:p xmlns:a="http://schemas.openxmlformats.org/drawingml/2006/main">
            <a:r>
              <a:t>A: Execution risk is concentrated in four gates — field proof, safety assurance, integration readiness and commercial evidence. Until those clear, additional features add surface area without adding proof.</a:t>
            </a:r>
          </a:p>
          <a:p xmlns:a="http://schemas.openxmlformats.org/drawingml/2006/main">
            <a:r>
              <a:t/>
            </a:r>
          </a:p>
          <a:p xmlns:a="http://schemas.openxmlformats.org/drawingml/2006/main">
            <a:r>
              <a:t>Mechanism: The binding constraint is evidence, not capability. Engineering capacity spent on new features cannot also be spent closing a gate, so feature expansion during a proof deficit trades the scarce resource for the abundant one.</a:t>
            </a:r>
          </a:p>
          <a:p xmlns:a="http://schemas.openxmlformats.org/drawingml/2006/main">
            <a:r>
              <a:t>Counterargument: Pausing feature expansion can cost competitive position if a rival ships a capability that becomes the buyer's deciding criterion during the pause.</a:t>
            </a:r>
          </a:p>
          <a:p xmlns:a="http://schemas.openxmlformats.org/drawingml/2006/main">
            <a:r>
              <a:t>Falsifier: Falsified if a buyer's selection turns on a feature DeepGrid deliberately chose not to build.</a:t>
            </a:r>
          </a:p>
          <a:p xmlns:a="http://schemas.openxmlformats.org/drawingml/2006/main">
            <a:r>
              <a:t>Implication: Risk Concentration Execution risk concentrated in field proof, safety assurance, integration readiness</a:t>
            </a:r>
          </a:p>
          <a:p xmlns:a="http://schemas.openxmlformats.org/drawingml/2006/main">
            <a:r>
              <a:t>Decision: Pause feature expansion and release engineering capacity to the four gates.</a:t>
            </a:r>
          </a:p>
          <a:p xmlns:a="http://schemas.openxmlformats.org/drawingml/2006/main">
            <a:r>
              <a:t>Owner: Head of Engineering with CEO · Trigger: Board governs on gate status at each 90-day review.</a:t>
            </a:r>
          </a:p>
          <a:p xmlns:a="http://schemas.openxmlformats.org/drawingml/2006/main">
            <a:r>
              <a:t>Stop/escalate: Escalate if any gate remains open after two review cycles.</a:t>
            </a:r>
          </a:p>
          <a:p xmlns:a="http://schemas.openxmlformats.org/drawingml/2006/main">
            <a:r>
              <a:t/>
            </a:r>
          </a:p>
          <a:p xmlns:a="http://schemas.openxmlformats.org/drawingml/2006/main">
            <a:r>
              <a:t>Evidence: S15-01, S15-02, S15-03, S15-04, S15-05</a:t>
            </a:r>
          </a:p>
          <a:p xmlns:a="http://schemas.openxmlformats.org/drawingml/2006/main">
            <a:r>
              <a:t>Evidence ledger claims S15-01–S15-05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control prevents certification language from overstating product or vehicle qualifications?</a:t>
            </a:r>
          </a:p>
          <a:p xmlns:a="http://schemas.openxmlformats.org/drawingml/2006/main">
            <a:r>
              <a:t>A: Every certification statement must carry five fields: certificate owner, scope, report number, configuration and validity date. Without them AEC-Q100, ISO 26262 and AIS-162 collapse into a single claim the product cannot support.</a:t>
            </a:r>
          </a:p>
          <a:p xmlns:a="http://schemas.openxmlformats.org/drawingml/2006/main">
            <a:r>
              <a:t/>
            </a:r>
          </a:p>
          <a:p xmlns:a="http://schemas.openxmlformats.org/drawingml/2006/main">
            <a:r>
              <a:t>Mechanism: The three regimes certify different objects — a packaged IC, a development lifecycle, and a tested vehicle configuration. Naming the owner and scope is what stops a component qualification being read as vehicle approval.</a:t>
            </a:r>
          </a:p>
          <a:p xmlns:a="http://schemas.openxmlformats.org/drawingml/2006/main">
            <a:r>
              <a:t>Counterargument: Five-field discipline slows sales and marketing copy, and competitors making looser claims can appear better qualified in a side-by-side comparison.</a:t>
            </a:r>
          </a:p>
          <a:p xmlns:a="http://schemas.openxmlformats.org/drawingml/2006/main">
            <a:r>
              <a:t>Falsifier: Falsified if a buyer accepts an unqualified certification claim and it survives their diligence.</a:t>
            </a:r>
          </a:p>
          <a:p xmlns:a="http://schemas.openxmlformats.org/drawingml/2006/main">
            <a:r>
              <a:t>Implication: Claim Discipline Every certification statement must include certificate owner, scope, report number, tested configuration, and validity date</a:t>
            </a:r>
          </a:p>
          <a:p xmlns:a="http://schemas.openxmlformats.org/drawingml/2006/main">
            <a:r>
              <a:t>Decision: Adopt the five-field control for every external certification statement.</a:t>
            </a:r>
          </a:p>
          <a:p xmlns:a="http://schemas.openxmlformats.org/drawingml/2006/main">
            <a:r>
              <a:t>Owner: Head of Quality · Trigger: Audit all existing certification claims within the next release cycle.</a:t>
            </a:r>
          </a:p>
          <a:p xmlns:a="http://schemas.openxmlformats.org/drawingml/2006/main">
            <a:r>
              <a:t>Stop/escalate: Stop any statement that cannot name all five fields.</a:t>
            </a:r>
          </a:p>
          <a:p xmlns:a="http://schemas.openxmlformats.org/drawingml/2006/main">
            <a:r>
              <a:t/>
            </a:r>
          </a:p>
          <a:p xmlns:a="http://schemas.openxmlformats.org/drawingml/2006/main">
            <a:r>
              <a:t>Evidence: S16-01, S16-02, S16-03, S16-04, S16-05, S16-06, S16-07, S16-08, S16-09, S16-10</a:t>
            </a:r>
          </a:p>
          <a:p xmlns:a="http://schemas.openxmlformats.org/drawingml/2006/main">
            <a:r>
              <a:t>Evidence ledger claims S16-01–S16-10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would make DeepGrid's message credible to buyers?</a:t>
            </a:r>
          </a:p>
          <a:p xmlns:a="http://schemas.openxmlformats.org/drawingml/2006/main">
            <a:r>
              <a:t>A: Credibility comes from a published, independently reproducible constrained-compute benchmark on defined Indian VRU classes — not from the claim of being India-native.</a:t>
            </a:r>
          </a:p>
          <a:p xmlns:a="http://schemas.openxmlformats.org/drawingml/2006/main">
            <a:r>
              <a:t/>
            </a:r>
          </a:p>
          <a:p xmlns:a="http://schemas.openxmlformats.org/drawingml/2006/main">
            <a:r>
              <a:t>Mechanism: A buyer cannot procure origin. It can procure a measured performance envelope on a named scenario set, which is why the benchmark, not the narrative, is what converts interest into evaluation.</a:t>
            </a:r>
          </a:p>
          <a:p xmlns:a="http://schemas.openxmlformats.org/drawingml/2006/main">
            <a:r>
              <a:t>Counterargument: Publishing a benchmark exposes DeepGrid's exact performance envelope to competitors, who can then target it directly.</a:t>
            </a:r>
          </a:p>
          <a:p xmlns:a="http://schemas.openxmlformats.org/drawingml/2006/main">
            <a:r>
              <a:t>Falsifier: Falsified if a buyer accepts the India-native positioning with no benchmark — which would show the proof burden is lower than assumed.</a:t>
            </a:r>
          </a:p>
          <a:p xmlns:a="http://schemas.openxmlformats.org/drawingml/2006/main">
            <a:r>
              <a:t>Implication: Shift the message from origin to measured performance on a defined scenario set.</a:t>
            </a:r>
          </a:p>
          <a:p xmlns:a="http://schemas.openxmlformats.org/drawingml/2006/main">
            <a:r>
              <a:t>Decision: Engineering publishes benchmark spec &amp; evidence owner Monday.</a:t>
            </a:r>
          </a:p>
          <a:p xmlns:a="http://schemas.openxmlformats.org/drawingml/2006/main">
            <a:r>
              <a:t>Owner: Head of Engineering · Trigger: Engineering publishes the benchmark spec and names the evidence owner Monday.</a:t>
            </a:r>
          </a:p>
          <a:p xmlns:a="http://schemas.openxmlformats.org/drawingml/2006/main">
            <a:r>
              <a:t>Stop/escalate: Stop using 'India-native' as a standalone claim in customer material.</a:t>
            </a:r>
          </a:p>
          <a:p xmlns:a="http://schemas.openxmlformats.org/drawingml/2006/main">
            <a:r>
              <a:t/>
            </a:r>
          </a:p>
          <a:p xmlns:a="http://schemas.openxmlformats.org/drawingml/2006/main">
            <a:r>
              <a:t>Evidence: S40-01, S40-02, S40-03, S40-04, S40-05, S40-06, S40-07, S40-08, S40-09, S40-10, S40-11</a:t>
            </a:r>
          </a:p>
          <a:p xmlns:a="http://schemas.openxmlformats.org/drawingml/2006/main">
            <a:r>
              <a:t>Evidence ledger claims S40-01–S40-11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How can DeepGrid claim integration readiness without implying responsibility for braking or vehicle approval?</a:t>
            </a:r>
          </a:p>
          <a:p xmlns:a="http://schemas.openxmlformats.org/drawingml/2006/main">
            <a:r>
              <a:t>A: Productise the boundary: publish an interface control document and a safety-assumptions pack, so integration readiness becomes a reviewable artifact rather than an assertion — without implying responsibility for braking or vehicle approval.</a:t>
            </a:r>
          </a:p>
          <a:p xmlns:a="http://schemas.openxmlformats.org/drawingml/2006/main">
            <a:r>
              <a:t/>
            </a:r>
          </a:p>
          <a:p xmlns:a="http://schemas.openxmlformats.org/drawingml/2006/main">
            <a:r>
              <a:t>Mechanism: Uncertainty about who is accountable is what stalls a Tier-1 conversation. Writing the boundary down moves that uncertainty into a document the partner can review, accept or amend.</a:t>
            </a:r>
          </a:p>
          <a:p xmlns:a="http://schemas.openxmlformats.org/drawingml/2006/main">
            <a:r>
              <a:t>Counterargument: A published ICD constrains DeepGrid to the interfaces it has documented, reducing flexibility to adapt to a partner's architecture.</a:t>
            </a:r>
          </a:p>
          <a:p xmlns:a="http://schemas.openxmlformats.org/drawingml/2006/main">
            <a:r>
              <a:t>Falsifier: Falsified if a Tier-1 reviews the pack and finds the boundary unworkable for its architecture.</a:t>
            </a:r>
          </a:p>
          <a:p xmlns:a="http://schemas.openxmlformats.org/drawingml/2006/main">
            <a:r>
              <a:t>Implication: Comparison Rule The model creates value by moving uncertainty into testable interfaces</a:t>
            </a:r>
          </a:p>
          <a:p xmlns:a="http://schemas.openxmlformats.org/drawingml/2006/main">
            <a:r>
              <a:t>Decision: Publish ICD + safety-assumption pack for partner review within 14 days</a:t>
            </a:r>
          </a:p>
          <a:p xmlns:a="http://schemas.openxmlformats.org/drawingml/2006/main">
            <a:r>
              <a:t>Owner: Head of Engineering · Trigger: Publish for partner review within 14 days.</a:t>
            </a:r>
          </a:p>
          <a:p xmlns:a="http://schemas.openxmlformats.org/drawingml/2006/main">
            <a:r>
              <a:t>Stop/escalate: Escalate if no partner returns comments within 30 days of publication.</a:t>
            </a:r>
          </a:p>
          <a:p xmlns:a="http://schemas.openxmlformats.org/drawingml/2006/main">
            <a:r>
              <a:t/>
            </a:r>
          </a:p>
          <a:p xmlns:a="http://schemas.openxmlformats.org/drawingml/2006/main">
            <a:r>
              <a:t>Evidence: S41-01, S41-02, S41-03, S41-04, S41-05, S41-06, S41-07, S41-08, S41-09, S41-10, S41-11, S41-12, S41-13</a:t>
            </a:r>
          </a:p>
          <a:p xmlns:a="http://schemas.openxmlformats.org/drawingml/2006/main">
            <a:r>
              <a:t>Evidence ledger claims S41-01–S41-13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P6 · Cost bridge (exhibit: waterfall).</a:t>
            </a:r>
          </a:p>
          <a:p xmlns:a="http://schemas.openxmlformats.org/drawingml/2006/main">
            <a:r>
              <a:t>Bind status: bound</a:t>
            </a:r>
          </a:p>
          <a:p xmlns:a="http://schemas.openxmlformats.org/drawingml/2006/main">
            <a:r>
              <a:t/>
            </a:r>
          </a:p>
          <a:p xmlns:a="http://schemas.openxmlformats.org/drawingml/2006/main">
            <a:r>
              <a:t>Q: What evidence would justify an ASIC commitment or external cost claims?</a:t>
            </a:r>
          </a:p>
          <a:p xmlns:a="http://schemas.openxmlformats.org/drawingml/2006/main">
            <a:r>
              <a:t>A: The cost claim is credible only through a loaded-cost model carrying NRE, yield, package, qualification, warranty and lifecycle. A projected die price is not comparable to a system price.</a:t>
            </a:r>
          </a:p>
          <a:p xmlns:a="http://schemas.openxmlformats.org/drawingml/2006/main">
            <a:r>
              <a:t/>
            </a:r>
          </a:p>
          <a:p xmlns:a="http://schemas.openxmlformats.org/drawingml/2006/main">
            <a:r>
              <a:t>Mechanism: Die-level gains only reach the buyer if they survive sensors, module, qualification and warranty. The bridge exists to sequence commitment — not to justify the claim before the model exists.</a:t>
            </a:r>
          </a:p>
          <a:p xmlns:a="http://schemas.openxmlformats.org/drawingml/2006/main">
            <a:r>
              <a:t>Counterargument: No comparable India RFQ in the packet for validation</a:t>
            </a:r>
          </a:p>
          <a:p xmlns:a="http://schemas.openxmlformats.org/drawingml/2006/main">
            <a:r>
              <a:t>Falsifier: Falsified if a comparable India RFQ shows the delivered FPGA system price is already competitive, removing the ASIC rationale entirely.</a:t>
            </a:r>
          </a:p>
          <a:p xmlns:a="http://schemas.openxmlformats.org/drawingml/2006/main">
            <a:r>
              <a:t>Implication: DeepGrid should use the bridge to sequence commitment, not to justify premature claims</a:t>
            </a:r>
          </a:p>
          <a:p xmlns:a="http://schemas.openxmlformats.org/drawingml/2006/main">
            <a:r>
              <a:t>Decision: CEO commissions the break-even model Monday and prohibits ASIC spend until model accepted</a:t>
            </a:r>
          </a:p>
          <a:p xmlns:a="http://schemas.openxmlformats.org/drawingml/2006/main">
            <a:r>
              <a:t>Owner: CFO with Head of Silicon · Trigger: Model includes NRE, yield, package, qualification, warranty and break-even volume</a:t>
            </a:r>
          </a:p>
          <a:p xmlns:a="http://schemas.openxmlformats.org/drawingml/2006/main">
            <a:r>
              <a:t>Stop/escalate: Prohibit ASIC spend until the break-even model is accepted.</a:t>
            </a:r>
          </a:p>
          <a:p xmlns:a="http://schemas.openxmlformats.org/drawingml/2006/main">
            <a:r>
              <a:t/>
            </a:r>
          </a:p>
          <a:p xmlns:a="http://schemas.openxmlformats.org/drawingml/2006/main">
            <a:r>
              <a:t>Evidence: S42-01, S42-02, S42-03, S42-04, S42-05, S42-06, S42-07, S42-08</a:t>
            </a:r>
          </a:p>
          <a:p xmlns:a="http://schemas.openxmlformats.org/drawingml/2006/main">
            <a:r>
              <a:t>Evidence ledger claims S42-01–S42-08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commitment converts the strategy into a falsifiable commercial test?</a:t>
            </a:r>
          </a:p>
          <a:p xmlns:a="http://schemas.openxmlformats.org/drawingml/2006/main">
            <a:r>
              <a:t>A: The commitment that makes the strategy falsifiable is written acceptance of DGS001's interfaces and safety assumptions by one named braking Tier-1.</a:t>
            </a:r>
          </a:p>
          <a:p xmlns:a="http://schemas.openxmlformats.org/drawingml/2006/main">
            <a:r>
              <a:t/>
            </a:r>
          </a:p>
          <a:p xmlns:a="http://schemas.openxmlformats.org/drawingml/2006/main">
            <a:r>
              <a:t>Mechanism: Every other measure of progress is self-assessed. A Tier-1's written acceptance is the first read on the strategy that DeepGrid does not control, which is precisely what makes it a test.</a:t>
            </a:r>
          </a:p>
          <a:p xmlns:a="http://schemas.openxmlformats.org/drawingml/2006/main">
            <a:r>
              <a:t>Counterargument: A single narrow test may not expose the full integration, warranty and service obligations a real programme imposes, so acceptance could prove less meaningful than it appears.</a:t>
            </a:r>
          </a:p>
          <a:p xmlns:a="http://schemas.openxmlformats.org/drawingml/2006/main">
            <a:r>
              <a:t>Falsifier: The thesis is falsified if early integration reveals unmanageable dependencies.</a:t>
            </a:r>
          </a:p>
          <a:p xmlns:a="http://schemas.openxmlformats.org/drawingml/2006/main">
            <a:r>
              <a:t>Implication: Positioning &amp; Alignment Compete where proof can win, partner where safety accountability sits.</a:t>
            </a:r>
          </a:p>
          <a:p xmlns:a="http://schemas.openxmlformats.org/drawingml/2006/main">
            <a:r>
              <a:t>Decision: Direct the CEO to ask one named braking Tier-1 for interface/evidence-plan acceptance.</a:t>
            </a:r>
          </a:p>
          <a:p xmlns:a="http://schemas.openxmlformats.org/drawingml/2006/main">
            <a:r>
              <a:t>Owner: CEO · Trigger: Written acceptance, or refusal, from one named braking Tier-1.</a:t>
            </a:r>
          </a:p>
          <a:p xmlns:a="http://schemas.openxmlformats.org/drawingml/2006/main">
            <a:r>
              <a:t>Stop/escalate: Escalate to the board if no written response is obtained within 90 days.</a:t>
            </a:r>
          </a:p>
          <a:p xmlns:a="http://schemas.openxmlformats.org/drawingml/2006/main">
            <a:r>
              <a:t/>
            </a:r>
          </a:p>
          <a:p xmlns:a="http://schemas.openxmlformats.org/drawingml/2006/main">
            <a:r>
              <a:t>Evidence: S43-01, S43-02, S43-03, S43-04, S43-05, S43-06, S43-07</a:t>
            </a:r>
          </a:p>
          <a:p xmlns:a="http://schemas.openxmlformats.org/drawingml/2006/main">
            <a:r>
              <a:t>Evidence ledger claims S43-01–S43-07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How should DeepGrid distinguish competitive power from unsupported technology claims?</a:t>
            </a:r>
          </a:p>
          <a:p xmlns:a="http://schemas.openxmlformats.org/drawingml/2006/main">
            <a:r>
              <a:t>A: The execution/trust/leverage rubric separates competitive power from technology claims, but it is unweighted and has no scale anchors — so it currently ranks ordinally, not quantitatively.</a:t>
            </a:r>
          </a:p>
          <a:p xmlns:a="http://schemas.openxmlformats.org/drawingml/2006/main">
            <a:r>
              <a:t/>
            </a:r>
          </a:p>
          <a:p xmlns:a="http://schemas.openxmlformats.org/drawingml/2006/main">
            <a:r>
              <a:t>Mechanism: Three layers with equal treatment produce a defensible ordering and an indefensible score. Until weights and anchors exist, the rubric should structure the evidence rather than generate a number.</a:t>
            </a:r>
          </a:p>
          <a:p xmlns:a="http://schemas.openxmlformats.org/drawingml/2006/main">
            <a:r>
              <a:t>Counterargument: An unweighted rubric can be gamed by a competitor strong in a single layer; equal treatment may obscure arena-specific advantage.</a:t>
            </a:r>
          </a:p>
          <a:p xmlns:a="http://schemas.openxmlformats.org/drawingml/2006/main">
            <a:r>
              <a:t>Falsifier: Falsified if two competitors with materially different threat profiles score identically.</a:t>
            </a:r>
          </a:p>
          <a:p xmlns:a="http://schemas.openxmlformats.org/drawingml/2006/main">
            <a:r>
              <a:t>Implication: Use the rubric to structure evidence, not to produce a score that outruns it.</a:t>
            </a:r>
          </a:p>
          <a:p xmlns:a="http://schemas.openxmlformats.org/drawingml/2006/main">
            <a:r>
              <a:t>Decision: Adopt the rubric as an evidence gate; defer numeric weighting until scale anchors exist.</a:t>
            </a:r>
          </a:p>
          <a:p xmlns:a="http://schemas.openxmlformats.org/drawingml/2006/main">
            <a:r>
              <a:t>Owner: Head of Competitive Intelligence · Trigger: Define weights and scale anchors before the next threat review.</a:t>
            </a:r>
          </a:p>
          <a:p xmlns:a="http://schemas.openxmlformats.org/drawingml/2006/main">
            <a:r>
              <a:t>Stop/escalate: Stop reporting composite percentages until weights are defined.</a:t>
            </a:r>
          </a:p>
          <a:p xmlns:a="http://schemas.openxmlformats.org/drawingml/2006/main">
            <a:r>
              <a:t/>
            </a:r>
          </a:p>
          <a:p xmlns:a="http://schemas.openxmlformats.org/drawingml/2006/main">
            <a:r>
              <a:t>Evidence: S44-01, S44-02, S44-03, S44-04, S44-05, S44-06, S44-07, S44-08, S44-09, S44-10</a:t>
            </a:r>
          </a:p>
          <a:p xmlns:a="http://schemas.openxmlformats.org/drawingml/2006/main">
            <a:r>
              <a:t>Evidence ledger claims S44-01–S44-10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pricing evidence can support DeepGrid's capital and commercial decisions?</a:t>
            </a:r>
          </a:p>
          <a:p xmlns:a="http://schemas.openxmlformats.org/drawingml/2006/main">
            <a:r>
              <a:t>A: ADAS pricing is quotation-led, not list-led. Kit prices, die cost and unscoped quotes are non-comparable, so the only usable evidence is three standardised RFQs disclosing full cost breakdowns.</a:t>
            </a:r>
          </a:p>
          <a:p xmlns:a="http://schemas.openxmlformats.org/drawingml/2006/main">
            <a:r>
              <a:t/>
            </a:r>
          </a:p>
          <a:p xmlns:a="http://schemas.openxmlformats.org/drawingml/2006/main">
            <a:r>
              <a:t>Mechanism: Price varies with sensors, function set, volume and quality scope. Without fixing those four, two quotes describe different products and any comparison between them is arithmetic without meaning.</a:t>
            </a:r>
          </a:p>
          <a:p xmlns:a="http://schemas.openxmlformats.org/drawingml/2006/main">
            <a:r>
              <a:t>Counterargument: Three equal-scope RFQs may be unobtainable if suppliers refuse to disclose loaded cost, leaving DeepGrid pricing against incomparable references anyway.</a:t>
            </a:r>
          </a:p>
          <a:p xmlns:a="http://schemas.openxmlformats.org/drawingml/2006/main">
            <a:r>
              <a:t>Falsifier: Falsified if a supplier publishes a comparable delivered-price list that makes the RFQ exercise unnecessary.</a:t>
            </a:r>
          </a:p>
          <a:p xmlns:a="http://schemas.openxmlformats.org/drawingml/2006/main">
            <a:r>
              <a:t>Implication: Base capital and commercial decisions on quoted, scoped prices — never on catalogue or die-level figures.</a:t>
            </a:r>
          </a:p>
          <a:p xmlns:a="http://schemas.openxmlformats.org/drawingml/2006/main">
            <a:r>
              <a:t>Decision: Issue three standardised RFQs to comparable suppliers.</a:t>
            </a:r>
          </a:p>
          <a:p xmlns:a="http://schemas.openxmlformats.org/drawingml/2006/main">
            <a:r>
              <a:t>Owner: Head of Sales with CFO · Trigger: Sales issues the three RFQs Monday.</a:t>
            </a:r>
          </a:p>
          <a:p xmlns:a="http://schemas.openxmlformats.org/drawingml/2006/main">
            <a:r>
              <a:t>Stop/escalate: Stop any pricing claim not backed by an equal-scope quotation.</a:t>
            </a:r>
          </a:p>
          <a:p xmlns:a="http://schemas.openxmlformats.org/drawingml/2006/main">
            <a:r>
              <a:t/>
            </a:r>
          </a:p>
          <a:p xmlns:a="http://schemas.openxmlformats.org/drawingml/2006/main">
            <a:r>
              <a:t>Evidence: S56-01, S56-02, S56-03, S56-04, S56-05</a:t>
            </a:r>
          </a:p>
          <a:p xmlns:a="http://schemas.openxmlformats.org/drawingml/2006/main">
            <a:r>
              <a:t>Evidence ledger claims S56-01–S56-05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evidence can still differentiate DeepGrid when competitors also claim India-training?</a:t>
            </a:r>
          </a:p>
          <a:p xmlns:a="http://schemas.openxmlformats.org/drawingml/2006/main">
            <a:r>
              <a:t>A: Nationality no longer differentiates — Starkenn, Aptiv/STRADVISION and Gahan all assert India relevance. What still differentiates is reproducible vehicle-level evidence: frozen scenario families, class definitions, distance, lighting, weather and denominators.</a:t>
            </a:r>
          </a:p>
          <a:p xmlns:a="http://schemas.openxmlformats.org/drawingml/2006/main">
            <a:r>
              <a:t/>
            </a:r>
          </a:p>
          <a:p xmlns:a="http://schemas.openxmlformats.org/drawingml/2006/main">
            <a:r>
              <a:t>Mechanism: When every competitor makes the same claim, the claim stops separating them and the buyer falls back to what can be reproduced. Freezing the benchmark definition is what makes DeepGrid's version reproducible rather than assertable.</a:t>
            </a:r>
          </a:p>
          <a:p xmlns:a="http://schemas.openxmlformats.org/drawingml/2006/main">
            <a:r>
              <a:t>Counterargument: Freezing benchmarks early risks locking DeepGrid to a scenario set a buyer later considers unrepresentative, and reproducibility takes time competitors may use to ship.</a:t>
            </a:r>
          </a:p>
          <a:p xmlns:a="http://schemas.openxmlformats.org/drawingml/2006/main">
            <a:r>
              <a:t>Falsifier: Falsified if a competitor publishes reproducible vehicle-level evidence first, making reproducibility table stakes rather than a differentiator.</a:t>
            </a:r>
          </a:p>
          <a:p xmlns:a="http://schemas.openxmlformats.org/drawingml/2006/main">
            <a:r>
              <a:t>Implication: Freeze Benchmarks Freeze scenario families, class definitions, distance, lighting, weather, and denominators.</a:t>
            </a:r>
          </a:p>
          <a:p xmlns:a="http://schemas.openxmlformats.org/drawingml/2006/main">
            <a:r>
              <a:t>Decision: Freeze the benchmark definition and make reproducible evidence the sales engine.</a:t>
            </a:r>
          </a:p>
          <a:p xmlns:a="http://schemas.openxmlformats.org/drawingml/2006/main">
            <a:r>
              <a:t>Owner: Head of Engineering · Trigger: Benchmark definition frozen and published for partner review.</a:t>
            </a:r>
          </a:p>
          <a:p xmlns:a="http://schemas.openxmlformats.org/drawingml/2006/main">
            <a:r>
              <a:t>Stop/escalate: Stop nationality-led claims in all customer-facing material.</a:t>
            </a:r>
          </a:p>
          <a:p xmlns:a="http://schemas.openxmlformats.org/drawingml/2006/main">
            <a:r>
              <a:t/>
            </a:r>
          </a:p>
          <a:p xmlns:a="http://schemas.openxmlformats.org/drawingml/2006/main">
            <a:r>
              <a:t>Evidence: S71-01, S71-02, S71-03, S71-04, S71-05</a:t>
            </a:r>
          </a:p>
          <a:p xmlns:a="http://schemas.openxmlformats.org/drawingml/2006/main">
            <a:r>
              <a:t>Evidence ledger claims S71-01–S71-05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Which messages remain defensible after the competitive reset, and what proof is still needed?</a:t>
            </a:r>
          </a:p>
          <a:p xmlns:a="http://schemas.openxmlformats.org/drawingml/2006/main">
            <a:r>
              <a:t>A: The reset replaces broad differentiation claims with three buyer-testable mechanisms:  measured performance  lowers technical uncertainty,  integration boundaries  clarify accountability, and  economic transparency  builds procurement trust.</a:t>
            </a:r>
          </a:p>
          <a:p xmlns:a="http://schemas.openxmlformats.org/drawingml/2006/main">
            <a:r>
              <a:t/>
            </a:r>
          </a:p>
          <a:p xmlns:a="http://schemas.openxmlformats.org/drawingml/2006/main">
            <a:r>
              <a:t>Mechanism: Each message names a mechanism a buyer can test: measured performance, an explicit interface boundary, and an auditable cost path. That testability is what makes them defensible — and what makes the missing artifacts disqualifying until produced.</a:t>
            </a:r>
          </a:p>
          <a:p xmlns:a="http://schemas.openxmlformats.org/drawingml/2006/main">
            <a:r>
              <a:t>Counterargument: All three messages are currently unbacked. No supplied evidence establishes that any pillar yet has the reproducible artifact it requires, so the reset trades three broad claims for three narrower unproven ones.</a:t>
            </a:r>
          </a:p>
          <a:p xmlns:a="http://schemas.openxmlformats.org/drawingml/2006/main">
            <a:r>
              <a:t>Falsifier: Falsified if a buyer accepts one of the three messages without the underlying artifact — which would show the proof burden was overstated.</a:t>
            </a:r>
          </a:p>
          <a:p xmlns:a="http://schemas.openxmlformats.org/drawingml/2006/main">
            <a:r>
              <a:t>Implication: Positioning is now bounded by what DeepGrid can evidence, which is currently less than what it claims.</a:t>
            </a:r>
          </a:p>
          <a:p xmlns:a="http://schemas.openxmlformats.org/drawingml/2006/main">
            <a:r>
              <a:t>Decision: Freeze messaging to these three pillars and fund the artifact each one requires.</a:t>
            </a:r>
          </a:p>
          <a:p xmlns:a="http://schemas.openxmlformats.org/drawingml/2006/main">
            <a:r>
              <a:t>Owner: CEO with Head of Marketing · Trigger: Publish the benchmark artifact for each pillar before use in pitches.</a:t>
            </a:r>
          </a:p>
          <a:p xmlns:a="http://schemas.openxmlformats.org/drawingml/2006/main">
            <a:r>
              <a:t>Stop/escalate: Stop using any message whose artifact has not been produced.</a:t>
            </a:r>
          </a:p>
          <a:p xmlns:a="http://schemas.openxmlformats.org/drawingml/2006/main">
            <a:r>
              <a:t/>
            </a:r>
          </a:p>
          <a:p xmlns:a="http://schemas.openxmlformats.org/drawingml/2006/main">
            <a:r>
              <a:t>Evidence: S73-01, S73-02, S73-03, S73-04, S73-05, S73-06</a:t>
            </a:r>
          </a:p>
          <a:p xmlns:a="http://schemas.openxmlformats.org/drawingml/2006/main">
            <a:r>
              <a:t>Evidence ledger claims S73-01–S73-06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Pricing reality.</a:t>
            </a:r>
          </a:p>
          <a:p xmlns:a="http://schemas.openxmlformats.org/drawingml/2006/main">
            <a:r>
              <a:t/>
            </a:r>
          </a:p>
          <a:p xmlns:a="http://schemas.openxmlformats.org/drawingml/2006/main">
            <a:r>
              <a:t>No public per-unit India ADAS price exists for any competitor.</a:t>
            </a:r>
          </a:p>
          <a:p xmlns:a="http://schemas.openxmlformats.org/drawingml/2006/main">
            <a:r>
              <a:t/>
            </a:r>
          </a:p>
          <a:p xmlns:a="http://schemas.openxmlformats.org/drawingml/2006/main">
            <a:r>
              <a:t>Banned: Any competitor per-unit price, in any currency, on any slide · Any 'Nx cheaper than &lt;competitor&gt;' claim — it compares our die cost to their system price · Any implied ASP derived from a contract value divided by a vehicle count</a:t>
            </a:r>
          </a:p>
          <a:p xmlns:a="http://schemas.openxmlformats.org/drawingml/2006/main">
            <a:r>
              <a:t/>
            </a:r>
          </a:p>
          <a:p xmlns:a="http://schemas.openxmlformats.org/drawingml/2006/main">
            <a:r>
              <a:t>Instead: State the cost argument as cannibalisation immunity — DeepGrid has no global ASP to defend, so it can price the India function at the India price. That is a structural fact about position, needs no competitor price to stand up, and survives the question 'where did that number come from'.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 / buy / partner.</a:t>
            </a:r>
          </a:p>
          <a:p xmlns:a="http://schemas.openxmlformats.org/drawingml/2006/main">
            <a:r>
              <a:t/>
            </a:r>
          </a:p>
          <a:p xmlns:a="http://schemas.openxmlformats.org/drawingml/2006/main">
            <a:r>
              <a:t>ISO 26262 functional-safety pathway — BUY: A certification route is bought from an assessor and a consultancy, on a known timetable. Building the competence in-house delays the only credential that unlocks Tier-2 sales. (STRADVISION already holds it (EV-SV-05). This is the single gate that decides whether an integrator can even consider DeepGrid.)</a:t>
            </a:r>
          </a:p>
          <a:p xmlns:a="http://schemas.openxmlformats.org/drawingml/2006/main">
            <a:r>
              <a:t/>
            </a:r>
          </a:p>
          <a:p xmlns:a="http://schemas.openxmlformats.org/drawingml/2006/main">
            <a:r>
              <a:t>Indian homologation and test capability — PARTNER: ZF has an in-house Indian test track; DeepGrid does not and should not fund one. ARAI and ICAT are the neutral route and their reports carry more weight with a third party anyway. (Independent characterisation is worth more than self-reported kilometres — the gap in ZF's own 300,000 km claim (EV-ZF-03).)</a:t>
            </a:r>
          </a:p>
          <a:p xmlns:a="http://schemas.openxmlformats.org/drawingml/2006/main">
            <a:r>
              <a:t/>
            </a:r>
          </a:p>
          <a:p xmlns:a="http://schemas.openxmlformats.org/drawingml/2006/main">
            <a:r>
              <a:t>mmWave radar silicon — DO NOT BUILD: DeepGrid's position is camera-based perception. Radar is a separate competence with its own qualification path, and TI, NXP and bitsensing already occupy it. (Gahan AI is the cautionary case: 15 people carrying a radar-to-software claim no third party corroborates (EV-GHN-01, EV-GHN-04).)</a:t>
            </a:r>
          </a:p>
          <a:p xmlns:a="http://schemas.openxmlformats.org/drawingml/2006/main">
            <a:r>
              <a:t/>
            </a:r>
          </a:p>
          <a:p xmlns:a="http://schemas.openxmlformats.org/drawingml/2006/main">
            <a:r>
              <a:t>Route to an OEM — PARTNER: Sterling Tools took the local manufacturing, channel and compliance role beside a foreign perception stack. That is the mirror of the move DeepGrid needs, and at ₹806 Cr Sterling is a plausible partner rather than an adversary. (The attach motion is the strategy; the only question is which integrator (EV-STL-01, EV-STL-02).)</a:t>
            </a:r>
          </a:p>
          <a:p xmlns:a="http://schemas.openxmlformats.org/drawingml/2006/main">
            <a:r>
              <a:t/>
            </a:r>
          </a:p>
          <a:p xmlns:a="http://schemas.openxmlformats.org/drawingml/2006/main">
            <a:r>
              <a:t>Perception model and India dataset — BUILD: The one thing that must be owned. But it stops being a differentiator the moment it is a claim rather than a measurement — four rivals already claim India tuning. (Convert to a scenario-stratified result against a named baseline, with nuisance-event denominators.)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VI · The plan</a:t>
            </a:r>
          </a:p>
          <a:p xmlns:a="http://schemas.openxmlformats.org/drawingml/2006/main">
            <a:r>
              <a:t/>
            </a:r>
          </a:p>
          <a:p xmlns:a="http://schemas.openxmlformats.org/drawingml/2006/main">
            <a:r>
              <a:t>Q: What must be true in 90 days, and who owns each gate?</a:t>
            </a:r>
          </a:p>
          <a:p xmlns:a="http://schemas.openxmlformats.org/drawingml/2006/main">
            <a:r>
              <a:t>Settles: Owners, triggers and the gates that decide whether the position is real.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P5 · Dated plan (exhibit: rail).</a:t>
            </a:r>
          </a:p>
          <a:p xmlns:a="http://schemas.openxmlformats.org/drawingml/2006/main">
            <a:r>
              <a:t>Bind status: bound</a:t>
            </a:r>
          </a:p>
          <a:p xmlns:a="http://schemas.openxmlformats.org/drawingml/2006/main">
            <a:r>
              <a:t/>
            </a:r>
          </a:p>
          <a:p xmlns:a="http://schemas.openxmlformats.org/drawingml/2006/main">
            <a:r>
              <a:t>Q: Which near-term milestones unlock further commitment rather than merely create activity?</a:t>
            </a:r>
          </a:p>
          <a:p xmlns:a="http://schemas.openxmlformats.org/drawingml/2006/main">
            <a:r>
              <a:t>A: Three workstreams across 90 days: freeze and correct the claim register in weeks 1–2, approach one braking Tier-1 and Starkenn in weeks 1–4, and run telemetry-rich paid pilots through week 12.</a:t>
            </a:r>
          </a:p>
          <a:p xmlns:a="http://schemas.openxmlformats.org/drawingml/2006/main">
            <a:r>
              <a:t/>
            </a:r>
          </a:p>
          <a:p xmlns:a="http://schemas.openxmlformats.org/drawingml/2006/main">
            <a:r>
              <a:t>Mechanism: Each stage unlocks the next. Correcting claims makes the Tier-1 approach credible; the Tier-1 response defines what the pilots must measure. Run out of order, the pilots measure the wrong thing.</a:t>
            </a:r>
          </a:p>
          <a:p xmlns:a="http://schemas.openxmlformats.org/drawingml/2006/main">
            <a:r>
              <a:t>Counterargument: A sprint that produces artifacts but no signed pilot converts effort into documentation rather than commercial learning.</a:t>
            </a:r>
          </a:p>
          <a:p xmlns:a="http://schemas.openxmlformats.org/drawingml/2006/main">
            <a:r>
              <a:t>Falsifier: Falsified if the sprint closes with corrected claims but no paid pilot and no Tier-1 evaluation.</a:t>
            </a:r>
          </a:p>
          <a:p xmlns:a="http://schemas.openxmlformats.org/drawingml/2006/main">
            <a:r>
              <a:t>Implication: Evidence Reset Freeze claim register and correct regulatory language</a:t>
            </a:r>
          </a:p>
          <a:p xmlns:a="http://schemas.openxmlformats.org/drawingml/2006/main">
            <a:r>
              <a:t>Decision: Approve the 90-day sprint with three named workstream leads.</a:t>
            </a:r>
          </a:p>
          <a:p xmlns:a="http://schemas.openxmlformats.org/drawingml/2006/main">
            <a:r>
              <a:t>Owner: CEO · Trigger: Weekly milestone review; escalate on any missed week-2 or week-4 gate.</a:t>
            </a:r>
          </a:p>
          <a:p xmlns:a="http://schemas.openxmlformats.org/drawingml/2006/main">
            <a:r>
              <a:t>Stop/escalate: Escalate to the board if two of the three workstreams miss their first gate.</a:t>
            </a:r>
          </a:p>
          <a:p xmlns:a="http://schemas.openxmlformats.org/drawingml/2006/main">
            <a:r>
              <a:t/>
            </a:r>
          </a:p>
          <a:p xmlns:a="http://schemas.openxmlformats.org/drawingml/2006/main">
            <a:r>
              <a:t>Evidence: S37-01, S37-02, S37-03, S37-04, S37-05, S37-06, S37-07, S37-08, S37-09, S37-10, S37-11, S37-12</a:t>
            </a:r>
          </a:p>
          <a:p xmlns:a="http://schemas.openxmlformats.org/drawingml/2006/main">
            <a:r>
              <a:t>Evidence ledger claims S37-01–S37-12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P5 · Dated plan (exhibit: rail).</a:t>
            </a:r>
          </a:p>
          <a:p xmlns:a="http://schemas.openxmlformats.org/drawingml/2006/main">
            <a:r>
              <a:t>Bind status: bound</a:t>
            </a:r>
          </a:p>
          <a:p xmlns:a="http://schemas.openxmlformats.org/drawingml/2006/main">
            <a:r>
              <a:t/>
            </a:r>
          </a:p>
          <a:p xmlns:a="http://schemas.openxmlformats.org/drawingml/2006/main">
            <a:r>
              <a:t>Q: How should DeepGrid sequence the next 12 months while accommodating buyer timelines?</a:t>
            </a:r>
          </a:p>
          <a:p xmlns:a="http://schemas.openxmlformats.org/drawingml/2006/main">
            <a:r>
              <a:t>A: Timing Logic Automotive timing may not follow linear sequence</a:t>
            </a:r>
          </a:p>
          <a:p xmlns:a="http://schemas.openxmlformats.org/drawingml/2006/main">
            <a:r>
              <a:t/>
            </a:r>
          </a:p>
          <a:p xmlns:a="http://schemas.openxmlformats.org/drawingml/2006/main">
            <a:r>
              <a:t>Mechanism: Tying release to evidence rather than to calendar means capital is only committed once a buyer has validated the prior stage — which is what stops a roadmap outrunning its proof.</a:t>
            </a:r>
          </a:p>
          <a:p xmlns:a="http://schemas.openxmlformats.org/drawingml/2006/main">
            <a:r>
              <a:t>Counterargument: Automotive timing rarely follows a linear sequence. A buyer's programme may demand capability before the corresponding gate closes, forcing a choice between gate discipline and the deal.</a:t>
            </a:r>
          </a:p>
          <a:p xmlns:a="http://schemas.openxmlformats.org/drawingml/2006/main">
            <a:r>
              <a:t>Falsifier: Falsified if a buyer-backed qualification opportunity arrives that cannot wait for its scheduled gate.</a:t>
            </a:r>
          </a:p>
          <a:p xmlns:a="http://schemas.openxmlformats.org/drawingml/2006/main">
            <a:r>
              <a:t>Implication: Tie roadmap funding to buyer-backed qualification evidence</a:t>
            </a:r>
          </a:p>
          <a:p xmlns:a="http://schemas.openxmlformats.org/drawingml/2006/main">
            <a:r>
              <a:t>Decision: Adopt quarterly gates with ASIC funding conditional</a:t>
            </a:r>
          </a:p>
          <a:p xmlns:a="http://schemas.openxmlformats.org/drawingml/2006/main">
            <a:r>
              <a:t>Owner: CEO with CFO · Trigger: Quarterly gate review; ASIC funding released only on gate closure.</a:t>
            </a:r>
          </a:p>
          <a:p xmlns:a="http://schemas.openxmlformats.org/drawingml/2006/main">
            <a:r>
              <a:t>Stop/escalate: Stop ASIC funding in any quarter where the access gate has not closed.</a:t>
            </a:r>
          </a:p>
          <a:p xmlns:a="http://schemas.openxmlformats.org/drawingml/2006/main">
            <a:r>
              <a:t/>
            </a:r>
          </a:p>
          <a:p xmlns:a="http://schemas.openxmlformats.org/drawingml/2006/main">
            <a:r>
              <a:t>Evidence: S38-01, S38-02, S38-03, S38-04, S38-05, S38-06, S38-07, S38-08</a:t>
            </a:r>
          </a:p>
          <a:p xmlns:a="http://schemas.openxmlformats.org/drawingml/2006/main">
            <a:r>
              <a:t>Evidence ledger claims S38-01–S38-08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How should DeepGrid convert competitor activity into timely bid and pricing decisions?</a:t>
            </a:r>
          </a:p>
          <a:p xmlns:a="http://schemas.openxmlformats.org/drawingml/2006/main">
            <a:r>
              <a:t>A: Stand up six monitored signals — OEM nominations, product releases, assurance artifacts, tender records, pricing evidence and operating claims — each with a named primary source and owner, refreshed monthly and before every bid.</a:t>
            </a:r>
          </a:p>
          <a:p xmlns:a="http://schemas.openxmlformats.org/drawingml/2006/main">
            <a:r>
              <a:t/>
            </a:r>
          </a:p>
          <a:p xmlns:a="http://schemas.openxmlformats.org/drawingml/2006/main">
            <a:r>
              <a:t>Mechanism: A competitive surprise is almost always a signal nobody owned. Assigning each signal a primary source and an owner converts monitoring from browsing into a decision input with a cadence.</a:t>
            </a:r>
          </a:p>
          <a:p xmlns:a="http://schemas.openxmlformats.org/drawingml/2006/main">
            <a:r>
              <a:t>Counterargument: Six signals refreshed monthly is a standing overhead. Without a named owner per signal it degrades into a document nobody opens before a bid.</a:t>
            </a:r>
          </a:p>
          <a:p xmlns:a="http://schemas.openxmlformats.org/drawingml/2006/main">
            <a:r>
              <a:t>Falsifier: Falsified if a competitive surprise arrives through a channel none of the six signals covers.</a:t>
            </a:r>
          </a:p>
          <a:p xmlns:a="http://schemas.openxmlformats.org/drawingml/2006/main">
            <a:r>
              <a:t>Implication: Convert competitor activity into bid and pricing decisions on a fixed cadence rather than on rumour.</a:t>
            </a:r>
          </a:p>
          <a:p xmlns:a="http://schemas.openxmlformats.org/drawingml/2006/main">
            <a:r>
              <a:t>Decision: Approve the six-signal war room with a named owner per signal.</a:t>
            </a:r>
          </a:p>
          <a:p xmlns:a="http://schemas.openxmlformats.org/drawingml/2006/main">
            <a:r>
              <a:t>Owner: Head of Competitive Intelligence · Trigger: Monthly refresh, plus a mandatory refresh before every bid.</a:t>
            </a:r>
          </a:p>
          <a:p xmlns:a="http://schemas.openxmlformats.org/drawingml/2006/main">
            <a:r>
              <a:t>Stop/escalate: Escalate if any signal has no primary source or no named owner.</a:t>
            </a:r>
          </a:p>
          <a:p xmlns:a="http://schemas.openxmlformats.org/drawingml/2006/main">
            <a:r>
              <a:t/>
            </a:r>
          </a:p>
          <a:p xmlns:a="http://schemas.openxmlformats.org/drawingml/2006/main">
            <a:r>
              <a:t>Evidence: S39-01, S39-02, S39-03, S39-04, S39-05, S39-06, S39-07, S39-08</a:t>
            </a:r>
          </a:p>
          <a:p xmlns:a="http://schemas.openxmlformats.org/drawingml/2006/main">
            <a:r>
              <a:t>Evidence ledger claims S39-01–S39-08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P7 · Confidence register (exhibit: register).</a:t>
            </a:r>
          </a:p>
          <a:p xmlns:a="http://schemas.openxmlformats.org/drawingml/2006/main">
            <a:r>
              <a:t>Bind status: bound</a:t>
            </a:r>
          </a:p>
          <a:p xmlns:a="http://schemas.openxmlformats.org/drawingml/2006/main">
            <a:r>
              <a:t/>
            </a:r>
          </a:p>
          <a:p xmlns:a="http://schemas.openxmlformats.org/drawingml/2006/main">
            <a:r>
              <a:t>Q: How much confidence should DeepGrid place in competitor evidence now?</a:t>
            </a:r>
          </a:p>
          <a:p xmlns:a="http://schemas.openxmlformats.org/drawingml/2006/main">
            <a:r>
              <a:t>A: The mechanism separates realised execution evidence from intent: accountable customer, certification or deployment events change threat ratings. DeepGrid should replace impression-based composites with event-level audit trails and accountable owner assignments.</a:t>
            </a:r>
          </a:p>
          <a:p xmlns:a="http://schemas.openxmlformats.org/drawingml/2006/main">
            <a:r>
              <a:t/>
            </a:r>
          </a:p>
          <a:p xmlns:a="http://schemas.openxmlformats.org/drawingml/2006/main">
            <a:r>
              <a:t>Mechanism: Separating realised execution evidence from stated intent is what stops a competitor's announcement being scored like a customer's confirmation. The band, not the sentence, carries the weight.</a:t>
            </a:r>
          </a:p>
          <a:p xmlns:a="http://schemas.openxmlformats.org/drawingml/2006/main">
            <a:r>
              <a:t>Counterargument: Confidence banding is only as good as the tagging discipline. Tagged once and never revisited, the bands ossify and stale claims keep a confidence they no longer deserve.</a:t>
            </a:r>
          </a:p>
          <a:p xmlns:a="http://schemas.openxmlformats.org/drawingml/2006/main">
            <a:r>
              <a:t>Falsifier: Falsified if a high-confidence claim is later contradicted by a primary source.</a:t>
            </a:r>
          </a:p>
          <a:p xmlns:a="http://schemas.openxmlformats.org/drawingml/2006/main">
            <a:r>
              <a:t>Implication: Evidence Discipline Use the proposed confidence hierarchy for diligence prioritisation, not as proof: the materials identify source types and caveats but do not independently verify every claim</a:t>
            </a:r>
          </a:p>
          <a:p xmlns:a="http://schemas.openxmlformats.org/drawingml/2006/main">
            <a:r>
              <a:t>Decision: Apply confidence at statement level and remove unsupported numbers from client-facing materials. Use bands for diligence prioritisation, not as proof. Method:  Tag all claims with confidence; purge low-support numbers from client materials within 72 hours.</a:t>
            </a:r>
          </a:p>
          <a:p xmlns:a="http://schemas.openxmlformats.org/drawingml/2006/main">
            <a:r>
              <a:t>Owner: Head of Competitive Intelligence · Trigger: Re-tag all claims at each 90-day review.</a:t>
            </a:r>
          </a:p>
          <a:p xmlns:a="http://schemas.openxmlformats.org/drawingml/2006/main">
            <a:r>
              <a:t>Stop/escalate: Stop publishing any low-confidence number in client-facing material.</a:t>
            </a:r>
          </a:p>
          <a:p xmlns:a="http://schemas.openxmlformats.org/drawingml/2006/main">
            <a:r>
              <a:t/>
            </a:r>
          </a:p>
          <a:p xmlns:a="http://schemas.openxmlformats.org/drawingml/2006/main">
            <a:r>
              <a:t>Evidence: S55-01, S55-02, S55-03, S55-04, S55-05</a:t>
            </a:r>
          </a:p>
          <a:p xmlns:a="http://schemas.openxmlformats.org/drawingml/2006/main">
            <a:r>
              <a:t>Evidence ledger claims S55-01–S55-05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P7 · Confidence register (exhibit: register).</a:t>
            </a:r>
          </a:p>
          <a:p xmlns:a="http://schemas.openxmlformats.org/drawingml/2006/main">
            <a:r>
              <a:t>Bind status: bound</a:t>
            </a:r>
          </a:p>
          <a:p xmlns:a="http://schemas.openxmlformats.org/drawingml/2006/main">
            <a:r>
              <a:t/>
            </a:r>
          </a:p>
          <a:p xmlns:a="http://schemas.openxmlformats.org/drawingml/2006/main">
            <a:r>
              <a:t>Q: Where should DeepGrid focus monitoring and response based on evidence confidence?</a:t>
            </a:r>
          </a:p>
          <a:p xmlns:a="http://schemas.openxmlformats.org/drawingml/2006/main">
            <a:r>
              <a:t>A: Threat rises multiplicatively where control-point ownership and proof coincide. ZF and Aptiv hold both; STRADVISION contests the layer without owning the vehicle; the rest hold one or neither.</a:t>
            </a:r>
          </a:p>
          <a:p xmlns:a="http://schemas.openxmlformats.org/drawingml/2006/main">
            <a:r>
              <a:t/>
            </a:r>
          </a:p>
          <a:p xmlns:a="http://schemas.openxmlformats.org/drawingml/2006/main">
            <a:r>
              <a:t>Mechanism: Control creates access and proof converts access into conversion. A competitor holding only one of the two is bounded — which is why the map ranks by the product, not the sum.</a:t>
            </a:r>
          </a:p>
          <a:p xmlns:a="http://schemas.openxmlformats.org/drawingml/2006/main">
            <a:r>
              <a:t>Counterargument: A multiplicative model overweights incumbents. A competitor with proof but no control point can still win an aftermarket sale where no control point exists to own.</a:t>
            </a:r>
          </a:p>
          <a:p xmlns:a="http://schemas.openxmlformats.org/drawingml/2006/main">
            <a:r>
              <a:t>Falsifier: Falsified if a competitor holding neither control nor proof wins a named programme.</a:t>
            </a:r>
          </a:p>
          <a:p xmlns:a="http://schemas.openxmlformats.org/drawingml/2006/main">
            <a:r>
              <a:t>Implication: Threat rises multiplicatively: control-point ownership creates access, while programme evidence proves conversion. Monitor both dimensions</a:t>
            </a:r>
          </a:p>
          <a:p xmlns:a="http://schemas.openxmlformats.org/drawingml/2006/main">
            <a:r>
              <a:t>Decision: Focus monitoring and response on the proof-plus-access quadrant.</a:t>
            </a:r>
          </a:p>
          <a:p xmlns:a="http://schemas.openxmlformats.org/drawingml/2006/main">
            <a:r>
              <a:t>Owner: Head of Competitive Intelligence · Trigger: Re-plot the map at each 90-day review.</a:t>
            </a:r>
          </a:p>
          <a:p xmlns:a="http://schemas.openxmlformats.org/drawingml/2006/main">
            <a:r>
              <a:t>Stop/escalate: Stop allocating response effort to competitors in neither quadrant.</a:t>
            </a:r>
          </a:p>
          <a:p xmlns:a="http://schemas.openxmlformats.org/drawingml/2006/main">
            <a:r>
              <a:t/>
            </a:r>
          </a:p>
          <a:p xmlns:a="http://schemas.openxmlformats.org/drawingml/2006/main">
            <a:r>
              <a:t>Evidence: S57-01, S57-02, S57-03, S57-04, S57-05, S57-06</a:t>
            </a:r>
          </a:p>
          <a:p xmlns:a="http://schemas.openxmlformats.org/drawingml/2006/main">
            <a:r>
              <a:t>Evidence ledger claims S57-01–S57-06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evidence should raise, hold, or lower a competitor threat score?</a:t>
            </a:r>
          </a:p>
          <a:p xmlns:a="http://schemas.openxmlformats.org/drawingml/2006/main">
            <a:r>
              <a:t>A: A threat score moves only on an auditable event. A named customer-side production award or a primary certificate raises it; a missed SOP or a failed delivery timeline lowers it. Announcements move nothing.</a:t>
            </a:r>
          </a:p>
          <a:p xmlns:a="http://schemas.openxmlformats.org/drawingml/2006/main">
            <a:r>
              <a:t/>
            </a:r>
          </a:p>
          <a:p xmlns:a="http://schemas.openxmlformats.org/drawingml/2006/main">
            <a:r>
              <a:t>Mechanism: Tying score changes to a closed list of evidence events makes the rating reviewable after the fact. Without that list, scores drift with news volume rather than with competitive position.</a:t>
            </a:r>
          </a:p>
          <a:p xmlns:a="http://schemas.openxmlformats.org/drawingml/2006/main">
            <a:r>
              <a:t>Counterargument: Waiting for auditable events makes the scoring lag the market; a competitor can build a decisive position in the interval between two auditable milestones.</a:t>
            </a:r>
          </a:p>
          <a:p xmlns:a="http://schemas.openxmlformats.org/drawingml/2006/main">
            <a:r>
              <a:t>Falsifier: Falsified if a competitor's position changes materially without any auditable event occurring.</a:t>
            </a:r>
          </a:p>
          <a:p xmlns:a="http://schemas.openxmlformats.org/drawingml/2006/main">
            <a:r>
              <a:t>Implication: Threat ratings become defensible and reviewable rather than reactive to news.</a:t>
            </a:r>
          </a:p>
          <a:p xmlns:a="http://schemas.openxmlformats.org/drawingml/2006/main">
            <a:r>
              <a:t>Decision: Adopt the raise/lower criteria as the only permitted basis for a score change.</a:t>
            </a:r>
          </a:p>
          <a:p xmlns:a="http://schemas.openxmlformats.org/drawingml/2006/main">
            <a:r>
              <a:t>Owner: Head of Competitive Intelligence · Trigger: Any named production award, primary certificate, missed SOP or delivery failure.</a:t>
            </a:r>
          </a:p>
          <a:p xmlns:a="http://schemas.openxmlformats.org/drawingml/2006/main">
            <a:r>
              <a:t>Stop/escalate: Stop any score change not tied to a listed evidence event.</a:t>
            </a:r>
          </a:p>
          <a:p xmlns:a="http://schemas.openxmlformats.org/drawingml/2006/main">
            <a:r>
              <a:t/>
            </a:r>
          </a:p>
          <a:p xmlns:a="http://schemas.openxmlformats.org/drawingml/2006/main">
            <a:r>
              <a:t>Evidence: S72-01, S72-02, S72-03, S72-04, S72-05</a:t>
            </a:r>
          </a:p>
          <a:p xmlns:a="http://schemas.openxmlformats.org/drawingml/2006/main">
            <a:r>
              <a:t>Evidence ledger claims S72-01–S72-05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Hostile questions.</a:t>
            </a:r>
          </a:p>
          <a:p xmlns:a="http://schemas.openxmlformats.org/drawingml/2006/main">
            <a:r>
              <a:t/>
            </a:r>
          </a:p>
          <a:p xmlns:a="http://schemas.openxmlformats.org/drawingml/2006/main">
            <a:r>
              <a:t>Q: “India-native” is our differentiator — why retire it?</a:t>
            </a:r>
          </a:p>
          <a:p xmlns:a="http://schemas.openxmlformats.org/drawingml/2006/main">
            <a:r>
              <a:t>A: It is not a control point. Government buyers reward demonstrable performance and procurement credibility; nationality alone has never cleared a homologation gate. Lead with measured constrained-compute VRU performance instead.</a:t>
            </a:r>
          </a:p>
          <a:p xmlns:a="http://schemas.openxmlformats.org/drawingml/2006/main">
            <a:r>
              <a:t/>
            </a:r>
          </a:p>
          <a:p xmlns:a="http://schemas.openxmlformats.org/drawingml/2006/main">
            <a:r>
              <a:t>Q: If ZF and Aptiv own the vehicle, is there any position left at all?</a:t>
            </a:r>
          </a:p>
          <a:p xmlns:a="http://schemas.openxmlformats.org/drawingml/2006/main">
            <a:r>
              <a:t>A: Yes — the perception layer they choose to embed. That is a Tier-2 position inside their safety case, which is exactly why the market-entry event is a named braking Tier-1 accepting our interfaces, not an OEM win.</a:t>
            </a:r>
          </a:p>
          <a:p xmlns:a="http://schemas.openxmlformats.org/drawingml/2006/main">
            <a:r>
              <a:t/>
            </a:r>
          </a:p>
          <a:p xmlns:a="http://schemas.openxmlformats.org/drawingml/2006/main">
            <a:r>
              <a:t>Q: Starkenn shows 2,500+ vehicles. Are we not already behind?</a:t>
            </a:r>
          </a:p>
          <a:p xmlns:a="http://schemas.openxmlformats.org/drawingml/2006/main">
            <a:r>
              <a:t>A: The number does not survive its own source. The single Nov-2024 interview it comes from also says ‘over 700 units sold’ and ‘300+ vehicles have deployed our tech’ — three figures for one quantity, self-reported and unaudited, now ~21 months old. Starkenn is a 57-person company shrinking 15.8% year on year on $2.0m of lifetime funding. What is real is its 30% government-tender share and 40% subscription revenue — empanelment and recurring revenue, not scale. Compete on the tender route, not against a deployment count that cannot be quoted. (EV-STK-04, EV-STK-05)</a:t>
            </a:r>
          </a:p>
          <a:p xmlns:a="http://schemas.openxmlformats.org/drawingml/2006/main">
            <a:r>
              <a:t/>
            </a:r>
          </a:p>
          <a:p xmlns:a="http://schemas.openxmlformats.org/drawingml/2006/main">
            <a:r>
              <a:t>Q: The ASIC gives us a 3–7× cost advantage. Why gate the capital?</a:t>
            </a:r>
          </a:p>
          <a:p xmlns:a="http://schemas.openxmlformats.org/drawingml/2006/main">
            <a:r>
              <a:t>A: Because a projected die price is not comparable to a system price. The bridge must carry NRE, yield, package, qualification, warranty and lifecycle. Commission the break-even model first; the direction is not the magnitude.</a:t>
            </a:r>
          </a:p>
          <a:p xmlns:a="http://schemas.openxmlformats.org/drawingml/2006/main">
            <a:r>
              <a:t/>
            </a:r>
          </a:p>
          <a:p xmlns:a="http://schemas.openxmlformats.org/drawingml/2006/main">
            <a:r>
              <a:t>Q: Why only four gates? Can we not run more in parallel?</a:t>
            </a:r>
          </a:p>
          <a:p xmlns:a="http://schemas.openxmlformats.org/drawingml/2006/main">
            <a:r>
              <a:t>A: Four parallel gates already exceed the engineering and management capacity of a company this size. Running six dilutes all of them rather than clearing any one. The stop rule is explicit: re-plan if two of four miss their first milestone.</a:t>
            </a:r>
          </a:p>
          <a:p xmlns:a="http://schemas.openxmlformats.org/drawingml/2006/main">
            <a:r>
              <a:t/>
            </a:r>
          </a:p>
          <a:p xmlns:a="http://schemas.openxmlformats.org/drawingml/2006/main">
            <a:r>
              <a:t>Q: What would make you change this recommendation?</a:t>
            </a:r>
          </a:p>
          <a:p xmlns:a="http://schemas.openxmlformats.org/drawingml/2006/main">
            <a:r>
              <a:t>A: A named Indian CV OEM qualifying DeepGrid directly, with no braking Tier-1 in the loop, before 1 October 2027. That single observable overturns the attach-and-prove thesis, and it is on the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59736043ed1741e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05909d2ca5f4b10" Type="http://schemas.openxmlformats.org/officeDocument/2006/relationships/slideLayout" Target="../slideLayouts/slideLayout1.xml"/><Relationship Id="Raa00df8ec1654239"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5909d2ca5f4b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da2acc9aa9d4fd0" Type="http://schemas.openxmlformats.org/officeDocument/2006/relationships/notesSlide" Target="../notesSlides/notesSlide1.xml"/><Relationship Id="R35cc875e01274d1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171dec5c7c114040" Type="http://schemas.openxmlformats.org/officeDocument/2006/relationships/slideLayout" Target="../slideLayouts/slideLayout1.xml"/><Relationship Id="R23d28f12f129441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97c9d5a9ff314e1d" Type="http://schemas.openxmlformats.org/officeDocument/2006/relationships/slideLayout" Target="../slideLayouts/slideLayout1.xml"/><Relationship Id="Rcb056ddca5d944fb"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0063edd4f8fb4bfe" Type="http://schemas.openxmlformats.org/officeDocument/2006/relationships/slideLayout" Target="../slideLayouts/slideLayout1.xml"/><Relationship Id="R4e785f65381a448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13bf70a921a141bb" Type="http://schemas.openxmlformats.org/officeDocument/2006/relationships/slideLayout" Target="../slideLayouts/slideLayout1.xml"/><Relationship Id="Rb33c97f817ee49cc"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189931ce690b4d78" Type="http://schemas.openxmlformats.org/officeDocument/2006/relationships/notesSlide" Target="../notesSlides/notesSlide6.xml"/><Relationship Id="Rbb08c373d30942c9"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493c6e6f5dea46df" Type="http://schemas.openxmlformats.org/officeDocument/2006/relationships/slideLayout" Target="../slideLayouts/slideLayout1.xml"/><Relationship Id="Rd3fac410ec0f464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53779f6c5037474c" Type="http://schemas.openxmlformats.org/officeDocument/2006/relationships/slideLayout" Target="../slideLayouts/slideLayout1.xml"/><Relationship Id="Red53e784c3b9472a"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2cd5ab6da16c4b4d" Type="http://schemas.openxmlformats.org/officeDocument/2006/relationships/slideLayout" Target="../slideLayouts/slideLayout1.xml"/><Relationship Id="R83ab36df215147b9" Type="http://schemas.openxmlformats.org/officeDocument/2006/relationships/image" Target="../media/image.png"/><Relationship Id="Raf6130a5a0ca44fd"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a0c4d0e674064248" Type="http://schemas.openxmlformats.org/officeDocument/2006/relationships/slideLayout" Target="../slideLayouts/slideLayout1.xml"/><Relationship Id="Rd26d6b509102456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15c6d0b35fe74312" Type="http://schemas.openxmlformats.org/officeDocument/2006/relationships/notesSlide" Target="../notesSlides/notesSlide11.xml"/><Relationship Id="Rfe903680a63e4c69"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c07c7ed5860f4e14" Type="http://schemas.openxmlformats.org/officeDocument/2006/relationships/notesSlide" Target="../notesSlides/notesSlide12.xml"/><Relationship Id="Rd98305a6bdfe404c"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2d7e13c86a4e458a" Type="http://schemas.openxmlformats.org/officeDocument/2006/relationships/notesSlide" Target="../notesSlides/notesSlide13.xml"/><Relationship Id="Rfde822e27c9a4057"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ba7d35656c7c47da" Type="http://schemas.openxmlformats.org/officeDocument/2006/relationships/notesSlide" Target="../notesSlides/notesSlide14.xml"/><Relationship Id="Reb91f37cef7f4326"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66ca75473f514701" Type="http://schemas.openxmlformats.org/officeDocument/2006/relationships/slideLayout" Target="../slideLayouts/slideLayout1.xml"/><Relationship Id="R92353db5b43848c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472e4cb551ae405b" Type="http://schemas.openxmlformats.org/officeDocument/2006/relationships/slideLayout" Target="../slideLayouts/slideLayout1.xml"/><Relationship Id="R8b5348f9af824ef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e3967484415a4b0c" Type="http://schemas.openxmlformats.org/officeDocument/2006/relationships/slideLayout" Target="../slideLayouts/slideLayout1.xml"/><Relationship Id="Re946cc1fac824ae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121a38134fd24ad8" Type="http://schemas.openxmlformats.org/officeDocument/2006/relationships/slideLayout" Target="../slideLayouts/slideLayout1.xml"/><Relationship Id="R87fdc66700474c8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760228b0a10e401e" Type="http://schemas.openxmlformats.org/officeDocument/2006/relationships/slideLayout" Target="../slideLayouts/slideLayout1.xml"/><Relationship Id="Rac4dc7fb86764f4c"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0c3bc458ab824dfd" Type="http://schemas.openxmlformats.org/officeDocument/2006/relationships/slideLayout" Target="../slideLayouts/slideLayout1.xml"/><Relationship Id="R81a4bb6ca8324f3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5e8348954f134933" Type="http://schemas.openxmlformats.org/officeDocument/2006/relationships/slideLayout" Target="../slideLayouts/slideLayout1.xml"/><Relationship Id="Rb3d047a10eba42c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693494eb1367458c" Type="http://schemas.openxmlformats.org/officeDocument/2006/relationships/slideLayout" Target="../slideLayouts/slideLayout1.xml"/><Relationship Id="Rd24a2caf66ef442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ce6baa4c1fc74e55" Type="http://schemas.openxmlformats.org/officeDocument/2006/relationships/slideLayout" Target="../slideLayouts/slideLayout1.xml"/><Relationship Id="Re131e774129242cd"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5963dd45a24846fb" Type="http://schemas.openxmlformats.org/officeDocument/2006/relationships/notesSlide" Target="../notesSlides/notesSlide24.xml"/><Relationship Id="Rc06f8592011b4989"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892abb2a677343a6" Type="http://schemas.openxmlformats.org/officeDocument/2006/relationships/notesSlide" Target="../notesSlides/notesSlide25.xml"/><Relationship Id="Ra5802ac9ea0347f5"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19c466f827df4ee1" Type="http://schemas.openxmlformats.org/officeDocument/2006/relationships/slideLayout" Target="../slideLayouts/slideLayout1.xml"/><Relationship Id="R365d4a5d36af4c6e"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5ca1138ad5ec4d24" Type="http://schemas.openxmlformats.org/officeDocument/2006/relationships/notesSlide" Target="../notesSlides/notesSlide27.xml"/><Relationship Id="Rbf98f7d42c1f4e5e"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030cef3be7564209" Type="http://schemas.openxmlformats.org/officeDocument/2006/relationships/notesSlide" Target="../notesSlides/notesSlide28.xml"/><Relationship Id="R8d29e7801c464f8c"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510aacb0962142f9" Type="http://schemas.openxmlformats.org/officeDocument/2006/relationships/slideLayout" Target="../slideLayouts/slideLayout1.xml"/><Relationship Id="Ra527b4d9d7e24f8a"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337fc37ab4344c1f" Type="http://schemas.openxmlformats.org/officeDocument/2006/relationships/slideLayout" Target="../slideLayouts/slideLayout1.xml"/><Relationship Id="R3f40b529f47e4231"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4d946401217849c9" Type="http://schemas.openxmlformats.org/officeDocument/2006/relationships/slideLayout" Target="../slideLayouts/slideLayout1.xml"/><Relationship Id="R6582b13f38c8497b"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9dbda55b505e4101" Type="http://schemas.openxmlformats.org/officeDocument/2006/relationships/slideLayout" Target="../slideLayouts/slideLayout1.xml"/><Relationship Id="Rff9c5677878e4f2e"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3cd6f77380d14c48" Type="http://schemas.openxmlformats.org/officeDocument/2006/relationships/notesSlide" Target="../notesSlides/notesSlide33.xml"/><Relationship Id="Rd3cc81fc1b8a47f7"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13724554250643c1" Type="http://schemas.openxmlformats.org/officeDocument/2006/relationships/slideLayout" Target="../slideLayouts/slideLayout1.xml"/><Relationship Id="R767f0b7916e249b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6bb83cc7c4fc44ae" Type="http://schemas.openxmlformats.org/officeDocument/2006/relationships/slideLayout" Target="../slideLayouts/slideLayout1.xml"/><Relationship Id="Rfa0cd729e05d499c"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3f65f1676ad64832" Type="http://schemas.openxmlformats.org/officeDocument/2006/relationships/notesSlide" Target="../notesSlides/notesSlide36.xml"/><Relationship Id="R95729a308ad24729"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0189f601b4e64142" Type="http://schemas.openxmlformats.org/officeDocument/2006/relationships/slideLayout" Target="../slideLayouts/slideLayout1.xml"/><Relationship Id="Ra14104eb4ca04ebc"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28a80b4249954a69" Type="http://schemas.openxmlformats.org/officeDocument/2006/relationships/slideLayout" Target="../slideLayouts/slideLayout1.xml"/><Relationship Id="Ra53353cea0c7455b"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19459dfb7fc74316" Type="http://schemas.openxmlformats.org/officeDocument/2006/relationships/notesSlide" Target="../notesSlides/notesSlide39.xml"/><Relationship Id="R47b500b0f47d4a80"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decd106cc82f433f" Type="http://schemas.openxmlformats.org/officeDocument/2006/relationships/slideLayout" Target="../slideLayouts/slideLayout1.xml"/><Relationship Id="Re5de479d172b446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1d24cc086900465f" Type="http://schemas.openxmlformats.org/officeDocument/2006/relationships/notesSlide" Target="../notesSlides/notesSlide41.xml"/><Relationship Id="R1eb405dccc6747c5"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5ea20d1b5ad241e4" Type="http://schemas.openxmlformats.org/officeDocument/2006/relationships/notesSlide" Target="../notesSlides/notesSlide42.xml"/><Relationship Id="R8f2b175e71a6424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553db2c8b625407e" Type="http://schemas.openxmlformats.org/officeDocument/2006/relationships/notesSlide" Target="../notesSlides/notesSlide43.xml"/><Relationship Id="Rccdfc24d48414d2c"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99aabcb3cd7f4d3e" Type="http://schemas.openxmlformats.org/officeDocument/2006/relationships/notesSlide" Target="../notesSlides/notesSlide44.xml"/><Relationship Id="Rf22b682fc44545c6"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46acab3907204687" Type="http://schemas.openxmlformats.org/officeDocument/2006/relationships/notesSlide" Target="../notesSlides/notesSlide45.xml"/><Relationship Id="R625c3b44c0774bc8"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9374604609244ec1" Type="http://schemas.openxmlformats.org/officeDocument/2006/relationships/slideLayout" Target="../slideLayouts/slideLayout1.xml"/><Relationship Id="Rc528b81b6c454a0f"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193c006c301c45eb" Type="http://schemas.openxmlformats.org/officeDocument/2006/relationships/slideLayout" Target="../slideLayouts/slideLayout1.xml"/><Relationship Id="R1d2ac392c1ab413d"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5823a74c4ea743e6" Type="http://schemas.openxmlformats.org/officeDocument/2006/relationships/notesSlide" Target="../notesSlides/notesSlide48.xml"/><Relationship Id="Reb1a828ebb714125"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92a9a18bdb774d09" Type="http://schemas.openxmlformats.org/officeDocument/2006/relationships/slideLayout" Target="../slideLayouts/slideLayout1.xml"/><Relationship Id="R95e35d26a7c843c1"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1d49af4832d34052" Type="http://schemas.openxmlformats.org/officeDocument/2006/relationships/slideLayout" Target="../slideLayouts/slideLayout1.xml"/><Relationship Id="R447abc17616f421f"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268b90f8d7a04a73" Type="http://schemas.openxmlformats.org/officeDocument/2006/relationships/slideLayout" Target="../slideLayouts/slideLayout1.xml"/><Relationship Id="R97545680022d460b"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8b60cf8206b643e7" Type="http://schemas.openxmlformats.org/officeDocument/2006/relationships/slideLayout" Target="../slideLayouts/slideLayout1.xml"/><Relationship Id="R9ce367ba5b7841aa"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09a89b9210f34bfa" Type="http://schemas.openxmlformats.org/officeDocument/2006/relationships/slideLayout" Target="../slideLayouts/slideLayout1.xml"/><Relationship Id="Rf72c72a3435e4bc9"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4575ff0b4e744a86" Type="http://schemas.openxmlformats.org/officeDocument/2006/relationships/notesSlide" Target="../notesSlides/notesSlide54.xml"/><Relationship Id="R9925262b70824bd6"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3d654f0dd9044942" Type="http://schemas.openxmlformats.org/officeDocument/2006/relationships/slideLayout" Target="../slideLayouts/slideLayout1.xml"/><Relationship Id="Rc625b35a1ef844ac"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56a6510734ec4cd1" Type="http://schemas.openxmlformats.org/officeDocument/2006/relationships/slideLayout" Target="../slideLayouts/slideLayout1.xml"/><Relationship Id="R95ac996dd7454a68"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01b55b56a197407d" Type="http://schemas.openxmlformats.org/officeDocument/2006/relationships/slideLayout" Target="../slideLayouts/slideLayout1.xml"/><Relationship Id="Re8628fe2eb214520"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160ffbd5c851473b" Type="http://schemas.openxmlformats.org/officeDocument/2006/relationships/notesSlide" Target="../notesSlides/notesSlide58.xml"/><Relationship Id="R55d1f4d1bc114b74"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2c20ea2ff32847a0" Type="http://schemas.openxmlformats.org/officeDocument/2006/relationships/slideLayout" Target="../slideLayouts/slideLayout1.xml"/><Relationship Id="R343da7a157a34ce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a4e7b70c5f1c45d3" Type="http://schemas.openxmlformats.org/officeDocument/2006/relationships/slideLayout" Target="../slideLayouts/slideLayout1.xml"/><Relationship Id="Rc8e902d5705f46b5"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0d31fa2abf0b4b5f" Type="http://schemas.openxmlformats.org/officeDocument/2006/relationships/slideLayout" Target="../slideLayouts/slideLayout1.xml"/><Relationship Id="R17366b21eacd44dc"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89b8445a30aa4fa1" Type="http://schemas.openxmlformats.org/officeDocument/2006/relationships/slideLayout" Target="../slideLayouts/slideLayout1.xml"/><Relationship Id="Rc2896947de294038"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58b32a1b3e8b48bb" Type="http://schemas.openxmlformats.org/officeDocument/2006/relationships/slideLayout" Target="../slideLayouts/slideLayout1.xml"/><Relationship Id="Rde763c213fe94ae9"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8bb5b00157d24230" Type="http://schemas.openxmlformats.org/officeDocument/2006/relationships/notesSlide" Target="../notesSlides/notesSlide64.xml"/><Relationship Id="Rf557d1f150c642e3"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99b901bdaa8a4fa4" Type="http://schemas.openxmlformats.org/officeDocument/2006/relationships/slideLayout" Target="../slideLayouts/slideLayout1.xml"/><Relationship Id="R9dce5cf6873c463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37fbafc00c534739" Type="http://schemas.openxmlformats.org/officeDocument/2006/relationships/notesSlide" Target="../notesSlides/notesSlide66.xml"/><Relationship Id="Rc2e5edbc319b421b"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10d97bc47c484755" Type="http://schemas.openxmlformats.org/officeDocument/2006/relationships/slideLayout" Target="../slideLayouts/slideLayout1.xml"/><Relationship Id="Rb082139967474ab5"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b3e10300129242a2" Type="http://schemas.openxmlformats.org/officeDocument/2006/relationships/slideLayout" Target="../slideLayouts/slideLayout1.xml"/><Relationship Id="Rc0453148d1944c80"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7a9e4ea457814b58" Type="http://schemas.openxmlformats.org/officeDocument/2006/relationships/slideLayout" Target="../slideLayouts/slideLayout1.xml"/><Relationship Id="Re467d2bc11db4a85"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6a86dd256b4340a7" Type="http://schemas.openxmlformats.org/officeDocument/2006/relationships/slideLayout" Target="../slideLayouts/slideLayout1.xml"/><Relationship Id="Rd60f15358cd449f9"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2fbc10093967496c" Type="http://schemas.openxmlformats.org/officeDocument/2006/relationships/notesSlide" Target="../notesSlides/notesSlide71.xml"/><Relationship Id="R3ae69f6849434d5c"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2597fe447c8a4936" Type="http://schemas.openxmlformats.org/officeDocument/2006/relationships/notesSlide" Target="../notesSlides/notesSlide72.xml"/><Relationship Id="R4d200584f1e548f8"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4a15c346b745421c" Type="http://schemas.openxmlformats.org/officeDocument/2006/relationships/slideLayout" Target="../slideLayouts/slideLayout1.xml"/><Relationship Id="Re70cd2a5d19b47ce"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5058a35a728f4cf1" Type="http://schemas.openxmlformats.org/officeDocument/2006/relationships/notesSlide" Target="../notesSlides/notesSlide74.xml"/><Relationship Id="Rbf25e73ab7d243d9"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9873235096884aae" Type="http://schemas.openxmlformats.org/officeDocument/2006/relationships/slideLayout" Target="../slideLayouts/slideLayout1.xml"/><Relationship Id="Rfff1c0f6b8c04f61"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69acf5ed938c4481" Type="http://schemas.openxmlformats.org/officeDocument/2006/relationships/slideLayout" Target="../slideLayouts/slideLayout1.xml"/><Relationship Id="R7e9585c59d8840dc"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0bceef237365448b" Type="http://schemas.openxmlformats.org/officeDocument/2006/relationships/slideLayout" Target="../slideLayouts/slideLayout1.xml"/><Relationship Id="Rb50820ac6bea4a4b"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6c69beaf1e354f77" Type="http://schemas.openxmlformats.org/officeDocument/2006/relationships/slideLayout" Target="../slideLayouts/slideLayout1.xml"/><Relationship Id="Rbc455bd8bf2043f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3d5d073796c24c49" Type="http://schemas.openxmlformats.org/officeDocument/2006/relationships/slideLayout" Target="../slideLayouts/slideLayout1.xml"/><Relationship Id="R8e7d3f0529144329"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221fa075bb814e27" Type="http://schemas.openxmlformats.org/officeDocument/2006/relationships/notesSlide" Target="../notesSlides/notesSlide80.xml"/><Relationship Id="Rdba9ac3741384fad"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1f22856094024081" Type="http://schemas.openxmlformats.org/officeDocument/2006/relationships/slideLayout" Target="../slideLayouts/slideLayout1.xml"/><Relationship Id="R6da3d8143d6548c9"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0132e454492b491e" Type="http://schemas.openxmlformats.org/officeDocument/2006/relationships/notesSlide" Target="../notesSlides/notesSlide82.xml"/><Relationship Id="Rfd80957065104c05"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37e7eff8384b4e7b" Type="http://schemas.openxmlformats.org/officeDocument/2006/relationships/slideLayout" Target="../slideLayouts/slideLayout1.xml"/><Relationship Id="Rc9e9bdc5ab3a4655"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40b074504d424088" Type="http://schemas.openxmlformats.org/officeDocument/2006/relationships/slideLayout" Target="../slideLayouts/slideLayout1.xml"/><Relationship Id="R5afae435a1cc4415"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a3559d7a6f274d61" Type="http://schemas.openxmlformats.org/officeDocument/2006/relationships/notesSlide" Target="../notesSlides/notesSlide85.xml"/><Relationship Id="Rc043e0dd535c4d8d"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5b8639768db9455c" Type="http://schemas.openxmlformats.org/officeDocument/2006/relationships/slideLayout" Target="../slideLayouts/slideLayout1.xml"/><Relationship Id="Rab557a1e22714aa8"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24198fd5e5bf4262" Type="http://schemas.openxmlformats.org/officeDocument/2006/relationships/notesSlide" Target="../notesSlides/notesSlide87.xml"/><Relationship Id="Rfd2b3ffd4ac34aae"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30baa39826164982" Type="http://schemas.openxmlformats.org/officeDocument/2006/relationships/notesSlide" Target="../notesSlides/notesSlide88.xml"/><Relationship Id="R64512201504b40b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a1e7cbc7b5124c44" Type="http://schemas.openxmlformats.org/officeDocument/2006/relationships/slideLayout" Target="../slideLayouts/slideLayout1.xml"/><Relationship Id="Rfa5294e7b52d4955"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1e28a4023be9446f" Type="http://schemas.openxmlformats.org/officeDocument/2006/relationships/slideLayout" Target="../slideLayouts/slideLayout1.xml"/><Relationship Id="R249ab13fbf054d50"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1d07da107b6f44f0" Type="http://schemas.openxmlformats.org/officeDocument/2006/relationships/slideLayout" Target="../slideLayouts/slideLayout1.xml"/><Relationship Id="Rd113ec01410d497f"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3c925caf1d7c46d9" Type="http://schemas.openxmlformats.org/officeDocument/2006/relationships/notesSlide" Target="../notesSlides/notesSlide92.xml"/><Relationship Id="Rf1a7a6f8d7c848c2"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aec96312e21444f0" Type="http://schemas.openxmlformats.org/officeDocument/2006/relationships/notesSlide" Target="../notesSlides/notesSlide93.xml"/><Relationship Id="Rd9a586ca786a4a14"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0922a01dfe0744f8" Type="http://schemas.openxmlformats.org/officeDocument/2006/relationships/slideLayout" Target="../slideLayouts/slideLayout1.xml"/><Relationship Id="R85568b62b8e94f5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737b58a828194818" Type="http://schemas.openxmlformats.org/officeDocument/2006/relationships/slideLayout" Target="../slideLayouts/slideLayout1.xml"/><Relationship Id="Rdcce9217530542e7"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c1e33f0b1b274971" Type="http://schemas.openxmlformats.org/officeDocument/2006/relationships/notesSlide" Target="../notesSlides/notesSlide96.xml"/><Relationship Id="Rd85abafe0c574d87"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5a59a886b4f24844" Type="http://schemas.openxmlformats.org/officeDocument/2006/relationships/notesSlide" Target="../notesSlides/notesSlide97.xml"/><Relationship Id="Re752247478bc47f2"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06070dfd07d4465e" Type="http://schemas.openxmlformats.org/officeDocument/2006/relationships/slideLayout" Target="../slideLayouts/slideLayout1.xml"/><Relationship Id="R6f308b2c65b94889"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48cbb8e4d5ce4b44" Type="http://schemas.openxmlformats.org/officeDocument/2006/relationships/slideLayout" Target="../slideLayouts/slideLayout1.xml"/><Relationship Id="Rdacefab8de104051"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9707cf0017f14d5f" Type="http://schemas.openxmlformats.org/officeDocument/2006/relationships/notesSlide" Target="../notesSlides/notesSlide100.xml"/><Relationship Id="Ra79c44789cda42a0"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adc4f991b46f4a59" Type="http://schemas.openxmlformats.org/officeDocument/2006/relationships/notesSlide" Target="../notesSlides/notesSlide101.xml"/><Relationship Id="Rebd8543e911c460f"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b47c6d71f7d941c0" Type="http://schemas.openxmlformats.org/officeDocument/2006/relationships/slideLayout" Target="../slideLayouts/slideLayout1.xml"/><Relationship Id="Rf6b1e66faa5141db"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41df8fb6ff564981" Type="http://schemas.openxmlformats.org/officeDocument/2006/relationships/notesSlide" Target="../notesSlides/notesSlide103.xml"/><Relationship Id="Re6cdeb6010cf46b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22ba9a7c646d4158" Type="http://schemas.openxmlformats.org/officeDocument/2006/relationships/notesSlide" Target="../notesSlides/notesSlide104.xml"/><Relationship Id="R307971fd583b4eff"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c2ae402fc3fd4563" Type="http://schemas.openxmlformats.org/officeDocument/2006/relationships/notesSlide" Target="../notesSlides/notesSlide105.xml"/><Relationship Id="Re734ccc29c49448d"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2fa4b2a4a86f48dd" Type="http://schemas.openxmlformats.org/officeDocument/2006/relationships/slideLayout" Target="../slideLayouts/slideLayout1.xml"/><Relationship Id="Red8d73c748a24fd9"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0cc7e1eccb3540b3" Type="http://schemas.openxmlformats.org/officeDocument/2006/relationships/notesSlide" Target="../notesSlides/notesSlide107.xml"/><Relationship Id="R5a8ab2dea5a441df"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17a12e364d29416a" Type="http://schemas.openxmlformats.org/officeDocument/2006/relationships/slideLayout" Target="../slideLayouts/slideLayout1.xml"/><Relationship Id="R37490f08e8944b14"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226c7db4f41b4b4d" Type="http://schemas.openxmlformats.org/officeDocument/2006/relationships/slideLayout" Target="../slideLayouts/slideLayout1.xml"/><Relationship Id="R2b61587352084d0c"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3c9941026fd741b2" Type="http://schemas.openxmlformats.org/officeDocument/2006/relationships/slideLayout" Target="../slideLayouts/slideLayout1.xml"/><Relationship Id="Rb28602afc9c14ada"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3f77c125e389405a" Type="http://schemas.openxmlformats.org/officeDocument/2006/relationships/notesSlide" Target="../notesSlides/notesSlide111.xml"/><Relationship Id="R45d461610161432e"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c0847e48a07f4d30" Type="http://schemas.openxmlformats.org/officeDocument/2006/relationships/notesSlide" Target="../notesSlides/notesSlide112.xml"/><Relationship Id="Rfbec955a26df432d"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6032f51b4d804cd6" Type="http://schemas.openxmlformats.org/officeDocument/2006/relationships/notesSlide" Target="../notesSlides/notesSlide113.xml"/><Relationship Id="Rbcd74fc99b1f4fb3"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62b4d3be0bc54573" Type="http://schemas.openxmlformats.org/officeDocument/2006/relationships/notesSlide" Target="../notesSlides/notesSlide114.xml"/><Relationship Id="Raaf42535f57d4562"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0cf0ca9bf0ae4a1b" Type="http://schemas.openxmlformats.org/officeDocument/2006/relationships/notesSlide" Target="../notesSlides/notesSlide115.xml"/><Relationship Id="R26b74ae26ce2408d"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862f6551b8ec4aa3" Type="http://schemas.openxmlformats.org/officeDocument/2006/relationships/slideLayout" Target="../slideLayouts/slideLayout1.xml"/><Relationship Id="Rce75eb43a5f84a95"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1a55ce48387d430f" Type="http://schemas.openxmlformats.org/officeDocument/2006/relationships/slideLayout" Target="../slideLayouts/slideLayout1.xml"/><Relationship Id="R9de6531984f441c4"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29ab1b08afee4b56" Type="http://schemas.openxmlformats.org/officeDocument/2006/relationships/slideLayout" Target="../slideLayouts/slideLayout1.xml"/><Relationship Id="R9dec6f47493b42af"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00a494d12728479f" Type="http://schemas.openxmlformats.org/officeDocument/2006/relationships/slideLayout" Target="../slideLayouts/slideLayout1.xml"/><Relationship Id="Rcbba8fa0e3924725"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7E25E4A-6CFA-432A-BCB7-FCDDD4DA7F5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55E2FC-EC21-4520-83F6-1DF9AAF6A54C}"/>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5270A0C-1553-4668-B843-AAED2D24FCE0}"/>
              </a:ext>
            </a:extLst>
          </p:cNvPr>
          <p:cNvSpPr>
            <a:spLocks xmlns:a="http://schemas.openxmlformats.org/drawingml/2006/main" noGrp="1"/>
          </p:cNvSpPr>
          <p:nvPr/>
        </p:nvSpPr>
        <p:spPr>
          <a:xfrm xmlns:a="http://schemas.openxmlformats.org/drawingml/2006/main">
            <a:off x="457200" y="1905000"/>
            <a:ext cx="85725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INDIA ADAS · COMPETITOR DOSSIER · BOUND TO THE ADAPTED TEMPLATES</a:t>
            </a:r>
          </a:p>
        </p:txBody>
      </p:sp>
      <p:sp>
        <p:nvSpPr>
          <p:cNvPr id="4" name="">
            <a:extLst xmlns:a="http://schemas.openxmlformats.org/drawingml/2006/main">
              <a:ext uri="{FF2B5EF4-FFF2-40B4-BE49-F238E27FC236}">
                <a16:creationId xmlns:a16="http://schemas.microsoft.com/office/drawing/2014/main" id="{2115EFFB-FEBB-4AA2-93DC-484A123D9B60}"/>
              </a:ext>
            </a:extLst>
          </p:cNvPr>
          <p:cNvSpPr>
            <a:spLocks xmlns:a="http://schemas.openxmlformats.org/drawingml/2006/main" noGrp="1"/>
          </p:cNvSpPr>
          <p:nvPr/>
        </p:nvSpPr>
        <p:spPr>
          <a:xfrm xmlns:a="http://schemas.openxmlformats.org/drawingml/2006/main">
            <a:off x="457200" y="2152650"/>
            <a:ext cx="8382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E43A873-C5F8-42B9-B53F-6ECEC0633986}"/>
              </a:ext>
            </a:extLst>
          </p:cNvPr>
          <p:cNvSpPr>
            <a:spLocks xmlns:a="http://schemas.openxmlformats.org/drawingml/2006/main" noGrp="1"/>
          </p:cNvSpPr>
          <p:nvPr/>
        </p:nvSpPr>
        <p:spPr>
          <a:xfrm xmlns:a="http://schemas.openxmlformats.org/drawingml/2006/main">
            <a:off x="457200" y="2362200"/>
            <a:ext cx="9906000" cy="1104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00" b="1">
                <a:solidFill>
                  <a:srgbClr val="FFFFFF"/>
                </a:solidFill>
                <a:latin typeface="Georgia"/>
                <a:ea typeface="Georgia"/>
                <a:cs typeface="Georgia"/>
              </a:defRPr>
            </a:pPr>
            <a:r>
              <a:t>Perception-layer acceptance is the strategic gate</a:t>
            </a:r>
          </a:p>
        </p:txBody>
      </p:sp>
      <p:sp>
        <p:nvSpPr>
          <p:cNvPr id="6" name="">
            <a:extLst xmlns:a="http://schemas.openxmlformats.org/drawingml/2006/main">
              <a:ext uri="{FF2B5EF4-FFF2-40B4-BE49-F238E27FC236}">
                <a16:creationId xmlns:a16="http://schemas.microsoft.com/office/drawing/2014/main" id="{0D10B542-FFA5-4347-AD3C-D114DC480DBE}"/>
              </a:ext>
            </a:extLst>
          </p:cNvPr>
          <p:cNvSpPr>
            <a:spLocks xmlns:a="http://schemas.openxmlformats.org/drawingml/2006/main" noGrp="1"/>
          </p:cNvSpPr>
          <p:nvPr/>
        </p:nvSpPr>
        <p:spPr>
          <a:xfrm xmlns:a="http://schemas.openxmlformats.org/drawingml/2006/main">
            <a:off x="457200" y="3657600"/>
            <a:ext cx="93345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Every page is generated under one of seven prompt templates. The template names the exhibit; the exhibit’s geometry carries the finding. Nothing here is prose arranged into cards.</a:t>
            </a:r>
          </a:p>
        </p:txBody>
      </p:sp>
      <p:sp>
        <p:nvSpPr>
          <p:cNvPr id="7" name="">
            <a:extLst xmlns:a="http://schemas.openxmlformats.org/drawingml/2006/main">
              <a:ext uri="{FF2B5EF4-FFF2-40B4-BE49-F238E27FC236}">
                <a16:creationId xmlns:a16="http://schemas.microsoft.com/office/drawing/2014/main" id="{1DFD5187-1577-4C0C-AFD2-DB42A7BD59CC}"/>
              </a:ext>
            </a:extLst>
          </p:cNvPr>
          <p:cNvSpPr>
            <a:spLocks xmlns:a="http://schemas.openxmlformats.org/drawingml/2006/main" noGrp="1"/>
          </p:cNvSpPr>
          <p:nvPr/>
        </p:nvSpPr>
        <p:spPr>
          <a:xfrm xmlns:a="http://schemas.openxmlformats.org/drawingml/2006/main">
            <a:off x="457200" y="4400550"/>
            <a:ext cx="1809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00" b="1">
                <a:solidFill>
                  <a:srgbClr val="04B3C7"/>
                </a:solidFill>
                <a:latin typeface="Georgia"/>
                <a:ea typeface="Georgia"/>
                <a:cs typeface="Georgia"/>
              </a:defRPr>
            </a:pPr>
            <a:r>
              <a:t>73</a:t>
            </a:r>
          </a:p>
        </p:txBody>
      </p:sp>
      <p:sp>
        <p:nvSpPr>
          <p:cNvPr id="8" name="">
            <a:extLst xmlns:a="http://schemas.openxmlformats.org/drawingml/2006/main">
              <a:ext uri="{FF2B5EF4-FFF2-40B4-BE49-F238E27FC236}">
                <a16:creationId xmlns:a16="http://schemas.microsoft.com/office/drawing/2014/main" id="{F4C66465-6241-4A0F-B657-C041164A9891}"/>
              </a:ext>
            </a:extLst>
          </p:cNvPr>
          <p:cNvSpPr>
            <a:spLocks xmlns:a="http://schemas.openxmlformats.org/drawingml/2006/main" noGrp="1"/>
          </p:cNvSpPr>
          <p:nvPr/>
        </p:nvSpPr>
        <p:spPr>
          <a:xfrm xmlns:a="http://schemas.openxmlformats.org/drawingml/2006/main">
            <a:off x="457200" y="4781550"/>
            <a:ext cx="18097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SLIDES BOUND</a:t>
            </a:r>
          </a:p>
        </p:txBody>
      </p:sp>
      <p:sp>
        <p:nvSpPr>
          <p:cNvPr id="9" name="">
            <a:extLst xmlns:a="http://schemas.openxmlformats.org/drawingml/2006/main">
              <a:ext uri="{FF2B5EF4-FFF2-40B4-BE49-F238E27FC236}">
                <a16:creationId xmlns:a16="http://schemas.microsoft.com/office/drawing/2014/main" id="{C03766F6-55D5-48F2-8664-684BB5B73C75}"/>
              </a:ext>
            </a:extLst>
          </p:cNvPr>
          <p:cNvSpPr>
            <a:spLocks xmlns:a="http://schemas.openxmlformats.org/drawingml/2006/main" noGrp="1"/>
          </p:cNvSpPr>
          <p:nvPr/>
        </p:nvSpPr>
        <p:spPr>
          <a:xfrm xmlns:a="http://schemas.openxmlformats.org/drawingml/2006/main">
            <a:off x="2457450" y="4400550"/>
            <a:ext cx="1809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00" b="1">
                <a:solidFill>
                  <a:srgbClr val="04B3C7"/>
                </a:solidFill>
                <a:latin typeface="Georgia"/>
                <a:ea typeface="Georgia"/>
                <a:cs typeface="Georgia"/>
              </a:defRPr>
            </a:pPr>
            <a:r>
              <a:t>7</a:t>
            </a:r>
          </a:p>
        </p:txBody>
      </p:sp>
      <p:sp>
        <p:nvSpPr>
          <p:cNvPr id="10" name="">
            <a:extLst xmlns:a="http://schemas.openxmlformats.org/drawingml/2006/main">
              <a:ext uri="{FF2B5EF4-FFF2-40B4-BE49-F238E27FC236}">
                <a16:creationId xmlns:a16="http://schemas.microsoft.com/office/drawing/2014/main" id="{5E999D72-798A-48CC-9E05-5A831E73E211}"/>
              </a:ext>
            </a:extLst>
          </p:cNvPr>
          <p:cNvSpPr>
            <a:spLocks xmlns:a="http://schemas.openxmlformats.org/drawingml/2006/main" noGrp="1"/>
          </p:cNvSpPr>
          <p:nvPr/>
        </p:nvSpPr>
        <p:spPr>
          <a:xfrm xmlns:a="http://schemas.openxmlformats.org/drawingml/2006/main">
            <a:off x="2457450" y="4781550"/>
            <a:ext cx="18097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TEMPLATES</a:t>
            </a:r>
          </a:p>
        </p:txBody>
      </p:sp>
      <p:sp>
        <p:nvSpPr>
          <p:cNvPr id="11" name="">
            <a:extLst xmlns:a="http://schemas.openxmlformats.org/drawingml/2006/main">
              <a:ext uri="{FF2B5EF4-FFF2-40B4-BE49-F238E27FC236}">
                <a16:creationId xmlns:a16="http://schemas.microsoft.com/office/drawing/2014/main" id="{7EB1A2E5-0CC1-43C5-A4A8-8C8B6862A4D6}"/>
              </a:ext>
            </a:extLst>
          </p:cNvPr>
          <p:cNvSpPr>
            <a:spLocks xmlns:a="http://schemas.openxmlformats.org/drawingml/2006/main" noGrp="1"/>
          </p:cNvSpPr>
          <p:nvPr/>
        </p:nvSpPr>
        <p:spPr>
          <a:xfrm xmlns:a="http://schemas.openxmlformats.org/drawingml/2006/main">
            <a:off x="4457700" y="4400550"/>
            <a:ext cx="1809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00" b="1">
                <a:solidFill>
                  <a:srgbClr val="04B3C7"/>
                </a:solidFill>
                <a:latin typeface="Georgia"/>
                <a:ea typeface="Georgia"/>
                <a:cs typeface="Georgia"/>
              </a:defRPr>
            </a:pPr>
            <a:r>
              <a:t>0</a:t>
            </a:r>
          </a:p>
        </p:txBody>
      </p:sp>
      <p:sp>
        <p:nvSpPr>
          <p:cNvPr id="12" name="">
            <a:extLst xmlns:a="http://schemas.openxmlformats.org/drawingml/2006/main">
              <a:ext uri="{FF2B5EF4-FFF2-40B4-BE49-F238E27FC236}">
                <a16:creationId xmlns:a16="http://schemas.microsoft.com/office/drawing/2014/main" id="{5C166871-3753-4E2E-A5C9-CFC21157198E}"/>
              </a:ext>
            </a:extLst>
          </p:cNvPr>
          <p:cNvSpPr>
            <a:spLocks xmlns:a="http://schemas.openxmlformats.org/drawingml/2006/main" noGrp="1"/>
          </p:cNvSpPr>
          <p:nvPr/>
        </p:nvSpPr>
        <p:spPr>
          <a:xfrm xmlns:a="http://schemas.openxmlformats.org/drawingml/2006/main">
            <a:off x="4457700" y="4781550"/>
            <a:ext cx="18097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UNBOUND SLIDES</a:t>
            </a:r>
          </a:p>
        </p:txBody>
      </p:sp>
      <p:sp>
        <p:nvSpPr>
          <p:cNvPr id="13" name="">
            <a:extLst xmlns:a="http://schemas.openxmlformats.org/drawingml/2006/main">
              <a:ext uri="{FF2B5EF4-FFF2-40B4-BE49-F238E27FC236}">
                <a16:creationId xmlns:a16="http://schemas.microsoft.com/office/drawing/2014/main" id="{31ED7806-3682-4FBA-A948-CFA3BBA03C6D}"/>
              </a:ext>
            </a:extLst>
          </p:cNvPr>
          <p:cNvSpPr>
            <a:spLocks xmlns:a="http://schemas.openxmlformats.org/drawingml/2006/main" noGrp="1"/>
          </p:cNvSpPr>
          <p:nvPr/>
        </p:nvSpPr>
        <p:spPr>
          <a:xfrm xmlns:a="http://schemas.openxmlformats.org/drawingml/2006/main">
            <a:off x="6457950" y="4400550"/>
            <a:ext cx="1809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00" b="1">
                <a:solidFill>
                  <a:srgbClr val="04B3C7"/>
                </a:solidFill>
                <a:latin typeface="Georgia"/>
                <a:ea typeface="Georgia"/>
                <a:cs typeface="Georgia"/>
              </a:defRPr>
            </a:pPr>
            <a:r>
              <a:t>2027</a:t>
            </a:r>
          </a:p>
        </p:txBody>
      </p:sp>
      <p:sp>
        <p:nvSpPr>
          <p:cNvPr id="14" name="">
            <a:extLst xmlns:a="http://schemas.openxmlformats.org/drawingml/2006/main">
              <a:ext uri="{FF2B5EF4-FFF2-40B4-BE49-F238E27FC236}">
                <a16:creationId xmlns:a16="http://schemas.microsoft.com/office/drawing/2014/main" id="{1D56440A-7E59-47B3-9D6C-91354BE3E216}"/>
              </a:ext>
            </a:extLst>
          </p:cNvPr>
          <p:cNvSpPr>
            <a:spLocks xmlns:a="http://schemas.openxmlformats.org/drawingml/2006/main" noGrp="1"/>
          </p:cNvSpPr>
          <p:nvPr/>
        </p:nvSpPr>
        <p:spPr>
          <a:xfrm xmlns:a="http://schemas.openxmlformats.org/drawingml/2006/main">
            <a:off x="6457950" y="4781550"/>
            <a:ext cx="18097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AEBS MANDATE</a:t>
            </a:r>
          </a:p>
        </p:txBody>
      </p:sp>
      <p:sp>
        <p:nvSpPr>
          <p:cNvPr id="15" name="">
            <a:extLst xmlns:a="http://schemas.openxmlformats.org/drawingml/2006/main">
              <a:ext uri="{FF2B5EF4-FFF2-40B4-BE49-F238E27FC236}">
                <a16:creationId xmlns:a16="http://schemas.microsoft.com/office/drawing/2014/main" id="{A3EA6C6D-84D4-4F76-89D7-8C15E917AD4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585AEB1-E0D4-4401-9A81-3DE76963818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Tree>
    <p:extLst>
      <p:ext uri="{BB962C8B-B14F-4D97-AF65-F5344CB8AC3E}">
        <p14:creationId xmlns:p14="http://schemas.microsoft.com/office/powerpoint/2010/main" val="194754966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6" name="">
            <a:extLst xmlns:a="http://schemas.openxmlformats.org/drawingml/2006/main">
              <a:ext uri="{FF2B5EF4-FFF2-40B4-BE49-F238E27FC236}">
                <a16:creationId xmlns:a16="http://schemas.microsoft.com/office/drawing/2014/main" id="{B3186B4A-8543-4FBB-BD9C-B9AD2AF1FC4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B08C1BE-C7DE-4BFE-94F5-85D12F21528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D152D5A-D79E-4B64-AFA0-34AA45A39AE3}"/>
              </a:ext>
            </a:extLst>
          </p:cNvPr>
          <p:cNvSpPr>
            <a:spLocks xmlns:a="http://schemas.openxmlformats.org/drawingml/2006/main" noGrp="1"/>
          </p:cNvSpPr>
          <p:nvPr/>
        </p:nvSpPr>
        <p:spPr>
          <a:xfrm xmlns:a="http://schemas.openxmlformats.org/drawingml/2006/main">
            <a:off x="457200" y="323850"/>
            <a:ext cx="66675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The storyboard</a:t>
            </a:r>
          </a:p>
        </p:txBody>
      </p:sp>
      <p:sp>
        <p:nvSpPr>
          <p:cNvPr id="4" name="">
            <a:extLst xmlns:a="http://schemas.openxmlformats.org/drawingml/2006/main">
              <a:ext uri="{FF2B5EF4-FFF2-40B4-BE49-F238E27FC236}">
                <a16:creationId xmlns:a16="http://schemas.microsoft.com/office/drawing/2014/main" id="{F1F2214B-D9DC-4E63-ACF2-95FB51940923}"/>
              </a:ext>
            </a:extLst>
          </p:cNvPr>
          <p:cNvSpPr>
            <a:spLocks xmlns:a="http://schemas.openxmlformats.org/drawingml/2006/main" noGrp="1"/>
          </p:cNvSpPr>
          <p:nvPr/>
        </p:nvSpPr>
        <p:spPr>
          <a:xfrm xmlns:a="http://schemas.openxmlformats.org/drawingml/2006/main">
            <a:off x="457200" y="704850"/>
            <a:ext cx="85725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6 acts, 119 pages. Band width is page count — Act III is the deck.</a:t>
            </a:r>
          </a:p>
        </p:txBody>
      </p:sp>
      <p:sp>
        <p:nvSpPr>
          <p:cNvPr id="5" name="">
            <a:extLst xmlns:a="http://schemas.openxmlformats.org/drawingml/2006/main">
              <a:ext uri="{FF2B5EF4-FFF2-40B4-BE49-F238E27FC236}">
                <a16:creationId xmlns:a16="http://schemas.microsoft.com/office/drawing/2014/main" id="{AECA30B5-61B5-44D7-ADE0-A5F24992EA56}"/>
              </a:ext>
            </a:extLst>
          </p:cNvPr>
          <p:cNvSpPr>
            <a:spLocks xmlns:a="http://schemas.openxmlformats.org/drawingml/2006/main" noGrp="1"/>
          </p:cNvSpPr>
          <p:nvPr/>
        </p:nvSpPr>
        <p:spPr>
          <a:xfrm xmlns:a="http://schemas.openxmlformats.org/drawingml/2006/main">
            <a:off x="457200" y="9525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FBDBEEE-FECC-401B-9707-4CA9B1DFA2BE}"/>
              </a:ext>
            </a:extLst>
          </p:cNvPr>
          <p:cNvSpPr>
            <a:spLocks xmlns:a="http://schemas.openxmlformats.org/drawingml/2006/main" noGrp="1"/>
          </p:cNvSpPr>
          <p:nvPr/>
        </p:nvSpPr>
        <p:spPr>
          <a:xfrm xmlns:a="http://schemas.openxmlformats.org/drawingml/2006/main">
            <a:off x="457200" y="1104900"/>
            <a:ext cx="2747963" cy="8858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7" name="">
            <a:extLst xmlns:a="http://schemas.openxmlformats.org/drawingml/2006/main">
              <a:ext uri="{FF2B5EF4-FFF2-40B4-BE49-F238E27FC236}">
                <a16:creationId xmlns:a16="http://schemas.microsoft.com/office/drawing/2014/main" id="{F6DBE183-0722-4559-A13D-4C7E8624ACB3}"/>
              </a:ext>
            </a:extLst>
          </p:cNvPr>
          <p:cNvSpPr>
            <a:spLocks xmlns:a="http://schemas.openxmlformats.org/drawingml/2006/main" noGrp="1"/>
          </p:cNvSpPr>
          <p:nvPr/>
        </p:nvSpPr>
        <p:spPr>
          <a:xfrm xmlns:a="http://schemas.openxmlformats.org/drawingml/2006/main">
            <a:off x="457200" y="1104900"/>
            <a:ext cx="2747963"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4BF73E7-32C3-4E2D-BD51-BBCE3EAD2583}"/>
              </a:ext>
            </a:extLst>
          </p:cNvPr>
          <p:cNvSpPr>
            <a:spLocks xmlns:a="http://schemas.openxmlformats.org/drawingml/2006/main" noGrp="1"/>
          </p:cNvSpPr>
          <p:nvPr/>
        </p:nvSpPr>
        <p:spPr>
          <a:xfrm xmlns:a="http://schemas.openxmlformats.org/drawingml/2006/main">
            <a:off x="571500" y="1181100"/>
            <a:ext cx="2557463"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SITUATION</a:t>
            </a:r>
          </a:p>
        </p:txBody>
      </p:sp>
      <p:sp>
        <p:nvSpPr>
          <p:cNvPr id="9" name="">
            <a:extLst xmlns:a="http://schemas.openxmlformats.org/drawingml/2006/main">
              <a:ext uri="{FF2B5EF4-FFF2-40B4-BE49-F238E27FC236}">
                <a16:creationId xmlns:a16="http://schemas.microsoft.com/office/drawing/2014/main" id="{5278638B-CE8F-4F7D-814B-AF19059E39F3}"/>
              </a:ext>
            </a:extLst>
          </p:cNvPr>
          <p:cNvSpPr>
            <a:spLocks xmlns:a="http://schemas.openxmlformats.org/drawingml/2006/main" noGrp="1"/>
          </p:cNvSpPr>
          <p:nvPr/>
        </p:nvSpPr>
        <p:spPr>
          <a:xfrm xmlns:a="http://schemas.openxmlformats.org/drawingml/2006/main">
            <a:off x="571500" y="1333500"/>
            <a:ext cx="2519363"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India CV ADAS is already occupied — by control point, not by product. ZF and Aptiv hold braking, ECU, calibration, approval and warranty.</a:t>
            </a:r>
          </a:p>
        </p:txBody>
      </p:sp>
      <p:sp>
        <p:nvSpPr>
          <p:cNvPr id="10" name="">
            <a:extLst xmlns:a="http://schemas.openxmlformats.org/drawingml/2006/main">
              <a:ext uri="{FF2B5EF4-FFF2-40B4-BE49-F238E27FC236}">
                <a16:creationId xmlns:a16="http://schemas.microsoft.com/office/drawing/2014/main" id="{1BDC24CF-D6C5-4706-92B9-5468253795FF}"/>
              </a:ext>
            </a:extLst>
          </p:cNvPr>
          <p:cNvSpPr>
            <a:spLocks xmlns:a="http://schemas.openxmlformats.org/drawingml/2006/main" noGrp="1"/>
          </p:cNvSpPr>
          <p:nvPr/>
        </p:nvSpPr>
        <p:spPr>
          <a:xfrm xmlns:a="http://schemas.openxmlformats.org/drawingml/2006/main">
            <a:off x="3300413" y="1104900"/>
            <a:ext cx="2747963" cy="8858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1" name="">
            <a:extLst xmlns:a="http://schemas.openxmlformats.org/drawingml/2006/main">
              <a:ext uri="{FF2B5EF4-FFF2-40B4-BE49-F238E27FC236}">
                <a16:creationId xmlns:a16="http://schemas.microsoft.com/office/drawing/2014/main" id="{B3DF1D7A-872C-4786-8DE6-DB9C8DA234A4}"/>
              </a:ext>
            </a:extLst>
          </p:cNvPr>
          <p:cNvSpPr>
            <a:spLocks xmlns:a="http://schemas.openxmlformats.org/drawingml/2006/main" noGrp="1"/>
          </p:cNvSpPr>
          <p:nvPr/>
        </p:nvSpPr>
        <p:spPr>
          <a:xfrm xmlns:a="http://schemas.openxmlformats.org/drawingml/2006/main">
            <a:off x="3300413" y="1104900"/>
            <a:ext cx="2747963"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2579A99-7B24-4813-8D8F-02CC22952CBA}"/>
              </a:ext>
            </a:extLst>
          </p:cNvPr>
          <p:cNvSpPr>
            <a:spLocks xmlns:a="http://schemas.openxmlformats.org/drawingml/2006/main" noGrp="1"/>
          </p:cNvSpPr>
          <p:nvPr/>
        </p:nvSpPr>
        <p:spPr>
          <a:xfrm xmlns:a="http://schemas.openxmlformats.org/drawingml/2006/main">
            <a:off x="3414713" y="1181100"/>
            <a:ext cx="2557463"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COMPLICATION</a:t>
            </a:r>
          </a:p>
        </p:txBody>
      </p:sp>
      <p:sp>
        <p:nvSpPr>
          <p:cNvPr id="13" name="">
            <a:extLst xmlns:a="http://schemas.openxmlformats.org/drawingml/2006/main">
              <a:ext uri="{FF2B5EF4-FFF2-40B4-BE49-F238E27FC236}">
                <a16:creationId xmlns:a16="http://schemas.microsoft.com/office/drawing/2014/main" id="{20C01CD4-08C0-44E7-81CB-AF46FBA7C252}"/>
              </a:ext>
            </a:extLst>
          </p:cNvPr>
          <p:cNvSpPr>
            <a:spLocks xmlns:a="http://schemas.openxmlformats.org/drawingml/2006/main" noGrp="1"/>
          </p:cNvSpPr>
          <p:nvPr/>
        </p:nvSpPr>
        <p:spPr>
          <a:xfrm xmlns:a="http://schemas.openxmlformats.org/drawingml/2006/main">
            <a:off x="3414713" y="1333500"/>
            <a:ext cx="2519363"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DeepGrid’s claims outrun its evidence: the mandate date is wrong, five claims are unsupported, and no competitor placement here is independently verified.</a:t>
            </a:r>
          </a:p>
        </p:txBody>
      </p:sp>
      <p:sp>
        <p:nvSpPr>
          <p:cNvPr id="14" name="">
            <a:extLst xmlns:a="http://schemas.openxmlformats.org/drawingml/2006/main">
              <a:ext uri="{FF2B5EF4-FFF2-40B4-BE49-F238E27FC236}">
                <a16:creationId xmlns:a16="http://schemas.microsoft.com/office/drawing/2014/main" id="{31F20DD2-7C4F-4BB8-AD6D-5E1C5704093F}"/>
              </a:ext>
            </a:extLst>
          </p:cNvPr>
          <p:cNvSpPr>
            <a:spLocks xmlns:a="http://schemas.openxmlformats.org/drawingml/2006/main" noGrp="1"/>
          </p:cNvSpPr>
          <p:nvPr/>
        </p:nvSpPr>
        <p:spPr>
          <a:xfrm xmlns:a="http://schemas.openxmlformats.org/drawingml/2006/main">
            <a:off x="6143625" y="1104900"/>
            <a:ext cx="2747963" cy="8858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5" name="">
            <a:extLst xmlns:a="http://schemas.openxmlformats.org/drawingml/2006/main">
              <a:ext uri="{FF2B5EF4-FFF2-40B4-BE49-F238E27FC236}">
                <a16:creationId xmlns:a16="http://schemas.microsoft.com/office/drawing/2014/main" id="{EE5D480E-5007-4CD9-8A00-754D8D3A334D}"/>
              </a:ext>
            </a:extLst>
          </p:cNvPr>
          <p:cNvSpPr>
            <a:spLocks xmlns:a="http://schemas.openxmlformats.org/drawingml/2006/main" noGrp="1"/>
          </p:cNvSpPr>
          <p:nvPr/>
        </p:nvSpPr>
        <p:spPr>
          <a:xfrm xmlns:a="http://schemas.openxmlformats.org/drawingml/2006/main">
            <a:off x="6143625" y="1104900"/>
            <a:ext cx="2747963"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998CE5B-5D84-446C-8AF7-A15F58DBE632}"/>
              </a:ext>
            </a:extLst>
          </p:cNvPr>
          <p:cNvSpPr>
            <a:spLocks xmlns:a="http://schemas.openxmlformats.org/drawingml/2006/main" noGrp="1"/>
          </p:cNvSpPr>
          <p:nvPr/>
        </p:nvSpPr>
        <p:spPr>
          <a:xfrm xmlns:a="http://schemas.openxmlformats.org/drawingml/2006/main">
            <a:off x="6257925" y="1181100"/>
            <a:ext cx="2557463"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QUESTION</a:t>
            </a:r>
          </a:p>
        </p:txBody>
      </p:sp>
      <p:sp>
        <p:nvSpPr>
          <p:cNvPr id="17" name="">
            <a:extLst xmlns:a="http://schemas.openxmlformats.org/drawingml/2006/main">
              <a:ext uri="{FF2B5EF4-FFF2-40B4-BE49-F238E27FC236}">
                <a16:creationId xmlns:a16="http://schemas.microsoft.com/office/drawing/2014/main" id="{574A65B1-7F55-4E4D-A87D-E831EC827B0E}"/>
              </a:ext>
            </a:extLst>
          </p:cNvPr>
          <p:cNvSpPr>
            <a:spLocks xmlns:a="http://schemas.openxmlformats.org/drawingml/2006/main" noGrp="1"/>
          </p:cNvSpPr>
          <p:nvPr/>
        </p:nvSpPr>
        <p:spPr>
          <a:xfrm xmlns:a="http://schemas.openxmlformats.org/drawingml/2006/main">
            <a:off x="6257925" y="1333500"/>
            <a:ext cx="2519363"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Where can DeepGrid still win, against whom, and what must be true first?</a:t>
            </a:r>
          </a:p>
        </p:txBody>
      </p:sp>
      <p:sp>
        <p:nvSpPr>
          <p:cNvPr id="18" name="">
            <a:extLst xmlns:a="http://schemas.openxmlformats.org/drawingml/2006/main">
              <a:ext uri="{FF2B5EF4-FFF2-40B4-BE49-F238E27FC236}">
                <a16:creationId xmlns:a16="http://schemas.microsoft.com/office/drawing/2014/main" id="{38096A20-7207-4861-89F0-A79D7746ED9E}"/>
              </a:ext>
            </a:extLst>
          </p:cNvPr>
          <p:cNvSpPr>
            <a:spLocks xmlns:a="http://schemas.openxmlformats.org/drawingml/2006/main" noGrp="1"/>
          </p:cNvSpPr>
          <p:nvPr/>
        </p:nvSpPr>
        <p:spPr>
          <a:xfrm xmlns:a="http://schemas.openxmlformats.org/drawingml/2006/main">
            <a:off x="8986838" y="1104900"/>
            <a:ext cx="2747963" cy="8858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9F5F19CF-BFDA-4FC9-93F3-0E73DEEEDB2A}"/>
              </a:ext>
            </a:extLst>
          </p:cNvPr>
          <p:cNvSpPr>
            <a:spLocks xmlns:a="http://schemas.openxmlformats.org/drawingml/2006/main" noGrp="1"/>
          </p:cNvSpPr>
          <p:nvPr/>
        </p:nvSpPr>
        <p:spPr>
          <a:xfrm xmlns:a="http://schemas.openxmlformats.org/drawingml/2006/main">
            <a:off x="8986838" y="1104900"/>
            <a:ext cx="2747963"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D26EED6-7F00-4331-BDBA-1947470D1B49}"/>
              </a:ext>
            </a:extLst>
          </p:cNvPr>
          <p:cNvSpPr>
            <a:spLocks xmlns:a="http://schemas.openxmlformats.org/drawingml/2006/main" noGrp="1"/>
          </p:cNvSpPr>
          <p:nvPr/>
        </p:nvSpPr>
        <p:spPr>
          <a:xfrm xmlns:a="http://schemas.openxmlformats.org/drawingml/2006/main">
            <a:off x="9101138" y="1181100"/>
            <a:ext cx="2557463"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ANSWER</a:t>
            </a:r>
          </a:p>
        </p:txBody>
      </p:sp>
      <p:sp>
        <p:nvSpPr>
          <p:cNvPr id="21" name="">
            <a:extLst xmlns:a="http://schemas.openxmlformats.org/drawingml/2006/main">
              <a:ext uri="{FF2B5EF4-FFF2-40B4-BE49-F238E27FC236}">
                <a16:creationId xmlns:a16="http://schemas.microsoft.com/office/drawing/2014/main" id="{E62C6CBA-1126-4B01-930C-1CE75CD26FFD}"/>
              </a:ext>
            </a:extLst>
          </p:cNvPr>
          <p:cNvSpPr>
            <a:spLocks xmlns:a="http://schemas.openxmlformats.org/drawingml/2006/main" noGrp="1"/>
          </p:cNvSpPr>
          <p:nvPr/>
        </p:nvSpPr>
        <p:spPr>
          <a:xfrm xmlns:a="http://schemas.openxmlformats.org/drawingml/2006/main">
            <a:off x="9101138" y="1333500"/>
            <a:ext cx="2519363"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Attach and prove. Sell a bounded perception subsystem inside an accountable integrator, fund four evidence gates, and decide in 90 days.</a:t>
            </a:r>
          </a:p>
        </p:txBody>
      </p:sp>
      <p:sp>
        <p:nvSpPr>
          <p:cNvPr id="22" name="">
            <a:extLst xmlns:a="http://schemas.openxmlformats.org/drawingml/2006/main">
              <a:ext uri="{FF2B5EF4-FFF2-40B4-BE49-F238E27FC236}">
                <a16:creationId xmlns:a16="http://schemas.microsoft.com/office/drawing/2014/main" id="{BE3EFBF9-8AD1-4377-9343-37648872FFF3}"/>
              </a:ext>
            </a:extLst>
          </p:cNvPr>
          <p:cNvSpPr>
            <a:spLocks xmlns:a="http://schemas.openxmlformats.org/drawingml/2006/main" noGrp="1"/>
          </p:cNvSpPr>
          <p:nvPr/>
        </p:nvSpPr>
        <p:spPr>
          <a:xfrm xmlns:a="http://schemas.openxmlformats.org/drawingml/2006/main">
            <a:off x="457200" y="2200275"/>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THE ARC</a:t>
            </a:r>
          </a:p>
        </p:txBody>
      </p:sp>
      <p:sp>
        <p:nvSpPr>
          <p:cNvPr id="23" name="">
            <a:extLst xmlns:a="http://schemas.openxmlformats.org/drawingml/2006/main">
              <a:ext uri="{FF2B5EF4-FFF2-40B4-BE49-F238E27FC236}">
                <a16:creationId xmlns:a16="http://schemas.microsoft.com/office/drawing/2014/main" id="{0B65D6CF-807A-4325-9C1B-FC333150035E}"/>
              </a:ext>
            </a:extLst>
          </p:cNvPr>
          <p:cNvSpPr>
            <a:spLocks xmlns:a="http://schemas.openxmlformats.org/drawingml/2006/main" noGrp="1"/>
          </p:cNvSpPr>
          <p:nvPr/>
        </p:nvSpPr>
        <p:spPr>
          <a:xfrm xmlns:a="http://schemas.openxmlformats.org/drawingml/2006/main">
            <a:off x="457200" y="2390775"/>
            <a:ext cx="577042"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F786F51-EC7E-4AA2-968A-2EFB4BACA40E}"/>
              </a:ext>
            </a:extLst>
          </p:cNvPr>
          <p:cNvSpPr>
            <a:spLocks xmlns:a="http://schemas.openxmlformats.org/drawingml/2006/main" noGrp="1"/>
          </p:cNvSpPr>
          <p:nvPr/>
        </p:nvSpPr>
        <p:spPr>
          <a:xfrm xmlns:a="http://schemas.openxmlformats.org/drawingml/2006/main">
            <a:off x="533400" y="2447925"/>
            <a:ext cx="462742"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ACT I</a:t>
            </a:r>
          </a:p>
        </p:txBody>
      </p:sp>
      <p:sp>
        <p:nvSpPr>
          <p:cNvPr id="25" name="">
            <a:extLst xmlns:a="http://schemas.openxmlformats.org/drawingml/2006/main">
              <a:ext uri="{FF2B5EF4-FFF2-40B4-BE49-F238E27FC236}">
                <a16:creationId xmlns:a16="http://schemas.microsoft.com/office/drawing/2014/main" id="{25A9758F-A16C-46CF-B54C-94620B856C20}"/>
              </a:ext>
            </a:extLst>
          </p:cNvPr>
          <p:cNvSpPr>
            <a:spLocks xmlns:a="http://schemas.openxmlformats.org/drawingml/2006/main" noGrp="1"/>
          </p:cNvSpPr>
          <p:nvPr/>
        </p:nvSpPr>
        <p:spPr>
          <a:xfrm xmlns:a="http://schemas.openxmlformats.org/drawingml/2006/main">
            <a:off x="533400" y="2562225"/>
            <a:ext cx="462742"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6</a:t>
            </a:r>
          </a:p>
        </p:txBody>
      </p:sp>
      <p:sp>
        <p:nvSpPr>
          <p:cNvPr id="26" name="">
            <a:extLst xmlns:a="http://schemas.openxmlformats.org/drawingml/2006/main">
              <a:ext uri="{FF2B5EF4-FFF2-40B4-BE49-F238E27FC236}">
                <a16:creationId xmlns:a16="http://schemas.microsoft.com/office/drawing/2014/main" id="{C317042A-C5D1-40EA-A4DE-03BC876B3691}"/>
              </a:ext>
            </a:extLst>
          </p:cNvPr>
          <p:cNvSpPr>
            <a:spLocks xmlns:a="http://schemas.openxmlformats.org/drawingml/2006/main" noGrp="1"/>
          </p:cNvSpPr>
          <p:nvPr/>
        </p:nvSpPr>
        <p:spPr>
          <a:xfrm xmlns:a="http://schemas.openxmlformats.org/drawingml/2006/main">
            <a:off x="1072342" y="2390775"/>
            <a:ext cx="1499755" cy="3238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3BEA995-9BE8-4C86-A625-C939B28CE826}"/>
              </a:ext>
            </a:extLst>
          </p:cNvPr>
          <p:cNvSpPr>
            <a:spLocks xmlns:a="http://schemas.openxmlformats.org/drawingml/2006/main" noGrp="1"/>
          </p:cNvSpPr>
          <p:nvPr/>
        </p:nvSpPr>
        <p:spPr>
          <a:xfrm xmlns:a="http://schemas.openxmlformats.org/drawingml/2006/main">
            <a:off x="1148542" y="2447925"/>
            <a:ext cx="138545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ACT II</a:t>
            </a:r>
          </a:p>
        </p:txBody>
      </p:sp>
      <p:sp>
        <p:nvSpPr>
          <p:cNvPr id="28" name="">
            <a:extLst xmlns:a="http://schemas.openxmlformats.org/drawingml/2006/main">
              <a:ext uri="{FF2B5EF4-FFF2-40B4-BE49-F238E27FC236}">
                <a16:creationId xmlns:a16="http://schemas.microsoft.com/office/drawing/2014/main" id="{DD4E2AB2-BD50-4E69-BEC8-C5D83BD17336}"/>
              </a:ext>
            </a:extLst>
          </p:cNvPr>
          <p:cNvSpPr>
            <a:spLocks xmlns:a="http://schemas.openxmlformats.org/drawingml/2006/main" noGrp="1"/>
          </p:cNvSpPr>
          <p:nvPr/>
        </p:nvSpPr>
        <p:spPr>
          <a:xfrm xmlns:a="http://schemas.openxmlformats.org/drawingml/2006/main">
            <a:off x="1148542" y="2562225"/>
            <a:ext cx="138545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15</a:t>
            </a:r>
          </a:p>
        </p:txBody>
      </p:sp>
      <p:sp>
        <p:nvSpPr>
          <p:cNvPr id="29" name="">
            <a:extLst xmlns:a="http://schemas.openxmlformats.org/drawingml/2006/main">
              <a:ext uri="{FF2B5EF4-FFF2-40B4-BE49-F238E27FC236}">
                <a16:creationId xmlns:a16="http://schemas.microsoft.com/office/drawing/2014/main" id="{096F4D0C-2966-4F38-879A-A14A702FE593}"/>
              </a:ext>
            </a:extLst>
          </p:cNvPr>
          <p:cNvSpPr>
            <a:spLocks xmlns:a="http://schemas.openxmlformats.org/drawingml/2006/main" noGrp="1"/>
          </p:cNvSpPr>
          <p:nvPr/>
        </p:nvSpPr>
        <p:spPr>
          <a:xfrm xmlns:a="http://schemas.openxmlformats.org/drawingml/2006/main">
            <a:off x="2610196" y="2390775"/>
            <a:ext cx="631836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AF22AF2-24C2-4F9A-940A-13F0B20892C2}"/>
              </a:ext>
            </a:extLst>
          </p:cNvPr>
          <p:cNvSpPr>
            <a:spLocks xmlns:a="http://schemas.openxmlformats.org/drawingml/2006/main" noGrp="1"/>
          </p:cNvSpPr>
          <p:nvPr/>
        </p:nvSpPr>
        <p:spPr>
          <a:xfrm xmlns:a="http://schemas.openxmlformats.org/drawingml/2006/main">
            <a:off x="2686396" y="2447925"/>
            <a:ext cx="620406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ACT III</a:t>
            </a:r>
          </a:p>
        </p:txBody>
      </p:sp>
      <p:sp>
        <p:nvSpPr>
          <p:cNvPr id="31" name="">
            <a:extLst xmlns:a="http://schemas.openxmlformats.org/drawingml/2006/main">
              <a:ext uri="{FF2B5EF4-FFF2-40B4-BE49-F238E27FC236}">
                <a16:creationId xmlns:a16="http://schemas.microsoft.com/office/drawing/2014/main" id="{087A7AD3-5B4C-4040-8C97-39969E683B7B}"/>
              </a:ext>
            </a:extLst>
          </p:cNvPr>
          <p:cNvSpPr>
            <a:spLocks xmlns:a="http://schemas.openxmlformats.org/drawingml/2006/main" noGrp="1"/>
          </p:cNvSpPr>
          <p:nvPr/>
        </p:nvSpPr>
        <p:spPr>
          <a:xfrm xmlns:a="http://schemas.openxmlformats.org/drawingml/2006/main">
            <a:off x="2686396" y="2562225"/>
            <a:ext cx="620406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62</a:t>
            </a:r>
          </a:p>
        </p:txBody>
      </p:sp>
      <p:sp>
        <p:nvSpPr>
          <p:cNvPr id="32" name="">
            <a:extLst xmlns:a="http://schemas.openxmlformats.org/drawingml/2006/main">
              <a:ext uri="{FF2B5EF4-FFF2-40B4-BE49-F238E27FC236}">
                <a16:creationId xmlns:a16="http://schemas.microsoft.com/office/drawing/2014/main" id="{94FC0597-C773-4500-B60B-7561D7025E09}"/>
              </a:ext>
            </a:extLst>
          </p:cNvPr>
          <p:cNvSpPr>
            <a:spLocks xmlns:a="http://schemas.openxmlformats.org/drawingml/2006/main" noGrp="1"/>
          </p:cNvSpPr>
          <p:nvPr/>
        </p:nvSpPr>
        <p:spPr>
          <a:xfrm xmlns:a="http://schemas.openxmlformats.org/drawingml/2006/main">
            <a:off x="8966662" y="2390775"/>
            <a:ext cx="679565" cy="32385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5F79B8A-49BF-4E0B-9A9D-D27C8210569A}"/>
              </a:ext>
            </a:extLst>
          </p:cNvPr>
          <p:cNvSpPr>
            <a:spLocks xmlns:a="http://schemas.openxmlformats.org/drawingml/2006/main" noGrp="1"/>
          </p:cNvSpPr>
          <p:nvPr/>
        </p:nvSpPr>
        <p:spPr>
          <a:xfrm xmlns:a="http://schemas.openxmlformats.org/drawingml/2006/main">
            <a:off x="9042862" y="2447925"/>
            <a:ext cx="56526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ACT IV</a:t>
            </a:r>
          </a:p>
        </p:txBody>
      </p:sp>
      <p:sp>
        <p:nvSpPr>
          <p:cNvPr id="34" name="">
            <a:extLst xmlns:a="http://schemas.openxmlformats.org/drawingml/2006/main">
              <a:ext uri="{FF2B5EF4-FFF2-40B4-BE49-F238E27FC236}">
                <a16:creationId xmlns:a16="http://schemas.microsoft.com/office/drawing/2014/main" id="{48131282-0C06-4D7E-A556-BD20DE9DDC8A}"/>
              </a:ext>
            </a:extLst>
          </p:cNvPr>
          <p:cNvSpPr>
            <a:spLocks xmlns:a="http://schemas.openxmlformats.org/drawingml/2006/main" noGrp="1"/>
          </p:cNvSpPr>
          <p:nvPr/>
        </p:nvSpPr>
        <p:spPr>
          <a:xfrm xmlns:a="http://schemas.openxmlformats.org/drawingml/2006/main">
            <a:off x="9042862" y="2562225"/>
            <a:ext cx="56526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7</a:t>
            </a:r>
          </a:p>
        </p:txBody>
      </p:sp>
      <p:sp>
        <p:nvSpPr>
          <p:cNvPr id="35" name="">
            <a:extLst xmlns:a="http://schemas.openxmlformats.org/drawingml/2006/main">
              <a:ext uri="{FF2B5EF4-FFF2-40B4-BE49-F238E27FC236}">
                <a16:creationId xmlns:a16="http://schemas.microsoft.com/office/drawing/2014/main" id="{4E7CE744-DB94-4974-8FA1-A3FC5179613C}"/>
              </a:ext>
            </a:extLst>
          </p:cNvPr>
          <p:cNvSpPr>
            <a:spLocks xmlns:a="http://schemas.openxmlformats.org/drawingml/2006/main" noGrp="1"/>
          </p:cNvSpPr>
          <p:nvPr/>
        </p:nvSpPr>
        <p:spPr>
          <a:xfrm xmlns:a="http://schemas.openxmlformats.org/drawingml/2006/main">
            <a:off x="9684327" y="2390775"/>
            <a:ext cx="1397231" cy="323850"/>
          </a:xfrm>
          <a:prstGeom xmlns:a="http://schemas.openxmlformats.org/drawingml/2006/main" prst="rect">
            <a:avLst/>
          </a:prstGeom>
          <a:solidFill xmlns:a="http://schemas.openxmlformats.org/drawingml/2006/main">
            <a:srgbClr val="8B7BE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B534513-A460-491D-9EB8-6C55103A02AF}"/>
              </a:ext>
            </a:extLst>
          </p:cNvPr>
          <p:cNvSpPr>
            <a:spLocks xmlns:a="http://schemas.openxmlformats.org/drawingml/2006/main" noGrp="1"/>
          </p:cNvSpPr>
          <p:nvPr/>
        </p:nvSpPr>
        <p:spPr>
          <a:xfrm xmlns:a="http://schemas.openxmlformats.org/drawingml/2006/main">
            <a:off x="9760527" y="2447925"/>
            <a:ext cx="1282931"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ACT V</a:t>
            </a:r>
          </a:p>
        </p:txBody>
      </p:sp>
      <p:sp>
        <p:nvSpPr>
          <p:cNvPr id="37" name="">
            <a:extLst xmlns:a="http://schemas.openxmlformats.org/drawingml/2006/main">
              <a:ext uri="{FF2B5EF4-FFF2-40B4-BE49-F238E27FC236}">
                <a16:creationId xmlns:a16="http://schemas.microsoft.com/office/drawing/2014/main" id="{A3B6462B-6809-482F-821A-F613BE224CC4}"/>
              </a:ext>
            </a:extLst>
          </p:cNvPr>
          <p:cNvSpPr>
            <a:spLocks xmlns:a="http://schemas.openxmlformats.org/drawingml/2006/main" noGrp="1"/>
          </p:cNvSpPr>
          <p:nvPr/>
        </p:nvSpPr>
        <p:spPr>
          <a:xfrm xmlns:a="http://schemas.openxmlformats.org/drawingml/2006/main">
            <a:off x="9760527" y="2562225"/>
            <a:ext cx="1282931"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14</a:t>
            </a:r>
          </a:p>
        </p:txBody>
      </p:sp>
      <p:sp>
        <p:nvSpPr>
          <p:cNvPr id="38" name="">
            <a:extLst xmlns:a="http://schemas.openxmlformats.org/drawingml/2006/main">
              <a:ext uri="{FF2B5EF4-FFF2-40B4-BE49-F238E27FC236}">
                <a16:creationId xmlns:a16="http://schemas.microsoft.com/office/drawing/2014/main" id="{654301D0-136E-4795-B296-63BDD1F9C3D3}"/>
              </a:ext>
            </a:extLst>
          </p:cNvPr>
          <p:cNvSpPr>
            <a:spLocks xmlns:a="http://schemas.openxmlformats.org/drawingml/2006/main" noGrp="1"/>
          </p:cNvSpPr>
          <p:nvPr/>
        </p:nvSpPr>
        <p:spPr>
          <a:xfrm xmlns:a="http://schemas.openxmlformats.org/drawingml/2006/main">
            <a:off x="11119658" y="2390775"/>
            <a:ext cx="577042" cy="323850"/>
          </a:xfrm>
          <a:prstGeom xmlns:a="http://schemas.openxmlformats.org/drawingml/2006/main" prst="rect">
            <a:avLst/>
          </a:prstGeom>
          <a:solidFill xmlns:a="http://schemas.openxmlformats.org/drawingml/2006/main">
            <a:srgbClr val="D96E90"/>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0684E5C2-ABAE-4D01-A83F-6974C93C3A9D}"/>
              </a:ext>
            </a:extLst>
          </p:cNvPr>
          <p:cNvSpPr>
            <a:spLocks xmlns:a="http://schemas.openxmlformats.org/drawingml/2006/main" noGrp="1"/>
          </p:cNvSpPr>
          <p:nvPr/>
        </p:nvSpPr>
        <p:spPr>
          <a:xfrm xmlns:a="http://schemas.openxmlformats.org/drawingml/2006/main">
            <a:off x="11195858" y="2447925"/>
            <a:ext cx="462742"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ACT VI</a:t>
            </a:r>
          </a:p>
        </p:txBody>
      </p:sp>
      <p:sp>
        <p:nvSpPr>
          <p:cNvPr id="40" name="">
            <a:extLst xmlns:a="http://schemas.openxmlformats.org/drawingml/2006/main">
              <a:ext uri="{FF2B5EF4-FFF2-40B4-BE49-F238E27FC236}">
                <a16:creationId xmlns:a16="http://schemas.microsoft.com/office/drawing/2014/main" id="{F7926F48-1A7B-4426-8351-99C88ADE6568}"/>
              </a:ext>
            </a:extLst>
          </p:cNvPr>
          <p:cNvSpPr>
            <a:spLocks xmlns:a="http://schemas.openxmlformats.org/drawingml/2006/main" noGrp="1"/>
          </p:cNvSpPr>
          <p:nvPr/>
        </p:nvSpPr>
        <p:spPr>
          <a:xfrm xmlns:a="http://schemas.openxmlformats.org/drawingml/2006/main">
            <a:off x="11195858" y="2562225"/>
            <a:ext cx="462742"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6</a:t>
            </a:r>
          </a:p>
        </p:txBody>
      </p:sp>
      <p:sp>
        <p:nvSpPr>
          <p:cNvPr id="41" name="">
            <a:extLst xmlns:a="http://schemas.openxmlformats.org/drawingml/2006/main">
              <a:ext uri="{FF2B5EF4-FFF2-40B4-BE49-F238E27FC236}">
                <a16:creationId xmlns:a16="http://schemas.microsoft.com/office/drawing/2014/main" id="{1712F4C5-9391-4284-A668-A4D3F71265BF}"/>
              </a:ext>
            </a:extLst>
          </p:cNvPr>
          <p:cNvSpPr>
            <a:spLocks xmlns:a="http://schemas.openxmlformats.org/drawingml/2006/main" noGrp="1"/>
          </p:cNvSpPr>
          <p:nvPr/>
        </p:nvSpPr>
        <p:spPr>
          <a:xfrm xmlns:a="http://schemas.openxmlformats.org/drawingml/2006/main">
            <a:off x="457200" y="2809875"/>
            <a:ext cx="11277600" cy="495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2" name="">
            <a:extLst xmlns:a="http://schemas.openxmlformats.org/drawingml/2006/main">
              <a:ext uri="{FF2B5EF4-FFF2-40B4-BE49-F238E27FC236}">
                <a16:creationId xmlns:a16="http://schemas.microsoft.com/office/drawing/2014/main" id="{BCADCB77-6A76-48CF-BCAC-2E2F69D3EC16}"/>
              </a:ext>
            </a:extLst>
          </p:cNvPr>
          <p:cNvSpPr>
            <a:spLocks xmlns:a="http://schemas.openxmlformats.org/drawingml/2006/main" noGrp="1"/>
          </p:cNvSpPr>
          <p:nvPr/>
        </p:nvSpPr>
        <p:spPr>
          <a:xfrm xmlns:a="http://schemas.openxmlformats.org/drawingml/2006/main">
            <a:off x="457200" y="2809875"/>
            <a:ext cx="28575" cy="4953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86274F5A-7BDC-4DC2-A180-1980A98E3F3B}"/>
              </a:ext>
            </a:extLst>
          </p:cNvPr>
          <p:cNvSpPr>
            <a:spLocks xmlns:a="http://schemas.openxmlformats.org/drawingml/2006/main" noGrp="1"/>
          </p:cNvSpPr>
          <p:nvPr/>
        </p:nvSpPr>
        <p:spPr>
          <a:xfrm xmlns:a="http://schemas.openxmlformats.org/drawingml/2006/main">
            <a:off x="590550" y="2886075"/>
            <a:ext cx="247650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04B3C7"/>
                </a:solidFill>
                <a:latin typeface="Arial"/>
                <a:ea typeface="Arial"/>
                <a:cs typeface="Arial"/>
              </a:defRPr>
            </a:pPr>
            <a:r>
              <a:t>Act I · The verdict</a:t>
            </a:r>
          </a:p>
        </p:txBody>
      </p:sp>
      <p:sp>
        <p:nvSpPr>
          <p:cNvPr id="44" name="">
            <a:extLst xmlns:a="http://schemas.openxmlformats.org/drawingml/2006/main">
              <a:ext uri="{FF2B5EF4-FFF2-40B4-BE49-F238E27FC236}">
                <a16:creationId xmlns:a16="http://schemas.microsoft.com/office/drawing/2014/main" id="{5CEFE380-F4FC-46E0-B7E3-A0CD9623B494}"/>
              </a:ext>
            </a:extLst>
          </p:cNvPr>
          <p:cNvSpPr>
            <a:spLocks xmlns:a="http://schemas.openxmlformats.org/drawingml/2006/main" noGrp="1"/>
          </p:cNvSpPr>
          <p:nvPr/>
        </p:nvSpPr>
        <p:spPr>
          <a:xfrm xmlns:a="http://schemas.openxmlformats.org/drawingml/2006/main">
            <a:off x="590550" y="3057525"/>
            <a:ext cx="2476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PP. 4–9</a:t>
            </a:r>
          </a:p>
        </p:txBody>
      </p:sp>
      <p:sp>
        <p:nvSpPr>
          <p:cNvPr id="45" name="">
            <a:extLst xmlns:a="http://schemas.openxmlformats.org/drawingml/2006/main">
              <a:ext uri="{FF2B5EF4-FFF2-40B4-BE49-F238E27FC236}">
                <a16:creationId xmlns:a16="http://schemas.microsoft.com/office/drawing/2014/main" id="{4C0A4DCA-F8C9-4067-8B7D-F41F71EF8708}"/>
              </a:ext>
            </a:extLst>
          </p:cNvPr>
          <p:cNvSpPr>
            <a:spLocks xmlns:a="http://schemas.openxmlformats.org/drawingml/2006/main" noGrp="1"/>
          </p:cNvSpPr>
          <p:nvPr/>
        </p:nvSpPr>
        <p:spPr>
          <a:xfrm xmlns:a="http://schemas.openxmlformats.org/drawingml/2006/main">
            <a:off x="3200400" y="2886075"/>
            <a:ext cx="5334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What should DeepGrid do, before any of the evidence?</a:t>
            </a:r>
          </a:p>
        </p:txBody>
      </p:sp>
      <p:sp>
        <p:nvSpPr>
          <p:cNvPr id="46" name="">
            <a:extLst xmlns:a="http://schemas.openxmlformats.org/drawingml/2006/main">
              <a:ext uri="{FF2B5EF4-FFF2-40B4-BE49-F238E27FC236}">
                <a16:creationId xmlns:a16="http://schemas.microsoft.com/office/drawing/2014/main" id="{3F4887D4-72D9-4271-8EA6-26827E2E3605}"/>
              </a:ext>
            </a:extLst>
          </p:cNvPr>
          <p:cNvSpPr>
            <a:spLocks xmlns:a="http://schemas.openxmlformats.org/drawingml/2006/main" noGrp="1"/>
          </p:cNvSpPr>
          <p:nvPr/>
        </p:nvSpPr>
        <p:spPr>
          <a:xfrm xmlns:a="http://schemas.openxmlformats.org/drawingml/2006/main">
            <a:off x="3200400" y="3114675"/>
            <a:ext cx="5334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The answer, the gates that fund it, and what live research changed.</a:t>
            </a:r>
          </a:p>
        </p:txBody>
      </p:sp>
      <p:sp>
        <p:nvSpPr>
          <p:cNvPr id="47" name="">
            <a:extLst xmlns:a="http://schemas.openxmlformats.org/drawingml/2006/main">
              <a:ext uri="{FF2B5EF4-FFF2-40B4-BE49-F238E27FC236}">
                <a16:creationId xmlns:a16="http://schemas.microsoft.com/office/drawing/2014/main" id="{D63FAEAF-1519-4A61-84C7-C34474B3EBFE}"/>
              </a:ext>
            </a:extLst>
          </p:cNvPr>
          <p:cNvSpPr>
            <a:spLocks xmlns:a="http://schemas.openxmlformats.org/drawingml/2006/main" noGrp="1"/>
          </p:cNvSpPr>
          <p:nvPr/>
        </p:nvSpPr>
        <p:spPr>
          <a:xfrm xmlns:a="http://schemas.openxmlformats.org/drawingml/2006/main">
            <a:off x="11029950" y="2943225"/>
            <a:ext cx="5715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04B3C7"/>
                </a:solidFill>
                <a:latin typeface="Georgia"/>
                <a:ea typeface="Georgia"/>
                <a:cs typeface="Georgia"/>
              </a:defRPr>
            </a:pPr>
            <a:r>
              <a:t>6</a:t>
            </a:r>
          </a:p>
        </p:txBody>
      </p:sp>
      <p:sp>
        <p:nvSpPr>
          <p:cNvPr id="48" name="">
            <a:extLst xmlns:a="http://schemas.openxmlformats.org/drawingml/2006/main">
              <a:ext uri="{FF2B5EF4-FFF2-40B4-BE49-F238E27FC236}">
                <a16:creationId xmlns:a16="http://schemas.microsoft.com/office/drawing/2014/main" id="{A88CED91-B070-459C-B787-2E1D9C155E84}"/>
              </a:ext>
            </a:extLst>
          </p:cNvPr>
          <p:cNvSpPr>
            <a:spLocks xmlns:a="http://schemas.openxmlformats.org/drawingml/2006/main" noGrp="1"/>
          </p:cNvSpPr>
          <p:nvPr/>
        </p:nvSpPr>
        <p:spPr>
          <a:xfrm xmlns:a="http://schemas.openxmlformats.org/drawingml/2006/main">
            <a:off x="457200" y="3352800"/>
            <a:ext cx="11277600" cy="495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9" name="">
            <a:extLst xmlns:a="http://schemas.openxmlformats.org/drawingml/2006/main">
              <a:ext uri="{FF2B5EF4-FFF2-40B4-BE49-F238E27FC236}">
                <a16:creationId xmlns:a16="http://schemas.microsoft.com/office/drawing/2014/main" id="{E851637F-DF03-42E3-A651-79A982C52EC9}"/>
              </a:ext>
            </a:extLst>
          </p:cNvPr>
          <p:cNvSpPr>
            <a:spLocks xmlns:a="http://schemas.openxmlformats.org/drawingml/2006/main" noGrp="1"/>
          </p:cNvSpPr>
          <p:nvPr/>
        </p:nvSpPr>
        <p:spPr>
          <a:xfrm xmlns:a="http://schemas.openxmlformats.org/drawingml/2006/main">
            <a:off x="457200" y="3352800"/>
            <a:ext cx="28575" cy="4953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FFCAB095-07B0-4BDC-9652-032A734DD06F}"/>
              </a:ext>
            </a:extLst>
          </p:cNvPr>
          <p:cNvSpPr>
            <a:spLocks xmlns:a="http://schemas.openxmlformats.org/drawingml/2006/main" noGrp="1"/>
          </p:cNvSpPr>
          <p:nvPr/>
        </p:nvSpPr>
        <p:spPr>
          <a:xfrm xmlns:a="http://schemas.openxmlformats.org/drawingml/2006/main">
            <a:off x="590550" y="3429000"/>
            <a:ext cx="247650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E88A2C"/>
                </a:solidFill>
                <a:latin typeface="Arial"/>
                <a:ea typeface="Arial"/>
                <a:cs typeface="Arial"/>
              </a:defRPr>
            </a:pPr>
            <a:r>
              <a:t>Act II · The field</a:t>
            </a:r>
          </a:p>
        </p:txBody>
      </p:sp>
      <p:sp>
        <p:nvSpPr>
          <p:cNvPr id="51" name="">
            <a:extLst xmlns:a="http://schemas.openxmlformats.org/drawingml/2006/main">
              <a:ext uri="{FF2B5EF4-FFF2-40B4-BE49-F238E27FC236}">
                <a16:creationId xmlns:a16="http://schemas.microsoft.com/office/drawing/2014/main" id="{5F03CA5D-3B7E-467A-BFFF-40904B1BEB4A}"/>
              </a:ext>
            </a:extLst>
          </p:cNvPr>
          <p:cNvSpPr>
            <a:spLocks xmlns:a="http://schemas.openxmlformats.org/drawingml/2006/main" noGrp="1"/>
          </p:cNvSpPr>
          <p:nvPr/>
        </p:nvSpPr>
        <p:spPr>
          <a:xfrm xmlns:a="http://schemas.openxmlformats.org/drawingml/2006/main">
            <a:off x="590550" y="3600450"/>
            <a:ext cx="2476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PP. 11–25</a:t>
            </a:r>
          </a:p>
        </p:txBody>
      </p:sp>
      <p:sp>
        <p:nvSpPr>
          <p:cNvPr id="52" name="">
            <a:extLst xmlns:a="http://schemas.openxmlformats.org/drawingml/2006/main">
              <a:ext uri="{FF2B5EF4-FFF2-40B4-BE49-F238E27FC236}">
                <a16:creationId xmlns:a16="http://schemas.microsoft.com/office/drawing/2014/main" id="{8021693E-9537-4DFD-87DD-5C1D83D767F9}"/>
              </a:ext>
            </a:extLst>
          </p:cNvPr>
          <p:cNvSpPr>
            <a:spLocks xmlns:a="http://schemas.openxmlformats.org/drawingml/2006/main" noGrp="1"/>
          </p:cNvSpPr>
          <p:nvPr/>
        </p:nvSpPr>
        <p:spPr>
          <a:xfrm xmlns:a="http://schemas.openxmlformats.org/drawingml/2006/main">
            <a:off x="3200400" y="3429000"/>
            <a:ext cx="5334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Who occupies India CV ADAS, what is the actual rule, and what does each arena reward?</a:t>
            </a:r>
          </a:p>
        </p:txBody>
      </p:sp>
      <p:sp>
        <p:nvSpPr>
          <p:cNvPr id="53" name="">
            <a:extLst xmlns:a="http://schemas.openxmlformats.org/drawingml/2006/main">
              <a:ext uri="{FF2B5EF4-FFF2-40B4-BE49-F238E27FC236}">
                <a16:creationId xmlns:a16="http://schemas.microsoft.com/office/drawing/2014/main" id="{80861FDE-CB06-4859-BFD8-B7633DC7AD0D}"/>
              </a:ext>
            </a:extLst>
          </p:cNvPr>
          <p:cNvSpPr>
            <a:spLocks xmlns:a="http://schemas.openxmlformats.org/drawingml/2006/main" noGrp="1"/>
          </p:cNvSpPr>
          <p:nvPr/>
        </p:nvSpPr>
        <p:spPr>
          <a:xfrm xmlns:a="http://schemas.openxmlformats.org/drawingml/2006/main">
            <a:off x="3200400" y="3657600"/>
            <a:ext cx="5334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The notified instrument, the scale of the field, and the line that divides it.</a:t>
            </a:r>
          </a:p>
        </p:txBody>
      </p:sp>
      <p:sp>
        <p:nvSpPr>
          <p:cNvPr id="54" name="">
            <a:extLst xmlns:a="http://schemas.openxmlformats.org/drawingml/2006/main">
              <a:ext uri="{FF2B5EF4-FFF2-40B4-BE49-F238E27FC236}">
                <a16:creationId xmlns:a16="http://schemas.microsoft.com/office/drawing/2014/main" id="{5F806A0A-7432-474B-BCB2-097D61ED1958}"/>
              </a:ext>
            </a:extLst>
          </p:cNvPr>
          <p:cNvSpPr>
            <a:spLocks xmlns:a="http://schemas.openxmlformats.org/drawingml/2006/main" noGrp="1"/>
          </p:cNvSpPr>
          <p:nvPr/>
        </p:nvSpPr>
        <p:spPr>
          <a:xfrm xmlns:a="http://schemas.openxmlformats.org/drawingml/2006/main">
            <a:off x="11029950" y="3486150"/>
            <a:ext cx="5715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E88A2C"/>
                </a:solidFill>
                <a:latin typeface="Georgia"/>
                <a:ea typeface="Georgia"/>
                <a:cs typeface="Georgia"/>
              </a:defRPr>
            </a:pPr>
            <a:r>
              <a:t>15</a:t>
            </a:r>
          </a:p>
        </p:txBody>
      </p:sp>
      <p:sp>
        <p:nvSpPr>
          <p:cNvPr id="55" name="">
            <a:extLst xmlns:a="http://schemas.openxmlformats.org/drawingml/2006/main">
              <a:ext uri="{FF2B5EF4-FFF2-40B4-BE49-F238E27FC236}">
                <a16:creationId xmlns:a16="http://schemas.microsoft.com/office/drawing/2014/main" id="{00B65977-396A-4A72-B73B-C6514F590779}"/>
              </a:ext>
            </a:extLst>
          </p:cNvPr>
          <p:cNvSpPr>
            <a:spLocks xmlns:a="http://schemas.openxmlformats.org/drawingml/2006/main" noGrp="1"/>
          </p:cNvSpPr>
          <p:nvPr/>
        </p:nvSpPr>
        <p:spPr>
          <a:xfrm xmlns:a="http://schemas.openxmlformats.org/drawingml/2006/main">
            <a:off x="457200" y="3895725"/>
            <a:ext cx="11277600" cy="495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6" name="">
            <a:extLst xmlns:a="http://schemas.openxmlformats.org/drawingml/2006/main">
              <a:ext uri="{FF2B5EF4-FFF2-40B4-BE49-F238E27FC236}">
                <a16:creationId xmlns:a16="http://schemas.microsoft.com/office/drawing/2014/main" id="{DD72D653-1539-403C-AA96-7DEE1B825DB7}"/>
              </a:ext>
            </a:extLst>
          </p:cNvPr>
          <p:cNvSpPr>
            <a:spLocks xmlns:a="http://schemas.openxmlformats.org/drawingml/2006/main" noGrp="1"/>
          </p:cNvSpPr>
          <p:nvPr/>
        </p:nvSpPr>
        <p:spPr>
          <a:xfrm xmlns:a="http://schemas.openxmlformats.org/drawingml/2006/main">
            <a:off x="457200" y="3895725"/>
            <a:ext cx="28575" cy="4953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26F319FE-BC09-4802-BCA1-42354B9D20F5}"/>
              </a:ext>
            </a:extLst>
          </p:cNvPr>
          <p:cNvSpPr>
            <a:spLocks xmlns:a="http://schemas.openxmlformats.org/drawingml/2006/main" noGrp="1"/>
          </p:cNvSpPr>
          <p:nvPr/>
        </p:nvSpPr>
        <p:spPr>
          <a:xfrm xmlns:a="http://schemas.openxmlformats.org/drawingml/2006/main">
            <a:off x="590550" y="3971925"/>
            <a:ext cx="247650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EE8585"/>
                </a:solidFill>
                <a:latin typeface="Arial"/>
                <a:ea typeface="Arial"/>
                <a:cs typeface="Arial"/>
              </a:defRPr>
            </a:pPr>
            <a:r>
              <a:t>Act III · The contest</a:t>
            </a:r>
          </a:p>
        </p:txBody>
      </p:sp>
      <p:sp>
        <p:nvSpPr>
          <p:cNvPr id="58" name="">
            <a:extLst xmlns:a="http://schemas.openxmlformats.org/drawingml/2006/main">
              <a:ext uri="{FF2B5EF4-FFF2-40B4-BE49-F238E27FC236}">
                <a16:creationId xmlns:a16="http://schemas.microsoft.com/office/drawing/2014/main" id="{36B0CFF7-7D80-4C82-B83A-94E6EAE682ED}"/>
              </a:ext>
            </a:extLst>
          </p:cNvPr>
          <p:cNvSpPr>
            <a:spLocks xmlns:a="http://schemas.openxmlformats.org/drawingml/2006/main" noGrp="1"/>
          </p:cNvSpPr>
          <p:nvPr/>
        </p:nvSpPr>
        <p:spPr>
          <a:xfrm xmlns:a="http://schemas.openxmlformats.org/drawingml/2006/main">
            <a:off x="590550" y="4143375"/>
            <a:ext cx="2476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PP. 27–88</a:t>
            </a:r>
          </a:p>
        </p:txBody>
      </p:sp>
      <p:sp>
        <p:nvSpPr>
          <p:cNvPr id="59" name="">
            <a:extLst xmlns:a="http://schemas.openxmlformats.org/drawingml/2006/main">
              <a:ext uri="{FF2B5EF4-FFF2-40B4-BE49-F238E27FC236}">
                <a16:creationId xmlns:a16="http://schemas.microsoft.com/office/drawing/2014/main" id="{C5DD63A1-1D97-4213-8297-4B9CD8384AD5}"/>
              </a:ext>
            </a:extLst>
          </p:cNvPr>
          <p:cNvSpPr>
            <a:spLocks xmlns:a="http://schemas.openxmlformats.org/drawingml/2006/main" noGrp="1"/>
          </p:cNvSpPr>
          <p:nvPr/>
        </p:nvSpPr>
        <p:spPr>
          <a:xfrm xmlns:a="http://schemas.openxmlformats.org/drawingml/2006/main">
            <a:off x="3200400" y="3971925"/>
            <a:ext cx="5334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Against each rival: who are they, what does their AI do, what is proven, and what would change the rating?</a:t>
            </a:r>
          </a:p>
        </p:txBody>
      </p:sp>
      <p:sp>
        <p:nvSpPr>
          <p:cNvPr id="60" name="">
            <a:extLst xmlns:a="http://schemas.openxmlformats.org/drawingml/2006/main">
              <a:ext uri="{FF2B5EF4-FFF2-40B4-BE49-F238E27FC236}">
                <a16:creationId xmlns:a16="http://schemas.microsoft.com/office/drawing/2014/main" id="{EF410C78-E9FE-47FE-A04C-7955B8BA90AC}"/>
              </a:ext>
            </a:extLst>
          </p:cNvPr>
          <p:cNvSpPr>
            <a:spLocks xmlns:a="http://schemas.openxmlformats.org/drawingml/2006/main" noGrp="1"/>
          </p:cNvSpPr>
          <p:nvPr/>
        </p:nvSpPr>
        <p:spPr>
          <a:xfrm xmlns:a="http://schemas.openxmlformats.org/drawingml/2006/main">
            <a:off x="3200400" y="4200525"/>
            <a:ext cx="5334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Every competitor argued in one place — identity, capability, evidence and falsifier together.</a:t>
            </a:r>
          </a:p>
        </p:txBody>
      </p:sp>
      <p:sp>
        <p:nvSpPr>
          <p:cNvPr id="61" name="">
            <a:extLst xmlns:a="http://schemas.openxmlformats.org/drawingml/2006/main">
              <a:ext uri="{FF2B5EF4-FFF2-40B4-BE49-F238E27FC236}">
                <a16:creationId xmlns:a16="http://schemas.microsoft.com/office/drawing/2014/main" id="{61FC0C6F-EA24-4B19-8A8A-3677D951A74F}"/>
              </a:ext>
            </a:extLst>
          </p:cNvPr>
          <p:cNvSpPr>
            <a:spLocks xmlns:a="http://schemas.openxmlformats.org/drawingml/2006/main" noGrp="1"/>
          </p:cNvSpPr>
          <p:nvPr/>
        </p:nvSpPr>
        <p:spPr>
          <a:xfrm xmlns:a="http://schemas.openxmlformats.org/drawingml/2006/main">
            <a:off x="11029950" y="4029075"/>
            <a:ext cx="5715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EE8585"/>
                </a:solidFill>
                <a:latin typeface="Georgia"/>
                <a:ea typeface="Georgia"/>
                <a:cs typeface="Georgia"/>
              </a:defRPr>
            </a:pPr>
            <a:r>
              <a:t>62</a:t>
            </a:r>
          </a:p>
        </p:txBody>
      </p:sp>
      <p:sp>
        <p:nvSpPr>
          <p:cNvPr id="62" name="">
            <a:extLst xmlns:a="http://schemas.openxmlformats.org/drawingml/2006/main">
              <a:ext uri="{FF2B5EF4-FFF2-40B4-BE49-F238E27FC236}">
                <a16:creationId xmlns:a16="http://schemas.microsoft.com/office/drawing/2014/main" id="{8FA6C020-9AE7-4D62-98E1-CBEE27F73CFC}"/>
              </a:ext>
            </a:extLst>
          </p:cNvPr>
          <p:cNvSpPr>
            <a:spLocks xmlns:a="http://schemas.openxmlformats.org/drawingml/2006/main" noGrp="1"/>
          </p:cNvSpPr>
          <p:nvPr/>
        </p:nvSpPr>
        <p:spPr>
          <a:xfrm xmlns:a="http://schemas.openxmlformats.org/drawingml/2006/main">
            <a:off x="457200" y="4438650"/>
            <a:ext cx="11277600" cy="495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63" name="">
            <a:extLst xmlns:a="http://schemas.openxmlformats.org/drawingml/2006/main">
              <a:ext uri="{FF2B5EF4-FFF2-40B4-BE49-F238E27FC236}">
                <a16:creationId xmlns:a16="http://schemas.microsoft.com/office/drawing/2014/main" id="{AC296E5D-DF4A-464F-A7FD-AEFAF66A89B7}"/>
              </a:ext>
            </a:extLst>
          </p:cNvPr>
          <p:cNvSpPr>
            <a:spLocks xmlns:a="http://schemas.openxmlformats.org/drawingml/2006/main" noGrp="1"/>
          </p:cNvSpPr>
          <p:nvPr/>
        </p:nvSpPr>
        <p:spPr>
          <a:xfrm xmlns:a="http://schemas.openxmlformats.org/drawingml/2006/main">
            <a:off x="457200" y="4438650"/>
            <a:ext cx="28575" cy="4953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F6626AE2-D060-4C5C-AC28-BB9CA47FD160}"/>
              </a:ext>
            </a:extLst>
          </p:cNvPr>
          <p:cNvSpPr>
            <a:spLocks xmlns:a="http://schemas.openxmlformats.org/drawingml/2006/main" noGrp="1"/>
          </p:cNvSpPr>
          <p:nvPr/>
        </p:nvSpPr>
        <p:spPr>
          <a:xfrm xmlns:a="http://schemas.openxmlformats.org/drawingml/2006/main">
            <a:off x="590550" y="4514850"/>
            <a:ext cx="247650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2FBF87"/>
                </a:solidFill>
                <a:latin typeface="Arial"/>
                <a:ea typeface="Arial"/>
                <a:cs typeface="Arial"/>
              </a:defRPr>
            </a:pPr>
            <a:r>
              <a:t>Act IV · The ranking</a:t>
            </a:r>
          </a:p>
        </p:txBody>
      </p:sp>
      <p:sp>
        <p:nvSpPr>
          <p:cNvPr id="65" name="">
            <a:extLst xmlns:a="http://schemas.openxmlformats.org/drawingml/2006/main">
              <a:ext uri="{FF2B5EF4-FFF2-40B4-BE49-F238E27FC236}">
                <a16:creationId xmlns:a16="http://schemas.microsoft.com/office/drawing/2014/main" id="{9E252A1D-F3E1-4FF3-B7CB-7E87E5297EA0}"/>
              </a:ext>
            </a:extLst>
          </p:cNvPr>
          <p:cNvSpPr>
            <a:spLocks xmlns:a="http://schemas.openxmlformats.org/drawingml/2006/main" noGrp="1"/>
          </p:cNvSpPr>
          <p:nvPr/>
        </p:nvSpPr>
        <p:spPr>
          <a:xfrm xmlns:a="http://schemas.openxmlformats.org/drawingml/2006/main">
            <a:off x="590550" y="4686300"/>
            <a:ext cx="2476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PP. 90–96</a:t>
            </a:r>
          </a:p>
        </p:txBody>
      </p:sp>
      <p:sp>
        <p:nvSpPr>
          <p:cNvPr id="66" name="">
            <a:extLst xmlns:a="http://schemas.openxmlformats.org/drawingml/2006/main">
              <a:ext uri="{FF2B5EF4-FFF2-40B4-BE49-F238E27FC236}">
                <a16:creationId xmlns:a16="http://schemas.microsoft.com/office/drawing/2014/main" id="{4589C9FF-8E06-4824-9F3C-450476FEEDC4}"/>
              </a:ext>
            </a:extLst>
          </p:cNvPr>
          <p:cNvSpPr>
            <a:spLocks xmlns:a="http://schemas.openxmlformats.org/drawingml/2006/main" noGrp="1"/>
          </p:cNvSpPr>
          <p:nvPr/>
        </p:nvSpPr>
        <p:spPr>
          <a:xfrm xmlns:a="http://schemas.openxmlformats.org/drawingml/2006/main">
            <a:off x="3200400" y="4514850"/>
            <a:ext cx="5334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Who actually blocks us, in what order, and what do they do when we start winning?</a:t>
            </a:r>
          </a:p>
        </p:txBody>
      </p:sp>
      <p:sp>
        <p:nvSpPr>
          <p:cNvPr id="67" name="">
            <a:extLst xmlns:a="http://schemas.openxmlformats.org/drawingml/2006/main">
              <a:ext uri="{FF2B5EF4-FFF2-40B4-BE49-F238E27FC236}">
                <a16:creationId xmlns:a16="http://schemas.microsoft.com/office/drawing/2014/main" id="{0412A0B9-338D-42C6-A579-1A2EF4F11C9B}"/>
              </a:ext>
            </a:extLst>
          </p:cNvPr>
          <p:cNvSpPr>
            <a:spLocks xmlns:a="http://schemas.openxmlformats.org/drawingml/2006/main" noGrp="1"/>
          </p:cNvSpPr>
          <p:nvPr/>
        </p:nvSpPr>
        <p:spPr>
          <a:xfrm xmlns:a="http://schemas.openxmlformats.org/drawingml/2006/main">
            <a:off x="3200400" y="4743450"/>
            <a:ext cx="5334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The re-derived ranking, the obstruction axis it was hiding, and the contests to lose deliberately.</a:t>
            </a:r>
          </a:p>
        </p:txBody>
      </p:sp>
      <p:sp>
        <p:nvSpPr>
          <p:cNvPr id="68" name="">
            <a:extLst xmlns:a="http://schemas.openxmlformats.org/drawingml/2006/main">
              <a:ext uri="{FF2B5EF4-FFF2-40B4-BE49-F238E27FC236}">
                <a16:creationId xmlns:a16="http://schemas.microsoft.com/office/drawing/2014/main" id="{9061B9DF-D98F-439C-A2E4-90B8BE3BAD56}"/>
              </a:ext>
            </a:extLst>
          </p:cNvPr>
          <p:cNvSpPr>
            <a:spLocks xmlns:a="http://schemas.openxmlformats.org/drawingml/2006/main" noGrp="1"/>
          </p:cNvSpPr>
          <p:nvPr/>
        </p:nvSpPr>
        <p:spPr>
          <a:xfrm xmlns:a="http://schemas.openxmlformats.org/drawingml/2006/main">
            <a:off x="11029950" y="4572000"/>
            <a:ext cx="5715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2FBF87"/>
                </a:solidFill>
                <a:latin typeface="Georgia"/>
                <a:ea typeface="Georgia"/>
                <a:cs typeface="Georgia"/>
              </a:defRPr>
            </a:pPr>
            <a:r>
              <a:t>7</a:t>
            </a:r>
          </a:p>
        </p:txBody>
      </p:sp>
      <p:sp>
        <p:nvSpPr>
          <p:cNvPr id="69" name="">
            <a:extLst xmlns:a="http://schemas.openxmlformats.org/drawingml/2006/main">
              <a:ext uri="{FF2B5EF4-FFF2-40B4-BE49-F238E27FC236}">
                <a16:creationId xmlns:a16="http://schemas.microsoft.com/office/drawing/2014/main" id="{013D1F72-B8AC-4D87-ADAE-E50813AECBF2}"/>
              </a:ext>
            </a:extLst>
          </p:cNvPr>
          <p:cNvSpPr>
            <a:spLocks xmlns:a="http://schemas.openxmlformats.org/drawingml/2006/main" noGrp="1"/>
          </p:cNvSpPr>
          <p:nvPr/>
        </p:nvSpPr>
        <p:spPr>
          <a:xfrm xmlns:a="http://schemas.openxmlformats.org/drawingml/2006/main">
            <a:off x="457200" y="4981575"/>
            <a:ext cx="11277600" cy="495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70" name="">
            <a:extLst xmlns:a="http://schemas.openxmlformats.org/drawingml/2006/main">
              <a:ext uri="{FF2B5EF4-FFF2-40B4-BE49-F238E27FC236}">
                <a16:creationId xmlns:a16="http://schemas.microsoft.com/office/drawing/2014/main" id="{AA9B086F-628C-41E2-945C-E2268D51E6AE}"/>
              </a:ext>
            </a:extLst>
          </p:cNvPr>
          <p:cNvSpPr>
            <a:spLocks xmlns:a="http://schemas.openxmlformats.org/drawingml/2006/main" noGrp="1"/>
          </p:cNvSpPr>
          <p:nvPr/>
        </p:nvSpPr>
        <p:spPr>
          <a:xfrm xmlns:a="http://schemas.openxmlformats.org/drawingml/2006/main">
            <a:off x="457200" y="4981575"/>
            <a:ext cx="28575" cy="495300"/>
          </a:xfrm>
          <a:prstGeom xmlns:a="http://schemas.openxmlformats.org/drawingml/2006/main" prst="rect">
            <a:avLst/>
          </a:prstGeom>
          <a:solidFill xmlns:a="http://schemas.openxmlformats.org/drawingml/2006/main">
            <a:srgbClr val="8B7BE0"/>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5C3840A8-3A66-439E-A95E-689654A85ED7}"/>
              </a:ext>
            </a:extLst>
          </p:cNvPr>
          <p:cNvSpPr>
            <a:spLocks xmlns:a="http://schemas.openxmlformats.org/drawingml/2006/main" noGrp="1"/>
          </p:cNvSpPr>
          <p:nvPr/>
        </p:nvSpPr>
        <p:spPr>
          <a:xfrm xmlns:a="http://schemas.openxmlformats.org/drawingml/2006/main">
            <a:off x="590550" y="5057775"/>
            <a:ext cx="247650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A99DF0"/>
                </a:solidFill>
                <a:latin typeface="Arial"/>
                <a:ea typeface="Arial"/>
                <a:cs typeface="Arial"/>
              </a:defRPr>
            </a:pPr>
            <a:r>
              <a:t>Act V · The wedge</a:t>
            </a:r>
          </a:p>
        </p:txBody>
      </p:sp>
      <p:sp>
        <p:nvSpPr>
          <p:cNvPr id="72" name="">
            <a:extLst xmlns:a="http://schemas.openxmlformats.org/drawingml/2006/main">
              <a:ext uri="{FF2B5EF4-FFF2-40B4-BE49-F238E27FC236}">
                <a16:creationId xmlns:a16="http://schemas.microsoft.com/office/drawing/2014/main" id="{4930B116-18A7-4F7F-B25A-CB97FD5A5748}"/>
              </a:ext>
            </a:extLst>
          </p:cNvPr>
          <p:cNvSpPr>
            <a:spLocks xmlns:a="http://schemas.openxmlformats.org/drawingml/2006/main" noGrp="1"/>
          </p:cNvSpPr>
          <p:nvPr/>
        </p:nvSpPr>
        <p:spPr>
          <a:xfrm xmlns:a="http://schemas.openxmlformats.org/drawingml/2006/main">
            <a:off x="590550" y="5229225"/>
            <a:ext cx="2476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PP. 98–111</a:t>
            </a:r>
          </a:p>
        </p:txBody>
      </p:sp>
      <p:sp>
        <p:nvSpPr>
          <p:cNvPr id="73" name="">
            <a:extLst xmlns:a="http://schemas.openxmlformats.org/drawingml/2006/main">
              <a:ext uri="{FF2B5EF4-FFF2-40B4-BE49-F238E27FC236}">
                <a16:creationId xmlns:a16="http://schemas.microsoft.com/office/drawing/2014/main" id="{4CFE9220-659F-4CB3-9E41-9520BD76D356}"/>
              </a:ext>
            </a:extLst>
          </p:cNvPr>
          <p:cNvSpPr>
            <a:spLocks xmlns:a="http://schemas.openxmlformats.org/drawingml/2006/main" noGrp="1"/>
          </p:cNvSpPr>
          <p:nvPr/>
        </p:nvSpPr>
        <p:spPr>
          <a:xfrm xmlns:a="http://schemas.openxmlformats.org/drawingml/2006/main">
            <a:off x="3200400" y="5057775"/>
            <a:ext cx="5334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What exactly does DeepGrid sell, at what price, and what should it build versus buy?</a:t>
            </a:r>
          </a:p>
        </p:txBody>
      </p:sp>
      <p:sp>
        <p:nvSpPr>
          <p:cNvPr id="74" name="">
            <a:extLst xmlns:a="http://schemas.openxmlformats.org/drawingml/2006/main">
              <a:ext uri="{FF2B5EF4-FFF2-40B4-BE49-F238E27FC236}">
                <a16:creationId xmlns:a16="http://schemas.microsoft.com/office/drawing/2014/main" id="{A6F64CCC-0EC5-46EB-A244-9FCA14405A47}"/>
              </a:ext>
            </a:extLst>
          </p:cNvPr>
          <p:cNvSpPr>
            <a:spLocks xmlns:a="http://schemas.openxmlformats.org/drawingml/2006/main" noGrp="1"/>
          </p:cNvSpPr>
          <p:nvPr/>
        </p:nvSpPr>
        <p:spPr>
          <a:xfrm xmlns:a="http://schemas.openxmlformats.org/drawingml/2006/main">
            <a:off x="3200400" y="5286375"/>
            <a:ext cx="5334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The bounded offer, what cannot be said about price, and the make-or-buy line.</a:t>
            </a:r>
          </a:p>
        </p:txBody>
      </p:sp>
      <p:sp>
        <p:nvSpPr>
          <p:cNvPr id="75" name="">
            <a:extLst xmlns:a="http://schemas.openxmlformats.org/drawingml/2006/main">
              <a:ext uri="{FF2B5EF4-FFF2-40B4-BE49-F238E27FC236}">
                <a16:creationId xmlns:a16="http://schemas.microsoft.com/office/drawing/2014/main" id="{7A62450E-5BA0-4472-B493-D927EDD4FAE3}"/>
              </a:ext>
            </a:extLst>
          </p:cNvPr>
          <p:cNvSpPr>
            <a:spLocks xmlns:a="http://schemas.openxmlformats.org/drawingml/2006/main" noGrp="1"/>
          </p:cNvSpPr>
          <p:nvPr/>
        </p:nvSpPr>
        <p:spPr>
          <a:xfrm xmlns:a="http://schemas.openxmlformats.org/drawingml/2006/main">
            <a:off x="11029950" y="5114925"/>
            <a:ext cx="5715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A99DF0"/>
                </a:solidFill>
                <a:latin typeface="Georgia"/>
                <a:ea typeface="Georgia"/>
                <a:cs typeface="Georgia"/>
              </a:defRPr>
            </a:pPr>
            <a:r>
              <a:t>14</a:t>
            </a:r>
          </a:p>
        </p:txBody>
      </p:sp>
      <p:sp>
        <p:nvSpPr>
          <p:cNvPr id="76" name="">
            <a:extLst xmlns:a="http://schemas.openxmlformats.org/drawingml/2006/main">
              <a:ext uri="{FF2B5EF4-FFF2-40B4-BE49-F238E27FC236}">
                <a16:creationId xmlns:a16="http://schemas.microsoft.com/office/drawing/2014/main" id="{FA633E5F-188A-4EA2-9DF0-0A04B8BAE6C0}"/>
              </a:ext>
            </a:extLst>
          </p:cNvPr>
          <p:cNvSpPr>
            <a:spLocks xmlns:a="http://schemas.openxmlformats.org/drawingml/2006/main" noGrp="1"/>
          </p:cNvSpPr>
          <p:nvPr/>
        </p:nvSpPr>
        <p:spPr>
          <a:xfrm xmlns:a="http://schemas.openxmlformats.org/drawingml/2006/main">
            <a:off x="457200" y="5524500"/>
            <a:ext cx="11277600" cy="495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77" name="">
            <a:extLst xmlns:a="http://schemas.openxmlformats.org/drawingml/2006/main">
              <a:ext uri="{FF2B5EF4-FFF2-40B4-BE49-F238E27FC236}">
                <a16:creationId xmlns:a16="http://schemas.microsoft.com/office/drawing/2014/main" id="{08AA3EB9-BF65-4C2E-B489-E7F1B6AD2E6E}"/>
              </a:ext>
            </a:extLst>
          </p:cNvPr>
          <p:cNvSpPr>
            <a:spLocks xmlns:a="http://schemas.openxmlformats.org/drawingml/2006/main" noGrp="1"/>
          </p:cNvSpPr>
          <p:nvPr/>
        </p:nvSpPr>
        <p:spPr>
          <a:xfrm xmlns:a="http://schemas.openxmlformats.org/drawingml/2006/main">
            <a:off x="457200" y="5524500"/>
            <a:ext cx="28575" cy="495300"/>
          </a:xfrm>
          <a:prstGeom xmlns:a="http://schemas.openxmlformats.org/drawingml/2006/main" prst="rect">
            <a:avLst/>
          </a:prstGeom>
          <a:solidFill xmlns:a="http://schemas.openxmlformats.org/drawingml/2006/main">
            <a:srgbClr val="D96E90"/>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9291922C-7B45-4C71-A0A3-9A0B233E1AE8}"/>
              </a:ext>
            </a:extLst>
          </p:cNvPr>
          <p:cNvSpPr>
            <a:spLocks xmlns:a="http://schemas.openxmlformats.org/drawingml/2006/main" noGrp="1"/>
          </p:cNvSpPr>
          <p:nvPr/>
        </p:nvSpPr>
        <p:spPr>
          <a:xfrm xmlns:a="http://schemas.openxmlformats.org/drawingml/2006/main">
            <a:off x="590550" y="5600700"/>
            <a:ext cx="247650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E58AA8"/>
                </a:solidFill>
                <a:latin typeface="Arial"/>
                <a:ea typeface="Arial"/>
                <a:cs typeface="Arial"/>
              </a:defRPr>
            </a:pPr>
            <a:r>
              <a:t>Act VI · The plan</a:t>
            </a:r>
          </a:p>
        </p:txBody>
      </p:sp>
      <p:sp>
        <p:nvSpPr>
          <p:cNvPr id="79" name="">
            <a:extLst xmlns:a="http://schemas.openxmlformats.org/drawingml/2006/main">
              <a:ext uri="{FF2B5EF4-FFF2-40B4-BE49-F238E27FC236}">
                <a16:creationId xmlns:a16="http://schemas.microsoft.com/office/drawing/2014/main" id="{6E392A03-D50D-4BE1-9900-840B7A9C51ED}"/>
              </a:ext>
            </a:extLst>
          </p:cNvPr>
          <p:cNvSpPr>
            <a:spLocks xmlns:a="http://schemas.openxmlformats.org/drawingml/2006/main" noGrp="1"/>
          </p:cNvSpPr>
          <p:nvPr/>
        </p:nvSpPr>
        <p:spPr>
          <a:xfrm xmlns:a="http://schemas.openxmlformats.org/drawingml/2006/main">
            <a:off x="590550" y="5772150"/>
            <a:ext cx="2476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PP. 113–118</a:t>
            </a:r>
          </a:p>
        </p:txBody>
      </p:sp>
      <p:sp>
        <p:nvSpPr>
          <p:cNvPr id="80" name="">
            <a:extLst xmlns:a="http://schemas.openxmlformats.org/drawingml/2006/main">
              <a:ext uri="{FF2B5EF4-FFF2-40B4-BE49-F238E27FC236}">
                <a16:creationId xmlns:a16="http://schemas.microsoft.com/office/drawing/2014/main" id="{4F01527A-0936-4340-B2EE-64FFC248A1BF}"/>
              </a:ext>
            </a:extLst>
          </p:cNvPr>
          <p:cNvSpPr>
            <a:spLocks xmlns:a="http://schemas.openxmlformats.org/drawingml/2006/main" noGrp="1"/>
          </p:cNvSpPr>
          <p:nvPr/>
        </p:nvSpPr>
        <p:spPr>
          <a:xfrm xmlns:a="http://schemas.openxmlformats.org/drawingml/2006/main">
            <a:off x="3200400" y="5600700"/>
            <a:ext cx="5334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What must be true in 90 days, and who owns each gate?</a:t>
            </a:r>
          </a:p>
        </p:txBody>
      </p:sp>
      <p:sp>
        <p:nvSpPr>
          <p:cNvPr id="81" name="">
            <a:extLst xmlns:a="http://schemas.openxmlformats.org/drawingml/2006/main">
              <a:ext uri="{FF2B5EF4-FFF2-40B4-BE49-F238E27FC236}">
                <a16:creationId xmlns:a16="http://schemas.microsoft.com/office/drawing/2014/main" id="{2F3DF639-9886-49FD-AAD2-5A3FAB0F9CF3}"/>
              </a:ext>
            </a:extLst>
          </p:cNvPr>
          <p:cNvSpPr>
            <a:spLocks xmlns:a="http://schemas.openxmlformats.org/drawingml/2006/main" noGrp="1"/>
          </p:cNvSpPr>
          <p:nvPr/>
        </p:nvSpPr>
        <p:spPr>
          <a:xfrm xmlns:a="http://schemas.openxmlformats.org/drawingml/2006/main">
            <a:off x="3200400" y="5829300"/>
            <a:ext cx="5334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Owners, triggers and the gates that decide whether the position is real.</a:t>
            </a:r>
          </a:p>
        </p:txBody>
      </p:sp>
      <p:sp>
        <p:nvSpPr>
          <p:cNvPr id="82" name="">
            <a:extLst xmlns:a="http://schemas.openxmlformats.org/drawingml/2006/main">
              <a:ext uri="{FF2B5EF4-FFF2-40B4-BE49-F238E27FC236}">
                <a16:creationId xmlns:a16="http://schemas.microsoft.com/office/drawing/2014/main" id="{FDDEA32C-EC8A-4240-9A09-F910B0482483}"/>
              </a:ext>
            </a:extLst>
          </p:cNvPr>
          <p:cNvSpPr>
            <a:spLocks xmlns:a="http://schemas.openxmlformats.org/drawingml/2006/main" noGrp="1"/>
          </p:cNvSpPr>
          <p:nvPr/>
        </p:nvSpPr>
        <p:spPr>
          <a:xfrm xmlns:a="http://schemas.openxmlformats.org/drawingml/2006/main">
            <a:off x="11029950" y="5657850"/>
            <a:ext cx="5715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E58AA8"/>
                </a:solidFill>
                <a:latin typeface="Georgia"/>
                <a:ea typeface="Georgia"/>
                <a:cs typeface="Georgia"/>
              </a:defRPr>
            </a:pPr>
            <a:r>
              <a:t>6</a:t>
            </a:r>
          </a:p>
        </p:txBody>
      </p:sp>
      <p:sp>
        <p:nvSpPr>
          <p:cNvPr id="83" name="">
            <a:extLst xmlns:a="http://schemas.openxmlformats.org/drawingml/2006/main">
              <a:ext uri="{FF2B5EF4-FFF2-40B4-BE49-F238E27FC236}">
                <a16:creationId xmlns:a16="http://schemas.microsoft.com/office/drawing/2014/main" id="{4AC219D0-4F33-4346-9A2E-C3B517BA513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CAF44502-2C9B-48BC-8E69-8BE2829D827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85" name="">
            <a:extLst xmlns:a="http://schemas.openxmlformats.org/drawingml/2006/main">
              <a:ext uri="{FF2B5EF4-FFF2-40B4-BE49-F238E27FC236}">
                <a16:creationId xmlns:a16="http://schemas.microsoft.com/office/drawing/2014/main" id="{7DD2535D-9111-401F-B6A7-41967383B3D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a:t>
            </a:r>
          </a:p>
        </p:txBody>
      </p:sp>
    </p:spTree>
    <p:extLst>
      <p:ext uri="{BB962C8B-B14F-4D97-AF65-F5344CB8AC3E}">
        <p14:creationId xmlns:p14="http://schemas.microsoft.com/office/powerpoint/2010/main" val="118771286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AB391BC-AD5F-4059-A9E1-95D33B4F695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1A03085-9BCD-4BF4-BE75-E7D808C3C9F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8144270-E590-4C11-90AE-C970491A3944}"/>
              </a:ext>
            </a:extLst>
          </p:cNvPr>
          <p:cNvSpPr>
            <a:spLocks xmlns:a="http://schemas.openxmlformats.org/drawingml/2006/main" noGrp="1"/>
          </p:cNvSpPr>
          <p:nvPr/>
        </p:nvSpPr>
        <p:spPr>
          <a:xfrm xmlns:a="http://schemas.openxmlformats.org/drawingml/2006/main">
            <a:off x="457200" y="2038350"/>
            <a:ext cx="1143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BA9C5FA-9195-4E6B-AD63-D5B6276DA980}"/>
              </a:ext>
            </a:extLst>
          </p:cNvPr>
          <p:cNvSpPr>
            <a:spLocks xmlns:a="http://schemas.openxmlformats.org/drawingml/2006/main" noGrp="1"/>
          </p:cNvSpPr>
          <p:nvPr/>
        </p:nvSpPr>
        <p:spPr>
          <a:xfrm xmlns:a="http://schemas.openxmlformats.org/drawingml/2006/main">
            <a:off x="457200" y="2286000"/>
            <a:ext cx="476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04B3C7"/>
                </a:solidFill>
                <a:latin typeface="Arial"/>
                <a:ea typeface="Arial"/>
                <a:cs typeface="Arial"/>
              </a:defRPr>
            </a:pPr>
            <a:r>
              <a:t>ACT I</a:t>
            </a:r>
          </a:p>
        </p:txBody>
      </p:sp>
      <p:sp>
        <p:nvSpPr>
          <p:cNvPr id="5" name="">
            <a:extLst xmlns:a="http://schemas.openxmlformats.org/drawingml/2006/main">
              <a:ext uri="{FF2B5EF4-FFF2-40B4-BE49-F238E27FC236}">
                <a16:creationId xmlns:a16="http://schemas.microsoft.com/office/drawing/2014/main" id="{1EAC6004-1A85-483A-964A-8C9B79CEE6E5}"/>
              </a:ext>
            </a:extLst>
          </p:cNvPr>
          <p:cNvSpPr>
            <a:spLocks xmlns:a="http://schemas.openxmlformats.org/drawingml/2006/main" noGrp="1"/>
          </p:cNvSpPr>
          <p:nvPr/>
        </p:nvSpPr>
        <p:spPr>
          <a:xfrm xmlns:a="http://schemas.openxmlformats.org/drawingml/2006/main">
            <a:off x="457200" y="2552700"/>
            <a:ext cx="85725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FFFFFF"/>
                </a:solidFill>
                <a:latin typeface="Georgia"/>
                <a:ea typeface="Georgia"/>
                <a:cs typeface="Georgia"/>
              </a:defRPr>
            </a:pPr>
            <a:r>
              <a:t>The verdict</a:t>
            </a:r>
          </a:p>
        </p:txBody>
      </p:sp>
      <p:sp>
        <p:nvSpPr>
          <p:cNvPr id="6" name="">
            <a:extLst xmlns:a="http://schemas.openxmlformats.org/drawingml/2006/main">
              <a:ext uri="{FF2B5EF4-FFF2-40B4-BE49-F238E27FC236}">
                <a16:creationId xmlns:a16="http://schemas.microsoft.com/office/drawing/2014/main" id="{7DFB382D-9367-4597-BD5C-896E17095D60}"/>
              </a:ext>
            </a:extLst>
          </p:cNvPr>
          <p:cNvSpPr>
            <a:spLocks xmlns:a="http://schemas.openxmlformats.org/drawingml/2006/main" noGrp="1"/>
          </p:cNvSpPr>
          <p:nvPr/>
        </p:nvSpPr>
        <p:spPr>
          <a:xfrm xmlns:a="http://schemas.openxmlformats.org/drawingml/2006/main">
            <a:off x="457200" y="3390900"/>
            <a:ext cx="7810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C9D6E2"/>
                </a:solidFill>
                <a:latin typeface="Arial"/>
                <a:ea typeface="Arial"/>
                <a:cs typeface="Arial"/>
              </a:defRPr>
            </a:pPr>
            <a:r>
              <a:t>What should DeepGrid do, before any of the evidence?</a:t>
            </a:r>
          </a:p>
        </p:txBody>
      </p:sp>
      <p:sp>
        <p:nvSpPr>
          <p:cNvPr id="7" name="">
            <a:extLst xmlns:a="http://schemas.openxmlformats.org/drawingml/2006/main">
              <a:ext uri="{FF2B5EF4-FFF2-40B4-BE49-F238E27FC236}">
                <a16:creationId xmlns:a16="http://schemas.microsoft.com/office/drawing/2014/main" id="{0FA147A4-EDE8-4FC1-B94D-1338EC059E98}"/>
              </a:ext>
            </a:extLst>
          </p:cNvPr>
          <p:cNvSpPr>
            <a:spLocks xmlns:a="http://schemas.openxmlformats.org/drawingml/2006/main" noGrp="1"/>
          </p:cNvSpPr>
          <p:nvPr/>
        </p:nvSpPr>
        <p:spPr>
          <a:xfrm xmlns:a="http://schemas.openxmlformats.org/drawingml/2006/main">
            <a:off x="457200" y="4076700"/>
            <a:ext cx="78105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61F7CA0-89C6-49F0-81DA-9B389156A2AF}"/>
              </a:ext>
            </a:extLst>
          </p:cNvPr>
          <p:cNvSpPr>
            <a:spLocks xmlns:a="http://schemas.openxmlformats.org/drawingml/2006/main" noGrp="1"/>
          </p:cNvSpPr>
          <p:nvPr/>
        </p:nvSpPr>
        <p:spPr>
          <a:xfrm xmlns:a="http://schemas.openxmlformats.org/drawingml/2006/main">
            <a:off x="457200" y="42100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WHAT THIS ACT SETTLES</a:t>
            </a:r>
          </a:p>
        </p:txBody>
      </p:sp>
      <p:sp>
        <p:nvSpPr>
          <p:cNvPr id="9" name="">
            <a:extLst xmlns:a="http://schemas.openxmlformats.org/drawingml/2006/main">
              <a:ext uri="{FF2B5EF4-FFF2-40B4-BE49-F238E27FC236}">
                <a16:creationId xmlns:a16="http://schemas.microsoft.com/office/drawing/2014/main" id="{C184873B-8AA6-435D-A4F3-B450D3EC9134}"/>
              </a:ext>
            </a:extLst>
          </p:cNvPr>
          <p:cNvSpPr>
            <a:spLocks xmlns:a="http://schemas.openxmlformats.org/drawingml/2006/main" noGrp="1"/>
          </p:cNvSpPr>
          <p:nvPr/>
        </p:nvSpPr>
        <p:spPr>
          <a:xfrm xmlns:a="http://schemas.openxmlformats.org/drawingml/2006/main">
            <a:off x="457200" y="4400550"/>
            <a:ext cx="78105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The answer, the gates that fund it, and what live research changed.</a:t>
            </a:r>
          </a:p>
        </p:txBody>
      </p:sp>
      <p:sp>
        <p:nvSpPr>
          <p:cNvPr id="10" name="">
            <a:extLst xmlns:a="http://schemas.openxmlformats.org/drawingml/2006/main">
              <a:ext uri="{FF2B5EF4-FFF2-40B4-BE49-F238E27FC236}">
                <a16:creationId xmlns:a16="http://schemas.microsoft.com/office/drawing/2014/main" id="{D31EBAEF-3149-4C02-B1C3-1A46003DF04C}"/>
              </a:ext>
            </a:extLst>
          </p:cNvPr>
          <p:cNvSpPr>
            <a:spLocks xmlns:a="http://schemas.openxmlformats.org/drawingml/2006/main" noGrp="1"/>
          </p:cNvSpPr>
          <p:nvPr/>
        </p:nvSpPr>
        <p:spPr>
          <a:xfrm xmlns:a="http://schemas.openxmlformats.org/drawingml/2006/main">
            <a:off x="9410700" y="2495550"/>
            <a:ext cx="1905000" cy="704850"/>
          </a:xfrm>
          <a:prstGeom xmlns:a="http://schemas.openxmlformats.org/drawingml/2006/main" prst="rect">
            <a:avLst/>
          </a:prstGeom>
        </p:spPr>
        <p:txBody>
          <a:bodyPr xmlns:a="http://schemas.openxmlformats.org/drawingml/2006/main" lIns="0" tIns="0" rIns="0" bIns="0" anchor="t">
            <a:normAutofit fontScale="99462"/>
          </a:bodyPr>
          <a:lstStyle xmlns:a="http://schemas.openxmlformats.org/drawingml/2006/main"/>
          <a:p xmlns:a="http://schemas.openxmlformats.org/drawingml/2006/main">
            <a:pPr algn="l">
              <a:defRPr sz="4650" b="1">
                <a:solidFill>
                  <a:srgbClr val="04B3C7"/>
                </a:solidFill>
                <a:latin typeface="Georgia"/>
                <a:ea typeface="Georgia"/>
                <a:cs typeface="Georgia"/>
              </a:defRPr>
            </a:pPr>
            <a:r>
              <a:t>4</a:t>
            </a:r>
          </a:p>
        </p:txBody>
      </p:sp>
      <p:sp>
        <p:nvSpPr>
          <p:cNvPr id="11" name="">
            <a:extLst xmlns:a="http://schemas.openxmlformats.org/drawingml/2006/main">
              <a:ext uri="{FF2B5EF4-FFF2-40B4-BE49-F238E27FC236}">
                <a16:creationId xmlns:a16="http://schemas.microsoft.com/office/drawing/2014/main" id="{7A428AFF-4D32-4DB4-AB04-702327D9A503}"/>
              </a:ext>
            </a:extLst>
          </p:cNvPr>
          <p:cNvSpPr>
            <a:spLocks xmlns:a="http://schemas.openxmlformats.org/drawingml/2006/main" noGrp="1"/>
          </p:cNvSpPr>
          <p:nvPr/>
        </p:nvSpPr>
        <p:spPr>
          <a:xfrm xmlns:a="http://schemas.openxmlformats.org/drawingml/2006/main">
            <a:off x="9410700" y="32385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PAGES</a:t>
            </a:r>
          </a:p>
        </p:txBody>
      </p:sp>
      <p:sp>
        <p:nvSpPr>
          <p:cNvPr id="12" name="">
            <a:extLst xmlns:a="http://schemas.openxmlformats.org/drawingml/2006/main">
              <a:ext uri="{FF2B5EF4-FFF2-40B4-BE49-F238E27FC236}">
                <a16:creationId xmlns:a16="http://schemas.microsoft.com/office/drawing/2014/main" id="{89825D31-2A87-4471-9968-92527D51CE4D}"/>
              </a:ext>
            </a:extLst>
          </p:cNvPr>
          <p:cNvSpPr>
            <a:spLocks xmlns:a="http://schemas.openxmlformats.org/drawingml/2006/main" noGrp="1"/>
          </p:cNvSpPr>
          <p:nvPr/>
        </p:nvSpPr>
        <p:spPr>
          <a:xfrm xmlns:a="http://schemas.openxmlformats.org/drawingml/2006/main">
            <a:off x="9410700" y="34290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pp. 4–9</a:t>
            </a:r>
          </a:p>
        </p:txBody>
      </p:sp>
      <p:sp>
        <p:nvSpPr>
          <p:cNvPr id="13" name="">
            <a:extLst xmlns:a="http://schemas.openxmlformats.org/drawingml/2006/main">
              <a:ext uri="{FF2B5EF4-FFF2-40B4-BE49-F238E27FC236}">
                <a16:creationId xmlns:a16="http://schemas.microsoft.com/office/drawing/2014/main" id="{C5562E4D-B0DE-4097-B6DB-D257D5CB1BF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7008C37-620C-43A6-9607-AB9AB8F82537}"/>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15" name="">
            <a:extLst xmlns:a="http://schemas.openxmlformats.org/drawingml/2006/main">
              <a:ext uri="{FF2B5EF4-FFF2-40B4-BE49-F238E27FC236}">
                <a16:creationId xmlns:a16="http://schemas.microsoft.com/office/drawing/2014/main" id="{520428A3-6732-4753-B18F-55A879F2F40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3</a:t>
            </a:r>
          </a:p>
        </p:txBody>
      </p:sp>
    </p:spTree>
    <p:extLst>
      <p:ext uri="{BB962C8B-B14F-4D97-AF65-F5344CB8AC3E}">
        <p14:creationId xmlns:p14="http://schemas.microsoft.com/office/powerpoint/2010/main" val="199690023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2C79491-049C-4DC4-9512-99A91F92F2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98C0462-EF52-432A-A0B8-D78E09CE5650}"/>
              </a:ext>
            </a:extLst>
          </p:cNvPr>
          <p:cNvSpPr>
            <a:spLocks xmlns:a="http://schemas.openxmlformats.org/drawingml/2006/main" noGrp="1"/>
          </p:cNvSpPr>
          <p:nvPr/>
        </p:nvSpPr>
        <p:spPr>
          <a:xfrm xmlns:a="http://schemas.openxmlformats.org/drawingml/2006/main">
            <a:off x="457200" y="285750"/>
            <a:ext cx="8572500" cy="2857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2000" b="1">
                <a:solidFill>
                  <a:srgbClr val="101827"/>
                </a:solidFill>
                <a:latin typeface="Georgia"/>
                <a:ea typeface="Georgia"/>
                <a:cs typeface="Georgia"/>
              </a:defRPr>
            </a:pPr>
            <a:r>
              <a:t>The argument in one shape</a:t>
            </a:r>
          </a:p>
        </p:txBody>
      </p:sp>
      <p:sp>
        <p:nvSpPr>
          <p:cNvPr id="3" name="">
            <a:extLst xmlns:a="http://schemas.openxmlformats.org/drawingml/2006/main">
              <a:ext uri="{FF2B5EF4-FFF2-40B4-BE49-F238E27FC236}">
                <a16:creationId xmlns:a16="http://schemas.microsoft.com/office/drawing/2014/main" id="{C236C83C-9AC6-4D1D-A674-FB28D65C08ED}"/>
              </a:ext>
            </a:extLst>
          </p:cNvPr>
          <p:cNvSpPr>
            <a:spLocks xmlns:a="http://schemas.openxmlformats.org/drawingml/2006/main" noGrp="1"/>
          </p:cNvSpPr>
          <p:nvPr/>
        </p:nvSpPr>
        <p:spPr>
          <a:xfrm xmlns:a="http://schemas.openxmlformats.org/drawingml/2006/main">
            <a:off x="457200" y="647700"/>
            <a:ext cx="8572500" cy="133350"/>
          </a:xfrm>
          <a:prstGeom xmlns:a="http://schemas.openxmlformats.org/drawingml/2006/main" prst="rect">
            <a:avLst/>
          </a:prstGeom>
        </p:spPr>
        <p:txBody>
          <a:bodyPr xmlns:a="http://schemas.openxmlformats.org/drawingml/2006/main" lIns="0" tIns="0" rIns="0" bIns="0" anchor="t">
            <a:normAutofit fontScale="97222"/>
          </a:bodyPr>
          <a:lstStyle xmlns:a="http://schemas.openxmlformats.org/drawingml/2006/main"/>
          <a:p xmlns:a="http://schemas.openxmlformats.org/drawingml/2006/main">
            <a:pPr algn="l">
              <a:defRPr sz="900">
                <a:solidFill>
                  <a:srgbClr val="586270"/>
                </a:solidFill>
                <a:latin typeface="Arial"/>
                <a:ea typeface="Arial"/>
                <a:cs typeface="Arial"/>
              </a:defRPr>
            </a:pPr>
            <a:r>
              <a:t>If the board reads one page, this is the page.</a:t>
            </a:r>
          </a:p>
        </p:txBody>
      </p:sp>
      <p:sp>
        <p:nvSpPr>
          <p:cNvPr id="4" name="">
            <a:extLst xmlns:a="http://schemas.openxmlformats.org/drawingml/2006/main">
              <a:ext uri="{FF2B5EF4-FFF2-40B4-BE49-F238E27FC236}">
                <a16:creationId xmlns:a16="http://schemas.microsoft.com/office/drawing/2014/main" id="{9815E1BB-CF18-49C2-8AEC-EFF46163F625}"/>
              </a:ext>
            </a:extLst>
          </p:cNvPr>
          <p:cNvSpPr>
            <a:spLocks xmlns:a="http://schemas.openxmlformats.org/drawingml/2006/main" noGrp="1"/>
          </p:cNvSpPr>
          <p:nvPr/>
        </p:nvSpPr>
        <p:spPr>
          <a:xfrm xmlns:a="http://schemas.openxmlformats.org/drawingml/2006/main">
            <a:off x="457200" y="876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3297194-3FB7-47E6-9E85-0191C096DC09}"/>
              </a:ext>
            </a:extLst>
          </p:cNvPr>
          <p:cNvSpPr>
            <a:spLocks xmlns:a="http://schemas.openxmlformats.org/drawingml/2006/main" noGrp="1"/>
          </p:cNvSpPr>
          <p:nvPr/>
        </p:nvSpPr>
        <p:spPr>
          <a:xfrm xmlns:a="http://schemas.openxmlformats.org/drawingml/2006/main">
            <a:off x="457200" y="1028700"/>
            <a:ext cx="11277600" cy="1019175"/>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CB58CB9-EED4-466D-B402-3F4CFDCF67B4}"/>
              </a:ext>
            </a:extLst>
          </p:cNvPr>
          <p:cNvSpPr>
            <a:spLocks xmlns:a="http://schemas.openxmlformats.org/drawingml/2006/main" noGrp="1"/>
          </p:cNvSpPr>
          <p:nvPr/>
        </p:nvSpPr>
        <p:spPr>
          <a:xfrm xmlns:a="http://schemas.openxmlformats.org/drawingml/2006/main">
            <a:off x="457200" y="1028700"/>
            <a:ext cx="38100" cy="10191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EF41433-494F-416F-BE62-585C104011D7}"/>
              </a:ext>
            </a:extLst>
          </p:cNvPr>
          <p:cNvSpPr>
            <a:spLocks xmlns:a="http://schemas.openxmlformats.org/drawingml/2006/main" noGrp="1"/>
          </p:cNvSpPr>
          <p:nvPr/>
        </p:nvSpPr>
        <p:spPr>
          <a:xfrm xmlns:a="http://schemas.openxmlformats.org/drawingml/2006/main">
            <a:off x="647700" y="11239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GOVERNING THOUGHT</a:t>
            </a:r>
          </a:p>
        </p:txBody>
      </p:sp>
      <p:sp>
        <p:nvSpPr>
          <p:cNvPr id="8" name="">
            <a:extLst xmlns:a="http://schemas.openxmlformats.org/drawingml/2006/main">
              <a:ext uri="{FF2B5EF4-FFF2-40B4-BE49-F238E27FC236}">
                <a16:creationId xmlns:a16="http://schemas.microsoft.com/office/drawing/2014/main" id="{70DC96CC-7B97-4347-A4F3-05631489219E}"/>
              </a:ext>
            </a:extLst>
          </p:cNvPr>
          <p:cNvSpPr>
            <a:spLocks xmlns:a="http://schemas.openxmlformats.org/drawingml/2006/main" noGrp="1"/>
          </p:cNvSpPr>
          <p:nvPr/>
        </p:nvSpPr>
        <p:spPr>
          <a:xfrm xmlns:a="http://schemas.openxmlformats.org/drawingml/2006/main">
            <a:off x="647700" y="1295400"/>
            <a:ext cx="10706100"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FFFFFF"/>
                </a:solidFill>
                <a:latin typeface="Arial"/>
                <a:ea typeface="Arial"/>
                <a:cs typeface="Arial"/>
              </a:defRPr>
            </a:pPr>
            <a:r>
              <a:t>DeepGrid cannot win India CV ADAS as a full-system supplier — ZF and Aptiv own braking, ECU, calibration, approval and warranty. It can win as the bounded perception layer an accountable integrator embeds, and the only thing between here and there is reproducible evidence that four funded gates buy in 90 days.</a:t>
            </a:r>
          </a:p>
        </p:txBody>
      </p:sp>
      <p:sp>
        <p:nvSpPr>
          <p:cNvPr id="9" name="">
            <a:extLst xmlns:a="http://schemas.openxmlformats.org/drawingml/2006/main">
              <a:ext uri="{FF2B5EF4-FFF2-40B4-BE49-F238E27FC236}">
                <a16:creationId xmlns:a16="http://schemas.microsoft.com/office/drawing/2014/main" id="{4B486F83-DC9E-43A2-AC52-9A0CA3CE5125}"/>
              </a:ext>
            </a:extLst>
          </p:cNvPr>
          <p:cNvSpPr>
            <a:spLocks xmlns:a="http://schemas.openxmlformats.org/drawingml/2006/main" noGrp="1"/>
          </p:cNvSpPr>
          <p:nvPr/>
        </p:nvSpPr>
        <p:spPr>
          <a:xfrm xmlns:a="http://schemas.openxmlformats.org/drawingml/2006/main">
            <a:off x="6086475" y="2066925"/>
            <a:ext cx="19050" cy="114300"/>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62CF9AB-CF4D-419D-8BE8-461C06CCCA3C}"/>
              </a:ext>
            </a:extLst>
          </p:cNvPr>
          <p:cNvSpPr>
            <a:spLocks xmlns:a="http://schemas.openxmlformats.org/drawingml/2006/main" noGrp="1"/>
          </p:cNvSpPr>
          <p:nvPr/>
        </p:nvSpPr>
        <p:spPr>
          <a:xfrm xmlns:a="http://schemas.openxmlformats.org/drawingml/2006/main">
            <a:off x="457200" y="2181225"/>
            <a:ext cx="3683000" cy="16287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1" name="">
            <a:extLst xmlns:a="http://schemas.openxmlformats.org/drawingml/2006/main">
              <a:ext uri="{FF2B5EF4-FFF2-40B4-BE49-F238E27FC236}">
                <a16:creationId xmlns:a16="http://schemas.microsoft.com/office/drawing/2014/main" id="{71D7A258-C88D-4A17-8CCB-FD9A56D08C71}"/>
              </a:ext>
            </a:extLst>
          </p:cNvPr>
          <p:cNvSpPr>
            <a:spLocks xmlns:a="http://schemas.openxmlformats.org/drawingml/2006/main" noGrp="1"/>
          </p:cNvSpPr>
          <p:nvPr/>
        </p:nvSpPr>
        <p:spPr>
          <a:xfrm xmlns:a="http://schemas.openxmlformats.org/drawingml/2006/main">
            <a:off x="457200" y="2181225"/>
            <a:ext cx="36830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CAF34FF-6A7E-44E2-BBD5-6B7EC49FBD00}"/>
              </a:ext>
            </a:extLst>
          </p:cNvPr>
          <p:cNvSpPr>
            <a:spLocks xmlns:a="http://schemas.openxmlformats.org/drawingml/2006/main" noGrp="1"/>
          </p:cNvSpPr>
          <p:nvPr/>
        </p:nvSpPr>
        <p:spPr>
          <a:xfrm xmlns:a="http://schemas.openxmlformats.org/drawingml/2006/main">
            <a:off x="590550" y="2295525"/>
            <a:ext cx="34353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37A87"/>
                </a:solidFill>
                <a:latin typeface="Arial"/>
                <a:ea typeface="Arial"/>
                <a:cs typeface="Arial"/>
              </a:defRPr>
            </a:pPr>
            <a:r>
              <a:t>SUPPORT 1</a:t>
            </a:r>
          </a:p>
        </p:txBody>
      </p:sp>
      <p:sp>
        <p:nvSpPr>
          <p:cNvPr id="13" name="">
            <a:extLst xmlns:a="http://schemas.openxmlformats.org/drawingml/2006/main">
              <a:ext uri="{FF2B5EF4-FFF2-40B4-BE49-F238E27FC236}">
                <a16:creationId xmlns:a16="http://schemas.microsoft.com/office/drawing/2014/main" id="{01DC5DCD-34BB-40D6-AB45-132CC8CAD642}"/>
              </a:ext>
            </a:extLst>
          </p:cNvPr>
          <p:cNvSpPr>
            <a:spLocks xmlns:a="http://schemas.openxmlformats.org/drawingml/2006/main" noGrp="1"/>
          </p:cNvSpPr>
          <p:nvPr/>
        </p:nvSpPr>
        <p:spPr>
          <a:xfrm xmlns:a="http://schemas.openxmlformats.org/drawingml/2006/main">
            <a:off x="590550" y="2466975"/>
            <a:ext cx="34353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01827"/>
                </a:solidFill>
                <a:latin typeface="Arial"/>
                <a:ea typeface="Arial"/>
                <a:cs typeface="Arial"/>
              </a:defRPr>
            </a:pPr>
            <a:r>
              <a:t>The field is occupied by control point, not by product.</a:t>
            </a:r>
          </a:p>
        </p:txBody>
      </p:sp>
      <p:sp>
        <p:nvSpPr>
          <p:cNvPr id="14" name="">
            <a:extLst xmlns:a="http://schemas.openxmlformats.org/drawingml/2006/main">
              <a:ext uri="{FF2B5EF4-FFF2-40B4-BE49-F238E27FC236}">
                <a16:creationId xmlns:a16="http://schemas.microsoft.com/office/drawing/2014/main" id="{58224B7B-0C45-4231-8247-A31A896BBA9C}"/>
              </a:ext>
            </a:extLst>
          </p:cNvPr>
          <p:cNvSpPr>
            <a:spLocks xmlns:a="http://schemas.openxmlformats.org/drawingml/2006/main" noGrp="1"/>
          </p:cNvSpPr>
          <p:nvPr/>
        </p:nvSpPr>
        <p:spPr>
          <a:xfrm xmlns:a="http://schemas.openxmlformats.org/drawingml/2006/main">
            <a:off x="590550" y="2886075"/>
            <a:ext cx="343535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A competitor is dangerous when it owns something DeepGrid must pass through. ZF and Aptiv hold the gates that decide a programme; no feature answers that.</a:t>
            </a:r>
          </a:p>
        </p:txBody>
      </p:sp>
      <p:sp>
        <p:nvSpPr>
          <p:cNvPr id="15" name="">
            <a:extLst xmlns:a="http://schemas.openxmlformats.org/drawingml/2006/main">
              <a:ext uri="{FF2B5EF4-FFF2-40B4-BE49-F238E27FC236}">
                <a16:creationId xmlns:a16="http://schemas.microsoft.com/office/drawing/2014/main" id="{169DA4C4-97AA-45E7-8684-B4FD4C30CFB1}"/>
              </a:ext>
            </a:extLst>
          </p:cNvPr>
          <p:cNvSpPr>
            <a:spLocks xmlns:a="http://schemas.openxmlformats.org/drawingml/2006/main" noGrp="1"/>
          </p:cNvSpPr>
          <p:nvPr/>
        </p:nvSpPr>
        <p:spPr>
          <a:xfrm xmlns:a="http://schemas.openxmlformats.org/drawingml/2006/main">
            <a:off x="590550" y="3581400"/>
            <a:ext cx="34163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51B8BEA-F966-4DB5-97D3-C9197F380B80}"/>
              </a:ext>
            </a:extLst>
          </p:cNvPr>
          <p:cNvSpPr>
            <a:spLocks xmlns:a="http://schemas.openxmlformats.org/drawingml/2006/main" noGrp="1"/>
          </p:cNvSpPr>
          <p:nvPr/>
        </p:nvSpPr>
        <p:spPr>
          <a:xfrm xmlns:a="http://schemas.openxmlformats.org/drawingml/2006/main">
            <a:off x="590550" y="3638550"/>
            <a:ext cx="34353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ACT II · FOUR ARENAS, FOUR CONTROL POINTS</a:t>
            </a:r>
          </a:p>
        </p:txBody>
      </p:sp>
      <p:sp>
        <p:nvSpPr>
          <p:cNvPr id="17" name="">
            <a:extLst xmlns:a="http://schemas.openxmlformats.org/drawingml/2006/main">
              <a:ext uri="{FF2B5EF4-FFF2-40B4-BE49-F238E27FC236}">
                <a16:creationId xmlns:a16="http://schemas.microsoft.com/office/drawing/2014/main" id="{4853B548-E789-408D-92E1-6A20374F3C47}"/>
              </a:ext>
            </a:extLst>
          </p:cNvPr>
          <p:cNvSpPr>
            <a:spLocks xmlns:a="http://schemas.openxmlformats.org/drawingml/2006/main" noGrp="1"/>
          </p:cNvSpPr>
          <p:nvPr/>
        </p:nvSpPr>
        <p:spPr>
          <a:xfrm xmlns:a="http://schemas.openxmlformats.org/drawingml/2006/main">
            <a:off x="4254500" y="2181225"/>
            <a:ext cx="3683000" cy="16287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8" name="">
            <a:extLst xmlns:a="http://schemas.openxmlformats.org/drawingml/2006/main">
              <a:ext uri="{FF2B5EF4-FFF2-40B4-BE49-F238E27FC236}">
                <a16:creationId xmlns:a16="http://schemas.microsoft.com/office/drawing/2014/main" id="{0F365BBD-07F9-4715-8B8A-FD143058430A}"/>
              </a:ext>
            </a:extLst>
          </p:cNvPr>
          <p:cNvSpPr>
            <a:spLocks xmlns:a="http://schemas.openxmlformats.org/drawingml/2006/main" noGrp="1"/>
          </p:cNvSpPr>
          <p:nvPr/>
        </p:nvSpPr>
        <p:spPr>
          <a:xfrm xmlns:a="http://schemas.openxmlformats.org/drawingml/2006/main">
            <a:off x="4254500" y="2181225"/>
            <a:ext cx="36830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8031545-A031-4CC3-8D1C-D782238D2E5D}"/>
              </a:ext>
            </a:extLst>
          </p:cNvPr>
          <p:cNvSpPr>
            <a:spLocks xmlns:a="http://schemas.openxmlformats.org/drawingml/2006/main" noGrp="1"/>
          </p:cNvSpPr>
          <p:nvPr/>
        </p:nvSpPr>
        <p:spPr>
          <a:xfrm xmlns:a="http://schemas.openxmlformats.org/drawingml/2006/main">
            <a:off x="4387850" y="2295525"/>
            <a:ext cx="34353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C62828"/>
                </a:solidFill>
                <a:latin typeface="Arial"/>
                <a:ea typeface="Arial"/>
                <a:cs typeface="Arial"/>
              </a:defRPr>
            </a:pPr>
            <a:r>
              <a:t>SUPPORT 2</a:t>
            </a:r>
          </a:p>
        </p:txBody>
      </p:sp>
      <p:sp>
        <p:nvSpPr>
          <p:cNvPr id="20" name="">
            <a:extLst xmlns:a="http://schemas.openxmlformats.org/drawingml/2006/main">
              <a:ext uri="{FF2B5EF4-FFF2-40B4-BE49-F238E27FC236}">
                <a16:creationId xmlns:a16="http://schemas.microsoft.com/office/drawing/2014/main" id="{7A937E9F-D7C9-40EE-8E4E-0F8E64636B4D}"/>
              </a:ext>
            </a:extLst>
          </p:cNvPr>
          <p:cNvSpPr>
            <a:spLocks xmlns:a="http://schemas.openxmlformats.org/drawingml/2006/main" noGrp="1"/>
          </p:cNvSpPr>
          <p:nvPr/>
        </p:nvSpPr>
        <p:spPr>
          <a:xfrm xmlns:a="http://schemas.openxmlformats.org/drawingml/2006/main">
            <a:off x="4387850" y="2466975"/>
            <a:ext cx="34353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01827"/>
                </a:solidFill>
                <a:latin typeface="Arial"/>
                <a:ea typeface="Arial"/>
                <a:cs typeface="Arial"/>
              </a:defRPr>
            </a:pPr>
            <a:r>
              <a:t>No competitor placement in this dossier is independently verified.</a:t>
            </a:r>
          </a:p>
        </p:txBody>
      </p:sp>
      <p:sp>
        <p:nvSpPr>
          <p:cNvPr id="21" name="">
            <a:extLst xmlns:a="http://schemas.openxmlformats.org/drawingml/2006/main">
              <a:ext uri="{FF2B5EF4-FFF2-40B4-BE49-F238E27FC236}">
                <a16:creationId xmlns:a16="http://schemas.microsoft.com/office/drawing/2014/main" id="{7BF7A61B-5CF0-49CD-9156-E22B95B548C4}"/>
              </a:ext>
            </a:extLst>
          </p:cNvPr>
          <p:cNvSpPr>
            <a:spLocks xmlns:a="http://schemas.openxmlformats.org/drawingml/2006/main" noGrp="1"/>
          </p:cNvSpPr>
          <p:nvPr/>
        </p:nvSpPr>
        <p:spPr>
          <a:xfrm xmlns:a="http://schemas.openxmlformats.org/drawingml/2006/main">
            <a:off x="4387850" y="2886075"/>
            <a:ext cx="343535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Every rating rests on company statements, not on procurement or homologation artifacts, so the war room must move scores on evidence events rather than announcements.</a:t>
            </a:r>
          </a:p>
        </p:txBody>
      </p:sp>
      <p:sp>
        <p:nvSpPr>
          <p:cNvPr id="22" name="">
            <a:extLst xmlns:a="http://schemas.openxmlformats.org/drawingml/2006/main">
              <a:ext uri="{FF2B5EF4-FFF2-40B4-BE49-F238E27FC236}">
                <a16:creationId xmlns:a16="http://schemas.microsoft.com/office/drawing/2014/main" id="{ACAF9302-4AC5-4484-8961-6B548476D6C0}"/>
              </a:ext>
            </a:extLst>
          </p:cNvPr>
          <p:cNvSpPr>
            <a:spLocks xmlns:a="http://schemas.openxmlformats.org/drawingml/2006/main" noGrp="1"/>
          </p:cNvSpPr>
          <p:nvPr/>
        </p:nvSpPr>
        <p:spPr>
          <a:xfrm xmlns:a="http://schemas.openxmlformats.org/drawingml/2006/main">
            <a:off x="4387850" y="3581400"/>
            <a:ext cx="34163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94F8117-7C44-4308-BA3A-8A1E321E752A}"/>
              </a:ext>
            </a:extLst>
          </p:cNvPr>
          <p:cNvSpPr>
            <a:spLocks xmlns:a="http://schemas.openxmlformats.org/drawingml/2006/main" noGrp="1"/>
          </p:cNvSpPr>
          <p:nvPr/>
        </p:nvSpPr>
        <p:spPr>
          <a:xfrm xmlns:a="http://schemas.openxmlformats.org/drawingml/2006/main">
            <a:off x="4387850" y="3638550"/>
            <a:ext cx="34353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ACT III · TEN EVIDENCE LADDERS AND FALSIFIERS</a:t>
            </a:r>
          </a:p>
        </p:txBody>
      </p:sp>
      <p:sp>
        <p:nvSpPr>
          <p:cNvPr id="24" name="">
            <a:extLst xmlns:a="http://schemas.openxmlformats.org/drawingml/2006/main">
              <a:ext uri="{FF2B5EF4-FFF2-40B4-BE49-F238E27FC236}">
                <a16:creationId xmlns:a16="http://schemas.microsoft.com/office/drawing/2014/main" id="{19702847-8321-440D-902C-7A96B3FD4AF7}"/>
              </a:ext>
            </a:extLst>
          </p:cNvPr>
          <p:cNvSpPr>
            <a:spLocks xmlns:a="http://schemas.openxmlformats.org/drawingml/2006/main" noGrp="1"/>
          </p:cNvSpPr>
          <p:nvPr/>
        </p:nvSpPr>
        <p:spPr>
          <a:xfrm xmlns:a="http://schemas.openxmlformats.org/drawingml/2006/main">
            <a:off x="8051800" y="2181225"/>
            <a:ext cx="3683000" cy="16287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04023A1E-F759-4032-8E0E-CF73ECB98773}"/>
              </a:ext>
            </a:extLst>
          </p:cNvPr>
          <p:cNvSpPr>
            <a:spLocks xmlns:a="http://schemas.openxmlformats.org/drawingml/2006/main" noGrp="1"/>
          </p:cNvSpPr>
          <p:nvPr/>
        </p:nvSpPr>
        <p:spPr>
          <a:xfrm xmlns:a="http://schemas.openxmlformats.org/drawingml/2006/main">
            <a:off x="8051800" y="2181225"/>
            <a:ext cx="3683000" cy="38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48D9358-1298-437F-904C-556914015A5C}"/>
              </a:ext>
            </a:extLst>
          </p:cNvPr>
          <p:cNvSpPr>
            <a:spLocks xmlns:a="http://schemas.openxmlformats.org/drawingml/2006/main" noGrp="1"/>
          </p:cNvSpPr>
          <p:nvPr/>
        </p:nvSpPr>
        <p:spPr>
          <a:xfrm xmlns:a="http://schemas.openxmlformats.org/drawingml/2006/main">
            <a:off x="8185150" y="2295525"/>
            <a:ext cx="34353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AB5A08"/>
                </a:solidFill>
                <a:latin typeface="Arial"/>
                <a:ea typeface="Arial"/>
                <a:cs typeface="Arial"/>
              </a:defRPr>
            </a:pPr>
            <a:r>
              <a:t>SUPPORT 3</a:t>
            </a:r>
          </a:p>
        </p:txBody>
      </p:sp>
      <p:sp>
        <p:nvSpPr>
          <p:cNvPr id="27" name="">
            <a:extLst xmlns:a="http://schemas.openxmlformats.org/drawingml/2006/main">
              <a:ext uri="{FF2B5EF4-FFF2-40B4-BE49-F238E27FC236}">
                <a16:creationId xmlns:a16="http://schemas.microsoft.com/office/drawing/2014/main" id="{1B13EA47-E050-4FB6-A600-A2FFD4587100}"/>
              </a:ext>
            </a:extLst>
          </p:cNvPr>
          <p:cNvSpPr>
            <a:spLocks xmlns:a="http://schemas.openxmlformats.org/drawingml/2006/main" noGrp="1"/>
          </p:cNvSpPr>
          <p:nvPr/>
        </p:nvSpPr>
        <p:spPr>
          <a:xfrm xmlns:a="http://schemas.openxmlformats.org/drawingml/2006/main">
            <a:off x="8185150" y="2466975"/>
            <a:ext cx="34353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01827"/>
                </a:solidFill>
                <a:latin typeface="Arial"/>
                <a:ea typeface="Arial"/>
                <a:cs typeface="Arial"/>
              </a:defRPr>
            </a:pPr>
            <a:r>
              <a:t>DeepGrid’s current claims outrun its evidence, and that is the binding constraint.</a:t>
            </a:r>
          </a:p>
        </p:txBody>
      </p:sp>
      <p:sp>
        <p:nvSpPr>
          <p:cNvPr id="28" name="">
            <a:extLst xmlns:a="http://schemas.openxmlformats.org/drawingml/2006/main">
              <a:ext uri="{FF2B5EF4-FFF2-40B4-BE49-F238E27FC236}">
                <a16:creationId xmlns:a16="http://schemas.microsoft.com/office/drawing/2014/main" id="{8FF75F3C-5F7D-4220-87C4-B67D1EB052C1}"/>
              </a:ext>
            </a:extLst>
          </p:cNvPr>
          <p:cNvSpPr>
            <a:spLocks xmlns:a="http://schemas.openxmlformats.org/drawingml/2006/main" noGrp="1"/>
          </p:cNvSpPr>
          <p:nvPr/>
        </p:nvSpPr>
        <p:spPr>
          <a:xfrm xmlns:a="http://schemas.openxmlformats.org/drawingml/2006/main">
            <a:off x="8185150" y="2886075"/>
            <a:ext cx="3435350"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The April-2026 mandate date is wrong, five claims are unsupported, and a projected die price is being compared to a system price. Proof deficit — not feature deficit — is what blocks entry.</a:t>
            </a:r>
          </a:p>
        </p:txBody>
      </p:sp>
      <p:sp>
        <p:nvSpPr>
          <p:cNvPr id="29" name="">
            <a:extLst xmlns:a="http://schemas.openxmlformats.org/drawingml/2006/main">
              <a:ext uri="{FF2B5EF4-FFF2-40B4-BE49-F238E27FC236}">
                <a16:creationId xmlns:a16="http://schemas.microsoft.com/office/drawing/2014/main" id="{0E668A7E-148A-4F61-A903-DEBB53C9CDB2}"/>
              </a:ext>
            </a:extLst>
          </p:cNvPr>
          <p:cNvSpPr>
            <a:spLocks xmlns:a="http://schemas.openxmlformats.org/drawingml/2006/main" noGrp="1"/>
          </p:cNvSpPr>
          <p:nvPr/>
        </p:nvSpPr>
        <p:spPr>
          <a:xfrm xmlns:a="http://schemas.openxmlformats.org/drawingml/2006/main">
            <a:off x="8185150" y="3581400"/>
            <a:ext cx="34163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B7A3CC5-2E17-4134-9467-5F415E690E04}"/>
              </a:ext>
            </a:extLst>
          </p:cNvPr>
          <p:cNvSpPr>
            <a:spLocks xmlns:a="http://schemas.openxmlformats.org/drawingml/2006/main" noGrp="1"/>
          </p:cNvSpPr>
          <p:nvPr/>
        </p:nvSpPr>
        <p:spPr>
          <a:xfrm xmlns:a="http://schemas.openxmlformats.org/drawingml/2006/main">
            <a:off x="8185150" y="3638550"/>
            <a:ext cx="34353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ACT IV · THE WEDGE · ACT V · THE 90-DAY SPRINT</a:t>
            </a:r>
          </a:p>
        </p:txBody>
      </p:sp>
      <p:sp>
        <p:nvSpPr>
          <p:cNvPr id="31" name="">
            <a:extLst xmlns:a="http://schemas.openxmlformats.org/drawingml/2006/main">
              <a:ext uri="{FF2B5EF4-FFF2-40B4-BE49-F238E27FC236}">
                <a16:creationId xmlns:a16="http://schemas.microsoft.com/office/drawing/2014/main" id="{2B80F1E8-0526-4C08-9FB6-9CACFDD8C0F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84446C1-D5AA-4161-8893-CD387A8B65C6}"/>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8B2AB762-33CA-42C6-B530-B89E3C5D53A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4</a:t>
            </a:r>
          </a:p>
        </p:txBody>
      </p:sp>
    </p:spTree>
    <p:extLst>
      <p:ext uri="{BB962C8B-B14F-4D97-AF65-F5344CB8AC3E}">
        <p14:creationId xmlns:p14="http://schemas.microsoft.com/office/powerpoint/2010/main" val="5905264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02ED63C6-29F6-428E-89A5-F6848C35C2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96B294-CE0C-4E4A-A1E4-2575611B64F9}"/>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6666885-7475-4AAA-9D4C-9238EF6A1DA3}"/>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34AF9799-A912-43B8-8573-FE4F5580D5E0}"/>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AD1CB2C9-C53A-416D-985A-5373417B41EB}"/>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Occupied field → Perception-layer acceptance is the strategic gate</a:t>
            </a:r>
          </a:p>
        </p:txBody>
      </p:sp>
      <p:sp>
        <p:nvSpPr>
          <p:cNvPr id="6" name="">
            <a:extLst xmlns:a="http://schemas.openxmlformats.org/drawingml/2006/main">
              <a:ext uri="{FF2B5EF4-FFF2-40B4-BE49-F238E27FC236}">
                <a16:creationId xmlns:a16="http://schemas.microsoft.com/office/drawing/2014/main" id="{315F0F14-A7B1-4B85-8576-685004E0C589}"/>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4674C43-6E8D-4A4F-AF50-C5E0F1DF6AD9}"/>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Can DeepGrid still win in an India ADAS field that is already occupied, and on what terms?</a:t>
            </a:r>
          </a:p>
        </p:txBody>
      </p:sp>
      <p:sp>
        <p:nvSpPr>
          <p:cNvPr id="8" name="">
            <a:extLst xmlns:a="http://schemas.openxmlformats.org/drawingml/2006/main">
              <a:ext uri="{FF2B5EF4-FFF2-40B4-BE49-F238E27FC236}">
                <a16:creationId xmlns:a16="http://schemas.microsoft.com/office/drawing/2014/main" id="{0E1295A1-6EC3-4D9F-878C-7414C369299E}"/>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DA3182D3-2D3D-4C9A-8B39-FF1827E8F2C8}"/>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419AC4A-0934-4DE3-9CDD-81C898E68272}"/>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D60DB75D-D003-4B94-94BF-482FE60B77C6}"/>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Yes, but not as a full-system supplier. The winnable position is the perception layer that an accountable integrator chooses to embed, and the gate is a braking Tier-1 accepting DeepGrid's interfaces, diagnostics and safety assumptions — not a sovereignty claim.</a:t>
            </a:r>
          </a:p>
        </p:txBody>
      </p:sp>
      <p:sp>
        <p:nvSpPr>
          <p:cNvPr id="12" name="">
            <a:extLst xmlns:a="http://schemas.openxmlformats.org/drawingml/2006/main">
              <a:ext uri="{FF2B5EF4-FFF2-40B4-BE49-F238E27FC236}">
                <a16:creationId xmlns:a16="http://schemas.microsoft.com/office/drawing/2014/main" id="{5AB750D2-5F1A-44B8-B165-57F7D4A154CE}"/>
              </a:ext>
            </a:extLst>
          </p:cNvPr>
          <p:cNvSpPr>
            <a:spLocks xmlns:a="http://schemas.openxmlformats.org/drawingml/2006/main" noGrp="1"/>
          </p:cNvSpPr>
          <p:nvPr/>
        </p:nvSpPr>
        <p:spPr>
          <a:xfrm xmlns:a="http://schemas.openxmlformats.org/drawingml/2006/main">
            <a:off x="457200" y="1841500"/>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383B2632-C62B-43E6-B68E-E861C7E89A6E}"/>
              </a:ext>
            </a:extLst>
          </p:cNvPr>
          <p:cNvSpPr>
            <a:spLocks xmlns:a="http://schemas.openxmlformats.org/drawingml/2006/main" noGrp="1"/>
          </p:cNvSpPr>
          <p:nvPr/>
        </p:nvSpPr>
        <p:spPr>
          <a:xfrm xmlns:a="http://schemas.openxmlformats.org/drawingml/2006/main">
            <a:off x="457200" y="1841500"/>
            <a:ext cx="10375392" cy="2857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E030150-069A-40AB-88B8-996782D8F498}"/>
              </a:ext>
            </a:extLst>
          </p:cNvPr>
          <p:cNvSpPr>
            <a:spLocks xmlns:a="http://schemas.openxmlformats.org/drawingml/2006/main" noGrp="1"/>
          </p:cNvSpPr>
          <p:nvPr/>
        </p:nvSpPr>
        <p:spPr>
          <a:xfrm xmlns:a="http://schemas.openxmlformats.org/drawingml/2006/main">
            <a:off x="457200" y="1841500"/>
            <a:ext cx="28575" cy="8763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11E5C9B-453F-4990-A855-78DAB8C08427}"/>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FIVE INDEPENDENT RESEARCH</a:t>
            </a:r>
          </a:p>
        </p:txBody>
      </p:sp>
      <p:sp>
        <p:nvSpPr>
          <p:cNvPr id="16" name="">
            <a:extLst xmlns:a="http://schemas.openxmlformats.org/drawingml/2006/main">
              <a:ext uri="{FF2B5EF4-FFF2-40B4-BE49-F238E27FC236}">
                <a16:creationId xmlns:a16="http://schemas.microsoft.com/office/drawing/2014/main" id="{B33E0982-4068-4617-965E-81BDF80C1863}"/>
              </a:ext>
            </a:extLst>
          </p:cNvPr>
          <p:cNvSpPr>
            <a:spLocks xmlns:a="http://schemas.openxmlformats.org/drawingml/2006/main" noGrp="1"/>
          </p:cNvSpPr>
          <p:nvPr/>
        </p:nvSpPr>
        <p:spPr>
          <a:xfrm xmlns:a="http://schemas.openxmlformats.org/drawingml/2006/main">
            <a:off x="4067556" y="191770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Five independent research lenses · primary-source verification · 10 competitors · 3 buying arenas · 74-slide decision dossier</a:t>
            </a:r>
          </a:p>
        </p:txBody>
      </p:sp>
      <p:sp>
        <p:nvSpPr>
          <p:cNvPr id="17" name="">
            <a:extLst xmlns:a="http://schemas.openxmlformats.org/drawingml/2006/main">
              <a:ext uri="{FF2B5EF4-FFF2-40B4-BE49-F238E27FC236}">
                <a16:creationId xmlns:a16="http://schemas.microsoft.com/office/drawing/2014/main" id="{0C6CB31D-B305-4869-A060-20FF8FB0D87A}"/>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57F59"/>
                </a:solidFill>
                <a:latin typeface="Arial"/>
                <a:ea typeface="Arial"/>
                <a:cs typeface="Arial"/>
              </a:defRPr>
            </a:pPr>
            <a:r>
              <a:t>VERIFIED FACT</a:t>
            </a:r>
          </a:p>
        </p:txBody>
      </p:sp>
      <p:sp>
        <p:nvSpPr>
          <p:cNvPr id="18" name="">
            <a:extLst xmlns:a="http://schemas.openxmlformats.org/drawingml/2006/main">
              <a:ext uri="{FF2B5EF4-FFF2-40B4-BE49-F238E27FC236}">
                <a16:creationId xmlns:a16="http://schemas.microsoft.com/office/drawing/2014/main" id="{20B35D87-C06E-40EC-87C9-DF8992DF20EF}"/>
              </a:ext>
            </a:extLst>
          </p:cNvPr>
          <p:cNvSpPr>
            <a:spLocks xmlns:a="http://schemas.openxmlformats.org/drawingml/2006/main" noGrp="1"/>
          </p:cNvSpPr>
          <p:nvPr/>
        </p:nvSpPr>
        <p:spPr>
          <a:xfrm xmlns:a="http://schemas.openxmlformats.org/drawingml/2006/main">
            <a:off x="457200" y="2784475"/>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58D645FD-93BC-41D5-A461-3AD504CA4BC7}"/>
              </a:ext>
            </a:extLst>
          </p:cNvPr>
          <p:cNvSpPr>
            <a:spLocks xmlns:a="http://schemas.openxmlformats.org/drawingml/2006/main" noGrp="1"/>
          </p:cNvSpPr>
          <p:nvPr/>
        </p:nvSpPr>
        <p:spPr>
          <a:xfrm xmlns:a="http://schemas.openxmlformats.org/drawingml/2006/main">
            <a:off x="457200" y="2784475"/>
            <a:ext cx="10149840" cy="2857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76A9639-ECFD-4674-BB73-8A6173C80020}"/>
              </a:ext>
            </a:extLst>
          </p:cNvPr>
          <p:cNvSpPr>
            <a:spLocks xmlns:a="http://schemas.openxmlformats.org/drawingml/2006/main" noGrp="1"/>
          </p:cNvSpPr>
          <p:nvPr/>
        </p:nvSpPr>
        <p:spPr>
          <a:xfrm xmlns:a="http://schemas.openxmlformats.org/drawingml/2006/main">
            <a:off x="457200" y="2784475"/>
            <a:ext cx="28575" cy="8763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6EDB1A1-E523-4747-A30B-0781C8B3B299}"/>
              </a:ext>
            </a:extLst>
          </p:cNvPr>
          <p:cNvSpPr>
            <a:spLocks xmlns:a="http://schemas.openxmlformats.org/drawingml/2006/main" noGrp="1"/>
          </p:cNvSpPr>
          <p:nvPr/>
        </p:nvSpPr>
        <p:spPr>
          <a:xfrm xmlns:a="http://schemas.openxmlformats.org/drawingml/2006/main">
            <a:off x="571500" y="28702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PREPARED FOR DEEPGRID</a:t>
            </a:r>
          </a:p>
        </p:txBody>
      </p:sp>
      <p:sp>
        <p:nvSpPr>
          <p:cNvPr id="22" name="">
            <a:extLst xmlns:a="http://schemas.openxmlformats.org/drawingml/2006/main">
              <a:ext uri="{FF2B5EF4-FFF2-40B4-BE49-F238E27FC236}">
                <a16:creationId xmlns:a16="http://schemas.microsoft.com/office/drawing/2014/main" id="{C2C5F406-D94E-4A67-AE55-CE603B71C47E}"/>
              </a:ext>
            </a:extLst>
          </p:cNvPr>
          <p:cNvSpPr>
            <a:spLocks xmlns:a="http://schemas.openxmlformats.org/drawingml/2006/main" noGrp="1"/>
          </p:cNvSpPr>
          <p:nvPr/>
        </p:nvSpPr>
        <p:spPr>
          <a:xfrm xmlns:a="http://schemas.openxmlformats.org/drawingml/2006/main">
            <a:off x="4067556" y="286067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Prepared for DeepGrid leadership · 13 August 2026</a:t>
            </a:r>
          </a:p>
        </p:txBody>
      </p:sp>
      <p:sp>
        <p:nvSpPr>
          <p:cNvPr id="23" name="">
            <a:extLst xmlns:a="http://schemas.openxmlformats.org/drawingml/2006/main">
              <a:ext uri="{FF2B5EF4-FFF2-40B4-BE49-F238E27FC236}">
                <a16:creationId xmlns:a16="http://schemas.microsoft.com/office/drawing/2014/main" id="{657C36D8-1778-4330-96DF-BB3F69F4B2DA}"/>
              </a:ext>
            </a:extLst>
          </p:cNvPr>
          <p:cNvSpPr>
            <a:spLocks xmlns:a="http://schemas.openxmlformats.org/drawingml/2006/main" noGrp="1"/>
          </p:cNvSpPr>
          <p:nvPr/>
        </p:nvSpPr>
        <p:spPr>
          <a:xfrm xmlns:a="http://schemas.openxmlformats.org/drawingml/2006/main">
            <a:off x="9816084" y="28702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57F59"/>
                </a:solidFill>
                <a:latin typeface="Arial"/>
                <a:ea typeface="Arial"/>
                <a:cs typeface="Arial"/>
              </a:defRPr>
            </a:pPr>
            <a:r>
              <a:t>VERIFIED FACT</a:t>
            </a:r>
          </a:p>
        </p:txBody>
      </p:sp>
      <p:sp>
        <p:nvSpPr>
          <p:cNvPr id="24" name="">
            <a:extLst xmlns:a="http://schemas.openxmlformats.org/drawingml/2006/main">
              <a:ext uri="{FF2B5EF4-FFF2-40B4-BE49-F238E27FC236}">
                <a16:creationId xmlns:a16="http://schemas.microsoft.com/office/drawing/2014/main" id="{746F4503-7EEC-4044-87F7-02F74C149951}"/>
              </a:ext>
            </a:extLst>
          </p:cNvPr>
          <p:cNvSpPr>
            <a:spLocks xmlns:a="http://schemas.openxmlformats.org/drawingml/2006/main" noGrp="1"/>
          </p:cNvSpPr>
          <p:nvPr/>
        </p:nvSpPr>
        <p:spPr>
          <a:xfrm xmlns:a="http://schemas.openxmlformats.org/drawingml/2006/main">
            <a:off x="457200" y="3727450"/>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E6EBA254-F532-45DA-BD77-8073C820F117}"/>
              </a:ext>
            </a:extLst>
          </p:cNvPr>
          <p:cNvSpPr>
            <a:spLocks xmlns:a="http://schemas.openxmlformats.org/drawingml/2006/main" noGrp="1"/>
          </p:cNvSpPr>
          <p:nvPr/>
        </p:nvSpPr>
        <p:spPr>
          <a:xfrm xmlns:a="http://schemas.openxmlformats.org/drawingml/2006/main">
            <a:off x="457200" y="3727450"/>
            <a:ext cx="9924288" cy="2857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69C8FB9-184D-46CA-AB12-D975DA10F8C4}"/>
              </a:ext>
            </a:extLst>
          </p:cNvPr>
          <p:cNvSpPr>
            <a:spLocks xmlns:a="http://schemas.openxmlformats.org/drawingml/2006/main" noGrp="1"/>
          </p:cNvSpPr>
          <p:nvPr/>
        </p:nvSpPr>
        <p:spPr>
          <a:xfrm xmlns:a="http://schemas.openxmlformats.org/drawingml/2006/main">
            <a:off x="457200" y="3727450"/>
            <a:ext cx="28575" cy="8763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870912F-6872-4050-9DA2-A73BFF0AB317}"/>
              </a:ext>
            </a:extLst>
          </p:cNvPr>
          <p:cNvSpPr>
            <a:spLocks xmlns:a="http://schemas.openxmlformats.org/drawingml/2006/main" noGrp="1"/>
          </p:cNvSpPr>
          <p:nvPr/>
        </p:nvSpPr>
        <p:spPr>
          <a:xfrm xmlns:a="http://schemas.openxmlformats.org/drawingml/2006/main">
            <a:off x="571500" y="38131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DEEPGRID SEMI · INDIA</a:t>
            </a:r>
          </a:p>
        </p:txBody>
      </p:sp>
      <p:sp>
        <p:nvSpPr>
          <p:cNvPr id="28" name="">
            <a:extLst xmlns:a="http://schemas.openxmlformats.org/drawingml/2006/main">
              <a:ext uri="{FF2B5EF4-FFF2-40B4-BE49-F238E27FC236}">
                <a16:creationId xmlns:a16="http://schemas.microsoft.com/office/drawing/2014/main" id="{3BBB2B72-3503-4639-9773-E5DB17778055}"/>
              </a:ext>
            </a:extLst>
          </p:cNvPr>
          <p:cNvSpPr>
            <a:spLocks xmlns:a="http://schemas.openxmlformats.org/drawingml/2006/main" noGrp="1"/>
          </p:cNvSpPr>
          <p:nvPr/>
        </p:nvSpPr>
        <p:spPr>
          <a:xfrm xmlns:a="http://schemas.openxmlformats.org/drawingml/2006/main">
            <a:off x="4067556" y="380365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DEEPGRID SEMI · INDIA COMMERCIAL-VEHICLE ADAS</a:t>
            </a:r>
          </a:p>
        </p:txBody>
      </p:sp>
      <p:sp>
        <p:nvSpPr>
          <p:cNvPr id="29" name="">
            <a:extLst xmlns:a="http://schemas.openxmlformats.org/drawingml/2006/main">
              <a:ext uri="{FF2B5EF4-FFF2-40B4-BE49-F238E27FC236}">
                <a16:creationId xmlns:a16="http://schemas.microsoft.com/office/drawing/2014/main" id="{C46254C7-62F0-46E7-8DEF-1B6E193E3EAD}"/>
              </a:ext>
            </a:extLst>
          </p:cNvPr>
          <p:cNvSpPr>
            <a:spLocks xmlns:a="http://schemas.openxmlformats.org/drawingml/2006/main" noGrp="1"/>
          </p:cNvSpPr>
          <p:nvPr/>
        </p:nvSpPr>
        <p:spPr>
          <a:xfrm xmlns:a="http://schemas.openxmlformats.org/drawingml/2006/main">
            <a:off x="9816084" y="38131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57F59"/>
                </a:solidFill>
                <a:latin typeface="Arial"/>
                <a:ea typeface="Arial"/>
                <a:cs typeface="Arial"/>
              </a:defRPr>
            </a:pPr>
            <a:r>
              <a:t>VERIFIED FACT</a:t>
            </a:r>
          </a:p>
        </p:txBody>
      </p:sp>
      <p:sp>
        <p:nvSpPr>
          <p:cNvPr id="30" name="">
            <a:extLst xmlns:a="http://schemas.openxmlformats.org/drawingml/2006/main">
              <a:ext uri="{FF2B5EF4-FFF2-40B4-BE49-F238E27FC236}">
                <a16:creationId xmlns:a16="http://schemas.microsoft.com/office/drawing/2014/main" id="{D3708D16-4462-474B-848A-622A00689FE1}"/>
              </a:ext>
            </a:extLst>
          </p:cNvPr>
          <p:cNvSpPr>
            <a:spLocks xmlns:a="http://schemas.openxmlformats.org/drawingml/2006/main" noGrp="1"/>
          </p:cNvSpPr>
          <p:nvPr/>
        </p:nvSpPr>
        <p:spPr>
          <a:xfrm xmlns:a="http://schemas.openxmlformats.org/drawingml/2006/main">
            <a:off x="457200" y="4670425"/>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2F7C955B-DCD7-4A07-8EB8-976765D3C0B7}"/>
              </a:ext>
            </a:extLst>
          </p:cNvPr>
          <p:cNvSpPr>
            <a:spLocks xmlns:a="http://schemas.openxmlformats.org/drawingml/2006/main" noGrp="1"/>
          </p:cNvSpPr>
          <p:nvPr/>
        </p:nvSpPr>
        <p:spPr>
          <a:xfrm xmlns:a="http://schemas.openxmlformats.org/drawingml/2006/main">
            <a:off x="457200" y="467042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4E36E1C-186D-470C-9F15-D84BDD0FF010}"/>
              </a:ext>
            </a:extLst>
          </p:cNvPr>
          <p:cNvSpPr>
            <a:spLocks xmlns:a="http://schemas.openxmlformats.org/drawingml/2006/main" noGrp="1"/>
          </p:cNvSpPr>
          <p:nvPr/>
        </p:nvSpPr>
        <p:spPr>
          <a:xfrm xmlns:a="http://schemas.openxmlformats.org/drawingml/2006/main">
            <a:off x="457200" y="4670425"/>
            <a:ext cx="28575" cy="8763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D903863-ADD8-4D6E-B487-F8B651DA541F}"/>
              </a:ext>
            </a:extLst>
          </p:cNvPr>
          <p:cNvSpPr>
            <a:spLocks xmlns:a="http://schemas.openxmlformats.org/drawingml/2006/main" noGrp="1"/>
          </p:cNvSpPr>
          <p:nvPr/>
        </p:nvSpPr>
        <p:spPr>
          <a:xfrm xmlns:a="http://schemas.openxmlformats.org/drawingml/2006/main">
            <a:off x="571500" y="47561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043A7160-9025-4DF9-9DBD-4913702B54BB}"/>
              </a:ext>
            </a:extLst>
          </p:cNvPr>
          <p:cNvSpPr>
            <a:spLocks xmlns:a="http://schemas.openxmlformats.org/drawingml/2006/main" noGrp="1"/>
          </p:cNvSpPr>
          <p:nvPr/>
        </p:nvSpPr>
        <p:spPr>
          <a:xfrm xmlns:a="http://schemas.openxmlformats.org/drawingml/2006/main">
            <a:off x="4067556" y="474662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named Indian CV OEM qualifies DeepGrid directly, with no braking Tier-1 in the loop, before 1 October 2027.</a:t>
            </a:r>
          </a:p>
        </p:txBody>
      </p:sp>
      <p:sp>
        <p:nvSpPr>
          <p:cNvPr id="35" name="">
            <a:extLst xmlns:a="http://schemas.openxmlformats.org/drawingml/2006/main">
              <a:ext uri="{FF2B5EF4-FFF2-40B4-BE49-F238E27FC236}">
                <a16:creationId xmlns:a16="http://schemas.microsoft.com/office/drawing/2014/main" id="{5AF1F87D-635E-49BC-BE83-87AEC6FF36D0}"/>
              </a:ext>
            </a:extLst>
          </p:cNvPr>
          <p:cNvSpPr>
            <a:spLocks xmlns:a="http://schemas.openxmlformats.org/drawingml/2006/main" noGrp="1"/>
          </p:cNvSpPr>
          <p:nvPr/>
        </p:nvSpPr>
        <p:spPr>
          <a:xfrm xmlns:a="http://schemas.openxmlformats.org/drawingml/2006/main">
            <a:off x="9816084" y="47561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2752B53E-88C0-4E81-A0A1-C88617D0484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C2F06E8-7783-4F34-BC62-D6A22C735343}"/>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2A039B56-DBEF-4426-9007-49B202C1CD67}"/>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4BB07211-A76D-4AB6-9B29-8C0A867923B9}"/>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Adopt perception-layer acceptance as the strategic gate for the next four quarters.</a:t>
            </a:r>
          </a:p>
        </p:txBody>
      </p:sp>
      <p:sp>
        <p:nvSpPr>
          <p:cNvPr id="40" name="">
            <a:extLst xmlns:a="http://schemas.openxmlformats.org/drawingml/2006/main">
              <a:ext uri="{FF2B5EF4-FFF2-40B4-BE49-F238E27FC236}">
                <a16:creationId xmlns:a16="http://schemas.microsoft.com/office/drawing/2014/main" id="{264686D8-E3C4-4A55-9EA9-4CA44A472C4C}"/>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9D6456DF-9EFE-4FBD-BDFB-36AFAED749D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a:t>
            </a:r>
          </a:p>
          <a:p xmlns:a="http://schemas.openxmlformats.org/drawingml/2006/main">
            <a:pPr algn="l">
              <a:defRPr sz="800">
                <a:solidFill>
                  <a:srgbClr val="8EA0B2"/>
                </a:solidFill>
                <a:latin typeface="Arial"/>
                <a:ea typeface="Arial"/>
                <a:cs typeface="Arial"/>
              </a:defRPr>
            </a:pPr>
            <a:r>
              <a:t>Trigger · First written response from a named braking Tier-1 to the interface and evidence pack.</a:t>
            </a:r>
          </a:p>
        </p:txBody>
      </p:sp>
      <p:sp>
        <p:nvSpPr>
          <p:cNvPr id="42" name="">
            <a:extLst xmlns:a="http://schemas.openxmlformats.org/drawingml/2006/main">
              <a:ext uri="{FF2B5EF4-FFF2-40B4-BE49-F238E27FC236}">
                <a16:creationId xmlns:a16="http://schemas.microsoft.com/office/drawing/2014/main" id="{AEB6E7D3-F7D4-461B-9655-5C295055F423}"/>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63860081-1043-47BC-869D-86F100C04F2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to the board if no Tier-1 engages within 90 days; stop full-system positioning immediately.</a:t>
            </a:r>
          </a:p>
        </p:txBody>
      </p:sp>
      <p:sp>
        <p:nvSpPr>
          <p:cNvPr id="44" name="">
            <a:extLst xmlns:a="http://schemas.openxmlformats.org/drawingml/2006/main">
              <a:ext uri="{FF2B5EF4-FFF2-40B4-BE49-F238E27FC236}">
                <a16:creationId xmlns:a16="http://schemas.microsoft.com/office/drawing/2014/main" id="{89CCFD69-ABD3-4E62-8115-419A7035E81E}"/>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C23B3A9-4462-46A7-901B-79AE31B5F517}"/>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4F172266-9EB7-4749-A140-32D5415BC175}"/>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5</a:t>
            </a:r>
          </a:p>
        </p:txBody>
      </p:sp>
    </p:spTree>
    <p:extLst>
      <p:ext uri="{BB962C8B-B14F-4D97-AF65-F5344CB8AC3E}">
        <p14:creationId xmlns:p14="http://schemas.microsoft.com/office/powerpoint/2010/main" val="124160678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E399A56A-057B-4249-BC41-40DA65DB7FF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A48E615-35F4-498F-ABEE-25FE8E0A5B43}"/>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E3DB6DF-27B8-40CC-B9B1-4D5CF46F6A0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9A082780-2F33-4B87-8E2D-3D8B4F012A04}"/>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9489E076-BE42-4055-994E-E4938BE67297}"/>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Sell DGS001 as a bounded perception subsystem inside an accountable integrator</a:t>
            </a:r>
          </a:p>
        </p:txBody>
      </p:sp>
      <p:sp>
        <p:nvSpPr>
          <p:cNvPr id="6" name="">
            <a:extLst xmlns:a="http://schemas.openxmlformats.org/drawingml/2006/main">
              <a:ext uri="{FF2B5EF4-FFF2-40B4-BE49-F238E27FC236}">
                <a16:creationId xmlns:a16="http://schemas.microsoft.com/office/drawing/2014/main" id="{FEE8493E-445B-447E-BE91-BE3D6B4C3FF4}"/>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28DC7DB-909B-40D6-A5FE-5530BD9319E9}"/>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system boundary gives DeepGrid a credible route into India ADAS programmes?</a:t>
            </a:r>
          </a:p>
        </p:txBody>
      </p:sp>
      <p:sp>
        <p:nvSpPr>
          <p:cNvPr id="8" name="">
            <a:extLst xmlns:a="http://schemas.openxmlformats.org/drawingml/2006/main">
              <a:ext uri="{FF2B5EF4-FFF2-40B4-BE49-F238E27FC236}">
                <a16:creationId xmlns:a16="http://schemas.microsoft.com/office/drawing/2014/main" id="{FE5CD51E-19C1-4EFA-9226-506F56D52B95}"/>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9708C69D-B4E7-4BA4-A395-AF8A82D30058}"/>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5043EAC-BCE3-49DA-B73B-DB01431DBC58}"/>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777FF237-4745-4570-96B4-98A10E2DCA78}"/>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Sell DGS001 inside an accountable integrator. The decisive test is whether a braking Tier-1 accepts its interfaces, diagnostics, safety assumptions and evidence plan. Ceding system ownership may cap margin and customer control.</a:t>
            </a:r>
          </a:p>
        </p:txBody>
      </p:sp>
      <p:sp>
        <p:nvSpPr>
          <p:cNvPr id="12" name="">
            <a:extLst xmlns:a="http://schemas.openxmlformats.org/drawingml/2006/main">
              <a:ext uri="{FF2B5EF4-FFF2-40B4-BE49-F238E27FC236}">
                <a16:creationId xmlns:a16="http://schemas.microsoft.com/office/drawing/2014/main" id="{90FAD8CE-788F-4EE9-9207-0F6C34CC513C}"/>
              </a:ext>
            </a:extLst>
          </p:cNvPr>
          <p:cNvSpPr>
            <a:spLocks xmlns:a="http://schemas.openxmlformats.org/drawingml/2006/main" noGrp="1"/>
          </p:cNvSpPr>
          <p:nvPr/>
        </p:nvSpPr>
        <p:spPr>
          <a:xfrm xmlns:a="http://schemas.openxmlformats.org/drawingml/2006/main">
            <a:off x="457200" y="2152650"/>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6CD60A0D-0F48-4D8B-984E-CF257AE5B3C9}"/>
              </a:ext>
            </a:extLst>
          </p:cNvPr>
          <p:cNvSpPr>
            <a:spLocks xmlns:a="http://schemas.openxmlformats.org/drawingml/2006/main" noGrp="1"/>
          </p:cNvSpPr>
          <p:nvPr/>
        </p:nvSpPr>
        <p:spPr>
          <a:xfrm xmlns:a="http://schemas.openxmlformats.org/drawingml/2006/main">
            <a:off x="457200" y="2152650"/>
            <a:ext cx="10375392" cy="2857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734B157-24E4-4A3B-9751-6D3AAD1A3E51}"/>
              </a:ext>
            </a:extLst>
          </p:cNvPr>
          <p:cNvSpPr>
            <a:spLocks xmlns:a="http://schemas.openxmlformats.org/drawingml/2006/main" noGrp="1"/>
          </p:cNvSpPr>
          <p:nvPr/>
        </p:nvSpPr>
        <p:spPr>
          <a:xfrm xmlns:a="http://schemas.openxmlformats.org/drawingml/2006/main">
            <a:off x="457200" y="2152650"/>
            <a:ext cx="28575" cy="800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586AEF3-0DC2-4DE9-B167-273ED93A2A7C}"/>
              </a:ext>
            </a:extLst>
          </p:cNvPr>
          <p:cNvSpPr>
            <a:spLocks xmlns:a="http://schemas.openxmlformats.org/drawingml/2006/main" noGrp="1"/>
          </p:cNvSpPr>
          <p:nvPr/>
        </p:nvSpPr>
        <p:spPr>
          <a:xfrm xmlns:a="http://schemas.openxmlformats.org/drawingml/2006/main">
            <a:off x="571500" y="2238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EXECUTIVE ANSWER · SITUATION</a:t>
            </a:r>
          </a:p>
        </p:txBody>
      </p:sp>
      <p:sp>
        <p:nvSpPr>
          <p:cNvPr id="16" name="">
            <a:extLst xmlns:a="http://schemas.openxmlformats.org/drawingml/2006/main">
              <a:ext uri="{FF2B5EF4-FFF2-40B4-BE49-F238E27FC236}">
                <a16:creationId xmlns:a16="http://schemas.microsoft.com/office/drawing/2014/main" id="{CB98275F-FEE5-4843-BF87-B543467FD882}"/>
              </a:ext>
            </a:extLst>
          </p:cNvPr>
          <p:cNvSpPr>
            <a:spLocks xmlns:a="http://schemas.openxmlformats.org/drawingml/2006/main" noGrp="1"/>
          </p:cNvSpPr>
          <p:nvPr/>
        </p:nvSpPr>
        <p:spPr>
          <a:xfrm xmlns:a="http://schemas.openxmlformats.org/drawingml/2006/main">
            <a:off x="4067556" y="2228850"/>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EXECUTIVE ANSWER · SITUATION ASSESSMENT</a:t>
            </a:r>
          </a:p>
        </p:txBody>
      </p:sp>
      <p:sp>
        <p:nvSpPr>
          <p:cNvPr id="17" name="">
            <a:extLst xmlns:a="http://schemas.openxmlformats.org/drawingml/2006/main">
              <a:ext uri="{FF2B5EF4-FFF2-40B4-BE49-F238E27FC236}">
                <a16:creationId xmlns:a16="http://schemas.microsoft.com/office/drawing/2014/main" id="{FA399EEC-F198-4241-971E-0B4DFE2CFE81}"/>
              </a:ext>
            </a:extLst>
          </p:cNvPr>
          <p:cNvSpPr>
            <a:spLocks xmlns:a="http://schemas.openxmlformats.org/drawingml/2006/main" noGrp="1"/>
          </p:cNvSpPr>
          <p:nvPr/>
        </p:nvSpPr>
        <p:spPr>
          <a:xfrm xmlns:a="http://schemas.openxmlformats.org/drawingml/2006/main">
            <a:off x="9816084" y="2238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57F59"/>
                </a:solidFill>
                <a:latin typeface="Arial"/>
                <a:ea typeface="Arial"/>
                <a:cs typeface="Arial"/>
              </a:defRPr>
            </a:pPr>
            <a:r>
              <a:t>VERIFIED FACT</a:t>
            </a:r>
          </a:p>
        </p:txBody>
      </p:sp>
      <p:sp>
        <p:nvSpPr>
          <p:cNvPr id="18" name="">
            <a:extLst xmlns:a="http://schemas.openxmlformats.org/drawingml/2006/main">
              <a:ext uri="{FF2B5EF4-FFF2-40B4-BE49-F238E27FC236}">
                <a16:creationId xmlns:a16="http://schemas.microsoft.com/office/drawing/2014/main" id="{1DE5E017-978D-4210-BF69-6D2611E8D812}"/>
              </a:ext>
            </a:extLst>
          </p:cNvPr>
          <p:cNvSpPr>
            <a:spLocks xmlns:a="http://schemas.openxmlformats.org/drawingml/2006/main" noGrp="1"/>
          </p:cNvSpPr>
          <p:nvPr/>
        </p:nvSpPr>
        <p:spPr>
          <a:xfrm xmlns:a="http://schemas.openxmlformats.org/drawingml/2006/main">
            <a:off x="457200" y="3019425"/>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07C3814E-B20E-4E05-A45E-031F057AF694}"/>
              </a:ext>
            </a:extLst>
          </p:cNvPr>
          <p:cNvSpPr>
            <a:spLocks xmlns:a="http://schemas.openxmlformats.org/drawingml/2006/main" noGrp="1"/>
          </p:cNvSpPr>
          <p:nvPr/>
        </p:nvSpPr>
        <p:spPr>
          <a:xfrm xmlns:a="http://schemas.openxmlformats.org/drawingml/2006/main">
            <a:off x="457200" y="3019425"/>
            <a:ext cx="744321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61D427D-B6E4-4B06-9F5F-B1AAD8707BEB}"/>
              </a:ext>
            </a:extLst>
          </p:cNvPr>
          <p:cNvSpPr>
            <a:spLocks xmlns:a="http://schemas.openxmlformats.org/drawingml/2006/main" noGrp="1"/>
          </p:cNvSpPr>
          <p:nvPr/>
        </p:nvSpPr>
        <p:spPr>
          <a:xfrm xmlns:a="http://schemas.openxmlformats.org/drawingml/2006/main">
            <a:off x="457200" y="3019425"/>
            <a:ext cx="28575" cy="800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DE5F0E1-E76F-4E96-92B3-7A0B9CA64095}"/>
              </a:ext>
            </a:extLst>
          </p:cNvPr>
          <p:cNvSpPr>
            <a:spLocks xmlns:a="http://schemas.openxmlformats.org/drawingml/2006/main" noGrp="1"/>
          </p:cNvSpPr>
          <p:nvPr/>
        </p:nvSpPr>
        <p:spPr>
          <a:xfrm xmlns:a="http://schemas.openxmlformats.org/drawingml/2006/main">
            <a:off x="571500" y="31051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DEEPGRID DOES NOT YET</a:t>
            </a:r>
          </a:p>
        </p:txBody>
      </p:sp>
      <p:sp>
        <p:nvSpPr>
          <p:cNvPr id="22" name="">
            <a:extLst xmlns:a="http://schemas.openxmlformats.org/drawingml/2006/main">
              <a:ext uri="{FF2B5EF4-FFF2-40B4-BE49-F238E27FC236}">
                <a16:creationId xmlns:a16="http://schemas.microsoft.com/office/drawing/2014/main" id="{04BB5EF8-8B3F-497A-B71C-79D107285E69}"/>
              </a:ext>
            </a:extLst>
          </p:cNvPr>
          <p:cNvSpPr>
            <a:spLocks xmlns:a="http://schemas.openxmlformats.org/drawingml/2006/main" noGrp="1"/>
          </p:cNvSpPr>
          <p:nvPr/>
        </p:nvSpPr>
        <p:spPr>
          <a:xfrm xmlns:a="http://schemas.openxmlformats.org/drawingml/2006/main">
            <a:off x="4067556" y="3095625"/>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DeepGrid does not yet evidence vehicle-level integration, approval, warranty or an accountable Tier-1 programme.</a:t>
            </a:r>
          </a:p>
        </p:txBody>
      </p:sp>
      <p:sp>
        <p:nvSpPr>
          <p:cNvPr id="23" name="">
            <a:extLst xmlns:a="http://schemas.openxmlformats.org/drawingml/2006/main">
              <a:ext uri="{FF2B5EF4-FFF2-40B4-BE49-F238E27FC236}">
                <a16:creationId xmlns:a16="http://schemas.microsoft.com/office/drawing/2014/main" id="{605D8DDB-3FCF-4FA0-B7B8-1261C171D4CA}"/>
              </a:ext>
            </a:extLst>
          </p:cNvPr>
          <p:cNvSpPr>
            <a:spLocks xmlns:a="http://schemas.openxmlformats.org/drawingml/2006/main" noGrp="1"/>
          </p:cNvSpPr>
          <p:nvPr/>
        </p:nvSpPr>
        <p:spPr>
          <a:xfrm xmlns:a="http://schemas.openxmlformats.org/drawingml/2006/main">
            <a:off x="9816084" y="31051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ATTRIBUTED CLAIM</a:t>
            </a:r>
          </a:p>
        </p:txBody>
      </p:sp>
      <p:sp>
        <p:nvSpPr>
          <p:cNvPr id="24" name="">
            <a:extLst xmlns:a="http://schemas.openxmlformats.org/drawingml/2006/main">
              <a:ext uri="{FF2B5EF4-FFF2-40B4-BE49-F238E27FC236}">
                <a16:creationId xmlns:a16="http://schemas.microsoft.com/office/drawing/2014/main" id="{786BF968-ED44-469F-AF15-13941FFA00A1}"/>
              </a:ext>
            </a:extLst>
          </p:cNvPr>
          <p:cNvSpPr>
            <a:spLocks xmlns:a="http://schemas.openxmlformats.org/drawingml/2006/main" noGrp="1"/>
          </p:cNvSpPr>
          <p:nvPr/>
        </p:nvSpPr>
        <p:spPr>
          <a:xfrm xmlns:a="http://schemas.openxmlformats.org/drawingml/2006/main">
            <a:off x="457200" y="3886200"/>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4DEDA12F-DF0D-4149-8A46-D2D12356430B}"/>
              </a:ext>
            </a:extLst>
          </p:cNvPr>
          <p:cNvSpPr>
            <a:spLocks xmlns:a="http://schemas.openxmlformats.org/drawingml/2006/main" noGrp="1"/>
          </p:cNvSpPr>
          <p:nvPr/>
        </p:nvSpPr>
        <p:spPr>
          <a:xfrm xmlns:a="http://schemas.openxmlformats.org/drawingml/2006/main">
            <a:off x="457200" y="38862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3DB1FCF-9EC6-4AC8-BF15-5DA02644125A}"/>
              </a:ext>
            </a:extLst>
          </p:cNvPr>
          <p:cNvSpPr>
            <a:spLocks xmlns:a="http://schemas.openxmlformats.org/drawingml/2006/main" noGrp="1"/>
          </p:cNvSpPr>
          <p:nvPr/>
        </p:nvSpPr>
        <p:spPr>
          <a:xfrm xmlns:a="http://schemas.openxmlformats.org/drawingml/2006/main">
            <a:off x="457200" y="3886200"/>
            <a:ext cx="28575" cy="800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218BCF2-ACB0-46B4-88CB-4E6C065143D5}"/>
              </a:ext>
            </a:extLst>
          </p:cNvPr>
          <p:cNvSpPr>
            <a:spLocks xmlns:a="http://schemas.openxmlformats.org/drawingml/2006/main" noGrp="1"/>
          </p:cNvSpPr>
          <p:nvPr/>
        </p:nvSpPr>
        <p:spPr>
          <a:xfrm xmlns:a="http://schemas.openxmlformats.org/drawingml/2006/main">
            <a:off x="571500" y="3971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FINAL LAW CREATES A 2027</a:t>
            </a:r>
          </a:p>
        </p:txBody>
      </p:sp>
      <p:sp>
        <p:nvSpPr>
          <p:cNvPr id="28" name="">
            <a:extLst xmlns:a="http://schemas.openxmlformats.org/drawingml/2006/main">
              <a:ext uri="{FF2B5EF4-FFF2-40B4-BE49-F238E27FC236}">
                <a16:creationId xmlns:a16="http://schemas.microsoft.com/office/drawing/2014/main" id="{5EFC58D9-705D-4E56-80A6-0B10CD92129B}"/>
              </a:ext>
            </a:extLst>
          </p:cNvPr>
          <p:cNvSpPr>
            <a:spLocks xmlns:a="http://schemas.openxmlformats.org/drawingml/2006/main" noGrp="1"/>
          </p:cNvSpPr>
          <p:nvPr/>
        </p:nvSpPr>
        <p:spPr>
          <a:xfrm xmlns:a="http://schemas.openxmlformats.org/drawingml/2006/main">
            <a:off x="4067556" y="3962400"/>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Final law creates a 2027 qualification race, but ZF/Aptiv already control braking, calibration, homologation and OEM accountability.</a:t>
            </a:r>
          </a:p>
        </p:txBody>
      </p:sp>
      <p:sp>
        <p:nvSpPr>
          <p:cNvPr id="29" name="">
            <a:extLst xmlns:a="http://schemas.openxmlformats.org/drawingml/2006/main">
              <a:ext uri="{FF2B5EF4-FFF2-40B4-BE49-F238E27FC236}">
                <a16:creationId xmlns:a16="http://schemas.microsoft.com/office/drawing/2014/main" id="{924D9399-8BB9-4408-8E56-B9C8DC1BBE57}"/>
              </a:ext>
            </a:extLst>
          </p:cNvPr>
          <p:cNvSpPr>
            <a:spLocks xmlns:a="http://schemas.openxmlformats.org/drawingml/2006/main" noGrp="1"/>
          </p:cNvSpPr>
          <p:nvPr/>
        </p:nvSpPr>
        <p:spPr>
          <a:xfrm xmlns:a="http://schemas.openxmlformats.org/drawingml/2006/main">
            <a:off x="9816084" y="3971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0BA8984C-8C69-43C1-91B5-542E0F6DC965}"/>
              </a:ext>
            </a:extLst>
          </p:cNvPr>
          <p:cNvSpPr>
            <a:spLocks xmlns:a="http://schemas.openxmlformats.org/drawingml/2006/main" noGrp="1"/>
          </p:cNvSpPr>
          <p:nvPr/>
        </p:nvSpPr>
        <p:spPr>
          <a:xfrm xmlns:a="http://schemas.openxmlformats.org/drawingml/2006/main">
            <a:off x="457200" y="4752975"/>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14CB2667-3747-4835-9E4D-D398752621D1}"/>
              </a:ext>
            </a:extLst>
          </p:cNvPr>
          <p:cNvSpPr>
            <a:spLocks xmlns:a="http://schemas.openxmlformats.org/drawingml/2006/main" noGrp="1"/>
          </p:cNvSpPr>
          <p:nvPr/>
        </p:nvSpPr>
        <p:spPr>
          <a:xfrm xmlns:a="http://schemas.openxmlformats.org/drawingml/2006/main">
            <a:off x="457200" y="475297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52B5D96-86A3-41CC-B329-E6F244D6CE90}"/>
              </a:ext>
            </a:extLst>
          </p:cNvPr>
          <p:cNvSpPr>
            <a:spLocks xmlns:a="http://schemas.openxmlformats.org/drawingml/2006/main" noGrp="1"/>
          </p:cNvSpPr>
          <p:nvPr/>
        </p:nvSpPr>
        <p:spPr>
          <a:xfrm xmlns:a="http://schemas.openxmlformats.org/drawingml/2006/main">
            <a:off x="457200" y="4752975"/>
            <a:ext cx="28575" cy="800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9BB532F-8222-4530-9BA5-C1153EA77743}"/>
              </a:ext>
            </a:extLst>
          </p:cNvPr>
          <p:cNvSpPr>
            <a:spLocks xmlns:a="http://schemas.openxmlformats.org/drawingml/2006/main" noGrp="1"/>
          </p:cNvSpPr>
          <p:nvPr/>
        </p:nvSpPr>
        <p:spPr>
          <a:xfrm xmlns:a="http://schemas.openxmlformats.org/drawingml/2006/main">
            <a:off x="571500" y="48387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336F57CD-802A-4097-8018-7C1D9EE3542F}"/>
              </a:ext>
            </a:extLst>
          </p:cNvPr>
          <p:cNvSpPr>
            <a:spLocks xmlns:a="http://schemas.openxmlformats.org/drawingml/2006/main" noGrp="1"/>
          </p:cNvSpPr>
          <p:nvPr/>
        </p:nvSpPr>
        <p:spPr>
          <a:xfrm xmlns:a="http://schemas.openxmlformats.org/drawingml/2006/main">
            <a:off x="4067556" y="4829175"/>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braking Tier-1 rejects the interface and safety-assumption pack, or accepts it only on terms that transfer DeepGrid's perception IP.</a:t>
            </a:r>
          </a:p>
        </p:txBody>
      </p:sp>
      <p:sp>
        <p:nvSpPr>
          <p:cNvPr id="35" name="">
            <a:extLst xmlns:a="http://schemas.openxmlformats.org/drawingml/2006/main">
              <a:ext uri="{FF2B5EF4-FFF2-40B4-BE49-F238E27FC236}">
                <a16:creationId xmlns:a16="http://schemas.microsoft.com/office/drawing/2014/main" id="{C279DA21-8308-4DE3-A5DC-0F4315E77C27}"/>
              </a:ext>
            </a:extLst>
          </p:cNvPr>
          <p:cNvSpPr>
            <a:spLocks xmlns:a="http://schemas.openxmlformats.org/drawingml/2006/main" noGrp="1"/>
          </p:cNvSpPr>
          <p:nvPr/>
        </p:nvSpPr>
        <p:spPr>
          <a:xfrm xmlns:a="http://schemas.openxmlformats.org/drawingml/2006/main">
            <a:off x="9816084" y="48387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3B5F75E9-6888-4241-B1AC-9B546992029A}"/>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3C0E191A-41CB-4D4D-9985-60320630E23F}"/>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64F63D1-EEF2-4923-8E6B-68FA47A6E8D5}"/>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E65515AC-9A47-48DA-BE5A-6275847F9DC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Position DGS001 as a bounded perception subsystem within an accountable integrator</a:t>
            </a:r>
          </a:p>
        </p:txBody>
      </p:sp>
      <p:sp>
        <p:nvSpPr>
          <p:cNvPr id="40" name="">
            <a:extLst xmlns:a="http://schemas.openxmlformats.org/drawingml/2006/main">
              <a:ext uri="{FF2B5EF4-FFF2-40B4-BE49-F238E27FC236}">
                <a16:creationId xmlns:a16="http://schemas.microsoft.com/office/drawing/2014/main" id="{141F8204-B096-4573-8DE0-EF39115F1A73}"/>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AA900568-DCEE-43CD-8E1A-56C0EC09E4C3}"/>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 with Head of Engineering</a:t>
            </a:r>
          </a:p>
          <a:p xmlns:a="http://schemas.openxmlformats.org/drawingml/2006/main">
            <a:pPr algn="l">
              <a:defRPr sz="800">
                <a:solidFill>
                  <a:srgbClr val="8EA0B2"/>
                </a:solidFill>
                <a:latin typeface="Arial"/>
                <a:ea typeface="Arial"/>
                <a:cs typeface="Arial"/>
              </a:defRPr>
            </a:pPr>
            <a:r>
              <a:t>Trigger · Advance only when a braking Tier-1 accepts interfaces &amp; evidence plan</a:t>
            </a:r>
          </a:p>
        </p:txBody>
      </p:sp>
      <p:sp>
        <p:nvSpPr>
          <p:cNvPr id="42" name="">
            <a:extLst xmlns:a="http://schemas.openxmlformats.org/drawingml/2006/main">
              <a:ext uri="{FF2B5EF4-FFF2-40B4-BE49-F238E27FC236}">
                <a16:creationId xmlns:a16="http://schemas.microsoft.com/office/drawing/2014/main" id="{976E8578-8F97-4284-8D28-460CEBB439D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B22B6EA5-42E5-482A-B71B-0BC837B6DE5C}"/>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integration investment if no Tier-1 accepts the evidence plan after three named approaches.</a:t>
            </a:r>
          </a:p>
        </p:txBody>
      </p:sp>
      <p:sp>
        <p:nvSpPr>
          <p:cNvPr id="44" name="">
            <a:extLst xmlns:a="http://schemas.openxmlformats.org/drawingml/2006/main">
              <a:ext uri="{FF2B5EF4-FFF2-40B4-BE49-F238E27FC236}">
                <a16:creationId xmlns:a16="http://schemas.microsoft.com/office/drawing/2014/main" id="{D9E7836A-4444-4936-BDFD-D8D1A92B310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9C6AC8B6-62D3-453B-A1D1-4539DC22B21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F4D6D81D-9E0B-4E98-AFB6-8869C8CE14B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6</a:t>
            </a:r>
          </a:p>
        </p:txBody>
      </p:sp>
    </p:spTree>
    <p:extLst>
      <p:ext uri="{BB962C8B-B14F-4D97-AF65-F5344CB8AC3E}">
        <p14:creationId xmlns:p14="http://schemas.microsoft.com/office/powerpoint/2010/main" val="161905160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41914616-21F5-4A22-8A1B-B6955319D5C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754667C-05FA-4003-8532-54AECCAAC473}"/>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C7A58F0-75D3-4350-A3ED-8716C82EAB29}"/>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2349D8A2-B74C-491E-AC28-3D0FF1B6F047}"/>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CB62FBE9-4EB3-44EC-B9D1-68C3D0AF5EB6}"/>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Fund four evidence gates; stop five unsupported claims</a:t>
            </a:r>
          </a:p>
        </p:txBody>
      </p:sp>
      <p:sp>
        <p:nvSpPr>
          <p:cNvPr id="6" name="">
            <a:extLst xmlns:a="http://schemas.openxmlformats.org/drawingml/2006/main">
              <a:ext uri="{FF2B5EF4-FFF2-40B4-BE49-F238E27FC236}">
                <a16:creationId xmlns:a16="http://schemas.microsoft.com/office/drawing/2014/main" id="{A63A6BAF-AF4F-4881-AEC7-D4CDE9FE4678}"/>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EA0CD7E-FFE6-4117-A2F6-2ADAA1C7454D}"/>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should the board approve now, and what evidence must precede further claims?</a:t>
            </a:r>
          </a:p>
        </p:txBody>
      </p:sp>
      <p:sp>
        <p:nvSpPr>
          <p:cNvPr id="8" name="">
            <a:extLst xmlns:a="http://schemas.openxmlformats.org/drawingml/2006/main">
              <a:ext uri="{FF2B5EF4-FFF2-40B4-BE49-F238E27FC236}">
                <a16:creationId xmlns:a16="http://schemas.microsoft.com/office/drawing/2014/main" id="{0EDCC123-FC0B-4440-95E2-CB60E47CD242}"/>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90DB64FA-54C4-42D8-8882-8A5824A3B3DC}"/>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36FF468-3FC3-41FD-92CB-1657C946D11B}"/>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09C3AE60-7440-4803-A171-3C423BB41CE9}"/>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Approve four funded evidence gates — paid telemetry-rich pilots, independent characterisation, a named Tier-1 integration, and automotive-grade qualification — and stop five claims the evidence does not support, beginning with the April-2026 mandate date.</a:t>
            </a:r>
          </a:p>
        </p:txBody>
      </p:sp>
      <p:sp>
        <p:nvSpPr>
          <p:cNvPr id="12" name="">
            <a:extLst xmlns:a="http://schemas.openxmlformats.org/drawingml/2006/main">
              <a:ext uri="{FF2B5EF4-FFF2-40B4-BE49-F238E27FC236}">
                <a16:creationId xmlns:a16="http://schemas.microsoft.com/office/drawing/2014/main" id="{3B0B065B-BCDB-4372-B261-E983E5EBE61A}"/>
              </a:ext>
            </a:extLst>
          </p:cNvPr>
          <p:cNvSpPr>
            <a:spLocks xmlns:a="http://schemas.openxmlformats.org/drawingml/2006/main" noGrp="1"/>
          </p:cNvSpPr>
          <p:nvPr/>
        </p:nvSpPr>
        <p:spPr>
          <a:xfrm xmlns:a="http://schemas.openxmlformats.org/drawingml/2006/main">
            <a:off x="45720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F50225B4-622D-4477-8C89-D27E63F468A2}"/>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620D517-2606-4562-ACAE-D5E0E45EFD92}"/>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81C0FB4B-B557-4979-9D98-D788015412F9}"/>
              </a:ext>
            </a:extLst>
          </p:cNvPr>
          <p:cNvSpPr>
            <a:spLocks xmlns:a="http://schemas.openxmlformats.org/drawingml/2006/main" noGrp="1"/>
          </p:cNvSpPr>
          <p:nvPr/>
        </p:nvSpPr>
        <p:spPr>
          <a:xfrm xmlns:a="http://schemas.openxmlformats.org/drawingml/2006/main">
            <a:off x="5715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Approve four funded evidence gates — paid telemetry-rich pilots, independent characterisation, a named Tier-1 integration, and automotive-grade qualification — and stop five claims the evidence does not support, beginning with the April-2026 mandate date.</a:t>
            </a:r>
          </a:p>
        </p:txBody>
      </p:sp>
      <p:sp>
        <p:nvSpPr>
          <p:cNvPr id="16" name="">
            <a:extLst xmlns:a="http://schemas.openxmlformats.org/drawingml/2006/main">
              <a:ext uri="{FF2B5EF4-FFF2-40B4-BE49-F238E27FC236}">
                <a16:creationId xmlns:a16="http://schemas.microsoft.com/office/drawing/2014/main" id="{F57ACBC4-D417-4946-B971-83F950CA6A0A}"/>
              </a:ext>
            </a:extLst>
          </p:cNvPr>
          <p:cNvSpPr>
            <a:spLocks xmlns:a="http://schemas.openxmlformats.org/drawingml/2006/main" noGrp="1"/>
          </p:cNvSpPr>
          <p:nvPr/>
        </p:nvSpPr>
        <p:spPr>
          <a:xfrm xmlns:a="http://schemas.openxmlformats.org/drawingml/2006/main">
            <a:off x="424815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95EE1ADF-03F7-4FAC-8DAF-9D7C2BFF2791}"/>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7B72596-C0EE-4A79-893A-77BE00D4623A}"/>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757B63F6-5415-4A10-A832-8A9DB4B50177}"/>
              </a:ext>
            </a:extLst>
          </p:cNvPr>
          <p:cNvSpPr>
            <a:spLocks xmlns:a="http://schemas.openxmlformats.org/drawingml/2006/main" noGrp="1"/>
          </p:cNvSpPr>
          <p:nvPr/>
        </p:nvSpPr>
        <p:spPr>
          <a:xfrm xmlns:a="http://schemas.openxmlformats.org/drawingml/2006/main">
            <a:off x="436245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Four parallel gates may exceed the engineering and management capacity of a company this size, diluting all four rather than clearing any one of them.</a:t>
            </a:r>
          </a:p>
        </p:txBody>
      </p:sp>
      <p:sp>
        <p:nvSpPr>
          <p:cNvPr id="20" name="">
            <a:extLst xmlns:a="http://schemas.openxmlformats.org/drawingml/2006/main">
              <a:ext uri="{FF2B5EF4-FFF2-40B4-BE49-F238E27FC236}">
                <a16:creationId xmlns:a16="http://schemas.microsoft.com/office/drawing/2014/main" id="{0A005EA0-1F7C-42D6-B3EF-3673B06CC9EA}"/>
              </a:ext>
            </a:extLst>
          </p:cNvPr>
          <p:cNvSpPr>
            <a:spLocks xmlns:a="http://schemas.openxmlformats.org/drawingml/2006/main" noGrp="1"/>
          </p:cNvSpPr>
          <p:nvPr/>
        </p:nvSpPr>
        <p:spPr>
          <a:xfrm xmlns:a="http://schemas.openxmlformats.org/drawingml/2006/main">
            <a:off x="803910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1" name="">
            <a:extLst xmlns:a="http://schemas.openxmlformats.org/drawingml/2006/main">
              <a:ext uri="{FF2B5EF4-FFF2-40B4-BE49-F238E27FC236}">
                <a16:creationId xmlns:a16="http://schemas.microsoft.com/office/drawing/2014/main" id="{09065A5A-374C-4374-A438-C0F75C157CDE}"/>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7E6AC6B-696A-4443-8602-0281400F506E}"/>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A67BA891-971D-4BC8-8EE1-63CEFB43E1A0}"/>
              </a:ext>
            </a:extLst>
          </p:cNvPr>
          <p:cNvSpPr>
            <a:spLocks xmlns:a="http://schemas.openxmlformats.org/drawingml/2006/main" noGrp="1"/>
          </p:cNvSpPr>
          <p:nvPr/>
        </p:nvSpPr>
        <p:spPr>
          <a:xfrm xmlns:a="http://schemas.openxmlformats.org/drawingml/2006/main">
            <a:off x="81534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Funding converts cash into decision-grade evidence; claim controls prevent unsupported assertions from outrunning qualification and validation.</a:t>
            </a:r>
          </a:p>
        </p:txBody>
      </p:sp>
      <p:sp>
        <p:nvSpPr>
          <p:cNvPr id="24" name="">
            <a:extLst xmlns:a="http://schemas.openxmlformats.org/drawingml/2006/main">
              <a:ext uri="{FF2B5EF4-FFF2-40B4-BE49-F238E27FC236}">
                <a16:creationId xmlns:a16="http://schemas.microsoft.com/office/drawing/2014/main" id="{17128001-78CE-4A53-B977-972344B713DD}"/>
              </a:ext>
            </a:extLst>
          </p:cNvPr>
          <p:cNvSpPr>
            <a:spLocks xmlns:a="http://schemas.openxmlformats.org/drawingml/2006/main" noGrp="1"/>
          </p:cNvSpPr>
          <p:nvPr/>
        </p:nvSpPr>
        <p:spPr>
          <a:xfrm xmlns:a="http://schemas.openxmlformats.org/drawingml/2006/main">
            <a:off x="457200" y="4813300"/>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19291C7C-A1A1-41F3-AD73-8A885ABC26D1}"/>
              </a:ext>
            </a:extLst>
          </p:cNvPr>
          <p:cNvSpPr>
            <a:spLocks xmlns:a="http://schemas.openxmlformats.org/drawingml/2006/main" noGrp="1"/>
          </p:cNvSpPr>
          <p:nvPr/>
        </p:nvSpPr>
        <p:spPr>
          <a:xfrm xmlns:a="http://schemas.openxmlformats.org/drawingml/2006/main">
            <a:off x="457200" y="48133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BCACDA9-C4FD-4DA3-8A49-12EDA412E11A}"/>
              </a:ext>
            </a:extLst>
          </p:cNvPr>
          <p:cNvSpPr>
            <a:spLocks xmlns:a="http://schemas.openxmlformats.org/drawingml/2006/main" noGrp="1"/>
          </p:cNvSpPr>
          <p:nvPr/>
        </p:nvSpPr>
        <p:spPr>
          <a:xfrm xmlns:a="http://schemas.openxmlformats.org/drawingml/2006/main">
            <a:off x="581025" y="48799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79E94AE6-F1F7-4B5C-8D1B-9D95D54D1271}"/>
              </a:ext>
            </a:extLst>
          </p:cNvPr>
          <p:cNvSpPr>
            <a:spLocks xmlns:a="http://schemas.openxmlformats.org/drawingml/2006/main" noGrp="1"/>
          </p:cNvSpPr>
          <p:nvPr/>
        </p:nvSpPr>
        <p:spPr>
          <a:xfrm xmlns:a="http://schemas.openxmlformats.org/drawingml/2006/main">
            <a:off x="581025" y="50292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Falsified if any gate closes without producing an artifact a third party can reproduce.</a:t>
            </a:r>
          </a:p>
        </p:txBody>
      </p:sp>
      <p:sp>
        <p:nvSpPr>
          <p:cNvPr id="28" name="">
            <a:extLst xmlns:a="http://schemas.openxmlformats.org/drawingml/2006/main">
              <a:ext uri="{FF2B5EF4-FFF2-40B4-BE49-F238E27FC236}">
                <a16:creationId xmlns:a16="http://schemas.microsoft.com/office/drawing/2014/main" id="{76BF6B32-C632-47CE-AB96-F283B4E11C5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52ED4C0-0FB4-4CB8-B810-DE4949A56A61}"/>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536762D-55C1-48F9-ADF5-B2FD0786D939}"/>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B92086E3-5AE3-4FEB-9DDA-2437A101B1A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Approve the four workstreams conditionally; require a quantified re-plan.</a:t>
            </a:r>
          </a:p>
        </p:txBody>
      </p:sp>
      <p:sp>
        <p:nvSpPr>
          <p:cNvPr id="32" name="">
            <a:extLst xmlns:a="http://schemas.openxmlformats.org/drawingml/2006/main">
              <a:ext uri="{FF2B5EF4-FFF2-40B4-BE49-F238E27FC236}">
                <a16:creationId xmlns:a16="http://schemas.microsoft.com/office/drawing/2014/main" id="{6579EDF8-4DAF-49AF-96BE-353C4C2629DC}"/>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A2CAA0A2-3B5C-44BB-B4DA-8ACF1FD9796A}"/>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 and CFO</a:t>
            </a:r>
          </a:p>
          <a:p xmlns:a="http://schemas.openxmlformats.org/drawingml/2006/main">
            <a:pPr algn="l">
              <a:defRPr sz="800">
                <a:solidFill>
                  <a:srgbClr val="8EA0B2"/>
                </a:solidFill>
                <a:latin typeface="Arial"/>
                <a:ea typeface="Arial"/>
                <a:cs typeface="Arial"/>
              </a:defRPr>
            </a:pPr>
            <a:r>
              <a:t>Trigger · Board review at the next 90-day operating cycle.</a:t>
            </a:r>
          </a:p>
        </p:txBody>
      </p:sp>
      <p:sp>
        <p:nvSpPr>
          <p:cNvPr id="34" name="">
            <a:extLst xmlns:a="http://schemas.openxmlformats.org/drawingml/2006/main">
              <a:ext uri="{FF2B5EF4-FFF2-40B4-BE49-F238E27FC236}">
                <a16:creationId xmlns:a16="http://schemas.microsoft.com/office/drawing/2014/main" id="{6F20A7D1-CB78-4041-9773-B69EC208F30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C70415B2-B684-45E0-A372-083AE955A5AC}"/>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and re-plan if two of the four gates miss their first milestone.</a:t>
            </a:r>
          </a:p>
        </p:txBody>
      </p:sp>
      <p:sp>
        <p:nvSpPr>
          <p:cNvPr id="36" name="">
            <a:extLst xmlns:a="http://schemas.openxmlformats.org/drawingml/2006/main">
              <a:ext uri="{FF2B5EF4-FFF2-40B4-BE49-F238E27FC236}">
                <a16:creationId xmlns:a16="http://schemas.microsoft.com/office/drawing/2014/main" id="{A53E5C79-C4BF-46BB-973A-95DEF6FB03B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EA68AEB-45AA-4AB4-A34B-63283DEF9FB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C41AB97C-E5E9-43BA-B378-9331E2880BEB}"/>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a:t>
            </a:r>
          </a:p>
        </p:txBody>
      </p:sp>
    </p:spTree>
    <p:extLst>
      <p:ext uri="{BB962C8B-B14F-4D97-AF65-F5344CB8AC3E}">
        <p14:creationId xmlns:p14="http://schemas.microsoft.com/office/powerpoint/2010/main" val="24220551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AC50C64E-A2E7-4CCA-9BF2-F1B2F8D2066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C9E4B9-06B5-46D4-886C-1F6D3DB72EB0}"/>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920A947-1EDE-4849-92AD-EACFE719B196}"/>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23C78BFC-1B3B-4663-9597-C00278977309}"/>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CC5AF2EE-BDE2-44DC-944F-39964F4703F3}"/>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Manage three proof workstreams: position, partner, prove</a:t>
            </a:r>
          </a:p>
        </p:txBody>
      </p:sp>
      <p:sp>
        <p:nvSpPr>
          <p:cNvPr id="6" name="">
            <a:extLst xmlns:a="http://schemas.openxmlformats.org/drawingml/2006/main">
              <a:ext uri="{FF2B5EF4-FFF2-40B4-BE49-F238E27FC236}">
                <a16:creationId xmlns:a16="http://schemas.microsoft.com/office/drawing/2014/main" id="{F8CE3932-16E7-4C15-83E2-6DD4ABAB0919}"/>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EDBC832-609A-4678-9229-8AA343C4F37D}"/>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Which leadership choices most directly test DeepGrid's perception-layer entry?</a:t>
            </a:r>
          </a:p>
        </p:txBody>
      </p:sp>
      <p:sp>
        <p:nvSpPr>
          <p:cNvPr id="8" name="">
            <a:extLst xmlns:a="http://schemas.openxmlformats.org/drawingml/2006/main">
              <a:ext uri="{FF2B5EF4-FFF2-40B4-BE49-F238E27FC236}">
                <a16:creationId xmlns:a16="http://schemas.microsoft.com/office/drawing/2014/main" id="{56EBF613-FDE6-4311-9402-DA226D14B566}"/>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1FD3FA5B-32CB-4206-9CBE-3DF985EEAE46}"/>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FD3E2A6-F220-4E12-B7B7-6E87B9EF4BA8}"/>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B8AC4C38-42E3-4B03-A078-B1B8F327D4D3}"/>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Run position, partner and prove as three testable workstreams with named leads, and treat each one's falsifier as a reporting obligation rather than a risk-register entry.</a:t>
            </a:r>
          </a:p>
        </p:txBody>
      </p:sp>
      <p:sp>
        <p:nvSpPr>
          <p:cNvPr id="12" name="">
            <a:extLst xmlns:a="http://schemas.openxmlformats.org/drawingml/2006/main">
              <a:ext uri="{FF2B5EF4-FFF2-40B4-BE49-F238E27FC236}">
                <a16:creationId xmlns:a16="http://schemas.microsoft.com/office/drawing/2014/main" id="{273C9BC6-AF03-4FF4-92E9-25F2EB8CAE44}"/>
              </a:ext>
            </a:extLst>
          </p:cNvPr>
          <p:cNvSpPr>
            <a:spLocks xmlns:a="http://schemas.openxmlformats.org/drawingml/2006/main" noGrp="1"/>
          </p:cNvSpPr>
          <p:nvPr/>
        </p:nvSpPr>
        <p:spPr>
          <a:xfrm xmlns:a="http://schemas.openxmlformats.org/drawingml/2006/main">
            <a:off x="457200"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FE608F79-5B45-40C0-956E-EA5C7BCF7EC5}"/>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77B61F6-EE00-4A09-8008-750855E89AEA}"/>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7A7BB15D-6942-40B0-91E3-81D298D02175}"/>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POSITION</a:t>
            </a:r>
          </a:p>
        </p:txBody>
      </p:sp>
      <p:sp>
        <p:nvSpPr>
          <p:cNvPr id="16" name="">
            <a:extLst xmlns:a="http://schemas.openxmlformats.org/drawingml/2006/main">
              <a:ext uri="{FF2B5EF4-FFF2-40B4-BE49-F238E27FC236}">
                <a16:creationId xmlns:a16="http://schemas.microsoft.com/office/drawing/2014/main" id="{35567221-D33D-43D3-A9A2-09C8D9F8DD7B}"/>
              </a:ext>
            </a:extLst>
          </p:cNvPr>
          <p:cNvSpPr>
            <a:spLocks xmlns:a="http://schemas.openxmlformats.org/drawingml/2006/main" noGrp="1"/>
          </p:cNvSpPr>
          <p:nvPr/>
        </p:nvSpPr>
        <p:spPr>
          <a:xfrm xmlns:a="http://schemas.openxmlformats.org/drawingml/2006/main">
            <a:off x="571500"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Retire "India-native" as the lead. Lead with measured constrained-compute performance and specific VRU metrics. VRU Detection</a:t>
            </a:r>
          </a:p>
        </p:txBody>
      </p:sp>
      <p:sp>
        <p:nvSpPr>
          <p:cNvPr id="17" name="">
            <a:extLst xmlns:a="http://schemas.openxmlformats.org/drawingml/2006/main">
              <a:ext uri="{FF2B5EF4-FFF2-40B4-BE49-F238E27FC236}">
                <a16:creationId xmlns:a16="http://schemas.microsoft.com/office/drawing/2014/main" id="{32C0E634-0671-45F7-9441-2E1A27E6C30B}"/>
              </a:ext>
            </a:extLst>
          </p:cNvPr>
          <p:cNvSpPr>
            <a:spLocks xmlns:a="http://schemas.openxmlformats.org/drawingml/2006/main" noGrp="1"/>
          </p:cNvSpPr>
          <p:nvPr/>
        </p:nvSpPr>
        <p:spPr>
          <a:xfrm xmlns:a="http://schemas.openxmlformats.org/drawingml/2006/main">
            <a:off x="3119438" y="3136900"/>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D5A70D3-AC6C-4211-86A2-255AB95C41F4}"/>
              </a:ext>
            </a:extLst>
          </p:cNvPr>
          <p:cNvSpPr>
            <a:spLocks xmlns:a="http://schemas.openxmlformats.org/drawingml/2006/main" noGrp="1"/>
          </p:cNvSpPr>
          <p:nvPr/>
        </p:nvSpPr>
        <p:spPr>
          <a:xfrm xmlns:a="http://schemas.openxmlformats.org/drawingml/2006/main">
            <a:off x="3348038"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E6E1180B-DB10-4D1B-B00E-3CEF88307B93}"/>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690DF08-D77B-47DE-95F2-1564322D2CED}"/>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846E63D0-A851-4FA2-AB25-F22FBE699663}"/>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POSITION</a:t>
            </a:r>
          </a:p>
        </p:txBody>
      </p:sp>
      <p:sp>
        <p:nvSpPr>
          <p:cNvPr id="22" name="">
            <a:extLst xmlns:a="http://schemas.openxmlformats.org/drawingml/2006/main">
              <a:ext uri="{FF2B5EF4-FFF2-40B4-BE49-F238E27FC236}">
                <a16:creationId xmlns:a16="http://schemas.microsoft.com/office/drawing/2014/main" id="{2E4D9600-0EDB-4E41-9B02-1ACD16354036}"/>
              </a:ext>
            </a:extLst>
          </p:cNvPr>
          <p:cNvSpPr>
            <a:spLocks xmlns:a="http://schemas.openxmlformats.org/drawingml/2006/main" noGrp="1"/>
          </p:cNvSpPr>
          <p:nvPr/>
        </p:nvSpPr>
        <p:spPr>
          <a:xfrm xmlns:a="http://schemas.openxmlformats.org/drawingml/2006/main">
            <a:off x="3462338"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Lead with performance metrics, not nationality claims</a:t>
            </a:r>
          </a:p>
        </p:txBody>
      </p:sp>
      <p:sp>
        <p:nvSpPr>
          <p:cNvPr id="23" name="">
            <a:extLst xmlns:a="http://schemas.openxmlformats.org/drawingml/2006/main">
              <a:ext uri="{FF2B5EF4-FFF2-40B4-BE49-F238E27FC236}">
                <a16:creationId xmlns:a16="http://schemas.microsoft.com/office/drawing/2014/main" id="{5FC42E19-F8FF-4986-81A2-DBE54B10EBF6}"/>
              </a:ext>
            </a:extLst>
          </p:cNvPr>
          <p:cNvSpPr>
            <a:spLocks xmlns:a="http://schemas.openxmlformats.org/drawingml/2006/main" noGrp="1"/>
          </p:cNvSpPr>
          <p:nvPr/>
        </p:nvSpPr>
        <p:spPr>
          <a:xfrm xmlns:a="http://schemas.openxmlformats.org/drawingml/2006/main">
            <a:off x="6010275" y="3136900"/>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5CC09DE-E8FE-4090-B568-E7C5389A3670}"/>
              </a:ext>
            </a:extLst>
          </p:cNvPr>
          <p:cNvSpPr>
            <a:spLocks xmlns:a="http://schemas.openxmlformats.org/drawingml/2006/main" noGrp="1"/>
          </p:cNvSpPr>
          <p:nvPr/>
        </p:nvSpPr>
        <p:spPr>
          <a:xfrm xmlns:a="http://schemas.openxmlformats.org/drawingml/2006/main">
            <a:off x="6238875"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B2680739-DB9D-49F3-B905-CCFD443AA95E}"/>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D107730-0D1D-4278-AA68-A49884143C4C}"/>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3F80F00E-0E8E-493C-8569-C0236CABF9BA}"/>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PARTNER</a:t>
            </a:r>
          </a:p>
        </p:txBody>
      </p:sp>
      <p:sp>
        <p:nvSpPr>
          <p:cNvPr id="28" name="">
            <a:extLst xmlns:a="http://schemas.openxmlformats.org/drawingml/2006/main">
              <a:ext uri="{FF2B5EF4-FFF2-40B4-BE49-F238E27FC236}">
                <a16:creationId xmlns:a16="http://schemas.microsoft.com/office/drawing/2014/main" id="{8B1B3C5B-F0ED-4538-A860-883951FDD67B}"/>
              </a:ext>
            </a:extLst>
          </p:cNvPr>
          <p:cNvSpPr>
            <a:spLocks xmlns:a="http://schemas.openxmlformats.org/drawingml/2006/main" noGrp="1"/>
          </p:cNvSpPr>
          <p:nvPr/>
        </p:nvSpPr>
        <p:spPr>
          <a:xfrm xmlns:a="http://schemas.openxmlformats.org/drawingml/2006/main">
            <a:off x="6353175"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Attach to a braking/radar owner that keeps accountability and approval authority while integrating DGS001. Tier-1 Integration</a:t>
            </a:r>
          </a:p>
        </p:txBody>
      </p:sp>
      <p:sp>
        <p:nvSpPr>
          <p:cNvPr id="29" name="">
            <a:extLst xmlns:a="http://schemas.openxmlformats.org/drawingml/2006/main">
              <a:ext uri="{FF2B5EF4-FFF2-40B4-BE49-F238E27FC236}">
                <a16:creationId xmlns:a16="http://schemas.microsoft.com/office/drawing/2014/main" id="{9C6D715A-86B8-45B5-A221-68741FAD5FBC}"/>
              </a:ext>
            </a:extLst>
          </p:cNvPr>
          <p:cNvSpPr>
            <a:spLocks xmlns:a="http://schemas.openxmlformats.org/drawingml/2006/main" noGrp="1"/>
          </p:cNvSpPr>
          <p:nvPr/>
        </p:nvSpPr>
        <p:spPr>
          <a:xfrm xmlns:a="http://schemas.openxmlformats.org/drawingml/2006/main">
            <a:off x="8901113" y="3136900"/>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AF5D0B9-3194-49DB-8950-A3A4756ECD8A}"/>
              </a:ext>
            </a:extLst>
          </p:cNvPr>
          <p:cNvSpPr>
            <a:spLocks xmlns:a="http://schemas.openxmlformats.org/drawingml/2006/main" noGrp="1"/>
          </p:cNvSpPr>
          <p:nvPr/>
        </p:nvSpPr>
        <p:spPr>
          <a:xfrm xmlns:a="http://schemas.openxmlformats.org/drawingml/2006/main">
            <a:off x="9129713"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1500ADD2-CF2F-4B2F-B3C4-183E3146C278}"/>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D7573A7-96F4-4CE5-8F8E-94AC4BB22A6A}"/>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EE85B94E-F036-4949-84FB-7D3646BBEDC1}"/>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PROVE · DECISION GATE</a:t>
            </a:r>
          </a:p>
        </p:txBody>
      </p:sp>
      <p:sp>
        <p:nvSpPr>
          <p:cNvPr id="34" name="">
            <a:extLst xmlns:a="http://schemas.openxmlformats.org/drawingml/2006/main">
              <a:ext uri="{FF2B5EF4-FFF2-40B4-BE49-F238E27FC236}">
                <a16:creationId xmlns:a16="http://schemas.microsoft.com/office/drawing/2014/main" id="{31576F86-6E62-4AE9-AFF4-6414A68A5B60}"/>
              </a:ext>
            </a:extLst>
          </p:cNvPr>
          <p:cNvSpPr>
            <a:spLocks xmlns:a="http://schemas.openxmlformats.org/drawingml/2006/main" noGrp="1"/>
          </p:cNvSpPr>
          <p:nvPr/>
        </p:nvSpPr>
        <p:spPr>
          <a:xfrm xmlns:a="http://schemas.openxmlformats.org/drawingml/2006/main">
            <a:off x="9244013"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Contract telemetry-rich pilots and publish scenario, VRU metrics and denominators for validation. Paid Pilots</a:t>
            </a:r>
          </a:p>
        </p:txBody>
      </p:sp>
      <p:sp>
        <p:nvSpPr>
          <p:cNvPr id="35" name="">
            <a:extLst xmlns:a="http://schemas.openxmlformats.org/drawingml/2006/main">
              <a:ext uri="{FF2B5EF4-FFF2-40B4-BE49-F238E27FC236}">
                <a16:creationId xmlns:a16="http://schemas.microsoft.com/office/drawing/2014/main" id="{0A74520B-73AE-412B-A13F-BAC39AE02663}"/>
              </a:ext>
            </a:extLst>
          </p:cNvPr>
          <p:cNvSpPr>
            <a:spLocks xmlns:a="http://schemas.openxmlformats.org/drawingml/2006/main" noGrp="1"/>
          </p:cNvSpPr>
          <p:nvPr/>
        </p:nvSpPr>
        <p:spPr>
          <a:xfrm xmlns:a="http://schemas.openxmlformats.org/drawingml/2006/main">
            <a:off x="457200" y="46990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6A90B5FF-587E-4D21-B3B3-BB33BBF3B4DB}"/>
              </a:ext>
            </a:extLst>
          </p:cNvPr>
          <p:cNvSpPr>
            <a:spLocks xmlns:a="http://schemas.openxmlformats.org/drawingml/2006/main" noGrp="1"/>
          </p:cNvSpPr>
          <p:nvPr/>
        </p:nvSpPr>
        <p:spPr>
          <a:xfrm xmlns:a="http://schemas.openxmlformats.org/drawingml/2006/main">
            <a:off x="457200" y="46990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433452E8-E8BC-4539-A57F-B8A1BFFB2047}"/>
              </a:ext>
            </a:extLst>
          </p:cNvPr>
          <p:cNvSpPr>
            <a:spLocks xmlns:a="http://schemas.openxmlformats.org/drawingml/2006/main" noGrp="1"/>
          </p:cNvSpPr>
          <p:nvPr/>
        </p:nvSpPr>
        <p:spPr>
          <a:xfrm xmlns:a="http://schemas.openxmlformats.org/drawingml/2006/main">
            <a:off x="581025" y="47656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5E378940-34E0-4C84-A92C-A8229433C6AB}"/>
              </a:ext>
            </a:extLst>
          </p:cNvPr>
          <p:cNvSpPr>
            <a:spLocks xmlns:a="http://schemas.openxmlformats.org/drawingml/2006/main" noGrp="1"/>
          </p:cNvSpPr>
          <p:nvPr/>
        </p:nvSpPr>
        <p:spPr>
          <a:xfrm xmlns:a="http://schemas.openxmlformats.org/drawingml/2006/main">
            <a:off x="581025" y="49149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Scope narrows as accountability rises: the more of the vehicle outcome DeepGrid claims, the more approval and warranty evidence it must carry. Three workstreams let the company test the claim at three different scopes simultaneously.</a:t>
            </a:r>
          </a:p>
        </p:txBody>
      </p:sp>
      <p:sp>
        <p:nvSpPr>
          <p:cNvPr id="39" name="">
            <a:extLst xmlns:a="http://schemas.openxmlformats.org/drawingml/2006/main">
              <a:ext uri="{FF2B5EF4-FFF2-40B4-BE49-F238E27FC236}">
                <a16:creationId xmlns:a16="http://schemas.microsoft.com/office/drawing/2014/main" id="{5C237A7A-8065-4813-A552-6DE3FA509C9E}"/>
              </a:ext>
            </a:extLst>
          </p:cNvPr>
          <p:cNvSpPr>
            <a:spLocks xmlns:a="http://schemas.openxmlformats.org/drawingml/2006/main" noGrp="1"/>
          </p:cNvSpPr>
          <p:nvPr/>
        </p:nvSpPr>
        <p:spPr>
          <a:xfrm xmlns:a="http://schemas.openxmlformats.org/drawingml/2006/main">
            <a:off x="6153150" y="469900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711AA782-97CC-4C80-A956-202819A9E95C}"/>
              </a:ext>
            </a:extLst>
          </p:cNvPr>
          <p:cNvSpPr>
            <a:spLocks xmlns:a="http://schemas.openxmlformats.org/drawingml/2006/main" noGrp="1"/>
          </p:cNvSpPr>
          <p:nvPr/>
        </p:nvSpPr>
        <p:spPr>
          <a:xfrm xmlns:a="http://schemas.openxmlformats.org/drawingml/2006/main">
            <a:off x="6153150" y="46990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F60CB5EA-CB2B-4AB1-8B48-1B121350D013}"/>
              </a:ext>
            </a:extLst>
          </p:cNvPr>
          <p:cNvSpPr>
            <a:spLocks xmlns:a="http://schemas.openxmlformats.org/drawingml/2006/main" noGrp="1"/>
          </p:cNvSpPr>
          <p:nvPr/>
        </p:nvSpPr>
        <p:spPr>
          <a:xfrm xmlns:a="http://schemas.openxmlformats.org/drawingml/2006/main">
            <a:off x="6276975" y="47656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CCC01D22-3725-468A-8126-E023832428B2}"/>
              </a:ext>
            </a:extLst>
          </p:cNvPr>
          <p:cNvSpPr>
            <a:spLocks xmlns:a="http://schemas.openxmlformats.org/drawingml/2006/main" noGrp="1"/>
          </p:cNvSpPr>
          <p:nvPr/>
        </p:nvSpPr>
        <p:spPr>
          <a:xfrm xmlns:a="http://schemas.openxmlformats.org/drawingml/2006/main">
            <a:off x="6276975" y="49149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if any workstream lead cannot publish a 30-day deliverable.</a:t>
            </a:r>
          </a:p>
        </p:txBody>
      </p:sp>
      <p:sp>
        <p:nvSpPr>
          <p:cNvPr id="43" name="">
            <a:extLst xmlns:a="http://schemas.openxmlformats.org/drawingml/2006/main">
              <a:ext uri="{FF2B5EF4-FFF2-40B4-BE49-F238E27FC236}">
                <a16:creationId xmlns:a16="http://schemas.microsoft.com/office/drawing/2014/main" id="{9EA284DB-CFAC-4252-9FAD-5D22BE0F82DA}"/>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9FF9C857-C95B-4D57-9525-B86E32B214BB}"/>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99ACA850-1701-4987-8C69-6EAFADC34899}"/>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EA6560D7-6836-4897-BF41-EA3CE20956A6}"/>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CEO assigns Monday workstreams for revised positioning, Tier-1 outreach and pilots.</a:t>
            </a:r>
          </a:p>
        </p:txBody>
      </p:sp>
      <p:sp>
        <p:nvSpPr>
          <p:cNvPr id="47" name="">
            <a:extLst xmlns:a="http://schemas.openxmlformats.org/drawingml/2006/main">
              <a:ext uri="{FF2B5EF4-FFF2-40B4-BE49-F238E27FC236}">
                <a16:creationId xmlns:a16="http://schemas.microsoft.com/office/drawing/2014/main" id="{FB6C6746-C14D-4E9E-B249-DB6FF2B19944}"/>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E1FFF798-9481-45F7-8EF3-2A37E6C6D0F1}"/>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 with three named workstream leads</a:t>
            </a:r>
          </a:p>
          <a:p xmlns:a="http://schemas.openxmlformats.org/drawingml/2006/main">
            <a:pPr algn="l">
              <a:defRPr sz="800">
                <a:solidFill>
                  <a:srgbClr val="8EA0B2"/>
                </a:solidFill>
                <a:latin typeface="Arial"/>
                <a:ea typeface="Arial"/>
                <a:cs typeface="Arial"/>
              </a:defRPr>
            </a:pPr>
            <a:r>
              <a:t>Trigger · Three named workstream leads publish 30-day deliverables by Friday.</a:t>
            </a:r>
          </a:p>
        </p:txBody>
      </p:sp>
      <p:sp>
        <p:nvSpPr>
          <p:cNvPr id="49" name="">
            <a:extLst xmlns:a="http://schemas.openxmlformats.org/drawingml/2006/main">
              <a:ext uri="{FF2B5EF4-FFF2-40B4-BE49-F238E27FC236}">
                <a16:creationId xmlns:a16="http://schemas.microsoft.com/office/drawing/2014/main" id="{95D3A626-6D9A-4B82-AD9A-02C23D5A18F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5E51B766-C93B-4961-9A8E-AE5795489DED}"/>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any workstream lead cannot publish a 30-day deliverable.</a:t>
            </a:r>
          </a:p>
        </p:txBody>
      </p:sp>
      <p:sp>
        <p:nvSpPr>
          <p:cNvPr id="51" name="">
            <a:extLst xmlns:a="http://schemas.openxmlformats.org/drawingml/2006/main">
              <a:ext uri="{FF2B5EF4-FFF2-40B4-BE49-F238E27FC236}">
                <a16:creationId xmlns:a16="http://schemas.microsoft.com/office/drawing/2014/main" id="{6B26FD53-7C8E-4439-9D95-F0CAABEE2775}"/>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12DA18AC-A3F5-4102-835D-F686BD77A593}"/>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3E8FE5A4-0B75-4C02-A58A-535AD4A1E3D4}"/>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a:t>
            </a:r>
          </a:p>
        </p:txBody>
      </p:sp>
    </p:spTree>
    <p:extLst>
      <p:ext uri="{BB962C8B-B14F-4D97-AF65-F5344CB8AC3E}">
        <p14:creationId xmlns:p14="http://schemas.microsoft.com/office/powerpoint/2010/main" val="117170670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115C21E8-D59B-4F94-A785-C6D2996055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8B28F29-98F3-4545-AB71-CBA91AA7E74D}"/>
              </a:ext>
            </a:extLst>
          </p:cNvPr>
          <p:cNvSpPr>
            <a:spLocks xmlns:a="http://schemas.openxmlformats.org/drawingml/2006/main" noGrp="1"/>
          </p:cNvSpPr>
          <p:nvPr/>
        </p:nvSpPr>
        <p:spPr>
          <a:xfrm xmlns:a="http://schemas.openxmlformats.org/drawingml/2006/main">
            <a:off x="457200" y="2857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Live research moves four ratings — and finds our thesis already occupied</a:t>
            </a:r>
          </a:p>
        </p:txBody>
      </p:sp>
      <p:sp>
        <p:nvSpPr>
          <p:cNvPr id="3" name="">
            <a:extLst xmlns:a="http://schemas.openxmlformats.org/drawingml/2006/main">
              <a:ext uri="{FF2B5EF4-FFF2-40B4-BE49-F238E27FC236}">
                <a16:creationId xmlns:a16="http://schemas.microsoft.com/office/drawing/2014/main" id="{09ACD339-A1AE-4753-BF44-997392E5E255}"/>
              </a:ext>
            </a:extLst>
          </p:cNvPr>
          <p:cNvSpPr>
            <a:spLocks xmlns:a="http://schemas.openxmlformats.org/drawingml/2006/main" noGrp="1"/>
          </p:cNvSpPr>
          <p:nvPr/>
        </p:nvSpPr>
        <p:spPr>
          <a:xfrm xmlns:a="http://schemas.openxmlformats.org/drawingml/2006/main">
            <a:off x="457200" y="7048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A63F8D6-293A-4E33-A852-F3581C8DAB6D}"/>
              </a:ext>
            </a:extLst>
          </p:cNvPr>
          <p:cNvSpPr>
            <a:spLocks xmlns:a="http://schemas.openxmlformats.org/drawingml/2006/main" noGrp="1"/>
          </p:cNvSpPr>
          <p:nvPr/>
        </p:nvSpPr>
        <p:spPr>
          <a:xfrm xmlns:a="http://schemas.openxmlformats.org/drawingml/2006/main">
            <a:off x="457200" y="800100"/>
            <a:ext cx="11277600" cy="133350"/>
          </a:xfrm>
          <a:prstGeom xmlns:a="http://schemas.openxmlformats.org/drawingml/2006/main" prst="rect">
            <a:avLst/>
          </a:prstGeom>
        </p:spPr>
        <p:txBody>
          <a:bodyPr xmlns:a="http://schemas.openxmlformats.org/drawingml/2006/main" lIns="0" tIns="0" rIns="0" bIns="0" anchor="t">
            <a:normAutofit fontScale="97222"/>
          </a:bodyPr>
          <a:lstStyle xmlns:a="http://schemas.openxmlformats.org/drawingml/2006/main"/>
          <a:p xmlns:a="http://schemas.openxmlformats.org/drawingml/2006/main">
            <a:pPr algn="l">
              <a:defRPr sz="900">
                <a:solidFill>
                  <a:srgbClr val="586270"/>
                </a:solidFill>
                <a:latin typeface="Arial"/>
                <a:ea typeface="Arial"/>
                <a:cs typeface="Arial"/>
              </a:defRPr>
            </a:pPr>
            <a:r>
              <a:t>You.com livecrawl + Exa against the nine evidence gaps the dossier itself names; Firecrawl capture of every primary artifact returned. 162 results, 114 dated, 7/7 primary captures.</a:t>
            </a:r>
          </a:p>
        </p:txBody>
      </p:sp>
      <p:sp>
        <p:nvSpPr>
          <p:cNvPr id="5" name="">
            <a:extLst xmlns:a="http://schemas.openxmlformats.org/drawingml/2006/main">
              <a:ext uri="{FF2B5EF4-FFF2-40B4-BE49-F238E27FC236}">
                <a16:creationId xmlns:a16="http://schemas.microsoft.com/office/drawing/2014/main" id="{5AF5689D-E82B-413A-8E44-1F02630CF5DD}"/>
              </a:ext>
            </a:extLst>
          </p:cNvPr>
          <p:cNvSpPr>
            <a:spLocks xmlns:a="http://schemas.openxmlformats.org/drawingml/2006/main" noGrp="1"/>
          </p:cNvSpPr>
          <p:nvPr/>
        </p:nvSpPr>
        <p:spPr>
          <a:xfrm xmlns:a="http://schemas.openxmlformats.org/drawingml/2006/main">
            <a:off x="457200" y="1028700"/>
            <a:ext cx="11277600" cy="16764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3EF046-F615-4A6B-8401-372A87E42443}"/>
              </a:ext>
            </a:extLst>
          </p:cNvPr>
          <p:cNvSpPr>
            <a:spLocks xmlns:a="http://schemas.openxmlformats.org/drawingml/2006/main" noGrp="1"/>
          </p:cNvSpPr>
          <p:nvPr/>
        </p:nvSpPr>
        <p:spPr>
          <a:xfrm xmlns:a="http://schemas.openxmlformats.org/drawingml/2006/main">
            <a:off x="457200" y="1028700"/>
            <a:ext cx="38100" cy="16764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6F54898-9ADA-4231-8B07-C021E3076DA2}"/>
              </a:ext>
            </a:extLst>
          </p:cNvPr>
          <p:cNvSpPr>
            <a:spLocks xmlns:a="http://schemas.openxmlformats.org/drawingml/2006/main" noGrp="1"/>
          </p:cNvSpPr>
          <p:nvPr/>
        </p:nvSpPr>
        <p:spPr>
          <a:xfrm xmlns:a="http://schemas.openxmlformats.org/drawingml/2006/main">
            <a:off x="647700" y="1143000"/>
            <a:ext cx="5715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THE FINDING THAT CHANGES THE MAP</a:t>
            </a:r>
          </a:p>
        </p:txBody>
      </p:sp>
      <p:sp>
        <p:nvSpPr>
          <p:cNvPr id="8" name="">
            <a:extLst xmlns:a="http://schemas.openxmlformats.org/drawingml/2006/main">
              <a:ext uri="{FF2B5EF4-FFF2-40B4-BE49-F238E27FC236}">
                <a16:creationId xmlns:a16="http://schemas.microsoft.com/office/drawing/2014/main" id="{FB841DB5-7ED9-478F-A402-E6EB8A362312}"/>
              </a:ext>
            </a:extLst>
          </p:cNvPr>
          <p:cNvSpPr>
            <a:spLocks xmlns:a="http://schemas.openxmlformats.org/drawingml/2006/main" noGrp="1"/>
          </p:cNvSpPr>
          <p:nvPr/>
        </p:nvSpPr>
        <p:spPr>
          <a:xfrm xmlns:a="http://schemas.openxmlformats.org/drawingml/2006/main">
            <a:off x="647700" y="1333500"/>
            <a:ext cx="6667500" cy="4476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Aptiv's Gen 6 smart camera features STRADVISION's AI-based vision technology. The two are not separate rivals — one is embedded inside the other.</a:t>
            </a:r>
          </a:p>
        </p:txBody>
      </p:sp>
      <p:sp>
        <p:nvSpPr>
          <p:cNvPr id="9" name="">
            <a:extLst xmlns:a="http://schemas.openxmlformats.org/drawingml/2006/main">
              <a:ext uri="{FF2B5EF4-FFF2-40B4-BE49-F238E27FC236}">
                <a16:creationId xmlns:a16="http://schemas.microsoft.com/office/drawing/2014/main" id="{05E260CC-0108-4728-8EAB-9CD1BCB5E2A9}"/>
              </a:ext>
            </a:extLst>
          </p:cNvPr>
          <p:cNvSpPr>
            <a:spLocks xmlns:a="http://schemas.openxmlformats.org/drawingml/2006/main" noGrp="1"/>
          </p:cNvSpPr>
          <p:nvPr/>
        </p:nvSpPr>
        <p:spPr>
          <a:xfrm xmlns:a="http://schemas.openxmlformats.org/drawingml/2006/main">
            <a:off x="647700" y="1838325"/>
            <a:ext cx="66675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The thesis is proven by a rival: a Tier-2 perception layer inside an accountable integrator's platform is exactly the position DeepGrid is bidding for, and STRADVISION already holds it in the winning stack. DeepGrid's competition is not Aptiv — it is the incumbent perception layer inside Aptiv.</a:t>
            </a:r>
          </a:p>
        </p:txBody>
      </p:sp>
      <p:sp>
        <p:nvSpPr>
          <p:cNvPr id="10" name="">
            <a:extLst xmlns:a="http://schemas.openxmlformats.org/drawingml/2006/main">
              <a:ext uri="{FF2B5EF4-FFF2-40B4-BE49-F238E27FC236}">
                <a16:creationId xmlns:a16="http://schemas.microsoft.com/office/drawing/2014/main" id="{32974D57-8CBC-4E10-BF18-8C2A813C4A73}"/>
              </a:ext>
            </a:extLst>
          </p:cNvPr>
          <p:cNvSpPr>
            <a:spLocks xmlns:a="http://schemas.openxmlformats.org/drawingml/2006/main" noGrp="1"/>
          </p:cNvSpPr>
          <p:nvPr/>
        </p:nvSpPr>
        <p:spPr>
          <a:xfrm xmlns:a="http://schemas.openxmlformats.org/drawingml/2006/main">
            <a:off x="647700" y="2476500"/>
            <a:ext cx="666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1BA271"/>
                </a:solidFill>
                <a:latin typeface="Arial"/>
                <a:ea typeface="Arial"/>
                <a:cs typeface="Arial"/>
              </a:defRPr>
            </a:pPr>
            <a:r>
              <a:t>VERIFIED FACT · APTIV PLC PRESS RELEASE, 6 JANUARY 2026, APTIV.COM NEWSROOM</a:t>
            </a:r>
          </a:p>
        </p:txBody>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83ab36df215147b9"/>
          <a:stretch xmlns:a="http://schemas.openxmlformats.org/drawingml/2006/main"/>
        </p:blipFill>
        <p:spPr>
          <a:xfrm xmlns:a="http://schemas.openxmlformats.org/drawingml/2006/main">
            <a:off x="7886700" y="1181100"/>
            <a:ext cx="3695700" cy="13716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8A18D7A-ADE8-411F-8D9C-3C7942CC4B18}"/>
              </a:ext>
            </a:extLst>
          </p:cNvPr>
          <p:cNvSpPr>
            <a:spLocks xmlns:a="http://schemas.openxmlformats.org/drawingml/2006/main" noGrp="1"/>
          </p:cNvSpPr>
          <p:nvPr/>
        </p:nvSpPr>
        <p:spPr>
          <a:xfrm xmlns:a="http://schemas.openxmlformats.org/drawingml/2006/main">
            <a:off x="457200" y="2838450"/>
            <a:ext cx="4762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586270"/>
                </a:solidFill>
                <a:latin typeface="Arial"/>
                <a:ea typeface="Arial"/>
                <a:cs typeface="Arial"/>
              </a:defRPr>
            </a:pPr>
            <a:r>
              <a:t>EVERY OTHER GAP, RETESTED</a:t>
            </a:r>
          </a:p>
        </p:txBody>
      </p:sp>
      <p:sp>
        <p:nvSpPr>
          <p:cNvPr id="13" name="">
            <a:extLst xmlns:a="http://schemas.openxmlformats.org/drawingml/2006/main">
              <a:ext uri="{FF2B5EF4-FFF2-40B4-BE49-F238E27FC236}">
                <a16:creationId xmlns:a16="http://schemas.microsoft.com/office/drawing/2014/main" id="{E56C5129-FDEB-4B91-8676-2531AE6629D0}"/>
              </a:ext>
            </a:extLst>
          </p:cNvPr>
          <p:cNvSpPr>
            <a:spLocks xmlns:a="http://schemas.openxmlformats.org/drawingml/2006/main" noGrp="1"/>
          </p:cNvSpPr>
          <p:nvPr/>
        </p:nvSpPr>
        <p:spPr>
          <a:xfrm xmlns:a="http://schemas.openxmlformats.org/drawingml/2006/main">
            <a:off x="457200" y="3009900"/>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4" name="">
            <a:extLst xmlns:a="http://schemas.openxmlformats.org/drawingml/2006/main">
              <a:ext uri="{FF2B5EF4-FFF2-40B4-BE49-F238E27FC236}">
                <a16:creationId xmlns:a16="http://schemas.microsoft.com/office/drawing/2014/main" id="{F3ABDDE0-7F95-428E-B886-6D03284C2241}"/>
              </a:ext>
            </a:extLst>
          </p:cNvPr>
          <p:cNvSpPr>
            <a:spLocks xmlns:a="http://schemas.openxmlformats.org/drawingml/2006/main" noGrp="1"/>
          </p:cNvSpPr>
          <p:nvPr/>
        </p:nvSpPr>
        <p:spPr>
          <a:xfrm xmlns:a="http://schemas.openxmlformats.org/drawingml/2006/main">
            <a:off x="457200" y="3009900"/>
            <a:ext cx="28575" cy="35242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08F635A-4A64-460E-9EB0-E354D82AA7B9}"/>
              </a:ext>
            </a:extLst>
          </p:cNvPr>
          <p:cNvSpPr>
            <a:spLocks xmlns:a="http://schemas.openxmlformats.org/drawingml/2006/main" noGrp="1"/>
          </p:cNvSpPr>
          <p:nvPr/>
        </p:nvSpPr>
        <p:spPr>
          <a:xfrm xmlns:a="http://schemas.openxmlformats.org/drawingml/2006/main">
            <a:off x="590550" y="3076575"/>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ZF</a:t>
            </a:r>
          </a:p>
        </p:txBody>
      </p:sp>
      <p:sp>
        <p:nvSpPr>
          <p:cNvPr id="16" name="">
            <a:extLst xmlns:a="http://schemas.openxmlformats.org/drawingml/2006/main">
              <a:ext uri="{FF2B5EF4-FFF2-40B4-BE49-F238E27FC236}">
                <a16:creationId xmlns:a16="http://schemas.microsoft.com/office/drawing/2014/main" id="{7941008B-8755-414C-9A01-A016082F5EB4}"/>
              </a:ext>
            </a:extLst>
          </p:cNvPr>
          <p:cNvSpPr>
            <a:spLocks xmlns:a="http://schemas.openxmlformats.org/drawingml/2006/main" noGrp="1"/>
          </p:cNvSpPr>
          <p:nvPr/>
        </p:nvSpPr>
        <p:spPr>
          <a:xfrm xmlns:a="http://schemas.openxmlformats.org/drawingml/2006/main">
            <a:off x="590550" y="3209925"/>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VERIFIED FACT</a:t>
            </a:r>
          </a:p>
        </p:txBody>
      </p:sp>
      <p:sp>
        <p:nvSpPr>
          <p:cNvPr id="17" name="">
            <a:extLst xmlns:a="http://schemas.openxmlformats.org/drawingml/2006/main">
              <a:ext uri="{FF2B5EF4-FFF2-40B4-BE49-F238E27FC236}">
                <a16:creationId xmlns:a16="http://schemas.microsoft.com/office/drawing/2014/main" id="{C5808676-55F2-4EE9-9C25-111872691EF5}"/>
              </a:ext>
            </a:extLst>
          </p:cNvPr>
          <p:cNvSpPr>
            <a:spLocks xmlns:a="http://schemas.openxmlformats.org/drawingml/2006/main" noGrp="1"/>
          </p:cNvSpPr>
          <p:nvPr/>
        </p:nvSpPr>
        <p:spPr>
          <a:xfrm xmlns:a="http://schemas.openxmlformats.org/drawingml/2006/main">
            <a:off x="2324100" y="3076575"/>
            <a:ext cx="285750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101827"/>
                </a:solidFill>
                <a:latin typeface="Arial"/>
                <a:ea typeface="Arial"/>
                <a:cs typeface="Arial"/>
              </a:defRPr>
            </a:pPr>
            <a:r>
              <a:t>ZF N2/N3 OEM threat: corroborated, hold at HIGH</a:t>
            </a:r>
          </a:p>
        </p:txBody>
      </p:sp>
      <p:sp>
        <p:nvSpPr>
          <p:cNvPr id="18" name="">
            <a:extLst xmlns:a="http://schemas.openxmlformats.org/drawingml/2006/main">
              <a:ext uri="{FF2B5EF4-FFF2-40B4-BE49-F238E27FC236}">
                <a16:creationId xmlns:a16="http://schemas.microsoft.com/office/drawing/2014/main" id="{9B33DA26-C81E-4454-B4A0-D1EBDF2C36C0}"/>
              </a:ext>
            </a:extLst>
          </p:cNvPr>
          <p:cNvSpPr>
            <a:spLocks xmlns:a="http://schemas.openxmlformats.org/drawingml/2006/main" noGrp="1"/>
          </p:cNvSpPr>
          <p:nvPr/>
        </p:nvSpPr>
        <p:spPr>
          <a:xfrm xmlns:a="http://schemas.openxmlformats.org/drawingml/2006/main">
            <a:off x="5295900" y="3076575"/>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The India CV nomination is no longer an inference: ZF holds a certified, road-validated suite with a named OEM category, and the control-point argument is now evidenced rather…</a:t>
            </a:r>
          </a:p>
        </p:txBody>
      </p:sp>
      <p:sp>
        <p:nvSpPr>
          <p:cNvPr id="19" name="">
            <a:extLst xmlns:a="http://schemas.openxmlformats.org/drawingml/2006/main">
              <a:ext uri="{FF2B5EF4-FFF2-40B4-BE49-F238E27FC236}">
                <a16:creationId xmlns:a16="http://schemas.microsoft.com/office/drawing/2014/main" id="{8F51634D-B836-4F06-8093-8CE505633727}"/>
              </a:ext>
            </a:extLst>
          </p:cNvPr>
          <p:cNvSpPr>
            <a:spLocks xmlns:a="http://schemas.openxmlformats.org/drawingml/2006/main" noGrp="1"/>
          </p:cNvSpPr>
          <p:nvPr/>
        </p:nvSpPr>
        <p:spPr>
          <a:xfrm xmlns:a="http://schemas.openxmlformats.org/drawingml/2006/main">
            <a:off x="457200" y="3400425"/>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0" name="">
            <a:extLst xmlns:a="http://schemas.openxmlformats.org/drawingml/2006/main">
              <a:ext uri="{FF2B5EF4-FFF2-40B4-BE49-F238E27FC236}">
                <a16:creationId xmlns:a16="http://schemas.microsoft.com/office/drawing/2014/main" id="{579C315A-CE34-443E-AE10-77ECEE825ED5}"/>
              </a:ext>
            </a:extLst>
          </p:cNvPr>
          <p:cNvSpPr>
            <a:spLocks xmlns:a="http://schemas.openxmlformats.org/drawingml/2006/main" noGrp="1"/>
          </p:cNvSpPr>
          <p:nvPr/>
        </p:nvSpPr>
        <p:spPr>
          <a:xfrm xmlns:a="http://schemas.openxmlformats.org/drawingml/2006/main">
            <a:off x="457200" y="3400425"/>
            <a:ext cx="28575" cy="35242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A8C9269-39B0-4368-A8A0-67592C0B55E9}"/>
              </a:ext>
            </a:extLst>
          </p:cNvPr>
          <p:cNvSpPr>
            <a:spLocks xmlns:a="http://schemas.openxmlformats.org/drawingml/2006/main" noGrp="1"/>
          </p:cNvSpPr>
          <p:nvPr/>
        </p:nvSpPr>
        <p:spPr>
          <a:xfrm xmlns:a="http://schemas.openxmlformats.org/drawingml/2006/main">
            <a:off x="590550" y="3467100"/>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STRADVISION</a:t>
            </a:r>
          </a:p>
        </p:txBody>
      </p:sp>
      <p:sp>
        <p:nvSpPr>
          <p:cNvPr id="22" name="">
            <a:extLst xmlns:a="http://schemas.openxmlformats.org/drawingml/2006/main">
              <a:ext uri="{FF2B5EF4-FFF2-40B4-BE49-F238E27FC236}">
                <a16:creationId xmlns:a16="http://schemas.microsoft.com/office/drawing/2014/main" id="{25873DCE-81F7-4E50-8BEE-3932B5F987AF}"/>
              </a:ext>
            </a:extLst>
          </p:cNvPr>
          <p:cNvSpPr>
            <a:spLocks xmlns:a="http://schemas.openxmlformats.org/drawingml/2006/main" noGrp="1"/>
          </p:cNvSpPr>
          <p:nvPr/>
        </p:nvSpPr>
        <p:spPr>
          <a:xfrm xmlns:a="http://schemas.openxmlformats.org/drawingml/2006/main">
            <a:off x="590550" y="3600450"/>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VERIFIED FACT</a:t>
            </a:r>
          </a:p>
        </p:txBody>
      </p:sp>
      <p:sp>
        <p:nvSpPr>
          <p:cNvPr id="23" name="">
            <a:extLst xmlns:a="http://schemas.openxmlformats.org/drawingml/2006/main">
              <a:ext uri="{FF2B5EF4-FFF2-40B4-BE49-F238E27FC236}">
                <a16:creationId xmlns:a16="http://schemas.microsoft.com/office/drawing/2014/main" id="{37A13178-1462-4D6D-88AD-EF96C82474D7}"/>
              </a:ext>
            </a:extLst>
          </p:cNvPr>
          <p:cNvSpPr>
            <a:spLocks xmlns:a="http://schemas.openxmlformats.org/drawingml/2006/main" noGrp="1"/>
          </p:cNvSpPr>
          <p:nvPr/>
        </p:nvSpPr>
        <p:spPr>
          <a:xfrm xmlns:a="http://schemas.openxmlformats.org/drawingml/2006/main">
            <a:off x="2324100" y="3467100"/>
            <a:ext cx="2857500" cy="238125"/>
          </a:xfrm>
          <a:prstGeom xmlns:a="http://schemas.openxmlformats.org/drawingml/2006/main" prst="rect">
            <a:avLst/>
          </a:prstGeom>
        </p:spPr>
        <p:txBody>
          <a:bodyPr xmlns:a="http://schemas.openxmlformats.org/drawingml/2006/main" lIns="0" tIns="0" rIns="0" bIns="0" anchor="t">
            <a:normAutofit fontScale="95224"/>
          </a:bodyPr>
          <a:lstStyle xmlns:a="http://schemas.openxmlformats.org/drawingml/2006/main"/>
          <a:p xmlns:a="http://schemas.openxmlformats.org/drawingml/2006/main">
            <a:pPr algn="l">
              <a:defRPr sz="875">
                <a:solidFill>
                  <a:srgbClr val="101827"/>
                </a:solidFill>
                <a:latin typeface="Arial"/>
                <a:ea typeface="Arial"/>
                <a:cs typeface="Arial"/>
              </a:defRPr>
            </a:pPr>
            <a:r>
              <a:t>STRADVISION India CV: insufficient evidence -&gt; verified fact</a:t>
            </a:r>
          </a:p>
        </p:txBody>
      </p:sp>
      <p:sp>
        <p:nvSpPr>
          <p:cNvPr id="24" name="">
            <a:extLst xmlns:a="http://schemas.openxmlformats.org/drawingml/2006/main">
              <a:ext uri="{FF2B5EF4-FFF2-40B4-BE49-F238E27FC236}">
                <a16:creationId xmlns:a16="http://schemas.microsoft.com/office/drawing/2014/main" id="{8BC7D872-CF45-4662-97F0-0A73DB141223}"/>
              </a:ext>
            </a:extLst>
          </p:cNvPr>
          <p:cNvSpPr>
            <a:spLocks xmlns:a="http://schemas.openxmlformats.org/drawingml/2006/main" noGrp="1"/>
          </p:cNvSpPr>
          <p:nvPr/>
        </p:nvSpPr>
        <p:spPr>
          <a:xfrm xmlns:a="http://schemas.openxmlformats.org/drawingml/2006/main">
            <a:off x="5295900" y="3467100"/>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The falsifier the dossier set for STRADVISION has fired. 'Global scale is not India CV proof' was the right test, and STRADVISION has now passed it — including on the constrai…</a:t>
            </a:r>
          </a:p>
        </p:txBody>
      </p:sp>
      <p:sp>
        <p:nvSpPr>
          <p:cNvPr id="25" name="">
            <a:extLst xmlns:a="http://schemas.openxmlformats.org/drawingml/2006/main">
              <a:ext uri="{FF2B5EF4-FFF2-40B4-BE49-F238E27FC236}">
                <a16:creationId xmlns:a16="http://schemas.microsoft.com/office/drawing/2014/main" id="{D5415B70-69B6-4EB5-8526-0F6978E15902}"/>
              </a:ext>
            </a:extLst>
          </p:cNvPr>
          <p:cNvSpPr>
            <a:spLocks xmlns:a="http://schemas.openxmlformats.org/drawingml/2006/main" noGrp="1"/>
          </p:cNvSpPr>
          <p:nvPr/>
        </p:nvSpPr>
        <p:spPr>
          <a:xfrm xmlns:a="http://schemas.openxmlformats.org/drawingml/2006/main">
            <a:off x="457200" y="3790950"/>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6" name="">
            <a:extLst xmlns:a="http://schemas.openxmlformats.org/drawingml/2006/main">
              <a:ext uri="{FF2B5EF4-FFF2-40B4-BE49-F238E27FC236}">
                <a16:creationId xmlns:a16="http://schemas.microsoft.com/office/drawing/2014/main" id="{39A7B8D2-0EC5-4126-81FD-EF957401724B}"/>
              </a:ext>
            </a:extLst>
          </p:cNvPr>
          <p:cNvSpPr>
            <a:spLocks xmlns:a="http://schemas.openxmlformats.org/drawingml/2006/main" noGrp="1"/>
          </p:cNvSpPr>
          <p:nvPr/>
        </p:nvSpPr>
        <p:spPr>
          <a:xfrm xmlns:a="http://schemas.openxmlformats.org/drawingml/2006/main">
            <a:off x="457200" y="3790950"/>
            <a:ext cx="28575" cy="35242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CDBA6EC-1E7C-4299-859C-02C60C11FEA1}"/>
              </a:ext>
            </a:extLst>
          </p:cNvPr>
          <p:cNvSpPr>
            <a:spLocks xmlns:a="http://schemas.openxmlformats.org/drawingml/2006/main" noGrp="1"/>
          </p:cNvSpPr>
          <p:nvPr/>
        </p:nvSpPr>
        <p:spPr>
          <a:xfrm xmlns:a="http://schemas.openxmlformats.org/drawingml/2006/main">
            <a:off x="590550" y="3857625"/>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drivebuddyAI</a:t>
            </a:r>
          </a:p>
        </p:txBody>
      </p:sp>
      <p:sp>
        <p:nvSpPr>
          <p:cNvPr id="28" name="">
            <a:extLst xmlns:a="http://schemas.openxmlformats.org/drawingml/2006/main">
              <a:ext uri="{FF2B5EF4-FFF2-40B4-BE49-F238E27FC236}">
                <a16:creationId xmlns:a16="http://schemas.microsoft.com/office/drawing/2014/main" id="{09D58A9F-F8B7-4533-9B2D-9210E36EDE73}"/>
              </a:ext>
            </a:extLst>
          </p:cNvPr>
          <p:cNvSpPr>
            <a:spLocks xmlns:a="http://schemas.openxmlformats.org/drawingml/2006/main" noGrp="1"/>
          </p:cNvSpPr>
          <p:nvPr/>
        </p:nvSpPr>
        <p:spPr>
          <a:xfrm xmlns:a="http://schemas.openxmlformats.org/drawingml/2006/main">
            <a:off x="590550" y="3990975"/>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VERIFIED FACT</a:t>
            </a:r>
          </a:p>
        </p:txBody>
      </p:sp>
      <p:sp>
        <p:nvSpPr>
          <p:cNvPr id="29" name="">
            <a:extLst xmlns:a="http://schemas.openxmlformats.org/drawingml/2006/main">
              <a:ext uri="{FF2B5EF4-FFF2-40B4-BE49-F238E27FC236}">
                <a16:creationId xmlns:a16="http://schemas.microsoft.com/office/drawing/2014/main" id="{47360DB8-1EDF-4D9A-BD39-D52E344660B8}"/>
              </a:ext>
            </a:extLst>
          </p:cNvPr>
          <p:cNvSpPr>
            <a:spLocks xmlns:a="http://schemas.openxmlformats.org/drawingml/2006/main" noGrp="1"/>
          </p:cNvSpPr>
          <p:nvPr/>
        </p:nvSpPr>
        <p:spPr>
          <a:xfrm xmlns:a="http://schemas.openxmlformats.org/drawingml/2006/main">
            <a:off x="2324100" y="3857625"/>
            <a:ext cx="285750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101827"/>
                </a:solidFill>
                <a:latin typeface="Arial"/>
                <a:ea typeface="Arial"/>
                <a:cs typeface="Arial"/>
              </a:defRPr>
            </a:pPr>
            <a:r>
              <a:t>drivebuddyAI fleet threat: raise; mining is now contested</a:t>
            </a:r>
          </a:p>
        </p:txBody>
      </p:sp>
      <p:sp>
        <p:nvSpPr>
          <p:cNvPr id="30" name="">
            <a:extLst xmlns:a="http://schemas.openxmlformats.org/drawingml/2006/main">
              <a:ext uri="{FF2B5EF4-FFF2-40B4-BE49-F238E27FC236}">
                <a16:creationId xmlns:a16="http://schemas.microsoft.com/office/drawing/2014/main" id="{10B7D808-4869-4ECA-A995-15060493BA52}"/>
              </a:ext>
            </a:extLst>
          </p:cNvPr>
          <p:cNvSpPr>
            <a:spLocks xmlns:a="http://schemas.openxmlformats.org/drawingml/2006/main" noGrp="1"/>
          </p:cNvSpPr>
          <p:nvPr/>
        </p:nvSpPr>
        <p:spPr>
          <a:xfrm xmlns:a="http://schemas.openxmlformats.org/drawingml/2006/main">
            <a:off x="5295900" y="3857625"/>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drivebuddyAI has more than doubled its committed fleet in two months and crossed from trucks into buses and mining — the arena the dossier nominates as DeepGrid's fastest proo…</a:t>
            </a:r>
          </a:p>
        </p:txBody>
      </p:sp>
      <p:sp>
        <p:nvSpPr>
          <p:cNvPr id="31" name="">
            <a:extLst xmlns:a="http://schemas.openxmlformats.org/drawingml/2006/main">
              <a:ext uri="{FF2B5EF4-FFF2-40B4-BE49-F238E27FC236}">
                <a16:creationId xmlns:a16="http://schemas.microsoft.com/office/drawing/2014/main" id="{24EA9821-46DF-4BD9-BC5B-4002C229533E}"/>
              </a:ext>
            </a:extLst>
          </p:cNvPr>
          <p:cNvSpPr>
            <a:spLocks xmlns:a="http://schemas.openxmlformats.org/drawingml/2006/main" noGrp="1"/>
          </p:cNvSpPr>
          <p:nvPr/>
        </p:nvSpPr>
        <p:spPr>
          <a:xfrm xmlns:a="http://schemas.openxmlformats.org/drawingml/2006/main">
            <a:off x="457200" y="4181475"/>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2" name="">
            <a:extLst xmlns:a="http://schemas.openxmlformats.org/drawingml/2006/main">
              <a:ext uri="{FF2B5EF4-FFF2-40B4-BE49-F238E27FC236}">
                <a16:creationId xmlns:a16="http://schemas.microsoft.com/office/drawing/2014/main" id="{5A1DD7B5-3F05-4F01-8454-2F9F14FC91E2}"/>
              </a:ext>
            </a:extLst>
          </p:cNvPr>
          <p:cNvSpPr>
            <a:spLocks xmlns:a="http://schemas.openxmlformats.org/drawingml/2006/main" noGrp="1"/>
          </p:cNvSpPr>
          <p:nvPr/>
        </p:nvSpPr>
        <p:spPr>
          <a:xfrm xmlns:a="http://schemas.openxmlformats.org/drawingml/2006/main">
            <a:off x="457200" y="4181475"/>
            <a:ext cx="28575" cy="35242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5AC4EB5-DE67-40A6-B69E-146F239EFBE0}"/>
              </a:ext>
            </a:extLst>
          </p:cNvPr>
          <p:cNvSpPr>
            <a:spLocks xmlns:a="http://schemas.openxmlformats.org/drawingml/2006/main" noGrp="1"/>
          </p:cNvSpPr>
          <p:nvPr/>
        </p:nvSpPr>
        <p:spPr>
          <a:xfrm xmlns:a="http://schemas.openxmlformats.org/drawingml/2006/main">
            <a:off x="590550" y="4248150"/>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Regulatory</a:t>
            </a:r>
          </a:p>
        </p:txBody>
      </p:sp>
      <p:sp>
        <p:nvSpPr>
          <p:cNvPr id="34" name="">
            <a:extLst xmlns:a="http://schemas.openxmlformats.org/drawingml/2006/main">
              <a:ext uri="{FF2B5EF4-FFF2-40B4-BE49-F238E27FC236}">
                <a16:creationId xmlns:a16="http://schemas.microsoft.com/office/drawing/2014/main" id="{EFD4E82F-4BEF-4DC5-8CE6-B0D3B0AB0A00}"/>
              </a:ext>
            </a:extLst>
          </p:cNvPr>
          <p:cNvSpPr>
            <a:spLocks xmlns:a="http://schemas.openxmlformats.org/drawingml/2006/main" noGrp="1"/>
          </p:cNvSpPr>
          <p:nvPr/>
        </p:nvSpPr>
        <p:spPr>
          <a:xfrm xmlns:a="http://schemas.openxmlformats.org/drawingml/2006/main">
            <a:off x="590550" y="4381500"/>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VERIFIED FACT</a:t>
            </a:r>
          </a:p>
        </p:txBody>
      </p:sp>
      <p:sp>
        <p:nvSpPr>
          <p:cNvPr id="35" name="">
            <a:extLst xmlns:a="http://schemas.openxmlformats.org/drawingml/2006/main">
              <a:ext uri="{FF2B5EF4-FFF2-40B4-BE49-F238E27FC236}">
                <a16:creationId xmlns:a16="http://schemas.microsoft.com/office/drawing/2014/main" id="{E09FC511-2B67-41A5-9627-E624F38B91FA}"/>
              </a:ext>
            </a:extLst>
          </p:cNvPr>
          <p:cNvSpPr>
            <a:spLocks xmlns:a="http://schemas.openxmlformats.org/drawingml/2006/main" noGrp="1"/>
          </p:cNvSpPr>
          <p:nvPr/>
        </p:nvSpPr>
        <p:spPr>
          <a:xfrm xmlns:a="http://schemas.openxmlformats.org/drawingml/2006/main">
            <a:off x="2324100" y="4248150"/>
            <a:ext cx="285750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101827"/>
                </a:solidFill>
                <a:latin typeface="Arial"/>
                <a:ea typeface="Arial"/>
                <a:cs typeface="Arial"/>
              </a:defRPr>
            </a:pPr>
            <a:r>
              <a:t>regulatory baseline: corrected to G.S.R. 834(E)/862(E); stop citing 184(E) entirely</a:t>
            </a:r>
          </a:p>
        </p:txBody>
      </p:sp>
      <p:sp>
        <p:nvSpPr>
          <p:cNvPr id="36" name="">
            <a:extLst xmlns:a="http://schemas.openxmlformats.org/drawingml/2006/main">
              <a:ext uri="{FF2B5EF4-FFF2-40B4-BE49-F238E27FC236}">
                <a16:creationId xmlns:a16="http://schemas.microsoft.com/office/drawing/2014/main" id="{63385209-BE72-4797-8A3A-BF931352C5E3}"/>
              </a:ext>
            </a:extLst>
          </p:cNvPr>
          <p:cNvSpPr>
            <a:spLocks xmlns:a="http://schemas.openxmlformats.org/drawingml/2006/main" noGrp="1"/>
          </p:cNvSpPr>
          <p:nvPr/>
        </p:nvSpPr>
        <p:spPr>
          <a:xfrm xmlns:a="http://schemas.openxmlformats.org/drawingml/2006/main">
            <a:off x="5295900" y="4248150"/>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The gazette is not outstanding — it has been public for nine months, and a prior run had already read it. ZF's press note, Starkenn's market briefing and Gahan's site all cite…</a:t>
            </a:r>
          </a:p>
        </p:txBody>
      </p:sp>
      <p:sp>
        <p:nvSpPr>
          <p:cNvPr id="37" name="">
            <a:extLst xmlns:a="http://schemas.openxmlformats.org/drawingml/2006/main">
              <a:ext uri="{FF2B5EF4-FFF2-40B4-BE49-F238E27FC236}">
                <a16:creationId xmlns:a16="http://schemas.microsoft.com/office/drawing/2014/main" id="{0D9555AA-2A18-4BEA-B7CD-430E9E649FCB}"/>
              </a:ext>
            </a:extLst>
          </p:cNvPr>
          <p:cNvSpPr>
            <a:spLocks xmlns:a="http://schemas.openxmlformats.org/drawingml/2006/main" noGrp="1"/>
          </p:cNvSpPr>
          <p:nvPr/>
        </p:nvSpPr>
        <p:spPr>
          <a:xfrm xmlns:a="http://schemas.openxmlformats.org/drawingml/2006/main">
            <a:off x="457200" y="4572000"/>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8" name="">
            <a:extLst xmlns:a="http://schemas.openxmlformats.org/drawingml/2006/main">
              <a:ext uri="{FF2B5EF4-FFF2-40B4-BE49-F238E27FC236}">
                <a16:creationId xmlns:a16="http://schemas.microsoft.com/office/drawing/2014/main" id="{758EA21F-12D4-47AF-9FE9-96F3812E8B3A}"/>
              </a:ext>
            </a:extLst>
          </p:cNvPr>
          <p:cNvSpPr>
            <a:spLocks xmlns:a="http://schemas.openxmlformats.org/drawingml/2006/main" noGrp="1"/>
          </p:cNvSpPr>
          <p:nvPr/>
        </p:nvSpPr>
        <p:spPr>
          <a:xfrm xmlns:a="http://schemas.openxmlformats.org/drawingml/2006/main">
            <a:off x="457200" y="4572000"/>
            <a:ext cx="28575" cy="352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B914D60-2AD7-4E4F-968B-376550BEAA12}"/>
              </a:ext>
            </a:extLst>
          </p:cNvPr>
          <p:cNvSpPr>
            <a:spLocks xmlns:a="http://schemas.openxmlformats.org/drawingml/2006/main" noGrp="1"/>
          </p:cNvSpPr>
          <p:nvPr/>
        </p:nvSpPr>
        <p:spPr>
          <a:xfrm xmlns:a="http://schemas.openxmlformats.org/drawingml/2006/main">
            <a:off x="590550" y="4638675"/>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Gahan</a:t>
            </a:r>
          </a:p>
        </p:txBody>
      </p:sp>
      <p:sp>
        <p:nvSpPr>
          <p:cNvPr id="40" name="">
            <a:extLst xmlns:a="http://schemas.openxmlformats.org/drawingml/2006/main">
              <a:ext uri="{FF2B5EF4-FFF2-40B4-BE49-F238E27FC236}">
                <a16:creationId xmlns:a16="http://schemas.microsoft.com/office/drawing/2014/main" id="{852B9BA4-0345-4E7E-9443-271707AE1122}"/>
              </a:ext>
            </a:extLst>
          </p:cNvPr>
          <p:cNvSpPr>
            <a:spLocks xmlns:a="http://schemas.openxmlformats.org/drawingml/2006/main" noGrp="1"/>
          </p:cNvSpPr>
          <p:nvPr/>
        </p:nvSpPr>
        <p:spPr>
          <a:xfrm xmlns:a="http://schemas.openxmlformats.org/drawingml/2006/main">
            <a:off x="590550" y="4772025"/>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C62828"/>
                </a:solidFill>
                <a:latin typeface="Arial"/>
                <a:ea typeface="Arial"/>
                <a:cs typeface="Arial"/>
              </a:defRPr>
            </a:pPr>
            <a:r>
              <a:t>INSUFFICIENT EVIDENCE</a:t>
            </a:r>
          </a:p>
        </p:txBody>
      </p:sp>
      <p:sp>
        <p:nvSpPr>
          <p:cNvPr id="41" name="">
            <a:extLst xmlns:a="http://schemas.openxmlformats.org/drawingml/2006/main">
              <a:ext uri="{FF2B5EF4-FFF2-40B4-BE49-F238E27FC236}">
                <a16:creationId xmlns:a16="http://schemas.microsoft.com/office/drawing/2014/main" id="{1A579E92-2027-4F91-9084-F6896DE94843}"/>
              </a:ext>
            </a:extLst>
          </p:cNvPr>
          <p:cNvSpPr>
            <a:spLocks xmlns:a="http://schemas.openxmlformats.org/drawingml/2006/main" noGrp="1"/>
          </p:cNvSpPr>
          <p:nvPr/>
        </p:nvSpPr>
        <p:spPr>
          <a:xfrm xmlns:a="http://schemas.openxmlformats.org/drawingml/2006/main">
            <a:off x="2324100" y="4638675"/>
            <a:ext cx="2857500" cy="238125"/>
          </a:xfrm>
          <a:prstGeom xmlns:a="http://schemas.openxmlformats.org/drawingml/2006/main" prst="rect">
            <a:avLst/>
          </a:prstGeom>
        </p:spPr>
        <p:txBody>
          <a:bodyPr xmlns:a="http://schemas.openxmlformats.org/drawingml/2006/main" lIns="0" tIns="0" rIns="0" bIns="0" anchor="t">
            <a:normAutofit fontScale="98567"/>
          </a:bodyPr>
          <a:lstStyle xmlns:a="http://schemas.openxmlformats.org/drawingml/2006/main"/>
          <a:p xmlns:a="http://schemas.openxmlformats.org/drawingml/2006/main">
            <a:pPr algn="l">
              <a:defRPr sz="875">
                <a:solidFill>
                  <a:srgbClr val="101827"/>
                </a:solidFill>
                <a:latin typeface="Arial"/>
                <a:ea typeface="Arial"/>
                <a:cs typeface="Arial"/>
              </a:defRPr>
            </a:pPr>
            <a:r>
              <a:t>Gahan diligence priority: lower, pending any primary artifact</a:t>
            </a:r>
          </a:p>
        </p:txBody>
      </p:sp>
      <p:sp>
        <p:nvSpPr>
          <p:cNvPr id="42" name="">
            <a:extLst xmlns:a="http://schemas.openxmlformats.org/drawingml/2006/main">
              <a:ext uri="{FF2B5EF4-FFF2-40B4-BE49-F238E27FC236}">
                <a16:creationId xmlns:a16="http://schemas.microsoft.com/office/drawing/2014/main" id="{01E5E54F-80AA-4987-9C15-D898466A423C}"/>
              </a:ext>
            </a:extLst>
          </p:cNvPr>
          <p:cNvSpPr>
            <a:spLocks xmlns:a="http://schemas.openxmlformats.org/drawingml/2006/main" noGrp="1"/>
          </p:cNvSpPr>
          <p:nvPr/>
        </p:nvSpPr>
        <p:spPr>
          <a:xfrm xmlns:a="http://schemas.openxmlformats.org/drawingml/2006/main">
            <a:off x="5295900" y="4638675"/>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The gap is now a measured absence rather than an unchecked assumption. Gahan was ranked the highest-priority diligence target on the strength of claims that leave no public tr…</a:t>
            </a:r>
          </a:p>
        </p:txBody>
      </p:sp>
      <p:sp>
        <p:nvSpPr>
          <p:cNvPr id="43" name="">
            <a:extLst xmlns:a="http://schemas.openxmlformats.org/drawingml/2006/main">
              <a:ext uri="{FF2B5EF4-FFF2-40B4-BE49-F238E27FC236}">
                <a16:creationId xmlns:a16="http://schemas.microsoft.com/office/drawing/2014/main" id="{D70BF26A-AB63-4D5D-804A-1E8F4AEF2D7F}"/>
              </a:ext>
            </a:extLst>
          </p:cNvPr>
          <p:cNvSpPr>
            <a:spLocks xmlns:a="http://schemas.openxmlformats.org/drawingml/2006/main" noGrp="1"/>
          </p:cNvSpPr>
          <p:nvPr/>
        </p:nvSpPr>
        <p:spPr>
          <a:xfrm xmlns:a="http://schemas.openxmlformats.org/drawingml/2006/main">
            <a:off x="457200" y="4962525"/>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4" name="">
            <a:extLst xmlns:a="http://schemas.openxmlformats.org/drawingml/2006/main">
              <a:ext uri="{FF2B5EF4-FFF2-40B4-BE49-F238E27FC236}">
                <a16:creationId xmlns:a16="http://schemas.microsoft.com/office/drawing/2014/main" id="{F52C3165-1B58-4770-A935-AB84184DF04A}"/>
              </a:ext>
            </a:extLst>
          </p:cNvPr>
          <p:cNvSpPr>
            <a:spLocks xmlns:a="http://schemas.openxmlformats.org/drawingml/2006/main" noGrp="1"/>
          </p:cNvSpPr>
          <p:nvPr/>
        </p:nvSpPr>
        <p:spPr>
          <a:xfrm xmlns:a="http://schemas.openxmlformats.org/drawingml/2006/main">
            <a:off x="457200" y="4962525"/>
            <a:ext cx="28575" cy="352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098BC72A-CCDD-4AB6-B8CB-DCC9BB940BEC}"/>
              </a:ext>
            </a:extLst>
          </p:cNvPr>
          <p:cNvSpPr>
            <a:spLocks xmlns:a="http://schemas.openxmlformats.org/drawingml/2006/main" noGrp="1"/>
          </p:cNvSpPr>
          <p:nvPr/>
        </p:nvSpPr>
        <p:spPr>
          <a:xfrm xmlns:a="http://schemas.openxmlformats.org/drawingml/2006/main">
            <a:off x="590550" y="5029200"/>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Sterling x MINIEYE</a:t>
            </a:r>
          </a:p>
        </p:txBody>
      </p:sp>
      <p:sp>
        <p:nvSpPr>
          <p:cNvPr id="46" name="">
            <a:extLst xmlns:a="http://schemas.openxmlformats.org/drawingml/2006/main">
              <a:ext uri="{FF2B5EF4-FFF2-40B4-BE49-F238E27FC236}">
                <a16:creationId xmlns:a16="http://schemas.microsoft.com/office/drawing/2014/main" id="{3A7FED47-5826-4DA3-B7F3-4E5075D7B524}"/>
              </a:ext>
            </a:extLst>
          </p:cNvPr>
          <p:cNvSpPr>
            <a:spLocks xmlns:a="http://schemas.openxmlformats.org/drawingml/2006/main" noGrp="1"/>
          </p:cNvSpPr>
          <p:nvPr/>
        </p:nvSpPr>
        <p:spPr>
          <a:xfrm xmlns:a="http://schemas.openxmlformats.org/drawingml/2006/main">
            <a:off x="590550" y="5162550"/>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AB5A08"/>
                </a:solidFill>
                <a:latin typeface="Arial"/>
                <a:ea typeface="Arial"/>
                <a:cs typeface="Arial"/>
              </a:defRPr>
            </a:pPr>
            <a:r>
              <a:t>ATTRIBUTED CLAIM</a:t>
            </a:r>
          </a:p>
        </p:txBody>
      </p:sp>
      <p:sp>
        <p:nvSpPr>
          <p:cNvPr id="47" name="">
            <a:extLst xmlns:a="http://schemas.openxmlformats.org/drawingml/2006/main">
              <a:ext uri="{FF2B5EF4-FFF2-40B4-BE49-F238E27FC236}">
                <a16:creationId xmlns:a16="http://schemas.microsoft.com/office/drawing/2014/main" id="{097BB561-B19B-4732-81CC-9CBD6EA28D8F}"/>
              </a:ext>
            </a:extLst>
          </p:cNvPr>
          <p:cNvSpPr>
            <a:spLocks xmlns:a="http://schemas.openxmlformats.org/drawingml/2006/main" noGrp="1"/>
          </p:cNvSpPr>
          <p:nvPr/>
        </p:nvSpPr>
        <p:spPr>
          <a:xfrm xmlns:a="http://schemas.openxmlformats.org/drawingml/2006/main">
            <a:off x="2324100" y="5029200"/>
            <a:ext cx="2857500" cy="238125"/>
          </a:xfrm>
          <a:prstGeom xmlns:a="http://schemas.openxmlformats.org/drawingml/2006/main" prst="rect">
            <a:avLst/>
          </a:prstGeom>
        </p:spPr>
        <p:txBody>
          <a:bodyPr xmlns:a="http://schemas.openxmlformats.org/drawingml/2006/main" lIns="0" tIns="0" rIns="0" bIns="0" anchor="t">
            <a:normAutofit fontScale="93887"/>
          </a:bodyPr>
          <a:lstStyle xmlns:a="http://schemas.openxmlformats.org/drawingml/2006/main"/>
          <a:p xmlns:a="http://schemas.openxmlformats.org/drawingml/2006/main">
            <a:pPr algn="l">
              <a:defRPr sz="875">
                <a:solidFill>
                  <a:srgbClr val="101827"/>
                </a:solidFill>
                <a:latin typeface="Arial"/>
                <a:ea typeface="Arial"/>
                <a:cs typeface="Arial"/>
              </a:defRPr>
            </a:pPr>
            <a:r>
              <a:t>hold; the falsifier (named OEM nomination) still stands unfired</a:t>
            </a:r>
          </a:p>
        </p:txBody>
      </p:sp>
      <p:sp>
        <p:nvSpPr>
          <p:cNvPr id="48" name="">
            <a:extLst xmlns:a="http://schemas.openxmlformats.org/drawingml/2006/main">
              <a:ext uri="{FF2B5EF4-FFF2-40B4-BE49-F238E27FC236}">
                <a16:creationId xmlns:a16="http://schemas.microsoft.com/office/drawing/2014/main" id="{C5A3D071-C46D-4084-8F97-DDFBFCE1461F}"/>
              </a:ext>
            </a:extLst>
          </p:cNvPr>
          <p:cNvSpPr>
            <a:spLocks xmlns:a="http://schemas.openxmlformats.org/drawingml/2006/main" noGrp="1"/>
          </p:cNvSpPr>
          <p:nvPr/>
        </p:nvSpPr>
        <p:spPr>
          <a:xfrm xmlns:a="http://schemas.openxmlformats.org/drawingml/2006/main">
            <a:off x="5295900" y="5029200"/>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The partnership is real and the division of labour is now explicit — which makes it a direct template for DeepGrid's own attach-and-prove move, and a China-sourced perception…</a:t>
            </a:r>
          </a:p>
        </p:txBody>
      </p:sp>
      <p:sp>
        <p:nvSpPr>
          <p:cNvPr id="49" name="">
            <a:extLst xmlns:a="http://schemas.openxmlformats.org/drawingml/2006/main">
              <a:ext uri="{FF2B5EF4-FFF2-40B4-BE49-F238E27FC236}">
                <a16:creationId xmlns:a16="http://schemas.microsoft.com/office/drawing/2014/main" id="{20FBD489-5A6B-4202-B390-32EB5A5E5252}"/>
              </a:ext>
            </a:extLst>
          </p:cNvPr>
          <p:cNvSpPr>
            <a:spLocks xmlns:a="http://schemas.openxmlformats.org/drawingml/2006/main" noGrp="1"/>
          </p:cNvSpPr>
          <p:nvPr/>
        </p:nvSpPr>
        <p:spPr>
          <a:xfrm xmlns:a="http://schemas.openxmlformats.org/drawingml/2006/main">
            <a:off x="457200" y="5353050"/>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50" name="">
            <a:extLst xmlns:a="http://schemas.openxmlformats.org/drawingml/2006/main">
              <a:ext uri="{FF2B5EF4-FFF2-40B4-BE49-F238E27FC236}">
                <a16:creationId xmlns:a16="http://schemas.microsoft.com/office/drawing/2014/main" id="{85D8BAF9-0D4D-4B85-9C3C-5144BBE6E2A7}"/>
              </a:ext>
            </a:extLst>
          </p:cNvPr>
          <p:cNvSpPr>
            <a:spLocks xmlns:a="http://schemas.openxmlformats.org/drawingml/2006/main" noGrp="1"/>
          </p:cNvSpPr>
          <p:nvPr/>
        </p:nvSpPr>
        <p:spPr>
          <a:xfrm xmlns:a="http://schemas.openxmlformats.org/drawingml/2006/main">
            <a:off x="457200" y="5353050"/>
            <a:ext cx="28575" cy="352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808A87CC-DCC9-43EC-85CC-6A18C8A3FED4}"/>
              </a:ext>
            </a:extLst>
          </p:cNvPr>
          <p:cNvSpPr>
            <a:spLocks xmlns:a="http://schemas.openxmlformats.org/drawingml/2006/main" noGrp="1"/>
          </p:cNvSpPr>
          <p:nvPr/>
        </p:nvSpPr>
        <p:spPr>
          <a:xfrm xmlns:a="http://schemas.openxmlformats.org/drawingml/2006/main">
            <a:off x="590550" y="5419725"/>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bitsensing / Netrasemi</a:t>
            </a:r>
          </a:p>
        </p:txBody>
      </p:sp>
      <p:sp>
        <p:nvSpPr>
          <p:cNvPr id="52" name="">
            <a:extLst xmlns:a="http://schemas.openxmlformats.org/drawingml/2006/main">
              <a:ext uri="{FF2B5EF4-FFF2-40B4-BE49-F238E27FC236}">
                <a16:creationId xmlns:a16="http://schemas.microsoft.com/office/drawing/2014/main" id="{4E597649-0A01-448E-9127-611FF1AA9EA3}"/>
              </a:ext>
            </a:extLst>
          </p:cNvPr>
          <p:cNvSpPr>
            <a:spLocks xmlns:a="http://schemas.openxmlformats.org/drawingml/2006/main" noGrp="1"/>
          </p:cNvSpPr>
          <p:nvPr/>
        </p:nvSpPr>
        <p:spPr>
          <a:xfrm xmlns:a="http://schemas.openxmlformats.org/drawingml/2006/main">
            <a:off x="590550" y="5553075"/>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AB5A08"/>
                </a:solidFill>
                <a:latin typeface="Arial"/>
                <a:ea typeface="Arial"/>
                <a:cs typeface="Arial"/>
              </a:defRPr>
            </a:pPr>
            <a:r>
              <a:t>ATTRIBUTED CLAIM</a:t>
            </a:r>
          </a:p>
        </p:txBody>
      </p:sp>
      <p:sp>
        <p:nvSpPr>
          <p:cNvPr id="53" name="">
            <a:extLst xmlns:a="http://schemas.openxmlformats.org/drawingml/2006/main">
              <a:ext uri="{FF2B5EF4-FFF2-40B4-BE49-F238E27FC236}">
                <a16:creationId xmlns:a16="http://schemas.microsoft.com/office/drawing/2014/main" id="{57992579-593C-41C1-AFA9-56B262B5A72A}"/>
              </a:ext>
            </a:extLst>
          </p:cNvPr>
          <p:cNvSpPr>
            <a:spLocks xmlns:a="http://schemas.openxmlformats.org/drawingml/2006/main" noGrp="1"/>
          </p:cNvSpPr>
          <p:nvPr/>
        </p:nvSpPr>
        <p:spPr>
          <a:xfrm xmlns:a="http://schemas.openxmlformats.org/drawingml/2006/main">
            <a:off x="2324100" y="5419725"/>
            <a:ext cx="285750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101827"/>
                </a:solidFill>
                <a:latin typeface="Arial"/>
                <a:ea typeface="Arial"/>
                <a:cs typeface="Arial"/>
              </a:defRPr>
            </a:pPr>
            <a:r>
              <a:t>hold both; add a dated re-test on Netrasemi</a:t>
            </a:r>
          </a:p>
        </p:txBody>
      </p:sp>
      <p:sp>
        <p:nvSpPr>
          <p:cNvPr id="54" name="">
            <a:extLst xmlns:a="http://schemas.openxmlformats.org/drawingml/2006/main">
              <a:ext uri="{FF2B5EF4-FFF2-40B4-BE49-F238E27FC236}">
                <a16:creationId xmlns:a16="http://schemas.microsoft.com/office/drawing/2014/main" id="{14644B48-09A8-4963-B2B3-0B98387BBF67}"/>
              </a:ext>
            </a:extLst>
          </p:cNvPr>
          <p:cNvSpPr>
            <a:spLocks xmlns:a="http://schemas.openxmlformats.org/drawingml/2006/main" noGrp="1"/>
          </p:cNvSpPr>
          <p:nvPr/>
        </p:nvSpPr>
        <p:spPr>
          <a:xfrm xmlns:a="http://schemas.openxmlformats.org/drawingml/2006/main">
            <a:off x="5295900" y="5419725"/>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Both hold. Netrasemi's mid-2027 target coincides with the AEBS all-models window (1 Oct 2027, rule 96(12)), so 'adjacent' has an expiry date — the coexistence test should be r…</a:t>
            </a:r>
          </a:p>
        </p:txBody>
      </p:sp>
      <p:sp>
        <p:nvSpPr>
          <p:cNvPr id="55" name="">
            <a:extLst xmlns:a="http://schemas.openxmlformats.org/drawingml/2006/main">
              <a:ext uri="{FF2B5EF4-FFF2-40B4-BE49-F238E27FC236}">
                <a16:creationId xmlns:a16="http://schemas.microsoft.com/office/drawing/2014/main" id="{9F7C0381-504F-491C-8638-578F295AFBF3}"/>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47FB9BD5-293A-4F30-BB98-DA6F103F8094}"/>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7" name="">
            <a:extLst xmlns:a="http://schemas.openxmlformats.org/drawingml/2006/main">
              <a:ext uri="{FF2B5EF4-FFF2-40B4-BE49-F238E27FC236}">
                <a16:creationId xmlns:a16="http://schemas.microsoft.com/office/drawing/2014/main" id="{BA67B853-1F38-4C86-A43D-847AB2C7FD17}"/>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9</a:t>
            </a:r>
          </a:p>
        </p:txBody>
      </p:sp>
    </p:spTree>
    <p:extLst>
      <p:ext uri="{BB962C8B-B14F-4D97-AF65-F5344CB8AC3E}">
        <p14:creationId xmlns:p14="http://schemas.microsoft.com/office/powerpoint/2010/main" val="154714116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3A17776-0E87-4C2A-8D39-4D225C17AA3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4AC86BC-9738-4FE2-A35F-F7CFE918B50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BB6DA64-8929-4DB7-8765-3FE443C4B755}"/>
              </a:ext>
            </a:extLst>
          </p:cNvPr>
          <p:cNvSpPr>
            <a:spLocks xmlns:a="http://schemas.openxmlformats.org/drawingml/2006/main" noGrp="1"/>
          </p:cNvSpPr>
          <p:nvPr/>
        </p:nvSpPr>
        <p:spPr>
          <a:xfrm xmlns:a="http://schemas.openxmlformats.org/drawingml/2006/main">
            <a:off x="457200" y="2038350"/>
            <a:ext cx="11430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5D07D2B-9729-4498-B59B-B8CAAED556E8}"/>
              </a:ext>
            </a:extLst>
          </p:cNvPr>
          <p:cNvSpPr>
            <a:spLocks xmlns:a="http://schemas.openxmlformats.org/drawingml/2006/main" noGrp="1"/>
          </p:cNvSpPr>
          <p:nvPr/>
        </p:nvSpPr>
        <p:spPr>
          <a:xfrm xmlns:a="http://schemas.openxmlformats.org/drawingml/2006/main">
            <a:off x="457200" y="2286000"/>
            <a:ext cx="476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E88A2C"/>
                </a:solidFill>
                <a:latin typeface="Arial"/>
                <a:ea typeface="Arial"/>
                <a:cs typeface="Arial"/>
              </a:defRPr>
            </a:pPr>
            <a:r>
              <a:t>ACT II</a:t>
            </a:r>
          </a:p>
        </p:txBody>
      </p:sp>
      <p:sp>
        <p:nvSpPr>
          <p:cNvPr id="5" name="">
            <a:extLst xmlns:a="http://schemas.openxmlformats.org/drawingml/2006/main">
              <a:ext uri="{FF2B5EF4-FFF2-40B4-BE49-F238E27FC236}">
                <a16:creationId xmlns:a16="http://schemas.microsoft.com/office/drawing/2014/main" id="{99ADFEF6-8982-4AC5-8FDC-4BC739E68CB8}"/>
              </a:ext>
            </a:extLst>
          </p:cNvPr>
          <p:cNvSpPr>
            <a:spLocks xmlns:a="http://schemas.openxmlformats.org/drawingml/2006/main" noGrp="1"/>
          </p:cNvSpPr>
          <p:nvPr/>
        </p:nvSpPr>
        <p:spPr>
          <a:xfrm xmlns:a="http://schemas.openxmlformats.org/drawingml/2006/main">
            <a:off x="457200" y="2552700"/>
            <a:ext cx="85725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FFFFFF"/>
                </a:solidFill>
                <a:latin typeface="Georgia"/>
                <a:ea typeface="Georgia"/>
                <a:cs typeface="Georgia"/>
              </a:defRPr>
            </a:pPr>
            <a:r>
              <a:t>The field</a:t>
            </a:r>
          </a:p>
        </p:txBody>
      </p:sp>
      <p:sp>
        <p:nvSpPr>
          <p:cNvPr id="6" name="">
            <a:extLst xmlns:a="http://schemas.openxmlformats.org/drawingml/2006/main">
              <a:ext uri="{FF2B5EF4-FFF2-40B4-BE49-F238E27FC236}">
                <a16:creationId xmlns:a16="http://schemas.microsoft.com/office/drawing/2014/main" id="{7513684D-AC42-4F93-BEA7-8F2A27E82FE8}"/>
              </a:ext>
            </a:extLst>
          </p:cNvPr>
          <p:cNvSpPr>
            <a:spLocks xmlns:a="http://schemas.openxmlformats.org/drawingml/2006/main" noGrp="1"/>
          </p:cNvSpPr>
          <p:nvPr/>
        </p:nvSpPr>
        <p:spPr>
          <a:xfrm xmlns:a="http://schemas.openxmlformats.org/drawingml/2006/main">
            <a:off x="457200" y="3390900"/>
            <a:ext cx="7810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C9D6E2"/>
                </a:solidFill>
                <a:latin typeface="Arial"/>
                <a:ea typeface="Arial"/>
                <a:cs typeface="Arial"/>
              </a:defRPr>
            </a:pPr>
            <a:r>
              <a:t>Who occupies India CV ADAS, what is the actual rule, and what does each arena reward?</a:t>
            </a:r>
          </a:p>
        </p:txBody>
      </p:sp>
      <p:sp>
        <p:nvSpPr>
          <p:cNvPr id="7" name="">
            <a:extLst xmlns:a="http://schemas.openxmlformats.org/drawingml/2006/main">
              <a:ext uri="{FF2B5EF4-FFF2-40B4-BE49-F238E27FC236}">
                <a16:creationId xmlns:a16="http://schemas.microsoft.com/office/drawing/2014/main" id="{EF80162D-0710-4C51-9724-BB2B2F24A406}"/>
              </a:ext>
            </a:extLst>
          </p:cNvPr>
          <p:cNvSpPr>
            <a:spLocks xmlns:a="http://schemas.openxmlformats.org/drawingml/2006/main" noGrp="1"/>
          </p:cNvSpPr>
          <p:nvPr/>
        </p:nvSpPr>
        <p:spPr>
          <a:xfrm xmlns:a="http://schemas.openxmlformats.org/drawingml/2006/main">
            <a:off x="457200" y="4076700"/>
            <a:ext cx="78105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3130EB5-B235-40B5-95CD-3BC16132DC17}"/>
              </a:ext>
            </a:extLst>
          </p:cNvPr>
          <p:cNvSpPr>
            <a:spLocks xmlns:a="http://schemas.openxmlformats.org/drawingml/2006/main" noGrp="1"/>
          </p:cNvSpPr>
          <p:nvPr/>
        </p:nvSpPr>
        <p:spPr>
          <a:xfrm xmlns:a="http://schemas.openxmlformats.org/drawingml/2006/main">
            <a:off x="457200" y="42100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88A2C"/>
                </a:solidFill>
                <a:latin typeface="Arial"/>
                <a:ea typeface="Arial"/>
                <a:cs typeface="Arial"/>
              </a:defRPr>
            </a:pPr>
            <a:r>
              <a:t>WHAT THIS ACT SETTLES</a:t>
            </a:r>
          </a:p>
        </p:txBody>
      </p:sp>
      <p:sp>
        <p:nvSpPr>
          <p:cNvPr id="9" name="">
            <a:extLst xmlns:a="http://schemas.openxmlformats.org/drawingml/2006/main">
              <a:ext uri="{FF2B5EF4-FFF2-40B4-BE49-F238E27FC236}">
                <a16:creationId xmlns:a16="http://schemas.microsoft.com/office/drawing/2014/main" id="{235A28F8-B02D-4171-8A9F-FD1BF864B16F}"/>
              </a:ext>
            </a:extLst>
          </p:cNvPr>
          <p:cNvSpPr>
            <a:spLocks xmlns:a="http://schemas.openxmlformats.org/drawingml/2006/main" noGrp="1"/>
          </p:cNvSpPr>
          <p:nvPr/>
        </p:nvSpPr>
        <p:spPr>
          <a:xfrm xmlns:a="http://schemas.openxmlformats.org/drawingml/2006/main">
            <a:off x="457200" y="4400550"/>
            <a:ext cx="78105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The notified instrument, the scale of the field, and the line that divides it.</a:t>
            </a:r>
          </a:p>
        </p:txBody>
      </p:sp>
      <p:sp>
        <p:nvSpPr>
          <p:cNvPr id="10" name="">
            <a:extLst xmlns:a="http://schemas.openxmlformats.org/drawingml/2006/main">
              <a:ext uri="{FF2B5EF4-FFF2-40B4-BE49-F238E27FC236}">
                <a16:creationId xmlns:a16="http://schemas.microsoft.com/office/drawing/2014/main" id="{D075774A-1CB9-405E-8823-FDEBC6F99577}"/>
              </a:ext>
            </a:extLst>
          </p:cNvPr>
          <p:cNvSpPr>
            <a:spLocks xmlns:a="http://schemas.openxmlformats.org/drawingml/2006/main" noGrp="1"/>
          </p:cNvSpPr>
          <p:nvPr/>
        </p:nvSpPr>
        <p:spPr>
          <a:xfrm xmlns:a="http://schemas.openxmlformats.org/drawingml/2006/main">
            <a:off x="9410700" y="2495550"/>
            <a:ext cx="1905000" cy="704850"/>
          </a:xfrm>
          <a:prstGeom xmlns:a="http://schemas.openxmlformats.org/drawingml/2006/main" prst="rect">
            <a:avLst/>
          </a:prstGeom>
        </p:spPr>
        <p:txBody>
          <a:bodyPr xmlns:a="http://schemas.openxmlformats.org/drawingml/2006/main" lIns="0" tIns="0" rIns="0" bIns="0" anchor="t">
            <a:normAutofit fontScale="99462"/>
          </a:bodyPr>
          <a:lstStyle xmlns:a="http://schemas.openxmlformats.org/drawingml/2006/main"/>
          <a:p xmlns:a="http://schemas.openxmlformats.org/drawingml/2006/main">
            <a:pPr algn="l">
              <a:defRPr sz="4650" b="1">
                <a:solidFill>
                  <a:srgbClr val="E88A2C"/>
                </a:solidFill>
                <a:latin typeface="Georgia"/>
                <a:ea typeface="Georgia"/>
                <a:cs typeface="Georgia"/>
              </a:defRPr>
            </a:pPr>
            <a:r>
              <a:t>6</a:t>
            </a:r>
          </a:p>
        </p:txBody>
      </p:sp>
      <p:sp>
        <p:nvSpPr>
          <p:cNvPr id="11" name="">
            <a:extLst xmlns:a="http://schemas.openxmlformats.org/drawingml/2006/main">
              <a:ext uri="{FF2B5EF4-FFF2-40B4-BE49-F238E27FC236}">
                <a16:creationId xmlns:a16="http://schemas.microsoft.com/office/drawing/2014/main" id="{29214C0F-0475-465B-B911-3D89D06EBA8B}"/>
              </a:ext>
            </a:extLst>
          </p:cNvPr>
          <p:cNvSpPr>
            <a:spLocks xmlns:a="http://schemas.openxmlformats.org/drawingml/2006/main" noGrp="1"/>
          </p:cNvSpPr>
          <p:nvPr/>
        </p:nvSpPr>
        <p:spPr>
          <a:xfrm xmlns:a="http://schemas.openxmlformats.org/drawingml/2006/main">
            <a:off x="9410700" y="32385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PAGES</a:t>
            </a:r>
          </a:p>
        </p:txBody>
      </p:sp>
      <p:sp>
        <p:nvSpPr>
          <p:cNvPr id="12" name="">
            <a:extLst xmlns:a="http://schemas.openxmlformats.org/drawingml/2006/main">
              <a:ext uri="{FF2B5EF4-FFF2-40B4-BE49-F238E27FC236}">
                <a16:creationId xmlns:a16="http://schemas.microsoft.com/office/drawing/2014/main" id="{07D68F5C-45F9-46A2-92EB-CCBD225E38F9}"/>
              </a:ext>
            </a:extLst>
          </p:cNvPr>
          <p:cNvSpPr>
            <a:spLocks xmlns:a="http://schemas.openxmlformats.org/drawingml/2006/main" noGrp="1"/>
          </p:cNvSpPr>
          <p:nvPr/>
        </p:nvSpPr>
        <p:spPr>
          <a:xfrm xmlns:a="http://schemas.openxmlformats.org/drawingml/2006/main">
            <a:off x="9410700" y="34290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pp. 11–25</a:t>
            </a:r>
          </a:p>
        </p:txBody>
      </p:sp>
      <p:sp>
        <p:nvSpPr>
          <p:cNvPr id="13" name="">
            <a:extLst xmlns:a="http://schemas.openxmlformats.org/drawingml/2006/main">
              <a:ext uri="{FF2B5EF4-FFF2-40B4-BE49-F238E27FC236}">
                <a16:creationId xmlns:a16="http://schemas.microsoft.com/office/drawing/2014/main" id="{1724BF2D-4F60-49BD-BEBB-067E5C9BC14B}"/>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6BF63B1-5683-4337-B94D-3B4E74F7C22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15" name="">
            <a:extLst xmlns:a="http://schemas.openxmlformats.org/drawingml/2006/main">
              <a:ext uri="{FF2B5EF4-FFF2-40B4-BE49-F238E27FC236}">
                <a16:creationId xmlns:a16="http://schemas.microsoft.com/office/drawing/2014/main" id="{70A3160B-C656-41A3-93BF-2604D0BE2FC2}"/>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10</a:t>
            </a:r>
          </a:p>
        </p:txBody>
      </p:sp>
    </p:spTree>
    <p:extLst>
      <p:ext uri="{BB962C8B-B14F-4D97-AF65-F5344CB8AC3E}">
        <p14:creationId xmlns:p14="http://schemas.microsoft.com/office/powerpoint/2010/main" val="187242878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543D49DC-BA8F-4807-A25D-94EAE3D1135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0B5E047-18E3-4B4C-BC31-8CB8A96CBF2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7B64610-6F43-414C-8734-E852EC496154}"/>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COMPETITIVE STRATEGY · RELATIONSHIP PATTERNS</a:t>
            </a:r>
          </a:p>
        </p:txBody>
      </p:sp>
      <p:sp>
        <p:nvSpPr>
          <p:cNvPr id="4" name="">
            <a:extLst xmlns:a="http://schemas.openxmlformats.org/drawingml/2006/main">
              <a:ext uri="{FF2B5EF4-FFF2-40B4-BE49-F238E27FC236}">
                <a16:creationId xmlns:a16="http://schemas.microsoft.com/office/drawing/2014/main" id="{35596F44-9D70-4050-84C0-8B476D0E6B74}"/>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One of these nine is a competitor. The other eight are something else.</a:t>
            </a:r>
          </a:p>
        </p:txBody>
      </p:sp>
      <p:sp>
        <p:nvSpPr>
          <p:cNvPr id="5" name="">
            <a:extLst xmlns:a="http://schemas.openxmlformats.org/drawingml/2006/main">
              <a:ext uri="{FF2B5EF4-FFF2-40B4-BE49-F238E27FC236}">
                <a16:creationId xmlns:a16="http://schemas.microsoft.com/office/drawing/2014/main" id="{DD01AF9E-6BFA-479F-812D-61F0A2699DA3}"/>
              </a:ext>
            </a:extLst>
          </p:cNvPr>
          <p:cNvSpPr>
            <a:spLocks xmlns:a="http://schemas.openxmlformats.org/drawingml/2006/main" noGrp="1"/>
          </p:cNvSpPr>
          <p:nvPr/>
        </p:nvSpPr>
        <p:spPr>
          <a:xfrm xmlns:a="http://schemas.openxmlformats.org/drawingml/2006/main">
            <a:off x="457200" y="762000"/>
            <a:ext cx="11277600" cy="3143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Threat rating asks how dangerous a company is. It presumes the company is bidding for the same thing — and by the dossier's own obstruction scores, six of nine are not. Pattern first, rating second.</a:t>
            </a:r>
          </a:p>
        </p:txBody>
      </p:sp>
      <p:sp>
        <p:nvSpPr>
          <p:cNvPr id="6" name="">
            <a:extLst xmlns:a="http://schemas.openxmlformats.org/drawingml/2006/main">
              <a:ext uri="{FF2B5EF4-FFF2-40B4-BE49-F238E27FC236}">
                <a16:creationId xmlns:a16="http://schemas.microsoft.com/office/drawing/2014/main" id="{886B870C-3B10-4863-82AE-56F8D8D76B0A}"/>
              </a:ext>
            </a:extLst>
          </p:cNvPr>
          <p:cNvSpPr>
            <a:spLocks xmlns:a="http://schemas.openxmlformats.org/drawingml/2006/main" noGrp="1"/>
          </p:cNvSpPr>
          <p:nvPr/>
        </p:nvSpPr>
        <p:spPr>
          <a:xfrm xmlns:a="http://schemas.openxmlformats.org/drawingml/2006/main">
            <a:off x="457200" y="11334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240CC6E-F5B6-4E5F-9791-303CB4F7EC0B}"/>
              </a:ext>
            </a:extLst>
          </p:cNvPr>
          <p:cNvSpPr>
            <a:spLocks xmlns:a="http://schemas.openxmlformats.org/drawingml/2006/main" noGrp="1"/>
          </p:cNvSpPr>
          <p:nvPr/>
        </p:nvSpPr>
        <p:spPr>
          <a:xfrm xmlns:a="http://schemas.openxmlformats.org/drawingml/2006/main">
            <a:off x="457200" y="1247775"/>
            <a:ext cx="1714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PATTERN</a:t>
            </a:r>
          </a:p>
        </p:txBody>
      </p:sp>
      <p:sp>
        <p:nvSpPr>
          <p:cNvPr id="8" name="">
            <a:extLst xmlns:a="http://schemas.openxmlformats.org/drawingml/2006/main">
              <a:ext uri="{FF2B5EF4-FFF2-40B4-BE49-F238E27FC236}">
                <a16:creationId xmlns:a16="http://schemas.microsoft.com/office/drawing/2014/main" id="{966494FD-AE97-4A05-B8B2-57D4767B4C9C}"/>
              </a:ext>
            </a:extLst>
          </p:cNvPr>
          <p:cNvSpPr>
            <a:spLocks xmlns:a="http://schemas.openxmlformats.org/drawingml/2006/main" noGrp="1"/>
          </p:cNvSpPr>
          <p:nvPr/>
        </p:nvSpPr>
        <p:spPr>
          <a:xfrm xmlns:a="http://schemas.openxmlformats.org/drawingml/2006/main">
            <a:off x="2247900" y="1247775"/>
            <a:ext cx="2781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WHAT IT MEANS</a:t>
            </a:r>
          </a:p>
        </p:txBody>
      </p:sp>
      <p:sp>
        <p:nvSpPr>
          <p:cNvPr id="9" name="">
            <a:extLst xmlns:a="http://schemas.openxmlformats.org/drawingml/2006/main">
              <a:ext uri="{FF2B5EF4-FFF2-40B4-BE49-F238E27FC236}">
                <a16:creationId xmlns:a16="http://schemas.microsoft.com/office/drawing/2014/main" id="{B1EED3C7-F6FF-4C25-BD0C-874F4C5EB7F8}"/>
              </a:ext>
            </a:extLst>
          </p:cNvPr>
          <p:cNvSpPr>
            <a:spLocks xmlns:a="http://schemas.openxmlformats.org/drawingml/2006/main" noGrp="1"/>
          </p:cNvSpPr>
          <p:nvPr/>
        </p:nvSpPr>
        <p:spPr>
          <a:xfrm xmlns:a="http://schemas.openxmlformats.org/drawingml/2006/main">
            <a:off x="5105400" y="1247775"/>
            <a:ext cx="17907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WHO</a:t>
            </a:r>
          </a:p>
        </p:txBody>
      </p:sp>
      <p:sp>
        <p:nvSpPr>
          <p:cNvPr id="10" name="">
            <a:extLst xmlns:a="http://schemas.openxmlformats.org/drawingml/2006/main">
              <a:ext uri="{FF2B5EF4-FFF2-40B4-BE49-F238E27FC236}">
                <a16:creationId xmlns:a16="http://schemas.microsoft.com/office/drawing/2014/main" id="{F6F27DC2-5CC2-457C-95DF-D5BB196FFB30}"/>
              </a:ext>
            </a:extLst>
          </p:cNvPr>
          <p:cNvSpPr>
            <a:spLocks xmlns:a="http://schemas.openxmlformats.org/drawingml/2006/main" noGrp="1"/>
          </p:cNvSpPr>
          <p:nvPr/>
        </p:nvSpPr>
        <p:spPr>
          <a:xfrm xmlns:a="http://schemas.openxmlformats.org/drawingml/2006/main">
            <a:off x="6972300" y="1247775"/>
            <a:ext cx="6286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BLOCKER</a:t>
            </a:r>
          </a:p>
        </p:txBody>
      </p:sp>
      <p:sp>
        <p:nvSpPr>
          <p:cNvPr id="11" name="">
            <a:extLst xmlns:a="http://schemas.openxmlformats.org/drawingml/2006/main">
              <a:ext uri="{FF2B5EF4-FFF2-40B4-BE49-F238E27FC236}">
                <a16:creationId xmlns:a16="http://schemas.microsoft.com/office/drawing/2014/main" id="{BD9F47AD-0DAB-4F9E-B709-2BBE407E1847}"/>
              </a:ext>
            </a:extLst>
          </p:cNvPr>
          <p:cNvSpPr>
            <a:spLocks xmlns:a="http://schemas.openxmlformats.org/drawingml/2006/main" noGrp="1"/>
          </p:cNvSpPr>
          <p:nvPr/>
        </p:nvSpPr>
        <p:spPr>
          <a:xfrm xmlns:a="http://schemas.openxmlformats.org/drawingml/2006/main">
            <a:off x="7677150" y="1247775"/>
            <a:ext cx="2781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THE VERB IT IMPLIES</a:t>
            </a:r>
          </a:p>
        </p:txBody>
      </p:sp>
      <p:sp>
        <p:nvSpPr>
          <p:cNvPr id="12" name="">
            <a:extLst xmlns:a="http://schemas.openxmlformats.org/drawingml/2006/main">
              <a:ext uri="{FF2B5EF4-FFF2-40B4-BE49-F238E27FC236}">
                <a16:creationId xmlns:a16="http://schemas.microsoft.com/office/drawing/2014/main" id="{C60E0B8A-271E-43C8-BAF8-109BD3461D59}"/>
              </a:ext>
            </a:extLst>
          </p:cNvPr>
          <p:cNvSpPr>
            <a:spLocks xmlns:a="http://schemas.openxmlformats.org/drawingml/2006/main" noGrp="1"/>
          </p:cNvSpPr>
          <p:nvPr/>
        </p:nvSpPr>
        <p:spPr>
          <a:xfrm xmlns:a="http://schemas.openxmlformats.org/drawingml/2006/main">
            <a:off x="10534650" y="1247775"/>
            <a:ext cx="11239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FRAME</a:t>
            </a:r>
          </a:p>
        </p:txBody>
      </p:sp>
      <p:sp>
        <p:nvSpPr>
          <p:cNvPr id="13" name="">
            <a:extLst xmlns:a="http://schemas.openxmlformats.org/drawingml/2006/main">
              <a:ext uri="{FF2B5EF4-FFF2-40B4-BE49-F238E27FC236}">
                <a16:creationId xmlns:a16="http://schemas.microsoft.com/office/drawing/2014/main" id="{C005EEF0-0F0D-4787-9C33-B2E7E6338265}"/>
              </a:ext>
            </a:extLst>
          </p:cNvPr>
          <p:cNvSpPr>
            <a:spLocks xmlns:a="http://schemas.openxmlformats.org/drawingml/2006/main" noGrp="1"/>
          </p:cNvSpPr>
          <p:nvPr/>
        </p:nvSpPr>
        <p:spPr>
          <a:xfrm xmlns:a="http://schemas.openxmlformats.org/drawingml/2006/main">
            <a:off x="457200" y="1419225"/>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4B725EE-A5A4-4F53-A125-E698D967A2A6}"/>
              </a:ext>
            </a:extLst>
          </p:cNvPr>
          <p:cNvSpPr>
            <a:spLocks xmlns:a="http://schemas.openxmlformats.org/drawingml/2006/main" noGrp="1"/>
          </p:cNvSpPr>
          <p:nvPr/>
        </p:nvSpPr>
        <p:spPr>
          <a:xfrm xmlns:a="http://schemas.openxmlformats.org/drawingml/2006/main">
            <a:off x="457200" y="1495425"/>
            <a:ext cx="28575" cy="4381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1412A1E-65D8-418A-85BC-401C782333E3}"/>
              </a:ext>
            </a:extLst>
          </p:cNvPr>
          <p:cNvSpPr>
            <a:spLocks xmlns:a="http://schemas.openxmlformats.org/drawingml/2006/main" noGrp="1"/>
          </p:cNvSpPr>
          <p:nvPr/>
        </p:nvSpPr>
        <p:spPr>
          <a:xfrm xmlns:a="http://schemas.openxmlformats.org/drawingml/2006/main">
            <a:off x="571500" y="1495425"/>
            <a:ext cx="15811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SUBSTITUTE</a:t>
            </a:r>
          </a:p>
        </p:txBody>
      </p:sp>
      <p:sp>
        <p:nvSpPr>
          <p:cNvPr id="16" name="">
            <a:extLst xmlns:a="http://schemas.openxmlformats.org/drawingml/2006/main">
              <a:ext uri="{FF2B5EF4-FFF2-40B4-BE49-F238E27FC236}">
                <a16:creationId xmlns:a16="http://schemas.microsoft.com/office/drawing/2014/main" id="{CDF778F9-C59A-4D33-925F-91462B6CFD76}"/>
              </a:ext>
            </a:extLst>
          </p:cNvPr>
          <p:cNvSpPr>
            <a:spLocks xmlns:a="http://schemas.openxmlformats.org/drawingml/2006/main" noGrp="1"/>
          </p:cNvSpPr>
          <p:nvPr/>
        </p:nvSpPr>
        <p:spPr>
          <a:xfrm xmlns:a="http://schemas.openxmlformats.org/drawingml/2006/main">
            <a:off x="571500" y="1781175"/>
            <a:ext cx="15811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EV-SV-01, EV-SV-03, EV-SV-05</a:t>
            </a:r>
          </a:p>
        </p:txBody>
      </p:sp>
      <p:sp>
        <p:nvSpPr>
          <p:cNvPr id="17" name="">
            <a:extLst xmlns:a="http://schemas.openxmlformats.org/drawingml/2006/main">
              <a:ext uri="{FF2B5EF4-FFF2-40B4-BE49-F238E27FC236}">
                <a16:creationId xmlns:a16="http://schemas.microsoft.com/office/drawing/2014/main" id="{09C459F2-4B4A-44F3-ABFF-8A8BECE86C85}"/>
              </a:ext>
            </a:extLst>
          </p:cNvPr>
          <p:cNvSpPr>
            <a:spLocks xmlns:a="http://schemas.openxmlformats.org/drawingml/2006/main" noGrp="1"/>
          </p:cNvSpPr>
          <p:nvPr/>
        </p:nvSpPr>
        <p:spPr>
          <a:xfrm xmlns:a="http://schemas.openxmlformats.org/drawingml/2006/main">
            <a:off x="2247900" y="1495425"/>
            <a:ext cx="27241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Sells the same thing to the same buyer for the same job. Interchangeable at the point of decision.</a:t>
            </a:r>
          </a:p>
        </p:txBody>
      </p:sp>
      <p:sp>
        <p:nvSpPr>
          <p:cNvPr id="18" name="">
            <a:extLst xmlns:a="http://schemas.openxmlformats.org/drawingml/2006/main">
              <a:ext uri="{FF2B5EF4-FFF2-40B4-BE49-F238E27FC236}">
                <a16:creationId xmlns:a16="http://schemas.microsoft.com/office/drawing/2014/main" id="{C03FA414-975D-4288-90E1-BA82C54293E1}"/>
              </a:ext>
            </a:extLst>
          </p:cNvPr>
          <p:cNvSpPr>
            <a:spLocks xmlns:a="http://schemas.openxmlformats.org/drawingml/2006/main" noGrp="1"/>
          </p:cNvSpPr>
          <p:nvPr/>
        </p:nvSpPr>
        <p:spPr>
          <a:xfrm xmlns:a="http://schemas.openxmlformats.org/drawingml/2006/main">
            <a:off x="5105400" y="1495425"/>
            <a:ext cx="17526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b="1">
                <a:solidFill>
                  <a:srgbClr val="FFFFFF"/>
                </a:solidFill>
                <a:latin typeface="Arial"/>
                <a:ea typeface="Arial"/>
                <a:cs typeface="Arial"/>
              </a:defRPr>
            </a:pPr>
            <a:r>
              <a:t>STRADVISION</a:t>
            </a:r>
          </a:p>
        </p:txBody>
      </p:sp>
      <p:sp>
        <p:nvSpPr>
          <p:cNvPr id="19" name="">
            <a:extLst xmlns:a="http://schemas.openxmlformats.org/drawingml/2006/main">
              <a:ext uri="{FF2B5EF4-FFF2-40B4-BE49-F238E27FC236}">
                <a16:creationId xmlns:a16="http://schemas.microsoft.com/office/drawing/2014/main" id="{6EECF13A-50F7-4082-BFE4-74C6DF6AE2AD}"/>
              </a:ext>
            </a:extLst>
          </p:cNvPr>
          <p:cNvSpPr>
            <a:spLocks xmlns:a="http://schemas.openxmlformats.org/drawingml/2006/main" noGrp="1"/>
          </p:cNvSpPr>
          <p:nvPr/>
        </p:nvSpPr>
        <p:spPr>
          <a:xfrm xmlns:a="http://schemas.openxmlformats.org/drawingml/2006/main">
            <a:off x="6972300" y="1495425"/>
            <a:ext cx="609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5/5</a:t>
            </a:r>
          </a:p>
        </p:txBody>
      </p:sp>
      <p:sp>
        <p:nvSpPr>
          <p:cNvPr id="20" name="">
            <a:extLst xmlns:a="http://schemas.openxmlformats.org/drawingml/2006/main">
              <a:ext uri="{FF2B5EF4-FFF2-40B4-BE49-F238E27FC236}">
                <a16:creationId xmlns:a16="http://schemas.microsoft.com/office/drawing/2014/main" id="{BBC11CC8-AFC6-40D0-824A-182E9965AA37}"/>
              </a:ext>
            </a:extLst>
          </p:cNvPr>
          <p:cNvSpPr>
            <a:spLocks xmlns:a="http://schemas.openxmlformats.org/drawingml/2006/main" noGrp="1"/>
          </p:cNvSpPr>
          <p:nvPr/>
        </p:nvSpPr>
        <p:spPr>
          <a:xfrm xmlns:a="http://schemas.openxmlformats.org/drawingml/2006/main">
            <a:off x="7677150" y="1495425"/>
            <a:ext cx="27241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FFFFFF"/>
                </a:solidFill>
                <a:latin typeface="Arial"/>
                <a:ea typeface="Arial"/>
                <a:cs typeface="Arial"/>
              </a:defRPr>
            </a:pPr>
            <a:r>
              <a:t>Displace or differentiate. This is the only company where 'win the deal' is the right verb.</a:t>
            </a:r>
          </a:p>
        </p:txBody>
      </p:sp>
      <p:sp>
        <p:nvSpPr>
          <p:cNvPr id="21" name="">
            <a:extLst xmlns:a="http://schemas.openxmlformats.org/drawingml/2006/main">
              <a:ext uri="{FF2B5EF4-FFF2-40B4-BE49-F238E27FC236}">
                <a16:creationId xmlns:a16="http://schemas.microsoft.com/office/drawing/2014/main" id="{4653FBB3-3C01-49F8-9AFE-AB7B6C426EC0}"/>
              </a:ext>
            </a:extLst>
          </p:cNvPr>
          <p:cNvSpPr>
            <a:spLocks xmlns:a="http://schemas.openxmlformats.org/drawingml/2006/main" noGrp="1"/>
          </p:cNvSpPr>
          <p:nvPr/>
        </p:nvSpPr>
        <p:spPr>
          <a:xfrm xmlns:a="http://schemas.openxmlformats.org/drawingml/2006/main">
            <a:off x="10534650" y="1495425"/>
            <a:ext cx="11239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Porter — rivalry</a:t>
            </a:r>
          </a:p>
        </p:txBody>
      </p:sp>
      <p:sp>
        <p:nvSpPr>
          <p:cNvPr id="22" name="">
            <a:extLst xmlns:a="http://schemas.openxmlformats.org/drawingml/2006/main">
              <a:ext uri="{FF2B5EF4-FFF2-40B4-BE49-F238E27FC236}">
                <a16:creationId xmlns:a16="http://schemas.microsoft.com/office/drawing/2014/main" id="{8E11C222-03A6-41E0-9908-E5FE88AF6B8D}"/>
              </a:ext>
            </a:extLst>
          </p:cNvPr>
          <p:cNvSpPr>
            <a:spLocks xmlns:a="http://schemas.openxmlformats.org/drawingml/2006/main" noGrp="1"/>
          </p:cNvSpPr>
          <p:nvPr/>
        </p:nvSpPr>
        <p:spPr>
          <a:xfrm xmlns:a="http://schemas.openxmlformats.org/drawingml/2006/main">
            <a:off x="457200" y="1990725"/>
            <a:ext cx="28575" cy="4381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56ED1CE-2854-491A-BE47-8AA6057B474C}"/>
              </a:ext>
            </a:extLst>
          </p:cNvPr>
          <p:cNvSpPr>
            <a:spLocks xmlns:a="http://schemas.openxmlformats.org/drawingml/2006/main" noGrp="1"/>
          </p:cNvSpPr>
          <p:nvPr/>
        </p:nvSpPr>
        <p:spPr>
          <a:xfrm xmlns:a="http://schemas.openxmlformats.org/drawingml/2006/main">
            <a:off x="571500" y="1990725"/>
            <a:ext cx="15811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GATEKEEPER</a:t>
            </a:r>
          </a:p>
        </p:txBody>
      </p:sp>
      <p:sp>
        <p:nvSpPr>
          <p:cNvPr id="24" name="">
            <a:extLst xmlns:a="http://schemas.openxmlformats.org/drawingml/2006/main">
              <a:ext uri="{FF2B5EF4-FFF2-40B4-BE49-F238E27FC236}">
                <a16:creationId xmlns:a16="http://schemas.microsoft.com/office/drawing/2014/main" id="{C8BA0815-065E-4B66-8FDE-B872D3A6A687}"/>
              </a:ext>
            </a:extLst>
          </p:cNvPr>
          <p:cNvSpPr>
            <a:spLocks xmlns:a="http://schemas.openxmlformats.org/drawingml/2006/main" noGrp="1"/>
          </p:cNvSpPr>
          <p:nvPr/>
        </p:nvSpPr>
        <p:spPr>
          <a:xfrm xmlns:a="http://schemas.openxmlformats.org/drawingml/2006/main">
            <a:off x="571500" y="2276475"/>
            <a:ext cx="15811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EV-APT-01, EV-APT-02</a:t>
            </a:r>
          </a:p>
        </p:txBody>
      </p:sp>
      <p:sp>
        <p:nvSpPr>
          <p:cNvPr id="25" name="">
            <a:extLst xmlns:a="http://schemas.openxmlformats.org/drawingml/2006/main">
              <a:ext uri="{FF2B5EF4-FFF2-40B4-BE49-F238E27FC236}">
                <a16:creationId xmlns:a16="http://schemas.microsoft.com/office/drawing/2014/main" id="{5B0ABBE1-90D3-49BB-9E46-EF33AF185BF2}"/>
              </a:ext>
            </a:extLst>
          </p:cNvPr>
          <p:cNvSpPr>
            <a:spLocks xmlns:a="http://schemas.openxmlformats.org/drawingml/2006/main" noGrp="1"/>
          </p:cNvSpPr>
          <p:nvPr/>
        </p:nvSpPr>
        <p:spPr>
          <a:xfrm xmlns:a="http://schemas.openxmlformats.org/drawingml/2006/main">
            <a:off x="2247900" y="1990725"/>
            <a:ext cx="27241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Does not sell what you sell. Decides who gets to.</a:t>
            </a:r>
          </a:p>
        </p:txBody>
      </p:sp>
      <p:sp>
        <p:nvSpPr>
          <p:cNvPr id="26" name="">
            <a:extLst xmlns:a="http://schemas.openxmlformats.org/drawingml/2006/main">
              <a:ext uri="{FF2B5EF4-FFF2-40B4-BE49-F238E27FC236}">
                <a16:creationId xmlns:a16="http://schemas.microsoft.com/office/drawing/2014/main" id="{B873463B-514B-4DAF-95E5-59A7989AECF7}"/>
              </a:ext>
            </a:extLst>
          </p:cNvPr>
          <p:cNvSpPr>
            <a:spLocks xmlns:a="http://schemas.openxmlformats.org/drawingml/2006/main" noGrp="1"/>
          </p:cNvSpPr>
          <p:nvPr/>
        </p:nvSpPr>
        <p:spPr>
          <a:xfrm xmlns:a="http://schemas.openxmlformats.org/drawingml/2006/main">
            <a:off x="5105400" y="1990725"/>
            <a:ext cx="17526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b="1">
                <a:solidFill>
                  <a:srgbClr val="FFFFFF"/>
                </a:solidFill>
                <a:latin typeface="Arial"/>
                <a:ea typeface="Arial"/>
                <a:cs typeface="Arial"/>
              </a:defRPr>
            </a:pPr>
            <a:r>
              <a:t>Aptiv</a:t>
            </a:r>
          </a:p>
        </p:txBody>
      </p:sp>
      <p:sp>
        <p:nvSpPr>
          <p:cNvPr id="27" name="">
            <a:extLst xmlns:a="http://schemas.openxmlformats.org/drawingml/2006/main">
              <a:ext uri="{FF2B5EF4-FFF2-40B4-BE49-F238E27FC236}">
                <a16:creationId xmlns:a16="http://schemas.microsoft.com/office/drawing/2014/main" id="{F4D873AD-B7E2-4184-B37B-C8EB65297BF2}"/>
              </a:ext>
            </a:extLst>
          </p:cNvPr>
          <p:cNvSpPr>
            <a:spLocks xmlns:a="http://schemas.openxmlformats.org/drawingml/2006/main" noGrp="1"/>
          </p:cNvSpPr>
          <p:nvPr/>
        </p:nvSpPr>
        <p:spPr>
          <a:xfrm xmlns:a="http://schemas.openxmlformats.org/drawingml/2006/main">
            <a:off x="6972300" y="1990725"/>
            <a:ext cx="609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4/5</a:t>
            </a:r>
          </a:p>
        </p:txBody>
      </p:sp>
      <p:sp>
        <p:nvSpPr>
          <p:cNvPr id="28" name="">
            <a:extLst xmlns:a="http://schemas.openxmlformats.org/drawingml/2006/main">
              <a:ext uri="{FF2B5EF4-FFF2-40B4-BE49-F238E27FC236}">
                <a16:creationId xmlns:a16="http://schemas.microsoft.com/office/drawing/2014/main" id="{4F83C78A-0B09-406A-8BA6-BDD57FF0437C}"/>
              </a:ext>
            </a:extLst>
          </p:cNvPr>
          <p:cNvSpPr>
            <a:spLocks xmlns:a="http://schemas.openxmlformats.org/drawingml/2006/main" noGrp="1"/>
          </p:cNvSpPr>
          <p:nvPr/>
        </p:nvSpPr>
        <p:spPr>
          <a:xfrm xmlns:a="http://schemas.openxmlformats.org/drawingml/2006/main">
            <a:off x="7677150" y="1990725"/>
            <a:ext cx="27241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FFFFFF"/>
                </a:solidFill>
                <a:latin typeface="Arial"/>
                <a:ea typeface="Arial"/>
                <a:cs typeface="Arial"/>
              </a:defRPr>
            </a:pPr>
            <a:r>
              <a:t>Sell TO, not against. The buying decision you must win is its vendor-selection, not an end customer's.</a:t>
            </a:r>
          </a:p>
        </p:txBody>
      </p:sp>
      <p:sp>
        <p:nvSpPr>
          <p:cNvPr id="29" name="">
            <a:extLst xmlns:a="http://schemas.openxmlformats.org/drawingml/2006/main">
              <a:ext uri="{FF2B5EF4-FFF2-40B4-BE49-F238E27FC236}">
                <a16:creationId xmlns:a16="http://schemas.microsoft.com/office/drawing/2014/main" id="{F0CBE1E4-8367-4D7E-94D0-CB5014AF1038}"/>
              </a:ext>
            </a:extLst>
          </p:cNvPr>
          <p:cNvSpPr>
            <a:spLocks xmlns:a="http://schemas.openxmlformats.org/drawingml/2006/main" noGrp="1"/>
          </p:cNvSpPr>
          <p:nvPr/>
        </p:nvSpPr>
        <p:spPr>
          <a:xfrm xmlns:a="http://schemas.openxmlformats.org/drawingml/2006/main">
            <a:off x="10534650" y="1990725"/>
            <a:ext cx="11239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Value Net — customer</a:t>
            </a:r>
          </a:p>
        </p:txBody>
      </p:sp>
      <p:sp>
        <p:nvSpPr>
          <p:cNvPr id="30" name="">
            <a:extLst xmlns:a="http://schemas.openxmlformats.org/drawingml/2006/main">
              <a:ext uri="{FF2B5EF4-FFF2-40B4-BE49-F238E27FC236}">
                <a16:creationId xmlns:a16="http://schemas.microsoft.com/office/drawing/2014/main" id="{FE8B0146-B81C-4D97-A818-9DB18B3CEC84}"/>
              </a:ext>
            </a:extLst>
          </p:cNvPr>
          <p:cNvSpPr>
            <a:spLocks xmlns:a="http://schemas.openxmlformats.org/drawingml/2006/main" noGrp="1"/>
          </p:cNvSpPr>
          <p:nvPr/>
        </p:nvSpPr>
        <p:spPr>
          <a:xfrm xmlns:a="http://schemas.openxmlformats.org/drawingml/2006/main">
            <a:off x="457200" y="2486025"/>
            <a:ext cx="28575" cy="43815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29D0DBF-61DF-4DBF-A9B6-AD022D1CF87C}"/>
              </a:ext>
            </a:extLst>
          </p:cNvPr>
          <p:cNvSpPr>
            <a:spLocks xmlns:a="http://schemas.openxmlformats.org/drawingml/2006/main" noGrp="1"/>
          </p:cNvSpPr>
          <p:nvPr/>
        </p:nvSpPr>
        <p:spPr>
          <a:xfrm xmlns:a="http://schemas.openxmlformats.org/drawingml/2006/main">
            <a:off x="571500" y="2486025"/>
            <a:ext cx="15811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CHANNEL / COOPETITOR</a:t>
            </a:r>
          </a:p>
        </p:txBody>
      </p:sp>
      <p:sp>
        <p:nvSpPr>
          <p:cNvPr id="32" name="">
            <a:extLst xmlns:a="http://schemas.openxmlformats.org/drawingml/2006/main">
              <a:ext uri="{FF2B5EF4-FFF2-40B4-BE49-F238E27FC236}">
                <a16:creationId xmlns:a16="http://schemas.microsoft.com/office/drawing/2014/main" id="{14E68326-E819-4CDA-980B-78D824ABE3FE}"/>
              </a:ext>
            </a:extLst>
          </p:cNvPr>
          <p:cNvSpPr>
            <a:spLocks xmlns:a="http://schemas.openxmlformats.org/drawingml/2006/main" noGrp="1"/>
          </p:cNvSpPr>
          <p:nvPr/>
        </p:nvSpPr>
        <p:spPr>
          <a:xfrm xmlns:a="http://schemas.openxmlformats.org/drawingml/2006/main">
            <a:off x="571500" y="2771775"/>
            <a:ext cx="15811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EV-ZF-01, EV-STL-01</a:t>
            </a:r>
          </a:p>
        </p:txBody>
      </p:sp>
      <p:sp>
        <p:nvSpPr>
          <p:cNvPr id="33" name="">
            <a:extLst xmlns:a="http://schemas.openxmlformats.org/drawingml/2006/main">
              <a:ext uri="{FF2B5EF4-FFF2-40B4-BE49-F238E27FC236}">
                <a16:creationId xmlns:a16="http://schemas.microsoft.com/office/drawing/2014/main" id="{1D2E61F4-DCFB-47E5-8BA3-0B2F8546E8CC}"/>
              </a:ext>
            </a:extLst>
          </p:cNvPr>
          <p:cNvSpPr>
            <a:spLocks xmlns:a="http://schemas.openxmlformats.org/drawingml/2006/main" noGrp="1"/>
          </p:cNvSpPr>
          <p:nvPr/>
        </p:nvSpPr>
        <p:spPr>
          <a:xfrm xmlns:a="http://schemas.openxmlformats.org/drawingml/2006/main">
            <a:off x="2247900" y="2486025"/>
            <a:ext cx="27241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Owns a control point you must pass through, and is simultaneously your route to market.</a:t>
            </a:r>
          </a:p>
        </p:txBody>
      </p:sp>
      <p:sp>
        <p:nvSpPr>
          <p:cNvPr id="34" name="">
            <a:extLst xmlns:a="http://schemas.openxmlformats.org/drawingml/2006/main">
              <a:ext uri="{FF2B5EF4-FFF2-40B4-BE49-F238E27FC236}">
                <a16:creationId xmlns:a16="http://schemas.microsoft.com/office/drawing/2014/main" id="{3699E7F8-E047-4CC0-A27B-8885B82DE3B9}"/>
              </a:ext>
            </a:extLst>
          </p:cNvPr>
          <p:cNvSpPr>
            <a:spLocks xmlns:a="http://schemas.openxmlformats.org/drawingml/2006/main" noGrp="1"/>
          </p:cNvSpPr>
          <p:nvPr/>
        </p:nvSpPr>
        <p:spPr>
          <a:xfrm xmlns:a="http://schemas.openxmlformats.org/drawingml/2006/main">
            <a:off x="5105400" y="2486025"/>
            <a:ext cx="17526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b="1">
                <a:solidFill>
                  <a:srgbClr val="FFFFFF"/>
                </a:solidFill>
                <a:latin typeface="Arial"/>
                <a:ea typeface="Arial"/>
                <a:cs typeface="Arial"/>
              </a:defRPr>
            </a:pPr>
            <a:r>
              <a:t>ZF · Sterling × MINIEYE</a:t>
            </a:r>
          </a:p>
        </p:txBody>
      </p:sp>
      <p:sp>
        <p:nvSpPr>
          <p:cNvPr id="35" name="">
            <a:extLst xmlns:a="http://schemas.openxmlformats.org/drawingml/2006/main">
              <a:ext uri="{FF2B5EF4-FFF2-40B4-BE49-F238E27FC236}">
                <a16:creationId xmlns:a16="http://schemas.microsoft.com/office/drawing/2014/main" id="{9CAA745B-7CEB-4046-AE9E-F29C5A35A93C}"/>
              </a:ext>
            </a:extLst>
          </p:cNvPr>
          <p:cNvSpPr>
            <a:spLocks xmlns:a="http://schemas.openxmlformats.org/drawingml/2006/main" noGrp="1"/>
          </p:cNvSpPr>
          <p:nvPr/>
        </p:nvSpPr>
        <p:spPr>
          <a:xfrm xmlns:a="http://schemas.openxmlformats.org/drawingml/2006/main">
            <a:off x="6972300" y="2486025"/>
            <a:ext cx="609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3/5 · 1/5</a:t>
            </a:r>
          </a:p>
        </p:txBody>
      </p:sp>
      <p:sp>
        <p:nvSpPr>
          <p:cNvPr id="36" name="">
            <a:extLst xmlns:a="http://schemas.openxmlformats.org/drawingml/2006/main">
              <a:ext uri="{FF2B5EF4-FFF2-40B4-BE49-F238E27FC236}">
                <a16:creationId xmlns:a16="http://schemas.microsoft.com/office/drawing/2014/main" id="{AB938D5A-E781-4FEB-AFB7-73FE27E57B28}"/>
              </a:ext>
            </a:extLst>
          </p:cNvPr>
          <p:cNvSpPr>
            <a:spLocks xmlns:a="http://schemas.openxmlformats.org/drawingml/2006/main" noGrp="1"/>
          </p:cNvSpPr>
          <p:nvPr/>
        </p:nvSpPr>
        <p:spPr>
          <a:xfrm xmlns:a="http://schemas.openxmlformats.org/drawingml/2006/main">
            <a:off x="7677150" y="2486025"/>
            <a:ext cx="27241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FFFFFF"/>
                </a:solidFill>
                <a:latin typeface="Arial"/>
                <a:ea typeface="Arial"/>
                <a:cs typeface="Arial"/>
              </a:defRPr>
            </a:pPr>
            <a:r>
              <a:t>Attach. Both are customers first and rivals only if they build the layer themselves.</a:t>
            </a:r>
          </a:p>
        </p:txBody>
      </p:sp>
      <p:sp>
        <p:nvSpPr>
          <p:cNvPr id="37" name="">
            <a:extLst xmlns:a="http://schemas.openxmlformats.org/drawingml/2006/main">
              <a:ext uri="{FF2B5EF4-FFF2-40B4-BE49-F238E27FC236}">
                <a16:creationId xmlns:a16="http://schemas.microsoft.com/office/drawing/2014/main" id="{8AC0DF8E-3C2F-41CA-9FF5-84CFF80894CF}"/>
              </a:ext>
            </a:extLst>
          </p:cNvPr>
          <p:cNvSpPr>
            <a:spLocks xmlns:a="http://schemas.openxmlformats.org/drawingml/2006/main" noGrp="1"/>
          </p:cNvSpPr>
          <p:nvPr/>
        </p:nvSpPr>
        <p:spPr>
          <a:xfrm xmlns:a="http://schemas.openxmlformats.org/drawingml/2006/main">
            <a:off x="10534650" y="2486025"/>
            <a:ext cx="11239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Brandenburger &amp; Nalebuff</a:t>
            </a:r>
          </a:p>
        </p:txBody>
      </p:sp>
      <p:sp>
        <p:nvSpPr>
          <p:cNvPr id="38" name="">
            <a:extLst xmlns:a="http://schemas.openxmlformats.org/drawingml/2006/main">
              <a:ext uri="{FF2B5EF4-FFF2-40B4-BE49-F238E27FC236}">
                <a16:creationId xmlns:a16="http://schemas.microsoft.com/office/drawing/2014/main" id="{B2F89584-BCA1-414D-A636-ED9C6D791B75}"/>
              </a:ext>
            </a:extLst>
          </p:cNvPr>
          <p:cNvSpPr>
            <a:spLocks xmlns:a="http://schemas.openxmlformats.org/drawingml/2006/main" noGrp="1"/>
          </p:cNvSpPr>
          <p:nvPr/>
        </p:nvSpPr>
        <p:spPr>
          <a:xfrm xmlns:a="http://schemas.openxmlformats.org/drawingml/2006/main">
            <a:off x="457200" y="2981325"/>
            <a:ext cx="28575" cy="4381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6F4A246E-B33B-4453-B148-A2F3673B9177}"/>
              </a:ext>
            </a:extLst>
          </p:cNvPr>
          <p:cNvSpPr>
            <a:spLocks xmlns:a="http://schemas.openxmlformats.org/drawingml/2006/main" noGrp="1"/>
          </p:cNvSpPr>
          <p:nvPr/>
        </p:nvSpPr>
        <p:spPr>
          <a:xfrm xmlns:a="http://schemas.openxmlformats.org/drawingml/2006/main">
            <a:off x="571500" y="2981325"/>
            <a:ext cx="15811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DIFFERENT JOB</a:t>
            </a:r>
          </a:p>
        </p:txBody>
      </p:sp>
      <p:sp>
        <p:nvSpPr>
          <p:cNvPr id="40" name="">
            <a:extLst xmlns:a="http://schemas.openxmlformats.org/drawingml/2006/main">
              <a:ext uri="{FF2B5EF4-FFF2-40B4-BE49-F238E27FC236}">
                <a16:creationId xmlns:a16="http://schemas.microsoft.com/office/drawing/2014/main" id="{229DA8CC-EF8B-4447-B99C-4159F1B0CD5D}"/>
              </a:ext>
            </a:extLst>
          </p:cNvPr>
          <p:cNvSpPr>
            <a:spLocks xmlns:a="http://schemas.openxmlformats.org/drawingml/2006/main" noGrp="1"/>
          </p:cNvSpPr>
          <p:nvPr/>
        </p:nvSpPr>
        <p:spPr>
          <a:xfrm xmlns:a="http://schemas.openxmlformats.org/drawingml/2006/main">
            <a:off x="571500" y="3267075"/>
            <a:ext cx="1581150" cy="190500"/>
          </a:xfrm>
          <a:prstGeom xmlns:a="http://schemas.openxmlformats.org/drawingml/2006/main" prst="rect">
            <a:avLst/>
          </a:prstGeom>
        </p:spPr>
        <p:txBody>
          <a:bodyPr xmlns:a="http://schemas.openxmlformats.org/drawingml/2006/main" lIns="0" tIns="0" rIns="0" bIns="0" anchor="t">
            <a:normAutofit fontScale="98433"/>
          </a:bodyPr>
          <a:lstStyle xmlns:a="http://schemas.openxmlformats.org/drawingml/2006/main"/>
          <a:p xmlns:a="http://schemas.openxmlformats.org/drawingml/2006/main">
            <a:pPr algn="l">
              <a:defRPr sz="800">
                <a:solidFill>
                  <a:srgbClr val="8EA0B2"/>
                </a:solidFill>
                <a:latin typeface="Arial"/>
                <a:ea typeface="Arial"/>
                <a:cs typeface="Arial"/>
              </a:defRPr>
            </a:pPr>
            <a:r>
              <a:t>EV-DBA-01, EV-STK-01, EV-BIT-02</a:t>
            </a:r>
          </a:p>
        </p:txBody>
      </p:sp>
      <p:sp>
        <p:nvSpPr>
          <p:cNvPr id="41" name="">
            <a:extLst xmlns:a="http://schemas.openxmlformats.org/drawingml/2006/main">
              <a:ext uri="{FF2B5EF4-FFF2-40B4-BE49-F238E27FC236}">
                <a16:creationId xmlns:a16="http://schemas.microsoft.com/office/drawing/2014/main" id="{3690FDD8-0891-4FE7-9DAD-62F328D404D5}"/>
              </a:ext>
            </a:extLst>
          </p:cNvPr>
          <p:cNvSpPr>
            <a:spLocks xmlns:a="http://schemas.openxmlformats.org/drawingml/2006/main" noGrp="1"/>
          </p:cNvSpPr>
          <p:nvPr/>
        </p:nvSpPr>
        <p:spPr>
          <a:xfrm xmlns:a="http://schemas.openxmlformats.org/drawingml/2006/main">
            <a:off x="2247900" y="2981325"/>
            <a:ext cx="27241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Same industry, different buyer, different budget, different clock. Never in the same bid.</a:t>
            </a:r>
          </a:p>
        </p:txBody>
      </p:sp>
      <p:sp>
        <p:nvSpPr>
          <p:cNvPr id="42" name="">
            <a:extLst xmlns:a="http://schemas.openxmlformats.org/drawingml/2006/main">
              <a:ext uri="{FF2B5EF4-FFF2-40B4-BE49-F238E27FC236}">
                <a16:creationId xmlns:a16="http://schemas.microsoft.com/office/drawing/2014/main" id="{831B551E-232F-44EB-AF9F-9A724E871A0E}"/>
              </a:ext>
            </a:extLst>
          </p:cNvPr>
          <p:cNvSpPr>
            <a:spLocks xmlns:a="http://schemas.openxmlformats.org/drawingml/2006/main" noGrp="1"/>
          </p:cNvSpPr>
          <p:nvPr/>
        </p:nvSpPr>
        <p:spPr>
          <a:xfrm xmlns:a="http://schemas.openxmlformats.org/drawingml/2006/main">
            <a:off x="5105400" y="2981325"/>
            <a:ext cx="17526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b="1">
                <a:solidFill>
                  <a:srgbClr val="FFFFFF"/>
                </a:solidFill>
                <a:latin typeface="Arial"/>
                <a:ea typeface="Arial"/>
                <a:cs typeface="Arial"/>
              </a:defRPr>
            </a:pPr>
            <a:r>
              <a:t>drivebuddyAI · Starkenn · bitsensing</a:t>
            </a:r>
          </a:p>
        </p:txBody>
      </p:sp>
      <p:sp>
        <p:nvSpPr>
          <p:cNvPr id="43" name="">
            <a:extLst xmlns:a="http://schemas.openxmlformats.org/drawingml/2006/main">
              <a:ext uri="{FF2B5EF4-FFF2-40B4-BE49-F238E27FC236}">
                <a16:creationId xmlns:a16="http://schemas.microsoft.com/office/drawing/2014/main" id="{FF6F9213-1BB2-42D0-88C5-5B8CE0510757}"/>
              </a:ext>
            </a:extLst>
          </p:cNvPr>
          <p:cNvSpPr>
            <a:spLocks xmlns:a="http://schemas.openxmlformats.org/drawingml/2006/main" noGrp="1"/>
          </p:cNvSpPr>
          <p:nvPr/>
        </p:nvSpPr>
        <p:spPr>
          <a:xfrm xmlns:a="http://schemas.openxmlformats.org/drawingml/2006/main">
            <a:off x="6972300" y="2981325"/>
            <a:ext cx="609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1/5 each</a:t>
            </a:r>
          </a:p>
        </p:txBody>
      </p:sp>
      <p:sp>
        <p:nvSpPr>
          <p:cNvPr id="44" name="">
            <a:extLst xmlns:a="http://schemas.openxmlformats.org/drawingml/2006/main">
              <a:ext uri="{FF2B5EF4-FFF2-40B4-BE49-F238E27FC236}">
                <a16:creationId xmlns:a16="http://schemas.microsoft.com/office/drawing/2014/main" id="{E7AFBEBD-EF3D-4F65-A2D8-CF9C01E7C930}"/>
              </a:ext>
            </a:extLst>
          </p:cNvPr>
          <p:cNvSpPr>
            <a:spLocks xmlns:a="http://schemas.openxmlformats.org/drawingml/2006/main" noGrp="1"/>
          </p:cNvSpPr>
          <p:nvPr/>
        </p:nvSpPr>
        <p:spPr>
          <a:xfrm xmlns:a="http://schemas.openxmlformats.org/drawingml/2006/main">
            <a:off x="7677150" y="2981325"/>
            <a:ext cx="27241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FFFFFF"/>
                </a:solidFill>
                <a:latin typeface="Arial"/>
                <a:ea typeface="Arial"/>
                <a:cs typeface="Arial"/>
              </a:defRPr>
            </a:pPr>
            <a:r>
              <a:t>Ignore for the mandate. Track only as evidence that retrofit demand is real.</a:t>
            </a:r>
          </a:p>
        </p:txBody>
      </p:sp>
      <p:sp>
        <p:nvSpPr>
          <p:cNvPr id="45" name="">
            <a:extLst xmlns:a="http://schemas.openxmlformats.org/drawingml/2006/main">
              <a:ext uri="{FF2B5EF4-FFF2-40B4-BE49-F238E27FC236}">
                <a16:creationId xmlns:a16="http://schemas.microsoft.com/office/drawing/2014/main" id="{E7739CA3-CE12-4F93-B319-73F0936F030B}"/>
              </a:ext>
            </a:extLst>
          </p:cNvPr>
          <p:cNvSpPr>
            <a:spLocks xmlns:a="http://schemas.openxmlformats.org/drawingml/2006/main" noGrp="1"/>
          </p:cNvSpPr>
          <p:nvPr/>
        </p:nvSpPr>
        <p:spPr>
          <a:xfrm xmlns:a="http://schemas.openxmlformats.org/drawingml/2006/main">
            <a:off x="10534650" y="2981325"/>
            <a:ext cx="11239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Christensen — jobs to be done</a:t>
            </a:r>
          </a:p>
        </p:txBody>
      </p:sp>
      <p:sp>
        <p:nvSpPr>
          <p:cNvPr id="46" name="">
            <a:extLst xmlns:a="http://schemas.openxmlformats.org/drawingml/2006/main">
              <a:ext uri="{FF2B5EF4-FFF2-40B4-BE49-F238E27FC236}">
                <a16:creationId xmlns:a16="http://schemas.microsoft.com/office/drawing/2014/main" id="{A40D396C-53D5-4AB0-AA08-6F09EE1FEC81}"/>
              </a:ext>
            </a:extLst>
          </p:cNvPr>
          <p:cNvSpPr>
            <a:spLocks xmlns:a="http://schemas.openxmlformats.org/drawingml/2006/main" noGrp="1"/>
          </p:cNvSpPr>
          <p:nvPr/>
        </p:nvSpPr>
        <p:spPr>
          <a:xfrm xmlns:a="http://schemas.openxmlformats.org/drawingml/2006/main">
            <a:off x="457200" y="3476625"/>
            <a:ext cx="28575" cy="466725"/>
          </a:xfrm>
          <a:prstGeom xmlns:a="http://schemas.openxmlformats.org/drawingml/2006/main" prst="rect">
            <a:avLst/>
          </a:prstGeom>
          <a:solidFill xmlns:a="http://schemas.openxmlformats.org/drawingml/2006/main">
            <a:srgbClr val="A99DF0"/>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93B61F98-F18A-417E-B98E-6E96475E52AB}"/>
              </a:ext>
            </a:extLst>
          </p:cNvPr>
          <p:cNvSpPr>
            <a:spLocks xmlns:a="http://schemas.openxmlformats.org/drawingml/2006/main" noGrp="1"/>
          </p:cNvSpPr>
          <p:nvPr/>
        </p:nvSpPr>
        <p:spPr>
          <a:xfrm xmlns:a="http://schemas.openxmlformats.org/drawingml/2006/main">
            <a:off x="571500" y="3476625"/>
            <a:ext cx="15811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99DF0"/>
                </a:solidFill>
                <a:latin typeface="Arial"/>
                <a:ea typeface="Arial"/>
                <a:cs typeface="Arial"/>
              </a:defRPr>
            </a:pPr>
            <a:r>
              <a:t>NARRATIVE RIVAL</a:t>
            </a:r>
          </a:p>
        </p:txBody>
      </p:sp>
      <p:sp>
        <p:nvSpPr>
          <p:cNvPr id="48" name="">
            <a:extLst xmlns:a="http://schemas.openxmlformats.org/drawingml/2006/main">
              <a:ext uri="{FF2B5EF4-FFF2-40B4-BE49-F238E27FC236}">
                <a16:creationId xmlns:a16="http://schemas.microsoft.com/office/drawing/2014/main" id="{53D18B8A-CDC5-4409-B130-3EFD101EA671}"/>
              </a:ext>
            </a:extLst>
          </p:cNvPr>
          <p:cNvSpPr>
            <a:spLocks xmlns:a="http://schemas.openxmlformats.org/drawingml/2006/main" noGrp="1"/>
          </p:cNvSpPr>
          <p:nvPr/>
        </p:nvSpPr>
        <p:spPr>
          <a:xfrm xmlns:a="http://schemas.openxmlformats.org/drawingml/2006/main">
            <a:off x="571500" y="3762375"/>
            <a:ext cx="15811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EV-GHN-07, EV-NTR-01</a:t>
            </a:r>
          </a:p>
        </p:txBody>
      </p:sp>
      <p:sp>
        <p:nvSpPr>
          <p:cNvPr id="49" name="">
            <a:extLst xmlns:a="http://schemas.openxmlformats.org/drawingml/2006/main">
              <a:ext uri="{FF2B5EF4-FFF2-40B4-BE49-F238E27FC236}">
                <a16:creationId xmlns:a16="http://schemas.microsoft.com/office/drawing/2014/main" id="{E5F1E4C4-C363-4FED-AA18-6B48DC0F421E}"/>
              </a:ext>
            </a:extLst>
          </p:cNvPr>
          <p:cNvSpPr>
            <a:spLocks xmlns:a="http://schemas.openxmlformats.org/drawingml/2006/main" noGrp="1"/>
          </p:cNvSpPr>
          <p:nvPr/>
        </p:nvSpPr>
        <p:spPr>
          <a:xfrm xmlns:a="http://schemas.openxmlformats.org/drawingml/2006/main">
            <a:off x="2247900" y="3476625"/>
            <a:ext cx="2724150" cy="4476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Competes for the same story, the same sympathy and the same government shortlist — not the same purchase order.</a:t>
            </a:r>
          </a:p>
        </p:txBody>
      </p:sp>
      <p:sp>
        <p:nvSpPr>
          <p:cNvPr id="50" name="">
            <a:extLst xmlns:a="http://schemas.openxmlformats.org/drawingml/2006/main">
              <a:ext uri="{FF2B5EF4-FFF2-40B4-BE49-F238E27FC236}">
                <a16:creationId xmlns:a16="http://schemas.microsoft.com/office/drawing/2014/main" id="{CBB7CFD5-FF11-431B-B15E-CA73C7BBAF1E}"/>
              </a:ext>
            </a:extLst>
          </p:cNvPr>
          <p:cNvSpPr>
            <a:spLocks xmlns:a="http://schemas.openxmlformats.org/drawingml/2006/main" noGrp="1"/>
          </p:cNvSpPr>
          <p:nvPr/>
        </p:nvSpPr>
        <p:spPr>
          <a:xfrm xmlns:a="http://schemas.openxmlformats.org/drawingml/2006/main">
            <a:off x="5105400" y="3476625"/>
            <a:ext cx="17526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b="1">
                <a:solidFill>
                  <a:srgbClr val="FFFFFF"/>
                </a:solidFill>
                <a:latin typeface="Arial"/>
                <a:ea typeface="Arial"/>
                <a:cs typeface="Arial"/>
              </a:defRPr>
            </a:pPr>
            <a:r>
              <a:t>Gahan AI · Netrasemi</a:t>
            </a:r>
          </a:p>
        </p:txBody>
      </p:sp>
      <p:sp>
        <p:nvSpPr>
          <p:cNvPr id="51" name="">
            <a:extLst xmlns:a="http://schemas.openxmlformats.org/drawingml/2006/main">
              <a:ext uri="{FF2B5EF4-FFF2-40B4-BE49-F238E27FC236}">
                <a16:creationId xmlns:a16="http://schemas.microsoft.com/office/drawing/2014/main" id="{74373D79-EB3B-4251-8C47-C04E1AE82D47}"/>
              </a:ext>
            </a:extLst>
          </p:cNvPr>
          <p:cNvSpPr>
            <a:spLocks xmlns:a="http://schemas.openxmlformats.org/drawingml/2006/main" noGrp="1"/>
          </p:cNvSpPr>
          <p:nvPr/>
        </p:nvSpPr>
        <p:spPr>
          <a:xfrm xmlns:a="http://schemas.openxmlformats.org/drawingml/2006/main">
            <a:off x="6972300" y="3476625"/>
            <a:ext cx="609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99DF0"/>
                </a:solidFill>
                <a:latin typeface="Arial"/>
                <a:ea typeface="Arial"/>
                <a:cs typeface="Arial"/>
              </a:defRPr>
            </a:pPr>
            <a:r>
              <a:t>2/5 each</a:t>
            </a:r>
          </a:p>
        </p:txBody>
      </p:sp>
      <p:sp>
        <p:nvSpPr>
          <p:cNvPr id="52" name="">
            <a:extLst xmlns:a="http://schemas.openxmlformats.org/drawingml/2006/main">
              <a:ext uri="{FF2B5EF4-FFF2-40B4-BE49-F238E27FC236}">
                <a16:creationId xmlns:a16="http://schemas.microsoft.com/office/drawing/2014/main" id="{0CD38A6D-4472-4209-9705-418E53DDCAB4}"/>
              </a:ext>
            </a:extLst>
          </p:cNvPr>
          <p:cNvSpPr>
            <a:spLocks xmlns:a="http://schemas.openxmlformats.org/drawingml/2006/main" noGrp="1"/>
          </p:cNvSpPr>
          <p:nvPr/>
        </p:nvSpPr>
        <p:spPr>
          <a:xfrm xmlns:a="http://schemas.openxmlformats.org/drawingml/2006/main">
            <a:off x="7677150" y="3476625"/>
            <a:ext cx="2724150" cy="4476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FFFFFF"/>
                </a:solidFill>
                <a:latin typeface="Arial"/>
                <a:ea typeface="Arial"/>
                <a:cs typeface="Arial"/>
              </a:defRPr>
            </a:pPr>
            <a:r>
              <a:t>Counter the claim, not the product. Losing the indigenous-champion narrative costs Segment A access.</a:t>
            </a:r>
          </a:p>
        </p:txBody>
      </p:sp>
      <p:sp>
        <p:nvSpPr>
          <p:cNvPr id="53" name="">
            <a:extLst xmlns:a="http://schemas.openxmlformats.org/drawingml/2006/main">
              <a:ext uri="{FF2B5EF4-FFF2-40B4-BE49-F238E27FC236}">
                <a16:creationId xmlns:a16="http://schemas.microsoft.com/office/drawing/2014/main" id="{9ACF28C0-3B68-4C1B-B686-55CA3E3A08D6}"/>
              </a:ext>
            </a:extLst>
          </p:cNvPr>
          <p:cNvSpPr>
            <a:spLocks xmlns:a="http://schemas.openxmlformats.org/drawingml/2006/main" noGrp="1"/>
          </p:cNvSpPr>
          <p:nvPr/>
        </p:nvSpPr>
        <p:spPr>
          <a:xfrm xmlns:a="http://schemas.openxmlformats.org/drawingml/2006/main">
            <a:off x="10534650" y="3476625"/>
            <a:ext cx="1123950" cy="4476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legitimacy competition</a:t>
            </a:r>
          </a:p>
        </p:txBody>
      </p:sp>
      <p:sp>
        <p:nvSpPr>
          <p:cNvPr id="54" name="">
            <a:extLst xmlns:a="http://schemas.openxmlformats.org/drawingml/2006/main">
              <a:ext uri="{FF2B5EF4-FFF2-40B4-BE49-F238E27FC236}">
                <a16:creationId xmlns:a16="http://schemas.microsoft.com/office/drawing/2014/main" id="{5DE16600-C341-4946-952A-244FBE97599A}"/>
              </a:ext>
            </a:extLst>
          </p:cNvPr>
          <p:cNvSpPr>
            <a:spLocks xmlns:a="http://schemas.openxmlformats.org/drawingml/2006/main" noGrp="1"/>
          </p:cNvSpPr>
          <p:nvPr/>
        </p:nvSpPr>
        <p:spPr>
          <a:xfrm xmlns:a="http://schemas.openxmlformats.org/drawingml/2006/main">
            <a:off x="457200" y="4000500"/>
            <a:ext cx="28575" cy="438150"/>
          </a:xfrm>
          <a:prstGeom xmlns:a="http://schemas.openxmlformats.org/drawingml/2006/main" prst="rect">
            <a:avLst/>
          </a:prstGeom>
          <a:solidFill xmlns:a="http://schemas.openxmlformats.org/drawingml/2006/main">
            <a:srgbClr val="8EA0B2"/>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08C7256C-0897-405E-8A85-3EBD9FC59A0F}"/>
              </a:ext>
            </a:extLst>
          </p:cNvPr>
          <p:cNvSpPr>
            <a:spLocks xmlns:a="http://schemas.openxmlformats.org/drawingml/2006/main" noGrp="1"/>
          </p:cNvSpPr>
          <p:nvPr/>
        </p:nvSpPr>
        <p:spPr>
          <a:xfrm xmlns:a="http://schemas.openxmlformats.org/drawingml/2006/main">
            <a:off x="571500" y="4000500"/>
            <a:ext cx="15811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SUPPLIER-SIDE</a:t>
            </a:r>
          </a:p>
        </p:txBody>
      </p:sp>
      <p:sp>
        <p:nvSpPr>
          <p:cNvPr id="56" name="">
            <a:extLst xmlns:a="http://schemas.openxmlformats.org/drawingml/2006/main">
              <a:ext uri="{FF2B5EF4-FFF2-40B4-BE49-F238E27FC236}">
                <a16:creationId xmlns:a16="http://schemas.microsoft.com/office/drawing/2014/main" id="{09086A60-C6C5-4FE0-9F9E-97703D3C0FA8}"/>
              </a:ext>
            </a:extLst>
          </p:cNvPr>
          <p:cNvSpPr>
            <a:spLocks xmlns:a="http://schemas.openxmlformats.org/drawingml/2006/main" noGrp="1"/>
          </p:cNvSpPr>
          <p:nvPr/>
        </p:nvSpPr>
        <p:spPr>
          <a:xfrm xmlns:a="http://schemas.openxmlformats.org/drawingml/2006/main">
            <a:off x="571500" y="4286250"/>
            <a:ext cx="1581150" cy="190500"/>
          </a:xfrm>
          <a:prstGeom xmlns:a="http://schemas.openxmlformats.org/drawingml/2006/main" prst="rect">
            <a:avLst/>
          </a:prstGeom>
        </p:spPr>
        <p:txBody>
          <a:bodyPr xmlns:a="http://schemas.openxmlformats.org/drawingml/2006/main" lIns="0" tIns="0" rIns="0" bIns="0" anchor="t">
            <a:normAutofit fontScale="96970"/>
          </a:bodyPr>
          <a:lstStyle xmlns:a="http://schemas.openxmlformats.org/drawingml/2006/main"/>
          <a:p xmlns:a="http://schemas.openxmlformats.org/drawingml/2006/main">
            <a:pPr algn="l">
              <a:defRPr sz="800">
                <a:solidFill>
                  <a:srgbClr val="8EA0B2"/>
                </a:solidFill>
                <a:latin typeface="Arial"/>
                <a:ea typeface="Arial"/>
                <a:cs typeface="Arial"/>
              </a:defRPr>
            </a:pPr>
            <a:r>
              <a:t>EV-GHN-05, EV-BIT-02, EV-NTR-02</a:t>
            </a:r>
          </a:p>
        </p:txBody>
      </p:sp>
      <p:sp>
        <p:nvSpPr>
          <p:cNvPr id="57" name="">
            <a:extLst xmlns:a="http://schemas.openxmlformats.org/drawingml/2006/main">
              <a:ext uri="{FF2B5EF4-FFF2-40B4-BE49-F238E27FC236}">
                <a16:creationId xmlns:a16="http://schemas.microsoft.com/office/drawing/2014/main" id="{6C0AE6C8-C967-4EFA-92C9-09341B177C45}"/>
              </a:ext>
            </a:extLst>
          </p:cNvPr>
          <p:cNvSpPr>
            <a:spLocks xmlns:a="http://schemas.openxmlformats.org/drawingml/2006/main" noGrp="1"/>
          </p:cNvSpPr>
          <p:nvPr/>
        </p:nvSpPr>
        <p:spPr>
          <a:xfrm xmlns:a="http://schemas.openxmlformats.org/drawingml/2006/main">
            <a:off x="2247900" y="4000500"/>
            <a:ext cx="27241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Sets the cost floor and the qualification path for everyone, including you.</a:t>
            </a:r>
          </a:p>
        </p:txBody>
      </p:sp>
      <p:sp>
        <p:nvSpPr>
          <p:cNvPr id="58" name="">
            <a:extLst xmlns:a="http://schemas.openxmlformats.org/drawingml/2006/main">
              <a:ext uri="{FF2B5EF4-FFF2-40B4-BE49-F238E27FC236}">
                <a16:creationId xmlns:a16="http://schemas.microsoft.com/office/drawing/2014/main" id="{9B263731-2AA3-41FB-8206-557DEDEFB01E}"/>
              </a:ext>
            </a:extLst>
          </p:cNvPr>
          <p:cNvSpPr>
            <a:spLocks xmlns:a="http://schemas.openxmlformats.org/drawingml/2006/main" noGrp="1"/>
          </p:cNvSpPr>
          <p:nvPr/>
        </p:nvSpPr>
        <p:spPr>
          <a:xfrm xmlns:a="http://schemas.openxmlformats.org/drawingml/2006/main">
            <a:off x="5105400" y="4000500"/>
            <a:ext cx="17526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b="1">
                <a:solidFill>
                  <a:srgbClr val="FFFFFF"/>
                </a:solidFill>
                <a:latin typeface="Arial"/>
                <a:ea typeface="Arial"/>
                <a:cs typeface="Arial"/>
              </a:defRPr>
            </a:pPr>
            <a:r>
              <a:t>TI · NXP · TSMC</a:t>
            </a:r>
          </a:p>
        </p:txBody>
      </p:sp>
      <p:sp>
        <p:nvSpPr>
          <p:cNvPr id="59" name="">
            <a:extLst xmlns:a="http://schemas.openxmlformats.org/drawingml/2006/main">
              <a:ext uri="{FF2B5EF4-FFF2-40B4-BE49-F238E27FC236}">
                <a16:creationId xmlns:a16="http://schemas.microsoft.com/office/drawing/2014/main" id="{754875BD-2BC9-4C20-B5FF-219FF035D470}"/>
              </a:ext>
            </a:extLst>
          </p:cNvPr>
          <p:cNvSpPr>
            <a:spLocks xmlns:a="http://schemas.openxmlformats.org/drawingml/2006/main" noGrp="1"/>
          </p:cNvSpPr>
          <p:nvPr/>
        </p:nvSpPr>
        <p:spPr>
          <a:xfrm xmlns:a="http://schemas.openxmlformats.org/drawingml/2006/main">
            <a:off x="6972300" y="4000500"/>
            <a:ext cx="609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n/a</a:t>
            </a:r>
          </a:p>
        </p:txBody>
      </p:sp>
      <p:sp>
        <p:nvSpPr>
          <p:cNvPr id="60" name="">
            <a:extLst xmlns:a="http://schemas.openxmlformats.org/drawingml/2006/main">
              <a:ext uri="{FF2B5EF4-FFF2-40B4-BE49-F238E27FC236}">
                <a16:creationId xmlns:a16="http://schemas.microsoft.com/office/drawing/2014/main" id="{B64B5279-603D-440E-8186-0A4D127F951E}"/>
              </a:ext>
            </a:extLst>
          </p:cNvPr>
          <p:cNvSpPr>
            <a:spLocks xmlns:a="http://schemas.openxmlformats.org/drawingml/2006/main" noGrp="1"/>
          </p:cNvSpPr>
          <p:nvPr/>
        </p:nvSpPr>
        <p:spPr>
          <a:xfrm xmlns:a="http://schemas.openxmlformats.org/drawingml/2006/main">
            <a:off x="7677150" y="4000500"/>
            <a:ext cx="27241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FFFFFF"/>
                </a:solidFill>
                <a:latin typeface="Arial"/>
                <a:ea typeface="Arial"/>
                <a:cs typeface="Arial"/>
              </a:defRPr>
            </a:pPr>
            <a:r>
              <a:t>Choose deliberately. Not in this dossier at all, and it decides the ASIC economics.</a:t>
            </a:r>
          </a:p>
        </p:txBody>
      </p:sp>
      <p:sp>
        <p:nvSpPr>
          <p:cNvPr id="61" name="">
            <a:extLst xmlns:a="http://schemas.openxmlformats.org/drawingml/2006/main">
              <a:ext uri="{FF2B5EF4-FFF2-40B4-BE49-F238E27FC236}">
                <a16:creationId xmlns:a16="http://schemas.microsoft.com/office/drawing/2014/main" id="{AAC75550-85DC-4C4E-BD9F-D1B374155B09}"/>
              </a:ext>
            </a:extLst>
          </p:cNvPr>
          <p:cNvSpPr>
            <a:spLocks xmlns:a="http://schemas.openxmlformats.org/drawingml/2006/main" noGrp="1"/>
          </p:cNvSpPr>
          <p:nvPr/>
        </p:nvSpPr>
        <p:spPr>
          <a:xfrm xmlns:a="http://schemas.openxmlformats.org/drawingml/2006/main">
            <a:off x="10534650" y="4000500"/>
            <a:ext cx="112395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Porter — supplier power</a:t>
            </a:r>
          </a:p>
        </p:txBody>
      </p:sp>
      <p:sp>
        <p:nvSpPr>
          <p:cNvPr id="62" name="">
            <a:extLst xmlns:a="http://schemas.openxmlformats.org/drawingml/2006/main">
              <a:ext uri="{FF2B5EF4-FFF2-40B4-BE49-F238E27FC236}">
                <a16:creationId xmlns:a16="http://schemas.microsoft.com/office/drawing/2014/main" id="{427FB68A-09B6-42D3-BC4E-6569648CA68F}"/>
              </a:ext>
            </a:extLst>
          </p:cNvPr>
          <p:cNvSpPr>
            <a:spLocks xmlns:a="http://schemas.openxmlformats.org/drawingml/2006/main" noGrp="1"/>
          </p:cNvSpPr>
          <p:nvPr/>
        </p:nvSpPr>
        <p:spPr>
          <a:xfrm xmlns:a="http://schemas.openxmlformats.org/drawingml/2006/main">
            <a:off x="457200" y="4533900"/>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FC136009-9319-42D8-89B1-3AF714466FBF}"/>
              </a:ext>
            </a:extLst>
          </p:cNvPr>
          <p:cNvSpPr>
            <a:spLocks xmlns:a="http://schemas.openxmlformats.org/drawingml/2006/main" noGrp="1"/>
          </p:cNvSpPr>
          <p:nvPr/>
        </p:nvSpPr>
        <p:spPr>
          <a:xfrm xmlns:a="http://schemas.openxmlformats.org/drawingml/2006/main">
            <a:off x="457200" y="4648200"/>
            <a:ext cx="4762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PATTERN HAS TO COME BEFORE THE RATING</a:t>
            </a:r>
          </a:p>
        </p:txBody>
      </p:sp>
      <p:sp>
        <p:nvSpPr>
          <p:cNvPr id="64" name="">
            <a:extLst xmlns:a="http://schemas.openxmlformats.org/drawingml/2006/main">
              <a:ext uri="{FF2B5EF4-FFF2-40B4-BE49-F238E27FC236}">
                <a16:creationId xmlns:a16="http://schemas.microsoft.com/office/drawing/2014/main" id="{9C3586BD-170D-4289-A3C0-6BB4F0DEB7AD}"/>
              </a:ext>
            </a:extLst>
          </p:cNvPr>
          <p:cNvSpPr>
            <a:spLocks xmlns:a="http://schemas.openxmlformats.org/drawingml/2006/main" noGrp="1"/>
          </p:cNvSpPr>
          <p:nvPr/>
        </p:nvSpPr>
        <p:spPr>
          <a:xfrm xmlns:a="http://schemas.openxmlformats.org/drawingml/2006/main">
            <a:off x="457200" y="4819650"/>
            <a:ext cx="1127760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Six of the nine score 2/5 or less on obstructing the position DeepGrid has chosen, and the dossier says so in its own words — 'blocks nothing', 'no overlap', 'a partner-shaped competitor'. A threat ranking across all nine therefore compares things that were never comparable, and it spends the scarce evidence budget on companies DeepGrid will never bid against. The pattern determines the verb: displace one, sell to three, ignore three for the mandate, out-argue two.</a:t>
            </a:r>
          </a:p>
        </p:txBody>
      </p:sp>
      <p:sp>
        <p:nvSpPr>
          <p:cNvPr id="65" name="">
            <a:extLst xmlns:a="http://schemas.openxmlformats.org/drawingml/2006/main">
              <a:ext uri="{FF2B5EF4-FFF2-40B4-BE49-F238E27FC236}">
                <a16:creationId xmlns:a16="http://schemas.microsoft.com/office/drawing/2014/main" id="{67E1B460-0E23-465E-B057-D031FA0444D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A9C64EF4-99C7-44BD-873E-5AA6E5F04CBF}"/>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7" name="">
            <a:extLst xmlns:a="http://schemas.openxmlformats.org/drawingml/2006/main">
              <a:ext uri="{FF2B5EF4-FFF2-40B4-BE49-F238E27FC236}">
                <a16:creationId xmlns:a16="http://schemas.microsoft.com/office/drawing/2014/main" id="{D61851E7-E89A-43E8-9DAB-AC215239CBA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11</a:t>
            </a:r>
          </a:p>
        </p:txBody>
      </p:sp>
    </p:spTree>
    <p:extLst>
      <p:ext uri="{BB962C8B-B14F-4D97-AF65-F5344CB8AC3E}">
        <p14:creationId xmlns:p14="http://schemas.microsoft.com/office/powerpoint/2010/main" val="124864510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14C591C4-A5A8-4DA0-B970-AC3AEFCA610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DE921C-57EE-4CB6-B3B8-987DD19E8704}"/>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3B43BF1-AF0A-40DA-AAF3-BB1F0DF2B292}"/>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COMPETITIVE STRATEGY · THE VALUE NET</a:t>
            </a:r>
          </a:p>
        </p:txBody>
      </p:sp>
      <p:sp>
        <p:nvSpPr>
          <p:cNvPr id="4" name="">
            <a:extLst xmlns:a="http://schemas.openxmlformats.org/drawingml/2006/main">
              <a:ext uri="{FF2B5EF4-FFF2-40B4-BE49-F238E27FC236}">
                <a16:creationId xmlns:a16="http://schemas.microsoft.com/office/drawing/2014/main" id="{9A0689E4-11FA-4C55-947C-679C599DFA0C}"/>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The same company can be a customer and a rival at once</a:t>
            </a:r>
          </a:p>
        </p:txBody>
      </p:sp>
      <p:sp>
        <p:nvSpPr>
          <p:cNvPr id="5" name="">
            <a:extLst xmlns:a="http://schemas.openxmlformats.org/drawingml/2006/main">
              <a:ext uri="{FF2B5EF4-FFF2-40B4-BE49-F238E27FC236}">
                <a16:creationId xmlns:a16="http://schemas.microsoft.com/office/drawing/2014/main" id="{E799A2DF-8A08-4119-84E5-0EDEA7D2C2A6}"/>
              </a:ext>
            </a:extLst>
          </p:cNvPr>
          <p:cNvSpPr>
            <a:spLocks xmlns:a="http://schemas.openxmlformats.org/drawingml/2006/main" noGrp="1"/>
          </p:cNvSpPr>
          <p:nvPr/>
        </p:nvSpPr>
        <p:spPr>
          <a:xfrm xmlns:a="http://schemas.openxmlformats.org/drawingml/2006/main">
            <a:off x="457200" y="762000"/>
            <a:ext cx="11277600" cy="3143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Brandenburger &amp; Nalebuff's Value Net places four roles around a firm. The dossier collapsed all four into one axis called threat — which is why ZF, a company DeepGrid intends to sell through, was ranked as an adversary.</a:t>
            </a:r>
          </a:p>
        </p:txBody>
      </p:sp>
      <p:sp>
        <p:nvSpPr>
          <p:cNvPr id="6" name="">
            <a:extLst xmlns:a="http://schemas.openxmlformats.org/drawingml/2006/main">
              <a:ext uri="{FF2B5EF4-FFF2-40B4-BE49-F238E27FC236}">
                <a16:creationId xmlns:a16="http://schemas.microsoft.com/office/drawing/2014/main" id="{673FC766-2F1A-440C-85EA-4C5411BD8ECE}"/>
              </a:ext>
            </a:extLst>
          </p:cNvPr>
          <p:cNvSpPr>
            <a:spLocks xmlns:a="http://schemas.openxmlformats.org/drawingml/2006/main" noGrp="1"/>
          </p:cNvSpPr>
          <p:nvPr/>
        </p:nvSpPr>
        <p:spPr>
          <a:xfrm xmlns:a="http://schemas.openxmlformats.org/drawingml/2006/main">
            <a:off x="457200" y="11334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F3D6EC9-C93E-4F3A-AA3F-FF91AC8F2989}"/>
              </a:ext>
            </a:extLst>
          </p:cNvPr>
          <p:cNvSpPr>
            <a:spLocks xmlns:a="http://schemas.openxmlformats.org/drawingml/2006/main" noGrp="1"/>
          </p:cNvSpPr>
          <p:nvPr/>
        </p:nvSpPr>
        <p:spPr>
          <a:xfrm xmlns:a="http://schemas.openxmlformats.org/drawingml/2006/main">
            <a:off x="457200" y="1247775"/>
            <a:ext cx="5124450" cy="1638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CECD8000-2BB5-4504-B195-8C4231DF21B9}"/>
              </a:ext>
            </a:extLst>
          </p:cNvPr>
          <p:cNvSpPr>
            <a:spLocks xmlns:a="http://schemas.openxmlformats.org/drawingml/2006/main" noGrp="1"/>
          </p:cNvSpPr>
          <p:nvPr/>
        </p:nvSpPr>
        <p:spPr>
          <a:xfrm xmlns:a="http://schemas.openxmlformats.org/drawingml/2006/main">
            <a:off x="457200" y="1247775"/>
            <a:ext cx="512445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ABBDC79-EA46-4D88-AC56-08B783415934}"/>
              </a:ext>
            </a:extLst>
          </p:cNvPr>
          <p:cNvSpPr>
            <a:spLocks xmlns:a="http://schemas.openxmlformats.org/drawingml/2006/main" noGrp="1"/>
          </p:cNvSpPr>
          <p:nvPr/>
        </p:nvSpPr>
        <p:spPr>
          <a:xfrm xmlns:a="http://schemas.openxmlformats.org/drawingml/2006/main">
            <a:off x="609600" y="1381125"/>
            <a:ext cx="48196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CUSTOMERS</a:t>
            </a:r>
          </a:p>
        </p:txBody>
      </p:sp>
      <p:sp>
        <p:nvSpPr>
          <p:cNvPr id="10" name="">
            <a:extLst xmlns:a="http://schemas.openxmlformats.org/drawingml/2006/main">
              <a:ext uri="{FF2B5EF4-FFF2-40B4-BE49-F238E27FC236}">
                <a16:creationId xmlns:a16="http://schemas.microsoft.com/office/drawing/2014/main" id="{8FAF713E-A678-4B6D-8BEA-2E6311805A53}"/>
              </a:ext>
            </a:extLst>
          </p:cNvPr>
          <p:cNvSpPr>
            <a:spLocks xmlns:a="http://schemas.openxmlformats.org/drawingml/2006/main" noGrp="1"/>
          </p:cNvSpPr>
          <p:nvPr/>
        </p:nvSpPr>
        <p:spPr>
          <a:xfrm xmlns:a="http://schemas.openxmlformats.org/drawingml/2006/main">
            <a:off x="609600" y="1552575"/>
            <a:ext cx="48196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Who DeepGrid sells the perception layer TO</a:t>
            </a:r>
          </a:p>
        </p:txBody>
      </p:sp>
      <p:sp>
        <p:nvSpPr>
          <p:cNvPr id="11" name="">
            <a:extLst xmlns:a="http://schemas.openxmlformats.org/drawingml/2006/main">
              <a:ext uri="{FF2B5EF4-FFF2-40B4-BE49-F238E27FC236}">
                <a16:creationId xmlns:a16="http://schemas.microsoft.com/office/drawing/2014/main" id="{9AE4AD80-CC48-4F36-9767-2C9450CA978A}"/>
              </a:ext>
            </a:extLst>
          </p:cNvPr>
          <p:cNvSpPr>
            <a:spLocks xmlns:a="http://schemas.openxmlformats.org/drawingml/2006/main" noGrp="1"/>
          </p:cNvSpPr>
          <p:nvPr/>
        </p:nvSpPr>
        <p:spPr>
          <a:xfrm xmlns:a="http://schemas.openxmlformats.org/drawingml/2006/main">
            <a:off x="609600" y="1819275"/>
            <a:ext cx="381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3419089-A584-48EE-83B0-F5F63C70E38F}"/>
              </a:ext>
            </a:extLst>
          </p:cNvPr>
          <p:cNvSpPr>
            <a:spLocks xmlns:a="http://schemas.openxmlformats.org/drawingml/2006/main" noGrp="1"/>
          </p:cNvSpPr>
          <p:nvPr/>
        </p:nvSpPr>
        <p:spPr>
          <a:xfrm xmlns:a="http://schemas.openxmlformats.org/drawingml/2006/main">
            <a:off x="723900" y="176212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Aptiv — selects the perception vendor for its camera</a:t>
            </a:r>
          </a:p>
        </p:txBody>
      </p:sp>
      <p:sp>
        <p:nvSpPr>
          <p:cNvPr id="13" name="">
            <a:extLst xmlns:a="http://schemas.openxmlformats.org/drawingml/2006/main">
              <a:ext uri="{FF2B5EF4-FFF2-40B4-BE49-F238E27FC236}">
                <a16:creationId xmlns:a16="http://schemas.microsoft.com/office/drawing/2014/main" id="{041F1268-F203-4DCE-A02A-10762E79F4F2}"/>
              </a:ext>
            </a:extLst>
          </p:cNvPr>
          <p:cNvSpPr>
            <a:spLocks xmlns:a="http://schemas.openxmlformats.org/drawingml/2006/main" noGrp="1"/>
          </p:cNvSpPr>
          <p:nvPr/>
        </p:nvSpPr>
        <p:spPr>
          <a:xfrm xmlns:a="http://schemas.openxmlformats.org/drawingml/2006/main">
            <a:off x="609600" y="2085975"/>
            <a:ext cx="381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9EA5539-AE52-4159-BBDE-9E504ADEE52D}"/>
              </a:ext>
            </a:extLst>
          </p:cNvPr>
          <p:cNvSpPr>
            <a:spLocks xmlns:a="http://schemas.openxmlformats.org/drawingml/2006/main" noGrp="1"/>
          </p:cNvSpPr>
          <p:nvPr/>
        </p:nvSpPr>
        <p:spPr>
          <a:xfrm xmlns:a="http://schemas.openxmlformats.org/drawingml/2006/main">
            <a:off x="723900" y="202882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ZF — owns the actuator and the safety case</a:t>
            </a:r>
          </a:p>
        </p:txBody>
      </p:sp>
      <p:sp>
        <p:nvSpPr>
          <p:cNvPr id="15" name="">
            <a:extLst xmlns:a="http://schemas.openxmlformats.org/drawingml/2006/main">
              <a:ext uri="{FF2B5EF4-FFF2-40B4-BE49-F238E27FC236}">
                <a16:creationId xmlns:a16="http://schemas.microsoft.com/office/drawing/2014/main" id="{171E7F27-3647-4F3C-870F-E6C42715F691}"/>
              </a:ext>
            </a:extLst>
          </p:cNvPr>
          <p:cNvSpPr>
            <a:spLocks xmlns:a="http://schemas.openxmlformats.org/drawingml/2006/main" noGrp="1"/>
          </p:cNvSpPr>
          <p:nvPr/>
        </p:nvSpPr>
        <p:spPr>
          <a:xfrm xmlns:a="http://schemas.openxmlformats.org/drawingml/2006/main">
            <a:off x="609600" y="2352675"/>
            <a:ext cx="381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9A7B45D-FF05-4232-930E-56A9D9F5F3AC}"/>
              </a:ext>
            </a:extLst>
          </p:cNvPr>
          <p:cNvSpPr>
            <a:spLocks xmlns:a="http://schemas.openxmlformats.org/drawingml/2006/main" noGrp="1"/>
          </p:cNvSpPr>
          <p:nvPr/>
        </p:nvSpPr>
        <p:spPr>
          <a:xfrm xmlns:a="http://schemas.openxmlformats.org/drawingml/2006/main">
            <a:off x="723900" y="229552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Sterling × MINIEYE — the localisation template</a:t>
            </a:r>
          </a:p>
        </p:txBody>
      </p:sp>
      <p:sp>
        <p:nvSpPr>
          <p:cNvPr id="17" name="">
            <a:extLst xmlns:a="http://schemas.openxmlformats.org/drawingml/2006/main">
              <a:ext uri="{FF2B5EF4-FFF2-40B4-BE49-F238E27FC236}">
                <a16:creationId xmlns:a16="http://schemas.microsoft.com/office/drawing/2014/main" id="{B545192D-A30B-48B1-B259-5F2626887959}"/>
              </a:ext>
            </a:extLst>
          </p:cNvPr>
          <p:cNvSpPr>
            <a:spLocks xmlns:a="http://schemas.openxmlformats.org/drawingml/2006/main" noGrp="1"/>
          </p:cNvSpPr>
          <p:nvPr/>
        </p:nvSpPr>
        <p:spPr>
          <a:xfrm xmlns:a="http://schemas.openxmlformats.org/drawingml/2006/main">
            <a:off x="609600" y="2733675"/>
            <a:ext cx="48196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EV-APT-02, EV-ZF-01, EV-STL-01</a:t>
            </a:r>
          </a:p>
        </p:txBody>
      </p:sp>
      <p:sp>
        <p:nvSpPr>
          <p:cNvPr id="18" name="">
            <a:extLst xmlns:a="http://schemas.openxmlformats.org/drawingml/2006/main">
              <a:ext uri="{FF2B5EF4-FFF2-40B4-BE49-F238E27FC236}">
                <a16:creationId xmlns:a16="http://schemas.microsoft.com/office/drawing/2014/main" id="{C40CE680-723B-49BA-A0E3-D2B5481B8B96}"/>
              </a:ext>
            </a:extLst>
          </p:cNvPr>
          <p:cNvSpPr>
            <a:spLocks xmlns:a="http://schemas.openxmlformats.org/drawingml/2006/main" noGrp="1"/>
          </p:cNvSpPr>
          <p:nvPr/>
        </p:nvSpPr>
        <p:spPr>
          <a:xfrm xmlns:a="http://schemas.openxmlformats.org/drawingml/2006/main">
            <a:off x="6610350" y="1247775"/>
            <a:ext cx="5124450" cy="1638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46C11D70-BA5A-4F90-82CD-638E664E171E}"/>
              </a:ext>
            </a:extLst>
          </p:cNvPr>
          <p:cNvSpPr>
            <a:spLocks xmlns:a="http://schemas.openxmlformats.org/drawingml/2006/main" noGrp="1"/>
          </p:cNvSpPr>
          <p:nvPr/>
        </p:nvSpPr>
        <p:spPr>
          <a:xfrm xmlns:a="http://schemas.openxmlformats.org/drawingml/2006/main">
            <a:off x="6610350" y="1247775"/>
            <a:ext cx="512445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C0E3BC1-1CA5-4603-86F0-25E7042D12CB}"/>
              </a:ext>
            </a:extLst>
          </p:cNvPr>
          <p:cNvSpPr>
            <a:spLocks xmlns:a="http://schemas.openxmlformats.org/drawingml/2006/main" noGrp="1"/>
          </p:cNvSpPr>
          <p:nvPr/>
        </p:nvSpPr>
        <p:spPr>
          <a:xfrm xmlns:a="http://schemas.openxmlformats.org/drawingml/2006/main">
            <a:off x="6762750" y="1381125"/>
            <a:ext cx="48196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COMPETITORS</a:t>
            </a:r>
          </a:p>
        </p:txBody>
      </p:sp>
      <p:sp>
        <p:nvSpPr>
          <p:cNvPr id="21" name="">
            <a:extLst xmlns:a="http://schemas.openxmlformats.org/drawingml/2006/main">
              <a:ext uri="{FF2B5EF4-FFF2-40B4-BE49-F238E27FC236}">
                <a16:creationId xmlns:a16="http://schemas.microsoft.com/office/drawing/2014/main" id="{9DBCC8E9-D89A-41DC-A60E-7D970E4DEB6C}"/>
              </a:ext>
            </a:extLst>
          </p:cNvPr>
          <p:cNvSpPr>
            <a:spLocks xmlns:a="http://schemas.openxmlformats.org/drawingml/2006/main" noGrp="1"/>
          </p:cNvSpPr>
          <p:nvPr/>
        </p:nvSpPr>
        <p:spPr>
          <a:xfrm xmlns:a="http://schemas.openxmlformats.org/drawingml/2006/main">
            <a:off x="6762750" y="1552575"/>
            <a:ext cx="48196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Who the buyer would choose INSTEAD</a:t>
            </a:r>
          </a:p>
        </p:txBody>
      </p:sp>
      <p:sp>
        <p:nvSpPr>
          <p:cNvPr id="22" name="">
            <a:extLst xmlns:a="http://schemas.openxmlformats.org/drawingml/2006/main">
              <a:ext uri="{FF2B5EF4-FFF2-40B4-BE49-F238E27FC236}">
                <a16:creationId xmlns:a16="http://schemas.microsoft.com/office/drawing/2014/main" id="{1F145F43-D6E5-474E-997B-8B1C66C08BD4}"/>
              </a:ext>
            </a:extLst>
          </p:cNvPr>
          <p:cNvSpPr>
            <a:spLocks xmlns:a="http://schemas.openxmlformats.org/drawingml/2006/main" noGrp="1"/>
          </p:cNvSpPr>
          <p:nvPr/>
        </p:nvSpPr>
        <p:spPr>
          <a:xfrm xmlns:a="http://schemas.openxmlformats.org/drawingml/2006/main">
            <a:off x="6762750" y="1819275"/>
            <a:ext cx="381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024C79F-2CDD-4522-B40F-64868698125F}"/>
              </a:ext>
            </a:extLst>
          </p:cNvPr>
          <p:cNvSpPr>
            <a:spLocks xmlns:a="http://schemas.openxmlformats.org/drawingml/2006/main" noGrp="1"/>
          </p:cNvSpPr>
          <p:nvPr/>
        </p:nvSpPr>
        <p:spPr>
          <a:xfrm xmlns:a="http://schemas.openxmlformats.org/drawingml/2006/main">
            <a:off x="6877050" y="176212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STRADVISION — the only true substitute</a:t>
            </a:r>
          </a:p>
        </p:txBody>
      </p:sp>
      <p:sp>
        <p:nvSpPr>
          <p:cNvPr id="24" name="">
            <a:extLst xmlns:a="http://schemas.openxmlformats.org/drawingml/2006/main">
              <a:ext uri="{FF2B5EF4-FFF2-40B4-BE49-F238E27FC236}">
                <a16:creationId xmlns:a16="http://schemas.microsoft.com/office/drawing/2014/main" id="{B6AA2759-D866-474A-A332-04D40E906DA5}"/>
              </a:ext>
            </a:extLst>
          </p:cNvPr>
          <p:cNvSpPr>
            <a:spLocks xmlns:a="http://schemas.openxmlformats.org/drawingml/2006/main" noGrp="1"/>
          </p:cNvSpPr>
          <p:nvPr/>
        </p:nvSpPr>
        <p:spPr>
          <a:xfrm xmlns:a="http://schemas.openxmlformats.org/drawingml/2006/main">
            <a:off x="6762750" y="2085975"/>
            <a:ext cx="381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EC93DCC-3B25-4A0D-8265-3DADB9CE2C02}"/>
              </a:ext>
            </a:extLst>
          </p:cNvPr>
          <p:cNvSpPr>
            <a:spLocks xmlns:a="http://schemas.openxmlformats.org/drawingml/2006/main" noGrp="1"/>
          </p:cNvSpPr>
          <p:nvPr/>
        </p:nvSpPr>
        <p:spPr>
          <a:xfrm xmlns:a="http://schemas.openxmlformats.org/drawingml/2006/main">
            <a:off x="6877050" y="202882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(Aptiv, only if it in-sources perception)</a:t>
            </a:r>
          </a:p>
        </p:txBody>
      </p:sp>
      <p:sp>
        <p:nvSpPr>
          <p:cNvPr id="26" name="">
            <a:extLst xmlns:a="http://schemas.openxmlformats.org/drawingml/2006/main">
              <a:ext uri="{FF2B5EF4-FFF2-40B4-BE49-F238E27FC236}">
                <a16:creationId xmlns:a16="http://schemas.microsoft.com/office/drawing/2014/main" id="{8671672D-114D-485E-8A64-01BEA9E62D0F}"/>
              </a:ext>
            </a:extLst>
          </p:cNvPr>
          <p:cNvSpPr>
            <a:spLocks xmlns:a="http://schemas.openxmlformats.org/drawingml/2006/main" noGrp="1"/>
          </p:cNvSpPr>
          <p:nvPr/>
        </p:nvSpPr>
        <p:spPr>
          <a:xfrm xmlns:a="http://schemas.openxmlformats.org/drawingml/2006/main">
            <a:off x="6762750" y="2352675"/>
            <a:ext cx="381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C3A9F76-1AFD-494D-9A89-9AE9FDB49A22}"/>
              </a:ext>
            </a:extLst>
          </p:cNvPr>
          <p:cNvSpPr>
            <a:spLocks xmlns:a="http://schemas.openxmlformats.org/drawingml/2006/main" noGrp="1"/>
          </p:cNvSpPr>
          <p:nvPr/>
        </p:nvSpPr>
        <p:spPr>
          <a:xfrm xmlns:a="http://schemas.openxmlformats.org/drawingml/2006/main">
            <a:off x="6877050" y="229552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(ZF, only if it bundles the layer)</a:t>
            </a:r>
          </a:p>
        </p:txBody>
      </p:sp>
      <p:sp>
        <p:nvSpPr>
          <p:cNvPr id="28" name="">
            <a:extLst xmlns:a="http://schemas.openxmlformats.org/drawingml/2006/main">
              <a:ext uri="{FF2B5EF4-FFF2-40B4-BE49-F238E27FC236}">
                <a16:creationId xmlns:a16="http://schemas.microsoft.com/office/drawing/2014/main" id="{0A771BF0-AFC8-4654-90AF-AD61CA27BB3C}"/>
              </a:ext>
            </a:extLst>
          </p:cNvPr>
          <p:cNvSpPr>
            <a:spLocks xmlns:a="http://schemas.openxmlformats.org/drawingml/2006/main" noGrp="1"/>
          </p:cNvSpPr>
          <p:nvPr/>
        </p:nvSpPr>
        <p:spPr>
          <a:xfrm xmlns:a="http://schemas.openxmlformats.org/drawingml/2006/main">
            <a:off x="6762750" y="2733675"/>
            <a:ext cx="48196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EV-SV-03, EV-SV-05</a:t>
            </a:r>
          </a:p>
        </p:txBody>
      </p:sp>
      <p:sp>
        <p:nvSpPr>
          <p:cNvPr id="29" name="">
            <a:extLst xmlns:a="http://schemas.openxmlformats.org/drawingml/2006/main">
              <a:ext uri="{FF2B5EF4-FFF2-40B4-BE49-F238E27FC236}">
                <a16:creationId xmlns:a16="http://schemas.microsoft.com/office/drawing/2014/main" id="{0D7A322F-9B20-4D93-9782-91EBFC44E7D1}"/>
              </a:ext>
            </a:extLst>
          </p:cNvPr>
          <p:cNvSpPr>
            <a:spLocks xmlns:a="http://schemas.openxmlformats.org/drawingml/2006/main" noGrp="1"/>
          </p:cNvSpPr>
          <p:nvPr/>
        </p:nvSpPr>
        <p:spPr>
          <a:xfrm xmlns:a="http://schemas.openxmlformats.org/drawingml/2006/main">
            <a:off x="457200" y="3209925"/>
            <a:ext cx="5124450" cy="1638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0" name="">
            <a:extLst xmlns:a="http://schemas.openxmlformats.org/drawingml/2006/main">
              <a:ext uri="{FF2B5EF4-FFF2-40B4-BE49-F238E27FC236}">
                <a16:creationId xmlns:a16="http://schemas.microsoft.com/office/drawing/2014/main" id="{6B1815C0-7359-4416-8DA0-BD663C25D57A}"/>
              </a:ext>
            </a:extLst>
          </p:cNvPr>
          <p:cNvSpPr>
            <a:spLocks xmlns:a="http://schemas.openxmlformats.org/drawingml/2006/main" noGrp="1"/>
          </p:cNvSpPr>
          <p:nvPr/>
        </p:nvSpPr>
        <p:spPr>
          <a:xfrm xmlns:a="http://schemas.openxmlformats.org/drawingml/2006/main">
            <a:off x="457200" y="3209925"/>
            <a:ext cx="512445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F28474B-7432-4FC5-800C-2C50E2EE3234}"/>
              </a:ext>
            </a:extLst>
          </p:cNvPr>
          <p:cNvSpPr>
            <a:spLocks xmlns:a="http://schemas.openxmlformats.org/drawingml/2006/main" noGrp="1"/>
          </p:cNvSpPr>
          <p:nvPr/>
        </p:nvSpPr>
        <p:spPr>
          <a:xfrm xmlns:a="http://schemas.openxmlformats.org/drawingml/2006/main">
            <a:off x="609600" y="3343275"/>
            <a:ext cx="48196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SUPPLIERS</a:t>
            </a:r>
          </a:p>
        </p:txBody>
      </p:sp>
      <p:sp>
        <p:nvSpPr>
          <p:cNvPr id="32" name="">
            <a:extLst xmlns:a="http://schemas.openxmlformats.org/drawingml/2006/main">
              <a:ext uri="{FF2B5EF4-FFF2-40B4-BE49-F238E27FC236}">
                <a16:creationId xmlns:a16="http://schemas.microsoft.com/office/drawing/2014/main" id="{D58D1997-A9EB-41EA-B9E8-56A8121877A2}"/>
              </a:ext>
            </a:extLst>
          </p:cNvPr>
          <p:cNvSpPr>
            <a:spLocks xmlns:a="http://schemas.openxmlformats.org/drawingml/2006/main" noGrp="1"/>
          </p:cNvSpPr>
          <p:nvPr/>
        </p:nvSpPr>
        <p:spPr>
          <a:xfrm xmlns:a="http://schemas.openxmlformats.org/drawingml/2006/main">
            <a:off x="609600" y="3514725"/>
            <a:ext cx="48196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Who sets DeepGrid's cost floor and qualification path</a:t>
            </a:r>
          </a:p>
        </p:txBody>
      </p:sp>
      <p:sp>
        <p:nvSpPr>
          <p:cNvPr id="33" name="">
            <a:extLst xmlns:a="http://schemas.openxmlformats.org/drawingml/2006/main">
              <a:ext uri="{FF2B5EF4-FFF2-40B4-BE49-F238E27FC236}">
                <a16:creationId xmlns:a16="http://schemas.microsoft.com/office/drawing/2014/main" id="{EFA0EC8E-789A-448C-B65E-B71F9D2340DE}"/>
              </a:ext>
            </a:extLst>
          </p:cNvPr>
          <p:cNvSpPr>
            <a:spLocks xmlns:a="http://schemas.openxmlformats.org/drawingml/2006/main" noGrp="1"/>
          </p:cNvSpPr>
          <p:nvPr/>
        </p:nvSpPr>
        <p:spPr>
          <a:xfrm xmlns:a="http://schemas.openxmlformats.org/drawingml/2006/main">
            <a:off x="609600" y="3781425"/>
            <a:ext cx="381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556B052-3018-429A-BFB7-1200698BCC23}"/>
              </a:ext>
            </a:extLst>
          </p:cNvPr>
          <p:cNvSpPr>
            <a:spLocks xmlns:a="http://schemas.openxmlformats.org/drawingml/2006/main" noGrp="1"/>
          </p:cNvSpPr>
          <p:nvPr/>
        </p:nvSpPr>
        <p:spPr>
          <a:xfrm xmlns:a="http://schemas.openxmlformats.org/drawingml/2006/main">
            <a:off x="723900" y="372427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TI, NXP — radar and sensor silicon</a:t>
            </a:r>
          </a:p>
        </p:txBody>
      </p:sp>
      <p:sp>
        <p:nvSpPr>
          <p:cNvPr id="35" name="">
            <a:extLst xmlns:a="http://schemas.openxmlformats.org/drawingml/2006/main">
              <a:ext uri="{FF2B5EF4-FFF2-40B4-BE49-F238E27FC236}">
                <a16:creationId xmlns:a16="http://schemas.microsoft.com/office/drawing/2014/main" id="{B052A062-9BBB-45C3-B8DB-76D0A2BBFFE4}"/>
              </a:ext>
            </a:extLst>
          </p:cNvPr>
          <p:cNvSpPr>
            <a:spLocks xmlns:a="http://schemas.openxmlformats.org/drawingml/2006/main" noGrp="1"/>
          </p:cNvSpPr>
          <p:nvPr/>
        </p:nvSpPr>
        <p:spPr>
          <a:xfrm xmlns:a="http://schemas.openxmlformats.org/drawingml/2006/main">
            <a:off x="609600" y="4048125"/>
            <a:ext cx="381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E8A43E3C-B87E-40FC-8934-0ABB8E7D8516}"/>
              </a:ext>
            </a:extLst>
          </p:cNvPr>
          <p:cNvSpPr>
            <a:spLocks xmlns:a="http://schemas.openxmlformats.org/drawingml/2006/main" noGrp="1"/>
          </p:cNvSpPr>
          <p:nvPr/>
        </p:nvSpPr>
        <p:spPr>
          <a:xfrm xmlns:a="http://schemas.openxmlformats.org/drawingml/2006/main">
            <a:off x="723900" y="399097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TSMC — the fab for any ASIC</a:t>
            </a:r>
          </a:p>
        </p:txBody>
      </p:sp>
      <p:sp>
        <p:nvSpPr>
          <p:cNvPr id="37" name="">
            <a:extLst xmlns:a="http://schemas.openxmlformats.org/drawingml/2006/main">
              <a:ext uri="{FF2B5EF4-FFF2-40B4-BE49-F238E27FC236}">
                <a16:creationId xmlns:a16="http://schemas.microsoft.com/office/drawing/2014/main" id="{C5B93500-A5C2-4D71-A918-BB4EEE6DA5D8}"/>
              </a:ext>
            </a:extLst>
          </p:cNvPr>
          <p:cNvSpPr>
            <a:spLocks xmlns:a="http://schemas.openxmlformats.org/drawingml/2006/main" noGrp="1"/>
          </p:cNvSpPr>
          <p:nvPr/>
        </p:nvSpPr>
        <p:spPr>
          <a:xfrm xmlns:a="http://schemas.openxmlformats.org/drawingml/2006/main">
            <a:off x="609600" y="4314825"/>
            <a:ext cx="381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BA37D66F-34BA-4825-88F3-F0AF221693E1}"/>
              </a:ext>
            </a:extLst>
          </p:cNvPr>
          <p:cNvSpPr>
            <a:spLocks xmlns:a="http://schemas.openxmlformats.org/drawingml/2006/main" noGrp="1"/>
          </p:cNvSpPr>
          <p:nvPr/>
        </p:nvSpPr>
        <p:spPr>
          <a:xfrm xmlns:a="http://schemas.openxmlformats.org/drawingml/2006/main">
            <a:off x="723900" y="425767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ARAI / ICAT — homologation and characterisation</a:t>
            </a:r>
          </a:p>
        </p:txBody>
      </p:sp>
      <p:sp>
        <p:nvSpPr>
          <p:cNvPr id="39" name="">
            <a:extLst xmlns:a="http://schemas.openxmlformats.org/drawingml/2006/main">
              <a:ext uri="{FF2B5EF4-FFF2-40B4-BE49-F238E27FC236}">
                <a16:creationId xmlns:a16="http://schemas.microsoft.com/office/drawing/2014/main" id="{71793C58-4470-4FA5-87D1-57D2DED3C900}"/>
              </a:ext>
            </a:extLst>
          </p:cNvPr>
          <p:cNvSpPr>
            <a:spLocks xmlns:a="http://schemas.openxmlformats.org/drawingml/2006/main" noGrp="1"/>
          </p:cNvSpPr>
          <p:nvPr/>
        </p:nvSpPr>
        <p:spPr>
          <a:xfrm xmlns:a="http://schemas.openxmlformats.org/drawingml/2006/main">
            <a:off x="609600" y="4695825"/>
            <a:ext cx="48196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EV-GHN-05, EV-BIT-02, EV-NTR-02</a:t>
            </a:r>
          </a:p>
        </p:txBody>
      </p:sp>
      <p:sp>
        <p:nvSpPr>
          <p:cNvPr id="40" name="">
            <a:extLst xmlns:a="http://schemas.openxmlformats.org/drawingml/2006/main">
              <a:ext uri="{FF2B5EF4-FFF2-40B4-BE49-F238E27FC236}">
                <a16:creationId xmlns:a16="http://schemas.microsoft.com/office/drawing/2014/main" id="{E4379080-E452-4A93-A1B7-F49CD7F4BD64}"/>
              </a:ext>
            </a:extLst>
          </p:cNvPr>
          <p:cNvSpPr>
            <a:spLocks xmlns:a="http://schemas.openxmlformats.org/drawingml/2006/main" noGrp="1"/>
          </p:cNvSpPr>
          <p:nvPr/>
        </p:nvSpPr>
        <p:spPr>
          <a:xfrm xmlns:a="http://schemas.openxmlformats.org/drawingml/2006/main">
            <a:off x="6610350" y="3209925"/>
            <a:ext cx="5124450" cy="1638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1" name="">
            <a:extLst xmlns:a="http://schemas.openxmlformats.org/drawingml/2006/main">
              <a:ext uri="{FF2B5EF4-FFF2-40B4-BE49-F238E27FC236}">
                <a16:creationId xmlns:a16="http://schemas.microsoft.com/office/drawing/2014/main" id="{C3E4B86C-F012-4ED5-B726-826B871BCE17}"/>
              </a:ext>
            </a:extLst>
          </p:cNvPr>
          <p:cNvSpPr>
            <a:spLocks xmlns:a="http://schemas.openxmlformats.org/drawingml/2006/main" noGrp="1"/>
          </p:cNvSpPr>
          <p:nvPr/>
        </p:nvSpPr>
        <p:spPr>
          <a:xfrm xmlns:a="http://schemas.openxmlformats.org/drawingml/2006/main">
            <a:off x="6610350" y="3209925"/>
            <a:ext cx="512445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808F39A1-F479-4E22-B196-EA407D66EA17}"/>
              </a:ext>
            </a:extLst>
          </p:cNvPr>
          <p:cNvSpPr>
            <a:spLocks xmlns:a="http://schemas.openxmlformats.org/drawingml/2006/main" noGrp="1"/>
          </p:cNvSpPr>
          <p:nvPr/>
        </p:nvSpPr>
        <p:spPr>
          <a:xfrm xmlns:a="http://schemas.openxmlformats.org/drawingml/2006/main">
            <a:off x="6762750" y="3343275"/>
            <a:ext cx="48196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COMPLEMENTORS</a:t>
            </a:r>
          </a:p>
        </p:txBody>
      </p:sp>
      <p:sp>
        <p:nvSpPr>
          <p:cNvPr id="43" name="">
            <a:extLst xmlns:a="http://schemas.openxmlformats.org/drawingml/2006/main">
              <a:ext uri="{FF2B5EF4-FFF2-40B4-BE49-F238E27FC236}">
                <a16:creationId xmlns:a16="http://schemas.microsoft.com/office/drawing/2014/main" id="{39F44BBD-B9A7-491C-BC40-7321A9F5D8E0}"/>
              </a:ext>
            </a:extLst>
          </p:cNvPr>
          <p:cNvSpPr>
            <a:spLocks xmlns:a="http://schemas.openxmlformats.org/drawingml/2006/main" noGrp="1"/>
          </p:cNvSpPr>
          <p:nvPr/>
        </p:nvSpPr>
        <p:spPr>
          <a:xfrm xmlns:a="http://schemas.openxmlformats.org/drawingml/2006/main">
            <a:off x="6762750" y="3514725"/>
            <a:ext cx="48196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Who makes DeepGrid's layer more valuable when present</a:t>
            </a:r>
          </a:p>
        </p:txBody>
      </p:sp>
      <p:sp>
        <p:nvSpPr>
          <p:cNvPr id="44" name="">
            <a:extLst xmlns:a="http://schemas.openxmlformats.org/drawingml/2006/main">
              <a:ext uri="{FF2B5EF4-FFF2-40B4-BE49-F238E27FC236}">
                <a16:creationId xmlns:a16="http://schemas.microsoft.com/office/drawing/2014/main" id="{ECC32A43-8AFF-4196-92B1-0972672D2B8E}"/>
              </a:ext>
            </a:extLst>
          </p:cNvPr>
          <p:cNvSpPr>
            <a:spLocks xmlns:a="http://schemas.openxmlformats.org/drawingml/2006/main" noGrp="1"/>
          </p:cNvSpPr>
          <p:nvPr/>
        </p:nvSpPr>
        <p:spPr>
          <a:xfrm xmlns:a="http://schemas.openxmlformats.org/drawingml/2006/main">
            <a:off x="6762750" y="3781425"/>
            <a:ext cx="381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8F3E1AF0-090B-4CC6-9D86-6539AB64070A}"/>
              </a:ext>
            </a:extLst>
          </p:cNvPr>
          <p:cNvSpPr>
            <a:spLocks xmlns:a="http://schemas.openxmlformats.org/drawingml/2006/main" noGrp="1"/>
          </p:cNvSpPr>
          <p:nvPr/>
        </p:nvSpPr>
        <p:spPr>
          <a:xfrm xmlns:a="http://schemas.openxmlformats.org/drawingml/2006/main">
            <a:off x="6877050" y="372427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Braking Tier-1s — supply the actuation DeepGrid cannot</a:t>
            </a:r>
          </a:p>
        </p:txBody>
      </p:sp>
      <p:sp>
        <p:nvSpPr>
          <p:cNvPr id="46" name="">
            <a:extLst xmlns:a="http://schemas.openxmlformats.org/drawingml/2006/main">
              <a:ext uri="{FF2B5EF4-FFF2-40B4-BE49-F238E27FC236}">
                <a16:creationId xmlns:a16="http://schemas.microsoft.com/office/drawing/2014/main" id="{45F500C8-6A5D-486E-ADC5-49F03C664699}"/>
              </a:ext>
            </a:extLst>
          </p:cNvPr>
          <p:cNvSpPr>
            <a:spLocks xmlns:a="http://schemas.openxmlformats.org/drawingml/2006/main" noGrp="1"/>
          </p:cNvSpPr>
          <p:nvPr/>
        </p:nvSpPr>
        <p:spPr>
          <a:xfrm xmlns:a="http://schemas.openxmlformats.org/drawingml/2006/main">
            <a:off x="6762750" y="4048125"/>
            <a:ext cx="381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CC5C17F0-C9E7-4559-908C-0A818747281A}"/>
              </a:ext>
            </a:extLst>
          </p:cNvPr>
          <p:cNvSpPr>
            <a:spLocks xmlns:a="http://schemas.openxmlformats.org/drawingml/2006/main" noGrp="1"/>
          </p:cNvSpPr>
          <p:nvPr/>
        </p:nvSpPr>
        <p:spPr>
          <a:xfrm xmlns:a="http://schemas.openxmlformats.org/drawingml/2006/main">
            <a:off x="6877050" y="399097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Netrasemi — an Indian silicon ecosystem raises all local credibility</a:t>
            </a:r>
          </a:p>
        </p:txBody>
      </p:sp>
      <p:sp>
        <p:nvSpPr>
          <p:cNvPr id="48" name="">
            <a:extLst xmlns:a="http://schemas.openxmlformats.org/drawingml/2006/main">
              <a:ext uri="{FF2B5EF4-FFF2-40B4-BE49-F238E27FC236}">
                <a16:creationId xmlns:a16="http://schemas.microsoft.com/office/drawing/2014/main" id="{8B1ED5D8-909F-4686-BDC5-648B96E952A9}"/>
              </a:ext>
            </a:extLst>
          </p:cNvPr>
          <p:cNvSpPr>
            <a:spLocks xmlns:a="http://schemas.openxmlformats.org/drawingml/2006/main" noGrp="1"/>
          </p:cNvSpPr>
          <p:nvPr/>
        </p:nvSpPr>
        <p:spPr>
          <a:xfrm xmlns:a="http://schemas.openxmlformats.org/drawingml/2006/main">
            <a:off x="6762750" y="4314825"/>
            <a:ext cx="381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3A6270CE-D4DB-49C1-ACDE-DD5E7514332F}"/>
              </a:ext>
            </a:extLst>
          </p:cNvPr>
          <p:cNvSpPr>
            <a:spLocks xmlns:a="http://schemas.openxmlformats.org/drawingml/2006/main" noGrp="1"/>
          </p:cNvSpPr>
          <p:nvPr/>
        </p:nvSpPr>
        <p:spPr>
          <a:xfrm xmlns:a="http://schemas.openxmlformats.org/drawingml/2006/main">
            <a:off x="6877050" y="4257675"/>
            <a:ext cx="46672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Fleet telematics — supplies the field data DeepGrid needs</a:t>
            </a:r>
          </a:p>
        </p:txBody>
      </p:sp>
      <p:sp>
        <p:nvSpPr>
          <p:cNvPr id="50" name="">
            <a:extLst xmlns:a="http://schemas.openxmlformats.org/drawingml/2006/main">
              <a:ext uri="{FF2B5EF4-FFF2-40B4-BE49-F238E27FC236}">
                <a16:creationId xmlns:a16="http://schemas.microsoft.com/office/drawing/2014/main" id="{8EFD1061-3061-45FC-9CEF-E8BF2A8F9352}"/>
              </a:ext>
            </a:extLst>
          </p:cNvPr>
          <p:cNvSpPr>
            <a:spLocks xmlns:a="http://schemas.openxmlformats.org/drawingml/2006/main" noGrp="1"/>
          </p:cNvSpPr>
          <p:nvPr/>
        </p:nvSpPr>
        <p:spPr>
          <a:xfrm xmlns:a="http://schemas.openxmlformats.org/drawingml/2006/main">
            <a:off x="6762750" y="4695825"/>
            <a:ext cx="48196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EV-ZF-02, EV-NTR-02</a:t>
            </a:r>
          </a:p>
        </p:txBody>
      </p:sp>
      <p:sp>
        <p:nvSpPr>
          <p:cNvPr id="51" name="">
            <a:extLst xmlns:a="http://schemas.openxmlformats.org/drawingml/2006/main">
              <a:ext uri="{FF2B5EF4-FFF2-40B4-BE49-F238E27FC236}">
                <a16:creationId xmlns:a16="http://schemas.microsoft.com/office/drawing/2014/main" id="{285657B2-E5D2-4A64-A8DD-07F344809A99}"/>
              </a:ext>
            </a:extLst>
          </p:cNvPr>
          <p:cNvSpPr>
            <a:spLocks xmlns:a="http://schemas.openxmlformats.org/drawingml/2006/main" noGrp="1"/>
          </p:cNvSpPr>
          <p:nvPr/>
        </p:nvSpPr>
        <p:spPr>
          <a:xfrm xmlns:a="http://schemas.openxmlformats.org/drawingml/2006/main">
            <a:off x="5638800" y="2819400"/>
            <a:ext cx="914400" cy="4572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6FB90E6-29CA-401A-957E-C9ADF357D458}"/>
              </a:ext>
            </a:extLst>
          </p:cNvPr>
          <p:cNvSpPr>
            <a:spLocks xmlns:a="http://schemas.openxmlformats.org/drawingml/2006/main" noGrp="1"/>
          </p:cNvSpPr>
          <p:nvPr/>
        </p:nvSpPr>
        <p:spPr>
          <a:xfrm xmlns:a="http://schemas.openxmlformats.org/drawingml/2006/main">
            <a:off x="5695950" y="2914650"/>
            <a:ext cx="8001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ctr">
              <a:defRPr sz="800" b="1">
                <a:solidFill>
                  <a:srgbClr val="081525"/>
                </a:solidFill>
                <a:latin typeface="Arial"/>
                <a:ea typeface="Arial"/>
                <a:cs typeface="Arial"/>
              </a:defRPr>
            </a:pPr>
            <a:r>
              <a:t>DEEPGRID</a:t>
            </a:r>
          </a:p>
        </p:txBody>
      </p:sp>
      <p:sp>
        <p:nvSpPr>
          <p:cNvPr id="53" name="">
            <a:extLst xmlns:a="http://schemas.openxmlformats.org/drawingml/2006/main">
              <a:ext uri="{FF2B5EF4-FFF2-40B4-BE49-F238E27FC236}">
                <a16:creationId xmlns:a16="http://schemas.microsoft.com/office/drawing/2014/main" id="{49B1E9C0-3BE3-4E5A-B421-133E478FB4AF}"/>
              </a:ext>
            </a:extLst>
          </p:cNvPr>
          <p:cNvSpPr>
            <a:spLocks xmlns:a="http://schemas.openxmlformats.org/drawingml/2006/main" noGrp="1"/>
          </p:cNvSpPr>
          <p:nvPr/>
        </p:nvSpPr>
        <p:spPr>
          <a:xfrm xmlns:a="http://schemas.openxmlformats.org/drawingml/2006/main">
            <a:off x="5695950" y="3067050"/>
            <a:ext cx="8001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ctr">
              <a:defRPr sz="800" b="1">
                <a:solidFill>
                  <a:srgbClr val="081525"/>
                </a:solidFill>
                <a:latin typeface="Arial"/>
                <a:ea typeface="Arial"/>
                <a:cs typeface="Arial"/>
              </a:defRPr>
            </a:pPr>
            <a:r>
              <a:t>SEMI</a:t>
            </a:r>
          </a:p>
        </p:txBody>
      </p:sp>
      <p:sp>
        <p:nvSpPr>
          <p:cNvPr id="54" name="">
            <a:extLst xmlns:a="http://schemas.openxmlformats.org/drawingml/2006/main">
              <a:ext uri="{FF2B5EF4-FFF2-40B4-BE49-F238E27FC236}">
                <a16:creationId xmlns:a16="http://schemas.microsoft.com/office/drawing/2014/main" id="{F32902C7-E7E4-4BB3-B2C6-1437DE5E126D}"/>
              </a:ext>
            </a:extLst>
          </p:cNvPr>
          <p:cNvSpPr>
            <a:spLocks xmlns:a="http://schemas.openxmlformats.org/drawingml/2006/main" noGrp="1"/>
          </p:cNvSpPr>
          <p:nvPr/>
        </p:nvSpPr>
        <p:spPr>
          <a:xfrm xmlns:a="http://schemas.openxmlformats.org/drawingml/2006/main">
            <a:off x="457200" y="496252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446474E4-F28C-49E1-B115-34F022D5D74B}"/>
              </a:ext>
            </a:extLst>
          </p:cNvPr>
          <p:cNvSpPr>
            <a:spLocks xmlns:a="http://schemas.openxmlformats.org/drawingml/2006/main" noGrp="1"/>
          </p:cNvSpPr>
          <p:nvPr/>
        </p:nvSpPr>
        <p:spPr>
          <a:xfrm xmlns:a="http://schemas.openxmlformats.org/drawingml/2006/main">
            <a:off x="457200" y="5076825"/>
            <a:ext cx="4953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THREE COMPANIES SIT IN TWO QUADRANTS AT ONCE</a:t>
            </a:r>
          </a:p>
        </p:txBody>
      </p:sp>
      <p:sp>
        <p:nvSpPr>
          <p:cNvPr id="56" name="">
            <a:extLst xmlns:a="http://schemas.openxmlformats.org/drawingml/2006/main">
              <a:ext uri="{FF2B5EF4-FFF2-40B4-BE49-F238E27FC236}">
                <a16:creationId xmlns:a16="http://schemas.microsoft.com/office/drawing/2014/main" id="{95C13BB5-F493-4A3A-8084-5B5CD02B28A8}"/>
              </a:ext>
            </a:extLst>
          </p:cNvPr>
          <p:cNvSpPr>
            <a:spLocks xmlns:a="http://schemas.openxmlformats.org/drawingml/2006/main" noGrp="1"/>
          </p:cNvSpPr>
          <p:nvPr/>
        </p:nvSpPr>
        <p:spPr>
          <a:xfrm xmlns:a="http://schemas.openxmlformats.org/drawingml/2006/main">
            <a:off x="457200" y="5248275"/>
            <a:ext cx="1127760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Three companies sit in two quadrants at once. ZF and Aptiv are customers today and become competitors only if they in-source the perception layer — which is precisely the counter-move page's finding, and precisely why the counter-move risk and the blocker rank disagree. Coopetition is the normal state here, not an anomaly, and a dossier that can only express hostility cannot describe it.</a:t>
            </a:r>
          </a:p>
        </p:txBody>
      </p:sp>
      <p:sp>
        <p:nvSpPr>
          <p:cNvPr id="57" name="">
            <a:extLst xmlns:a="http://schemas.openxmlformats.org/drawingml/2006/main">
              <a:ext uri="{FF2B5EF4-FFF2-40B4-BE49-F238E27FC236}">
                <a16:creationId xmlns:a16="http://schemas.microsoft.com/office/drawing/2014/main" id="{1C89F59A-9A43-4992-ADB4-7E996BA42AD3}"/>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B6EEA096-3B24-4CAF-87EA-9B3A3AAD84C1}"/>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9" name="">
            <a:extLst xmlns:a="http://schemas.openxmlformats.org/drawingml/2006/main">
              <a:ext uri="{FF2B5EF4-FFF2-40B4-BE49-F238E27FC236}">
                <a16:creationId xmlns:a16="http://schemas.microsoft.com/office/drawing/2014/main" id="{CD36C549-771F-486A-BA65-0D8CA5F493C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12</a:t>
            </a:r>
          </a:p>
        </p:txBody>
      </p:sp>
    </p:spTree>
    <p:extLst>
      <p:ext uri="{BB962C8B-B14F-4D97-AF65-F5344CB8AC3E}">
        <p14:creationId xmlns:p14="http://schemas.microsoft.com/office/powerpoint/2010/main" val="97162399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415D0953-0519-4D56-8163-C9CD68E5624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CAADB4D-80EE-4CDE-A5A7-A8366BD329C4}"/>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391D532-6A9D-4CBB-9F95-7414A6440559}"/>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THE FIELD · REGULATORY BASELINE</a:t>
            </a:r>
          </a:p>
        </p:txBody>
      </p:sp>
      <p:sp>
        <p:nvSpPr>
          <p:cNvPr id="4" name="">
            <a:extLst xmlns:a="http://schemas.openxmlformats.org/drawingml/2006/main">
              <a:ext uri="{FF2B5EF4-FFF2-40B4-BE49-F238E27FC236}">
                <a16:creationId xmlns:a16="http://schemas.microsoft.com/office/drawing/2014/main" id="{D3098564-BB1D-4EEE-961D-C1C1B29AFE66}"/>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The instrument is G.S.R. 834(E), not the draft three rivals still cite</a:t>
            </a:r>
          </a:p>
        </p:txBody>
      </p:sp>
      <p:sp>
        <p:nvSpPr>
          <p:cNvPr id="5" name="">
            <a:extLst xmlns:a="http://schemas.openxmlformats.org/drawingml/2006/main">
              <a:ext uri="{FF2B5EF4-FFF2-40B4-BE49-F238E27FC236}">
                <a16:creationId xmlns:a16="http://schemas.microsoft.com/office/drawing/2014/main" id="{61978697-7AA4-4B83-B78F-93D34C786255}"/>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Verified against the gazette text. The deck previously called naming GSR 184e "defensible" — it is not.</a:t>
            </a:r>
          </a:p>
        </p:txBody>
      </p:sp>
      <p:sp>
        <p:nvSpPr>
          <p:cNvPr id="6" name="">
            <a:extLst xmlns:a="http://schemas.openxmlformats.org/drawingml/2006/main">
              <a:ext uri="{FF2B5EF4-FFF2-40B4-BE49-F238E27FC236}">
                <a16:creationId xmlns:a16="http://schemas.microsoft.com/office/drawing/2014/main" id="{DC3D23B7-05E0-4235-99C6-FF719D733C0A}"/>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3F62A91-191C-4DE2-BFA9-66F8A608AEDC}"/>
              </a:ext>
            </a:extLst>
          </p:cNvPr>
          <p:cNvSpPr>
            <a:spLocks xmlns:a="http://schemas.openxmlformats.org/drawingml/2006/main" noGrp="1"/>
          </p:cNvSpPr>
          <p:nvPr/>
        </p:nvSpPr>
        <p:spPr>
          <a:xfrm xmlns:a="http://schemas.openxmlformats.org/drawingml/2006/main">
            <a:off x="457200" y="1085850"/>
            <a:ext cx="1127760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BEA62D42-5692-4374-B528-47AD568BCA4F}"/>
              </a:ext>
            </a:extLst>
          </p:cNvPr>
          <p:cNvSpPr>
            <a:spLocks xmlns:a="http://schemas.openxmlformats.org/drawingml/2006/main" noGrp="1"/>
          </p:cNvSpPr>
          <p:nvPr/>
        </p:nvSpPr>
        <p:spPr>
          <a:xfrm xmlns:a="http://schemas.openxmlformats.org/drawingml/2006/main">
            <a:off x="457200" y="1085850"/>
            <a:ext cx="38100" cy="78105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92ABFF0-D70C-4441-908D-EAF9B223E3C3}"/>
              </a:ext>
            </a:extLst>
          </p:cNvPr>
          <p:cNvSpPr>
            <a:spLocks xmlns:a="http://schemas.openxmlformats.org/drawingml/2006/main" noGrp="1"/>
          </p:cNvSpPr>
          <p:nvPr/>
        </p:nvSpPr>
        <p:spPr>
          <a:xfrm xmlns:a="http://schemas.openxmlformats.org/drawingml/2006/main">
            <a:off x="609600" y="1200150"/>
            <a:ext cx="3810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NOTIFIED INSTRUMENT</a:t>
            </a:r>
          </a:p>
        </p:txBody>
      </p:sp>
      <p:sp>
        <p:nvSpPr>
          <p:cNvPr id="10" name="">
            <a:extLst xmlns:a="http://schemas.openxmlformats.org/drawingml/2006/main">
              <a:ext uri="{FF2B5EF4-FFF2-40B4-BE49-F238E27FC236}">
                <a16:creationId xmlns:a16="http://schemas.microsoft.com/office/drawing/2014/main" id="{1CF66E3E-1F22-49D9-8213-D88BBE781BC6}"/>
              </a:ext>
            </a:extLst>
          </p:cNvPr>
          <p:cNvSpPr>
            <a:spLocks xmlns:a="http://schemas.openxmlformats.org/drawingml/2006/main" noGrp="1"/>
          </p:cNvSpPr>
          <p:nvPr/>
        </p:nvSpPr>
        <p:spPr>
          <a:xfrm xmlns:a="http://schemas.openxmlformats.org/drawingml/2006/main">
            <a:off x="609600" y="1371600"/>
            <a:ext cx="10972800" cy="1714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1200" b="1">
                <a:solidFill>
                  <a:srgbClr val="FFFFFF"/>
                </a:solidFill>
                <a:latin typeface="Arial"/>
                <a:ea typeface="Arial"/>
                <a:cs typeface="Arial"/>
              </a:defRPr>
            </a:pPr>
            <a:r>
              <a:t>G.S.R. 834(E), 11 November 2025 — Central Motor Vehicles (Sixth Amendment) Rules, 2025 — in force 12 Nov 2025</a:t>
            </a:r>
          </a:p>
        </p:txBody>
      </p:sp>
      <p:sp>
        <p:nvSpPr>
          <p:cNvPr id="11" name="">
            <a:extLst xmlns:a="http://schemas.openxmlformats.org/drawingml/2006/main">
              <a:ext uri="{FF2B5EF4-FFF2-40B4-BE49-F238E27FC236}">
                <a16:creationId xmlns:a16="http://schemas.microsoft.com/office/drawing/2014/main" id="{5D9D0A4B-F2B4-4BAE-ADFC-A1845674511F}"/>
              </a:ext>
            </a:extLst>
          </p:cNvPr>
          <p:cNvSpPr>
            <a:spLocks xmlns:a="http://schemas.openxmlformats.org/drawingml/2006/main" noGrp="1"/>
          </p:cNvSpPr>
          <p:nvPr/>
        </p:nvSpPr>
        <p:spPr>
          <a:xfrm xmlns:a="http://schemas.openxmlformats.org/drawingml/2006/main">
            <a:off x="609600" y="1581150"/>
            <a:ext cx="109728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Amended by G.S.R. 862(E), gazetted 21 November 2025 — substituted rule 96(12) to add Vehicle Stability Function</a:t>
            </a:r>
          </a:p>
        </p:txBody>
      </p:sp>
      <p:sp>
        <p:nvSpPr>
          <p:cNvPr id="12" name="">
            <a:extLst xmlns:a="http://schemas.openxmlformats.org/drawingml/2006/main">
              <a:ext uri="{FF2B5EF4-FFF2-40B4-BE49-F238E27FC236}">
                <a16:creationId xmlns:a16="http://schemas.microsoft.com/office/drawing/2014/main" id="{C55FA711-1F51-4FFF-8F2B-51E3255CFD4B}"/>
              </a:ext>
            </a:extLst>
          </p:cNvPr>
          <p:cNvSpPr>
            <a:spLocks xmlns:a="http://schemas.openxmlformats.org/drawingml/2006/main" noGrp="1"/>
          </p:cNvSpPr>
          <p:nvPr/>
        </p:nvSpPr>
        <p:spPr>
          <a:xfrm xmlns:a="http://schemas.openxmlformats.org/drawingml/2006/main">
            <a:off x="609600" y="1714500"/>
            <a:ext cx="109728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Gazette CG-DL-E-13112025-267610 · digitally signed 13 Nov 2025 — public for nine months, not outstanding</a:t>
            </a:r>
          </a:p>
        </p:txBody>
      </p:sp>
      <p:sp>
        <p:nvSpPr>
          <p:cNvPr id="13" name="">
            <a:extLst xmlns:a="http://schemas.openxmlformats.org/drawingml/2006/main">
              <a:ext uri="{FF2B5EF4-FFF2-40B4-BE49-F238E27FC236}">
                <a16:creationId xmlns:a16="http://schemas.microsoft.com/office/drawing/2014/main" id="{AFA8573B-B856-42AE-A0A8-E9774458CEB3}"/>
              </a:ext>
            </a:extLst>
          </p:cNvPr>
          <p:cNvSpPr>
            <a:spLocks xmlns:a="http://schemas.openxmlformats.org/drawingml/2006/main" noGrp="1"/>
          </p:cNvSpPr>
          <p:nvPr/>
        </p:nvSpPr>
        <p:spPr>
          <a:xfrm xmlns:a="http://schemas.openxmlformats.org/drawingml/2006/main">
            <a:off x="457200" y="1981200"/>
            <a:ext cx="11277600" cy="419100"/>
          </a:xfrm>
          <a:prstGeom xmlns:a="http://schemas.openxmlformats.org/drawingml/2006/main" prst="rect">
            <a:avLst/>
          </a:prstGeom>
          <a:solidFill xmlns:a="http://schemas.openxmlformats.org/drawingml/2006/main">
            <a:srgbClr val="2A1A1A"/>
          </a:solidFill>
          <a:ln xmlns:a="http://schemas.openxmlformats.org/drawingml/2006/main" w="9525">
            <a:solidFill>
              <a:srgbClr val="E06767"/>
            </a:solidFill>
            <a:prstDash val="solid"/>
          </a:ln>
        </p:spPr>
      </p:sp>
      <p:sp>
        <p:nvSpPr>
          <p:cNvPr id="14" name="">
            <a:extLst xmlns:a="http://schemas.openxmlformats.org/drawingml/2006/main">
              <a:ext uri="{FF2B5EF4-FFF2-40B4-BE49-F238E27FC236}">
                <a16:creationId xmlns:a16="http://schemas.microsoft.com/office/drawing/2014/main" id="{D57151C3-1AE8-425E-B867-5C4C18A8FBAA}"/>
              </a:ext>
            </a:extLst>
          </p:cNvPr>
          <p:cNvSpPr>
            <a:spLocks xmlns:a="http://schemas.openxmlformats.org/drawingml/2006/main" noGrp="1"/>
          </p:cNvSpPr>
          <p:nvPr/>
        </p:nvSpPr>
        <p:spPr>
          <a:xfrm xmlns:a="http://schemas.openxmlformats.org/drawingml/2006/main">
            <a:off x="609600" y="207645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SUPERSEDED DRAFT</a:t>
            </a:r>
          </a:p>
        </p:txBody>
      </p:sp>
      <p:sp>
        <p:nvSpPr>
          <p:cNvPr id="15" name="">
            <a:extLst xmlns:a="http://schemas.openxmlformats.org/drawingml/2006/main">
              <a:ext uri="{FF2B5EF4-FFF2-40B4-BE49-F238E27FC236}">
                <a16:creationId xmlns:a16="http://schemas.microsoft.com/office/drawing/2014/main" id="{FB44BD3D-784B-43CC-8B52-595A4AEB527D}"/>
              </a:ext>
            </a:extLst>
          </p:cNvPr>
          <p:cNvSpPr>
            <a:spLocks xmlns:a="http://schemas.openxmlformats.org/drawingml/2006/main" noGrp="1"/>
          </p:cNvSpPr>
          <p:nvPr/>
        </p:nvSpPr>
        <p:spPr>
          <a:xfrm xmlns:a="http://schemas.openxmlformats.org/drawingml/2006/main">
            <a:off x="609600" y="2228850"/>
            <a:ext cx="109728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E8C9C9"/>
                </a:solidFill>
                <a:latin typeface="Arial"/>
                <a:ea typeface="Arial"/>
                <a:cs typeface="Arial"/>
              </a:defRPr>
            </a:pPr>
            <a:r>
              <a:t>G.S.R. 184(E), 20 March 2025 was a DRAFT. The notified rule's own preamble names it as the draft it replaces.</a:t>
            </a:r>
          </a:p>
        </p:txBody>
      </p:sp>
      <p:sp>
        <p:nvSpPr>
          <p:cNvPr id="16" name="">
            <a:extLst xmlns:a="http://schemas.openxmlformats.org/drawingml/2006/main">
              <a:ext uri="{FF2B5EF4-FFF2-40B4-BE49-F238E27FC236}">
                <a16:creationId xmlns:a16="http://schemas.microsoft.com/office/drawing/2014/main" id="{8035F52B-6946-4CA4-B229-62EF8A7DF271}"/>
              </a:ext>
            </a:extLst>
          </p:cNvPr>
          <p:cNvSpPr>
            <a:spLocks xmlns:a="http://schemas.openxmlformats.org/drawingml/2006/main" noGrp="1"/>
          </p:cNvSpPr>
          <p:nvPr/>
        </p:nvSpPr>
        <p:spPr>
          <a:xfrm xmlns:a="http://schemas.openxmlformats.org/drawingml/2006/main">
            <a:off x="457200" y="2514600"/>
            <a:ext cx="2781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OBLIGATION</a:t>
            </a:r>
          </a:p>
        </p:txBody>
      </p:sp>
      <p:sp>
        <p:nvSpPr>
          <p:cNvPr id="17" name="">
            <a:extLst xmlns:a="http://schemas.openxmlformats.org/drawingml/2006/main">
              <a:ext uri="{FF2B5EF4-FFF2-40B4-BE49-F238E27FC236}">
                <a16:creationId xmlns:a16="http://schemas.microsoft.com/office/drawing/2014/main" id="{B7C0CAE2-29E2-4A1D-BCAC-198C206BB9E3}"/>
              </a:ext>
            </a:extLst>
          </p:cNvPr>
          <p:cNvSpPr>
            <a:spLocks xmlns:a="http://schemas.openxmlformats.org/drawingml/2006/main" noGrp="1"/>
          </p:cNvSpPr>
          <p:nvPr/>
        </p:nvSpPr>
        <p:spPr>
          <a:xfrm xmlns:a="http://schemas.openxmlformats.org/drawingml/2006/main">
            <a:off x="3314700" y="2514600"/>
            <a:ext cx="21145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STANDARD</a:t>
            </a:r>
          </a:p>
        </p:txBody>
      </p:sp>
      <p:sp>
        <p:nvSpPr>
          <p:cNvPr id="18" name="">
            <a:extLst xmlns:a="http://schemas.openxmlformats.org/drawingml/2006/main">
              <a:ext uri="{FF2B5EF4-FFF2-40B4-BE49-F238E27FC236}">
                <a16:creationId xmlns:a16="http://schemas.microsoft.com/office/drawing/2014/main" id="{79B6620E-E366-4D2E-8409-EBB5B3ED4ECF}"/>
              </a:ext>
            </a:extLst>
          </p:cNvPr>
          <p:cNvSpPr>
            <a:spLocks xmlns:a="http://schemas.openxmlformats.org/drawingml/2006/main" noGrp="1"/>
          </p:cNvSpPr>
          <p:nvPr/>
        </p:nvSpPr>
        <p:spPr>
          <a:xfrm xmlns:a="http://schemas.openxmlformats.org/drawingml/2006/main">
            <a:off x="5505450" y="2514600"/>
            <a:ext cx="1638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NEW MODELS</a:t>
            </a:r>
          </a:p>
        </p:txBody>
      </p:sp>
      <p:sp>
        <p:nvSpPr>
          <p:cNvPr id="19" name="">
            <a:extLst xmlns:a="http://schemas.openxmlformats.org/drawingml/2006/main">
              <a:ext uri="{FF2B5EF4-FFF2-40B4-BE49-F238E27FC236}">
                <a16:creationId xmlns:a16="http://schemas.microsoft.com/office/drawing/2014/main" id="{CC97EED6-A2A1-4FF1-AF8B-2925FCB26EE9}"/>
              </a:ext>
            </a:extLst>
          </p:cNvPr>
          <p:cNvSpPr>
            <a:spLocks xmlns:a="http://schemas.openxmlformats.org/drawingml/2006/main" noGrp="1"/>
          </p:cNvSpPr>
          <p:nvPr/>
        </p:nvSpPr>
        <p:spPr>
          <a:xfrm xmlns:a="http://schemas.openxmlformats.org/drawingml/2006/main">
            <a:off x="7219950" y="2514600"/>
            <a:ext cx="1638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ALL / EXISTING</a:t>
            </a:r>
          </a:p>
        </p:txBody>
      </p:sp>
      <p:sp>
        <p:nvSpPr>
          <p:cNvPr id="20" name="">
            <a:extLst xmlns:a="http://schemas.openxmlformats.org/drawingml/2006/main">
              <a:ext uri="{FF2B5EF4-FFF2-40B4-BE49-F238E27FC236}">
                <a16:creationId xmlns:a16="http://schemas.microsoft.com/office/drawing/2014/main" id="{C311955A-0714-43D5-AF3A-97E4ACF4AAA6}"/>
              </a:ext>
            </a:extLst>
          </p:cNvPr>
          <p:cNvSpPr>
            <a:spLocks xmlns:a="http://schemas.openxmlformats.org/drawingml/2006/main" noGrp="1"/>
          </p:cNvSpPr>
          <p:nvPr/>
        </p:nvSpPr>
        <p:spPr>
          <a:xfrm xmlns:a="http://schemas.openxmlformats.org/drawingml/2006/main">
            <a:off x="8934450" y="2514600"/>
            <a:ext cx="27241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RULE</a:t>
            </a:r>
          </a:p>
        </p:txBody>
      </p:sp>
      <p:sp>
        <p:nvSpPr>
          <p:cNvPr id="21" name="">
            <a:extLst xmlns:a="http://schemas.openxmlformats.org/drawingml/2006/main">
              <a:ext uri="{FF2B5EF4-FFF2-40B4-BE49-F238E27FC236}">
                <a16:creationId xmlns:a16="http://schemas.microsoft.com/office/drawing/2014/main" id="{20947B0D-6600-4119-B8A9-8DBB3E81728E}"/>
              </a:ext>
            </a:extLst>
          </p:cNvPr>
          <p:cNvSpPr>
            <a:spLocks xmlns:a="http://schemas.openxmlformats.org/drawingml/2006/main" noGrp="1"/>
          </p:cNvSpPr>
          <p:nvPr/>
        </p:nvSpPr>
        <p:spPr>
          <a:xfrm xmlns:a="http://schemas.openxmlformats.org/drawingml/2006/main">
            <a:off x="457200" y="26670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AFD5FFA-36FD-4343-B883-EC2F061EBC3B}"/>
              </a:ext>
            </a:extLst>
          </p:cNvPr>
          <p:cNvSpPr>
            <a:spLocks xmlns:a="http://schemas.openxmlformats.org/drawingml/2006/main" noGrp="1"/>
          </p:cNvSpPr>
          <p:nvPr/>
        </p:nvSpPr>
        <p:spPr>
          <a:xfrm xmlns:a="http://schemas.openxmlformats.org/drawingml/2006/main">
            <a:off x="457200" y="2724150"/>
            <a:ext cx="2781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b="1">
                <a:solidFill>
                  <a:srgbClr val="FFFFFF"/>
                </a:solidFill>
                <a:latin typeface="Arial"/>
                <a:ea typeface="Arial"/>
                <a:cs typeface="Arial"/>
              </a:defRPr>
            </a:pPr>
            <a:r>
              <a:t>AEBS + Vehicle Stability Function</a:t>
            </a:r>
          </a:p>
        </p:txBody>
      </p:sp>
      <p:sp>
        <p:nvSpPr>
          <p:cNvPr id="23" name="">
            <a:extLst xmlns:a="http://schemas.openxmlformats.org/drawingml/2006/main">
              <a:ext uri="{FF2B5EF4-FFF2-40B4-BE49-F238E27FC236}">
                <a16:creationId xmlns:a16="http://schemas.microsoft.com/office/drawing/2014/main" id="{C092EC12-2D58-4E8D-A88E-F2B3639D6F87}"/>
              </a:ext>
            </a:extLst>
          </p:cNvPr>
          <p:cNvSpPr>
            <a:spLocks xmlns:a="http://schemas.openxmlformats.org/drawingml/2006/main" noGrp="1"/>
          </p:cNvSpPr>
          <p:nvPr/>
        </p:nvSpPr>
        <p:spPr>
          <a:xfrm xmlns:a="http://schemas.openxmlformats.org/drawingml/2006/main">
            <a:off x="3314700" y="2724150"/>
            <a:ext cx="211455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b="1">
                <a:solidFill>
                  <a:srgbClr val="FFFFFF"/>
                </a:solidFill>
                <a:latin typeface="Arial"/>
                <a:ea typeface="Arial"/>
                <a:cs typeface="Arial"/>
              </a:defRPr>
            </a:pPr>
            <a:r>
              <a:t>AIS-162 / IS 11852:2019</a:t>
            </a:r>
          </a:p>
        </p:txBody>
      </p:sp>
      <p:sp>
        <p:nvSpPr>
          <p:cNvPr id="24" name="">
            <a:extLst xmlns:a="http://schemas.openxmlformats.org/drawingml/2006/main">
              <a:ext uri="{FF2B5EF4-FFF2-40B4-BE49-F238E27FC236}">
                <a16:creationId xmlns:a16="http://schemas.microsoft.com/office/drawing/2014/main" id="{DEA7331B-2D2D-42C3-A6EE-01282DC70C34}"/>
              </a:ext>
            </a:extLst>
          </p:cNvPr>
          <p:cNvSpPr>
            <a:spLocks xmlns:a="http://schemas.openxmlformats.org/drawingml/2006/main" noGrp="1"/>
          </p:cNvSpPr>
          <p:nvPr/>
        </p:nvSpPr>
        <p:spPr>
          <a:xfrm xmlns:a="http://schemas.openxmlformats.org/drawingml/2006/main">
            <a:off x="5505450" y="2724150"/>
            <a:ext cx="1638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b="1">
                <a:solidFill>
                  <a:srgbClr val="D7720B"/>
                </a:solidFill>
                <a:latin typeface="Arial"/>
                <a:ea typeface="Arial"/>
                <a:cs typeface="Arial"/>
              </a:defRPr>
            </a:pPr>
            <a:r>
              <a:t>1 Jan 2027</a:t>
            </a:r>
          </a:p>
        </p:txBody>
      </p:sp>
      <p:sp>
        <p:nvSpPr>
          <p:cNvPr id="25" name="">
            <a:extLst xmlns:a="http://schemas.openxmlformats.org/drawingml/2006/main">
              <a:ext uri="{FF2B5EF4-FFF2-40B4-BE49-F238E27FC236}">
                <a16:creationId xmlns:a16="http://schemas.microsoft.com/office/drawing/2014/main" id="{2CF526A5-CAD6-46E1-8A4B-BC80FA4DAE08}"/>
              </a:ext>
            </a:extLst>
          </p:cNvPr>
          <p:cNvSpPr>
            <a:spLocks xmlns:a="http://schemas.openxmlformats.org/drawingml/2006/main" noGrp="1"/>
          </p:cNvSpPr>
          <p:nvPr/>
        </p:nvSpPr>
        <p:spPr>
          <a:xfrm xmlns:a="http://schemas.openxmlformats.org/drawingml/2006/main">
            <a:off x="7219950" y="2724150"/>
            <a:ext cx="1638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b="1">
                <a:solidFill>
                  <a:srgbClr val="D7720B"/>
                </a:solidFill>
                <a:latin typeface="Arial"/>
                <a:ea typeface="Arial"/>
                <a:cs typeface="Arial"/>
              </a:defRPr>
            </a:pPr>
            <a:r>
              <a:t>1 Oct 2027</a:t>
            </a:r>
          </a:p>
        </p:txBody>
      </p:sp>
      <p:sp>
        <p:nvSpPr>
          <p:cNvPr id="26" name="">
            <a:extLst xmlns:a="http://schemas.openxmlformats.org/drawingml/2006/main">
              <a:ext uri="{FF2B5EF4-FFF2-40B4-BE49-F238E27FC236}">
                <a16:creationId xmlns:a16="http://schemas.microsoft.com/office/drawing/2014/main" id="{F24AC7D2-E28F-4ED8-B211-0771E71B7CF5}"/>
              </a:ext>
            </a:extLst>
          </p:cNvPr>
          <p:cNvSpPr>
            <a:spLocks xmlns:a="http://schemas.openxmlformats.org/drawingml/2006/main" noGrp="1"/>
          </p:cNvSpPr>
          <p:nvPr/>
        </p:nvSpPr>
        <p:spPr>
          <a:xfrm xmlns:a="http://schemas.openxmlformats.org/drawingml/2006/main">
            <a:off x="8934450" y="2724150"/>
            <a:ext cx="272415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96(12)</a:t>
            </a:r>
          </a:p>
        </p:txBody>
      </p:sp>
      <p:sp>
        <p:nvSpPr>
          <p:cNvPr id="27" name="">
            <a:extLst xmlns:a="http://schemas.openxmlformats.org/drawingml/2006/main">
              <a:ext uri="{FF2B5EF4-FFF2-40B4-BE49-F238E27FC236}">
                <a16:creationId xmlns:a16="http://schemas.microsoft.com/office/drawing/2014/main" id="{AB583FD0-17D6-426C-BE45-F226C1D213D1}"/>
              </a:ext>
            </a:extLst>
          </p:cNvPr>
          <p:cNvSpPr>
            <a:spLocks xmlns:a="http://schemas.openxmlformats.org/drawingml/2006/main" noGrp="1"/>
          </p:cNvSpPr>
          <p:nvPr/>
        </p:nvSpPr>
        <p:spPr>
          <a:xfrm xmlns:a="http://schemas.openxmlformats.org/drawingml/2006/main">
            <a:off x="457200" y="2952750"/>
            <a:ext cx="2781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LDWS</a:t>
            </a:r>
          </a:p>
        </p:txBody>
      </p:sp>
      <p:sp>
        <p:nvSpPr>
          <p:cNvPr id="28" name="">
            <a:extLst xmlns:a="http://schemas.openxmlformats.org/drawingml/2006/main">
              <a:ext uri="{FF2B5EF4-FFF2-40B4-BE49-F238E27FC236}">
                <a16:creationId xmlns:a16="http://schemas.microsoft.com/office/drawing/2014/main" id="{3758B8DA-D9DA-4FA9-9705-028DA0B63C96}"/>
              </a:ext>
            </a:extLst>
          </p:cNvPr>
          <p:cNvSpPr>
            <a:spLocks xmlns:a="http://schemas.openxmlformats.org/drawingml/2006/main" noGrp="1"/>
          </p:cNvSpPr>
          <p:nvPr/>
        </p:nvSpPr>
        <p:spPr>
          <a:xfrm xmlns:a="http://schemas.openxmlformats.org/drawingml/2006/main">
            <a:off x="3314700" y="2952750"/>
            <a:ext cx="211455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AIS-188</a:t>
            </a:r>
          </a:p>
        </p:txBody>
      </p:sp>
      <p:sp>
        <p:nvSpPr>
          <p:cNvPr id="29" name="">
            <a:extLst xmlns:a="http://schemas.openxmlformats.org/drawingml/2006/main">
              <a:ext uri="{FF2B5EF4-FFF2-40B4-BE49-F238E27FC236}">
                <a16:creationId xmlns:a16="http://schemas.microsoft.com/office/drawing/2014/main" id="{06DF94A4-4CE8-472D-A8F8-EDADACF74265}"/>
              </a:ext>
            </a:extLst>
          </p:cNvPr>
          <p:cNvSpPr>
            <a:spLocks xmlns:a="http://schemas.openxmlformats.org/drawingml/2006/main" noGrp="1"/>
          </p:cNvSpPr>
          <p:nvPr/>
        </p:nvSpPr>
        <p:spPr>
          <a:xfrm xmlns:a="http://schemas.openxmlformats.org/drawingml/2006/main">
            <a:off x="5505450" y="2952750"/>
            <a:ext cx="1638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 Oct 2027</a:t>
            </a:r>
          </a:p>
        </p:txBody>
      </p:sp>
      <p:sp>
        <p:nvSpPr>
          <p:cNvPr id="30" name="">
            <a:extLst xmlns:a="http://schemas.openxmlformats.org/drawingml/2006/main">
              <a:ext uri="{FF2B5EF4-FFF2-40B4-BE49-F238E27FC236}">
                <a16:creationId xmlns:a16="http://schemas.microsoft.com/office/drawing/2014/main" id="{4AE3AF76-5A63-442E-A057-7FE7358C881D}"/>
              </a:ext>
            </a:extLst>
          </p:cNvPr>
          <p:cNvSpPr>
            <a:spLocks xmlns:a="http://schemas.openxmlformats.org/drawingml/2006/main" noGrp="1"/>
          </p:cNvSpPr>
          <p:nvPr/>
        </p:nvSpPr>
        <p:spPr>
          <a:xfrm xmlns:a="http://schemas.openxmlformats.org/drawingml/2006/main">
            <a:off x="7219950" y="2952750"/>
            <a:ext cx="1638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 Jan 2028</a:t>
            </a:r>
          </a:p>
        </p:txBody>
      </p:sp>
      <p:sp>
        <p:nvSpPr>
          <p:cNvPr id="31" name="">
            <a:extLst xmlns:a="http://schemas.openxmlformats.org/drawingml/2006/main">
              <a:ext uri="{FF2B5EF4-FFF2-40B4-BE49-F238E27FC236}">
                <a16:creationId xmlns:a16="http://schemas.microsoft.com/office/drawing/2014/main" id="{FBC9B42C-3614-49DC-9ACB-85393B49B968}"/>
              </a:ext>
            </a:extLst>
          </p:cNvPr>
          <p:cNvSpPr>
            <a:spLocks xmlns:a="http://schemas.openxmlformats.org/drawingml/2006/main" noGrp="1"/>
          </p:cNvSpPr>
          <p:nvPr/>
        </p:nvSpPr>
        <p:spPr>
          <a:xfrm xmlns:a="http://schemas.openxmlformats.org/drawingml/2006/main">
            <a:off x="8934450" y="2952750"/>
            <a:ext cx="272415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98(6)</a:t>
            </a:r>
          </a:p>
        </p:txBody>
      </p:sp>
      <p:sp>
        <p:nvSpPr>
          <p:cNvPr id="32" name="">
            <a:extLst xmlns:a="http://schemas.openxmlformats.org/drawingml/2006/main">
              <a:ext uri="{FF2B5EF4-FFF2-40B4-BE49-F238E27FC236}">
                <a16:creationId xmlns:a16="http://schemas.microsoft.com/office/drawing/2014/main" id="{F2EF2D05-7835-491B-B2C5-A5A3A36C858A}"/>
              </a:ext>
            </a:extLst>
          </p:cNvPr>
          <p:cNvSpPr>
            <a:spLocks xmlns:a="http://schemas.openxmlformats.org/drawingml/2006/main" noGrp="1"/>
          </p:cNvSpPr>
          <p:nvPr/>
        </p:nvSpPr>
        <p:spPr>
          <a:xfrm xmlns:a="http://schemas.openxmlformats.org/drawingml/2006/main">
            <a:off x="457200" y="3181350"/>
            <a:ext cx="2781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DDAWS</a:t>
            </a:r>
          </a:p>
        </p:txBody>
      </p:sp>
      <p:sp>
        <p:nvSpPr>
          <p:cNvPr id="33" name="">
            <a:extLst xmlns:a="http://schemas.openxmlformats.org/drawingml/2006/main">
              <a:ext uri="{FF2B5EF4-FFF2-40B4-BE49-F238E27FC236}">
                <a16:creationId xmlns:a16="http://schemas.microsoft.com/office/drawing/2014/main" id="{E4CDD556-8CE9-4D9B-9ECB-68ABB961AB69}"/>
              </a:ext>
            </a:extLst>
          </p:cNvPr>
          <p:cNvSpPr>
            <a:spLocks xmlns:a="http://schemas.openxmlformats.org/drawingml/2006/main" noGrp="1"/>
          </p:cNvSpPr>
          <p:nvPr/>
        </p:nvSpPr>
        <p:spPr>
          <a:xfrm xmlns:a="http://schemas.openxmlformats.org/drawingml/2006/main">
            <a:off x="3314700" y="3181350"/>
            <a:ext cx="211455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AIS-184</a:t>
            </a:r>
          </a:p>
        </p:txBody>
      </p:sp>
      <p:sp>
        <p:nvSpPr>
          <p:cNvPr id="34" name="">
            <a:extLst xmlns:a="http://schemas.openxmlformats.org/drawingml/2006/main">
              <a:ext uri="{FF2B5EF4-FFF2-40B4-BE49-F238E27FC236}">
                <a16:creationId xmlns:a16="http://schemas.microsoft.com/office/drawing/2014/main" id="{761F7584-AEC2-44AC-B5C3-AE06A5DD79B6}"/>
              </a:ext>
            </a:extLst>
          </p:cNvPr>
          <p:cNvSpPr>
            <a:spLocks xmlns:a="http://schemas.openxmlformats.org/drawingml/2006/main" noGrp="1"/>
          </p:cNvSpPr>
          <p:nvPr/>
        </p:nvSpPr>
        <p:spPr>
          <a:xfrm xmlns:a="http://schemas.openxmlformats.org/drawingml/2006/main">
            <a:off x="5505450" y="3181350"/>
            <a:ext cx="1638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 Oct 2027</a:t>
            </a:r>
          </a:p>
        </p:txBody>
      </p:sp>
      <p:sp>
        <p:nvSpPr>
          <p:cNvPr id="35" name="">
            <a:extLst xmlns:a="http://schemas.openxmlformats.org/drawingml/2006/main">
              <a:ext uri="{FF2B5EF4-FFF2-40B4-BE49-F238E27FC236}">
                <a16:creationId xmlns:a16="http://schemas.microsoft.com/office/drawing/2014/main" id="{F3B27096-AE58-42EA-835B-4128C47CE3FD}"/>
              </a:ext>
            </a:extLst>
          </p:cNvPr>
          <p:cNvSpPr>
            <a:spLocks xmlns:a="http://schemas.openxmlformats.org/drawingml/2006/main" noGrp="1"/>
          </p:cNvSpPr>
          <p:nvPr/>
        </p:nvSpPr>
        <p:spPr>
          <a:xfrm xmlns:a="http://schemas.openxmlformats.org/drawingml/2006/main">
            <a:off x="7219950" y="3181350"/>
            <a:ext cx="1638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 Jan 2028</a:t>
            </a:r>
          </a:p>
        </p:txBody>
      </p:sp>
      <p:sp>
        <p:nvSpPr>
          <p:cNvPr id="36" name="">
            <a:extLst xmlns:a="http://schemas.openxmlformats.org/drawingml/2006/main">
              <a:ext uri="{FF2B5EF4-FFF2-40B4-BE49-F238E27FC236}">
                <a16:creationId xmlns:a16="http://schemas.microsoft.com/office/drawing/2014/main" id="{F0AA007B-EA96-4D00-90F5-12DEA0439FCA}"/>
              </a:ext>
            </a:extLst>
          </p:cNvPr>
          <p:cNvSpPr>
            <a:spLocks xmlns:a="http://schemas.openxmlformats.org/drawingml/2006/main" noGrp="1"/>
          </p:cNvSpPr>
          <p:nvPr/>
        </p:nvSpPr>
        <p:spPr>
          <a:xfrm xmlns:a="http://schemas.openxmlformats.org/drawingml/2006/main">
            <a:off x="8934450" y="3181350"/>
            <a:ext cx="272415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125Q(1)</a:t>
            </a:r>
          </a:p>
        </p:txBody>
      </p:sp>
      <p:sp>
        <p:nvSpPr>
          <p:cNvPr id="37" name="">
            <a:extLst xmlns:a="http://schemas.openxmlformats.org/drawingml/2006/main">
              <a:ext uri="{FF2B5EF4-FFF2-40B4-BE49-F238E27FC236}">
                <a16:creationId xmlns:a16="http://schemas.microsoft.com/office/drawing/2014/main" id="{A058E4E4-E1E6-4AA2-BA4C-1896A255DCE7}"/>
              </a:ext>
            </a:extLst>
          </p:cNvPr>
          <p:cNvSpPr>
            <a:spLocks xmlns:a="http://schemas.openxmlformats.org/drawingml/2006/main" noGrp="1"/>
          </p:cNvSpPr>
          <p:nvPr/>
        </p:nvSpPr>
        <p:spPr>
          <a:xfrm xmlns:a="http://schemas.openxmlformats.org/drawingml/2006/main">
            <a:off x="457200" y="3409950"/>
            <a:ext cx="2781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BSIS</a:t>
            </a:r>
          </a:p>
        </p:txBody>
      </p:sp>
      <p:sp>
        <p:nvSpPr>
          <p:cNvPr id="38" name="">
            <a:extLst xmlns:a="http://schemas.openxmlformats.org/drawingml/2006/main">
              <a:ext uri="{FF2B5EF4-FFF2-40B4-BE49-F238E27FC236}">
                <a16:creationId xmlns:a16="http://schemas.microsoft.com/office/drawing/2014/main" id="{2B7387F2-BB04-4B75-BB7E-5A1960C5FCB2}"/>
              </a:ext>
            </a:extLst>
          </p:cNvPr>
          <p:cNvSpPr>
            <a:spLocks xmlns:a="http://schemas.openxmlformats.org/drawingml/2006/main" noGrp="1"/>
          </p:cNvSpPr>
          <p:nvPr/>
        </p:nvSpPr>
        <p:spPr>
          <a:xfrm xmlns:a="http://schemas.openxmlformats.org/drawingml/2006/main">
            <a:off x="3314700" y="3409950"/>
            <a:ext cx="211455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AIS-186</a:t>
            </a:r>
          </a:p>
        </p:txBody>
      </p:sp>
      <p:sp>
        <p:nvSpPr>
          <p:cNvPr id="39" name="">
            <a:extLst xmlns:a="http://schemas.openxmlformats.org/drawingml/2006/main">
              <a:ext uri="{FF2B5EF4-FFF2-40B4-BE49-F238E27FC236}">
                <a16:creationId xmlns:a16="http://schemas.microsoft.com/office/drawing/2014/main" id="{CD53D416-5C4E-40C9-91B9-A15096E5B7D6}"/>
              </a:ext>
            </a:extLst>
          </p:cNvPr>
          <p:cNvSpPr>
            <a:spLocks xmlns:a="http://schemas.openxmlformats.org/drawingml/2006/main" noGrp="1"/>
          </p:cNvSpPr>
          <p:nvPr/>
        </p:nvSpPr>
        <p:spPr>
          <a:xfrm xmlns:a="http://schemas.openxmlformats.org/drawingml/2006/main">
            <a:off x="5505450" y="3409950"/>
            <a:ext cx="1638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 Oct 2027</a:t>
            </a:r>
          </a:p>
        </p:txBody>
      </p:sp>
      <p:sp>
        <p:nvSpPr>
          <p:cNvPr id="40" name="">
            <a:extLst xmlns:a="http://schemas.openxmlformats.org/drawingml/2006/main">
              <a:ext uri="{FF2B5EF4-FFF2-40B4-BE49-F238E27FC236}">
                <a16:creationId xmlns:a16="http://schemas.microsoft.com/office/drawing/2014/main" id="{599465CB-095E-4F41-884D-067161045EC1}"/>
              </a:ext>
            </a:extLst>
          </p:cNvPr>
          <p:cNvSpPr>
            <a:spLocks xmlns:a="http://schemas.openxmlformats.org/drawingml/2006/main" noGrp="1"/>
          </p:cNvSpPr>
          <p:nvPr/>
        </p:nvSpPr>
        <p:spPr>
          <a:xfrm xmlns:a="http://schemas.openxmlformats.org/drawingml/2006/main">
            <a:off x="7219950" y="3409950"/>
            <a:ext cx="1638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 Jan 2028</a:t>
            </a:r>
          </a:p>
        </p:txBody>
      </p:sp>
      <p:sp>
        <p:nvSpPr>
          <p:cNvPr id="41" name="">
            <a:extLst xmlns:a="http://schemas.openxmlformats.org/drawingml/2006/main">
              <a:ext uri="{FF2B5EF4-FFF2-40B4-BE49-F238E27FC236}">
                <a16:creationId xmlns:a16="http://schemas.microsoft.com/office/drawing/2014/main" id="{E7A526E5-0EF7-47A2-924F-1974AA90F1CF}"/>
              </a:ext>
            </a:extLst>
          </p:cNvPr>
          <p:cNvSpPr>
            <a:spLocks xmlns:a="http://schemas.openxmlformats.org/drawingml/2006/main" noGrp="1"/>
          </p:cNvSpPr>
          <p:nvPr/>
        </p:nvSpPr>
        <p:spPr>
          <a:xfrm xmlns:a="http://schemas.openxmlformats.org/drawingml/2006/main">
            <a:off x="8934450" y="3409950"/>
            <a:ext cx="272415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125Q(2)</a:t>
            </a:r>
          </a:p>
        </p:txBody>
      </p:sp>
      <p:sp>
        <p:nvSpPr>
          <p:cNvPr id="42" name="">
            <a:extLst xmlns:a="http://schemas.openxmlformats.org/drawingml/2006/main">
              <a:ext uri="{FF2B5EF4-FFF2-40B4-BE49-F238E27FC236}">
                <a16:creationId xmlns:a16="http://schemas.microsoft.com/office/drawing/2014/main" id="{64AA785B-3FC2-4B26-B116-446FFE60BBFB}"/>
              </a:ext>
            </a:extLst>
          </p:cNvPr>
          <p:cNvSpPr>
            <a:spLocks xmlns:a="http://schemas.openxmlformats.org/drawingml/2006/main" noGrp="1"/>
          </p:cNvSpPr>
          <p:nvPr/>
        </p:nvSpPr>
        <p:spPr>
          <a:xfrm xmlns:a="http://schemas.openxmlformats.org/drawingml/2006/main">
            <a:off x="457200" y="3638550"/>
            <a:ext cx="2781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MOIS</a:t>
            </a:r>
          </a:p>
        </p:txBody>
      </p:sp>
      <p:sp>
        <p:nvSpPr>
          <p:cNvPr id="43" name="">
            <a:extLst xmlns:a="http://schemas.openxmlformats.org/drawingml/2006/main">
              <a:ext uri="{FF2B5EF4-FFF2-40B4-BE49-F238E27FC236}">
                <a16:creationId xmlns:a16="http://schemas.microsoft.com/office/drawing/2014/main" id="{4D911B12-7E55-44B6-9316-E9CA0F8BF197}"/>
              </a:ext>
            </a:extLst>
          </p:cNvPr>
          <p:cNvSpPr>
            <a:spLocks xmlns:a="http://schemas.openxmlformats.org/drawingml/2006/main" noGrp="1"/>
          </p:cNvSpPr>
          <p:nvPr/>
        </p:nvSpPr>
        <p:spPr>
          <a:xfrm xmlns:a="http://schemas.openxmlformats.org/drawingml/2006/main">
            <a:off x="3314700" y="3638550"/>
            <a:ext cx="211455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AIS-187</a:t>
            </a:r>
          </a:p>
        </p:txBody>
      </p:sp>
      <p:sp>
        <p:nvSpPr>
          <p:cNvPr id="44" name="">
            <a:extLst xmlns:a="http://schemas.openxmlformats.org/drawingml/2006/main">
              <a:ext uri="{FF2B5EF4-FFF2-40B4-BE49-F238E27FC236}">
                <a16:creationId xmlns:a16="http://schemas.microsoft.com/office/drawing/2014/main" id="{E67241AF-8696-457E-A974-A3339615ED8F}"/>
              </a:ext>
            </a:extLst>
          </p:cNvPr>
          <p:cNvSpPr>
            <a:spLocks xmlns:a="http://schemas.openxmlformats.org/drawingml/2006/main" noGrp="1"/>
          </p:cNvSpPr>
          <p:nvPr/>
        </p:nvSpPr>
        <p:spPr>
          <a:xfrm xmlns:a="http://schemas.openxmlformats.org/drawingml/2006/main">
            <a:off x="5505450" y="3638550"/>
            <a:ext cx="1638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 Oct 2027</a:t>
            </a:r>
          </a:p>
        </p:txBody>
      </p:sp>
      <p:sp>
        <p:nvSpPr>
          <p:cNvPr id="45" name="">
            <a:extLst xmlns:a="http://schemas.openxmlformats.org/drawingml/2006/main">
              <a:ext uri="{FF2B5EF4-FFF2-40B4-BE49-F238E27FC236}">
                <a16:creationId xmlns:a16="http://schemas.microsoft.com/office/drawing/2014/main" id="{A93583C9-5B95-4E5C-9E73-66409EF69CA8}"/>
              </a:ext>
            </a:extLst>
          </p:cNvPr>
          <p:cNvSpPr>
            <a:spLocks xmlns:a="http://schemas.openxmlformats.org/drawingml/2006/main" noGrp="1"/>
          </p:cNvSpPr>
          <p:nvPr/>
        </p:nvSpPr>
        <p:spPr>
          <a:xfrm xmlns:a="http://schemas.openxmlformats.org/drawingml/2006/main">
            <a:off x="7219950" y="3638550"/>
            <a:ext cx="16383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 Jan 2028</a:t>
            </a:r>
          </a:p>
        </p:txBody>
      </p:sp>
      <p:sp>
        <p:nvSpPr>
          <p:cNvPr id="46" name="">
            <a:extLst xmlns:a="http://schemas.openxmlformats.org/drawingml/2006/main">
              <a:ext uri="{FF2B5EF4-FFF2-40B4-BE49-F238E27FC236}">
                <a16:creationId xmlns:a16="http://schemas.microsoft.com/office/drawing/2014/main" id="{6FAC3F84-D80E-4261-9B43-D1508AF9AA34}"/>
              </a:ext>
            </a:extLst>
          </p:cNvPr>
          <p:cNvSpPr>
            <a:spLocks xmlns:a="http://schemas.openxmlformats.org/drawingml/2006/main" noGrp="1"/>
          </p:cNvSpPr>
          <p:nvPr/>
        </p:nvSpPr>
        <p:spPr>
          <a:xfrm xmlns:a="http://schemas.openxmlformats.org/drawingml/2006/main">
            <a:off x="8934450" y="3638550"/>
            <a:ext cx="272415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125Q(3)</a:t>
            </a:r>
          </a:p>
        </p:txBody>
      </p:sp>
      <p:sp>
        <p:nvSpPr>
          <p:cNvPr id="47" name="">
            <a:extLst xmlns:a="http://schemas.openxmlformats.org/drawingml/2006/main">
              <a:ext uri="{FF2B5EF4-FFF2-40B4-BE49-F238E27FC236}">
                <a16:creationId xmlns:a16="http://schemas.microsoft.com/office/drawing/2014/main" id="{82E7F614-C395-4AFA-BF43-BFCE92B04D56}"/>
              </a:ext>
            </a:extLst>
          </p:cNvPr>
          <p:cNvSpPr>
            <a:spLocks xmlns:a="http://schemas.openxmlformats.org/drawingml/2006/main" noGrp="1"/>
          </p:cNvSpPr>
          <p:nvPr/>
        </p:nvSpPr>
        <p:spPr>
          <a:xfrm xmlns:a="http://schemas.openxmlformats.org/drawingml/2006/main">
            <a:off x="457200" y="39243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FF7CE8B8-1010-40A6-9787-969AE627557E}"/>
              </a:ext>
            </a:extLst>
          </p:cNvPr>
          <p:cNvSpPr>
            <a:spLocks xmlns:a="http://schemas.openxmlformats.org/drawingml/2006/main" noGrp="1"/>
          </p:cNvSpPr>
          <p:nvPr/>
        </p:nvSpPr>
        <p:spPr>
          <a:xfrm xmlns:a="http://schemas.openxmlformats.org/drawingml/2006/main">
            <a:off x="457200" y="4038600"/>
            <a:ext cx="5715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THREE MARKET ACTORS ARE CITING THE WRONG INSTRUMENT</a:t>
            </a:r>
          </a:p>
        </p:txBody>
      </p:sp>
      <p:sp>
        <p:nvSpPr>
          <p:cNvPr id="49" name="">
            <a:extLst xmlns:a="http://schemas.openxmlformats.org/drawingml/2006/main">
              <a:ext uri="{FF2B5EF4-FFF2-40B4-BE49-F238E27FC236}">
                <a16:creationId xmlns:a16="http://schemas.microsoft.com/office/drawing/2014/main" id="{777845FF-59FD-47F9-8153-5D99F792A362}"/>
              </a:ext>
            </a:extLst>
          </p:cNvPr>
          <p:cNvSpPr>
            <a:spLocks xmlns:a="http://schemas.openxmlformats.org/drawingml/2006/main" noGrp="1"/>
          </p:cNvSpPr>
          <p:nvPr/>
        </p:nvSpPr>
        <p:spPr>
          <a:xfrm xmlns:a="http://schemas.openxmlformats.org/drawingml/2006/main">
            <a:off x="457200" y="4229100"/>
            <a:ext cx="3683000" cy="6858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0" name="">
            <a:extLst xmlns:a="http://schemas.openxmlformats.org/drawingml/2006/main">
              <a:ext uri="{FF2B5EF4-FFF2-40B4-BE49-F238E27FC236}">
                <a16:creationId xmlns:a16="http://schemas.microsoft.com/office/drawing/2014/main" id="{F86A38B1-3F25-487D-B4A3-F5E6D4989569}"/>
              </a:ext>
            </a:extLst>
          </p:cNvPr>
          <p:cNvSpPr>
            <a:spLocks xmlns:a="http://schemas.openxmlformats.org/drawingml/2006/main" noGrp="1"/>
          </p:cNvSpPr>
          <p:nvPr/>
        </p:nvSpPr>
        <p:spPr>
          <a:xfrm xmlns:a="http://schemas.openxmlformats.org/drawingml/2006/main">
            <a:off x="457200" y="4229100"/>
            <a:ext cx="368300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F6158421-28FF-4BCB-BB1B-006ECE912FFF}"/>
              </a:ext>
            </a:extLst>
          </p:cNvPr>
          <p:cNvSpPr>
            <a:spLocks xmlns:a="http://schemas.openxmlformats.org/drawingml/2006/main" noGrp="1"/>
          </p:cNvSpPr>
          <p:nvPr/>
        </p:nvSpPr>
        <p:spPr>
          <a:xfrm xmlns:a="http://schemas.openxmlformats.org/drawingml/2006/main">
            <a:off x="571500" y="4324350"/>
            <a:ext cx="345440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ZF</a:t>
            </a:r>
          </a:p>
        </p:txBody>
      </p:sp>
      <p:sp>
        <p:nvSpPr>
          <p:cNvPr id="52" name="">
            <a:extLst xmlns:a="http://schemas.openxmlformats.org/drawingml/2006/main">
              <a:ext uri="{FF2B5EF4-FFF2-40B4-BE49-F238E27FC236}">
                <a16:creationId xmlns:a16="http://schemas.microsoft.com/office/drawing/2014/main" id="{7BC433A2-C30D-4431-9E73-D25962EC90D8}"/>
              </a:ext>
            </a:extLst>
          </p:cNvPr>
          <p:cNvSpPr>
            <a:spLocks xmlns:a="http://schemas.openxmlformats.org/drawingml/2006/main" noGrp="1"/>
          </p:cNvSpPr>
          <p:nvPr/>
        </p:nvSpPr>
        <p:spPr>
          <a:xfrm xmlns:a="http://schemas.openxmlformats.org/drawingml/2006/main">
            <a:off x="571500" y="4476750"/>
            <a:ext cx="34544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Press note cites 'GSR 184e' compliance</a:t>
            </a:r>
          </a:p>
        </p:txBody>
      </p:sp>
      <p:sp>
        <p:nvSpPr>
          <p:cNvPr id="53" name="">
            <a:extLst xmlns:a="http://schemas.openxmlformats.org/drawingml/2006/main">
              <a:ext uri="{FF2B5EF4-FFF2-40B4-BE49-F238E27FC236}">
                <a16:creationId xmlns:a16="http://schemas.microsoft.com/office/drawing/2014/main" id="{93D62927-6C51-437D-94F2-1DC05DB69630}"/>
              </a:ext>
            </a:extLst>
          </p:cNvPr>
          <p:cNvSpPr>
            <a:spLocks xmlns:a="http://schemas.openxmlformats.org/drawingml/2006/main" noGrp="1"/>
          </p:cNvSpPr>
          <p:nvPr/>
        </p:nvSpPr>
        <p:spPr>
          <a:xfrm xmlns:a="http://schemas.openxmlformats.org/drawingml/2006/main">
            <a:off x="571500" y="4752975"/>
            <a:ext cx="3454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a:solidFill>
                  <a:srgbClr val="8EA0B2"/>
                </a:solidFill>
                <a:latin typeface="Arial"/>
                <a:ea typeface="Arial"/>
                <a:cs typeface="Arial"/>
              </a:defRPr>
            </a:pPr>
            <a:r>
              <a:t>EV-ZF-05</a:t>
            </a:r>
          </a:p>
        </p:txBody>
      </p:sp>
      <p:sp>
        <p:nvSpPr>
          <p:cNvPr id="54" name="">
            <a:extLst xmlns:a="http://schemas.openxmlformats.org/drawingml/2006/main">
              <a:ext uri="{FF2B5EF4-FFF2-40B4-BE49-F238E27FC236}">
                <a16:creationId xmlns:a16="http://schemas.microsoft.com/office/drawing/2014/main" id="{A350AF10-18EC-4A17-AFF7-C4A9947CB5A5}"/>
              </a:ext>
            </a:extLst>
          </p:cNvPr>
          <p:cNvSpPr>
            <a:spLocks xmlns:a="http://schemas.openxmlformats.org/drawingml/2006/main" noGrp="1"/>
          </p:cNvSpPr>
          <p:nvPr/>
        </p:nvSpPr>
        <p:spPr>
          <a:xfrm xmlns:a="http://schemas.openxmlformats.org/drawingml/2006/main">
            <a:off x="4254500" y="4229100"/>
            <a:ext cx="3683000" cy="6858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5" name="">
            <a:extLst xmlns:a="http://schemas.openxmlformats.org/drawingml/2006/main">
              <a:ext uri="{FF2B5EF4-FFF2-40B4-BE49-F238E27FC236}">
                <a16:creationId xmlns:a16="http://schemas.microsoft.com/office/drawing/2014/main" id="{71543CFC-CF67-4CDD-ABBD-7157414AD7F6}"/>
              </a:ext>
            </a:extLst>
          </p:cNvPr>
          <p:cNvSpPr>
            <a:spLocks xmlns:a="http://schemas.openxmlformats.org/drawingml/2006/main" noGrp="1"/>
          </p:cNvSpPr>
          <p:nvPr/>
        </p:nvSpPr>
        <p:spPr>
          <a:xfrm xmlns:a="http://schemas.openxmlformats.org/drawingml/2006/main">
            <a:off x="4254500" y="4229100"/>
            <a:ext cx="368300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E8897412-6EA2-4716-BA21-C4ABE9130E4E}"/>
              </a:ext>
            </a:extLst>
          </p:cNvPr>
          <p:cNvSpPr>
            <a:spLocks xmlns:a="http://schemas.openxmlformats.org/drawingml/2006/main" noGrp="1"/>
          </p:cNvSpPr>
          <p:nvPr/>
        </p:nvSpPr>
        <p:spPr>
          <a:xfrm xmlns:a="http://schemas.openxmlformats.org/drawingml/2006/main">
            <a:off x="4368800" y="4324350"/>
            <a:ext cx="345440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Starkenn</a:t>
            </a:r>
          </a:p>
        </p:txBody>
      </p:sp>
      <p:sp>
        <p:nvSpPr>
          <p:cNvPr id="57" name="">
            <a:extLst xmlns:a="http://schemas.openxmlformats.org/drawingml/2006/main">
              <a:ext uri="{FF2B5EF4-FFF2-40B4-BE49-F238E27FC236}">
                <a16:creationId xmlns:a16="http://schemas.microsoft.com/office/drawing/2014/main" id="{1813E579-9EDE-45E4-906A-B7CF4C665542}"/>
              </a:ext>
            </a:extLst>
          </p:cNvPr>
          <p:cNvSpPr>
            <a:spLocks xmlns:a="http://schemas.openxmlformats.org/drawingml/2006/main" noGrp="1"/>
          </p:cNvSpPr>
          <p:nvPr/>
        </p:nvSpPr>
        <p:spPr>
          <a:xfrm xmlns:a="http://schemas.openxmlformats.org/drawingml/2006/main">
            <a:off x="4368800" y="4476750"/>
            <a:ext cx="34544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Briefed 'Draft G.S.R. 184(E), from April 2026' in Oct 2025</a:t>
            </a:r>
          </a:p>
        </p:txBody>
      </p:sp>
      <p:sp>
        <p:nvSpPr>
          <p:cNvPr id="58" name="">
            <a:extLst xmlns:a="http://schemas.openxmlformats.org/drawingml/2006/main">
              <a:ext uri="{FF2B5EF4-FFF2-40B4-BE49-F238E27FC236}">
                <a16:creationId xmlns:a16="http://schemas.microsoft.com/office/drawing/2014/main" id="{29BC4A31-5679-49F7-8BFD-C11C143A40EA}"/>
              </a:ext>
            </a:extLst>
          </p:cNvPr>
          <p:cNvSpPr>
            <a:spLocks xmlns:a="http://schemas.openxmlformats.org/drawingml/2006/main" noGrp="1"/>
          </p:cNvSpPr>
          <p:nvPr/>
        </p:nvSpPr>
        <p:spPr>
          <a:xfrm xmlns:a="http://schemas.openxmlformats.org/drawingml/2006/main">
            <a:off x="4368800" y="4752975"/>
            <a:ext cx="3454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a:solidFill>
                  <a:srgbClr val="8EA0B2"/>
                </a:solidFill>
                <a:latin typeface="Arial"/>
                <a:ea typeface="Arial"/>
                <a:cs typeface="Arial"/>
              </a:defRPr>
            </a:pPr>
            <a:r>
              <a:t>EV-STK-07</a:t>
            </a:r>
          </a:p>
        </p:txBody>
      </p:sp>
      <p:sp>
        <p:nvSpPr>
          <p:cNvPr id="59" name="">
            <a:extLst xmlns:a="http://schemas.openxmlformats.org/drawingml/2006/main">
              <a:ext uri="{FF2B5EF4-FFF2-40B4-BE49-F238E27FC236}">
                <a16:creationId xmlns:a16="http://schemas.microsoft.com/office/drawing/2014/main" id="{2A7ADABE-126C-45A7-A87F-ECB75D02B077}"/>
              </a:ext>
            </a:extLst>
          </p:cNvPr>
          <p:cNvSpPr>
            <a:spLocks xmlns:a="http://schemas.openxmlformats.org/drawingml/2006/main" noGrp="1"/>
          </p:cNvSpPr>
          <p:nvPr/>
        </p:nvSpPr>
        <p:spPr>
          <a:xfrm xmlns:a="http://schemas.openxmlformats.org/drawingml/2006/main">
            <a:off x="8051800" y="4229100"/>
            <a:ext cx="3683000" cy="6858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60" name="">
            <a:extLst xmlns:a="http://schemas.openxmlformats.org/drawingml/2006/main">
              <a:ext uri="{FF2B5EF4-FFF2-40B4-BE49-F238E27FC236}">
                <a16:creationId xmlns:a16="http://schemas.microsoft.com/office/drawing/2014/main" id="{20F303D6-A917-4442-B6B0-58ECC3624180}"/>
              </a:ext>
            </a:extLst>
          </p:cNvPr>
          <p:cNvSpPr>
            <a:spLocks xmlns:a="http://schemas.openxmlformats.org/drawingml/2006/main" noGrp="1"/>
          </p:cNvSpPr>
          <p:nvPr/>
        </p:nvSpPr>
        <p:spPr>
          <a:xfrm xmlns:a="http://schemas.openxmlformats.org/drawingml/2006/main">
            <a:off x="8051800" y="4229100"/>
            <a:ext cx="368300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F5A5C3D3-BD80-4686-BA2D-EF4D10DC792E}"/>
              </a:ext>
            </a:extLst>
          </p:cNvPr>
          <p:cNvSpPr>
            <a:spLocks xmlns:a="http://schemas.openxmlformats.org/drawingml/2006/main" noGrp="1"/>
          </p:cNvSpPr>
          <p:nvPr/>
        </p:nvSpPr>
        <p:spPr>
          <a:xfrm xmlns:a="http://schemas.openxmlformats.org/drawingml/2006/main">
            <a:off x="8166100" y="4324350"/>
            <a:ext cx="345440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Gahan AI</a:t>
            </a:r>
          </a:p>
        </p:txBody>
      </p:sp>
      <p:sp>
        <p:nvSpPr>
          <p:cNvPr id="62" name="">
            <a:extLst xmlns:a="http://schemas.openxmlformats.org/drawingml/2006/main">
              <a:ext uri="{FF2B5EF4-FFF2-40B4-BE49-F238E27FC236}">
                <a16:creationId xmlns:a16="http://schemas.microsoft.com/office/drawing/2014/main" id="{69A2BAE2-0837-42C4-83D4-E78B95B02231}"/>
              </a:ext>
            </a:extLst>
          </p:cNvPr>
          <p:cNvSpPr>
            <a:spLocks xmlns:a="http://schemas.openxmlformats.org/drawingml/2006/main" noGrp="1"/>
          </p:cNvSpPr>
          <p:nvPr/>
        </p:nvSpPr>
        <p:spPr>
          <a:xfrm xmlns:a="http://schemas.openxmlformats.org/drawingml/2006/main">
            <a:off x="8166100" y="4476750"/>
            <a:ext cx="34544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Attributes the 2027 mandate to Bharat NCAP</a:t>
            </a:r>
          </a:p>
        </p:txBody>
      </p:sp>
      <p:sp>
        <p:nvSpPr>
          <p:cNvPr id="63" name="">
            <a:extLst xmlns:a="http://schemas.openxmlformats.org/drawingml/2006/main">
              <a:ext uri="{FF2B5EF4-FFF2-40B4-BE49-F238E27FC236}">
                <a16:creationId xmlns:a16="http://schemas.microsoft.com/office/drawing/2014/main" id="{CB49F157-31D3-4994-B6FF-4E8935BD9DC7}"/>
              </a:ext>
            </a:extLst>
          </p:cNvPr>
          <p:cNvSpPr>
            <a:spLocks xmlns:a="http://schemas.openxmlformats.org/drawingml/2006/main" noGrp="1"/>
          </p:cNvSpPr>
          <p:nvPr/>
        </p:nvSpPr>
        <p:spPr>
          <a:xfrm xmlns:a="http://schemas.openxmlformats.org/drawingml/2006/main">
            <a:off x="8166100" y="4752975"/>
            <a:ext cx="3454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a:solidFill>
                  <a:srgbClr val="8EA0B2"/>
                </a:solidFill>
                <a:latin typeface="Arial"/>
                <a:ea typeface="Arial"/>
                <a:cs typeface="Arial"/>
              </a:defRPr>
            </a:pPr>
            <a:r>
              <a:t>EV-GHN-07</a:t>
            </a:r>
          </a:p>
        </p:txBody>
      </p:sp>
      <p:sp>
        <p:nvSpPr>
          <p:cNvPr id="64" name="">
            <a:extLst xmlns:a="http://schemas.openxmlformats.org/drawingml/2006/main">
              <a:ext uri="{FF2B5EF4-FFF2-40B4-BE49-F238E27FC236}">
                <a16:creationId xmlns:a16="http://schemas.microsoft.com/office/drawing/2014/main" id="{4696CC14-FA54-4B1C-B3BB-D09414B8187D}"/>
              </a:ext>
            </a:extLst>
          </p:cNvPr>
          <p:cNvSpPr>
            <a:spLocks xmlns:a="http://schemas.openxmlformats.org/drawingml/2006/main" noGrp="1"/>
          </p:cNvSpPr>
          <p:nvPr/>
        </p:nvSpPr>
        <p:spPr>
          <a:xfrm xmlns:a="http://schemas.openxmlformats.org/drawingml/2006/main">
            <a:off x="457200" y="5010150"/>
            <a:ext cx="1127760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a:solidFill>
                  <a:srgbClr val="04B3C7"/>
                </a:solidFill>
                <a:latin typeface="Arial"/>
                <a:ea typeface="Arial"/>
                <a:cs typeface="Arial"/>
              </a:defRPr>
            </a:pPr>
            <a:r>
              <a:t>Getting the instrument right is itself a credibility differentiator in front of an OEM regulatory team — and it is free.</a:t>
            </a:r>
          </a:p>
        </p:txBody>
      </p:sp>
      <p:sp>
        <p:nvSpPr>
          <p:cNvPr id="65" name="">
            <a:extLst xmlns:a="http://schemas.openxmlformats.org/drawingml/2006/main">
              <a:ext uri="{FF2B5EF4-FFF2-40B4-BE49-F238E27FC236}">
                <a16:creationId xmlns:a16="http://schemas.microsoft.com/office/drawing/2014/main" id="{68290794-6582-40D5-85C1-F74712DCDBFD}"/>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C89D63D4-B125-4D33-A9E0-05CC39AEE50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7" name="">
            <a:extLst xmlns:a="http://schemas.openxmlformats.org/drawingml/2006/main">
              <a:ext uri="{FF2B5EF4-FFF2-40B4-BE49-F238E27FC236}">
                <a16:creationId xmlns:a16="http://schemas.microsoft.com/office/drawing/2014/main" id="{4221FE57-9565-4D97-98A9-0577ABEC6A1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13</a:t>
            </a:r>
          </a:p>
        </p:txBody>
      </p:sp>
    </p:spTree>
    <p:extLst>
      <p:ext uri="{BB962C8B-B14F-4D97-AF65-F5344CB8AC3E}">
        <p14:creationId xmlns:p14="http://schemas.microsoft.com/office/powerpoint/2010/main" val="162806301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5DBAB10E-033A-41D0-BBA1-0AAA84B4EBD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E12D9ED-48B7-4204-9CFE-142D6B9E567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537D61B-721F-4BDE-9BE2-0D8CBC2538BC}"/>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THE FIELD · COMPANY SCALE</a:t>
            </a:r>
          </a:p>
        </p:txBody>
      </p:sp>
      <p:sp>
        <p:nvSpPr>
          <p:cNvPr id="4" name="">
            <a:extLst xmlns:a="http://schemas.openxmlformats.org/drawingml/2006/main">
              <a:ext uri="{FF2B5EF4-FFF2-40B4-BE49-F238E27FC236}">
                <a16:creationId xmlns:a16="http://schemas.microsoft.com/office/drawing/2014/main" id="{069D6CE3-27F6-43FA-95B5-CEA9712872AA}"/>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The competitor set spans four orders of magnitude</a:t>
            </a:r>
          </a:p>
        </p:txBody>
      </p:sp>
      <p:sp>
        <p:nvSpPr>
          <p:cNvPr id="5" name="">
            <a:extLst xmlns:a="http://schemas.openxmlformats.org/drawingml/2006/main">
              <a:ext uri="{FF2B5EF4-FFF2-40B4-BE49-F238E27FC236}">
                <a16:creationId xmlns:a16="http://schemas.microsoft.com/office/drawing/2014/main" id="{5EF9C406-4275-489D-B484-5AF9AEE8F500}"/>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Bar length is log₁₀ of USD value. On a linear axis the bottom half of this market is invisible — which is the point.</a:t>
            </a:r>
          </a:p>
        </p:txBody>
      </p:sp>
      <p:sp>
        <p:nvSpPr>
          <p:cNvPr id="6" name="">
            <a:extLst xmlns:a="http://schemas.openxmlformats.org/drawingml/2006/main">
              <a:ext uri="{FF2B5EF4-FFF2-40B4-BE49-F238E27FC236}">
                <a16:creationId xmlns:a16="http://schemas.microsoft.com/office/drawing/2014/main" id="{F6DB1704-7A5F-43E1-A28D-7B983C7216A7}"/>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E29FEC6-9138-43EF-AA0D-2A58C8389255}"/>
              </a:ext>
            </a:extLst>
          </p:cNvPr>
          <p:cNvSpPr>
            <a:spLocks xmlns:a="http://schemas.openxmlformats.org/drawingml/2006/main" noGrp="1"/>
          </p:cNvSpPr>
          <p:nvPr/>
        </p:nvSpPr>
        <p:spPr>
          <a:xfrm xmlns:a="http://schemas.openxmlformats.org/drawingml/2006/main">
            <a:off x="457200" y="1181100"/>
            <a:ext cx="238125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ZF Group (parent)</a:t>
            </a:r>
          </a:p>
        </p:txBody>
      </p:sp>
      <p:sp>
        <p:nvSpPr>
          <p:cNvPr id="8" name="">
            <a:extLst xmlns:a="http://schemas.openxmlformats.org/drawingml/2006/main">
              <a:ext uri="{FF2B5EF4-FFF2-40B4-BE49-F238E27FC236}">
                <a16:creationId xmlns:a16="http://schemas.microsoft.com/office/drawing/2014/main" id="{B8B0B07A-03DC-4FFB-9EEC-7ADD10EE72B1}"/>
              </a:ext>
            </a:extLst>
          </p:cNvPr>
          <p:cNvSpPr>
            <a:spLocks xmlns:a="http://schemas.openxmlformats.org/drawingml/2006/main" noGrp="1"/>
          </p:cNvSpPr>
          <p:nvPr/>
        </p:nvSpPr>
        <p:spPr>
          <a:xfrm xmlns:a="http://schemas.openxmlformats.org/drawingml/2006/main">
            <a:off x="457200" y="133350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PRIVATE</a:t>
            </a:r>
          </a:p>
        </p:txBody>
      </p:sp>
      <p:sp>
        <p:nvSpPr>
          <p:cNvPr id="9" name="">
            <a:extLst xmlns:a="http://schemas.openxmlformats.org/drawingml/2006/main">
              <a:ext uri="{FF2B5EF4-FFF2-40B4-BE49-F238E27FC236}">
                <a16:creationId xmlns:a16="http://schemas.microsoft.com/office/drawing/2014/main" id="{59CD43EA-BEB5-4CDF-B245-7E929EAD4A2E}"/>
              </a:ext>
            </a:extLst>
          </p:cNvPr>
          <p:cNvSpPr>
            <a:spLocks xmlns:a="http://schemas.openxmlformats.org/drawingml/2006/main" noGrp="1"/>
          </p:cNvSpPr>
          <p:nvPr/>
        </p:nvSpPr>
        <p:spPr>
          <a:xfrm xmlns:a="http://schemas.openxmlformats.org/drawingml/2006/main">
            <a:off x="3314700" y="1200150"/>
            <a:ext cx="5832724" cy="1905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AFAB4A1-8A85-403A-8330-4FF38358DDB2}"/>
              </a:ext>
            </a:extLst>
          </p:cNvPr>
          <p:cNvSpPr>
            <a:spLocks xmlns:a="http://schemas.openxmlformats.org/drawingml/2006/main" noGrp="1"/>
          </p:cNvSpPr>
          <p:nvPr/>
        </p:nvSpPr>
        <p:spPr>
          <a:xfrm xmlns:a="http://schemas.openxmlformats.org/drawingml/2006/main">
            <a:off x="9242674" y="1219200"/>
            <a:ext cx="2476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€41.4bn sales · 161,600 staff</a:t>
            </a:r>
          </a:p>
        </p:txBody>
      </p:sp>
      <p:sp>
        <p:nvSpPr>
          <p:cNvPr id="11" name="">
            <a:extLst xmlns:a="http://schemas.openxmlformats.org/drawingml/2006/main">
              <a:ext uri="{FF2B5EF4-FFF2-40B4-BE49-F238E27FC236}">
                <a16:creationId xmlns:a16="http://schemas.microsoft.com/office/drawing/2014/main" id="{DAA3A507-09BA-4D51-9E51-1D36E782FD11}"/>
              </a:ext>
            </a:extLst>
          </p:cNvPr>
          <p:cNvSpPr>
            <a:spLocks xmlns:a="http://schemas.openxmlformats.org/drawingml/2006/main" noGrp="1"/>
          </p:cNvSpPr>
          <p:nvPr/>
        </p:nvSpPr>
        <p:spPr>
          <a:xfrm xmlns:a="http://schemas.openxmlformats.org/drawingml/2006/main">
            <a:off x="457200" y="1562100"/>
            <a:ext cx="238125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ZF CVCS India</a:t>
            </a:r>
          </a:p>
        </p:txBody>
      </p:sp>
      <p:sp>
        <p:nvSpPr>
          <p:cNvPr id="12" name="">
            <a:extLst xmlns:a="http://schemas.openxmlformats.org/drawingml/2006/main">
              <a:ext uri="{FF2B5EF4-FFF2-40B4-BE49-F238E27FC236}">
                <a16:creationId xmlns:a16="http://schemas.microsoft.com/office/drawing/2014/main" id="{B8F682D5-9A74-4757-B560-A00D5AFF91D9}"/>
              </a:ext>
            </a:extLst>
          </p:cNvPr>
          <p:cNvSpPr>
            <a:spLocks xmlns:a="http://schemas.openxmlformats.org/drawingml/2006/main" noGrp="1"/>
          </p:cNvSpPr>
          <p:nvPr/>
        </p:nvSpPr>
        <p:spPr>
          <a:xfrm xmlns:a="http://schemas.openxmlformats.org/drawingml/2006/main">
            <a:off x="457200" y="171450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NSE: ZFCVINDIA</a:t>
            </a:r>
          </a:p>
        </p:txBody>
      </p:sp>
      <p:sp>
        <p:nvSpPr>
          <p:cNvPr id="13" name="">
            <a:extLst xmlns:a="http://schemas.openxmlformats.org/drawingml/2006/main">
              <a:ext uri="{FF2B5EF4-FFF2-40B4-BE49-F238E27FC236}">
                <a16:creationId xmlns:a16="http://schemas.microsoft.com/office/drawing/2014/main" id="{30516C5A-D098-4E9F-A9DA-D3CD25959DD5}"/>
              </a:ext>
            </a:extLst>
          </p:cNvPr>
          <p:cNvSpPr>
            <a:spLocks xmlns:a="http://schemas.openxmlformats.org/drawingml/2006/main" noGrp="1"/>
          </p:cNvSpPr>
          <p:nvPr/>
        </p:nvSpPr>
        <p:spPr>
          <a:xfrm xmlns:a="http://schemas.openxmlformats.org/drawingml/2006/main">
            <a:off x="3314700" y="1581150"/>
            <a:ext cx="4593490" cy="1905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E84CA20-8A04-4D26-A00C-C7B5BDA8CC83}"/>
              </a:ext>
            </a:extLst>
          </p:cNvPr>
          <p:cNvSpPr>
            <a:spLocks xmlns:a="http://schemas.openxmlformats.org/drawingml/2006/main" noGrp="1"/>
          </p:cNvSpPr>
          <p:nvPr/>
        </p:nvSpPr>
        <p:spPr>
          <a:xfrm xmlns:a="http://schemas.openxmlformats.org/drawingml/2006/main">
            <a:off x="8003440" y="1600200"/>
            <a:ext cx="2476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₹29,642 Cr · ~$3.4bn · +13% YoY</a:t>
            </a:r>
          </a:p>
        </p:txBody>
      </p:sp>
      <p:sp>
        <p:nvSpPr>
          <p:cNvPr id="15" name="">
            <a:extLst xmlns:a="http://schemas.openxmlformats.org/drawingml/2006/main">
              <a:ext uri="{FF2B5EF4-FFF2-40B4-BE49-F238E27FC236}">
                <a16:creationId xmlns:a16="http://schemas.microsoft.com/office/drawing/2014/main" id="{30F96AFB-EA0A-4AA2-8CF8-66A6161E3BBD}"/>
              </a:ext>
            </a:extLst>
          </p:cNvPr>
          <p:cNvSpPr>
            <a:spLocks xmlns:a="http://schemas.openxmlformats.org/drawingml/2006/main" noGrp="1"/>
          </p:cNvSpPr>
          <p:nvPr/>
        </p:nvSpPr>
        <p:spPr>
          <a:xfrm xmlns:a="http://schemas.openxmlformats.org/drawingml/2006/main">
            <a:off x="457200" y="1943100"/>
            <a:ext cx="238125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Aptiv PLC</a:t>
            </a:r>
          </a:p>
        </p:txBody>
      </p:sp>
      <p:sp>
        <p:nvSpPr>
          <p:cNvPr id="16" name="">
            <a:extLst xmlns:a="http://schemas.openxmlformats.org/drawingml/2006/main">
              <a:ext uri="{FF2B5EF4-FFF2-40B4-BE49-F238E27FC236}">
                <a16:creationId xmlns:a16="http://schemas.microsoft.com/office/drawing/2014/main" id="{F06CD077-0C25-40D3-8F46-9D6ED6711B80}"/>
              </a:ext>
            </a:extLst>
          </p:cNvPr>
          <p:cNvSpPr>
            <a:spLocks xmlns:a="http://schemas.openxmlformats.org/drawingml/2006/main" noGrp="1"/>
          </p:cNvSpPr>
          <p:nvPr/>
        </p:nvSpPr>
        <p:spPr>
          <a:xfrm xmlns:a="http://schemas.openxmlformats.org/drawingml/2006/main">
            <a:off x="457200" y="209550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NYSE: APTV</a:t>
            </a:r>
          </a:p>
        </p:txBody>
      </p:sp>
      <p:sp>
        <p:nvSpPr>
          <p:cNvPr id="17" name="">
            <a:extLst xmlns:a="http://schemas.openxmlformats.org/drawingml/2006/main">
              <a:ext uri="{FF2B5EF4-FFF2-40B4-BE49-F238E27FC236}">
                <a16:creationId xmlns:a16="http://schemas.microsoft.com/office/drawing/2014/main" id="{D8738D09-CD1C-4598-85C7-3CAC72B369CF}"/>
              </a:ext>
            </a:extLst>
          </p:cNvPr>
          <p:cNvSpPr>
            <a:spLocks xmlns:a="http://schemas.openxmlformats.org/drawingml/2006/main" noGrp="1"/>
          </p:cNvSpPr>
          <p:nvPr/>
        </p:nvSpPr>
        <p:spPr>
          <a:xfrm xmlns:a="http://schemas.openxmlformats.org/drawingml/2006/main">
            <a:off x="3314700" y="1962150"/>
            <a:ext cx="5137125" cy="1905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4054CA6-815D-4749-833E-4390EF40BF93}"/>
              </a:ext>
            </a:extLst>
          </p:cNvPr>
          <p:cNvSpPr>
            <a:spLocks xmlns:a="http://schemas.openxmlformats.org/drawingml/2006/main" noGrp="1"/>
          </p:cNvSpPr>
          <p:nvPr/>
        </p:nvSpPr>
        <p:spPr>
          <a:xfrm xmlns:a="http://schemas.openxmlformats.org/drawingml/2006/main">
            <a:off x="8547075" y="1981200"/>
            <a:ext cx="2476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$10.2bn · −34.6% YoY</a:t>
            </a:r>
          </a:p>
        </p:txBody>
      </p:sp>
      <p:sp>
        <p:nvSpPr>
          <p:cNvPr id="19" name="">
            <a:extLst xmlns:a="http://schemas.openxmlformats.org/drawingml/2006/main">
              <a:ext uri="{FF2B5EF4-FFF2-40B4-BE49-F238E27FC236}">
                <a16:creationId xmlns:a16="http://schemas.microsoft.com/office/drawing/2014/main" id="{432DF119-E840-4BBF-8DA3-2093031DB870}"/>
              </a:ext>
            </a:extLst>
          </p:cNvPr>
          <p:cNvSpPr>
            <a:spLocks xmlns:a="http://schemas.openxmlformats.org/drawingml/2006/main" noGrp="1"/>
          </p:cNvSpPr>
          <p:nvPr/>
        </p:nvSpPr>
        <p:spPr>
          <a:xfrm xmlns:a="http://schemas.openxmlformats.org/drawingml/2006/main">
            <a:off x="457200" y="2324100"/>
            <a:ext cx="238125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Sterling Tools</a:t>
            </a:r>
          </a:p>
        </p:txBody>
      </p:sp>
      <p:sp>
        <p:nvSpPr>
          <p:cNvPr id="20" name="">
            <a:extLst xmlns:a="http://schemas.openxmlformats.org/drawingml/2006/main">
              <a:ext uri="{FF2B5EF4-FFF2-40B4-BE49-F238E27FC236}">
                <a16:creationId xmlns:a16="http://schemas.microsoft.com/office/drawing/2014/main" id="{AB6731CE-F577-4A24-9B6B-D4FCE5FEDB45}"/>
              </a:ext>
            </a:extLst>
          </p:cNvPr>
          <p:cNvSpPr>
            <a:spLocks xmlns:a="http://schemas.openxmlformats.org/drawingml/2006/main" noGrp="1"/>
          </p:cNvSpPr>
          <p:nvPr/>
        </p:nvSpPr>
        <p:spPr>
          <a:xfrm xmlns:a="http://schemas.openxmlformats.org/drawingml/2006/main">
            <a:off x="457200" y="247650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NSE: STERTOOLS</a:t>
            </a:r>
          </a:p>
        </p:txBody>
      </p:sp>
      <p:sp>
        <p:nvSpPr>
          <p:cNvPr id="21" name="">
            <a:extLst xmlns:a="http://schemas.openxmlformats.org/drawingml/2006/main">
              <a:ext uri="{FF2B5EF4-FFF2-40B4-BE49-F238E27FC236}">
                <a16:creationId xmlns:a16="http://schemas.microsoft.com/office/drawing/2014/main" id="{8941A683-92D9-4602-9344-3F20CBC964FC}"/>
              </a:ext>
            </a:extLst>
          </p:cNvPr>
          <p:cNvSpPr>
            <a:spLocks xmlns:a="http://schemas.openxmlformats.org/drawingml/2006/main" noGrp="1"/>
          </p:cNvSpPr>
          <p:nvPr/>
        </p:nvSpPr>
        <p:spPr>
          <a:xfrm xmlns:a="http://schemas.openxmlformats.org/drawingml/2006/main">
            <a:off x="3314700" y="2343150"/>
            <a:ext cx="2807254" cy="1905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1FE90C5-4F9B-47B7-AC8B-07E7ECBEE1B9}"/>
              </a:ext>
            </a:extLst>
          </p:cNvPr>
          <p:cNvSpPr>
            <a:spLocks xmlns:a="http://schemas.openxmlformats.org/drawingml/2006/main" noGrp="1"/>
          </p:cNvSpPr>
          <p:nvPr/>
        </p:nvSpPr>
        <p:spPr>
          <a:xfrm xmlns:a="http://schemas.openxmlformats.org/drawingml/2006/main">
            <a:off x="6217204" y="2362200"/>
            <a:ext cx="2476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₹806 Cr · ~$92m</a:t>
            </a:r>
          </a:p>
        </p:txBody>
      </p:sp>
      <p:sp>
        <p:nvSpPr>
          <p:cNvPr id="23" name="">
            <a:extLst xmlns:a="http://schemas.openxmlformats.org/drawingml/2006/main">
              <a:ext uri="{FF2B5EF4-FFF2-40B4-BE49-F238E27FC236}">
                <a16:creationId xmlns:a16="http://schemas.microsoft.com/office/drawing/2014/main" id="{2573DA07-5620-4FA1-97BA-7E1D63B5CDB0}"/>
              </a:ext>
            </a:extLst>
          </p:cNvPr>
          <p:cNvSpPr>
            <a:spLocks xmlns:a="http://schemas.openxmlformats.org/drawingml/2006/main" noGrp="1"/>
          </p:cNvSpPr>
          <p:nvPr/>
        </p:nvSpPr>
        <p:spPr>
          <a:xfrm xmlns:a="http://schemas.openxmlformats.org/drawingml/2006/main">
            <a:off x="457200" y="2705100"/>
            <a:ext cx="238125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Roadzen (drivebuddyAI)</a:t>
            </a:r>
          </a:p>
        </p:txBody>
      </p:sp>
      <p:sp>
        <p:nvSpPr>
          <p:cNvPr id="24" name="">
            <a:extLst xmlns:a="http://schemas.openxmlformats.org/drawingml/2006/main">
              <a:ext uri="{FF2B5EF4-FFF2-40B4-BE49-F238E27FC236}">
                <a16:creationId xmlns:a16="http://schemas.microsoft.com/office/drawing/2014/main" id="{D53182CA-264B-46A8-BDAE-2D01C3B6E3F3}"/>
              </a:ext>
            </a:extLst>
          </p:cNvPr>
          <p:cNvSpPr>
            <a:spLocks xmlns:a="http://schemas.openxmlformats.org/drawingml/2006/main" noGrp="1"/>
          </p:cNvSpPr>
          <p:nvPr/>
        </p:nvSpPr>
        <p:spPr>
          <a:xfrm xmlns:a="http://schemas.openxmlformats.org/drawingml/2006/main">
            <a:off x="457200" y="285750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NASDAQ: RDZN</a:t>
            </a:r>
          </a:p>
        </p:txBody>
      </p:sp>
      <p:sp>
        <p:nvSpPr>
          <p:cNvPr id="25" name="">
            <a:extLst xmlns:a="http://schemas.openxmlformats.org/drawingml/2006/main">
              <a:ext uri="{FF2B5EF4-FFF2-40B4-BE49-F238E27FC236}">
                <a16:creationId xmlns:a16="http://schemas.microsoft.com/office/drawing/2014/main" id="{2F22CA8B-1906-44A5-90E7-E2D036D5FE89}"/>
              </a:ext>
            </a:extLst>
          </p:cNvPr>
          <p:cNvSpPr>
            <a:spLocks xmlns:a="http://schemas.openxmlformats.org/drawingml/2006/main" noGrp="1"/>
          </p:cNvSpPr>
          <p:nvPr/>
        </p:nvSpPr>
        <p:spPr>
          <a:xfrm xmlns:a="http://schemas.openxmlformats.org/drawingml/2006/main">
            <a:off x="3314700" y="2724150"/>
            <a:ext cx="2904593" cy="1905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41604AC-A88E-4B02-B42D-C289A642FF6D}"/>
              </a:ext>
            </a:extLst>
          </p:cNvPr>
          <p:cNvSpPr>
            <a:spLocks xmlns:a="http://schemas.openxmlformats.org/drawingml/2006/main" noGrp="1"/>
          </p:cNvSpPr>
          <p:nvPr/>
        </p:nvSpPr>
        <p:spPr>
          <a:xfrm xmlns:a="http://schemas.openxmlformats.org/drawingml/2006/main">
            <a:off x="6314543" y="2743200"/>
            <a:ext cx="2476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~$112m · share $1.26</a:t>
            </a:r>
          </a:p>
        </p:txBody>
      </p:sp>
      <p:sp>
        <p:nvSpPr>
          <p:cNvPr id="27" name="">
            <a:extLst xmlns:a="http://schemas.openxmlformats.org/drawingml/2006/main">
              <a:ext uri="{FF2B5EF4-FFF2-40B4-BE49-F238E27FC236}">
                <a16:creationId xmlns:a16="http://schemas.microsoft.com/office/drawing/2014/main" id="{F5B88719-863D-4093-BF45-82949768DFAC}"/>
              </a:ext>
            </a:extLst>
          </p:cNvPr>
          <p:cNvSpPr>
            <a:spLocks xmlns:a="http://schemas.openxmlformats.org/drawingml/2006/main" noGrp="1"/>
          </p:cNvSpPr>
          <p:nvPr/>
        </p:nvSpPr>
        <p:spPr>
          <a:xfrm xmlns:a="http://schemas.openxmlformats.org/drawingml/2006/main">
            <a:off x="457200" y="3086100"/>
            <a:ext cx="238125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bitsensing</a:t>
            </a:r>
          </a:p>
        </p:txBody>
      </p:sp>
      <p:sp>
        <p:nvSpPr>
          <p:cNvPr id="28" name="">
            <a:extLst xmlns:a="http://schemas.openxmlformats.org/drawingml/2006/main">
              <a:ext uri="{FF2B5EF4-FFF2-40B4-BE49-F238E27FC236}">
                <a16:creationId xmlns:a16="http://schemas.microsoft.com/office/drawing/2014/main" id="{19C14E0A-C3F6-411C-921E-88F93698A494}"/>
              </a:ext>
            </a:extLst>
          </p:cNvPr>
          <p:cNvSpPr>
            <a:spLocks xmlns:a="http://schemas.openxmlformats.org/drawingml/2006/main" noGrp="1"/>
          </p:cNvSpPr>
          <p:nvPr/>
        </p:nvSpPr>
        <p:spPr>
          <a:xfrm xmlns:a="http://schemas.openxmlformats.org/drawingml/2006/main">
            <a:off x="457200" y="323850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PRIVATE</a:t>
            </a:r>
          </a:p>
        </p:txBody>
      </p:sp>
      <p:sp>
        <p:nvSpPr>
          <p:cNvPr id="29" name="">
            <a:extLst xmlns:a="http://schemas.openxmlformats.org/drawingml/2006/main">
              <a:ext uri="{FF2B5EF4-FFF2-40B4-BE49-F238E27FC236}">
                <a16:creationId xmlns:a16="http://schemas.microsoft.com/office/drawing/2014/main" id="{683AB146-FFBA-4052-BBCE-2124C74DE2C0}"/>
              </a:ext>
            </a:extLst>
          </p:cNvPr>
          <p:cNvSpPr>
            <a:spLocks xmlns:a="http://schemas.openxmlformats.org/drawingml/2006/main" noGrp="1"/>
          </p:cNvSpPr>
          <p:nvPr/>
        </p:nvSpPr>
        <p:spPr>
          <a:xfrm xmlns:a="http://schemas.openxmlformats.org/drawingml/2006/main">
            <a:off x="3314700" y="3105150"/>
            <a:ext cx="2419242" cy="1905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5D4BE4F-1D42-4EEF-9DAB-45F2D8ADC5DC}"/>
              </a:ext>
            </a:extLst>
          </p:cNvPr>
          <p:cNvSpPr>
            <a:spLocks xmlns:a="http://schemas.openxmlformats.org/drawingml/2006/main" noGrp="1"/>
          </p:cNvSpPr>
          <p:nvPr/>
        </p:nvSpPr>
        <p:spPr>
          <a:xfrm xmlns:a="http://schemas.openxmlformats.org/drawingml/2006/main">
            <a:off x="5829192" y="3124200"/>
            <a:ext cx="2476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$42m raised</a:t>
            </a:r>
          </a:p>
        </p:txBody>
      </p:sp>
      <p:sp>
        <p:nvSpPr>
          <p:cNvPr id="31" name="">
            <a:extLst xmlns:a="http://schemas.openxmlformats.org/drawingml/2006/main">
              <a:ext uri="{FF2B5EF4-FFF2-40B4-BE49-F238E27FC236}">
                <a16:creationId xmlns:a16="http://schemas.microsoft.com/office/drawing/2014/main" id="{3A55A89E-FE54-43F5-8FCB-1DA203864471}"/>
              </a:ext>
            </a:extLst>
          </p:cNvPr>
          <p:cNvSpPr>
            <a:spLocks xmlns:a="http://schemas.openxmlformats.org/drawingml/2006/main" noGrp="1"/>
          </p:cNvSpPr>
          <p:nvPr/>
        </p:nvSpPr>
        <p:spPr>
          <a:xfrm xmlns:a="http://schemas.openxmlformats.org/drawingml/2006/main">
            <a:off x="457200" y="3467100"/>
            <a:ext cx="238125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Netrasemi</a:t>
            </a:r>
          </a:p>
        </p:txBody>
      </p:sp>
      <p:sp>
        <p:nvSpPr>
          <p:cNvPr id="32" name="">
            <a:extLst xmlns:a="http://schemas.openxmlformats.org/drawingml/2006/main">
              <a:ext uri="{FF2B5EF4-FFF2-40B4-BE49-F238E27FC236}">
                <a16:creationId xmlns:a16="http://schemas.microsoft.com/office/drawing/2014/main" id="{76B9FAEC-3302-4B52-833A-041843BBB05A}"/>
              </a:ext>
            </a:extLst>
          </p:cNvPr>
          <p:cNvSpPr>
            <a:spLocks xmlns:a="http://schemas.openxmlformats.org/drawingml/2006/main" noGrp="1"/>
          </p:cNvSpPr>
          <p:nvPr/>
        </p:nvSpPr>
        <p:spPr>
          <a:xfrm xmlns:a="http://schemas.openxmlformats.org/drawingml/2006/main">
            <a:off x="457200" y="361950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PRIVATE</a:t>
            </a:r>
          </a:p>
        </p:txBody>
      </p:sp>
      <p:sp>
        <p:nvSpPr>
          <p:cNvPr id="33" name="">
            <a:extLst xmlns:a="http://schemas.openxmlformats.org/drawingml/2006/main">
              <a:ext uri="{FF2B5EF4-FFF2-40B4-BE49-F238E27FC236}">
                <a16:creationId xmlns:a16="http://schemas.microsoft.com/office/drawing/2014/main" id="{10BF23C9-6716-46CC-AA84-2073BCC83CE2}"/>
              </a:ext>
            </a:extLst>
          </p:cNvPr>
          <p:cNvSpPr>
            <a:spLocks xmlns:a="http://schemas.openxmlformats.org/drawingml/2006/main" noGrp="1"/>
          </p:cNvSpPr>
          <p:nvPr/>
        </p:nvSpPr>
        <p:spPr>
          <a:xfrm xmlns:a="http://schemas.openxmlformats.org/drawingml/2006/main">
            <a:off x="3314700" y="3486150"/>
            <a:ext cx="1799328" cy="1905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5DB86D6-438F-4F11-A265-95AE9CDA9A07}"/>
              </a:ext>
            </a:extLst>
          </p:cNvPr>
          <p:cNvSpPr>
            <a:spLocks xmlns:a="http://schemas.openxmlformats.org/drawingml/2006/main" noGrp="1"/>
          </p:cNvSpPr>
          <p:nvPr/>
        </p:nvSpPr>
        <p:spPr>
          <a:xfrm xmlns:a="http://schemas.openxmlformats.org/drawingml/2006/main">
            <a:off x="5209278" y="3505200"/>
            <a:ext cx="2476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₹107 Cr Series A · ~$12m</a:t>
            </a:r>
          </a:p>
        </p:txBody>
      </p:sp>
      <p:sp>
        <p:nvSpPr>
          <p:cNvPr id="35" name="">
            <a:extLst xmlns:a="http://schemas.openxmlformats.org/drawingml/2006/main">
              <a:ext uri="{FF2B5EF4-FFF2-40B4-BE49-F238E27FC236}">
                <a16:creationId xmlns:a16="http://schemas.microsoft.com/office/drawing/2014/main" id="{594C2613-C455-4D9C-A257-AEEE8ACDAFDA}"/>
              </a:ext>
            </a:extLst>
          </p:cNvPr>
          <p:cNvSpPr>
            <a:spLocks xmlns:a="http://schemas.openxmlformats.org/drawingml/2006/main" noGrp="1"/>
          </p:cNvSpPr>
          <p:nvPr/>
        </p:nvSpPr>
        <p:spPr>
          <a:xfrm xmlns:a="http://schemas.openxmlformats.org/drawingml/2006/main">
            <a:off x="457200" y="3848100"/>
            <a:ext cx="238125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STRADVISION</a:t>
            </a:r>
          </a:p>
        </p:txBody>
      </p:sp>
      <p:sp>
        <p:nvSpPr>
          <p:cNvPr id="36" name="">
            <a:extLst xmlns:a="http://schemas.openxmlformats.org/drawingml/2006/main">
              <a:ext uri="{FF2B5EF4-FFF2-40B4-BE49-F238E27FC236}">
                <a16:creationId xmlns:a16="http://schemas.microsoft.com/office/drawing/2014/main" id="{3851B678-618D-498F-8246-F0BC0E73048F}"/>
              </a:ext>
            </a:extLst>
          </p:cNvPr>
          <p:cNvSpPr>
            <a:spLocks xmlns:a="http://schemas.openxmlformats.org/drawingml/2006/main" noGrp="1"/>
          </p:cNvSpPr>
          <p:nvPr/>
        </p:nvSpPr>
        <p:spPr>
          <a:xfrm xmlns:a="http://schemas.openxmlformats.org/drawingml/2006/main">
            <a:off x="457200" y="400050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PRIVATE</a:t>
            </a:r>
          </a:p>
        </p:txBody>
      </p:sp>
      <p:sp>
        <p:nvSpPr>
          <p:cNvPr id="37" name="">
            <a:extLst xmlns:a="http://schemas.openxmlformats.org/drawingml/2006/main">
              <a:ext uri="{FF2B5EF4-FFF2-40B4-BE49-F238E27FC236}">
                <a16:creationId xmlns:a16="http://schemas.microsoft.com/office/drawing/2014/main" id="{1AFA0CF2-4CDE-48D4-9D89-DF7B23D97565}"/>
              </a:ext>
            </a:extLst>
          </p:cNvPr>
          <p:cNvSpPr>
            <a:spLocks xmlns:a="http://schemas.openxmlformats.org/drawingml/2006/main" noGrp="1"/>
          </p:cNvSpPr>
          <p:nvPr/>
        </p:nvSpPr>
        <p:spPr>
          <a:xfrm xmlns:a="http://schemas.openxmlformats.org/drawingml/2006/main">
            <a:off x="3314700" y="3867150"/>
            <a:ext cx="1456333" cy="1905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4C72AA86-8748-4479-BC9B-4F083418B789}"/>
              </a:ext>
            </a:extLst>
          </p:cNvPr>
          <p:cNvSpPr>
            <a:spLocks xmlns:a="http://schemas.openxmlformats.org/drawingml/2006/main" noGrp="1"/>
          </p:cNvSpPr>
          <p:nvPr/>
        </p:nvSpPr>
        <p:spPr>
          <a:xfrm xmlns:a="http://schemas.openxmlformats.org/drawingml/2006/main">
            <a:off x="4866283" y="3886200"/>
            <a:ext cx="2476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no public valuation · 300+ staff</a:t>
            </a:r>
          </a:p>
        </p:txBody>
      </p:sp>
      <p:sp>
        <p:nvSpPr>
          <p:cNvPr id="39" name="">
            <a:extLst xmlns:a="http://schemas.openxmlformats.org/drawingml/2006/main">
              <a:ext uri="{FF2B5EF4-FFF2-40B4-BE49-F238E27FC236}">
                <a16:creationId xmlns:a16="http://schemas.microsoft.com/office/drawing/2014/main" id="{D2C78040-EE85-40E2-946A-7FB381150B02}"/>
              </a:ext>
            </a:extLst>
          </p:cNvPr>
          <p:cNvSpPr>
            <a:spLocks xmlns:a="http://schemas.openxmlformats.org/drawingml/2006/main" noGrp="1"/>
          </p:cNvSpPr>
          <p:nvPr/>
        </p:nvSpPr>
        <p:spPr>
          <a:xfrm xmlns:a="http://schemas.openxmlformats.org/drawingml/2006/main">
            <a:off x="457200" y="4229100"/>
            <a:ext cx="238125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Starkenn</a:t>
            </a:r>
          </a:p>
        </p:txBody>
      </p:sp>
      <p:sp>
        <p:nvSpPr>
          <p:cNvPr id="40" name="">
            <a:extLst xmlns:a="http://schemas.openxmlformats.org/drawingml/2006/main">
              <a:ext uri="{FF2B5EF4-FFF2-40B4-BE49-F238E27FC236}">
                <a16:creationId xmlns:a16="http://schemas.microsoft.com/office/drawing/2014/main" id="{33B80587-DA7D-4C34-A210-73433C03F09E}"/>
              </a:ext>
            </a:extLst>
          </p:cNvPr>
          <p:cNvSpPr>
            <a:spLocks xmlns:a="http://schemas.openxmlformats.org/drawingml/2006/main" noGrp="1"/>
          </p:cNvSpPr>
          <p:nvPr/>
        </p:nvSpPr>
        <p:spPr>
          <a:xfrm xmlns:a="http://schemas.openxmlformats.org/drawingml/2006/main">
            <a:off x="457200" y="438150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PRIVATE</a:t>
            </a:r>
          </a:p>
        </p:txBody>
      </p:sp>
      <p:sp>
        <p:nvSpPr>
          <p:cNvPr id="41" name="">
            <a:extLst xmlns:a="http://schemas.openxmlformats.org/drawingml/2006/main">
              <a:ext uri="{FF2B5EF4-FFF2-40B4-BE49-F238E27FC236}">
                <a16:creationId xmlns:a16="http://schemas.microsoft.com/office/drawing/2014/main" id="{910CE748-3EEE-40B8-8E70-358F61F4C3C6}"/>
              </a:ext>
            </a:extLst>
          </p:cNvPr>
          <p:cNvSpPr>
            <a:spLocks xmlns:a="http://schemas.openxmlformats.org/drawingml/2006/main" noGrp="1"/>
          </p:cNvSpPr>
          <p:nvPr/>
        </p:nvSpPr>
        <p:spPr>
          <a:xfrm xmlns:a="http://schemas.openxmlformats.org/drawingml/2006/main">
            <a:off x="3314700" y="4248150"/>
            <a:ext cx="912698" cy="1905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7562A51-915D-43BC-8E5E-FA9269E30E3E}"/>
              </a:ext>
            </a:extLst>
          </p:cNvPr>
          <p:cNvSpPr>
            <a:spLocks xmlns:a="http://schemas.openxmlformats.org/drawingml/2006/main" noGrp="1"/>
          </p:cNvSpPr>
          <p:nvPr/>
        </p:nvSpPr>
        <p:spPr>
          <a:xfrm xmlns:a="http://schemas.openxmlformats.org/drawingml/2006/main">
            <a:off x="4322648" y="4267200"/>
            <a:ext cx="2476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$2.0m raised · 57 staff, −15.8%</a:t>
            </a:r>
          </a:p>
        </p:txBody>
      </p:sp>
      <p:sp>
        <p:nvSpPr>
          <p:cNvPr id="43" name="">
            <a:extLst xmlns:a="http://schemas.openxmlformats.org/drawingml/2006/main">
              <a:ext uri="{FF2B5EF4-FFF2-40B4-BE49-F238E27FC236}">
                <a16:creationId xmlns:a16="http://schemas.microsoft.com/office/drawing/2014/main" id="{CEBC4299-0184-4011-9965-D98176F00C25}"/>
              </a:ext>
            </a:extLst>
          </p:cNvPr>
          <p:cNvSpPr>
            <a:spLocks xmlns:a="http://schemas.openxmlformats.org/drawingml/2006/main" noGrp="1"/>
          </p:cNvSpPr>
          <p:nvPr/>
        </p:nvSpPr>
        <p:spPr>
          <a:xfrm xmlns:a="http://schemas.openxmlformats.org/drawingml/2006/main">
            <a:off x="457200" y="4610100"/>
            <a:ext cx="238125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Gahan AI</a:t>
            </a:r>
          </a:p>
        </p:txBody>
      </p:sp>
      <p:sp>
        <p:nvSpPr>
          <p:cNvPr id="44" name="">
            <a:extLst xmlns:a="http://schemas.openxmlformats.org/drawingml/2006/main">
              <a:ext uri="{FF2B5EF4-FFF2-40B4-BE49-F238E27FC236}">
                <a16:creationId xmlns:a16="http://schemas.microsoft.com/office/drawing/2014/main" id="{86BF4DDC-78C2-4A6D-813A-3763B8B92906}"/>
              </a:ext>
            </a:extLst>
          </p:cNvPr>
          <p:cNvSpPr>
            <a:spLocks xmlns:a="http://schemas.openxmlformats.org/drawingml/2006/main" noGrp="1"/>
          </p:cNvSpPr>
          <p:nvPr/>
        </p:nvSpPr>
        <p:spPr>
          <a:xfrm xmlns:a="http://schemas.openxmlformats.org/drawingml/2006/main">
            <a:off x="457200" y="476250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PRIVATE</a:t>
            </a:r>
          </a:p>
        </p:txBody>
      </p:sp>
      <p:sp>
        <p:nvSpPr>
          <p:cNvPr id="45" name="">
            <a:extLst xmlns:a="http://schemas.openxmlformats.org/drawingml/2006/main">
              <a:ext uri="{FF2B5EF4-FFF2-40B4-BE49-F238E27FC236}">
                <a16:creationId xmlns:a16="http://schemas.microsoft.com/office/drawing/2014/main" id="{24BB310B-BA82-4188-BEE4-63C609BB4EF4}"/>
              </a:ext>
            </a:extLst>
          </p:cNvPr>
          <p:cNvSpPr>
            <a:spLocks xmlns:a="http://schemas.openxmlformats.org/drawingml/2006/main" noGrp="1"/>
          </p:cNvSpPr>
          <p:nvPr/>
        </p:nvSpPr>
        <p:spPr>
          <a:xfrm xmlns:a="http://schemas.openxmlformats.org/drawingml/2006/main">
            <a:off x="3314700" y="4629150"/>
            <a:ext cx="316927" cy="1905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395AED17-3250-4FD4-AB1D-AD5DA91AE785}"/>
              </a:ext>
            </a:extLst>
          </p:cNvPr>
          <p:cNvSpPr>
            <a:spLocks xmlns:a="http://schemas.openxmlformats.org/drawingml/2006/main" noGrp="1"/>
          </p:cNvSpPr>
          <p:nvPr/>
        </p:nvSpPr>
        <p:spPr>
          <a:xfrm xmlns:a="http://schemas.openxmlformats.org/drawingml/2006/main">
            <a:off x="3726877" y="4648200"/>
            <a:ext cx="2476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no funding disclosed · 15 staff</a:t>
            </a:r>
          </a:p>
        </p:txBody>
      </p:sp>
      <p:sp>
        <p:nvSpPr>
          <p:cNvPr id="47" name="">
            <a:extLst xmlns:a="http://schemas.openxmlformats.org/drawingml/2006/main">
              <a:ext uri="{FF2B5EF4-FFF2-40B4-BE49-F238E27FC236}">
                <a16:creationId xmlns:a16="http://schemas.microsoft.com/office/drawing/2014/main" id="{FFC6E596-986F-4F4A-AF37-28C9517EB95B}"/>
              </a:ext>
            </a:extLst>
          </p:cNvPr>
          <p:cNvSpPr>
            <a:spLocks xmlns:a="http://schemas.openxmlformats.org/drawingml/2006/main" noGrp="1"/>
          </p:cNvSpPr>
          <p:nvPr/>
        </p:nvSpPr>
        <p:spPr>
          <a:xfrm xmlns:a="http://schemas.openxmlformats.org/drawingml/2006/main">
            <a:off x="457200" y="49911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782D58DE-FA09-4790-A9BD-4B1E1FE47CFD}"/>
              </a:ext>
            </a:extLst>
          </p:cNvPr>
          <p:cNvSpPr>
            <a:spLocks xmlns:a="http://schemas.openxmlformats.org/drawingml/2006/main" noGrp="1"/>
          </p:cNvSpPr>
          <p:nvPr/>
        </p:nvSpPr>
        <p:spPr>
          <a:xfrm xmlns:a="http://schemas.openxmlformats.org/drawingml/2006/main">
            <a:off x="457200" y="50863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D7720B"/>
                </a:solidFill>
                <a:latin typeface="Arial"/>
                <a:ea typeface="Arial"/>
                <a:cs typeface="Arial"/>
              </a:defRPr>
            </a:pPr>
            <a:r>
              <a:t>Any heatmap that scores these on one axis without showing scale is misleading by construction. ZF CVCS India alone is ~1,700× Starkenn by disclosed value ($3.4bn against $2.0m raised), and Gahan AI discloses no value at all — so it cannot be placed on this axis by value, only by headcount.</a:t>
            </a:r>
          </a:p>
        </p:txBody>
      </p:sp>
      <p:sp>
        <p:nvSpPr>
          <p:cNvPr id="49" name="">
            <a:extLst xmlns:a="http://schemas.openxmlformats.org/drawingml/2006/main">
              <a:ext uri="{FF2B5EF4-FFF2-40B4-BE49-F238E27FC236}">
                <a16:creationId xmlns:a16="http://schemas.microsoft.com/office/drawing/2014/main" id="{BA96A3A8-3FBD-4709-B025-EB6C17546252}"/>
              </a:ext>
            </a:extLst>
          </p:cNvPr>
          <p:cNvSpPr>
            <a:spLocks xmlns:a="http://schemas.openxmlformats.org/drawingml/2006/main" noGrp="1"/>
          </p:cNvSpPr>
          <p:nvPr/>
        </p:nvSpPr>
        <p:spPr>
          <a:xfrm xmlns:a="http://schemas.openxmlformats.org/drawingml/2006/main">
            <a:off x="457200" y="541020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Axis mixes disclosed value types — market cap for listed companies, annual sales for ZF Group, and total capital raised for private ones. They are not equivalent measures and the axis is indicative of order of magnitude only; each bar's label states which measure it carries.</a:t>
            </a:r>
          </a:p>
        </p:txBody>
      </p:sp>
      <p:sp>
        <p:nvSpPr>
          <p:cNvPr id="50" name="">
            <a:extLst xmlns:a="http://schemas.openxmlformats.org/drawingml/2006/main">
              <a:ext uri="{FF2B5EF4-FFF2-40B4-BE49-F238E27FC236}">
                <a16:creationId xmlns:a16="http://schemas.microsoft.com/office/drawing/2014/main" id="{860F2293-50C8-4CE9-89DE-85EA32E33097}"/>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24E70CF1-D451-4D91-A77E-D2597F99EAF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2" name="">
            <a:extLst xmlns:a="http://schemas.openxmlformats.org/drawingml/2006/main">
              <a:ext uri="{FF2B5EF4-FFF2-40B4-BE49-F238E27FC236}">
                <a16:creationId xmlns:a16="http://schemas.microsoft.com/office/drawing/2014/main" id="{86CBBCE3-957A-4071-AF39-7A562B35BFE5}"/>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14</a:t>
            </a:r>
          </a:p>
        </p:txBody>
      </p:sp>
    </p:spTree>
    <p:extLst>
      <p:ext uri="{BB962C8B-B14F-4D97-AF65-F5344CB8AC3E}">
        <p14:creationId xmlns:p14="http://schemas.microsoft.com/office/powerpoint/2010/main" val="135328615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CDD39062-01C5-4AF0-8758-94E5E50E2F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F5F2D05-B0CE-4110-81CC-133BF710822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26C5C1F-F6F0-4845-8A4F-D897D9E63590}"/>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THE FIELD · MARKET STRUCTURE</a:t>
            </a:r>
          </a:p>
        </p:txBody>
      </p:sp>
      <p:sp>
        <p:nvSpPr>
          <p:cNvPr id="4" name="">
            <a:extLst xmlns:a="http://schemas.openxmlformats.org/drawingml/2006/main">
              <a:ext uri="{FF2B5EF4-FFF2-40B4-BE49-F238E27FC236}">
                <a16:creationId xmlns:a16="http://schemas.microsoft.com/office/drawing/2014/main" id="{A344216A-651F-4CF1-843D-007E2B82D9A8}"/>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This is two markets, and only one of them is the mandate</a:t>
            </a:r>
          </a:p>
        </p:txBody>
      </p:sp>
      <p:sp>
        <p:nvSpPr>
          <p:cNvPr id="5" name="">
            <a:extLst xmlns:a="http://schemas.openxmlformats.org/drawingml/2006/main">
              <a:ext uri="{FF2B5EF4-FFF2-40B4-BE49-F238E27FC236}">
                <a16:creationId xmlns:a16="http://schemas.microsoft.com/office/drawing/2014/main" id="{4183BDDD-9ECF-4CAA-B903-CAA12405143A}"/>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CMVR rule 96(12) obliges AEBS — a system that brakes. A system that warns cannot satisfy it at any price.</a:t>
            </a:r>
          </a:p>
        </p:txBody>
      </p:sp>
      <p:sp>
        <p:nvSpPr>
          <p:cNvPr id="6" name="">
            <a:extLst xmlns:a="http://schemas.openxmlformats.org/drawingml/2006/main">
              <a:ext uri="{FF2B5EF4-FFF2-40B4-BE49-F238E27FC236}">
                <a16:creationId xmlns:a16="http://schemas.microsoft.com/office/drawing/2014/main" id="{06A99663-BCCD-4269-8B12-75011EDA1B48}"/>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0489383-D964-4B61-9251-E506D8EC759B}"/>
              </a:ext>
            </a:extLst>
          </p:cNvPr>
          <p:cNvSpPr>
            <a:spLocks xmlns:a="http://schemas.openxmlformats.org/drawingml/2006/main" noGrp="1"/>
          </p:cNvSpPr>
          <p:nvPr/>
        </p:nvSpPr>
        <p:spPr>
          <a:xfrm xmlns:a="http://schemas.openxmlformats.org/drawingml/2006/main">
            <a:off x="457200" y="1085850"/>
            <a:ext cx="3683000" cy="23526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EF82D65A-EF4B-4F86-8E5C-4E9F593AB619}"/>
              </a:ext>
            </a:extLst>
          </p:cNvPr>
          <p:cNvSpPr>
            <a:spLocks xmlns:a="http://schemas.openxmlformats.org/drawingml/2006/main" noGrp="1"/>
          </p:cNvSpPr>
          <p:nvPr/>
        </p:nvSpPr>
        <p:spPr>
          <a:xfrm xmlns:a="http://schemas.openxmlformats.org/drawingml/2006/main">
            <a:off x="457200" y="1085850"/>
            <a:ext cx="36830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4A3A7D8-F932-4587-8CF5-27D5444CBA8A}"/>
              </a:ext>
            </a:extLst>
          </p:cNvPr>
          <p:cNvSpPr>
            <a:spLocks xmlns:a="http://schemas.openxmlformats.org/drawingml/2006/main" noGrp="1"/>
          </p:cNvSpPr>
          <p:nvPr/>
        </p:nvSpPr>
        <p:spPr>
          <a:xfrm xmlns:a="http://schemas.openxmlformats.org/drawingml/2006/main">
            <a:off x="590550" y="1219200"/>
            <a:ext cx="3416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P-ACT</a:t>
            </a:r>
          </a:p>
        </p:txBody>
      </p:sp>
      <p:sp>
        <p:nvSpPr>
          <p:cNvPr id="10" name="">
            <a:extLst xmlns:a="http://schemas.openxmlformats.org/drawingml/2006/main">
              <a:ext uri="{FF2B5EF4-FFF2-40B4-BE49-F238E27FC236}">
                <a16:creationId xmlns:a16="http://schemas.microsoft.com/office/drawing/2014/main" id="{0132E095-1ADF-4B6E-947C-AB1E78AD4239}"/>
              </a:ext>
            </a:extLst>
          </p:cNvPr>
          <p:cNvSpPr>
            <a:spLocks xmlns:a="http://schemas.openxmlformats.org/drawingml/2006/main" noGrp="1"/>
          </p:cNvSpPr>
          <p:nvPr/>
        </p:nvSpPr>
        <p:spPr>
          <a:xfrm xmlns:a="http://schemas.openxmlformats.org/drawingml/2006/main">
            <a:off x="590550" y="1390650"/>
            <a:ext cx="34163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Georgia"/>
                <a:ea typeface="Georgia"/>
                <a:cs typeface="Georgia"/>
              </a:defRPr>
            </a:pPr>
            <a:r>
              <a:t>Reaches brake actuation</a:t>
            </a:r>
          </a:p>
        </p:txBody>
      </p:sp>
      <p:sp>
        <p:nvSpPr>
          <p:cNvPr id="11" name="">
            <a:extLst xmlns:a="http://schemas.openxmlformats.org/drawingml/2006/main">
              <a:ext uri="{FF2B5EF4-FFF2-40B4-BE49-F238E27FC236}">
                <a16:creationId xmlns:a16="http://schemas.microsoft.com/office/drawing/2014/main" id="{EBD678F1-6580-482E-BCDF-DFCEAC0D190A}"/>
              </a:ext>
            </a:extLst>
          </p:cNvPr>
          <p:cNvSpPr>
            <a:spLocks xmlns:a="http://schemas.openxmlformats.org/drawingml/2006/main" noGrp="1"/>
          </p:cNvSpPr>
          <p:nvPr/>
        </p:nvSpPr>
        <p:spPr>
          <a:xfrm xmlns:a="http://schemas.openxmlformats.org/drawingml/2006/main">
            <a:off x="590550" y="1733550"/>
            <a:ext cx="381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8F32F15-572A-4C86-8F57-715EFE5B8DB9}"/>
              </a:ext>
            </a:extLst>
          </p:cNvPr>
          <p:cNvSpPr>
            <a:spLocks xmlns:a="http://schemas.openxmlformats.org/drawingml/2006/main" noGrp="1"/>
          </p:cNvSpPr>
          <p:nvPr/>
        </p:nvSpPr>
        <p:spPr>
          <a:xfrm xmlns:a="http://schemas.openxmlformats.org/drawingml/2006/main">
            <a:off x="704850" y="1676400"/>
            <a:ext cx="3282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ZF — OnGuardMAX + radar, ARAI certified</a:t>
            </a:r>
          </a:p>
        </p:txBody>
      </p:sp>
      <p:sp>
        <p:nvSpPr>
          <p:cNvPr id="13" name="">
            <a:extLst xmlns:a="http://schemas.openxmlformats.org/drawingml/2006/main">
              <a:ext uri="{FF2B5EF4-FFF2-40B4-BE49-F238E27FC236}">
                <a16:creationId xmlns:a16="http://schemas.microsoft.com/office/drawing/2014/main" id="{8B4A8009-F309-4073-9F7F-2EE059AB0C06}"/>
              </a:ext>
            </a:extLst>
          </p:cNvPr>
          <p:cNvSpPr>
            <a:spLocks xmlns:a="http://schemas.openxmlformats.org/drawingml/2006/main" noGrp="1"/>
          </p:cNvSpPr>
          <p:nvPr/>
        </p:nvSpPr>
        <p:spPr>
          <a:xfrm xmlns:a="http://schemas.openxmlformats.org/drawingml/2006/main">
            <a:off x="590550" y="1981200"/>
            <a:ext cx="381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E0A3CD4-596A-4F4B-9135-FEC4EA30850E}"/>
              </a:ext>
            </a:extLst>
          </p:cNvPr>
          <p:cNvSpPr>
            <a:spLocks xmlns:a="http://schemas.openxmlformats.org/drawingml/2006/main" noGrp="1"/>
          </p:cNvSpPr>
          <p:nvPr/>
        </p:nvSpPr>
        <p:spPr>
          <a:xfrm xmlns:a="http://schemas.openxmlformats.org/drawingml/2006/main">
            <a:off x="704850" y="1924050"/>
            <a:ext cx="3282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Aptiv — Gen 8 radar + Gen 7 camera</a:t>
            </a:r>
          </a:p>
        </p:txBody>
      </p:sp>
      <p:sp>
        <p:nvSpPr>
          <p:cNvPr id="15" name="">
            <a:extLst xmlns:a="http://schemas.openxmlformats.org/drawingml/2006/main">
              <a:ext uri="{FF2B5EF4-FFF2-40B4-BE49-F238E27FC236}">
                <a16:creationId xmlns:a16="http://schemas.microsoft.com/office/drawing/2014/main" id="{5A93A829-81B6-460A-BEF0-530A42C965DA}"/>
              </a:ext>
            </a:extLst>
          </p:cNvPr>
          <p:cNvSpPr>
            <a:spLocks xmlns:a="http://schemas.openxmlformats.org/drawingml/2006/main" noGrp="1"/>
          </p:cNvSpPr>
          <p:nvPr/>
        </p:nvSpPr>
        <p:spPr>
          <a:xfrm xmlns:a="http://schemas.openxmlformats.org/drawingml/2006/main">
            <a:off x="590550" y="2228850"/>
            <a:ext cx="381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AB33B99-7504-49A6-B9B7-252F31B90C49}"/>
              </a:ext>
            </a:extLst>
          </p:cNvPr>
          <p:cNvSpPr>
            <a:spLocks xmlns:a="http://schemas.openxmlformats.org/drawingml/2006/main" noGrp="1"/>
          </p:cNvSpPr>
          <p:nvPr/>
        </p:nvSpPr>
        <p:spPr>
          <a:xfrm xmlns:a="http://schemas.openxmlformats.org/drawingml/2006/main">
            <a:off x="704850" y="2171700"/>
            <a:ext cx="3282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STRADVISION — perception INSIDE Aptiv</a:t>
            </a:r>
          </a:p>
        </p:txBody>
      </p:sp>
      <p:sp>
        <p:nvSpPr>
          <p:cNvPr id="17" name="">
            <a:extLst xmlns:a="http://schemas.openxmlformats.org/drawingml/2006/main">
              <a:ext uri="{FF2B5EF4-FFF2-40B4-BE49-F238E27FC236}">
                <a16:creationId xmlns:a16="http://schemas.microsoft.com/office/drawing/2014/main" id="{127C74F8-FB23-4568-AB08-93C7A7583EDB}"/>
              </a:ext>
            </a:extLst>
          </p:cNvPr>
          <p:cNvSpPr>
            <a:spLocks xmlns:a="http://schemas.openxmlformats.org/drawingml/2006/main" noGrp="1"/>
          </p:cNvSpPr>
          <p:nvPr/>
        </p:nvSpPr>
        <p:spPr>
          <a:xfrm xmlns:a="http://schemas.openxmlformats.org/drawingml/2006/main">
            <a:off x="590550" y="2476500"/>
            <a:ext cx="34163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6BEB127-F54A-436E-AA36-7C978D71BF13}"/>
              </a:ext>
            </a:extLst>
          </p:cNvPr>
          <p:cNvSpPr>
            <a:spLocks xmlns:a="http://schemas.openxmlformats.org/drawingml/2006/main" noGrp="1"/>
          </p:cNvSpPr>
          <p:nvPr/>
        </p:nvSpPr>
        <p:spPr>
          <a:xfrm xmlns:a="http://schemas.openxmlformats.org/drawingml/2006/main">
            <a:off x="590550" y="2571750"/>
            <a:ext cx="3416300" cy="7905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E06767"/>
                </a:solidFill>
                <a:latin typeface="Arial"/>
                <a:ea typeface="Arial"/>
                <a:cs typeface="Arial"/>
              </a:defRPr>
            </a:pPr>
            <a:r>
              <a:t>Competing for HOMOLOGATION budget on the 2027 clock. Owns the safety case, the calibration and the warranty.</a:t>
            </a:r>
          </a:p>
        </p:txBody>
      </p:sp>
      <p:sp>
        <p:nvSpPr>
          <p:cNvPr id="19" name="">
            <a:extLst xmlns:a="http://schemas.openxmlformats.org/drawingml/2006/main">
              <a:ext uri="{FF2B5EF4-FFF2-40B4-BE49-F238E27FC236}">
                <a16:creationId xmlns:a16="http://schemas.microsoft.com/office/drawing/2014/main" id="{7AC696FA-32B8-417B-9B49-1B1BAA3BA053}"/>
              </a:ext>
            </a:extLst>
          </p:cNvPr>
          <p:cNvSpPr>
            <a:spLocks xmlns:a="http://schemas.openxmlformats.org/drawingml/2006/main" noGrp="1"/>
          </p:cNvSpPr>
          <p:nvPr/>
        </p:nvSpPr>
        <p:spPr>
          <a:xfrm xmlns:a="http://schemas.openxmlformats.org/drawingml/2006/main">
            <a:off x="4254500" y="1085850"/>
            <a:ext cx="3683000" cy="23526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0" name="">
            <a:extLst xmlns:a="http://schemas.openxmlformats.org/drawingml/2006/main">
              <a:ext uri="{FF2B5EF4-FFF2-40B4-BE49-F238E27FC236}">
                <a16:creationId xmlns:a16="http://schemas.microsoft.com/office/drawing/2014/main" id="{D515AEF6-6AF5-41F0-B544-87EE6003E4D4}"/>
              </a:ext>
            </a:extLst>
          </p:cNvPr>
          <p:cNvSpPr>
            <a:spLocks xmlns:a="http://schemas.openxmlformats.org/drawingml/2006/main" noGrp="1"/>
          </p:cNvSpPr>
          <p:nvPr/>
        </p:nvSpPr>
        <p:spPr>
          <a:xfrm xmlns:a="http://schemas.openxmlformats.org/drawingml/2006/main">
            <a:off x="4254500" y="1085850"/>
            <a:ext cx="36830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706BD02-788D-4435-9316-4BBF3616DBF6}"/>
              </a:ext>
            </a:extLst>
          </p:cNvPr>
          <p:cNvSpPr>
            <a:spLocks xmlns:a="http://schemas.openxmlformats.org/drawingml/2006/main" noGrp="1"/>
          </p:cNvSpPr>
          <p:nvPr/>
        </p:nvSpPr>
        <p:spPr>
          <a:xfrm xmlns:a="http://schemas.openxmlformats.org/drawingml/2006/main">
            <a:off x="4387850" y="1219200"/>
            <a:ext cx="3416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P-WARN</a:t>
            </a:r>
          </a:p>
        </p:txBody>
      </p:sp>
      <p:sp>
        <p:nvSpPr>
          <p:cNvPr id="22" name="">
            <a:extLst xmlns:a="http://schemas.openxmlformats.org/drawingml/2006/main">
              <a:ext uri="{FF2B5EF4-FFF2-40B4-BE49-F238E27FC236}">
                <a16:creationId xmlns:a16="http://schemas.microsoft.com/office/drawing/2014/main" id="{C42B4847-412D-4623-9A19-C8C07BF5EBCE}"/>
              </a:ext>
            </a:extLst>
          </p:cNvPr>
          <p:cNvSpPr>
            <a:spLocks xmlns:a="http://schemas.openxmlformats.org/drawingml/2006/main" noGrp="1"/>
          </p:cNvSpPr>
          <p:nvPr/>
        </p:nvSpPr>
        <p:spPr>
          <a:xfrm xmlns:a="http://schemas.openxmlformats.org/drawingml/2006/main">
            <a:off x="4387850" y="1390650"/>
            <a:ext cx="34163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Georgia"/>
                <a:ea typeface="Georgia"/>
                <a:cs typeface="Georgia"/>
              </a:defRPr>
            </a:pPr>
            <a:r>
              <a:t>Warning only</a:t>
            </a:r>
          </a:p>
        </p:txBody>
      </p:sp>
      <p:sp>
        <p:nvSpPr>
          <p:cNvPr id="23" name="">
            <a:extLst xmlns:a="http://schemas.openxmlformats.org/drawingml/2006/main">
              <a:ext uri="{FF2B5EF4-FFF2-40B4-BE49-F238E27FC236}">
                <a16:creationId xmlns:a16="http://schemas.microsoft.com/office/drawing/2014/main" id="{B8363F54-FB1F-4259-955B-FC5FD8105403}"/>
              </a:ext>
            </a:extLst>
          </p:cNvPr>
          <p:cNvSpPr>
            <a:spLocks xmlns:a="http://schemas.openxmlformats.org/drawingml/2006/main" noGrp="1"/>
          </p:cNvSpPr>
          <p:nvPr/>
        </p:nvSpPr>
        <p:spPr>
          <a:xfrm xmlns:a="http://schemas.openxmlformats.org/drawingml/2006/main">
            <a:off x="4387850" y="1733550"/>
            <a:ext cx="381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808FDE7-A678-4A5C-A38D-F70B755E1EE9}"/>
              </a:ext>
            </a:extLst>
          </p:cNvPr>
          <p:cNvSpPr>
            <a:spLocks xmlns:a="http://schemas.openxmlformats.org/drawingml/2006/main" noGrp="1"/>
          </p:cNvSpPr>
          <p:nvPr/>
        </p:nvSpPr>
        <p:spPr>
          <a:xfrm xmlns:a="http://schemas.openxmlformats.org/drawingml/2006/main">
            <a:off x="4502150" y="1676400"/>
            <a:ext cx="3282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drivebuddyAI — six cameras, alerts driver</a:t>
            </a:r>
          </a:p>
        </p:txBody>
      </p:sp>
      <p:sp>
        <p:nvSpPr>
          <p:cNvPr id="25" name="">
            <a:extLst xmlns:a="http://schemas.openxmlformats.org/drawingml/2006/main">
              <a:ext uri="{FF2B5EF4-FFF2-40B4-BE49-F238E27FC236}">
                <a16:creationId xmlns:a16="http://schemas.microsoft.com/office/drawing/2014/main" id="{86CFC5F9-B04C-4707-839C-9D9ED9287D83}"/>
              </a:ext>
            </a:extLst>
          </p:cNvPr>
          <p:cNvSpPr>
            <a:spLocks xmlns:a="http://schemas.openxmlformats.org/drawingml/2006/main" noGrp="1"/>
          </p:cNvSpPr>
          <p:nvPr/>
        </p:nvSpPr>
        <p:spPr>
          <a:xfrm xmlns:a="http://schemas.openxmlformats.org/drawingml/2006/main">
            <a:off x="4387850" y="1981200"/>
            <a:ext cx="381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22E7999-E455-4B46-8762-6A94E9A28E63}"/>
              </a:ext>
            </a:extLst>
          </p:cNvPr>
          <p:cNvSpPr>
            <a:spLocks xmlns:a="http://schemas.openxmlformats.org/drawingml/2006/main" noGrp="1"/>
          </p:cNvSpPr>
          <p:nvPr/>
        </p:nvSpPr>
        <p:spPr>
          <a:xfrm xmlns:a="http://schemas.openxmlformats.org/drawingml/2006/main">
            <a:off x="4502150" y="1924050"/>
            <a:ext cx="3282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bitsensing — explicitly no AEB</a:t>
            </a:r>
          </a:p>
        </p:txBody>
      </p:sp>
      <p:sp>
        <p:nvSpPr>
          <p:cNvPr id="27" name="">
            <a:extLst xmlns:a="http://schemas.openxmlformats.org/drawingml/2006/main">
              <a:ext uri="{FF2B5EF4-FFF2-40B4-BE49-F238E27FC236}">
                <a16:creationId xmlns:a16="http://schemas.microsoft.com/office/drawing/2014/main" id="{1A2BA72A-ED76-458F-BBEE-F4CE6F89581B}"/>
              </a:ext>
            </a:extLst>
          </p:cNvPr>
          <p:cNvSpPr>
            <a:spLocks xmlns:a="http://schemas.openxmlformats.org/drawingml/2006/main" noGrp="1"/>
          </p:cNvSpPr>
          <p:nvPr/>
        </p:nvSpPr>
        <p:spPr>
          <a:xfrm xmlns:a="http://schemas.openxmlformats.org/drawingml/2006/main">
            <a:off x="4387850" y="2228850"/>
            <a:ext cx="381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5292747-830F-4EE2-BD58-767B2D448E1E}"/>
              </a:ext>
            </a:extLst>
          </p:cNvPr>
          <p:cNvSpPr>
            <a:spLocks xmlns:a="http://schemas.openxmlformats.org/drawingml/2006/main" noGrp="1"/>
          </p:cNvSpPr>
          <p:nvPr/>
        </p:nvSpPr>
        <p:spPr>
          <a:xfrm xmlns:a="http://schemas.openxmlformats.org/drawingml/2006/main">
            <a:off x="4502150" y="2171700"/>
            <a:ext cx="3282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Starkenn — collision warning + DMS</a:t>
            </a:r>
          </a:p>
        </p:txBody>
      </p:sp>
      <p:sp>
        <p:nvSpPr>
          <p:cNvPr id="29" name="">
            <a:extLst xmlns:a="http://schemas.openxmlformats.org/drawingml/2006/main">
              <a:ext uri="{FF2B5EF4-FFF2-40B4-BE49-F238E27FC236}">
                <a16:creationId xmlns:a16="http://schemas.microsoft.com/office/drawing/2014/main" id="{83BF15B4-292F-4A3E-8510-06020F30CD06}"/>
              </a:ext>
            </a:extLst>
          </p:cNvPr>
          <p:cNvSpPr>
            <a:spLocks xmlns:a="http://schemas.openxmlformats.org/drawingml/2006/main" noGrp="1"/>
          </p:cNvSpPr>
          <p:nvPr/>
        </p:nvSpPr>
        <p:spPr>
          <a:xfrm xmlns:a="http://schemas.openxmlformats.org/drawingml/2006/main">
            <a:off x="4387850" y="2476500"/>
            <a:ext cx="381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D372F8C-E947-4B08-810D-4CBF0273D23B}"/>
              </a:ext>
            </a:extLst>
          </p:cNvPr>
          <p:cNvSpPr>
            <a:spLocks xmlns:a="http://schemas.openxmlformats.org/drawingml/2006/main" noGrp="1"/>
          </p:cNvSpPr>
          <p:nvPr/>
        </p:nvSpPr>
        <p:spPr>
          <a:xfrm xmlns:a="http://schemas.openxmlformats.org/drawingml/2006/main">
            <a:off x="4502150" y="2419350"/>
            <a:ext cx="3282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Sterling × MINIEYE — ADAS + DMS</a:t>
            </a:r>
          </a:p>
        </p:txBody>
      </p:sp>
      <p:sp>
        <p:nvSpPr>
          <p:cNvPr id="31" name="">
            <a:extLst xmlns:a="http://schemas.openxmlformats.org/drawingml/2006/main">
              <a:ext uri="{FF2B5EF4-FFF2-40B4-BE49-F238E27FC236}">
                <a16:creationId xmlns:a16="http://schemas.microsoft.com/office/drawing/2014/main" id="{4B2BBAFA-19E6-4CED-83AF-4E6D608E07CF}"/>
              </a:ext>
            </a:extLst>
          </p:cNvPr>
          <p:cNvSpPr>
            <a:spLocks xmlns:a="http://schemas.openxmlformats.org/drawingml/2006/main" noGrp="1"/>
          </p:cNvSpPr>
          <p:nvPr/>
        </p:nvSpPr>
        <p:spPr>
          <a:xfrm xmlns:a="http://schemas.openxmlformats.org/drawingml/2006/main">
            <a:off x="4387850" y="2724150"/>
            <a:ext cx="34163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2EBD814-6A0A-496C-83F3-669096CAA420}"/>
              </a:ext>
            </a:extLst>
          </p:cNvPr>
          <p:cNvSpPr>
            <a:spLocks xmlns:a="http://schemas.openxmlformats.org/drawingml/2006/main" noGrp="1"/>
          </p:cNvSpPr>
          <p:nvPr/>
        </p:nvSpPr>
        <p:spPr>
          <a:xfrm xmlns:a="http://schemas.openxmlformats.org/drawingml/2006/main">
            <a:off x="4387850" y="2819400"/>
            <a:ext cx="34163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D7720B"/>
                </a:solidFill>
                <a:latin typeface="Arial"/>
                <a:ea typeface="Arial"/>
                <a:cs typeface="Arial"/>
              </a:defRPr>
            </a:pPr>
            <a:r>
              <a:t>Competing for RETROFIT FLEET-SAFETY budget today, and winning there. Different buyer, different clock, no mandate exposure.</a:t>
            </a:r>
          </a:p>
        </p:txBody>
      </p:sp>
      <p:sp>
        <p:nvSpPr>
          <p:cNvPr id="33" name="">
            <a:extLst xmlns:a="http://schemas.openxmlformats.org/drawingml/2006/main">
              <a:ext uri="{FF2B5EF4-FFF2-40B4-BE49-F238E27FC236}">
                <a16:creationId xmlns:a16="http://schemas.microsoft.com/office/drawing/2014/main" id="{CBF01AD2-3739-490A-9A53-4ECCD8A3BEEC}"/>
              </a:ext>
            </a:extLst>
          </p:cNvPr>
          <p:cNvSpPr>
            <a:spLocks xmlns:a="http://schemas.openxmlformats.org/drawingml/2006/main" noGrp="1"/>
          </p:cNvSpPr>
          <p:nvPr/>
        </p:nvSpPr>
        <p:spPr>
          <a:xfrm xmlns:a="http://schemas.openxmlformats.org/drawingml/2006/main">
            <a:off x="8051800" y="1085850"/>
            <a:ext cx="3683000" cy="23526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4" name="">
            <a:extLst xmlns:a="http://schemas.openxmlformats.org/drawingml/2006/main">
              <a:ext uri="{FF2B5EF4-FFF2-40B4-BE49-F238E27FC236}">
                <a16:creationId xmlns:a16="http://schemas.microsoft.com/office/drawing/2014/main" id="{982977B3-8D26-429E-8CB5-1F3790DE3EFA}"/>
              </a:ext>
            </a:extLst>
          </p:cNvPr>
          <p:cNvSpPr>
            <a:spLocks xmlns:a="http://schemas.openxmlformats.org/drawingml/2006/main" noGrp="1"/>
          </p:cNvSpPr>
          <p:nvPr/>
        </p:nvSpPr>
        <p:spPr>
          <a:xfrm xmlns:a="http://schemas.openxmlformats.org/drawingml/2006/main">
            <a:off x="8051800" y="1085850"/>
            <a:ext cx="3683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461D54E-2E9C-4513-A0A9-999518E043BA}"/>
              </a:ext>
            </a:extLst>
          </p:cNvPr>
          <p:cNvSpPr>
            <a:spLocks xmlns:a="http://schemas.openxmlformats.org/drawingml/2006/main" noGrp="1"/>
          </p:cNvSpPr>
          <p:nvPr/>
        </p:nvSpPr>
        <p:spPr>
          <a:xfrm xmlns:a="http://schemas.openxmlformats.org/drawingml/2006/main">
            <a:off x="8185150" y="1219200"/>
            <a:ext cx="3416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P-ADJ</a:t>
            </a:r>
          </a:p>
        </p:txBody>
      </p:sp>
      <p:sp>
        <p:nvSpPr>
          <p:cNvPr id="36" name="">
            <a:extLst xmlns:a="http://schemas.openxmlformats.org/drawingml/2006/main">
              <a:ext uri="{FF2B5EF4-FFF2-40B4-BE49-F238E27FC236}">
                <a16:creationId xmlns:a16="http://schemas.microsoft.com/office/drawing/2014/main" id="{27125914-30C3-4665-808D-28C2BB4D6EF2}"/>
              </a:ext>
            </a:extLst>
          </p:cNvPr>
          <p:cNvSpPr>
            <a:spLocks xmlns:a="http://schemas.openxmlformats.org/drawingml/2006/main" noGrp="1"/>
          </p:cNvSpPr>
          <p:nvPr/>
        </p:nvSpPr>
        <p:spPr>
          <a:xfrm xmlns:a="http://schemas.openxmlformats.org/drawingml/2006/main">
            <a:off x="8185150" y="1390650"/>
            <a:ext cx="34163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Georgia"/>
                <a:ea typeface="Georgia"/>
                <a:cs typeface="Georgia"/>
              </a:defRPr>
            </a:pPr>
            <a:r>
              <a:t>Adjacent</a:t>
            </a:r>
          </a:p>
        </p:txBody>
      </p:sp>
      <p:sp>
        <p:nvSpPr>
          <p:cNvPr id="37" name="">
            <a:extLst xmlns:a="http://schemas.openxmlformats.org/drawingml/2006/main">
              <a:ext uri="{FF2B5EF4-FFF2-40B4-BE49-F238E27FC236}">
                <a16:creationId xmlns:a16="http://schemas.microsoft.com/office/drawing/2014/main" id="{3C748E52-BD76-4C2A-A5FA-600B9D9DB76A}"/>
              </a:ext>
            </a:extLst>
          </p:cNvPr>
          <p:cNvSpPr>
            <a:spLocks xmlns:a="http://schemas.openxmlformats.org/drawingml/2006/main" noGrp="1"/>
          </p:cNvSpPr>
          <p:nvPr/>
        </p:nvSpPr>
        <p:spPr>
          <a:xfrm xmlns:a="http://schemas.openxmlformats.org/drawingml/2006/main">
            <a:off x="8185150" y="1733550"/>
            <a:ext cx="381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675BA3D-D070-48B6-84F7-4647E184D88D}"/>
              </a:ext>
            </a:extLst>
          </p:cNvPr>
          <p:cNvSpPr>
            <a:spLocks xmlns:a="http://schemas.openxmlformats.org/drawingml/2006/main" noGrp="1"/>
          </p:cNvSpPr>
          <p:nvPr/>
        </p:nvSpPr>
        <p:spPr>
          <a:xfrm xmlns:a="http://schemas.openxmlformats.org/drawingml/2006/main">
            <a:off x="8299450" y="1676400"/>
            <a:ext cx="3282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Netrasemi — edge-AI SoC, no ADAS cert</a:t>
            </a:r>
          </a:p>
        </p:txBody>
      </p:sp>
      <p:sp>
        <p:nvSpPr>
          <p:cNvPr id="39" name="">
            <a:extLst xmlns:a="http://schemas.openxmlformats.org/drawingml/2006/main">
              <a:ext uri="{FF2B5EF4-FFF2-40B4-BE49-F238E27FC236}">
                <a16:creationId xmlns:a16="http://schemas.microsoft.com/office/drawing/2014/main" id="{166BF2AE-6FC3-477D-B264-B950A356D59A}"/>
              </a:ext>
            </a:extLst>
          </p:cNvPr>
          <p:cNvSpPr>
            <a:spLocks xmlns:a="http://schemas.openxmlformats.org/drawingml/2006/main" noGrp="1"/>
          </p:cNvSpPr>
          <p:nvPr/>
        </p:nvSpPr>
        <p:spPr>
          <a:xfrm xmlns:a="http://schemas.openxmlformats.org/drawingml/2006/main">
            <a:off x="8185150" y="1981200"/>
            <a:ext cx="381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4D545B58-F0BE-410F-919D-8A611DD6C2DE}"/>
              </a:ext>
            </a:extLst>
          </p:cNvPr>
          <p:cNvSpPr>
            <a:spLocks xmlns:a="http://schemas.openxmlformats.org/drawingml/2006/main" noGrp="1"/>
          </p:cNvSpPr>
          <p:nvPr/>
        </p:nvSpPr>
        <p:spPr>
          <a:xfrm xmlns:a="http://schemas.openxmlformats.org/drawingml/2006/main">
            <a:off x="8299450" y="1924050"/>
            <a:ext cx="3282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Gahan AI — radar claims unverified</a:t>
            </a:r>
          </a:p>
        </p:txBody>
      </p:sp>
      <p:sp>
        <p:nvSpPr>
          <p:cNvPr id="41" name="">
            <a:extLst xmlns:a="http://schemas.openxmlformats.org/drawingml/2006/main">
              <a:ext uri="{FF2B5EF4-FFF2-40B4-BE49-F238E27FC236}">
                <a16:creationId xmlns:a16="http://schemas.microsoft.com/office/drawing/2014/main" id="{B43CA7D3-02B1-4565-9492-E2D3E78E1396}"/>
              </a:ext>
            </a:extLst>
          </p:cNvPr>
          <p:cNvSpPr>
            <a:spLocks xmlns:a="http://schemas.openxmlformats.org/drawingml/2006/main" noGrp="1"/>
          </p:cNvSpPr>
          <p:nvPr/>
        </p:nvSpPr>
        <p:spPr>
          <a:xfrm xmlns:a="http://schemas.openxmlformats.org/drawingml/2006/main">
            <a:off x="8185150" y="2228850"/>
            <a:ext cx="34163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186E5A8D-2A17-46C4-AA1F-E93B6FDFDF33}"/>
              </a:ext>
            </a:extLst>
          </p:cNvPr>
          <p:cNvSpPr>
            <a:spLocks xmlns:a="http://schemas.openxmlformats.org/drawingml/2006/main" noGrp="1"/>
          </p:cNvSpPr>
          <p:nvPr/>
        </p:nvSpPr>
        <p:spPr>
          <a:xfrm xmlns:a="http://schemas.openxmlformats.org/drawingml/2006/main">
            <a:off x="8185150" y="2324100"/>
            <a:ext cx="3416300" cy="10382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04B3C7"/>
                </a:solidFill>
                <a:latin typeface="Arial"/>
                <a:ea typeface="Arial"/>
                <a:cs typeface="Arial"/>
              </a:defRPr>
            </a:pPr>
            <a:r>
              <a:t>Not competing for the mandate today. Netrasemi’s mid-2027 window makes "adjacent" expire.</a:t>
            </a:r>
          </a:p>
        </p:txBody>
      </p:sp>
      <p:sp>
        <p:nvSpPr>
          <p:cNvPr id="43" name="">
            <a:extLst xmlns:a="http://schemas.openxmlformats.org/drawingml/2006/main">
              <a:ext uri="{FF2B5EF4-FFF2-40B4-BE49-F238E27FC236}">
                <a16:creationId xmlns:a16="http://schemas.microsoft.com/office/drawing/2014/main" id="{3461426E-C340-467B-803C-7B046DA37FA2}"/>
              </a:ext>
            </a:extLst>
          </p:cNvPr>
          <p:cNvSpPr>
            <a:spLocks xmlns:a="http://schemas.openxmlformats.org/drawingml/2006/main" noGrp="1"/>
          </p:cNvSpPr>
          <p:nvPr/>
        </p:nvSpPr>
        <p:spPr>
          <a:xfrm xmlns:a="http://schemas.openxmlformats.org/drawingml/2006/main">
            <a:off x="457200" y="359092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7544F95-3706-470C-B5A6-1C268F1D1E31}"/>
              </a:ext>
            </a:extLst>
          </p:cNvPr>
          <p:cNvSpPr>
            <a:spLocks xmlns:a="http://schemas.openxmlformats.org/drawingml/2006/main" noGrp="1"/>
          </p:cNvSpPr>
          <p:nvPr/>
        </p:nvSpPr>
        <p:spPr>
          <a:xfrm xmlns:a="http://schemas.openxmlformats.org/drawingml/2006/main">
            <a:off x="457200" y="3705225"/>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WHAT THE SINGLE HEATMAP HIDES</a:t>
            </a:r>
          </a:p>
        </p:txBody>
      </p:sp>
      <p:sp>
        <p:nvSpPr>
          <p:cNvPr id="45" name="">
            <a:extLst xmlns:a="http://schemas.openxmlformats.org/drawingml/2006/main">
              <a:ext uri="{FF2B5EF4-FFF2-40B4-BE49-F238E27FC236}">
                <a16:creationId xmlns:a16="http://schemas.microsoft.com/office/drawing/2014/main" id="{27428DCD-177A-494F-B239-87E1C98B25D7}"/>
              </a:ext>
            </a:extLst>
          </p:cNvPr>
          <p:cNvSpPr>
            <a:spLocks xmlns:a="http://schemas.openxmlformats.org/drawingml/2006/main" noGrp="1"/>
          </p:cNvSpPr>
          <p:nvPr/>
        </p:nvSpPr>
        <p:spPr>
          <a:xfrm xmlns:a="http://schemas.openxmlformats.org/drawingml/2006/main">
            <a:off x="457200" y="3876675"/>
            <a:ext cx="112776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Flattening these makes drivebuddyAI read as a mandate competitor when it is not, and makes the mandate look nearer than it is. DeepGrid sells a perception layer into the LEFT column — the only column where a functional-safety pathway is the price of entry.</a:t>
            </a:r>
          </a:p>
        </p:txBody>
      </p:sp>
      <p:sp>
        <p:nvSpPr>
          <p:cNvPr id="46" name="">
            <a:extLst xmlns:a="http://schemas.openxmlformats.org/drawingml/2006/main">
              <a:ext uri="{FF2B5EF4-FFF2-40B4-BE49-F238E27FC236}">
                <a16:creationId xmlns:a16="http://schemas.microsoft.com/office/drawing/2014/main" id="{0B97F23A-8AC1-407B-A397-D148F4EE828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2B184FFF-01E4-4567-BF2C-83F70DBBC78E}"/>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8" name="">
            <a:extLst xmlns:a="http://schemas.openxmlformats.org/drawingml/2006/main">
              <a:ext uri="{FF2B5EF4-FFF2-40B4-BE49-F238E27FC236}">
                <a16:creationId xmlns:a16="http://schemas.microsoft.com/office/drawing/2014/main" id="{025D1F38-B5EF-4B65-88D3-A32C90E3192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15</a:t>
            </a:r>
          </a:p>
        </p:txBody>
      </p:sp>
    </p:spTree>
    <p:extLst>
      <p:ext uri="{BB962C8B-B14F-4D97-AF65-F5344CB8AC3E}">
        <p14:creationId xmlns:p14="http://schemas.microsoft.com/office/powerpoint/2010/main" val="111307466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4C0E4C5A-E5A0-403C-8008-845CB6C6ABE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5C72784-1469-4D7B-A5EC-7EF2F90AD25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7913067-4139-45E4-8076-594A9EB409E1}"/>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THE FIELD · THE REAL BARRIER</a:t>
            </a:r>
          </a:p>
        </p:txBody>
      </p:sp>
      <p:sp>
        <p:nvSpPr>
          <p:cNvPr id="4" name="">
            <a:extLst xmlns:a="http://schemas.openxmlformats.org/drawingml/2006/main">
              <a:ext uri="{FF2B5EF4-FFF2-40B4-BE49-F238E27FC236}">
                <a16:creationId xmlns:a16="http://schemas.microsoft.com/office/drawing/2014/main" id="{DF62C882-355D-47F5-9C60-9F05ACA78242}"/>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Certification, not capability, is the gate</a:t>
            </a:r>
          </a:p>
        </p:txBody>
      </p:sp>
      <p:sp>
        <p:nvSpPr>
          <p:cNvPr id="5" name="">
            <a:extLst xmlns:a="http://schemas.openxmlformats.org/drawingml/2006/main">
              <a:ext uri="{FF2B5EF4-FFF2-40B4-BE49-F238E27FC236}">
                <a16:creationId xmlns:a16="http://schemas.microsoft.com/office/drawing/2014/main" id="{4F709083-508E-482B-9A88-F830A206A018}"/>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Every rupee of perception advantage is inert until a functional-safety route exists. No prior slide compared this.</a:t>
            </a:r>
          </a:p>
        </p:txBody>
      </p:sp>
      <p:sp>
        <p:nvSpPr>
          <p:cNvPr id="6" name="">
            <a:extLst xmlns:a="http://schemas.openxmlformats.org/drawingml/2006/main">
              <a:ext uri="{FF2B5EF4-FFF2-40B4-BE49-F238E27FC236}">
                <a16:creationId xmlns:a16="http://schemas.microsoft.com/office/drawing/2014/main" id="{F8706C28-8EA9-47B6-BBB7-50419AA21997}"/>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816E044-99E5-42E2-8FA6-1DE91BAC3813}"/>
              </a:ext>
            </a:extLst>
          </p:cNvPr>
          <p:cNvSpPr>
            <a:spLocks xmlns:a="http://schemas.openxmlformats.org/drawingml/2006/main" noGrp="1"/>
          </p:cNvSpPr>
          <p:nvPr/>
        </p:nvSpPr>
        <p:spPr>
          <a:xfrm xmlns:a="http://schemas.openxmlformats.org/drawingml/2006/main">
            <a:off x="457200" y="1123950"/>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COMPANY</a:t>
            </a:r>
          </a:p>
        </p:txBody>
      </p:sp>
      <p:sp>
        <p:nvSpPr>
          <p:cNvPr id="8" name="">
            <a:extLst xmlns:a="http://schemas.openxmlformats.org/drawingml/2006/main">
              <a:ext uri="{FF2B5EF4-FFF2-40B4-BE49-F238E27FC236}">
                <a16:creationId xmlns:a16="http://schemas.microsoft.com/office/drawing/2014/main" id="{CB3C5AEF-B157-4737-A61A-2A98F3E90032}"/>
              </a:ext>
            </a:extLst>
          </p:cNvPr>
          <p:cNvSpPr>
            <a:spLocks xmlns:a="http://schemas.openxmlformats.org/drawingml/2006/main" noGrp="1"/>
          </p:cNvSpPr>
          <p:nvPr/>
        </p:nvSpPr>
        <p:spPr>
          <a:xfrm xmlns:a="http://schemas.openxmlformats.org/drawingml/2006/main">
            <a:off x="2933700" y="1123950"/>
            <a:ext cx="2000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CREDENTIAL</a:t>
            </a:r>
          </a:p>
        </p:txBody>
      </p:sp>
      <p:sp>
        <p:nvSpPr>
          <p:cNvPr id="9" name="">
            <a:extLst xmlns:a="http://schemas.openxmlformats.org/drawingml/2006/main">
              <a:ext uri="{FF2B5EF4-FFF2-40B4-BE49-F238E27FC236}">
                <a16:creationId xmlns:a16="http://schemas.microsoft.com/office/drawing/2014/main" id="{388D2A67-B128-4BB9-AE99-1FF5146795EB}"/>
              </a:ext>
            </a:extLst>
          </p:cNvPr>
          <p:cNvSpPr>
            <a:spLocks xmlns:a="http://schemas.openxmlformats.org/drawingml/2006/main" noGrp="1"/>
          </p:cNvSpPr>
          <p:nvPr/>
        </p:nvSpPr>
        <p:spPr>
          <a:xfrm xmlns:a="http://schemas.openxmlformats.org/drawingml/2006/main">
            <a:off x="5029200" y="1123950"/>
            <a:ext cx="1714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10" name="">
            <a:extLst xmlns:a="http://schemas.openxmlformats.org/drawingml/2006/main">
              <a:ext uri="{FF2B5EF4-FFF2-40B4-BE49-F238E27FC236}">
                <a16:creationId xmlns:a16="http://schemas.microsoft.com/office/drawing/2014/main" id="{61BF09D2-C8E9-42CB-A382-EF1E775A095C}"/>
              </a:ext>
            </a:extLst>
          </p:cNvPr>
          <p:cNvSpPr>
            <a:spLocks xmlns:a="http://schemas.openxmlformats.org/drawingml/2006/main" noGrp="1"/>
          </p:cNvSpPr>
          <p:nvPr/>
        </p:nvSpPr>
        <p:spPr>
          <a:xfrm xmlns:a="http://schemas.openxmlformats.org/drawingml/2006/main">
            <a:off x="6838950" y="1123950"/>
            <a:ext cx="48006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NOTE</a:t>
            </a:r>
          </a:p>
        </p:txBody>
      </p:sp>
      <p:sp>
        <p:nvSpPr>
          <p:cNvPr id="11" name="">
            <a:extLst xmlns:a="http://schemas.openxmlformats.org/drawingml/2006/main">
              <a:ext uri="{FF2B5EF4-FFF2-40B4-BE49-F238E27FC236}">
                <a16:creationId xmlns:a16="http://schemas.microsoft.com/office/drawing/2014/main" id="{374A489D-0EA7-4CCC-A28B-FC00F8314003}"/>
              </a:ext>
            </a:extLst>
          </p:cNvPr>
          <p:cNvSpPr>
            <a:spLocks xmlns:a="http://schemas.openxmlformats.org/drawingml/2006/main" noGrp="1"/>
          </p:cNvSpPr>
          <p:nvPr/>
        </p:nvSpPr>
        <p:spPr>
          <a:xfrm xmlns:a="http://schemas.openxmlformats.org/drawingml/2006/main">
            <a:off x="457200" y="12954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547E881-E02D-40E4-A3FF-37D042D7261D}"/>
              </a:ext>
            </a:extLst>
          </p:cNvPr>
          <p:cNvSpPr>
            <a:spLocks xmlns:a="http://schemas.openxmlformats.org/drawingml/2006/main" noGrp="1"/>
          </p:cNvSpPr>
          <p:nvPr/>
        </p:nvSpPr>
        <p:spPr>
          <a:xfrm xmlns:a="http://schemas.openxmlformats.org/drawingml/2006/main">
            <a:off x="457200" y="1371600"/>
            <a:ext cx="2381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STRADVISION</a:t>
            </a:r>
          </a:p>
        </p:txBody>
      </p:sp>
      <p:sp>
        <p:nvSpPr>
          <p:cNvPr id="13" name="">
            <a:extLst xmlns:a="http://schemas.openxmlformats.org/drawingml/2006/main">
              <a:ext uri="{FF2B5EF4-FFF2-40B4-BE49-F238E27FC236}">
                <a16:creationId xmlns:a16="http://schemas.microsoft.com/office/drawing/2014/main" id="{F5C2DE67-E642-4F71-B395-3D211CD9D0E4}"/>
              </a:ext>
            </a:extLst>
          </p:cNvPr>
          <p:cNvSpPr>
            <a:spLocks xmlns:a="http://schemas.openxmlformats.org/drawingml/2006/main" noGrp="1"/>
          </p:cNvSpPr>
          <p:nvPr/>
        </p:nvSpPr>
        <p:spPr>
          <a:xfrm xmlns:a="http://schemas.openxmlformats.org/drawingml/2006/main">
            <a:off x="2933700" y="1371600"/>
            <a:ext cx="2000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a:solidFill>
                  <a:srgbClr val="C9D6E2"/>
                </a:solidFill>
                <a:latin typeface="Arial"/>
                <a:ea typeface="Arial"/>
                <a:cs typeface="Arial"/>
              </a:defRPr>
            </a:pPr>
            <a:r>
              <a:t>ISO 26262</a:t>
            </a:r>
          </a:p>
        </p:txBody>
      </p:sp>
      <p:sp>
        <p:nvSpPr>
          <p:cNvPr id="14" name="">
            <a:extLst xmlns:a="http://schemas.openxmlformats.org/drawingml/2006/main">
              <a:ext uri="{FF2B5EF4-FFF2-40B4-BE49-F238E27FC236}">
                <a16:creationId xmlns:a16="http://schemas.microsoft.com/office/drawing/2014/main" id="{27DA96BF-5287-4DA9-9AF0-DE3B14AFD46E}"/>
              </a:ext>
            </a:extLst>
          </p:cNvPr>
          <p:cNvSpPr>
            <a:spLocks xmlns:a="http://schemas.openxmlformats.org/drawingml/2006/main" noGrp="1"/>
          </p:cNvSpPr>
          <p:nvPr/>
        </p:nvSpPr>
        <p:spPr>
          <a:xfrm xmlns:a="http://schemas.openxmlformats.org/drawingml/2006/main">
            <a:off x="5029200" y="1390650"/>
            <a:ext cx="76200" cy="762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EC5A804-18D2-4B3B-A757-01613B1C3F24}"/>
              </a:ext>
            </a:extLst>
          </p:cNvPr>
          <p:cNvSpPr>
            <a:spLocks xmlns:a="http://schemas.openxmlformats.org/drawingml/2006/main" noGrp="1"/>
          </p:cNvSpPr>
          <p:nvPr/>
        </p:nvSpPr>
        <p:spPr>
          <a:xfrm xmlns:a="http://schemas.openxmlformats.org/drawingml/2006/main">
            <a:off x="5181600" y="1371600"/>
            <a:ext cx="1562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HELD</a:t>
            </a:r>
          </a:p>
        </p:txBody>
      </p:sp>
      <p:sp>
        <p:nvSpPr>
          <p:cNvPr id="16" name="">
            <a:extLst xmlns:a="http://schemas.openxmlformats.org/drawingml/2006/main">
              <a:ext uri="{FF2B5EF4-FFF2-40B4-BE49-F238E27FC236}">
                <a16:creationId xmlns:a16="http://schemas.microsoft.com/office/drawing/2014/main" id="{0C6BFDFF-DE65-4FCB-8D78-CF89F6B345D9}"/>
              </a:ext>
            </a:extLst>
          </p:cNvPr>
          <p:cNvSpPr>
            <a:spLocks xmlns:a="http://schemas.openxmlformats.org/drawingml/2006/main" noGrp="1"/>
          </p:cNvSpPr>
          <p:nvPr/>
        </p:nvSpPr>
        <p:spPr>
          <a:xfrm xmlns:a="http://schemas.openxmlformats.org/drawingml/2006/main">
            <a:off x="6838950" y="1371600"/>
            <a:ext cx="4800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Also ISO 9001:2015 and TISAX AL3</a:t>
            </a:r>
          </a:p>
        </p:txBody>
      </p:sp>
      <p:sp>
        <p:nvSpPr>
          <p:cNvPr id="17" name="">
            <a:extLst xmlns:a="http://schemas.openxmlformats.org/drawingml/2006/main">
              <a:ext uri="{FF2B5EF4-FFF2-40B4-BE49-F238E27FC236}">
                <a16:creationId xmlns:a16="http://schemas.microsoft.com/office/drawing/2014/main" id="{DB2EFFA1-69B1-460B-9D65-5E7DE990668E}"/>
              </a:ext>
            </a:extLst>
          </p:cNvPr>
          <p:cNvSpPr>
            <a:spLocks xmlns:a="http://schemas.openxmlformats.org/drawingml/2006/main" noGrp="1"/>
          </p:cNvSpPr>
          <p:nvPr/>
        </p:nvSpPr>
        <p:spPr>
          <a:xfrm xmlns:a="http://schemas.openxmlformats.org/drawingml/2006/main">
            <a:off x="457200" y="1657350"/>
            <a:ext cx="2381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ZF</a:t>
            </a:r>
          </a:p>
        </p:txBody>
      </p:sp>
      <p:sp>
        <p:nvSpPr>
          <p:cNvPr id="18" name="">
            <a:extLst xmlns:a="http://schemas.openxmlformats.org/drawingml/2006/main">
              <a:ext uri="{FF2B5EF4-FFF2-40B4-BE49-F238E27FC236}">
                <a16:creationId xmlns:a16="http://schemas.microsoft.com/office/drawing/2014/main" id="{7830E4A8-B213-4768-B9C4-01199D0D5A7D}"/>
              </a:ext>
            </a:extLst>
          </p:cNvPr>
          <p:cNvSpPr>
            <a:spLocks xmlns:a="http://schemas.openxmlformats.org/drawingml/2006/main" noGrp="1"/>
          </p:cNvSpPr>
          <p:nvPr/>
        </p:nvSpPr>
        <p:spPr>
          <a:xfrm xmlns:a="http://schemas.openxmlformats.org/drawingml/2006/main">
            <a:off x="2933700" y="1657350"/>
            <a:ext cx="2000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a:solidFill>
                  <a:srgbClr val="C9D6E2"/>
                </a:solidFill>
                <a:latin typeface="Arial"/>
                <a:ea typeface="Arial"/>
                <a:cs typeface="Arial"/>
              </a:defRPr>
            </a:pPr>
            <a:r>
              <a:t>ARAI + AIS suite</a:t>
            </a:r>
          </a:p>
        </p:txBody>
      </p:sp>
      <p:sp>
        <p:nvSpPr>
          <p:cNvPr id="19" name="">
            <a:extLst xmlns:a="http://schemas.openxmlformats.org/drawingml/2006/main">
              <a:ext uri="{FF2B5EF4-FFF2-40B4-BE49-F238E27FC236}">
                <a16:creationId xmlns:a16="http://schemas.microsoft.com/office/drawing/2014/main" id="{1BE9E6DB-6000-4FB3-9BC1-A8FB2F49203A}"/>
              </a:ext>
            </a:extLst>
          </p:cNvPr>
          <p:cNvSpPr>
            <a:spLocks xmlns:a="http://schemas.openxmlformats.org/drawingml/2006/main" noGrp="1"/>
          </p:cNvSpPr>
          <p:nvPr/>
        </p:nvSpPr>
        <p:spPr>
          <a:xfrm xmlns:a="http://schemas.openxmlformats.org/drawingml/2006/main">
            <a:off x="5029200" y="1676400"/>
            <a:ext cx="76200" cy="762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9C71085-F14D-4981-B57F-84EA989FFE91}"/>
              </a:ext>
            </a:extLst>
          </p:cNvPr>
          <p:cNvSpPr>
            <a:spLocks xmlns:a="http://schemas.openxmlformats.org/drawingml/2006/main" noGrp="1"/>
          </p:cNvSpPr>
          <p:nvPr/>
        </p:nvSpPr>
        <p:spPr>
          <a:xfrm xmlns:a="http://schemas.openxmlformats.org/drawingml/2006/main">
            <a:off x="5181600" y="1657350"/>
            <a:ext cx="1562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CLAIMED</a:t>
            </a:r>
          </a:p>
        </p:txBody>
      </p:sp>
      <p:sp>
        <p:nvSpPr>
          <p:cNvPr id="21" name="">
            <a:extLst xmlns:a="http://schemas.openxmlformats.org/drawingml/2006/main">
              <a:ext uri="{FF2B5EF4-FFF2-40B4-BE49-F238E27FC236}">
                <a16:creationId xmlns:a16="http://schemas.microsoft.com/office/drawing/2014/main" id="{A9B1BB0B-8388-40B4-AA68-3734A83CAF71}"/>
              </a:ext>
            </a:extLst>
          </p:cNvPr>
          <p:cNvSpPr>
            <a:spLocks xmlns:a="http://schemas.openxmlformats.org/drawingml/2006/main" noGrp="1"/>
          </p:cNvSpPr>
          <p:nvPr/>
        </p:nvSpPr>
        <p:spPr>
          <a:xfrm xmlns:a="http://schemas.openxmlformats.org/drawingml/2006/main">
            <a:off x="6838950" y="1657350"/>
            <a:ext cx="4800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Certificate numbers not published</a:t>
            </a:r>
          </a:p>
        </p:txBody>
      </p:sp>
      <p:sp>
        <p:nvSpPr>
          <p:cNvPr id="22" name="">
            <a:extLst xmlns:a="http://schemas.openxmlformats.org/drawingml/2006/main">
              <a:ext uri="{FF2B5EF4-FFF2-40B4-BE49-F238E27FC236}">
                <a16:creationId xmlns:a16="http://schemas.microsoft.com/office/drawing/2014/main" id="{3E5BCBCE-E01A-4F62-BAC0-A860315D2570}"/>
              </a:ext>
            </a:extLst>
          </p:cNvPr>
          <p:cNvSpPr>
            <a:spLocks xmlns:a="http://schemas.openxmlformats.org/drawingml/2006/main" noGrp="1"/>
          </p:cNvSpPr>
          <p:nvPr/>
        </p:nvSpPr>
        <p:spPr>
          <a:xfrm xmlns:a="http://schemas.openxmlformats.org/drawingml/2006/main">
            <a:off x="457200" y="1943100"/>
            <a:ext cx="2381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Aptiv</a:t>
            </a:r>
          </a:p>
        </p:txBody>
      </p:sp>
      <p:sp>
        <p:nvSpPr>
          <p:cNvPr id="23" name="">
            <a:extLst xmlns:a="http://schemas.openxmlformats.org/drawingml/2006/main">
              <a:ext uri="{FF2B5EF4-FFF2-40B4-BE49-F238E27FC236}">
                <a16:creationId xmlns:a16="http://schemas.microsoft.com/office/drawing/2014/main" id="{97B35F72-D247-4289-A367-969A5E242862}"/>
              </a:ext>
            </a:extLst>
          </p:cNvPr>
          <p:cNvSpPr>
            <a:spLocks xmlns:a="http://schemas.openxmlformats.org/drawingml/2006/main" noGrp="1"/>
          </p:cNvSpPr>
          <p:nvPr/>
        </p:nvSpPr>
        <p:spPr>
          <a:xfrm xmlns:a="http://schemas.openxmlformats.org/drawingml/2006/main">
            <a:off x="2933700" y="1943100"/>
            <a:ext cx="2000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a:solidFill>
                  <a:srgbClr val="C9D6E2"/>
                </a:solidFill>
                <a:latin typeface="Arial"/>
                <a:ea typeface="Arial"/>
                <a:cs typeface="Arial"/>
              </a:defRPr>
            </a:pPr>
            <a:r>
              <a:t>Production scale</a:t>
            </a:r>
          </a:p>
        </p:txBody>
      </p:sp>
      <p:sp>
        <p:nvSpPr>
          <p:cNvPr id="24" name="">
            <a:extLst xmlns:a="http://schemas.openxmlformats.org/drawingml/2006/main">
              <a:ext uri="{FF2B5EF4-FFF2-40B4-BE49-F238E27FC236}">
                <a16:creationId xmlns:a16="http://schemas.microsoft.com/office/drawing/2014/main" id="{AAD20F8D-A07B-4FAC-87A1-9E589D869F91}"/>
              </a:ext>
            </a:extLst>
          </p:cNvPr>
          <p:cNvSpPr>
            <a:spLocks xmlns:a="http://schemas.openxmlformats.org/drawingml/2006/main" noGrp="1"/>
          </p:cNvSpPr>
          <p:nvPr/>
        </p:nvSpPr>
        <p:spPr>
          <a:xfrm xmlns:a="http://schemas.openxmlformats.org/drawingml/2006/main">
            <a:off x="5029200" y="1962150"/>
            <a:ext cx="76200" cy="762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0E8EE13-5C71-42D8-A964-05523ECE7B5B}"/>
              </a:ext>
            </a:extLst>
          </p:cNvPr>
          <p:cNvSpPr>
            <a:spLocks xmlns:a="http://schemas.openxmlformats.org/drawingml/2006/main" noGrp="1"/>
          </p:cNvSpPr>
          <p:nvPr/>
        </p:nvSpPr>
        <p:spPr>
          <a:xfrm xmlns:a="http://schemas.openxmlformats.org/drawingml/2006/main">
            <a:off x="5181600" y="1943100"/>
            <a:ext cx="1562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IMPLIED</a:t>
            </a:r>
          </a:p>
        </p:txBody>
      </p:sp>
      <p:sp>
        <p:nvSpPr>
          <p:cNvPr id="26" name="">
            <a:extLst xmlns:a="http://schemas.openxmlformats.org/drawingml/2006/main">
              <a:ext uri="{FF2B5EF4-FFF2-40B4-BE49-F238E27FC236}">
                <a16:creationId xmlns:a16="http://schemas.microsoft.com/office/drawing/2014/main" id="{7AAF54CC-57B8-40E4-9E71-803D5216B197}"/>
              </a:ext>
            </a:extLst>
          </p:cNvPr>
          <p:cNvSpPr>
            <a:spLocks xmlns:a="http://schemas.openxmlformats.org/drawingml/2006/main" noGrp="1"/>
          </p:cNvSpPr>
          <p:nvPr/>
        </p:nvSpPr>
        <p:spPr>
          <a:xfrm xmlns:a="http://schemas.openxmlformats.org/drawingml/2006/main">
            <a:off x="6838950" y="1943100"/>
            <a:ext cx="4800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40m+ vehicles; no India cert published</a:t>
            </a:r>
          </a:p>
        </p:txBody>
      </p:sp>
      <p:sp>
        <p:nvSpPr>
          <p:cNvPr id="27" name="">
            <a:extLst xmlns:a="http://schemas.openxmlformats.org/drawingml/2006/main">
              <a:ext uri="{FF2B5EF4-FFF2-40B4-BE49-F238E27FC236}">
                <a16:creationId xmlns:a16="http://schemas.microsoft.com/office/drawing/2014/main" id="{7B0041C8-97BC-4935-B785-F3127871C7E6}"/>
              </a:ext>
            </a:extLst>
          </p:cNvPr>
          <p:cNvSpPr>
            <a:spLocks xmlns:a="http://schemas.openxmlformats.org/drawingml/2006/main" noGrp="1"/>
          </p:cNvSpPr>
          <p:nvPr/>
        </p:nvSpPr>
        <p:spPr>
          <a:xfrm xmlns:a="http://schemas.openxmlformats.org/drawingml/2006/main">
            <a:off x="457200" y="2228850"/>
            <a:ext cx="2381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Gahan AI</a:t>
            </a:r>
          </a:p>
        </p:txBody>
      </p:sp>
      <p:sp>
        <p:nvSpPr>
          <p:cNvPr id="28" name="">
            <a:extLst xmlns:a="http://schemas.openxmlformats.org/drawingml/2006/main">
              <a:ext uri="{FF2B5EF4-FFF2-40B4-BE49-F238E27FC236}">
                <a16:creationId xmlns:a16="http://schemas.microsoft.com/office/drawing/2014/main" id="{BF89AD34-8C88-4B3C-BBD1-3065A9475340}"/>
              </a:ext>
            </a:extLst>
          </p:cNvPr>
          <p:cNvSpPr>
            <a:spLocks xmlns:a="http://schemas.openxmlformats.org/drawingml/2006/main" noGrp="1"/>
          </p:cNvSpPr>
          <p:nvPr/>
        </p:nvSpPr>
        <p:spPr>
          <a:xfrm xmlns:a="http://schemas.openxmlformats.org/drawingml/2006/main">
            <a:off x="2933700" y="2228850"/>
            <a:ext cx="2000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a:solidFill>
                  <a:srgbClr val="C9D6E2"/>
                </a:solidFill>
                <a:latin typeface="Arial"/>
                <a:ea typeface="Arial"/>
                <a:cs typeface="Arial"/>
              </a:defRPr>
            </a:pPr>
            <a:r>
              <a:t>AEC-Q100</a:t>
            </a:r>
          </a:p>
        </p:txBody>
      </p:sp>
      <p:sp>
        <p:nvSpPr>
          <p:cNvPr id="29" name="">
            <a:extLst xmlns:a="http://schemas.openxmlformats.org/drawingml/2006/main">
              <a:ext uri="{FF2B5EF4-FFF2-40B4-BE49-F238E27FC236}">
                <a16:creationId xmlns:a16="http://schemas.microsoft.com/office/drawing/2014/main" id="{4C16F0E8-A719-46EA-9E79-33E6D22D9546}"/>
              </a:ext>
            </a:extLst>
          </p:cNvPr>
          <p:cNvSpPr>
            <a:spLocks xmlns:a="http://schemas.openxmlformats.org/drawingml/2006/main" noGrp="1"/>
          </p:cNvSpPr>
          <p:nvPr/>
        </p:nvSpPr>
        <p:spPr>
          <a:xfrm xmlns:a="http://schemas.openxmlformats.org/drawingml/2006/main">
            <a:off x="5029200" y="2247900"/>
            <a:ext cx="76200" cy="76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70885F1-C606-4C7C-9CA5-199FD46BCB64}"/>
              </a:ext>
            </a:extLst>
          </p:cNvPr>
          <p:cNvSpPr>
            <a:spLocks xmlns:a="http://schemas.openxmlformats.org/drawingml/2006/main" noGrp="1"/>
          </p:cNvSpPr>
          <p:nvPr/>
        </p:nvSpPr>
        <p:spPr>
          <a:xfrm xmlns:a="http://schemas.openxmlformats.org/drawingml/2006/main">
            <a:off x="5181600" y="2228850"/>
            <a:ext cx="1562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CATEGORY ERROR</a:t>
            </a:r>
          </a:p>
        </p:txBody>
      </p:sp>
      <p:sp>
        <p:nvSpPr>
          <p:cNvPr id="31" name="">
            <a:extLst xmlns:a="http://schemas.openxmlformats.org/drawingml/2006/main">
              <a:ext uri="{FF2B5EF4-FFF2-40B4-BE49-F238E27FC236}">
                <a16:creationId xmlns:a16="http://schemas.microsoft.com/office/drawing/2014/main" id="{31C26524-00DA-46C4-B90E-07A8FAAA1A51}"/>
              </a:ext>
            </a:extLst>
          </p:cNvPr>
          <p:cNvSpPr>
            <a:spLocks xmlns:a="http://schemas.openxmlformats.org/drawingml/2006/main" noGrp="1"/>
          </p:cNvSpPr>
          <p:nvPr/>
        </p:nvSpPr>
        <p:spPr>
          <a:xfrm xmlns:a="http://schemas.openxmlformats.org/drawingml/2006/main">
            <a:off x="6838950" y="2228850"/>
            <a:ext cx="4800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Qualifies TI's IC, not the DRWIG platform</a:t>
            </a:r>
          </a:p>
        </p:txBody>
      </p:sp>
      <p:sp>
        <p:nvSpPr>
          <p:cNvPr id="32" name="">
            <a:extLst xmlns:a="http://schemas.openxmlformats.org/drawingml/2006/main">
              <a:ext uri="{FF2B5EF4-FFF2-40B4-BE49-F238E27FC236}">
                <a16:creationId xmlns:a16="http://schemas.microsoft.com/office/drawing/2014/main" id="{DE85CB35-E015-4074-A5A4-C8571CF65DB6}"/>
              </a:ext>
            </a:extLst>
          </p:cNvPr>
          <p:cNvSpPr>
            <a:spLocks xmlns:a="http://schemas.openxmlformats.org/drawingml/2006/main" noGrp="1"/>
          </p:cNvSpPr>
          <p:nvPr/>
        </p:nvSpPr>
        <p:spPr>
          <a:xfrm xmlns:a="http://schemas.openxmlformats.org/drawingml/2006/main">
            <a:off x="457200" y="2514600"/>
            <a:ext cx="2381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Netrasemi</a:t>
            </a:r>
          </a:p>
        </p:txBody>
      </p:sp>
      <p:sp>
        <p:nvSpPr>
          <p:cNvPr id="33" name="">
            <a:extLst xmlns:a="http://schemas.openxmlformats.org/drawingml/2006/main">
              <a:ext uri="{FF2B5EF4-FFF2-40B4-BE49-F238E27FC236}">
                <a16:creationId xmlns:a16="http://schemas.microsoft.com/office/drawing/2014/main" id="{36E3ACF7-5EE4-4B2B-9E3C-B719EF042A07}"/>
              </a:ext>
            </a:extLst>
          </p:cNvPr>
          <p:cNvSpPr>
            <a:spLocks xmlns:a="http://schemas.openxmlformats.org/drawingml/2006/main" noGrp="1"/>
          </p:cNvSpPr>
          <p:nvPr/>
        </p:nvSpPr>
        <p:spPr>
          <a:xfrm xmlns:a="http://schemas.openxmlformats.org/drawingml/2006/main">
            <a:off x="2933700" y="2514600"/>
            <a:ext cx="2000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a:solidFill>
                  <a:srgbClr val="C9D6E2"/>
                </a:solidFill>
                <a:latin typeface="Arial"/>
                <a:ea typeface="Arial"/>
                <a:cs typeface="Arial"/>
              </a:defRPr>
            </a:pPr>
            <a:r>
              <a:t>None</a:t>
            </a:r>
          </a:p>
        </p:txBody>
      </p:sp>
      <p:sp>
        <p:nvSpPr>
          <p:cNvPr id="34" name="">
            <a:extLst xmlns:a="http://schemas.openxmlformats.org/drawingml/2006/main">
              <a:ext uri="{FF2B5EF4-FFF2-40B4-BE49-F238E27FC236}">
                <a16:creationId xmlns:a16="http://schemas.microsoft.com/office/drawing/2014/main" id="{4FA500DF-95CD-480C-B94D-A222FB8BA436}"/>
              </a:ext>
            </a:extLst>
          </p:cNvPr>
          <p:cNvSpPr>
            <a:spLocks xmlns:a="http://schemas.openxmlformats.org/drawingml/2006/main" noGrp="1"/>
          </p:cNvSpPr>
          <p:nvPr/>
        </p:nvSpPr>
        <p:spPr>
          <a:xfrm xmlns:a="http://schemas.openxmlformats.org/drawingml/2006/main">
            <a:off x="5029200" y="2533650"/>
            <a:ext cx="76200" cy="76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791B8A32-C295-4238-8A33-DEE890F9CF71}"/>
              </a:ext>
            </a:extLst>
          </p:cNvPr>
          <p:cNvSpPr>
            <a:spLocks xmlns:a="http://schemas.openxmlformats.org/drawingml/2006/main" noGrp="1"/>
          </p:cNvSpPr>
          <p:nvPr/>
        </p:nvSpPr>
        <p:spPr>
          <a:xfrm xmlns:a="http://schemas.openxmlformats.org/drawingml/2006/main">
            <a:off x="5181600" y="2514600"/>
            <a:ext cx="1562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ABSENT</a:t>
            </a:r>
          </a:p>
        </p:txBody>
      </p:sp>
      <p:sp>
        <p:nvSpPr>
          <p:cNvPr id="36" name="">
            <a:extLst xmlns:a="http://schemas.openxmlformats.org/drawingml/2006/main">
              <a:ext uri="{FF2B5EF4-FFF2-40B4-BE49-F238E27FC236}">
                <a16:creationId xmlns:a16="http://schemas.microsoft.com/office/drawing/2014/main" id="{FFEC075F-8D97-4F83-AA8A-10D576019CA8}"/>
              </a:ext>
            </a:extLst>
          </p:cNvPr>
          <p:cNvSpPr>
            <a:spLocks xmlns:a="http://schemas.openxmlformats.org/drawingml/2006/main" noGrp="1"/>
          </p:cNvSpPr>
          <p:nvPr/>
        </p:nvSpPr>
        <p:spPr>
          <a:xfrm xmlns:a="http://schemas.openxmlformats.org/drawingml/2006/main">
            <a:off x="6838950" y="2514600"/>
            <a:ext cx="4800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No AIS, AEC-Q100 or ISO 26262 claim</a:t>
            </a:r>
          </a:p>
        </p:txBody>
      </p:sp>
      <p:sp>
        <p:nvSpPr>
          <p:cNvPr id="37" name="">
            <a:extLst xmlns:a="http://schemas.openxmlformats.org/drawingml/2006/main">
              <a:ext uri="{FF2B5EF4-FFF2-40B4-BE49-F238E27FC236}">
                <a16:creationId xmlns:a16="http://schemas.microsoft.com/office/drawing/2014/main" id="{44357A96-59EA-46D9-A002-A242B0D2E9C9}"/>
              </a:ext>
            </a:extLst>
          </p:cNvPr>
          <p:cNvSpPr>
            <a:spLocks xmlns:a="http://schemas.openxmlformats.org/drawingml/2006/main" noGrp="1"/>
          </p:cNvSpPr>
          <p:nvPr/>
        </p:nvSpPr>
        <p:spPr>
          <a:xfrm xmlns:a="http://schemas.openxmlformats.org/drawingml/2006/main">
            <a:off x="457200" y="2800350"/>
            <a:ext cx="2381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Starkenn</a:t>
            </a:r>
          </a:p>
        </p:txBody>
      </p:sp>
      <p:sp>
        <p:nvSpPr>
          <p:cNvPr id="38" name="">
            <a:extLst xmlns:a="http://schemas.openxmlformats.org/drawingml/2006/main">
              <a:ext uri="{FF2B5EF4-FFF2-40B4-BE49-F238E27FC236}">
                <a16:creationId xmlns:a16="http://schemas.microsoft.com/office/drawing/2014/main" id="{5E2B3E8D-1FBA-4DF2-A3F6-BEF8B0C08962}"/>
              </a:ext>
            </a:extLst>
          </p:cNvPr>
          <p:cNvSpPr>
            <a:spLocks xmlns:a="http://schemas.openxmlformats.org/drawingml/2006/main" noGrp="1"/>
          </p:cNvSpPr>
          <p:nvPr/>
        </p:nvSpPr>
        <p:spPr>
          <a:xfrm xmlns:a="http://schemas.openxmlformats.org/drawingml/2006/main">
            <a:off x="2933700" y="2800350"/>
            <a:ext cx="2000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a:solidFill>
                  <a:srgbClr val="C9D6E2"/>
                </a:solidFill>
                <a:latin typeface="Arial"/>
                <a:ea typeface="Arial"/>
                <a:cs typeface="Arial"/>
              </a:defRPr>
            </a:pPr>
            <a:r>
              <a:t>None published</a:t>
            </a:r>
          </a:p>
        </p:txBody>
      </p:sp>
      <p:sp>
        <p:nvSpPr>
          <p:cNvPr id="39" name="">
            <a:extLst xmlns:a="http://schemas.openxmlformats.org/drawingml/2006/main">
              <a:ext uri="{FF2B5EF4-FFF2-40B4-BE49-F238E27FC236}">
                <a16:creationId xmlns:a16="http://schemas.microsoft.com/office/drawing/2014/main" id="{EC1DAD32-5E28-4326-9618-BDC11B841A82}"/>
              </a:ext>
            </a:extLst>
          </p:cNvPr>
          <p:cNvSpPr>
            <a:spLocks xmlns:a="http://schemas.openxmlformats.org/drawingml/2006/main" noGrp="1"/>
          </p:cNvSpPr>
          <p:nvPr/>
        </p:nvSpPr>
        <p:spPr>
          <a:xfrm xmlns:a="http://schemas.openxmlformats.org/drawingml/2006/main">
            <a:off x="5029200" y="2819400"/>
            <a:ext cx="76200" cy="76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DCDA5838-7FF8-4575-9D66-DE6B72393DF6}"/>
              </a:ext>
            </a:extLst>
          </p:cNvPr>
          <p:cNvSpPr>
            <a:spLocks xmlns:a="http://schemas.openxmlformats.org/drawingml/2006/main" noGrp="1"/>
          </p:cNvSpPr>
          <p:nvPr/>
        </p:nvSpPr>
        <p:spPr>
          <a:xfrm xmlns:a="http://schemas.openxmlformats.org/drawingml/2006/main">
            <a:off x="5181600" y="2800350"/>
            <a:ext cx="1562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ABSENT</a:t>
            </a:r>
          </a:p>
        </p:txBody>
      </p:sp>
      <p:sp>
        <p:nvSpPr>
          <p:cNvPr id="41" name="">
            <a:extLst xmlns:a="http://schemas.openxmlformats.org/drawingml/2006/main">
              <a:ext uri="{FF2B5EF4-FFF2-40B4-BE49-F238E27FC236}">
                <a16:creationId xmlns:a16="http://schemas.microsoft.com/office/drawing/2014/main" id="{98C147D7-DFD9-4584-8941-84D9600BCFCF}"/>
              </a:ext>
            </a:extLst>
          </p:cNvPr>
          <p:cNvSpPr>
            <a:spLocks xmlns:a="http://schemas.openxmlformats.org/drawingml/2006/main" noGrp="1"/>
          </p:cNvSpPr>
          <p:nvPr/>
        </p:nvSpPr>
        <p:spPr>
          <a:xfrm xmlns:a="http://schemas.openxmlformats.org/drawingml/2006/main">
            <a:off x="6838950" y="2800350"/>
            <a:ext cx="4800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No certification evidence retrieved</a:t>
            </a:r>
          </a:p>
        </p:txBody>
      </p:sp>
      <p:sp>
        <p:nvSpPr>
          <p:cNvPr id="42" name="">
            <a:extLst xmlns:a="http://schemas.openxmlformats.org/drawingml/2006/main">
              <a:ext uri="{FF2B5EF4-FFF2-40B4-BE49-F238E27FC236}">
                <a16:creationId xmlns:a16="http://schemas.microsoft.com/office/drawing/2014/main" id="{55D9042D-84EE-47FB-ADEE-DA025781A711}"/>
              </a:ext>
            </a:extLst>
          </p:cNvPr>
          <p:cNvSpPr>
            <a:spLocks xmlns:a="http://schemas.openxmlformats.org/drawingml/2006/main" noGrp="1"/>
          </p:cNvSpPr>
          <p:nvPr/>
        </p:nvSpPr>
        <p:spPr>
          <a:xfrm xmlns:a="http://schemas.openxmlformats.org/drawingml/2006/main">
            <a:off x="457200" y="3086100"/>
            <a:ext cx="2381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bitsensing</a:t>
            </a:r>
          </a:p>
        </p:txBody>
      </p:sp>
      <p:sp>
        <p:nvSpPr>
          <p:cNvPr id="43" name="">
            <a:extLst xmlns:a="http://schemas.openxmlformats.org/drawingml/2006/main">
              <a:ext uri="{FF2B5EF4-FFF2-40B4-BE49-F238E27FC236}">
                <a16:creationId xmlns:a16="http://schemas.microsoft.com/office/drawing/2014/main" id="{F5C6A488-3A48-4604-81AC-5B43A57D9E25}"/>
              </a:ext>
            </a:extLst>
          </p:cNvPr>
          <p:cNvSpPr>
            <a:spLocks xmlns:a="http://schemas.openxmlformats.org/drawingml/2006/main" noGrp="1"/>
          </p:cNvSpPr>
          <p:nvPr/>
        </p:nvSpPr>
        <p:spPr>
          <a:xfrm xmlns:a="http://schemas.openxmlformats.org/drawingml/2006/main">
            <a:off x="2933700" y="3086100"/>
            <a:ext cx="2000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a:solidFill>
                  <a:srgbClr val="C9D6E2"/>
                </a:solidFill>
                <a:latin typeface="Arial"/>
                <a:ea typeface="Arial"/>
                <a:cs typeface="Arial"/>
              </a:defRPr>
            </a:pPr>
            <a:r>
              <a:t>N/A</a:t>
            </a:r>
          </a:p>
        </p:txBody>
      </p:sp>
      <p:sp>
        <p:nvSpPr>
          <p:cNvPr id="44" name="">
            <a:extLst xmlns:a="http://schemas.openxmlformats.org/drawingml/2006/main">
              <a:ext uri="{FF2B5EF4-FFF2-40B4-BE49-F238E27FC236}">
                <a16:creationId xmlns:a16="http://schemas.microsoft.com/office/drawing/2014/main" id="{116F85F6-11FD-4C11-88A1-83379699003F}"/>
              </a:ext>
            </a:extLst>
          </p:cNvPr>
          <p:cNvSpPr>
            <a:spLocks xmlns:a="http://schemas.openxmlformats.org/drawingml/2006/main" noGrp="1"/>
          </p:cNvSpPr>
          <p:nvPr/>
        </p:nvSpPr>
        <p:spPr>
          <a:xfrm xmlns:a="http://schemas.openxmlformats.org/drawingml/2006/main">
            <a:off x="5029200" y="3105150"/>
            <a:ext cx="76200" cy="76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0E649AFE-8E03-4918-AD75-22043BFDB1CF}"/>
              </a:ext>
            </a:extLst>
          </p:cNvPr>
          <p:cNvSpPr>
            <a:spLocks xmlns:a="http://schemas.openxmlformats.org/drawingml/2006/main" noGrp="1"/>
          </p:cNvSpPr>
          <p:nvPr/>
        </p:nvSpPr>
        <p:spPr>
          <a:xfrm xmlns:a="http://schemas.openxmlformats.org/drawingml/2006/main">
            <a:off x="5181600" y="3086100"/>
            <a:ext cx="1562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CAPPED</a:t>
            </a:r>
          </a:p>
        </p:txBody>
      </p:sp>
      <p:sp>
        <p:nvSpPr>
          <p:cNvPr id="46" name="">
            <a:extLst xmlns:a="http://schemas.openxmlformats.org/drawingml/2006/main">
              <a:ext uri="{FF2B5EF4-FFF2-40B4-BE49-F238E27FC236}">
                <a16:creationId xmlns:a16="http://schemas.microsoft.com/office/drawing/2014/main" id="{F5828B71-3948-4C07-83C5-671D02C20B89}"/>
              </a:ext>
            </a:extLst>
          </p:cNvPr>
          <p:cNvSpPr>
            <a:spLocks xmlns:a="http://schemas.openxmlformats.org/drawingml/2006/main" noGrp="1"/>
          </p:cNvSpPr>
          <p:nvPr/>
        </p:nvSpPr>
        <p:spPr>
          <a:xfrm xmlns:a="http://schemas.openxmlformats.org/drawingml/2006/main">
            <a:off x="6838950" y="3086100"/>
            <a:ext cx="4800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Warning-only — cannot reach certified AEBS</a:t>
            </a:r>
          </a:p>
        </p:txBody>
      </p:sp>
      <p:sp>
        <p:nvSpPr>
          <p:cNvPr id="47" name="">
            <a:extLst xmlns:a="http://schemas.openxmlformats.org/drawingml/2006/main">
              <a:ext uri="{FF2B5EF4-FFF2-40B4-BE49-F238E27FC236}">
                <a16:creationId xmlns:a16="http://schemas.microsoft.com/office/drawing/2014/main" id="{25C08213-19CB-4775-918B-C8B88493ACA4}"/>
              </a:ext>
            </a:extLst>
          </p:cNvPr>
          <p:cNvSpPr>
            <a:spLocks xmlns:a="http://schemas.openxmlformats.org/drawingml/2006/main" noGrp="1"/>
          </p:cNvSpPr>
          <p:nvPr/>
        </p:nvSpPr>
        <p:spPr>
          <a:xfrm xmlns:a="http://schemas.openxmlformats.org/drawingml/2006/main">
            <a:off x="381000" y="3333750"/>
            <a:ext cx="11430000" cy="3238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9FAF2A3C-1D4B-4586-A46B-97C7F62BDD2E}"/>
              </a:ext>
            </a:extLst>
          </p:cNvPr>
          <p:cNvSpPr>
            <a:spLocks xmlns:a="http://schemas.openxmlformats.org/drawingml/2006/main" noGrp="1"/>
          </p:cNvSpPr>
          <p:nvPr/>
        </p:nvSpPr>
        <p:spPr>
          <a:xfrm xmlns:a="http://schemas.openxmlformats.org/drawingml/2006/main">
            <a:off x="457200" y="3371850"/>
            <a:ext cx="2381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04B3C7"/>
                </a:solidFill>
                <a:latin typeface="Arial"/>
                <a:ea typeface="Arial"/>
                <a:cs typeface="Arial"/>
              </a:defRPr>
            </a:pPr>
            <a:r>
              <a:t>DeepGrid Semi</a:t>
            </a:r>
          </a:p>
        </p:txBody>
      </p:sp>
      <p:sp>
        <p:nvSpPr>
          <p:cNvPr id="49" name="">
            <a:extLst xmlns:a="http://schemas.openxmlformats.org/drawingml/2006/main">
              <a:ext uri="{FF2B5EF4-FFF2-40B4-BE49-F238E27FC236}">
                <a16:creationId xmlns:a16="http://schemas.microsoft.com/office/drawing/2014/main" id="{F3EED1A0-1102-45AF-A9C6-669C7D7D96DE}"/>
              </a:ext>
            </a:extLst>
          </p:cNvPr>
          <p:cNvSpPr>
            <a:spLocks xmlns:a="http://schemas.openxmlformats.org/drawingml/2006/main" noGrp="1"/>
          </p:cNvSpPr>
          <p:nvPr/>
        </p:nvSpPr>
        <p:spPr>
          <a:xfrm xmlns:a="http://schemas.openxmlformats.org/drawingml/2006/main">
            <a:off x="2933700" y="3371850"/>
            <a:ext cx="2000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a:solidFill>
                  <a:srgbClr val="C9D6E2"/>
                </a:solidFill>
                <a:latin typeface="Arial"/>
                <a:ea typeface="Arial"/>
                <a:cs typeface="Arial"/>
              </a:defRPr>
            </a:pPr>
            <a:r>
              <a:t>None</a:t>
            </a:r>
          </a:p>
        </p:txBody>
      </p:sp>
      <p:sp>
        <p:nvSpPr>
          <p:cNvPr id="50" name="">
            <a:extLst xmlns:a="http://schemas.openxmlformats.org/drawingml/2006/main">
              <a:ext uri="{FF2B5EF4-FFF2-40B4-BE49-F238E27FC236}">
                <a16:creationId xmlns:a16="http://schemas.microsoft.com/office/drawing/2014/main" id="{45695E73-9E65-4BE8-91A4-421C1020B296}"/>
              </a:ext>
            </a:extLst>
          </p:cNvPr>
          <p:cNvSpPr>
            <a:spLocks xmlns:a="http://schemas.openxmlformats.org/drawingml/2006/main" noGrp="1"/>
          </p:cNvSpPr>
          <p:nvPr/>
        </p:nvSpPr>
        <p:spPr>
          <a:xfrm xmlns:a="http://schemas.openxmlformats.org/drawingml/2006/main">
            <a:off x="5029200" y="3390900"/>
            <a:ext cx="76200" cy="76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55B8EBA1-6E78-4B51-A74F-C56F2EE230D1}"/>
              </a:ext>
            </a:extLst>
          </p:cNvPr>
          <p:cNvSpPr>
            <a:spLocks xmlns:a="http://schemas.openxmlformats.org/drawingml/2006/main" noGrp="1"/>
          </p:cNvSpPr>
          <p:nvPr/>
        </p:nvSpPr>
        <p:spPr>
          <a:xfrm xmlns:a="http://schemas.openxmlformats.org/drawingml/2006/main">
            <a:off x="5181600" y="3371850"/>
            <a:ext cx="1562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ABSENT</a:t>
            </a:r>
          </a:p>
        </p:txBody>
      </p:sp>
      <p:sp>
        <p:nvSpPr>
          <p:cNvPr id="52" name="">
            <a:extLst xmlns:a="http://schemas.openxmlformats.org/drawingml/2006/main">
              <a:ext uri="{FF2B5EF4-FFF2-40B4-BE49-F238E27FC236}">
                <a16:creationId xmlns:a16="http://schemas.microsoft.com/office/drawing/2014/main" id="{E8ED0D3A-5C6E-4FCE-B6E7-754C45BBF444}"/>
              </a:ext>
            </a:extLst>
          </p:cNvPr>
          <p:cNvSpPr>
            <a:spLocks xmlns:a="http://schemas.openxmlformats.org/drawingml/2006/main" noGrp="1"/>
          </p:cNvSpPr>
          <p:nvPr/>
        </p:nvSpPr>
        <p:spPr>
          <a:xfrm xmlns:a="http://schemas.openxmlformats.org/drawingml/2006/main">
            <a:off x="6838950" y="3371850"/>
            <a:ext cx="4800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No published functional-safety pathway</a:t>
            </a:r>
          </a:p>
        </p:txBody>
      </p:sp>
      <p:sp>
        <p:nvSpPr>
          <p:cNvPr id="53" name="">
            <a:extLst xmlns:a="http://schemas.openxmlformats.org/drawingml/2006/main">
              <a:ext uri="{FF2B5EF4-FFF2-40B4-BE49-F238E27FC236}">
                <a16:creationId xmlns:a16="http://schemas.microsoft.com/office/drawing/2014/main" id="{064958C0-67B6-4024-86AE-160839A62546}"/>
              </a:ext>
            </a:extLst>
          </p:cNvPr>
          <p:cNvSpPr>
            <a:spLocks xmlns:a="http://schemas.openxmlformats.org/drawingml/2006/main" noGrp="1"/>
          </p:cNvSpPr>
          <p:nvPr/>
        </p:nvSpPr>
        <p:spPr>
          <a:xfrm xmlns:a="http://schemas.openxmlformats.org/drawingml/2006/main">
            <a:off x="457200" y="3714750"/>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CEF1BD2B-69BE-4876-BF4A-54C8181E27CE}"/>
              </a:ext>
            </a:extLst>
          </p:cNvPr>
          <p:cNvSpPr>
            <a:spLocks xmlns:a="http://schemas.openxmlformats.org/drawingml/2006/main" noGrp="1"/>
          </p:cNvSpPr>
          <p:nvPr/>
        </p:nvSpPr>
        <p:spPr>
          <a:xfrm xmlns:a="http://schemas.openxmlformats.org/drawingml/2006/main">
            <a:off x="457200" y="3829050"/>
            <a:ext cx="4762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THE COMPARISON AN INTEGRATOR ACTUALLY RUNS</a:t>
            </a:r>
          </a:p>
        </p:txBody>
      </p:sp>
      <p:sp>
        <p:nvSpPr>
          <p:cNvPr id="55" name="">
            <a:extLst xmlns:a="http://schemas.openxmlformats.org/drawingml/2006/main">
              <a:ext uri="{FF2B5EF4-FFF2-40B4-BE49-F238E27FC236}">
                <a16:creationId xmlns:a16="http://schemas.microsoft.com/office/drawing/2014/main" id="{A453E87F-A33B-43A0-B36B-EE7BDEB5877E}"/>
              </a:ext>
            </a:extLst>
          </p:cNvPr>
          <p:cNvSpPr>
            <a:spLocks xmlns:a="http://schemas.openxmlformats.org/drawingml/2006/main" noGrp="1"/>
          </p:cNvSpPr>
          <p:nvPr/>
        </p:nvSpPr>
        <p:spPr>
          <a:xfrm xmlns:a="http://schemas.openxmlformats.org/drawingml/2006/main">
            <a:off x="457200" y="4000500"/>
            <a:ext cx="1127760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"Certified 5m-unit incumbent versus uncertified newcomer." Cost does not decide that comparison. A functional-safety pathway is DeepGrid’s highest-value proof gate — ahead of TOPS and ahead of price.</a:t>
            </a:r>
          </a:p>
        </p:txBody>
      </p:sp>
      <p:sp>
        <p:nvSpPr>
          <p:cNvPr id="56" name="">
            <a:extLst xmlns:a="http://schemas.openxmlformats.org/drawingml/2006/main">
              <a:ext uri="{FF2B5EF4-FFF2-40B4-BE49-F238E27FC236}">
                <a16:creationId xmlns:a16="http://schemas.microsoft.com/office/drawing/2014/main" id="{4C2E9953-99C3-43D6-835B-CA21DE1A5C6F}"/>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5785E450-311B-4704-B9D6-86F6929CE3A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8" name="">
            <a:extLst xmlns:a="http://schemas.openxmlformats.org/drawingml/2006/main">
              <a:ext uri="{FF2B5EF4-FFF2-40B4-BE49-F238E27FC236}">
                <a16:creationId xmlns:a16="http://schemas.microsoft.com/office/drawing/2014/main" id="{B1649E65-C18C-4153-8B9E-0B79918723C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16</a:t>
            </a:r>
          </a:p>
        </p:txBody>
      </p:sp>
    </p:spTree>
    <p:extLst>
      <p:ext uri="{BB962C8B-B14F-4D97-AF65-F5344CB8AC3E}">
        <p14:creationId xmlns:p14="http://schemas.microsoft.com/office/powerpoint/2010/main" val="1020135957"/>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C5A308F2-C676-46F0-ACB7-AE25D6BBF5D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D690C41-88B2-45B6-980F-A9FAE324DD6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7E182DD-8CAA-40A2-B3CD-505999BE1818}"/>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THE FIELD · SUPPLY DEPENDENCY</a:t>
            </a:r>
          </a:p>
        </p:txBody>
      </p:sp>
      <p:sp>
        <p:nvSpPr>
          <p:cNvPr id="4" name="">
            <a:extLst xmlns:a="http://schemas.openxmlformats.org/drawingml/2006/main">
              <a:ext uri="{FF2B5EF4-FFF2-40B4-BE49-F238E27FC236}">
                <a16:creationId xmlns:a16="http://schemas.microsoft.com/office/drawing/2014/main" id="{679FB993-563D-4400-B891-44953D594151}"/>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The one holding the seat owns no silicon at all</a:t>
            </a:r>
          </a:p>
        </p:txBody>
      </p:sp>
      <p:sp>
        <p:nvSpPr>
          <p:cNvPr id="5" name="">
            <a:extLst xmlns:a="http://schemas.openxmlformats.org/drawingml/2006/main">
              <a:ext uri="{FF2B5EF4-FFF2-40B4-BE49-F238E27FC236}">
                <a16:creationId xmlns:a16="http://schemas.microsoft.com/office/drawing/2014/main" id="{EF1FF19E-B000-4204-94FB-FC68C2A3A027}"/>
              </a:ext>
            </a:extLst>
          </p:cNvPr>
          <p:cNvSpPr>
            <a:spLocks xmlns:a="http://schemas.openxmlformats.org/drawingml/2006/main" noGrp="1"/>
          </p:cNvSpPr>
          <p:nvPr/>
        </p:nvSpPr>
        <p:spPr>
          <a:xfrm xmlns:a="http://schemas.openxmlformats.org/drawingml/2006/main">
            <a:off x="457200" y="762000"/>
            <a:ext cx="11277600" cy="161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DeepGrid's thesis is owned silicon. Mapping who actually depends on whom tests that thesis directly — and the answer is uncomfortable.</a:t>
            </a:r>
          </a:p>
        </p:txBody>
      </p:sp>
      <p:sp>
        <p:nvSpPr>
          <p:cNvPr id="6" name="">
            <a:extLst xmlns:a="http://schemas.openxmlformats.org/drawingml/2006/main">
              <a:ext uri="{FF2B5EF4-FFF2-40B4-BE49-F238E27FC236}">
                <a16:creationId xmlns:a16="http://schemas.microsoft.com/office/drawing/2014/main" id="{EE73D27D-A3E8-4573-8C7D-F457052D1238}"/>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E8CD904-3FF6-475F-A75C-23F04D04524E}"/>
              </a:ext>
            </a:extLst>
          </p:cNvPr>
          <p:cNvSpPr>
            <a:spLocks xmlns:a="http://schemas.openxmlformats.org/drawingml/2006/main" noGrp="1"/>
          </p:cNvSpPr>
          <p:nvPr/>
        </p:nvSpPr>
        <p:spPr>
          <a:xfrm xmlns:a="http://schemas.openxmlformats.org/drawingml/2006/main">
            <a:off x="457200" y="1095375"/>
            <a:ext cx="16002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COMPANY</a:t>
            </a:r>
          </a:p>
        </p:txBody>
      </p:sp>
      <p:sp>
        <p:nvSpPr>
          <p:cNvPr id="8" name="">
            <a:extLst xmlns:a="http://schemas.openxmlformats.org/drawingml/2006/main">
              <a:ext uri="{FF2B5EF4-FFF2-40B4-BE49-F238E27FC236}">
                <a16:creationId xmlns:a16="http://schemas.microsoft.com/office/drawing/2014/main" id="{01F56561-421A-44CD-9D7C-FBF2642C6B7B}"/>
              </a:ext>
            </a:extLst>
          </p:cNvPr>
          <p:cNvSpPr>
            <a:spLocks xmlns:a="http://schemas.openxmlformats.org/drawingml/2006/main" noGrp="1"/>
          </p:cNvSpPr>
          <p:nvPr/>
        </p:nvSpPr>
        <p:spPr>
          <a:xfrm xmlns:a="http://schemas.openxmlformats.org/drawingml/2006/main">
            <a:off x="2133600" y="1095375"/>
            <a:ext cx="21717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SILICON IT DEPENDS ON</a:t>
            </a:r>
          </a:p>
        </p:txBody>
      </p:sp>
      <p:sp>
        <p:nvSpPr>
          <p:cNvPr id="9" name="">
            <a:extLst xmlns:a="http://schemas.openxmlformats.org/drawingml/2006/main">
              <a:ext uri="{FF2B5EF4-FFF2-40B4-BE49-F238E27FC236}">
                <a16:creationId xmlns:a16="http://schemas.microsoft.com/office/drawing/2014/main" id="{911746BD-5F3A-4F16-9E40-7CBDFC4ACC75}"/>
              </a:ext>
            </a:extLst>
          </p:cNvPr>
          <p:cNvSpPr>
            <a:spLocks xmlns:a="http://schemas.openxmlformats.org/drawingml/2006/main" noGrp="1"/>
          </p:cNvSpPr>
          <p:nvPr/>
        </p:nvSpPr>
        <p:spPr>
          <a:xfrm xmlns:a="http://schemas.openxmlformats.org/drawingml/2006/main">
            <a:off x="4381500" y="1095375"/>
            <a:ext cx="3924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WHAT THAT ACTUALLY MEANS</a:t>
            </a:r>
          </a:p>
        </p:txBody>
      </p:sp>
      <p:sp>
        <p:nvSpPr>
          <p:cNvPr id="10" name="">
            <a:extLst xmlns:a="http://schemas.openxmlformats.org/drawingml/2006/main">
              <a:ext uri="{FF2B5EF4-FFF2-40B4-BE49-F238E27FC236}">
                <a16:creationId xmlns:a16="http://schemas.microsoft.com/office/drawing/2014/main" id="{06D2F975-D545-4B87-8623-D6051DC123EE}"/>
              </a:ext>
            </a:extLst>
          </p:cNvPr>
          <p:cNvSpPr>
            <a:spLocks xmlns:a="http://schemas.openxmlformats.org/drawingml/2006/main" noGrp="1"/>
          </p:cNvSpPr>
          <p:nvPr/>
        </p:nvSpPr>
        <p:spPr>
          <a:xfrm xmlns:a="http://schemas.openxmlformats.org/drawingml/2006/main">
            <a:off x="8382000" y="1095375"/>
            <a:ext cx="18288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POSITION</a:t>
            </a:r>
          </a:p>
        </p:txBody>
      </p:sp>
      <p:sp>
        <p:nvSpPr>
          <p:cNvPr id="11" name="">
            <a:extLst xmlns:a="http://schemas.openxmlformats.org/drawingml/2006/main">
              <a:ext uri="{FF2B5EF4-FFF2-40B4-BE49-F238E27FC236}">
                <a16:creationId xmlns:a16="http://schemas.microsoft.com/office/drawing/2014/main" id="{F0A02D6B-E597-470E-AFE8-80B0B95E0CE1}"/>
              </a:ext>
            </a:extLst>
          </p:cNvPr>
          <p:cNvSpPr>
            <a:spLocks xmlns:a="http://schemas.openxmlformats.org/drawingml/2006/main" noGrp="1"/>
          </p:cNvSpPr>
          <p:nvPr/>
        </p:nvSpPr>
        <p:spPr>
          <a:xfrm xmlns:a="http://schemas.openxmlformats.org/drawingml/2006/main">
            <a:off x="10287000" y="1095375"/>
            <a:ext cx="13716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EVIDENCE</a:t>
            </a:r>
          </a:p>
        </p:txBody>
      </p:sp>
      <p:sp>
        <p:nvSpPr>
          <p:cNvPr id="12" name="">
            <a:extLst xmlns:a="http://schemas.openxmlformats.org/drawingml/2006/main">
              <a:ext uri="{FF2B5EF4-FFF2-40B4-BE49-F238E27FC236}">
                <a16:creationId xmlns:a16="http://schemas.microsoft.com/office/drawing/2014/main" id="{A578A41E-0CB5-4923-9281-D8585882EB43}"/>
              </a:ext>
            </a:extLst>
          </p:cNvPr>
          <p:cNvSpPr>
            <a:spLocks xmlns:a="http://schemas.openxmlformats.org/drawingml/2006/main" noGrp="1"/>
          </p:cNvSpPr>
          <p:nvPr/>
        </p:nvSpPr>
        <p:spPr>
          <a:xfrm xmlns:a="http://schemas.openxmlformats.org/drawingml/2006/main">
            <a:off x="457200" y="1266825"/>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06260BE-2155-4FBA-953C-DCB9374F3884}"/>
              </a:ext>
            </a:extLst>
          </p:cNvPr>
          <p:cNvSpPr>
            <a:spLocks xmlns:a="http://schemas.openxmlformats.org/drawingml/2006/main" noGrp="1"/>
          </p:cNvSpPr>
          <p:nvPr/>
        </p:nvSpPr>
        <p:spPr>
          <a:xfrm xmlns:a="http://schemas.openxmlformats.org/drawingml/2006/main">
            <a:off x="457200" y="1343025"/>
            <a:ext cx="28575" cy="3429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A63EEBD-D8A5-4E9F-B956-AB1506D12B40}"/>
              </a:ext>
            </a:extLst>
          </p:cNvPr>
          <p:cNvSpPr>
            <a:spLocks xmlns:a="http://schemas.openxmlformats.org/drawingml/2006/main" noGrp="1"/>
          </p:cNvSpPr>
          <p:nvPr/>
        </p:nvSpPr>
        <p:spPr>
          <a:xfrm xmlns:a="http://schemas.openxmlformats.org/drawingml/2006/main">
            <a:off x="571500" y="1343025"/>
            <a:ext cx="14668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STRADVISION</a:t>
            </a:r>
          </a:p>
        </p:txBody>
      </p:sp>
      <p:sp>
        <p:nvSpPr>
          <p:cNvPr id="15" name="">
            <a:extLst xmlns:a="http://schemas.openxmlformats.org/drawingml/2006/main">
              <a:ext uri="{FF2B5EF4-FFF2-40B4-BE49-F238E27FC236}">
                <a16:creationId xmlns:a16="http://schemas.microsoft.com/office/drawing/2014/main" id="{1EC3072B-A319-4A06-88E1-2A62F222A282}"/>
              </a:ext>
            </a:extLst>
          </p:cNvPr>
          <p:cNvSpPr>
            <a:spLocks xmlns:a="http://schemas.openxmlformats.org/drawingml/2006/main" noGrp="1"/>
          </p:cNvSpPr>
          <p:nvPr/>
        </p:nvSpPr>
        <p:spPr>
          <a:xfrm xmlns:a="http://schemas.openxmlformats.org/drawingml/2006/main">
            <a:off x="2133600" y="1343025"/>
            <a:ext cx="2133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None — hardware-agnostic</a:t>
            </a:r>
          </a:p>
        </p:txBody>
      </p:sp>
      <p:sp>
        <p:nvSpPr>
          <p:cNvPr id="16" name="">
            <a:extLst xmlns:a="http://schemas.openxmlformats.org/drawingml/2006/main">
              <a:ext uri="{FF2B5EF4-FFF2-40B4-BE49-F238E27FC236}">
                <a16:creationId xmlns:a16="http://schemas.microsoft.com/office/drawing/2014/main" id="{4479330D-A57B-4D9A-BE4A-67824EF25C7C}"/>
              </a:ext>
            </a:extLst>
          </p:cNvPr>
          <p:cNvSpPr>
            <a:spLocks xmlns:a="http://schemas.openxmlformats.org/drawingml/2006/main" noGrp="1"/>
          </p:cNvSpPr>
          <p:nvPr/>
        </p:nvSpPr>
        <p:spPr>
          <a:xfrm xmlns:a="http://schemas.openxmlformats.org/drawingml/2006/main">
            <a:off x="4381500" y="1343025"/>
            <a:ext cx="38671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Runs on whatever the integrator chooses; designed for low-cost constrained hardware</a:t>
            </a:r>
          </a:p>
        </p:txBody>
      </p:sp>
      <p:sp>
        <p:nvSpPr>
          <p:cNvPr id="17" name="">
            <a:extLst xmlns:a="http://schemas.openxmlformats.org/drawingml/2006/main">
              <a:ext uri="{FF2B5EF4-FFF2-40B4-BE49-F238E27FC236}">
                <a16:creationId xmlns:a16="http://schemas.microsoft.com/office/drawing/2014/main" id="{982B0C00-B29A-45DF-A2AB-ED698AF4A6A6}"/>
              </a:ext>
            </a:extLst>
          </p:cNvPr>
          <p:cNvSpPr>
            <a:spLocks xmlns:a="http://schemas.openxmlformats.org/drawingml/2006/main" noGrp="1"/>
          </p:cNvSpPr>
          <p:nvPr/>
        </p:nvSpPr>
        <p:spPr>
          <a:xfrm xmlns:a="http://schemas.openxmlformats.org/drawingml/2006/main">
            <a:off x="8382000" y="1343025"/>
            <a:ext cx="17907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HOLDS THE SEAT</a:t>
            </a:r>
          </a:p>
        </p:txBody>
      </p:sp>
      <p:sp>
        <p:nvSpPr>
          <p:cNvPr id="18" name="">
            <a:extLst xmlns:a="http://schemas.openxmlformats.org/drawingml/2006/main">
              <a:ext uri="{FF2B5EF4-FFF2-40B4-BE49-F238E27FC236}">
                <a16:creationId xmlns:a16="http://schemas.microsoft.com/office/drawing/2014/main" id="{57C34242-1DF3-48EF-B8C7-381F70CDCA37}"/>
              </a:ext>
            </a:extLst>
          </p:cNvPr>
          <p:cNvSpPr>
            <a:spLocks xmlns:a="http://schemas.openxmlformats.org/drawingml/2006/main" noGrp="1"/>
          </p:cNvSpPr>
          <p:nvPr/>
        </p:nvSpPr>
        <p:spPr>
          <a:xfrm xmlns:a="http://schemas.openxmlformats.org/drawingml/2006/main">
            <a:off x="10287000" y="1343025"/>
            <a:ext cx="1371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EV-SV-03</a:t>
            </a:r>
          </a:p>
        </p:txBody>
      </p:sp>
      <p:sp>
        <p:nvSpPr>
          <p:cNvPr id="19" name="">
            <a:extLst xmlns:a="http://schemas.openxmlformats.org/drawingml/2006/main">
              <a:ext uri="{FF2B5EF4-FFF2-40B4-BE49-F238E27FC236}">
                <a16:creationId xmlns:a16="http://schemas.microsoft.com/office/drawing/2014/main" id="{7C8BEA6B-65AC-42AF-BE4B-371583DAB437}"/>
              </a:ext>
            </a:extLst>
          </p:cNvPr>
          <p:cNvSpPr>
            <a:spLocks xmlns:a="http://schemas.openxmlformats.org/drawingml/2006/main" noGrp="1"/>
          </p:cNvSpPr>
          <p:nvPr/>
        </p:nvSpPr>
        <p:spPr>
          <a:xfrm xmlns:a="http://schemas.openxmlformats.org/drawingml/2006/main">
            <a:off x="457200" y="1743075"/>
            <a:ext cx="28575" cy="3429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92CE070-89C0-4707-9FAB-8BF6E563A929}"/>
              </a:ext>
            </a:extLst>
          </p:cNvPr>
          <p:cNvSpPr>
            <a:spLocks xmlns:a="http://schemas.openxmlformats.org/drawingml/2006/main" noGrp="1"/>
          </p:cNvSpPr>
          <p:nvPr/>
        </p:nvSpPr>
        <p:spPr>
          <a:xfrm xmlns:a="http://schemas.openxmlformats.org/drawingml/2006/main">
            <a:off x="571500" y="1743075"/>
            <a:ext cx="14668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Aptiv</a:t>
            </a:r>
          </a:p>
        </p:txBody>
      </p:sp>
      <p:sp>
        <p:nvSpPr>
          <p:cNvPr id="21" name="">
            <a:extLst xmlns:a="http://schemas.openxmlformats.org/drawingml/2006/main">
              <a:ext uri="{FF2B5EF4-FFF2-40B4-BE49-F238E27FC236}">
                <a16:creationId xmlns:a16="http://schemas.microsoft.com/office/drawing/2014/main" id="{6D578FA9-C1D1-4C41-B5CB-CE8904213A56}"/>
              </a:ext>
            </a:extLst>
          </p:cNvPr>
          <p:cNvSpPr>
            <a:spLocks xmlns:a="http://schemas.openxmlformats.org/drawingml/2006/main" noGrp="1"/>
          </p:cNvSpPr>
          <p:nvPr/>
        </p:nvSpPr>
        <p:spPr>
          <a:xfrm xmlns:a="http://schemas.openxmlformats.org/drawingml/2006/main">
            <a:off x="2133600" y="1743075"/>
            <a:ext cx="2133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Own Gen 8 radar + Gen 7 camera</a:t>
            </a:r>
          </a:p>
        </p:txBody>
      </p:sp>
      <p:sp>
        <p:nvSpPr>
          <p:cNvPr id="22" name="">
            <a:extLst xmlns:a="http://schemas.openxmlformats.org/drawingml/2006/main">
              <a:ext uri="{FF2B5EF4-FFF2-40B4-BE49-F238E27FC236}">
                <a16:creationId xmlns:a16="http://schemas.microsoft.com/office/drawing/2014/main" id="{A99397B1-4740-4528-BFF7-17D4370D55D6}"/>
              </a:ext>
            </a:extLst>
          </p:cNvPr>
          <p:cNvSpPr>
            <a:spLocks xmlns:a="http://schemas.openxmlformats.org/drawingml/2006/main" noGrp="1"/>
          </p:cNvSpPr>
          <p:nvPr/>
        </p:nvSpPr>
        <p:spPr>
          <a:xfrm xmlns:a="http://schemas.openxmlformats.org/drawingml/2006/main">
            <a:off x="4381500" y="1743075"/>
            <a:ext cx="38671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But the perception INSIDE the camera is STRADVISION's, not Aptiv's</a:t>
            </a:r>
          </a:p>
        </p:txBody>
      </p:sp>
      <p:sp>
        <p:nvSpPr>
          <p:cNvPr id="23" name="">
            <a:extLst xmlns:a="http://schemas.openxmlformats.org/drawingml/2006/main">
              <a:ext uri="{FF2B5EF4-FFF2-40B4-BE49-F238E27FC236}">
                <a16:creationId xmlns:a16="http://schemas.microsoft.com/office/drawing/2014/main" id="{7D8E1C6F-1EDF-4168-A48B-44DCF390DDDC}"/>
              </a:ext>
            </a:extLst>
          </p:cNvPr>
          <p:cNvSpPr>
            <a:spLocks xmlns:a="http://schemas.openxmlformats.org/drawingml/2006/main" noGrp="1"/>
          </p:cNvSpPr>
          <p:nvPr/>
        </p:nvSpPr>
        <p:spPr>
          <a:xfrm xmlns:a="http://schemas.openxmlformats.org/drawingml/2006/main">
            <a:off x="8382000" y="1743075"/>
            <a:ext cx="17907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OWNS THE PLATFORM</a:t>
            </a:r>
          </a:p>
        </p:txBody>
      </p:sp>
      <p:sp>
        <p:nvSpPr>
          <p:cNvPr id="24" name="">
            <a:extLst xmlns:a="http://schemas.openxmlformats.org/drawingml/2006/main">
              <a:ext uri="{FF2B5EF4-FFF2-40B4-BE49-F238E27FC236}">
                <a16:creationId xmlns:a16="http://schemas.microsoft.com/office/drawing/2014/main" id="{10D48A06-1B06-417C-B1D2-612F34D8D3B1}"/>
              </a:ext>
            </a:extLst>
          </p:cNvPr>
          <p:cNvSpPr>
            <a:spLocks xmlns:a="http://schemas.openxmlformats.org/drawingml/2006/main" noGrp="1"/>
          </p:cNvSpPr>
          <p:nvPr/>
        </p:nvSpPr>
        <p:spPr>
          <a:xfrm xmlns:a="http://schemas.openxmlformats.org/drawingml/2006/main">
            <a:off x="10287000" y="1743075"/>
            <a:ext cx="1371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EV-APT-02</a:t>
            </a:r>
          </a:p>
        </p:txBody>
      </p:sp>
      <p:sp>
        <p:nvSpPr>
          <p:cNvPr id="25" name="">
            <a:extLst xmlns:a="http://schemas.openxmlformats.org/drawingml/2006/main">
              <a:ext uri="{FF2B5EF4-FFF2-40B4-BE49-F238E27FC236}">
                <a16:creationId xmlns:a16="http://schemas.microsoft.com/office/drawing/2014/main" id="{B4FDC180-C876-4AEC-B160-E3BD0BB5737B}"/>
              </a:ext>
            </a:extLst>
          </p:cNvPr>
          <p:cNvSpPr>
            <a:spLocks xmlns:a="http://schemas.openxmlformats.org/drawingml/2006/main" noGrp="1"/>
          </p:cNvSpPr>
          <p:nvPr/>
        </p:nvSpPr>
        <p:spPr>
          <a:xfrm xmlns:a="http://schemas.openxmlformats.org/drawingml/2006/main">
            <a:off x="457200" y="2143125"/>
            <a:ext cx="28575" cy="3429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1C33A23-9CF5-40C8-BA86-AFD773D7751A}"/>
              </a:ext>
            </a:extLst>
          </p:cNvPr>
          <p:cNvSpPr>
            <a:spLocks xmlns:a="http://schemas.openxmlformats.org/drawingml/2006/main" noGrp="1"/>
          </p:cNvSpPr>
          <p:nvPr/>
        </p:nvSpPr>
        <p:spPr>
          <a:xfrm xmlns:a="http://schemas.openxmlformats.org/drawingml/2006/main">
            <a:off x="571500" y="2143125"/>
            <a:ext cx="14668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ZF</a:t>
            </a:r>
          </a:p>
        </p:txBody>
      </p:sp>
      <p:sp>
        <p:nvSpPr>
          <p:cNvPr id="27" name="">
            <a:extLst xmlns:a="http://schemas.openxmlformats.org/drawingml/2006/main">
              <a:ext uri="{FF2B5EF4-FFF2-40B4-BE49-F238E27FC236}">
                <a16:creationId xmlns:a16="http://schemas.microsoft.com/office/drawing/2014/main" id="{FC8A4D92-9FD0-4EF5-AE73-E580D94AECDB}"/>
              </a:ext>
            </a:extLst>
          </p:cNvPr>
          <p:cNvSpPr>
            <a:spLocks xmlns:a="http://schemas.openxmlformats.org/drawingml/2006/main" noGrp="1"/>
          </p:cNvSpPr>
          <p:nvPr/>
        </p:nvSpPr>
        <p:spPr>
          <a:xfrm xmlns:a="http://schemas.openxmlformats.org/drawingml/2006/main">
            <a:off x="2133600" y="2143125"/>
            <a:ext cx="2133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Own OnGuardMAX + short-range radar</a:t>
            </a:r>
          </a:p>
        </p:txBody>
      </p:sp>
      <p:sp>
        <p:nvSpPr>
          <p:cNvPr id="28" name="">
            <a:extLst xmlns:a="http://schemas.openxmlformats.org/drawingml/2006/main">
              <a:ext uri="{FF2B5EF4-FFF2-40B4-BE49-F238E27FC236}">
                <a16:creationId xmlns:a16="http://schemas.microsoft.com/office/drawing/2014/main" id="{7E72DCCB-8441-48F9-884D-E4F011E37023}"/>
              </a:ext>
            </a:extLst>
          </p:cNvPr>
          <p:cNvSpPr>
            <a:spLocks xmlns:a="http://schemas.openxmlformats.org/drawingml/2006/main" noGrp="1"/>
          </p:cNvSpPr>
          <p:nvPr/>
        </p:nvSpPr>
        <p:spPr>
          <a:xfrm xmlns:a="http://schemas.openxmlformats.org/drawingml/2006/main">
            <a:off x="4381500" y="2143125"/>
            <a:ext cx="38671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Owns the actuator, so the silicon question never decides the sale</a:t>
            </a:r>
          </a:p>
        </p:txBody>
      </p:sp>
      <p:sp>
        <p:nvSpPr>
          <p:cNvPr id="29" name="">
            <a:extLst xmlns:a="http://schemas.openxmlformats.org/drawingml/2006/main">
              <a:ext uri="{FF2B5EF4-FFF2-40B4-BE49-F238E27FC236}">
                <a16:creationId xmlns:a16="http://schemas.microsoft.com/office/drawing/2014/main" id="{B2D47151-0250-4E78-BA73-E29154E2EC7F}"/>
              </a:ext>
            </a:extLst>
          </p:cNvPr>
          <p:cNvSpPr>
            <a:spLocks xmlns:a="http://schemas.openxmlformats.org/drawingml/2006/main" noGrp="1"/>
          </p:cNvSpPr>
          <p:nvPr/>
        </p:nvSpPr>
        <p:spPr>
          <a:xfrm xmlns:a="http://schemas.openxmlformats.org/drawingml/2006/main">
            <a:off x="8382000" y="2143125"/>
            <a:ext cx="17907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OWNS THE SAFETY CASE</a:t>
            </a:r>
          </a:p>
        </p:txBody>
      </p:sp>
      <p:sp>
        <p:nvSpPr>
          <p:cNvPr id="30" name="">
            <a:extLst xmlns:a="http://schemas.openxmlformats.org/drawingml/2006/main">
              <a:ext uri="{FF2B5EF4-FFF2-40B4-BE49-F238E27FC236}">
                <a16:creationId xmlns:a16="http://schemas.microsoft.com/office/drawing/2014/main" id="{C79222AE-9750-407A-8CE1-0FC9FD680AE2}"/>
              </a:ext>
            </a:extLst>
          </p:cNvPr>
          <p:cNvSpPr>
            <a:spLocks xmlns:a="http://schemas.openxmlformats.org/drawingml/2006/main" noGrp="1"/>
          </p:cNvSpPr>
          <p:nvPr/>
        </p:nvSpPr>
        <p:spPr>
          <a:xfrm xmlns:a="http://schemas.openxmlformats.org/drawingml/2006/main">
            <a:off x="10287000" y="2143125"/>
            <a:ext cx="1371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EV-ZF-02</a:t>
            </a:r>
          </a:p>
        </p:txBody>
      </p:sp>
      <p:sp>
        <p:nvSpPr>
          <p:cNvPr id="31" name="">
            <a:extLst xmlns:a="http://schemas.openxmlformats.org/drawingml/2006/main">
              <a:ext uri="{FF2B5EF4-FFF2-40B4-BE49-F238E27FC236}">
                <a16:creationId xmlns:a16="http://schemas.microsoft.com/office/drawing/2014/main" id="{916D4230-FF4F-492D-9508-B92160F503F5}"/>
              </a:ext>
            </a:extLst>
          </p:cNvPr>
          <p:cNvSpPr>
            <a:spLocks xmlns:a="http://schemas.openxmlformats.org/drawingml/2006/main" noGrp="1"/>
          </p:cNvSpPr>
          <p:nvPr/>
        </p:nvSpPr>
        <p:spPr>
          <a:xfrm xmlns:a="http://schemas.openxmlformats.org/drawingml/2006/main">
            <a:off x="457200" y="2543175"/>
            <a:ext cx="28575" cy="3429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2829ADD-027C-4D93-85B9-C6E433B05B1A}"/>
              </a:ext>
            </a:extLst>
          </p:cNvPr>
          <p:cNvSpPr>
            <a:spLocks xmlns:a="http://schemas.openxmlformats.org/drawingml/2006/main" noGrp="1"/>
          </p:cNvSpPr>
          <p:nvPr/>
        </p:nvSpPr>
        <p:spPr>
          <a:xfrm xmlns:a="http://schemas.openxmlformats.org/drawingml/2006/main">
            <a:off x="571500" y="2543175"/>
            <a:ext cx="14668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Gahan AI</a:t>
            </a:r>
          </a:p>
        </p:txBody>
      </p:sp>
      <p:sp>
        <p:nvSpPr>
          <p:cNvPr id="33" name="">
            <a:extLst xmlns:a="http://schemas.openxmlformats.org/drawingml/2006/main">
              <a:ext uri="{FF2B5EF4-FFF2-40B4-BE49-F238E27FC236}">
                <a16:creationId xmlns:a16="http://schemas.microsoft.com/office/drawing/2014/main" id="{FF93F2C3-D9B9-4999-9B4D-B3935EB70007}"/>
              </a:ext>
            </a:extLst>
          </p:cNvPr>
          <p:cNvSpPr>
            <a:spLocks xmlns:a="http://schemas.openxmlformats.org/drawingml/2006/main" noGrp="1"/>
          </p:cNvSpPr>
          <p:nvPr/>
        </p:nvSpPr>
        <p:spPr>
          <a:xfrm xmlns:a="http://schemas.openxmlformats.org/drawingml/2006/main">
            <a:off x="2133600" y="2543175"/>
            <a:ext cx="2133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TI AWR2944</a:t>
            </a:r>
          </a:p>
        </p:txBody>
      </p:sp>
      <p:sp>
        <p:nvSpPr>
          <p:cNvPr id="34" name="">
            <a:extLst xmlns:a="http://schemas.openxmlformats.org/drawingml/2006/main">
              <a:ext uri="{FF2B5EF4-FFF2-40B4-BE49-F238E27FC236}">
                <a16:creationId xmlns:a16="http://schemas.microsoft.com/office/drawing/2014/main" id="{AA39488D-B841-4415-9C69-2807FF582E54}"/>
              </a:ext>
            </a:extLst>
          </p:cNvPr>
          <p:cNvSpPr>
            <a:spLocks xmlns:a="http://schemas.openxmlformats.org/drawingml/2006/main" noGrp="1"/>
          </p:cNvSpPr>
          <p:nvPr/>
        </p:nvSpPr>
        <p:spPr>
          <a:xfrm xmlns:a="http://schemas.openxmlformats.org/drawingml/2006/main">
            <a:off x="4381500" y="2543175"/>
            <a:ext cx="38671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AEC-Q100 attaches to TI's IC; TI's own CES release names no Indian partner</a:t>
            </a:r>
          </a:p>
        </p:txBody>
      </p:sp>
      <p:sp>
        <p:nvSpPr>
          <p:cNvPr id="35" name="">
            <a:extLst xmlns:a="http://schemas.openxmlformats.org/drawingml/2006/main">
              <a:ext uri="{FF2B5EF4-FFF2-40B4-BE49-F238E27FC236}">
                <a16:creationId xmlns:a16="http://schemas.microsoft.com/office/drawing/2014/main" id="{2C53DFF4-8154-4A31-8A15-221CA91D7D4D}"/>
              </a:ext>
            </a:extLst>
          </p:cNvPr>
          <p:cNvSpPr>
            <a:spLocks xmlns:a="http://schemas.openxmlformats.org/drawingml/2006/main" noGrp="1"/>
          </p:cNvSpPr>
          <p:nvPr/>
        </p:nvSpPr>
        <p:spPr>
          <a:xfrm xmlns:a="http://schemas.openxmlformats.org/drawingml/2006/main">
            <a:off x="8382000" y="2543175"/>
            <a:ext cx="17907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NO ROUTE TO MARKET</a:t>
            </a:r>
          </a:p>
        </p:txBody>
      </p:sp>
      <p:sp>
        <p:nvSpPr>
          <p:cNvPr id="36" name="">
            <a:extLst xmlns:a="http://schemas.openxmlformats.org/drawingml/2006/main">
              <a:ext uri="{FF2B5EF4-FFF2-40B4-BE49-F238E27FC236}">
                <a16:creationId xmlns:a16="http://schemas.microsoft.com/office/drawing/2014/main" id="{8DC0EE88-B226-4B91-87DC-E23C096072D5}"/>
              </a:ext>
            </a:extLst>
          </p:cNvPr>
          <p:cNvSpPr>
            <a:spLocks xmlns:a="http://schemas.openxmlformats.org/drawingml/2006/main" noGrp="1"/>
          </p:cNvSpPr>
          <p:nvPr/>
        </p:nvSpPr>
        <p:spPr>
          <a:xfrm xmlns:a="http://schemas.openxmlformats.org/drawingml/2006/main">
            <a:off x="10287000" y="2543175"/>
            <a:ext cx="1371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EV-GHN-02, EV-GHN-04</a:t>
            </a:r>
          </a:p>
        </p:txBody>
      </p:sp>
      <p:sp>
        <p:nvSpPr>
          <p:cNvPr id="37" name="">
            <a:extLst xmlns:a="http://schemas.openxmlformats.org/drawingml/2006/main">
              <a:ext uri="{FF2B5EF4-FFF2-40B4-BE49-F238E27FC236}">
                <a16:creationId xmlns:a16="http://schemas.microsoft.com/office/drawing/2014/main" id="{57A3C187-12FA-45DE-8017-DBB8AD68BF4D}"/>
              </a:ext>
            </a:extLst>
          </p:cNvPr>
          <p:cNvSpPr>
            <a:spLocks xmlns:a="http://schemas.openxmlformats.org/drawingml/2006/main" noGrp="1"/>
          </p:cNvSpPr>
          <p:nvPr/>
        </p:nvSpPr>
        <p:spPr>
          <a:xfrm xmlns:a="http://schemas.openxmlformats.org/drawingml/2006/main">
            <a:off x="457200" y="2943225"/>
            <a:ext cx="28575" cy="3429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94380B8-855B-4FB3-B5E4-EE53BDCDA9F6}"/>
              </a:ext>
            </a:extLst>
          </p:cNvPr>
          <p:cNvSpPr>
            <a:spLocks xmlns:a="http://schemas.openxmlformats.org/drawingml/2006/main" noGrp="1"/>
          </p:cNvSpPr>
          <p:nvPr/>
        </p:nvSpPr>
        <p:spPr>
          <a:xfrm xmlns:a="http://schemas.openxmlformats.org/drawingml/2006/main">
            <a:off x="571500" y="2943225"/>
            <a:ext cx="14668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Netrasemi</a:t>
            </a:r>
          </a:p>
        </p:txBody>
      </p:sp>
      <p:sp>
        <p:nvSpPr>
          <p:cNvPr id="39" name="">
            <a:extLst xmlns:a="http://schemas.openxmlformats.org/drawingml/2006/main">
              <a:ext uri="{FF2B5EF4-FFF2-40B4-BE49-F238E27FC236}">
                <a16:creationId xmlns:a16="http://schemas.microsoft.com/office/drawing/2014/main" id="{5147A239-357D-4C8A-8E31-9CD092668E8A}"/>
              </a:ext>
            </a:extLst>
          </p:cNvPr>
          <p:cNvSpPr>
            <a:spLocks xmlns:a="http://schemas.openxmlformats.org/drawingml/2006/main" noGrp="1"/>
          </p:cNvSpPr>
          <p:nvPr/>
        </p:nvSpPr>
        <p:spPr>
          <a:xfrm xmlns:a="http://schemas.openxmlformats.org/drawingml/2006/main">
            <a:off x="2133600" y="2943225"/>
            <a:ext cx="2133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TSMC 12nm, own NPU/VPU/ISP</a:t>
            </a:r>
          </a:p>
        </p:txBody>
      </p:sp>
      <p:sp>
        <p:nvSpPr>
          <p:cNvPr id="40" name="">
            <a:extLst xmlns:a="http://schemas.openxmlformats.org/drawingml/2006/main">
              <a:ext uri="{FF2B5EF4-FFF2-40B4-BE49-F238E27FC236}">
                <a16:creationId xmlns:a16="http://schemas.microsoft.com/office/drawing/2014/main" id="{54213BA9-9EBA-4BFC-B522-D5D2040E8D85}"/>
              </a:ext>
            </a:extLst>
          </p:cNvPr>
          <p:cNvSpPr>
            <a:spLocks xmlns:a="http://schemas.openxmlformats.org/drawingml/2006/main" noGrp="1"/>
          </p:cNvSpPr>
          <p:nvPr/>
        </p:nvSpPr>
        <p:spPr>
          <a:xfrm xmlns:a="http://schemas.openxmlformats.org/drawingml/2006/main">
            <a:off x="4381500" y="2943225"/>
            <a:ext cx="38671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Real Indian silicon — with no AIS, AEC-Q100 or ISO 26262</a:t>
            </a:r>
          </a:p>
        </p:txBody>
      </p:sp>
      <p:sp>
        <p:nvSpPr>
          <p:cNvPr id="41" name="">
            <a:extLst xmlns:a="http://schemas.openxmlformats.org/drawingml/2006/main">
              <a:ext uri="{FF2B5EF4-FFF2-40B4-BE49-F238E27FC236}">
                <a16:creationId xmlns:a16="http://schemas.microsoft.com/office/drawing/2014/main" id="{6A71B06F-A249-463F-B02A-2FDB7C00158F}"/>
              </a:ext>
            </a:extLst>
          </p:cNvPr>
          <p:cNvSpPr>
            <a:spLocks xmlns:a="http://schemas.openxmlformats.org/drawingml/2006/main" noGrp="1"/>
          </p:cNvSpPr>
          <p:nvPr/>
        </p:nvSpPr>
        <p:spPr>
          <a:xfrm xmlns:a="http://schemas.openxmlformats.org/drawingml/2006/main">
            <a:off x="8382000" y="2943225"/>
            <a:ext cx="17907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NO CERTIFICATION</a:t>
            </a:r>
          </a:p>
        </p:txBody>
      </p:sp>
      <p:sp>
        <p:nvSpPr>
          <p:cNvPr id="42" name="">
            <a:extLst xmlns:a="http://schemas.openxmlformats.org/drawingml/2006/main">
              <a:ext uri="{FF2B5EF4-FFF2-40B4-BE49-F238E27FC236}">
                <a16:creationId xmlns:a16="http://schemas.microsoft.com/office/drawing/2014/main" id="{AC124D28-B1A3-4C80-B6FE-A02446CE049A}"/>
              </a:ext>
            </a:extLst>
          </p:cNvPr>
          <p:cNvSpPr>
            <a:spLocks xmlns:a="http://schemas.openxmlformats.org/drawingml/2006/main" noGrp="1"/>
          </p:cNvSpPr>
          <p:nvPr/>
        </p:nvSpPr>
        <p:spPr>
          <a:xfrm xmlns:a="http://schemas.openxmlformats.org/drawingml/2006/main">
            <a:off x="10287000" y="2943225"/>
            <a:ext cx="1371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EV-NTR-02</a:t>
            </a:r>
          </a:p>
        </p:txBody>
      </p:sp>
      <p:sp>
        <p:nvSpPr>
          <p:cNvPr id="43" name="">
            <a:extLst xmlns:a="http://schemas.openxmlformats.org/drawingml/2006/main">
              <a:ext uri="{FF2B5EF4-FFF2-40B4-BE49-F238E27FC236}">
                <a16:creationId xmlns:a16="http://schemas.microsoft.com/office/drawing/2014/main" id="{467A4216-4484-478F-AA7B-659E46C3C2A7}"/>
              </a:ext>
            </a:extLst>
          </p:cNvPr>
          <p:cNvSpPr>
            <a:spLocks xmlns:a="http://schemas.openxmlformats.org/drawingml/2006/main" noGrp="1"/>
          </p:cNvSpPr>
          <p:nvPr/>
        </p:nvSpPr>
        <p:spPr>
          <a:xfrm xmlns:a="http://schemas.openxmlformats.org/drawingml/2006/main">
            <a:off x="457200" y="3343275"/>
            <a:ext cx="28575" cy="3429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BF8A5173-F187-402D-B7DF-A47040EE5CEE}"/>
              </a:ext>
            </a:extLst>
          </p:cNvPr>
          <p:cNvSpPr>
            <a:spLocks xmlns:a="http://schemas.openxmlformats.org/drawingml/2006/main" noGrp="1"/>
          </p:cNvSpPr>
          <p:nvPr/>
        </p:nvSpPr>
        <p:spPr>
          <a:xfrm xmlns:a="http://schemas.openxmlformats.org/drawingml/2006/main">
            <a:off x="571500" y="3343275"/>
            <a:ext cx="14668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bitsensing</a:t>
            </a:r>
          </a:p>
        </p:txBody>
      </p:sp>
      <p:sp>
        <p:nvSpPr>
          <p:cNvPr id="45" name="">
            <a:extLst xmlns:a="http://schemas.openxmlformats.org/drawingml/2006/main">
              <a:ext uri="{FF2B5EF4-FFF2-40B4-BE49-F238E27FC236}">
                <a16:creationId xmlns:a16="http://schemas.microsoft.com/office/drawing/2014/main" id="{DD2A9B11-6268-4A13-99AA-107883C34DEE}"/>
              </a:ext>
            </a:extLst>
          </p:cNvPr>
          <p:cNvSpPr>
            <a:spLocks xmlns:a="http://schemas.openxmlformats.org/drawingml/2006/main" noGrp="1"/>
          </p:cNvSpPr>
          <p:nvPr/>
        </p:nvSpPr>
        <p:spPr>
          <a:xfrm xmlns:a="http://schemas.openxmlformats.org/drawingml/2006/main">
            <a:off x="2133600" y="3343275"/>
            <a:ext cx="2133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NXP</a:t>
            </a:r>
          </a:p>
        </p:txBody>
      </p:sp>
      <p:sp>
        <p:nvSpPr>
          <p:cNvPr id="46" name="">
            <a:extLst xmlns:a="http://schemas.openxmlformats.org/drawingml/2006/main">
              <a:ext uri="{FF2B5EF4-FFF2-40B4-BE49-F238E27FC236}">
                <a16:creationId xmlns:a16="http://schemas.microsoft.com/office/drawing/2014/main" id="{811A545B-C7B0-4001-A3A7-3342D50CAD1A}"/>
              </a:ext>
            </a:extLst>
          </p:cNvPr>
          <p:cNvSpPr>
            <a:spLocks xmlns:a="http://schemas.openxmlformats.org/drawingml/2006/main" noGrp="1"/>
          </p:cNvSpPr>
          <p:nvPr/>
        </p:nvSpPr>
        <p:spPr>
          <a:xfrm xmlns:a="http://schemas.openxmlformats.org/drawingml/2006/main">
            <a:off x="4381500" y="3343275"/>
            <a:ext cx="38671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Radar IP plus a semiconductor partner, capped at warning-only</a:t>
            </a:r>
          </a:p>
        </p:txBody>
      </p:sp>
      <p:sp>
        <p:nvSpPr>
          <p:cNvPr id="47" name="">
            <a:extLst xmlns:a="http://schemas.openxmlformats.org/drawingml/2006/main">
              <a:ext uri="{FF2B5EF4-FFF2-40B4-BE49-F238E27FC236}">
                <a16:creationId xmlns:a16="http://schemas.microsoft.com/office/drawing/2014/main" id="{8CA83E6E-31E0-44A9-B912-1DE02723B9AF}"/>
              </a:ext>
            </a:extLst>
          </p:cNvPr>
          <p:cNvSpPr>
            <a:spLocks xmlns:a="http://schemas.openxmlformats.org/drawingml/2006/main" noGrp="1"/>
          </p:cNvSpPr>
          <p:nvPr/>
        </p:nvSpPr>
        <p:spPr>
          <a:xfrm xmlns:a="http://schemas.openxmlformats.org/drawingml/2006/main">
            <a:off x="8382000" y="3343275"/>
            <a:ext cx="17907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HARD CEILING</a:t>
            </a:r>
          </a:p>
        </p:txBody>
      </p:sp>
      <p:sp>
        <p:nvSpPr>
          <p:cNvPr id="48" name="">
            <a:extLst xmlns:a="http://schemas.openxmlformats.org/drawingml/2006/main">
              <a:ext uri="{FF2B5EF4-FFF2-40B4-BE49-F238E27FC236}">
                <a16:creationId xmlns:a16="http://schemas.microsoft.com/office/drawing/2014/main" id="{62EFE2F2-4B5C-4D84-AD0E-BDFF6F1359D7}"/>
              </a:ext>
            </a:extLst>
          </p:cNvPr>
          <p:cNvSpPr>
            <a:spLocks xmlns:a="http://schemas.openxmlformats.org/drawingml/2006/main" noGrp="1"/>
          </p:cNvSpPr>
          <p:nvPr/>
        </p:nvSpPr>
        <p:spPr>
          <a:xfrm xmlns:a="http://schemas.openxmlformats.org/drawingml/2006/main">
            <a:off x="10287000" y="3343275"/>
            <a:ext cx="1371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EV-BIT-02</a:t>
            </a:r>
          </a:p>
        </p:txBody>
      </p:sp>
      <p:sp>
        <p:nvSpPr>
          <p:cNvPr id="49" name="">
            <a:extLst xmlns:a="http://schemas.openxmlformats.org/drawingml/2006/main">
              <a:ext uri="{FF2B5EF4-FFF2-40B4-BE49-F238E27FC236}">
                <a16:creationId xmlns:a16="http://schemas.microsoft.com/office/drawing/2014/main" id="{D2EA1CB1-0CB5-4345-B1C5-33B0A21F5DE3}"/>
              </a:ext>
            </a:extLst>
          </p:cNvPr>
          <p:cNvSpPr>
            <a:spLocks xmlns:a="http://schemas.openxmlformats.org/drawingml/2006/main" noGrp="1"/>
          </p:cNvSpPr>
          <p:nvPr/>
        </p:nvSpPr>
        <p:spPr>
          <a:xfrm xmlns:a="http://schemas.openxmlformats.org/drawingml/2006/main">
            <a:off x="457200" y="380047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F5C08804-09B2-4540-946A-8D84D4C021C9}"/>
              </a:ext>
            </a:extLst>
          </p:cNvPr>
          <p:cNvSpPr>
            <a:spLocks xmlns:a="http://schemas.openxmlformats.org/drawingml/2006/main" noGrp="1"/>
          </p:cNvSpPr>
          <p:nvPr/>
        </p:nvSpPr>
        <p:spPr>
          <a:xfrm xmlns:a="http://schemas.openxmlformats.org/drawingml/2006/main">
            <a:off x="457200" y="3914775"/>
            <a:ext cx="4762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WHAT THIS DOES TO THE OWNED-SILICON THESIS</a:t>
            </a:r>
          </a:p>
        </p:txBody>
      </p:sp>
      <p:sp>
        <p:nvSpPr>
          <p:cNvPr id="51" name="">
            <a:extLst xmlns:a="http://schemas.openxmlformats.org/drawingml/2006/main">
              <a:ext uri="{FF2B5EF4-FFF2-40B4-BE49-F238E27FC236}">
                <a16:creationId xmlns:a16="http://schemas.microsoft.com/office/drawing/2014/main" id="{EE57CAA3-5137-4BA4-82E0-CC211CEFA07C}"/>
              </a:ext>
            </a:extLst>
          </p:cNvPr>
          <p:cNvSpPr>
            <a:spLocks xmlns:a="http://schemas.openxmlformats.org/drawingml/2006/main" noGrp="1"/>
          </p:cNvSpPr>
          <p:nvPr/>
        </p:nvSpPr>
        <p:spPr>
          <a:xfrm xmlns:a="http://schemas.openxmlformats.org/drawingml/2006/main">
            <a:off x="457200" y="4086225"/>
            <a:ext cx="11277600" cy="704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Two of the three companies that reach brake actuation buy their perception rather than build it, and the company occupying the exact seat DeepGrid wants owns no silicon whatsoever. Meanwhile the two players with the most credible silicon story — Gahan and Netrasemi — have no route to an Indian CV buyer between them. On this evidence, silicon ownership is neither necessary nor sufficient to hold the perception seat. It is a margin and supply-assurance argument, not an entry argument, and the deck should stop selling it as one.</a:t>
            </a:r>
          </a:p>
        </p:txBody>
      </p:sp>
      <p:sp>
        <p:nvSpPr>
          <p:cNvPr id="52" name="">
            <a:extLst xmlns:a="http://schemas.openxmlformats.org/drawingml/2006/main">
              <a:ext uri="{FF2B5EF4-FFF2-40B4-BE49-F238E27FC236}">
                <a16:creationId xmlns:a16="http://schemas.microsoft.com/office/drawing/2014/main" id="{4FBF6C58-DB49-45B8-8019-B8DB15AF0985}"/>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5DC35083-F7D4-433D-800B-E16A91F29459}"/>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4" name="">
            <a:extLst xmlns:a="http://schemas.openxmlformats.org/drawingml/2006/main">
              <a:ext uri="{FF2B5EF4-FFF2-40B4-BE49-F238E27FC236}">
                <a16:creationId xmlns:a16="http://schemas.microsoft.com/office/drawing/2014/main" id="{6DC04365-C0DB-446B-82BD-9073B085AB0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17</a:t>
            </a:r>
          </a:p>
        </p:txBody>
      </p:sp>
    </p:spTree>
    <p:extLst>
      <p:ext uri="{BB962C8B-B14F-4D97-AF65-F5344CB8AC3E}">
        <p14:creationId xmlns:p14="http://schemas.microsoft.com/office/powerpoint/2010/main" val="59071818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7465C046-063F-461E-8875-52AE2A9883A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585858E-0EE9-46E5-A8CB-0D4077C7FE8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85A7BA2-06BE-406B-86B1-40ED76E8CD26}"/>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THE FIELD · MOMENTUM</a:t>
            </a:r>
          </a:p>
        </p:txBody>
      </p:sp>
      <p:sp>
        <p:nvSpPr>
          <p:cNvPr id="4" name="">
            <a:extLst xmlns:a="http://schemas.openxmlformats.org/drawingml/2006/main">
              <a:ext uri="{FF2B5EF4-FFF2-40B4-BE49-F238E27FC236}">
                <a16:creationId xmlns:a16="http://schemas.microsoft.com/office/drawing/2014/main" id="{FA6FD07C-47AD-4630-BE10-49B2B9422DFE}"/>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Eight months, seven competitive moves</a:t>
            </a:r>
          </a:p>
        </p:txBody>
      </p:sp>
      <p:sp>
        <p:nvSpPr>
          <p:cNvPr id="5" name="">
            <a:extLst xmlns:a="http://schemas.openxmlformats.org/drawingml/2006/main">
              <a:ext uri="{FF2B5EF4-FFF2-40B4-BE49-F238E27FC236}">
                <a16:creationId xmlns:a16="http://schemas.microsoft.com/office/drawing/2014/main" id="{712F904F-B471-4138-88D6-F410046243B7}"/>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The dossier scatters these across the deck. In date order they are a sequence, and the sequence is accelerating.</a:t>
            </a:r>
          </a:p>
        </p:txBody>
      </p:sp>
      <p:sp>
        <p:nvSpPr>
          <p:cNvPr id="6" name="">
            <a:extLst xmlns:a="http://schemas.openxmlformats.org/drawingml/2006/main">
              <a:ext uri="{FF2B5EF4-FFF2-40B4-BE49-F238E27FC236}">
                <a16:creationId xmlns:a16="http://schemas.microsoft.com/office/drawing/2014/main" id="{B14216CE-1987-4D35-A9A1-93CB6736914E}"/>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0272D07-62A0-4FCF-AA0E-B261156E69C4}"/>
              </a:ext>
            </a:extLst>
          </p:cNvPr>
          <p:cNvSpPr>
            <a:spLocks xmlns:a="http://schemas.openxmlformats.org/drawingml/2006/main" noGrp="1"/>
          </p:cNvSpPr>
          <p:nvPr/>
        </p:nvSpPr>
        <p:spPr>
          <a:xfrm xmlns:a="http://schemas.openxmlformats.org/drawingml/2006/main">
            <a:off x="457200" y="2686050"/>
            <a:ext cx="11277600" cy="2857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2502111-EBE6-46AB-9AB0-C8BEBBFFFE83}"/>
              </a:ext>
            </a:extLst>
          </p:cNvPr>
          <p:cNvSpPr>
            <a:spLocks xmlns:a="http://schemas.openxmlformats.org/drawingml/2006/main" noGrp="1"/>
          </p:cNvSpPr>
          <p:nvPr/>
        </p:nvSpPr>
        <p:spPr>
          <a:xfrm xmlns:a="http://schemas.openxmlformats.org/drawingml/2006/main">
            <a:off x="476250" y="2638425"/>
            <a:ext cx="114300" cy="1143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9D22ABF-8FA7-4DA5-ADD5-AF6908B8D89F}"/>
              </a:ext>
            </a:extLst>
          </p:cNvPr>
          <p:cNvSpPr>
            <a:spLocks xmlns:a="http://schemas.openxmlformats.org/drawingml/2006/main" noGrp="1"/>
          </p:cNvSpPr>
          <p:nvPr/>
        </p:nvSpPr>
        <p:spPr>
          <a:xfrm xmlns:a="http://schemas.openxmlformats.org/drawingml/2006/main">
            <a:off x="533400" y="1466850"/>
            <a:ext cx="1401536" cy="11049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0" name="">
            <a:extLst xmlns:a="http://schemas.openxmlformats.org/drawingml/2006/main">
              <a:ext uri="{FF2B5EF4-FFF2-40B4-BE49-F238E27FC236}">
                <a16:creationId xmlns:a16="http://schemas.microsoft.com/office/drawing/2014/main" id="{C4DD0347-DF99-410A-9D11-107C4029AF0F}"/>
              </a:ext>
            </a:extLst>
          </p:cNvPr>
          <p:cNvSpPr>
            <a:spLocks xmlns:a="http://schemas.openxmlformats.org/drawingml/2006/main" noGrp="1"/>
          </p:cNvSpPr>
          <p:nvPr/>
        </p:nvSpPr>
        <p:spPr>
          <a:xfrm xmlns:a="http://schemas.openxmlformats.org/drawingml/2006/main">
            <a:off x="533400" y="1466850"/>
            <a:ext cx="1401536"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C2D6F3D-940B-4114-8520-5EB0B4217519}"/>
              </a:ext>
            </a:extLst>
          </p:cNvPr>
          <p:cNvSpPr>
            <a:spLocks xmlns:a="http://schemas.openxmlformats.org/drawingml/2006/main" noGrp="1"/>
          </p:cNvSpPr>
          <p:nvPr/>
        </p:nvSpPr>
        <p:spPr>
          <a:xfrm xmlns:a="http://schemas.openxmlformats.org/drawingml/2006/main">
            <a:off x="628650" y="1562100"/>
            <a:ext cx="1230086"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DEC 2025</a:t>
            </a:r>
          </a:p>
        </p:txBody>
      </p:sp>
      <p:sp>
        <p:nvSpPr>
          <p:cNvPr id="12" name="">
            <a:extLst xmlns:a="http://schemas.openxmlformats.org/drawingml/2006/main">
              <a:ext uri="{FF2B5EF4-FFF2-40B4-BE49-F238E27FC236}">
                <a16:creationId xmlns:a16="http://schemas.microsoft.com/office/drawing/2014/main" id="{58BE002B-8C7E-407E-899B-15D3C101EBD7}"/>
              </a:ext>
            </a:extLst>
          </p:cNvPr>
          <p:cNvSpPr>
            <a:spLocks xmlns:a="http://schemas.openxmlformats.org/drawingml/2006/main" noGrp="1"/>
          </p:cNvSpPr>
          <p:nvPr/>
        </p:nvSpPr>
        <p:spPr>
          <a:xfrm xmlns:a="http://schemas.openxmlformats.org/drawingml/2006/main">
            <a:off x="628650" y="1714500"/>
            <a:ext cx="1268186"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ZF</a:t>
            </a:r>
          </a:p>
        </p:txBody>
      </p:sp>
      <p:sp>
        <p:nvSpPr>
          <p:cNvPr id="13" name="">
            <a:extLst xmlns:a="http://schemas.openxmlformats.org/drawingml/2006/main">
              <a:ext uri="{FF2B5EF4-FFF2-40B4-BE49-F238E27FC236}">
                <a16:creationId xmlns:a16="http://schemas.microsoft.com/office/drawing/2014/main" id="{8C3FBED4-D367-41EC-BC96-A65F6E46EF5E}"/>
              </a:ext>
            </a:extLst>
          </p:cNvPr>
          <p:cNvSpPr>
            <a:spLocks xmlns:a="http://schemas.openxmlformats.org/drawingml/2006/main" noGrp="1"/>
          </p:cNvSpPr>
          <p:nvPr/>
        </p:nvSpPr>
        <p:spPr>
          <a:xfrm xmlns:a="http://schemas.openxmlformats.org/drawingml/2006/main">
            <a:off x="628650" y="2057400"/>
            <a:ext cx="1268186"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India CV OEM ADAS nomination — 16 features, ARAI certified</a:t>
            </a:r>
          </a:p>
        </p:txBody>
      </p:sp>
      <p:sp>
        <p:nvSpPr>
          <p:cNvPr id="14" name="">
            <a:extLst xmlns:a="http://schemas.openxmlformats.org/drawingml/2006/main">
              <a:ext uri="{FF2B5EF4-FFF2-40B4-BE49-F238E27FC236}">
                <a16:creationId xmlns:a16="http://schemas.microsoft.com/office/drawing/2014/main" id="{A5703904-18F1-4E3D-91DB-DE0BAF22394F}"/>
              </a:ext>
            </a:extLst>
          </p:cNvPr>
          <p:cNvSpPr>
            <a:spLocks xmlns:a="http://schemas.openxmlformats.org/drawingml/2006/main" noGrp="1"/>
          </p:cNvSpPr>
          <p:nvPr/>
        </p:nvSpPr>
        <p:spPr>
          <a:xfrm xmlns:a="http://schemas.openxmlformats.org/drawingml/2006/main">
            <a:off x="2087336" y="2638425"/>
            <a:ext cx="114300" cy="1143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C94D699-3BC4-4E66-8A31-CDE8310BE858}"/>
              </a:ext>
            </a:extLst>
          </p:cNvPr>
          <p:cNvSpPr>
            <a:spLocks xmlns:a="http://schemas.openxmlformats.org/drawingml/2006/main" noGrp="1"/>
          </p:cNvSpPr>
          <p:nvPr/>
        </p:nvSpPr>
        <p:spPr>
          <a:xfrm xmlns:a="http://schemas.openxmlformats.org/drawingml/2006/main">
            <a:off x="2144486" y="2914650"/>
            <a:ext cx="1401536" cy="11049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6" name="">
            <a:extLst xmlns:a="http://schemas.openxmlformats.org/drawingml/2006/main">
              <a:ext uri="{FF2B5EF4-FFF2-40B4-BE49-F238E27FC236}">
                <a16:creationId xmlns:a16="http://schemas.microsoft.com/office/drawing/2014/main" id="{F10397FD-95EA-4033-A32F-B67837632516}"/>
              </a:ext>
            </a:extLst>
          </p:cNvPr>
          <p:cNvSpPr>
            <a:spLocks xmlns:a="http://schemas.openxmlformats.org/drawingml/2006/main" noGrp="1"/>
          </p:cNvSpPr>
          <p:nvPr/>
        </p:nvSpPr>
        <p:spPr>
          <a:xfrm xmlns:a="http://schemas.openxmlformats.org/drawingml/2006/main">
            <a:off x="2144486" y="2914650"/>
            <a:ext cx="1401536"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FFBB69C-DC8E-465F-87DB-0F4902A81042}"/>
              </a:ext>
            </a:extLst>
          </p:cNvPr>
          <p:cNvSpPr>
            <a:spLocks xmlns:a="http://schemas.openxmlformats.org/drawingml/2006/main" noGrp="1"/>
          </p:cNvSpPr>
          <p:nvPr/>
        </p:nvSpPr>
        <p:spPr>
          <a:xfrm xmlns:a="http://schemas.openxmlformats.org/drawingml/2006/main">
            <a:off x="2239736" y="3009900"/>
            <a:ext cx="1230086"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JAN 2026</a:t>
            </a:r>
          </a:p>
        </p:txBody>
      </p:sp>
      <p:sp>
        <p:nvSpPr>
          <p:cNvPr id="18" name="">
            <a:extLst xmlns:a="http://schemas.openxmlformats.org/drawingml/2006/main">
              <a:ext uri="{FF2B5EF4-FFF2-40B4-BE49-F238E27FC236}">
                <a16:creationId xmlns:a16="http://schemas.microsoft.com/office/drawing/2014/main" id="{C8F13B37-1AC3-496F-A3AE-11CB64914206}"/>
              </a:ext>
            </a:extLst>
          </p:cNvPr>
          <p:cNvSpPr>
            <a:spLocks xmlns:a="http://schemas.openxmlformats.org/drawingml/2006/main" noGrp="1"/>
          </p:cNvSpPr>
          <p:nvPr/>
        </p:nvSpPr>
        <p:spPr>
          <a:xfrm xmlns:a="http://schemas.openxmlformats.org/drawingml/2006/main">
            <a:off x="2239736" y="3162300"/>
            <a:ext cx="1268186"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Aptiv × STRADVISION</a:t>
            </a:r>
          </a:p>
        </p:txBody>
      </p:sp>
      <p:sp>
        <p:nvSpPr>
          <p:cNvPr id="19" name="">
            <a:extLst xmlns:a="http://schemas.openxmlformats.org/drawingml/2006/main">
              <a:ext uri="{FF2B5EF4-FFF2-40B4-BE49-F238E27FC236}">
                <a16:creationId xmlns:a16="http://schemas.microsoft.com/office/drawing/2014/main" id="{F2D9A8C6-7C78-4F80-85A3-B56A956C2B30}"/>
              </a:ext>
            </a:extLst>
          </p:cNvPr>
          <p:cNvSpPr>
            <a:spLocks xmlns:a="http://schemas.openxmlformats.org/drawingml/2006/main" noGrp="1"/>
          </p:cNvSpPr>
          <p:nvPr/>
        </p:nvSpPr>
        <p:spPr>
          <a:xfrm xmlns:a="http://schemas.openxmlformats.org/drawingml/2006/main">
            <a:off x="2239736" y="3505200"/>
            <a:ext cx="1268186"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Indian CV OEM selects Gen 6 — 14 models, 30+ variants</a:t>
            </a:r>
          </a:p>
        </p:txBody>
      </p:sp>
      <p:sp>
        <p:nvSpPr>
          <p:cNvPr id="20" name="">
            <a:extLst xmlns:a="http://schemas.openxmlformats.org/drawingml/2006/main">
              <a:ext uri="{FF2B5EF4-FFF2-40B4-BE49-F238E27FC236}">
                <a16:creationId xmlns:a16="http://schemas.microsoft.com/office/drawing/2014/main" id="{59E730E2-E087-4F0B-966A-5323A0B0D1EA}"/>
              </a:ext>
            </a:extLst>
          </p:cNvPr>
          <p:cNvSpPr>
            <a:spLocks xmlns:a="http://schemas.openxmlformats.org/drawingml/2006/main" noGrp="1"/>
          </p:cNvSpPr>
          <p:nvPr/>
        </p:nvSpPr>
        <p:spPr>
          <a:xfrm xmlns:a="http://schemas.openxmlformats.org/drawingml/2006/main">
            <a:off x="3698421" y="2638425"/>
            <a:ext cx="114300" cy="1143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97C0D5E-E63C-438C-A687-BE976396A59E}"/>
              </a:ext>
            </a:extLst>
          </p:cNvPr>
          <p:cNvSpPr>
            <a:spLocks xmlns:a="http://schemas.openxmlformats.org/drawingml/2006/main" noGrp="1"/>
          </p:cNvSpPr>
          <p:nvPr/>
        </p:nvSpPr>
        <p:spPr>
          <a:xfrm xmlns:a="http://schemas.openxmlformats.org/drawingml/2006/main">
            <a:off x="3755571" y="1466850"/>
            <a:ext cx="1401536" cy="11049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2" name="">
            <a:extLst xmlns:a="http://schemas.openxmlformats.org/drawingml/2006/main">
              <a:ext uri="{FF2B5EF4-FFF2-40B4-BE49-F238E27FC236}">
                <a16:creationId xmlns:a16="http://schemas.microsoft.com/office/drawing/2014/main" id="{0FC9A171-584C-4186-8A94-3A0F9D221BE1}"/>
              </a:ext>
            </a:extLst>
          </p:cNvPr>
          <p:cNvSpPr>
            <a:spLocks xmlns:a="http://schemas.openxmlformats.org/drawingml/2006/main" noGrp="1"/>
          </p:cNvSpPr>
          <p:nvPr/>
        </p:nvSpPr>
        <p:spPr>
          <a:xfrm xmlns:a="http://schemas.openxmlformats.org/drawingml/2006/main">
            <a:off x="3755571" y="1466850"/>
            <a:ext cx="1401536"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40AF467-019B-4560-8691-A44069616ABD}"/>
              </a:ext>
            </a:extLst>
          </p:cNvPr>
          <p:cNvSpPr>
            <a:spLocks xmlns:a="http://schemas.openxmlformats.org/drawingml/2006/main" noGrp="1"/>
          </p:cNvSpPr>
          <p:nvPr/>
        </p:nvSpPr>
        <p:spPr>
          <a:xfrm xmlns:a="http://schemas.openxmlformats.org/drawingml/2006/main">
            <a:off x="3850821" y="1562100"/>
            <a:ext cx="1230086"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JAN 2026</a:t>
            </a:r>
          </a:p>
        </p:txBody>
      </p:sp>
      <p:sp>
        <p:nvSpPr>
          <p:cNvPr id="24" name="">
            <a:extLst xmlns:a="http://schemas.openxmlformats.org/drawingml/2006/main">
              <a:ext uri="{FF2B5EF4-FFF2-40B4-BE49-F238E27FC236}">
                <a16:creationId xmlns:a16="http://schemas.microsoft.com/office/drawing/2014/main" id="{49234B04-FBBA-4F3B-87BE-52A2563E36F1}"/>
              </a:ext>
            </a:extLst>
          </p:cNvPr>
          <p:cNvSpPr>
            <a:spLocks xmlns:a="http://schemas.openxmlformats.org/drawingml/2006/main" noGrp="1"/>
          </p:cNvSpPr>
          <p:nvPr/>
        </p:nvSpPr>
        <p:spPr>
          <a:xfrm xmlns:a="http://schemas.openxmlformats.org/drawingml/2006/main">
            <a:off x="3850821" y="1714500"/>
            <a:ext cx="1268186"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Sterling × MINIEYE</a:t>
            </a:r>
          </a:p>
        </p:txBody>
      </p:sp>
      <p:sp>
        <p:nvSpPr>
          <p:cNvPr id="25" name="">
            <a:extLst xmlns:a="http://schemas.openxmlformats.org/drawingml/2006/main">
              <a:ext uri="{FF2B5EF4-FFF2-40B4-BE49-F238E27FC236}">
                <a16:creationId xmlns:a16="http://schemas.microsoft.com/office/drawing/2014/main" id="{B3CDB9EC-E566-433D-AC02-6F927D76BF5C}"/>
              </a:ext>
            </a:extLst>
          </p:cNvPr>
          <p:cNvSpPr>
            <a:spLocks xmlns:a="http://schemas.openxmlformats.org/drawingml/2006/main" noGrp="1"/>
          </p:cNvSpPr>
          <p:nvPr/>
        </p:nvSpPr>
        <p:spPr>
          <a:xfrm xmlns:a="http://schemas.openxmlformats.org/drawingml/2006/main">
            <a:off x="3850821" y="2057400"/>
            <a:ext cx="1268186"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Localisation partnership exchange-filed</a:t>
            </a:r>
          </a:p>
        </p:txBody>
      </p:sp>
      <p:sp>
        <p:nvSpPr>
          <p:cNvPr id="26" name="">
            <a:extLst xmlns:a="http://schemas.openxmlformats.org/drawingml/2006/main">
              <a:ext uri="{FF2B5EF4-FFF2-40B4-BE49-F238E27FC236}">
                <a16:creationId xmlns:a16="http://schemas.microsoft.com/office/drawing/2014/main" id="{2661F317-0F42-4930-A86B-8596D52DF595}"/>
              </a:ext>
            </a:extLst>
          </p:cNvPr>
          <p:cNvSpPr>
            <a:spLocks xmlns:a="http://schemas.openxmlformats.org/drawingml/2006/main" noGrp="1"/>
          </p:cNvSpPr>
          <p:nvPr/>
        </p:nvSpPr>
        <p:spPr>
          <a:xfrm xmlns:a="http://schemas.openxmlformats.org/drawingml/2006/main">
            <a:off x="5309507" y="2638425"/>
            <a:ext cx="114300" cy="1143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C30A113-886D-4EB1-9C8C-E8421673FDEF}"/>
              </a:ext>
            </a:extLst>
          </p:cNvPr>
          <p:cNvSpPr>
            <a:spLocks xmlns:a="http://schemas.openxmlformats.org/drawingml/2006/main" noGrp="1"/>
          </p:cNvSpPr>
          <p:nvPr/>
        </p:nvSpPr>
        <p:spPr>
          <a:xfrm xmlns:a="http://schemas.openxmlformats.org/drawingml/2006/main">
            <a:off x="5366657" y="2914650"/>
            <a:ext cx="1401536" cy="11049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8" name="">
            <a:extLst xmlns:a="http://schemas.openxmlformats.org/drawingml/2006/main">
              <a:ext uri="{FF2B5EF4-FFF2-40B4-BE49-F238E27FC236}">
                <a16:creationId xmlns:a16="http://schemas.microsoft.com/office/drawing/2014/main" id="{8E1F6054-306F-4ADA-9722-2B836297A90A}"/>
              </a:ext>
            </a:extLst>
          </p:cNvPr>
          <p:cNvSpPr>
            <a:spLocks xmlns:a="http://schemas.openxmlformats.org/drawingml/2006/main" noGrp="1"/>
          </p:cNvSpPr>
          <p:nvPr/>
        </p:nvSpPr>
        <p:spPr>
          <a:xfrm xmlns:a="http://schemas.openxmlformats.org/drawingml/2006/main">
            <a:off x="5366657" y="2914650"/>
            <a:ext cx="1401536"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82395D9-E873-40FE-9768-F5DB57D182A7}"/>
              </a:ext>
            </a:extLst>
          </p:cNvPr>
          <p:cNvSpPr>
            <a:spLocks xmlns:a="http://schemas.openxmlformats.org/drawingml/2006/main" noGrp="1"/>
          </p:cNvSpPr>
          <p:nvPr/>
        </p:nvSpPr>
        <p:spPr>
          <a:xfrm xmlns:a="http://schemas.openxmlformats.org/drawingml/2006/main">
            <a:off x="5461907" y="3009900"/>
            <a:ext cx="1230086"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APR 2026</a:t>
            </a:r>
          </a:p>
        </p:txBody>
      </p:sp>
      <p:sp>
        <p:nvSpPr>
          <p:cNvPr id="30" name="">
            <a:extLst xmlns:a="http://schemas.openxmlformats.org/drawingml/2006/main">
              <a:ext uri="{FF2B5EF4-FFF2-40B4-BE49-F238E27FC236}">
                <a16:creationId xmlns:a16="http://schemas.microsoft.com/office/drawing/2014/main" id="{9745939D-AAE1-45AE-B9EF-B24B12DED834}"/>
              </a:ext>
            </a:extLst>
          </p:cNvPr>
          <p:cNvSpPr>
            <a:spLocks xmlns:a="http://schemas.openxmlformats.org/drawingml/2006/main" noGrp="1"/>
          </p:cNvSpPr>
          <p:nvPr/>
        </p:nvSpPr>
        <p:spPr>
          <a:xfrm xmlns:a="http://schemas.openxmlformats.org/drawingml/2006/main">
            <a:off x="5461907" y="3162300"/>
            <a:ext cx="1268186"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bitsensing</a:t>
            </a:r>
          </a:p>
        </p:txBody>
      </p:sp>
      <p:sp>
        <p:nvSpPr>
          <p:cNvPr id="31" name="">
            <a:extLst xmlns:a="http://schemas.openxmlformats.org/drawingml/2006/main">
              <a:ext uri="{FF2B5EF4-FFF2-40B4-BE49-F238E27FC236}">
                <a16:creationId xmlns:a16="http://schemas.microsoft.com/office/drawing/2014/main" id="{74EF93A4-D84F-456E-990E-8125E626AB17}"/>
              </a:ext>
            </a:extLst>
          </p:cNvPr>
          <p:cNvSpPr>
            <a:spLocks xmlns:a="http://schemas.openxmlformats.org/drawingml/2006/main" noGrp="1"/>
          </p:cNvSpPr>
          <p:nvPr/>
        </p:nvSpPr>
        <p:spPr>
          <a:xfrm xmlns:a="http://schemas.openxmlformats.org/drawingml/2006/main">
            <a:off x="5461907" y="3505200"/>
            <a:ext cx="1268186"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$25m Series B led by HL Mando</a:t>
            </a:r>
          </a:p>
        </p:txBody>
      </p:sp>
      <p:sp>
        <p:nvSpPr>
          <p:cNvPr id="32" name="">
            <a:extLst xmlns:a="http://schemas.openxmlformats.org/drawingml/2006/main">
              <a:ext uri="{FF2B5EF4-FFF2-40B4-BE49-F238E27FC236}">
                <a16:creationId xmlns:a16="http://schemas.microsoft.com/office/drawing/2014/main" id="{6D279DA9-78D0-44CB-BD3B-6E748E145B5F}"/>
              </a:ext>
            </a:extLst>
          </p:cNvPr>
          <p:cNvSpPr>
            <a:spLocks xmlns:a="http://schemas.openxmlformats.org/drawingml/2006/main" noGrp="1"/>
          </p:cNvSpPr>
          <p:nvPr/>
        </p:nvSpPr>
        <p:spPr>
          <a:xfrm xmlns:a="http://schemas.openxmlformats.org/drawingml/2006/main">
            <a:off x="6920593" y="2638425"/>
            <a:ext cx="114300" cy="1143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831BB25-78A1-4ED2-960E-75FE56D0C6AB}"/>
              </a:ext>
            </a:extLst>
          </p:cNvPr>
          <p:cNvSpPr>
            <a:spLocks xmlns:a="http://schemas.openxmlformats.org/drawingml/2006/main" noGrp="1"/>
          </p:cNvSpPr>
          <p:nvPr/>
        </p:nvSpPr>
        <p:spPr>
          <a:xfrm xmlns:a="http://schemas.openxmlformats.org/drawingml/2006/main">
            <a:off x="6977743" y="1466850"/>
            <a:ext cx="1401536" cy="11049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4" name="">
            <a:extLst xmlns:a="http://schemas.openxmlformats.org/drawingml/2006/main">
              <a:ext uri="{FF2B5EF4-FFF2-40B4-BE49-F238E27FC236}">
                <a16:creationId xmlns:a16="http://schemas.microsoft.com/office/drawing/2014/main" id="{18BF952B-7061-4365-8212-724591BD2779}"/>
              </a:ext>
            </a:extLst>
          </p:cNvPr>
          <p:cNvSpPr>
            <a:spLocks xmlns:a="http://schemas.openxmlformats.org/drawingml/2006/main" noGrp="1"/>
          </p:cNvSpPr>
          <p:nvPr/>
        </p:nvSpPr>
        <p:spPr>
          <a:xfrm xmlns:a="http://schemas.openxmlformats.org/drawingml/2006/main">
            <a:off x="6977743" y="1466850"/>
            <a:ext cx="1401536"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2E11D58-EF98-4EF3-A0AE-AAF05EA5CB99}"/>
              </a:ext>
            </a:extLst>
          </p:cNvPr>
          <p:cNvSpPr>
            <a:spLocks xmlns:a="http://schemas.openxmlformats.org/drawingml/2006/main" noGrp="1"/>
          </p:cNvSpPr>
          <p:nvPr/>
        </p:nvSpPr>
        <p:spPr>
          <a:xfrm xmlns:a="http://schemas.openxmlformats.org/drawingml/2006/main">
            <a:off x="7072993" y="1562100"/>
            <a:ext cx="1230086"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APR 2026</a:t>
            </a:r>
          </a:p>
        </p:txBody>
      </p:sp>
      <p:sp>
        <p:nvSpPr>
          <p:cNvPr id="36" name="">
            <a:extLst xmlns:a="http://schemas.openxmlformats.org/drawingml/2006/main">
              <a:ext uri="{FF2B5EF4-FFF2-40B4-BE49-F238E27FC236}">
                <a16:creationId xmlns:a16="http://schemas.microsoft.com/office/drawing/2014/main" id="{6361D012-B157-46D1-8DD0-C3C60E0BBD08}"/>
              </a:ext>
            </a:extLst>
          </p:cNvPr>
          <p:cNvSpPr>
            <a:spLocks xmlns:a="http://schemas.openxmlformats.org/drawingml/2006/main" noGrp="1"/>
          </p:cNvSpPr>
          <p:nvPr/>
        </p:nvSpPr>
        <p:spPr>
          <a:xfrm xmlns:a="http://schemas.openxmlformats.org/drawingml/2006/main">
            <a:off x="7072993" y="1714500"/>
            <a:ext cx="1268186"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STRADVISION</a:t>
            </a:r>
          </a:p>
        </p:txBody>
      </p:sp>
      <p:sp>
        <p:nvSpPr>
          <p:cNvPr id="37" name="">
            <a:extLst xmlns:a="http://schemas.openxmlformats.org/drawingml/2006/main">
              <a:ext uri="{FF2B5EF4-FFF2-40B4-BE49-F238E27FC236}">
                <a16:creationId xmlns:a16="http://schemas.microsoft.com/office/drawing/2014/main" id="{0EC0D568-0ED0-4C68-B77C-5BD688E9ACFB}"/>
              </a:ext>
            </a:extLst>
          </p:cNvPr>
          <p:cNvSpPr>
            <a:spLocks xmlns:a="http://schemas.openxmlformats.org/drawingml/2006/main" noGrp="1"/>
          </p:cNvSpPr>
          <p:nvPr/>
        </p:nvSpPr>
        <p:spPr>
          <a:xfrm xmlns:a="http://schemas.openxmlformats.org/drawingml/2006/main">
            <a:off x="7072993" y="2057400"/>
            <a:ext cx="1268186"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Global CV OEM selects SVNet across India lineup</a:t>
            </a:r>
          </a:p>
        </p:txBody>
      </p:sp>
      <p:sp>
        <p:nvSpPr>
          <p:cNvPr id="38" name="">
            <a:extLst xmlns:a="http://schemas.openxmlformats.org/drawingml/2006/main">
              <a:ext uri="{FF2B5EF4-FFF2-40B4-BE49-F238E27FC236}">
                <a16:creationId xmlns:a16="http://schemas.microsoft.com/office/drawing/2014/main" id="{550C49A2-24FA-4D63-A6F0-9135AF68F76E}"/>
              </a:ext>
            </a:extLst>
          </p:cNvPr>
          <p:cNvSpPr>
            <a:spLocks xmlns:a="http://schemas.openxmlformats.org/drawingml/2006/main" noGrp="1"/>
          </p:cNvSpPr>
          <p:nvPr/>
        </p:nvSpPr>
        <p:spPr>
          <a:xfrm xmlns:a="http://schemas.openxmlformats.org/drawingml/2006/main">
            <a:off x="8531679" y="2638425"/>
            <a:ext cx="114300" cy="1143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E053B46-C71D-4CAD-83FD-30B40B721BB5}"/>
              </a:ext>
            </a:extLst>
          </p:cNvPr>
          <p:cNvSpPr>
            <a:spLocks xmlns:a="http://schemas.openxmlformats.org/drawingml/2006/main" noGrp="1"/>
          </p:cNvSpPr>
          <p:nvPr/>
        </p:nvSpPr>
        <p:spPr>
          <a:xfrm xmlns:a="http://schemas.openxmlformats.org/drawingml/2006/main">
            <a:off x="8588829" y="2914650"/>
            <a:ext cx="1401536" cy="11049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8826769A-CA5E-4A15-A424-DB4CB855A5C2}"/>
              </a:ext>
            </a:extLst>
          </p:cNvPr>
          <p:cNvSpPr>
            <a:spLocks xmlns:a="http://schemas.openxmlformats.org/drawingml/2006/main" noGrp="1"/>
          </p:cNvSpPr>
          <p:nvPr/>
        </p:nvSpPr>
        <p:spPr>
          <a:xfrm xmlns:a="http://schemas.openxmlformats.org/drawingml/2006/main">
            <a:off x="8588829" y="2914650"/>
            <a:ext cx="1401536"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A0033D9-C93F-45DF-8656-C6C13AF174DC}"/>
              </a:ext>
            </a:extLst>
          </p:cNvPr>
          <p:cNvSpPr>
            <a:spLocks xmlns:a="http://schemas.openxmlformats.org/drawingml/2006/main" noGrp="1"/>
          </p:cNvSpPr>
          <p:nvPr/>
        </p:nvSpPr>
        <p:spPr>
          <a:xfrm xmlns:a="http://schemas.openxmlformats.org/drawingml/2006/main">
            <a:off x="8684079" y="3009900"/>
            <a:ext cx="1230086"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MAY 2026</a:t>
            </a:r>
          </a:p>
        </p:txBody>
      </p:sp>
      <p:sp>
        <p:nvSpPr>
          <p:cNvPr id="42" name="">
            <a:extLst xmlns:a="http://schemas.openxmlformats.org/drawingml/2006/main">
              <a:ext uri="{FF2B5EF4-FFF2-40B4-BE49-F238E27FC236}">
                <a16:creationId xmlns:a16="http://schemas.microsoft.com/office/drawing/2014/main" id="{97AE4135-3BD9-483A-AFC7-5DBF84343964}"/>
              </a:ext>
            </a:extLst>
          </p:cNvPr>
          <p:cNvSpPr>
            <a:spLocks xmlns:a="http://schemas.openxmlformats.org/drawingml/2006/main" noGrp="1"/>
          </p:cNvSpPr>
          <p:nvPr/>
        </p:nvSpPr>
        <p:spPr>
          <a:xfrm xmlns:a="http://schemas.openxmlformats.org/drawingml/2006/main">
            <a:off x="8684079" y="3162300"/>
            <a:ext cx="1268186"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Netrasemi</a:t>
            </a:r>
          </a:p>
        </p:txBody>
      </p:sp>
      <p:sp>
        <p:nvSpPr>
          <p:cNvPr id="43" name="">
            <a:extLst xmlns:a="http://schemas.openxmlformats.org/drawingml/2006/main">
              <a:ext uri="{FF2B5EF4-FFF2-40B4-BE49-F238E27FC236}">
                <a16:creationId xmlns:a16="http://schemas.microsoft.com/office/drawing/2014/main" id="{C0770FFE-1230-48FF-8933-2BF37515E602}"/>
              </a:ext>
            </a:extLst>
          </p:cNvPr>
          <p:cNvSpPr>
            <a:spLocks xmlns:a="http://schemas.openxmlformats.org/drawingml/2006/main" noGrp="1"/>
          </p:cNvSpPr>
          <p:nvPr/>
        </p:nvSpPr>
        <p:spPr>
          <a:xfrm xmlns:a="http://schemas.openxmlformats.org/drawingml/2006/main">
            <a:off x="8684079" y="3505200"/>
            <a:ext cx="1268186"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A2000 production-ready; customer trials begin</a:t>
            </a:r>
          </a:p>
        </p:txBody>
      </p:sp>
      <p:sp>
        <p:nvSpPr>
          <p:cNvPr id="44" name="">
            <a:extLst xmlns:a="http://schemas.openxmlformats.org/drawingml/2006/main">
              <a:ext uri="{FF2B5EF4-FFF2-40B4-BE49-F238E27FC236}">
                <a16:creationId xmlns:a16="http://schemas.microsoft.com/office/drawing/2014/main" id="{B8944557-2B8C-4867-8A9E-2A02FCD1FB49}"/>
              </a:ext>
            </a:extLst>
          </p:cNvPr>
          <p:cNvSpPr>
            <a:spLocks xmlns:a="http://schemas.openxmlformats.org/drawingml/2006/main" noGrp="1"/>
          </p:cNvSpPr>
          <p:nvPr/>
        </p:nvSpPr>
        <p:spPr>
          <a:xfrm xmlns:a="http://schemas.openxmlformats.org/drawingml/2006/main">
            <a:off x="10142764" y="2638425"/>
            <a:ext cx="114300" cy="1143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8C4070AF-2A6B-4F07-9F25-9F2EF56CD792}"/>
              </a:ext>
            </a:extLst>
          </p:cNvPr>
          <p:cNvSpPr>
            <a:spLocks xmlns:a="http://schemas.openxmlformats.org/drawingml/2006/main" noGrp="1"/>
          </p:cNvSpPr>
          <p:nvPr/>
        </p:nvSpPr>
        <p:spPr>
          <a:xfrm xmlns:a="http://schemas.openxmlformats.org/drawingml/2006/main">
            <a:off x="10199914" y="1466850"/>
            <a:ext cx="1401536" cy="11049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6" name="">
            <a:extLst xmlns:a="http://schemas.openxmlformats.org/drawingml/2006/main">
              <a:ext uri="{FF2B5EF4-FFF2-40B4-BE49-F238E27FC236}">
                <a16:creationId xmlns:a16="http://schemas.microsoft.com/office/drawing/2014/main" id="{07753CB3-5B01-4190-8C9E-E96DFA7283D0}"/>
              </a:ext>
            </a:extLst>
          </p:cNvPr>
          <p:cNvSpPr>
            <a:spLocks xmlns:a="http://schemas.openxmlformats.org/drawingml/2006/main" noGrp="1"/>
          </p:cNvSpPr>
          <p:nvPr/>
        </p:nvSpPr>
        <p:spPr>
          <a:xfrm xmlns:a="http://schemas.openxmlformats.org/drawingml/2006/main">
            <a:off x="10199914" y="1466850"/>
            <a:ext cx="1401536"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1C3BF70A-BB02-4894-B352-377BD5C36939}"/>
              </a:ext>
            </a:extLst>
          </p:cNvPr>
          <p:cNvSpPr>
            <a:spLocks xmlns:a="http://schemas.openxmlformats.org/drawingml/2006/main" noGrp="1"/>
          </p:cNvSpPr>
          <p:nvPr/>
        </p:nvSpPr>
        <p:spPr>
          <a:xfrm xmlns:a="http://schemas.openxmlformats.org/drawingml/2006/main">
            <a:off x="10295164" y="1562100"/>
            <a:ext cx="1230086"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JUN 2026</a:t>
            </a:r>
          </a:p>
        </p:txBody>
      </p:sp>
      <p:sp>
        <p:nvSpPr>
          <p:cNvPr id="48" name="">
            <a:extLst xmlns:a="http://schemas.openxmlformats.org/drawingml/2006/main">
              <a:ext uri="{FF2B5EF4-FFF2-40B4-BE49-F238E27FC236}">
                <a16:creationId xmlns:a16="http://schemas.microsoft.com/office/drawing/2014/main" id="{512856D9-3F05-46FF-9503-A53EB3F5A718}"/>
              </a:ext>
            </a:extLst>
          </p:cNvPr>
          <p:cNvSpPr>
            <a:spLocks xmlns:a="http://schemas.openxmlformats.org/drawingml/2006/main" noGrp="1"/>
          </p:cNvSpPr>
          <p:nvPr/>
        </p:nvSpPr>
        <p:spPr>
          <a:xfrm xmlns:a="http://schemas.openxmlformats.org/drawingml/2006/main">
            <a:off x="10295164" y="1714500"/>
            <a:ext cx="1268186"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drivebuddyAI</a:t>
            </a:r>
          </a:p>
        </p:txBody>
      </p:sp>
      <p:sp>
        <p:nvSpPr>
          <p:cNvPr id="49" name="">
            <a:extLst xmlns:a="http://schemas.openxmlformats.org/drawingml/2006/main">
              <a:ext uri="{FF2B5EF4-FFF2-40B4-BE49-F238E27FC236}">
                <a16:creationId xmlns:a16="http://schemas.microsoft.com/office/drawing/2014/main" id="{4BE08A95-CA78-4B2C-A61F-AE05886F8AD8}"/>
              </a:ext>
            </a:extLst>
          </p:cNvPr>
          <p:cNvSpPr>
            <a:spLocks xmlns:a="http://schemas.openxmlformats.org/drawingml/2006/main" noGrp="1"/>
          </p:cNvSpPr>
          <p:nvPr/>
        </p:nvSpPr>
        <p:spPr>
          <a:xfrm xmlns:a="http://schemas.openxmlformats.org/drawingml/2006/main">
            <a:off x="10295164" y="2057400"/>
            <a:ext cx="1268186"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$5.3m / 3,600 e-buses and trucks incl. mining</a:t>
            </a:r>
          </a:p>
        </p:txBody>
      </p:sp>
      <p:sp>
        <p:nvSpPr>
          <p:cNvPr id="50" name="">
            <a:extLst xmlns:a="http://schemas.openxmlformats.org/drawingml/2006/main">
              <a:ext uri="{FF2B5EF4-FFF2-40B4-BE49-F238E27FC236}">
                <a16:creationId xmlns:a16="http://schemas.microsoft.com/office/drawing/2014/main" id="{628F559D-D04F-468E-B600-DF092FD46037}"/>
              </a:ext>
            </a:extLst>
          </p:cNvPr>
          <p:cNvSpPr>
            <a:spLocks xmlns:a="http://schemas.openxmlformats.org/drawingml/2006/main" noGrp="1"/>
          </p:cNvSpPr>
          <p:nvPr/>
        </p:nvSpPr>
        <p:spPr>
          <a:xfrm xmlns:a="http://schemas.openxmlformats.org/drawingml/2006/main">
            <a:off x="457200" y="4210050"/>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A7599EDA-6D1C-4EA1-A286-CCBC696E024B}"/>
              </a:ext>
            </a:extLst>
          </p:cNvPr>
          <p:cNvSpPr>
            <a:spLocks xmlns:a="http://schemas.openxmlformats.org/drawingml/2006/main" noGrp="1"/>
          </p:cNvSpPr>
          <p:nvPr/>
        </p:nvSpPr>
        <p:spPr>
          <a:xfrm xmlns:a="http://schemas.openxmlformats.org/drawingml/2006/main">
            <a:off x="457200" y="43243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WHAT THE SEQUENCE SAYS</a:t>
            </a:r>
          </a:p>
        </p:txBody>
      </p:sp>
      <p:sp>
        <p:nvSpPr>
          <p:cNvPr id="52" name="">
            <a:extLst xmlns:a="http://schemas.openxmlformats.org/drawingml/2006/main">
              <a:ext uri="{FF2B5EF4-FFF2-40B4-BE49-F238E27FC236}">
                <a16:creationId xmlns:a16="http://schemas.microsoft.com/office/drawing/2014/main" id="{04BEE902-DA98-4A7D-A15D-379F6C6359F5}"/>
              </a:ext>
            </a:extLst>
          </p:cNvPr>
          <p:cNvSpPr>
            <a:spLocks xmlns:a="http://schemas.openxmlformats.org/drawingml/2006/main" noGrp="1"/>
          </p:cNvSpPr>
          <p:nvPr/>
        </p:nvSpPr>
        <p:spPr>
          <a:xfrm xmlns:a="http://schemas.openxmlformats.org/drawingml/2006/main">
            <a:off x="457200" y="4495800"/>
            <a:ext cx="1127760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Two OEM line-fit wins landed inside five weeks (Dec 2025 – Jan 2026), and the most recent move is the one closest to DeepGrid’s nominated proof route — drivebuddyAI crossing into mining and public transport. The window in which DeepGrid is choosing a position is closing from both ends.</a:t>
            </a:r>
          </a:p>
        </p:txBody>
      </p:sp>
      <p:sp>
        <p:nvSpPr>
          <p:cNvPr id="53" name="">
            <a:extLst xmlns:a="http://schemas.openxmlformats.org/drawingml/2006/main">
              <a:ext uri="{FF2B5EF4-FFF2-40B4-BE49-F238E27FC236}">
                <a16:creationId xmlns:a16="http://schemas.microsoft.com/office/drawing/2014/main" id="{154CE700-8AF2-4931-9969-EFCB53F3860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3435BC2B-A274-4C74-B1C6-6E138756F0E7}"/>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5" name="">
            <a:extLst xmlns:a="http://schemas.openxmlformats.org/drawingml/2006/main">
              <a:ext uri="{FF2B5EF4-FFF2-40B4-BE49-F238E27FC236}">
                <a16:creationId xmlns:a16="http://schemas.microsoft.com/office/drawing/2014/main" id="{D10B3802-D901-457A-ABB2-0BBDE462C15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18</a:t>
            </a:r>
          </a:p>
        </p:txBody>
      </p:sp>
    </p:spTree>
    <p:extLst>
      <p:ext uri="{BB962C8B-B14F-4D97-AF65-F5344CB8AC3E}">
        <p14:creationId xmlns:p14="http://schemas.microsoft.com/office/powerpoint/2010/main" val="34882613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5F747C44-7044-450D-A7A1-A31E7B921C3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F854496-A4B2-46E2-9F3D-1BB70CDE784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9A4AF98-3BFF-40F6-891C-064B85EE347A}"/>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THE FIELD · AN UNRESOLVED QUESTION</a:t>
            </a:r>
          </a:p>
        </p:txBody>
      </p:sp>
      <p:sp>
        <p:nvSpPr>
          <p:cNvPr id="4" name="">
            <a:extLst xmlns:a="http://schemas.openxmlformats.org/drawingml/2006/main">
              <a:ext uri="{FF2B5EF4-FFF2-40B4-BE49-F238E27FC236}">
                <a16:creationId xmlns:a16="http://schemas.microsoft.com/office/drawing/2014/main" id="{28DE00EF-80E4-4AB4-905F-E81E2242B439}"/>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Aptiv's win and STRADVISION's win may be the same programme</a:t>
            </a:r>
          </a:p>
        </p:txBody>
      </p:sp>
      <p:sp>
        <p:nvSpPr>
          <p:cNvPr id="5" name="">
            <a:extLst xmlns:a="http://schemas.openxmlformats.org/drawingml/2006/main">
              <a:ext uri="{FF2B5EF4-FFF2-40B4-BE49-F238E27FC236}">
                <a16:creationId xmlns:a16="http://schemas.microsoft.com/office/drawing/2014/main" id="{C9F91EDC-4079-45FC-B184-CE67FF3807F1}"/>
              </a:ext>
            </a:extLst>
          </p:cNvPr>
          <p:cNvSpPr>
            <a:spLocks xmlns:a="http://schemas.openxmlformats.org/drawingml/2006/main" noGrp="1"/>
          </p:cNvSpPr>
          <p:nvPr/>
        </p:nvSpPr>
        <p:spPr>
          <a:xfrm xmlns:a="http://schemas.openxmlformats.org/drawingml/2006/main">
            <a:off x="457200" y="762000"/>
            <a:ext cx="11277600" cy="161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The dossier counts these as two competitive events. The evidence does not establish that they are.</a:t>
            </a:r>
          </a:p>
        </p:txBody>
      </p:sp>
      <p:sp>
        <p:nvSpPr>
          <p:cNvPr id="6" name="">
            <a:extLst xmlns:a="http://schemas.openxmlformats.org/drawingml/2006/main">
              <a:ext uri="{FF2B5EF4-FFF2-40B4-BE49-F238E27FC236}">
                <a16:creationId xmlns:a16="http://schemas.microsoft.com/office/drawing/2014/main" id="{3310C610-39B7-4C6A-8578-F7D7793F80B5}"/>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B6A1E89-6C75-49CC-A08D-D0420D5ADFD5}"/>
              </a:ext>
            </a:extLst>
          </p:cNvPr>
          <p:cNvSpPr>
            <a:spLocks xmlns:a="http://schemas.openxmlformats.org/drawingml/2006/main" noGrp="1"/>
          </p:cNvSpPr>
          <p:nvPr/>
        </p:nvSpPr>
        <p:spPr>
          <a:xfrm xmlns:a="http://schemas.openxmlformats.org/drawingml/2006/main">
            <a:off x="457200" y="1095375"/>
            <a:ext cx="5353050" cy="22479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9B09933B-0D0E-46B1-B7B9-14B92CD49168}"/>
              </a:ext>
            </a:extLst>
          </p:cNvPr>
          <p:cNvSpPr>
            <a:spLocks xmlns:a="http://schemas.openxmlformats.org/drawingml/2006/main" noGrp="1"/>
          </p:cNvSpPr>
          <p:nvPr/>
        </p:nvSpPr>
        <p:spPr>
          <a:xfrm xmlns:a="http://schemas.openxmlformats.org/drawingml/2006/main">
            <a:off x="457200" y="1095375"/>
            <a:ext cx="535305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BAFCCF7-B5B3-4334-947E-09FC22C76428}"/>
              </a:ext>
            </a:extLst>
          </p:cNvPr>
          <p:cNvSpPr>
            <a:spLocks xmlns:a="http://schemas.openxmlformats.org/drawingml/2006/main" noGrp="1"/>
          </p:cNvSpPr>
          <p:nvPr/>
        </p:nvSpPr>
        <p:spPr>
          <a:xfrm xmlns:a="http://schemas.openxmlformats.org/drawingml/2006/main">
            <a:off x="609600" y="1228725"/>
            <a:ext cx="50482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Georgia"/>
                <a:ea typeface="Georgia"/>
                <a:cs typeface="Georgia"/>
              </a:defRPr>
            </a:pPr>
            <a:r>
              <a:t>Aptiv, 6 Jan 2026</a:t>
            </a:r>
          </a:p>
        </p:txBody>
      </p:sp>
      <p:sp>
        <p:nvSpPr>
          <p:cNvPr id="10" name="">
            <a:extLst xmlns:a="http://schemas.openxmlformats.org/drawingml/2006/main">
              <a:ext uri="{FF2B5EF4-FFF2-40B4-BE49-F238E27FC236}">
                <a16:creationId xmlns:a16="http://schemas.microsoft.com/office/drawing/2014/main" id="{4D4138B8-E79D-4455-93D3-1155F4C92FAE}"/>
              </a:ext>
            </a:extLst>
          </p:cNvPr>
          <p:cNvSpPr>
            <a:spLocks xmlns:a="http://schemas.openxmlformats.org/drawingml/2006/main" noGrp="1"/>
          </p:cNvSpPr>
          <p:nvPr/>
        </p:nvSpPr>
        <p:spPr>
          <a:xfrm xmlns:a="http://schemas.openxmlformats.org/drawingml/2006/main">
            <a:off x="609600" y="1514475"/>
            <a:ext cx="10477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COUNTERPARTY</a:t>
            </a:r>
          </a:p>
        </p:txBody>
      </p:sp>
      <p:sp>
        <p:nvSpPr>
          <p:cNvPr id="11" name="">
            <a:extLst xmlns:a="http://schemas.openxmlformats.org/drawingml/2006/main">
              <a:ext uri="{FF2B5EF4-FFF2-40B4-BE49-F238E27FC236}">
                <a16:creationId xmlns:a16="http://schemas.microsoft.com/office/drawing/2014/main" id="{AE4C06D1-0C72-49AD-BA2E-5835F4F99C88}"/>
              </a:ext>
            </a:extLst>
          </p:cNvPr>
          <p:cNvSpPr>
            <a:spLocks xmlns:a="http://schemas.openxmlformats.org/drawingml/2006/main" noGrp="1"/>
          </p:cNvSpPr>
          <p:nvPr/>
        </p:nvSpPr>
        <p:spPr>
          <a:xfrm xmlns:a="http://schemas.openxmlformats.org/drawingml/2006/main">
            <a:off x="1714500" y="1495425"/>
            <a:ext cx="39433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 leading commercial vehicle OEM" — unnamed</a:t>
            </a:r>
          </a:p>
        </p:txBody>
      </p:sp>
      <p:sp>
        <p:nvSpPr>
          <p:cNvPr id="12" name="">
            <a:extLst xmlns:a="http://schemas.openxmlformats.org/drawingml/2006/main">
              <a:ext uri="{FF2B5EF4-FFF2-40B4-BE49-F238E27FC236}">
                <a16:creationId xmlns:a16="http://schemas.microsoft.com/office/drawing/2014/main" id="{ADD3F076-9EB0-4085-9327-06475A4BB832}"/>
              </a:ext>
            </a:extLst>
          </p:cNvPr>
          <p:cNvSpPr>
            <a:spLocks xmlns:a="http://schemas.openxmlformats.org/drawingml/2006/main" noGrp="1"/>
          </p:cNvSpPr>
          <p:nvPr/>
        </p:nvSpPr>
        <p:spPr>
          <a:xfrm xmlns:a="http://schemas.openxmlformats.org/drawingml/2006/main">
            <a:off x="609600" y="1933575"/>
            <a:ext cx="10477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SCOPE</a:t>
            </a:r>
          </a:p>
        </p:txBody>
      </p:sp>
      <p:sp>
        <p:nvSpPr>
          <p:cNvPr id="13" name="">
            <a:extLst xmlns:a="http://schemas.openxmlformats.org/drawingml/2006/main">
              <a:ext uri="{FF2B5EF4-FFF2-40B4-BE49-F238E27FC236}">
                <a16:creationId xmlns:a16="http://schemas.microsoft.com/office/drawing/2014/main" id="{8D7F5061-DE5F-43B8-92DD-82625E5FFDCE}"/>
              </a:ext>
            </a:extLst>
          </p:cNvPr>
          <p:cNvSpPr>
            <a:spLocks xmlns:a="http://schemas.openxmlformats.org/drawingml/2006/main" noGrp="1"/>
          </p:cNvSpPr>
          <p:nvPr/>
        </p:nvSpPr>
        <p:spPr>
          <a:xfrm xmlns:a="http://schemas.openxmlformats.org/drawingml/2006/main">
            <a:off x="1714500" y="1914525"/>
            <a:ext cx="39433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Gen 6 ADAS for future trucks and buses in India</a:t>
            </a:r>
          </a:p>
        </p:txBody>
      </p:sp>
      <p:sp>
        <p:nvSpPr>
          <p:cNvPr id="14" name="">
            <a:extLst xmlns:a="http://schemas.openxmlformats.org/drawingml/2006/main">
              <a:ext uri="{FF2B5EF4-FFF2-40B4-BE49-F238E27FC236}">
                <a16:creationId xmlns:a16="http://schemas.microsoft.com/office/drawing/2014/main" id="{C0088BEA-D657-4F74-9605-E712DCDFA312}"/>
              </a:ext>
            </a:extLst>
          </p:cNvPr>
          <p:cNvSpPr>
            <a:spLocks xmlns:a="http://schemas.openxmlformats.org/drawingml/2006/main" noGrp="1"/>
          </p:cNvSpPr>
          <p:nvPr/>
        </p:nvSpPr>
        <p:spPr>
          <a:xfrm xmlns:a="http://schemas.openxmlformats.org/drawingml/2006/main">
            <a:off x="609600" y="2352675"/>
            <a:ext cx="10477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PROGRAMME</a:t>
            </a:r>
          </a:p>
        </p:txBody>
      </p:sp>
      <p:sp>
        <p:nvSpPr>
          <p:cNvPr id="15" name="">
            <a:extLst xmlns:a="http://schemas.openxmlformats.org/drawingml/2006/main">
              <a:ext uri="{FF2B5EF4-FFF2-40B4-BE49-F238E27FC236}">
                <a16:creationId xmlns:a16="http://schemas.microsoft.com/office/drawing/2014/main" id="{9944B914-7DAD-470D-83D7-A6636C15FE3B}"/>
              </a:ext>
            </a:extLst>
          </p:cNvPr>
          <p:cNvSpPr>
            <a:spLocks xmlns:a="http://schemas.openxmlformats.org/drawingml/2006/main" noGrp="1"/>
          </p:cNvSpPr>
          <p:nvPr/>
        </p:nvSpPr>
        <p:spPr>
          <a:xfrm xmlns:a="http://schemas.openxmlformats.org/drawingml/2006/main">
            <a:off x="1714500" y="2333625"/>
            <a:ext cx="39433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14 models, 30+ variants</a:t>
            </a:r>
          </a:p>
        </p:txBody>
      </p:sp>
      <p:sp>
        <p:nvSpPr>
          <p:cNvPr id="16" name="">
            <a:extLst xmlns:a="http://schemas.openxmlformats.org/drawingml/2006/main">
              <a:ext uri="{FF2B5EF4-FFF2-40B4-BE49-F238E27FC236}">
                <a16:creationId xmlns:a16="http://schemas.microsoft.com/office/drawing/2014/main" id="{EC6C06C1-0B53-4ADA-B541-AA86845A19D6}"/>
              </a:ext>
            </a:extLst>
          </p:cNvPr>
          <p:cNvSpPr>
            <a:spLocks xmlns:a="http://schemas.openxmlformats.org/drawingml/2006/main" noGrp="1"/>
          </p:cNvSpPr>
          <p:nvPr/>
        </p:nvSpPr>
        <p:spPr>
          <a:xfrm xmlns:a="http://schemas.openxmlformats.org/drawingml/2006/main">
            <a:off x="609600" y="2771775"/>
            <a:ext cx="10477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PERCEPTION</a:t>
            </a:r>
          </a:p>
        </p:txBody>
      </p:sp>
      <p:sp>
        <p:nvSpPr>
          <p:cNvPr id="17" name="">
            <a:extLst xmlns:a="http://schemas.openxmlformats.org/drawingml/2006/main">
              <a:ext uri="{FF2B5EF4-FFF2-40B4-BE49-F238E27FC236}">
                <a16:creationId xmlns:a16="http://schemas.microsoft.com/office/drawing/2014/main" id="{774DCFBA-ABB4-43F4-81F9-1ECCF5959AC2}"/>
              </a:ext>
            </a:extLst>
          </p:cNvPr>
          <p:cNvSpPr>
            <a:spLocks xmlns:a="http://schemas.openxmlformats.org/drawingml/2006/main" noGrp="1"/>
          </p:cNvSpPr>
          <p:nvPr/>
        </p:nvSpPr>
        <p:spPr>
          <a:xfrm xmlns:a="http://schemas.openxmlformats.org/drawingml/2006/main">
            <a:off x="1714500" y="2752725"/>
            <a:ext cx="39433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Gen 7 smart camera featuring STRADVISION's AI vision</a:t>
            </a:r>
          </a:p>
        </p:txBody>
      </p:sp>
      <p:sp>
        <p:nvSpPr>
          <p:cNvPr id="18" name="">
            <a:extLst xmlns:a="http://schemas.openxmlformats.org/drawingml/2006/main">
              <a:ext uri="{FF2B5EF4-FFF2-40B4-BE49-F238E27FC236}">
                <a16:creationId xmlns:a16="http://schemas.microsoft.com/office/drawing/2014/main" id="{F9C770FE-C589-446F-8161-0A54C03317AE}"/>
              </a:ext>
            </a:extLst>
          </p:cNvPr>
          <p:cNvSpPr>
            <a:spLocks xmlns:a="http://schemas.openxmlformats.org/drawingml/2006/main" noGrp="1"/>
          </p:cNvSpPr>
          <p:nvPr/>
        </p:nvSpPr>
        <p:spPr>
          <a:xfrm xmlns:a="http://schemas.openxmlformats.org/drawingml/2006/main">
            <a:off x="609600" y="3171825"/>
            <a:ext cx="5048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EV-APT-01, EV-APT-02</a:t>
            </a:r>
          </a:p>
        </p:txBody>
      </p:sp>
      <p:sp>
        <p:nvSpPr>
          <p:cNvPr id="19" name="">
            <a:extLst xmlns:a="http://schemas.openxmlformats.org/drawingml/2006/main">
              <a:ext uri="{FF2B5EF4-FFF2-40B4-BE49-F238E27FC236}">
                <a16:creationId xmlns:a16="http://schemas.microsoft.com/office/drawing/2014/main" id="{3CF37509-F5A2-44DA-9A2E-5CAF46D37C8B}"/>
              </a:ext>
            </a:extLst>
          </p:cNvPr>
          <p:cNvSpPr>
            <a:spLocks xmlns:a="http://schemas.openxmlformats.org/drawingml/2006/main" noGrp="1"/>
          </p:cNvSpPr>
          <p:nvPr/>
        </p:nvSpPr>
        <p:spPr>
          <a:xfrm xmlns:a="http://schemas.openxmlformats.org/drawingml/2006/main">
            <a:off x="6381750" y="1095375"/>
            <a:ext cx="5353050" cy="22479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0" name="">
            <a:extLst xmlns:a="http://schemas.openxmlformats.org/drawingml/2006/main">
              <a:ext uri="{FF2B5EF4-FFF2-40B4-BE49-F238E27FC236}">
                <a16:creationId xmlns:a16="http://schemas.microsoft.com/office/drawing/2014/main" id="{0D63B70D-90A7-4305-94E6-31A99A1AE76D}"/>
              </a:ext>
            </a:extLst>
          </p:cNvPr>
          <p:cNvSpPr>
            <a:spLocks xmlns:a="http://schemas.openxmlformats.org/drawingml/2006/main" noGrp="1"/>
          </p:cNvSpPr>
          <p:nvPr/>
        </p:nvSpPr>
        <p:spPr>
          <a:xfrm xmlns:a="http://schemas.openxmlformats.org/drawingml/2006/main">
            <a:off x="6381750" y="1095375"/>
            <a:ext cx="535305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1F99C3F-9894-4F59-B99A-5F80DEEC7E53}"/>
              </a:ext>
            </a:extLst>
          </p:cNvPr>
          <p:cNvSpPr>
            <a:spLocks xmlns:a="http://schemas.openxmlformats.org/drawingml/2006/main" noGrp="1"/>
          </p:cNvSpPr>
          <p:nvPr/>
        </p:nvSpPr>
        <p:spPr>
          <a:xfrm xmlns:a="http://schemas.openxmlformats.org/drawingml/2006/main">
            <a:off x="6534150" y="1228725"/>
            <a:ext cx="50482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Georgia"/>
                <a:ea typeface="Georgia"/>
                <a:cs typeface="Georgia"/>
              </a:defRPr>
            </a:pPr>
            <a:r>
              <a:t>STRADVISION, 16 Apr 2026</a:t>
            </a:r>
          </a:p>
        </p:txBody>
      </p:sp>
      <p:sp>
        <p:nvSpPr>
          <p:cNvPr id="22" name="">
            <a:extLst xmlns:a="http://schemas.openxmlformats.org/drawingml/2006/main">
              <a:ext uri="{FF2B5EF4-FFF2-40B4-BE49-F238E27FC236}">
                <a16:creationId xmlns:a16="http://schemas.microsoft.com/office/drawing/2014/main" id="{5ECBF44E-107C-4267-858E-E85D37933CF3}"/>
              </a:ext>
            </a:extLst>
          </p:cNvPr>
          <p:cNvSpPr>
            <a:spLocks xmlns:a="http://schemas.openxmlformats.org/drawingml/2006/main" noGrp="1"/>
          </p:cNvSpPr>
          <p:nvPr/>
        </p:nvSpPr>
        <p:spPr>
          <a:xfrm xmlns:a="http://schemas.openxmlformats.org/drawingml/2006/main">
            <a:off x="6534150" y="1514475"/>
            <a:ext cx="10477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COUNTERPARTY</a:t>
            </a:r>
          </a:p>
        </p:txBody>
      </p:sp>
      <p:sp>
        <p:nvSpPr>
          <p:cNvPr id="23" name="">
            <a:extLst xmlns:a="http://schemas.openxmlformats.org/drawingml/2006/main">
              <a:ext uri="{FF2B5EF4-FFF2-40B4-BE49-F238E27FC236}">
                <a16:creationId xmlns:a16="http://schemas.microsoft.com/office/drawing/2014/main" id="{A055868E-C80A-4788-89A1-F0A7625BD9B4}"/>
              </a:ext>
            </a:extLst>
          </p:cNvPr>
          <p:cNvSpPr>
            <a:spLocks xmlns:a="http://schemas.openxmlformats.org/drawingml/2006/main" noGrp="1"/>
          </p:cNvSpPr>
          <p:nvPr/>
        </p:nvSpPr>
        <p:spPr>
          <a:xfrm xmlns:a="http://schemas.openxmlformats.org/drawingml/2006/main">
            <a:off x="7639050" y="1495425"/>
            <a:ext cx="39433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 global commercial vehicle OEM" — unnamed</a:t>
            </a:r>
          </a:p>
        </p:txBody>
      </p:sp>
      <p:sp>
        <p:nvSpPr>
          <p:cNvPr id="24" name="">
            <a:extLst xmlns:a="http://schemas.openxmlformats.org/drawingml/2006/main">
              <a:ext uri="{FF2B5EF4-FFF2-40B4-BE49-F238E27FC236}">
                <a16:creationId xmlns:a16="http://schemas.microsoft.com/office/drawing/2014/main" id="{E15C8B68-57EC-42BA-AEA7-6E15F4A912F1}"/>
              </a:ext>
            </a:extLst>
          </p:cNvPr>
          <p:cNvSpPr>
            <a:spLocks xmlns:a="http://schemas.openxmlformats.org/drawingml/2006/main" noGrp="1"/>
          </p:cNvSpPr>
          <p:nvPr/>
        </p:nvSpPr>
        <p:spPr>
          <a:xfrm xmlns:a="http://schemas.openxmlformats.org/drawingml/2006/main">
            <a:off x="6534150" y="1933575"/>
            <a:ext cx="10477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SCOPE</a:t>
            </a:r>
          </a:p>
        </p:txBody>
      </p:sp>
      <p:sp>
        <p:nvSpPr>
          <p:cNvPr id="25" name="">
            <a:extLst xmlns:a="http://schemas.openxmlformats.org/drawingml/2006/main">
              <a:ext uri="{FF2B5EF4-FFF2-40B4-BE49-F238E27FC236}">
                <a16:creationId xmlns:a16="http://schemas.microsoft.com/office/drawing/2014/main" id="{DD931B5E-0D3B-4DD6-8A29-38CF392AB60D}"/>
              </a:ext>
            </a:extLst>
          </p:cNvPr>
          <p:cNvSpPr>
            <a:spLocks xmlns:a="http://schemas.openxmlformats.org/drawingml/2006/main" noGrp="1"/>
          </p:cNvSpPr>
          <p:nvPr/>
        </p:nvSpPr>
        <p:spPr>
          <a:xfrm xmlns:a="http://schemas.openxmlformats.org/drawingml/2006/main">
            <a:off x="7639050" y="1914525"/>
            <a:ext cx="39433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SVNet across its India vehicle lineup</a:t>
            </a:r>
          </a:p>
        </p:txBody>
      </p:sp>
      <p:sp>
        <p:nvSpPr>
          <p:cNvPr id="26" name="">
            <a:extLst xmlns:a="http://schemas.openxmlformats.org/drawingml/2006/main">
              <a:ext uri="{FF2B5EF4-FFF2-40B4-BE49-F238E27FC236}">
                <a16:creationId xmlns:a16="http://schemas.microsoft.com/office/drawing/2014/main" id="{2469A473-C189-4F8F-8AED-D49B02E00858}"/>
              </a:ext>
            </a:extLst>
          </p:cNvPr>
          <p:cNvSpPr>
            <a:spLocks xmlns:a="http://schemas.openxmlformats.org/drawingml/2006/main" noGrp="1"/>
          </p:cNvSpPr>
          <p:nvPr/>
        </p:nvSpPr>
        <p:spPr>
          <a:xfrm xmlns:a="http://schemas.openxmlformats.org/drawingml/2006/main">
            <a:off x="6534150" y="2352675"/>
            <a:ext cx="10477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PROGRAMME</a:t>
            </a:r>
          </a:p>
        </p:txBody>
      </p:sp>
      <p:sp>
        <p:nvSpPr>
          <p:cNvPr id="27" name="">
            <a:extLst xmlns:a="http://schemas.openxmlformats.org/drawingml/2006/main">
              <a:ext uri="{FF2B5EF4-FFF2-40B4-BE49-F238E27FC236}">
                <a16:creationId xmlns:a16="http://schemas.microsoft.com/office/drawing/2014/main" id="{8DB3D2AA-8D22-414C-8C5C-6FC4D599648D}"/>
              </a:ext>
            </a:extLst>
          </p:cNvPr>
          <p:cNvSpPr>
            <a:spLocks xmlns:a="http://schemas.openxmlformats.org/drawingml/2006/main" noGrp="1"/>
          </p:cNvSpPr>
          <p:nvPr/>
        </p:nvSpPr>
        <p:spPr>
          <a:xfrm xmlns:a="http://schemas.openxmlformats.org/drawingml/2006/main">
            <a:off x="7639050" y="2333625"/>
            <a:ext cx="39433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structured for deployment across multiple vehicle models</a:t>
            </a:r>
          </a:p>
        </p:txBody>
      </p:sp>
      <p:sp>
        <p:nvSpPr>
          <p:cNvPr id="28" name="">
            <a:extLst xmlns:a="http://schemas.openxmlformats.org/drawingml/2006/main">
              <a:ext uri="{FF2B5EF4-FFF2-40B4-BE49-F238E27FC236}">
                <a16:creationId xmlns:a16="http://schemas.microsoft.com/office/drawing/2014/main" id="{BCDA2A47-F1B7-4C97-BD94-DD710685AC03}"/>
              </a:ext>
            </a:extLst>
          </p:cNvPr>
          <p:cNvSpPr>
            <a:spLocks xmlns:a="http://schemas.openxmlformats.org/drawingml/2006/main" noGrp="1"/>
          </p:cNvSpPr>
          <p:nvPr/>
        </p:nvSpPr>
        <p:spPr>
          <a:xfrm xmlns:a="http://schemas.openxmlformats.org/drawingml/2006/main">
            <a:off x="6534150" y="2771775"/>
            <a:ext cx="10477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PERCEPTION</a:t>
            </a:r>
          </a:p>
        </p:txBody>
      </p:sp>
      <p:sp>
        <p:nvSpPr>
          <p:cNvPr id="29" name="">
            <a:extLst xmlns:a="http://schemas.openxmlformats.org/drawingml/2006/main">
              <a:ext uri="{FF2B5EF4-FFF2-40B4-BE49-F238E27FC236}">
                <a16:creationId xmlns:a16="http://schemas.microsoft.com/office/drawing/2014/main" id="{02B13FED-9248-4AE8-9950-511D60CB29A1}"/>
              </a:ext>
            </a:extLst>
          </p:cNvPr>
          <p:cNvSpPr>
            <a:spLocks xmlns:a="http://schemas.openxmlformats.org/drawingml/2006/main" noGrp="1"/>
          </p:cNvSpPr>
          <p:nvPr/>
        </p:nvSpPr>
        <p:spPr>
          <a:xfrm xmlns:a="http://schemas.openxmlformats.org/drawingml/2006/main">
            <a:off x="7639050" y="2752725"/>
            <a:ext cx="39433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SVNet — the software inside Aptiv's camera</a:t>
            </a:r>
          </a:p>
        </p:txBody>
      </p:sp>
      <p:sp>
        <p:nvSpPr>
          <p:cNvPr id="30" name="">
            <a:extLst xmlns:a="http://schemas.openxmlformats.org/drawingml/2006/main">
              <a:ext uri="{FF2B5EF4-FFF2-40B4-BE49-F238E27FC236}">
                <a16:creationId xmlns:a16="http://schemas.microsoft.com/office/drawing/2014/main" id="{FF7CC1F3-8A76-4AAF-9CE9-665D06E9A1B9}"/>
              </a:ext>
            </a:extLst>
          </p:cNvPr>
          <p:cNvSpPr>
            <a:spLocks xmlns:a="http://schemas.openxmlformats.org/drawingml/2006/main" noGrp="1"/>
          </p:cNvSpPr>
          <p:nvPr/>
        </p:nvSpPr>
        <p:spPr>
          <a:xfrm xmlns:a="http://schemas.openxmlformats.org/drawingml/2006/main">
            <a:off x="6534150" y="3171825"/>
            <a:ext cx="5048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EV-SV-01</a:t>
            </a:r>
          </a:p>
        </p:txBody>
      </p:sp>
      <p:sp>
        <p:nvSpPr>
          <p:cNvPr id="31" name="">
            <a:extLst xmlns:a="http://schemas.openxmlformats.org/drawingml/2006/main">
              <a:ext uri="{FF2B5EF4-FFF2-40B4-BE49-F238E27FC236}">
                <a16:creationId xmlns:a16="http://schemas.microsoft.com/office/drawing/2014/main" id="{8EC4863E-CF55-473E-A0EA-44CC9355A24C}"/>
              </a:ext>
            </a:extLst>
          </p:cNvPr>
          <p:cNvSpPr>
            <a:spLocks xmlns:a="http://schemas.openxmlformats.org/drawingml/2006/main" noGrp="1"/>
          </p:cNvSpPr>
          <p:nvPr/>
        </p:nvSpPr>
        <p:spPr>
          <a:xfrm xmlns:a="http://schemas.openxmlformats.org/drawingml/2006/main">
            <a:off x="5867400" y="1762125"/>
            <a:ext cx="457200" cy="457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639FA5D-569F-4793-90D9-657C44FFB8E2}"/>
              </a:ext>
            </a:extLst>
          </p:cNvPr>
          <p:cNvSpPr>
            <a:spLocks xmlns:a="http://schemas.openxmlformats.org/drawingml/2006/main" noGrp="1"/>
          </p:cNvSpPr>
          <p:nvPr/>
        </p:nvSpPr>
        <p:spPr>
          <a:xfrm xmlns:a="http://schemas.openxmlformats.org/drawingml/2006/main">
            <a:off x="5905500" y="1924050"/>
            <a:ext cx="381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00" b="1">
                <a:solidFill>
                  <a:srgbClr val="081525"/>
                </a:solidFill>
                <a:latin typeface="Arial"/>
                <a:ea typeface="Arial"/>
                <a:cs typeface="Arial"/>
              </a:defRPr>
            </a:pPr>
            <a:r>
              <a:t>SAME?</a:t>
            </a:r>
          </a:p>
        </p:txBody>
      </p:sp>
      <p:sp>
        <p:nvSpPr>
          <p:cNvPr id="33" name="">
            <a:extLst xmlns:a="http://schemas.openxmlformats.org/drawingml/2006/main">
              <a:ext uri="{FF2B5EF4-FFF2-40B4-BE49-F238E27FC236}">
                <a16:creationId xmlns:a16="http://schemas.microsoft.com/office/drawing/2014/main" id="{5E6827D1-2BB3-4FA0-BBD2-25A422C95810}"/>
              </a:ext>
            </a:extLst>
          </p:cNvPr>
          <p:cNvSpPr>
            <a:spLocks xmlns:a="http://schemas.openxmlformats.org/drawingml/2006/main" noGrp="1"/>
          </p:cNvSpPr>
          <p:nvPr/>
        </p:nvSpPr>
        <p:spPr>
          <a:xfrm xmlns:a="http://schemas.openxmlformats.org/drawingml/2006/main">
            <a:off x="457200" y="3514725"/>
            <a:ext cx="11277600" cy="285750"/>
          </a:xfrm>
          <a:prstGeom xmlns:a="http://schemas.openxmlformats.org/drawingml/2006/main" prst="rect">
            <a:avLst/>
          </a:prstGeom>
          <a:solidFill xmlns:a="http://schemas.openxmlformats.org/drawingml/2006/main">
            <a:srgbClr val="2A1A1A"/>
          </a:solidFill>
          <a:ln xmlns:a="http://schemas.openxmlformats.org/drawingml/2006/main" w="9525">
            <a:solidFill>
              <a:srgbClr val="E06767"/>
            </a:solidFill>
            <a:prstDash val="solid"/>
          </a:ln>
        </p:spPr>
      </p:sp>
      <p:sp>
        <p:nvSpPr>
          <p:cNvPr id="34" name="">
            <a:extLst xmlns:a="http://schemas.openxmlformats.org/drawingml/2006/main">
              <a:ext uri="{FF2B5EF4-FFF2-40B4-BE49-F238E27FC236}">
                <a16:creationId xmlns:a16="http://schemas.microsoft.com/office/drawing/2014/main" id="{6975667F-2A95-4165-A19D-D664AD7ADBF0}"/>
              </a:ext>
            </a:extLst>
          </p:cNvPr>
          <p:cNvSpPr>
            <a:spLocks xmlns:a="http://schemas.openxmlformats.org/drawingml/2006/main" noGrp="1"/>
          </p:cNvSpPr>
          <p:nvPr/>
        </p:nvSpPr>
        <p:spPr>
          <a:xfrm xmlns:a="http://schemas.openxmlformats.org/drawingml/2006/main">
            <a:off x="609600" y="3590925"/>
            <a:ext cx="1097280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E06767"/>
                </a:solidFill>
                <a:latin typeface="Arial"/>
                <a:ea typeface="Arial"/>
                <a:cs typeface="Arial"/>
              </a:defRPr>
            </a:pPr>
            <a:r>
              <a:t>UNRESOLVED — DO NOT MERGE, DO NOT DOUBLE-COUNT</a:t>
            </a:r>
          </a:p>
        </p:txBody>
      </p:sp>
      <p:sp>
        <p:nvSpPr>
          <p:cNvPr id="35" name="">
            <a:extLst xmlns:a="http://schemas.openxmlformats.org/drawingml/2006/main">
              <a:ext uri="{FF2B5EF4-FFF2-40B4-BE49-F238E27FC236}">
                <a16:creationId xmlns:a16="http://schemas.microsoft.com/office/drawing/2014/main" id="{6DD038B4-999E-4FAB-8D46-82752B2F47BF}"/>
              </a:ext>
            </a:extLst>
          </p:cNvPr>
          <p:cNvSpPr>
            <a:spLocks xmlns:a="http://schemas.openxmlformats.org/drawingml/2006/main" noGrp="1"/>
          </p:cNvSpPr>
          <p:nvPr/>
        </p:nvSpPr>
        <p:spPr>
          <a:xfrm xmlns:a="http://schemas.openxmlformats.org/drawingml/2006/main">
            <a:off x="457200" y="391477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416D204-E99F-493A-9FCB-11989DAAADBA}"/>
              </a:ext>
            </a:extLst>
          </p:cNvPr>
          <p:cNvSpPr>
            <a:spLocks xmlns:a="http://schemas.openxmlformats.org/drawingml/2006/main" noGrp="1"/>
          </p:cNvSpPr>
          <p:nvPr/>
        </p:nvSpPr>
        <p:spPr>
          <a:xfrm xmlns:a="http://schemas.openxmlformats.org/drawingml/2006/main">
            <a:off x="457200" y="4029075"/>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IT MATTERS EITHER WAY</a:t>
            </a:r>
          </a:p>
        </p:txBody>
      </p:sp>
      <p:sp>
        <p:nvSpPr>
          <p:cNvPr id="37" name="">
            <a:extLst xmlns:a="http://schemas.openxmlformats.org/drawingml/2006/main">
              <a:ext uri="{FF2B5EF4-FFF2-40B4-BE49-F238E27FC236}">
                <a16:creationId xmlns:a16="http://schemas.microsoft.com/office/drawing/2014/main" id="{EF6B3E69-5C68-4F2B-AC93-6A7F89D5E022}"/>
              </a:ext>
            </a:extLst>
          </p:cNvPr>
          <p:cNvSpPr>
            <a:spLocks xmlns:a="http://schemas.openxmlformats.org/drawingml/2006/main" noGrp="1"/>
          </p:cNvSpPr>
          <p:nvPr/>
        </p:nvSpPr>
        <p:spPr>
          <a:xfrm xmlns:a="http://schemas.openxmlformats.org/drawingml/2006/main">
            <a:off x="457200" y="4200525"/>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If it is one programme, the field has one Indian CV line-fit win between Aptiv and STRADVISION, not two, and the dossier overstates the pace of competitive capture. If it is two, then STRADVISION is selling into India independently of Aptiv as well as inside it, which makes it a broader threat than the profile allows. Both readings change a rating. Neither is established, and the honest move is to carry the question rather than pick the flattering answer.</a:t>
            </a:r>
          </a:p>
        </p:txBody>
      </p:sp>
      <p:sp>
        <p:nvSpPr>
          <p:cNvPr id="38" name="">
            <a:extLst xmlns:a="http://schemas.openxmlformats.org/drawingml/2006/main">
              <a:ext uri="{FF2B5EF4-FFF2-40B4-BE49-F238E27FC236}">
                <a16:creationId xmlns:a16="http://schemas.microsoft.com/office/drawing/2014/main" id="{D701944A-8CC8-4CEB-A398-92A73BDC981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21601CC-27F3-4719-B72D-6D198B27D466}"/>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0" name="">
            <a:extLst xmlns:a="http://schemas.openxmlformats.org/drawingml/2006/main">
              <a:ext uri="{FF2B5EF4-FFF2-40B4-BE49-F238E27FC236}">
                <a16:creationId xmlns:a16="http://schemas.microsoft.com/office/drawing/2014/main" id="{6EA976EB-8CB1-405E-A5D1-2886B7AE391D}"/>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19</a:t>
            </a:r>
          </a:p>
        </p:txBody>
      </p:sp>
    </p:spTree>
    <p:extLst>
      <p:ext uri="{BB962C8B-B14F-4D97-AF65-F5344CB8AC3E}">
        <p14:creationId xmlns:p14="http://schemas.microsoft.com/office/powerpoint/2010/main" val="50950485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F63B4F91-303C-4818-AEE3-FC3CBE8D25A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07E5485-BE70-411A-9AB8-B799295E9937}"/>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1ACE239-596F-4C05-81A8-872DD91812E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FA82F650-DB98-4029-817F-1D353A0F7FF1}"/>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8494306D-FF3F-49F3-B0C5-2F9E2D5C47CA}"/>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Four arenas create different purchase routes and control points</a:t>
            </a:r>
          </a:p>
        </p:txBody>
      </p:sp>
      <p:sp>
        <p:nvSpPr>
          <p:cNvPr id="6" name="">
            <a:extLst xmlns:a="http://schemas.openxmlformats.org/drawingml/2006/main">
              <a:ext uri="{FF2B5EF4-FFF2-40B4-BE49-F238E27FC236}">
                <a16:creationId xmlns:a16="http://schemas.microsoft.com/office/drawing/2014/main" id="{FF6086F7-27F5-444C-B645-D5C501DB7A10}"/>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804A05A-D0E1-41CF-94A5-E3326C1D1C28}"/>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Does the market architecture identify where DeepGrid should compete, rather than partner?</a:t>
            </a:r>
          </a:p>
        </p:txBody>
      </p:sp>
      <p:sp>
        <p:nvSpPr>
          <p:cNvPr id="8" name="">
            <a:extLst xmlns:a="http://schemas.openxmlformats.org/drawingml/2006/main">
              <a:ext uri="{FF2B5EF4-FFF2-40B4-BE49-F238E27FC236}">
                <a16:creationId xmlns:a16="http://schemas.microsoft.com/office/drawing/2014/main" id="{66B35DA1-CA28-49DD-BFCF-65C524344588}"/>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6F889B8A-582A-43F2-BC42-A02911B8EF77}"/>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D8845FC-EA8B-45C3-89A4-76241E31E0D6}"/>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05A0884C-93CD-4073-84FA-DA6F15B7D3F0}"/>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Four arenas buy different things and hand accountability to different owners: system ownership, retrofit outcome, perception layer, and fleet-plus-channel. DeepGrid should compete only in the perception layer and attach everywhere else.</a:t>
            </a:r>
          </a:p>
        </p:txBody>
      </p:sp>
      <p:sp>
        <p:nvSpPr>
          <p:cNvPr id="12" name="">
            <a:extLst xmlns:a="http://schemas.openxmlformats.org/drawingml/2006/main">
              <a:ext uri="{FF2B5EF4-FFF2-40B4-BE49-F238E27FC236}">
                <a16:creationId xmlns:a16="http://schemas.microsoft.com/office/drawing/2014/main" id="{440F4B25-1978-45EC-9557-14194B9AC8EF}"/>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E0B74E55-B799-4C3C-BD18-252857F21B61}"/>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C8AE40A-B89F-44CB-B534-641AEC5EF32C}"/>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CA8B67E8-E146-4BC2-BDE4-3D88A05DDB29}"/>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SYSTEM OWNERS</a:t>
            </a:r>
          </a:p>
        </p:txBody>
      </p:sp>
      <p:sp>
        <p:nvSpPr>
          <p:cNvPr id="16" name="">
            <a:extLst xmlns:a="http://schemas.openxmlformats.org/drawingml/2006/main">
              <a:ext uri="{FF2B5EF4-FFF2-40B4-BE49-F238E27FC236}">
                <a16:creationId xmlns:a16="http://schemas.microsoft.com/office/drawing/2014/main" id="{85325590-4813-48BA-8507-1976F44E13A2}"/>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ZF/Aptiv are presented as internalising sensing, ECU, braking, calibration, approval, warranty and service; primary-source proof is required for verification.</a:t>
            </a:r>
          </a:p>
        </p:txBody>
      </p:sp>
      <p:sp>
        <p:nvSpPr>
          <p:cNvPr id="17" name="">
            <a:extLst xmlns:a="http://schemas.openxmlformats.org/drawingml/2006/main">
              <a:ext uri="{FF2B5EF4-FFF2-40B4-BE49-F238E27FC236}">
                <a16:creationId xmlns:a16="http://schemas.microsoft.com/office/drawing/2014/main" id="{47DBE861-9880-4AF8-8766-EB10B865E51A}"/>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E348E99-CBC2-4E3C-ACEB-2AB8337459C2}"/>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5C0388E8-FAAD-40E5-B93E-53E1F4346499}"/>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A2FF2BB-B392-40E8-8D35-CDCA25371571}"/>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7E3F7480-CDF9-469F-8FCF-ABADD6182FC4}"/>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RETROFIT OUTCOMES</a:t>
            </a:r>
          </a:p>
        </p:txBody>
      </p:sp>
      <p:sp>
        <p:nvSpPr>
          <p:cNvPr id="22" name="">
            <a:extLst xmlns:a="http://schemas.openxmlformats.org/drawingml/2006/main">
              <a:ext uri="{FF2B5EF4-FFF2-40B4-BE49-F238E27FC236}">
                <a16:creationId xmlns:a16="http://schemas.microsoft.com/office/drawing/2014/main" id="{D7CD792B-F013-4A80-8990-1F7AB55DF2C9}"/>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Starkenn is presented as packaging more of the retrofit outcome; the claimed scope and control point need validation.</a:t>
            </a:r>
          </a:p>
        </p:txBody>
      </p:sp>
      <p:sp>
        <p:nvSpPr>
          <p:cNvPr id="23" name="">
            <a:extLst xmlns:a="http://schemas.openxmlformats.org/drawingml/2006/main">
              <a:ext uri="{FF2B5EF4-FFF2-40B4-BE49-F238E27FC236}">
                <a16:creationId xmlns:a16="http://schemas.microsoft.com/office/drawing/2014/main" id="{4056509C-6F92-478A-A794-6CBA285696C8}"/>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581E26B-FEB9-49DF-B865-6B39D8AA6520}"/>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EE6369EA-8989-445C-BCD7-F2E80716D494}"/>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35D02C6-189E-4F23-B54B-D063E7F4A0DB}"/>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A6503707-FF6E-4FEB-8412-C3CCEDB45784}"/>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PERCEPTION LAYER</a:t>
            </a:r>
          </a:p>
        </p:txBody>
      </p:sp>
      <p:sp>
        <p:nvSpPr>
          <p:cNvPr id="28" name="">
            <a:extLst xmlns:a="http://schemas.openxmlformats.org/drawingml/2006/main">
              <a:ext uri="{FF2B5EF4-FFF2-40B4-BE49-F238E27FC236}">
                <a16:creationId xmlns:a16="http://schemas.microsoft.com/office/drawing/2014/main" id="{5D46F438-9F72-46DD-BEF9-C87EDD71BA24}"/>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STRADVISION is positioned as the production-scale comparator, Gahan as a radar/perception watchlist, and DeepGrid on measured wedge.</a:t>
            </a:r>
          </a:p>
        </p:txBody>
      </p:sp>
      <p:sp>
        <p:nvSpPr>
          <p:cNvPr id="29" name="">
            <a:extLst xmlns:a="http://schemas.openxmlformats.org/drawingml/2006/main">
              <a:ext uri="{FF2B5EF4-FFF2-40B4-BE49-F238E27FC236}">
                <a16:creationId xmlns:a16="http://schemas.microsoft.com/office/drawing/2014/main" id="{28B581FE-9935-4CAD-8962-AE50828996D5}"/>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0E24FB5-B403-4749-AA3F-3C21645C4251}"/>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49E1D8FA-10B3-4602-ABF8-F980C61F7163}"/>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D368532-F193-4457-AC32-8808FE63D875}"/>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3EB877DC-D3D6-4101-B1A5-4C6CBBA87401}"/>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FLEET + CHANNEL · DECISION GA…</a:t>
            </a:r>
          </a:p>
        </p:txBody>
      </p:sp>
      <p:sp>
        <p:nvSpPr>
          <p:cNvPr id="34" name="">
            <a:extLst xmlns:a="http://schemas.openxmlformats.org/drawingml/2006/main">
              <a:ext uri="{FF2B5EF4-FFF2-40B4-BE49-F238E27FC236}">
                <a16:creationId xmlns:a16="http://schemas.microsoft.com/office/drawing/2014/main" id="{48FCBD6E-0111-438D-A9D5-34E96DD68456}"/>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drivebuddyAI, Sterling×MINIEYE, bitsensing and Netrasemi are mapped to workflow, channel-plus-IP, radar and silicon positions.</a:t>
            </a:r>
          </a:p>
        </p:txBody>
      </p:sp>
      <p:sp>
        <p:nvSpPr>
          <p:cNvPr id="35" name="">
            <a:extLst xmlns:a="http://schemas.openxmlformats.org/drawingml/2006/main">
              <a:ext uri="{FF2B5EF4-FFF2-40B4-BE49-F238E27FC236}">
                <a16:creationId xmlns:a16="http://schemas.microsoft.com/office/drawing/2014/main" id="{D2ADB754-6975-4247-A9C8-1C481EEFC5F6}"/>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CC666F11-859C-4316-ACD0-6C6F0D2A1CE8}"/>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121A8AD-A075-4913-9AE0-D974C19282A6}"/>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054A7631-8763-4789-8CC7-4BDF68B75BE7}"/>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What the buyer purchases determines who is accountable for the outcome, and accountability determines who selects the perception supplier. Arena is therefore a sharper segmentation than vehicle class or geography.</a:t>
            </a:r>
          </a:p>
        </p:txBody>
      </p:sp>
      <p:sp>
        <p:nvSpPr>
          <p:cNvPr id="39" name="">
            <a:extLst xmlns:a="http://schemas.openxmlformats.org/drawingml/2006/main">
              <a:ext uri="{FF2B5EF4-FFF2-40B4-BE49-F238E27FC236}">
                <a16:creationId xmlns:a16="http://schemas.microsoft.com/office/drawing/2014/main" id="{FB5F3D23-9C7D-45A1-A768-06305BA92CCB}"/>
              </a:ext>
            </a:extLst>
          </p:cNvPr>
          <p:cNvSpPr>
            <a:spLocks xmlns:a="http://schemas.openxmlformats.org/drawingml/2006/main" noGrp="1"/>
          </p:cNvSpPr>
          <p:nvPr/>
        </p:nvSpPr>
        <p:spPr>
          <a:xfrm xmlns:a="http://schemas.openxmlformats.org/drawingml/2006/main">
            <a:off x="6153150" y="4727575"/>
            <a:ext cx="558165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1FCD69D1-33FF-4FF2-9B79-CE305C8E2EE5}"/>
              </a:ext>
            </a:extLst>
          </p:cNvPr>
          <p:cNvSpPr>
            <a:spLocks xmlns:a="http://schemas.openxmlformats.org/drawingml/2006/main" noGrp="1"/>
          </p:cNvSpPr>
          <p:nvPr/>
        </p:nvSpPr>
        <p:spPr>
          <a:xfrm xmlns:a="http://schemas.openxmlformats.org/drawingml/2006/main">
            <a:off x="6153150" y="4727575"/>
            <a:ext cx="28575" cy="673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6C9755A-1EB5-40F0-A85C-57391D653B91}"/>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923620A0-7C25-419B-8427-979E63FCDD24}"/>
              </a:ext>
            </a:extLst>
          </p:cNvPr>
          <p:cNvSpPr>
            <a:spLocks xmlns:a="http://schemas.openxmlformats.org/drawingml/2006/main" noGrp="1"/>
          </p:cNvSpPr>
          <p:nvPr/>
        </p:nvSpPr>
        <p:spPr>
          <a:xfrm xmlns:a="http://schemas.openxmlformats.org/drawingml/2006/main">
            <a:off x="6276975" y="4943475"/>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pursuing any opportunity that cannot be classified by arena and control owner.</a:t>
            </a:r>
          </a:p>
        </p:txBody>
      </p:sp>
      <p:sp>
        <p:nvSpPr>
          <p:cNvPr id="43" name="">
            <a:extLst xmlns:a="http://schemas.openxmlformats.org/drawingml/2006/main">
              <a:ext uri="{FF2B5EF4-FFF2-40B4-BE49-F238E27FC236}">
                <a16:creationId xmlns:a16="http://schemas.microsoft.com/office/drawing/2014/main" id="{ABE186F7-E0C7-4602-AD17-83D4AF94A313}"/>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AC7EF829-7B3D-4E88-95A0-CA1CAA441234}"/>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FD281D12-4E07-42C7-B56F-1AFB48867B7A}"/>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AEE39FA6-9E26-4B4C-A940-D599896DA51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Classify opportunities by purchased outcome and control owner; prioritize perception attach</a:t>
            </a:r>
          </a:p>
        </p:txBody>
      </p:sp>
      <p:sp>
        <p:nvSpPr>
          <p:cNvPr id="47" name="">
            <a:extLst xmlns:a="http://schemas.openxmlformats.org/drawingml/2006/main">
              <a:ext uri="{FF2B5EF4-FFF2-40B4-BE49-F238E27FC236}">
                <a16:creationId xmlns:a16="http://schemas.microsoft.com/office/drawing/2014/main" id="{267A52B2-0A50-401F-A5C7-37BAB64BE6D5}"/>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75C773E5-F378-4DF1-A57B-8431B1BA6F90}"/>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Every live deal mapped to an arena and control owner before the next pipeline review.</a:t>
            </a:r>
          </a:p>
        </p:txBody>
      </p:sp>
      <p:sp>
        <p:nvSpPr>
          <p:cNvPr id="49" name="">
            <a:extLst xmlns:a="http://schemas.openxmlformats.org/drawingml/2006/main">
              <a:ext uri="{FF2B5EF4-FFF2-40B4-BE49-F238E27FC236}">
                <a16:creationId xmlns:a16="http://schemas.microsoft.com/office/drawing/2014/main" id="{9C268E22-F8B2-492B-B389-9F768AD3C3A6}"/>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36A59FAD-3EFF-4E0A-9D73-D2B1F27855A6}"/>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pursuing any opportunity that cannot be classified by arena and control owner.</a:t>
            </a:r>
          </a:p>
        </p:txBody>
      </p:sp>
      <p:sp>
        <p:nvSpPr>
          <p:cNvPr id="51" name="">
            <a:extLst xmlns:a="http://schemas.openxmlformats.org/drawingml/2006/main">
              <a:ext uri="{FF2B5EF4-FFF2-40B4-BE49-F238E27FC236}">
                <a16:creationId xmlns:a16="http://schemas.microsoft.com/office/drawing/2014/main" id="{D89873B7-067E-4DF1-80DB-992B2341DDAB}"/>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C7D8CC7B-33B6-44A6-8B39-EA53D3B5FA0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B07F3612-9347-453C-AF16-5CF86EA0B67A}"/>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20</a:t>
            </a:r>
          </a:p>
        </p:txBody>
      </p:sp>
    </p:spTree>
    <p:extLst>
      <p:ext uri="{BB962C8B-B14F-4D97-AF65-F5344CB8AC3E}">
        <p14:creationId xmlns:p14="http://schemas.microsoft.com/office/powerpoint/2010/main" val="168438140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D1D18A10-8C77-4E5F-8D6B-1485DEBB478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B043B66-203B-4A54-AC77-1C0F61B2C013}"/>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3DAF360-B2F3-492B-9500-B4FFBA43DF03}"/>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54FBA9F1-D3C5-4145-9B60-5F4B970C9048}"/>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9F7913A7-8437-4992-A5C2-50D697877EC5}"/>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Rebase regulatory plan to notified 2027–28 dates; correct April-2026 claims</a:t>
            </a:r>
          </a:p>
        </p:txBody>
      </p:sp>
      <p:sp>
        <p:nvSpPr>
          <p:cNvPr id="6" name="">
            <a:extLst xmlns:a="http://schemas.openxmlformats.org/drawingml/2006/main">
              <a:ext uri="{FF2B5EF4-FFF2-40B4-BE49-F238E27FC236}">
                <a16:creationId xmlns:a16="http://schemas.microsoft.com/office/drawing/2014/main" id="{330E1FCE-863F-4418-8AEA-88BF31CED374}"/>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4820C65-6E2B-4D0D-B636-55FCF0CD9DAA}"/>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regulatory baseline is decision-safe, and what changes now?</a:t>
            </a:r>
          </a:p>
        </p:txBody>
      </p:sp>
      <p:sp>
        <p:nvSpPr>
          <p:cNvPr id="8" name="">
            <a:extLst xmlns:a="http://schemas.openxmlformats.org/drawingml/2006/main">
              <a:ext uri="{FF2B5EF4-FFF2-40B4-BE49-F238E27FC236}">
                <a16:creationId xmlns:a16="http://schemas.microsoft.com/office/drawing/2014/main" id="{D61F2A7A-7223-4810-9027-3F716EBE908B}"/>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F46DF107-7787-4FDC-945F-71CE9D4AFB0C}"/>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F0C1904-E58E-4288-A8A0-F0A446716E6F}"/>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3511DA16-DBEC-40EA-A119-CCD2393354BC}"/>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April 2026 is not the binding national start date. The notified AEBS dates are 1 January 2027 for new M2/M3/N2/N3 models and 1 October 2027 for all of them, and every plan, pitch and roadmap must be rebased to those.</a:t>
            </a:r>
          </a:p>
        </p:txBody>
      </p:sp>
      <p:sp>
        <p:nvSpPr>
          <p:cNvPr id="12" name="">
            <a:extLst xmlns:a="http://schemas.openxmlformats.org/drawingml/2006/main">
              <a:ext uri="{FF2B5EF4-FFF2-40B4-BE49-F238E27FC236}">
                <a16:creationId xmlns:a16="http://schemas.microsoft.com/office/drawing/2014/main" id="{7229ED95-A64E-4950-A347-794AEC96FADB}"/>
              </a:ext>
            </a:extLst>
          </p:cNvPr>
          <p:cNvSpPr>
            <a:spLocks xmlns:a="http://schemas.openxmlformats.org/drawingml/2006/main" noGrp="1"/>
          </p:cNvSpPr>
          <p:nvPr/>
        </p:nvSpPr>
        <p:spPr>
          <a:xfrm xmlns:a="http://schemas.openxmlformats.org/drawingml/2006/main">
            <a:off x="457200" y="1841500"/>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A2EA8E9F-73B7-43D9-9C5B-2C5FFBC684A8}"/>
              </a:ext>
            </a:extLst>
          </p:cNvPr>
          <p:cNvSpPr>
            <a:spLocks xmlns:a="http://schemas.openxmlformats.org/drawingml/2006/main" noGrp="1"/>
          </p:cNvSpPr>
          <p:nvPr/>
        </p:nvSpPr>
        <p:spPr>
          <a:xfrm xmlns:a="http://schemas.openxmlformats.org/drawingml/2006/main">
            <a:off x="457200" y="1841500"/>
            <a:ext cx="10375392" cy="2857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61C53F9-5693-4390-A062-7B3FD7828AE4}"/>
              </a:ext>
            </a:extLst>
          </p:cNvPr>
          <p:cNvSpPr>
            <a:spLocks xmlns:a="http://schemas.openxmlformats.org/drawingml/2006/main" noGrp="1"/>
          </p:cNvSpPr>
          <p:nvPr/>
        </p:nvSpPr>
        <p:spPr>
          <a:xfrm xmlns:a="http://schemas.openxmlformats.org/drawingml/2006/main">
            <a:off x="457200" y="1841500"/>
            <a:ext cx="28575" cy="8763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3DFBCAC-AEF7-4595-9AEA-34C496AEDCE3}"/>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BUYER JOBS · MARKET MAPPING</a:t>
            </a:r>
          </a:p>
        </p:txBody>
      </p:sp>
      <p:sp>
        <p:nvSpPr>
          <p:cNvPr id="16" name="">
            <a:extLst xmlns:a="http://schemas.openxmlformats.org/drawingml/2006/main">
              <a:ext uri="{FF2B5EF4-FFF2-40B4-BE49-F238E27FC236}">
                <a16:creationId xmlns:a16="http://schemas.microsoft.com/office/drawing/2014/main" id="{4FAE0FF9-CF5A-4364-81C5-775C4850038F}"/>
              </a:ext>
            </a:extLst>
          </p:cNvPr>
          <p:cNvSpPr>
            <a:spLocks xmlns:a="http://schemas.openxmlformats.org/drawingml/2006/main" noGrp="1"/>
          </p:cNvSpPr>
          <p:nvPr/>
        </p:nvSpPr>
        <p:spPr>
          <a:xfrm xmlns:a="http://schemas.openxmlformats.org/drawingml/2006/main">
            <a:off x="4067556" y="191770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BUYER JOBS · MARKET MAPPING</a:t>
            </a:r>
          </a:p>
        </p:txBody>
      </p:sp>
      <p:sp>
        <p:nvSpPr>
          <p:cNvPr id="17" name="">
            <a:extLst xmlns:a="http://schemas.openxmlformats.org/drawingml/2006/main">
              <a:ext uri="{FF2B5EF4-FFF2-40B4-BE49-F238E27FC236}">
                <a16:creationId xmlns:a16="http://schemas.microsoft.com/office/drawing/2014/main" id="{242697BC-F0A4-4771-8871-C28AD243253A}"/>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57F59"/>
                </a:solidFill>
                <a:latin typeface="Arial"/>
                <a:ea typeface="Arial"/>
                <a:cs typeface="Arial"/>
              </a:defRPr>
            </a:pPr>
            <a:r>
              <a:t>VERIFIED FACT</a:t>
            </a:r>
          </a:p>
        </p:txBody>
      </p:sp>
      <p:sp>
        <p:nvSpPr>
          <p:cNvPr id="18" name="">
            <a:extLst xmlns:a="http://schemas.openxmlformats.org/drawingml/2006/main">
              <a:ext uri="{FF2B5EF4-FFF2-40B4-BE49-F238E27FC236}">
                <a16:creationId xmlns:a16="http://schemas.microsoft.com/office/drawing/2014/main" id="{F7FF42EE-1E1D-4393-8CCC-AB70E00CF9E8}"/>
              </a:ext>
            </a:extLst>
          </p:cNvPr>
          <p:cNvSpPr>
            <a:spLocks xmlns:a="http://schemas.openxmlformats.org/drawingml/2006/main" noGrp="1"/>
          </p:cNvSpPr>
          <p:nvPr/>
        </p:nvSpPr>
        <p:spPr>
          <a:xfrm xmlns:a="http://schemas.openxmlformats.org/drawingml/2006/main">
            <a:off x="457200" y="2784475"/>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E1171B85-63D8-40F5-8BF6-98FE2A9ED9D0}"/>
              </a:ext>
            </a:extLst>
          </p:cNvPr>
          <p:cNvSpPr>
            <a:spLocks xmlns:a="http://schemas.openxmlformats.org/drawingml/2006/main" noGrp="1"/>
          </p:cNvSpPr>
          <p:nvPr/>
        </p:nvSpPr>
        <p:spPr>
          <a:xfrm xmlns:a="http://schemas.openxmlformats.org/drawingml/2006/main">
            <a:off x="457200" y="2784475"/>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7486F93-7DE0-420E-92C3-E8E5ABAED933}"/>
              </a:ext>
            </a:extLst>
          </p:cNvPr>
          <p:cNvSpPr>
            <a:spLocks xmlns:a="http://schemas.openxmlformats.org/drawingml/2006/main" noGrp="1"/>
          </p:cNvSpPr>
          <p:nvPr/>
        </p:nvSpPr>
        <p:spPr>
          <a:xfrm xmlns:a="http://schemas.openxmlformats.org/drawingml/2006/main">
            <a:off x="457200" y="2784475"/>
            <a:ext cx="28575" cy="8763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FCB3D5C-AC80-426F-BD6B-3A4195BC018A}"/>
              </a:ext>
            </a:extLst>
          </p:cNvPr>
          <p:cNvSpPr>
            <a:spLocks xmlns:a="http://schemas.openxmlformats.org/drawingml/2006/main" noGrp="1"/>
          </p:cNvSpPr>
          <p:nvPr/>
        </p:nvSpPr>
        <p:spPr>
          <a:xfrm xmlns:a="http://schemas.openxmlformats.org/drawingml/2006/main">
            <a:off x="571500" y="28702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PORTFOLIO IMPLICATION</a:t>
            </a:r>
          </a:p>
        </p:txBody>
      </p:sp>
      <p:sp>
        <p:nvSpPr>
          <p:cNvPr id="22" name="">
            <a:extLst xmlns:a="http://schemas.openxmlformats.org/drawingml/2006/main">
              <a:ext uri="{FF2B5EF4-FFF2-40B4-BE49-F238E27FC236}">
                <a16:creationId xmlns:a16="http://schemas.microsoft.com/office/drawing/2014/main" id="{0710A90A-A544-42CE-95E3-06A2A2B75D1C}"/>
              </a:ext>
            </a:extLst>
          </p:cNvPr>
          <p:cNvSpPr>
            <a:spLocks xmlns:a="http://schemas.openxmlformats.org/drawingml/2006/main" noGrp="1"/>
          </p:cNvSpPr>
          <p:nvPr/>
        </p:nvSpPr>
        <p:spPr>
          <a:xfrm xmlns:a="http://schemas.openxmlformats.org/drawingml/2006/main">
            <a:off x="4067556" y="286067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PORTFOLIO IMPLICATION · Buyers purchase accountable operating proof; silicon ownership matters only when it improves these gates.</a:t>
            </a:r>
          </a:p>
        </p:txBody>
      </p:sp>
      <p:sp>
        <p:nvSpPr>
          <p:cNvPr id="23" name="">
            <a:extLst xmlns:a="http://schemas.openxmlformats.org/drawingml/2006/main">
              <a:ext uri="{FF2B5EF4-FFF2-40B4-BE49-F238E27FC236}">
                <a16:creationId xmlns:a16="http://schemas.microsoft.com/office/drawing/2014/main" id="{B684719A-0C7F-4E9E-8454-D395C35370BC}"/>
              </a:ext>
            </a:extLst>
          </p:cNvPr>
          <p:cNvSpPr>
            <a:spLocks xmlns:a="http://schemas.openxmlformats.org/drawingml/2006/main" noGrp="1"/>
          </p:cNvSpPr>
          <p:nvPr/>
        </p:nvSpPr>
        <p:spPr>
          <a:xfrm xmlns:a="http://schemas.openxmlformats.org/drawingml/2006/main">
            <a:off x="9816084" y="28702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9421E9C6-BC9E-45D0-9023-720845F2BD2A}"/>
              </a:ext>
            </a:extLst>
          </p:cNvPr>
          <p:cNvSpPr>
            <a:spLocks xmlns:a="http://schemas.openxmlformats.org/drawingml/2006/main" noGrp="1"/>
          </p:cNvSpPr>
          <p:nvPr/>
        </p:nvSpPr>
        <p:spPr>
          <a:xfrm xmlns:a="http://schemas.openxmlformats.org/drawingml/2006/main">
            <a:off x="457200" y="3727450"/>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FAAF93FE-9DE5-4D87-83D8-AA2EE9EAA162}"/>
              </a:ext>
            </a:extLst>
          </p:cNvPr>
          <p:cNvSpPr>
            <a:spLocks xmlns:a="http://schemas.openxmlformats.org/drawingml/2006/main" noGrp="1"/>
          </p:cNvSpPr>
          <p:nvPr/>
        </p:nvSpPr>
        <p:spPr>
          <a:xfrm xmlns:a="http://schemas.openxmlformats.org/drawingml/2006/main">
            <a:off x="457200" y="372745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96A3108-652C-4749-BDD6-602AA8AC13BA}"/>
              </a:ext>
            </a:extLst>
          </p:cNvPr>
          <p:cNvSpPr>
            <a:spLocks xmlns:a="http://schemas.openxmlformats.org/drawingml/2006/main" noGrp="1"/>
          </p:cNvSpPr>
          <p:nvPr/>
        </p:nvSpPr>
        <p:spPr>
          <a:xfrm xmlns:a="http://schemas.openxmlformats.org/drawingml/2006/main">
            <a:off x="457200" y="3727450"/>
            <a:ext cx="28575" cy="8763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093FDC0-B085-44EC-B4B2-2391175096C9}"/>
              </a:ext>
            </a:extLst>
          </p:cNvPr>
          <p:cNvSpPr>
            <a:spLocks xmlns:a="http://schemas.openxmlformats.org/drawingml/2006/main" noGrp="1"/>
          </p:cNvSpPr>
          <p:nvPr/>
        </p:nvSpPr>
        <p:spPr>
          <a:xfrm xmlns:a="http://schemas.openxmlformats.org/drawingml/2006/main">
            <a:off x="571500" y="38131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RETROFIT TIME</a:t>
            </a:r>
          </a:p>
        </p:txBody>
      </p:sp>
      <p:sp>
        <p:nvSpPr>
          <p:cNvPr id="28" name="">
            <a:extLst xmlns:a="http://schemas.openxmlformats.org/drawingml/2006/main">
              <a:ext uri="{FF2B5EF4-FFF2-40B4-BE49-F238E27FC236}">
                <a16:creationId xmlns:a16="http://schemas.microsoft.com/office/drawing/2014/main" id="{61BED263-90CC-45C3-8FB9-CAE5A41E86F2}"/>
              </a:ext>
            </a:extLst>
          </p:cNvPr>
          <p:cNvSpPr>
            <a:spLocks xmlns:a="http://schemas.openxmlformats.org/drawingml/2006/main" noGrp="1"/>
          </p:cNvSpPr>
          <p:nvPr/>
        </p:nvSpPr>
        <p:spPr>
          <a:xfrm xmlns:a="http://schemas.openxmlformats.org/drawingml/2006/main">
            <a:off x="4067556" y="380365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Retrofit time, harsh-condition logs, uptime, nuisance burden, maintenance and incident reduction.</a:t>
            </a:r>
          </a:p>
        </p:txBody>
      </p:sp>
      <p:sp>
        <p:nvSpPr>
          <p:cNvPr id="29" name="">
            <a:extLst xmlns:a="http://schemas.openxmlformats.org/drawingml/2006/main">
              <a:ext uri="{FF2B5EF4-FFF2-40B4-BE49-F238E27FC236}">
                <a16:creationId xmlns:a16="http://schemas.microsoft.com/office/drawing/2014/main" id="{368E83F1-A822-48FC-8FE3-6932871436A9}"/>
              </a:ext>
            </a:extLst>
          </p:cNvPr>
          <p:cNvSpPr>
            <a:spLocks xmlns:a="http://schemas.openxmlformats.org/drawingml/2006/main" noGrp="1"/>
          </p:cNvSpPr>
          <p:nvPr/>
        </p:nvSpPr>
        <p:spPr>
          <a:xfrm xmlns:a="http://schemas.openxmlformats.org/drawingml/2006/main">
            <a:off x="9816084" y="38131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FA4F91BA-24FE-4F16-A7DA-4278B9433AF3}"/>
              </a:ext>
            </a:extLst>
          </p:cNvPr>
          <p:cNvSpPr>
            <a:spLocks xmlns:a="http://schemas.openxmlformats.org/drawingml/2006/main" noGrp="1"/>
          </p:cNvSpPr>
          <p:nvPr/>
        </p:nvSpPr>
        <p:spPr>
          <a:xfrm xmlns:a="http://schemas.openxmlformats.org/drawingml/2006/main">
            <a:off x="457200" y="4670425"/>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0AAC7FB0-6FEC-4D92-9315-8A0B87C0739A}"/>
              </a:ext>
            </a:extLst>
          </p:cNvPr>
          <p:cNvSpPr>
            <a:spLocks xmlns:a="http://schemas.openxmlformats.org/drawingml/2006/main" noGrp="1"/>
          </p:cNvSpPr>
          <p:nvPr/>
        </p:nvSpPr>
        <p:spPr>
          <a:xfrm xmlns:a="http://schemas.openxmlformats.org/drawingml/2006/main">
            <a:off x="457200" y="467042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F381061-485B-4A7C-B7F8-0D89EB3CB9B5}"/>
              </a:ext>
            </a:extLst>
          </p:cNvPr>
          <p:cNvSpPr>
            <a:spLocks xmlns:a="http://schemas.openxmlformats.org/drawingml/2006/main" noGrp="1"/>
          </p:cNvSpPr>
          <p:nvPr/>
        </p:nvSpPr>
        <p:spPr>
          <a:xfrm xmlns:a="http://schemas.openxmlformats.org/drawingml/2006/main">
            <a:off x="457200" y="4670425"/>
            <a:ext cx="28575" cy="8763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7B2A8C2-5FF8-433A-B3F5-56092C53F5FE}"/>
              </a:ext>
            </a:extLst>
          </p:cNvPr>
          <p:cNvSpPr>
            <a:spLocks xmlns:a="http://schemas.openxmlformats.org/drawingml/2006/main" noGrp="1"/>
          </p:cNvSpPr>
          <p:nvPr/>
        </p:nvSpPr>
        <p:spPr>
          <a:xfrm xmlns:a="http://schemas.openxmlformats.org/drawingml/2006/main">
            <a:off x="571500" y="47561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CDDF072D-AB81-431C-8F0D-80514B4A634D}"/>
              </a:ext>
            </a:extLst>
          </p:cNvPr>
          <p:cNvSpPr>
            <a:spLocks xmlns:a="http://schemas.openxmlformats.org/drawingml/2006/main" noGrp="1"/>
          </p:cNvSpPr>
          <p:nvPr/>
        </p:nvSpPr>
        <p:spPr>
          <a:xfrm xmlns:a="http://schemas.openxmlformats.org/drawingml/2006/main">
            <a:off x="4067556" y="474662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MoRTH notifies an earlier binding date, or if a customer's own procurement calendar makes April 2026 operative regardless of the statute.</a:t>
            </a:r>
          </a:p>
        </p:txBody>
      </p:sp>
      <p:sp>
        <p:nvSpPr>
          <p:cNvPr id="35" name="">
            <a:extLst xmlns:a="http://schemas.openxmlformats.org/drawingml/2006/main">
              <a:ext uri="{FF2B5EF4-FFF2-40B4-BE49-F238E27FC236}">
                <a16:creationId xmlns:a16="http://schemas.microsoft.com/office/drawing/2014/main" id="{F7449B11-B0CA-4CAB-8D5C-955702C9C59E}"/>
              </a:ext>
            </a:extLst>
          </p:cNvPr>
          <p:cNvSpPr>
            <a:spLocks xmlns:a="http://schemas.openxmlformats.org/drawingml/2006/main" noGrp="1"/>
          </p:cNvSpPr>
          <p:nvPr/>
        </p:nvSpPr>
        <p:spPr>
          <a:xfrm xmlns:a="http://schemas.openxmlformats.org/drawingml/2006/main">
            <a:off x="9816084" y="47561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00FF784B-FC4C-4651-85AF-E41CB73F73A7}"/>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4E319AD-37FE-40F8-9A8F-CE8AEDCE2E8C}"/>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A1BB4EC3-4F2F-45F2-8311-440B94F62556}"/>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91E6DD40-98D5-4D80-A132-22C2B86534A9}"/>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CEO orders immediate correction of regulatory claims in plans, pitches.</a:t>
            </a:r>
          </a:p>
        </p:txBody>
      </p:sp>
      <p:sp>
        <p:nvSpPr>
          <p:cNvPr id="40" name="">
            <a:extLst xmlns:a="http://schemas.openxmlformats.org/drawingml/2006/main">
              <a:ext uri="{FF2B5EF4-FFF2-40B4-BE49-F238E27FC236}">
                <a16:creationId xmlns:a16="http://schemas.microsoft.com/office/drawing/2014/main" id="{C6809609-9450-4D90-8E00-65E21D4FC5A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1E62333C-08C2-4CB2-9971-243807BB9FE1}"/>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 with Regulatory lead</a:t>
            </a:r>
          </a:p>
          <a:p xmlns:a="http://schemas.openxmlformats.org/drawingml/2006/main">
            <a:pPr algn="l">
              <a:defRPr sz="800">
                <a:solidFill>
                  <a:srgbClr val="8EA0B2"/>
                </a:solidFill>
                <a:latin typeface="Arial"/>
                <a:ea typeface="Arial"/>
                <a:cs typeface="Arial"/>
              </a:defRPr>
            </a:pPr>
            <a:r>
              <a:t>Trigger · All active documents corrected within 48 hours.</a:t>
            </a:r>
          </a:p>
        </p:txBody>
      </p:sp>
      <p:sp>
        <p:nvSpPr>
          <p:cNvPr id="42" name="">
            <a:extLst xmlns:a="http://schemas.openxmlformats.org/drawingml/2006/main">
              <a:ext uri="{FF2B5EF4-FFF2-40B4-BE49-F238E27FC236}">
                <a16:creationId xmlns:a16="http://schemas.microsoft.com/office/drawing/2014/main" id="{7AC9A633-B2E0-441B-9985-B4F40A68F033}"/>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AD164EEE-728B-4139-A6C4-9F85B4A9735D}"/>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any external claim citing G.S.R.184(E) as final law.</a:t>
            </a:r>
          </a:p>
        </p:txBody>
      </p:sp>
      <p:sp>
        <p:nvSpPr>
          <p:cNvPr id="44" name="">
            <a:extLst xmlns:a="http://schemas.openxmlformats.org/drawingml/2006/main">
              <a:ext uri="{FF2B5EF4-FFF2-40B4-BE49-F238E27FC236}">
                <a16:creationId xmlns:a16="http://schemas.microsoft.com/office/drawing/2014/main" id="{86C09DCE-20D3-4BC9-8492-65F562BE567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63597F4A-CEC6-49C9-A968-AFAB4F47AF7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0DF50D85-D0D6-4468-8594-59DB1641CFF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21</a:t>
            </a:r>
          </a:p>
        </p:txBody>
      </p:sp>
    </p:spTree>
    <p:extLst>
      <p:ext uri="{BB962C8B-B14F-4D97-AF65-F5344CB8AC3E}">
        <p14:creationId xmlns:p14="http://schemas.microsoft.com/office/powerpoint/2010/main" val="159113095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41A55AB0-A1C4-44E5-9EAA-65AEE63614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B2E0981-3F28-4FBE-92E2-310FA4D22C8F}"/>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A8B5D40-7D9B-4A22-B711-684B8BA4C33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14DB209A-3ED4-4DFC-B429-88A20B9EFF72}"/>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103603D3-7576-44D8-ABC0-072699998A01}"/>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Prioritize accounts by buyer-specific operating-proof gates</a:t>
            </a:r>
          </a:p>
        </p:txBody>
      </p:sp>
      <p:sp>
        <p:nvSpPr>
          <p:cNvPr id="6" name="">
            <a:extLst xmlns:a="http://schemas.openxmlformats.org/drawingml/2006/main">
              <a:ext uri="{FF2B5EF4-FFF2-40B4-BE49-F238E27FC236}">
                <a16:creationId xmlns:a16="http://schemas.microsoft.com/office/drawing/2014/main" id="{5040D3E9-50FD-40FE-9273-978B079FEE41}"/>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AFB06AC-7DD2-4ACA-BB57-9F7300A7B112}"/>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Which buyer jobs should determine where DeepGrid sells and deploys first?</a:t>
            </a:r>
          </a:p>
        </p:txBody>
      </p:sp>
      <p:sp>
        <p:nvSpPr>
          <p:cNvPr id="8" name="">
            <a:extLst xmlns:a="http://schemas.openxmlformats.org/drawingml/2006/main">
              <a:ext uri="{FF2B5EF4-FFF2-40B4-BE49-F238E27FC236}">
                <a16:creationId xmlns:a16="http://schemas.microsoft.com/office/drawing/2014/main" id="{27C8F8B4-6345-4187-91BB-754F2A76F295}"/>
              </a:ext>
            </a:extLst>
          </p:cNvPr>
          <p:cNvSpPr>
            <a:spLocks xmlns:a="http://schemas.openxmlformats.org/drawingml/2006/main" noGrp="1"/>
          </p:cNvSpPr>
          <p:nvPr/>
        </p:nvSpPr>
        <p:spPr>
          <a:xfrm xmlns:a="http://schemas.openxmlformats.org/drawingml/2006/main">
            <a:off x="457200" y="1006475"/>
            <a:ext cx="11277600" cy="9302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550D71B4-93C9-4CD6-8002-9CB3C4DBE08B}"/>
              </a:ext>
            </a:extLst>
          </p:cNvPr>
          <p:cNvSpPr>
            <a:spLocks xmlns:a="http://schemas.openxmlformats.org/drawingml/2006/main" noGrp="1"/>
          </p:cNvSpPr>
          <p:nvPr/>
        </p:nvSpPr>
        <p:spPr>
          <a:xfrm xmlns:a="http://schemas.openxmlformats.org/drawingml/2006/main">
            <a:off x="457200" y="1006475"/>
            <a:ext cx="28575" cy="9302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2530F05-E46D-49AF-8016-24FF6632C77B}"/>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69B6CD66-81E8-43B1-816D-28CA17D36B84}"/>
              </a:ext>
            </a:extLst>
          </p:cNvPr>
          <p:cNvSpPr>
            <a:spLocks xmlns:a="http://schemas.openxmlformats.org/drawingml/2006/main" noGrp="1"/>
          </p:cNvSpPr>
          <p:nvPr/>
        </p:nvSpPr>
        <p:spPr>
          <a:xfrm xmlns:a="http://schemas.openxmlformats.org/drawingml/2006/main">
            <a:off x="581025" y="122237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Each buyer type gates on a different proof: Government/PSU on named awards, eligibility and local service; CV OEM/Tier-1 on nomination, interfaces and automotive-grade qualification; mining and yard on retrofit time, harsh-condition logs and uptime. Sell against the gate, not the feature list.</a:t>
            </a:r>
          </a:p>
        </p:txBody>
      </p:sp>
      <p:sp>
        <p:nvSpPr>
          <p:cNvPr id="12" name="">
            <a:extLst xmlns:a="http://schemas.openxmlformats.org/drawingml/2006/main">
              <a:ext uri="{FF2B5EF4-FFF2-40B4-BE49-F238E27FC236}">
                <a16:creationId xmlns:a16="http://schemas.microsoft.com/office/drawing/2014/main" id="{D6516BEC-E00B-47D8-A2C6-314FBE46FA13}"/>
              </a:ext>
            </a:extLst>
          </p:cNvPr>
          <p:cNvSpPr>
            <a:spLocks xmlns:a="http://schemas.openxmlformats.org/drawingml/2006/main" noGrp="1"/>
          </p:cNvSpPr>
          <p:nvPr/>
        </p:nvSpPr>
        <p:spPr>
          <a:xfrm xmlns:a="http://schemas.openxmlformats.org/drawingml/2006/main">
            <a:off x="457200" y="205105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5991CFA0-BC22-40AE-A229-DB225BBA3D6F}"/>
              </a:ext>
            </a:extLst>
          </p:cNvPr>
          <p:cNvSpPr>
            <a:spLocks xmlns:a="http://schemas.openxmlformats.org/drawingml/2006/main" noGrp="1"/>
          </p:cNvSpPr>
          <p:nvPr/>
        </p:nvSpPr>
        <p:spPr>
          <a:xfrm xmlns:a="http://schemas.openxmlformats.org/drawingml/2006/main">
            <a:off x="457200" y="20510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F563E4A-3EB4-4658-BB86-223EC162BBFE}"/>
              </a:ext>
            </a:extLst>
          </p:cNvPr>
          <p:cNvSpPr>
            <a:spLocks xmlns:a="http://schemas.openxmlformats.org/drawingml/2006/main" noGrp="1"/>
          </p:cNvSpPr>
          <p:nvPr/>
        </p:nvSpPr>
        <p:spPr>
          <a:xfrm xmlns:a="http://schemas.openxmlformats.org/drawingml/2006/main">
            <a:off x="571500" y="21558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27A97ABC-993C-4415-9B06-58731C601740}"/>
              </a:ext>
            </a:extLst>
          </p:cNvPr>
          <p:cNvSpPr>
            <a:spLocks xmlns:a="http://schemas.openxmlformats.org/drawingml/2006/main" noGrp="1"/>
          </p:cNvSpPr>
          <p:nvPr/>
        </p:nvSpPr>
        <p:spPr>
          <a:xfrm xmlns:a="http://schemas.openxmlformats.org/drawingml/2006/main">
            <a:off x="819150" y="21748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GOVERNMENT / PSU</a:t>
            </a:r>
          </a:p>
        </p:txBody>
      </p:sp>
      <p:sp>
        <p:nvSpPr>
          <p:cNvPr id="16" name="">
            <a:extLst xmlns:a="http://schemas.openxmlformats.org/drawingml/2006/main">
              <a:ext uri="{FF2B5EF4-FFF2-40B4-BE49-F238E27FC236}">
                <a16:creationId xmlns:a16="http://schemas.microsoft.com/office/drawing/2014/main" id="{54247131-E7AC-412C-B56E-458B24BBE817}"/>
              </a:ext>
            </a:extLst>
          </p:cNvPr>
          <p:cNvSpPr>
            <a:spLocks xmlns:a="http://schemas.openxmlformats.org/drawingml/2006/main" noGrp="1"/>
          </p:cNvSpPr>
          <p:nvPr/>
        </p:nvSpPr>
        <p:spPr>
          <a:xfrm xmlns:a="http://schemas.openxmlformats.org/drawingml/2006/main">
            <a:off x="571500" y="237490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Test for named awards, eligibility, local service, spares, acceptance tests. Requires tender references and procurement credentials. Named Awards</a:t>
            </a:r>
          </a:p>
        </p:txBody>
      </p:sp>
      <p:sp>
        <p:nvSpPr>
          <p:cNvPr id="17" name="">
            <a:extLst xmlns:a="http://schemas.openxmlformats.org/drawingml/2006/main">
              <a:ext uri="{FF2B5EF4-FFF2-40B4-BE49-F238E27FC236}">
                <a16:creationId xmlns:a16="http://schemas.microsoft.com/office/drawing/2014/main" id="{560C2CCE-9874-4EF0-9DC5-D4AA2B457619}"/>
              </a:ext>
            </a:extLst>
          </p:cNvPr>
          <p:cNvSpPr>
            <a:spLocks xmlns:a="http://schemas.openxmlformats.org/drawingml/2006/main" noGrp="1"/>
          </p:cNvSpPr>
          <p:nvPr/>
        </p:nvSpPr>
        <p:spPr>
          <a:xfrm xmlns:a="http://schemas.openxmlformats.org/drawingml/2006/main">
            <a:off x="3119438" y="3255963"/>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2329E9A-3251-487B-B818-A40D8DFFECB1}"/>
              </a:ext>
            </a:extLst>
          </p:cNvPr>
          <p:cNvSpPr>
            <a:spLocks xmlns:a="http://schemas.openxmlformats.org/drawingml/2006/main" noGrp="1"/>
          </p:cNvSpPr>
          <p:nvPr/>
        </p:nvSpPr>
        <p:spPr>
          <a:xfrm xmlns:a="http://schemas.openxmlformats.org/drawingml/2006/main">
            <a:off x="3348038" y="205105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99C98498-5417-4CBE-B96B-AB667CF47F0F}"/>
              </a:ext>
            </a:extLst>
          </p:cNvPr>
          <p:cNvSpPr>
            <a:spLocks xmlns:a="http://schemas.openxmlformats.org/drawingml/2006/main" noGrp="1"/>
          </p:cNvSpPr>
          <p:nvPr/>
        </p:nvSpPr>
        <p:spPr>
          <a:xfrm xmlns:a="http://schemas.openxmlformats.org/drawingml/2006/main">
            <a:off x="3348038" y="20510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900072D-FA6D-4C8D-B631-90AC2B73CB5B}"/>
              </a:ext>
            </a:extLst>
          </p:cNvPr>
          <p:cNvSpPr>
            <a:spLocks xmlns:a="http://schemas.openxmlformats.org/drawingml/2006/main" noGrp="1"/>
          </p:cNvSpPr>
          <p:nvPr/>
        </p:nvSpPr>
        <p:spPr>
          <a:xfrm xmlns:a="http://schemas.openxmlformats.org/drawingml/2006/main">
            <a:off x="3462338" y="21558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349E639B-F2C1-4749-84A2-D9EAE814BE46}"/>
              </a:ext>
            </a:extLst>
          </p:cNvPr>
          <p:cNvSpPr>
            <a:spLocks xmlns:a="http://schemas.openxmlformats.org/drawingml/2006/main" noGrp="1"/>
          </p:cNvSpPr>
          <p:nvPr/>
        </p:nvSpPr>
        <p:spPr>
          <a:xfrm xmlns:a="http://schemas.openxmlformats.org/drawingml/2006/main">
            <a:off x="3709988" y="21748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GOVERNMENT/PSU</a:t>
            </a:r>
          </a:p>
        </p:txBody>
      </p:sp>
      <p:sp>
        <p:nvSpPr>
          <p:cNvPr id="22" name="">
            <a:extLst xmlns:a="http://schemas.openxmlformats.org/drawingml/2006/main">
              <a:ext uri="{FF2B5EF4-FFF2-40B4-BE49-F238E27FC236}">
                <a16:creationId xmlns:a16="http://schemas.microsoft.com/office/drawing/2014/main" id="{18875ABB-2D14-4EC8-A50E-9B896BE7C452}"/>
              </a:ext>
            </a:extLst>
          </p:cNvPr>
          <p:cNvSpPr>
            <a:spLocks xmlns:a="http://schemas.openxmlformats.org/drawingml/2006/main" noGrp="1"/>
          </p:cNvSpPr>
          <p:nvPr/>
        </p:nvSpPr>
        <p:spPr>
          <a:xfrm xmlns:a="http://schemas.openxmlformats.org/drawingml/2006/main">
            <a:off x="3462338" y="237490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No named buyer interviews or procurement artifacts supplied</a:t>
            </a:r>
          </a:p>
        </p:txBody>
      </p:sp>
      <p:sp>
        <p:nvSpPr>
          <p:cNvPr id="23" name="">
            <a:extLst xmlns:a="http://schemas.openxmlformats.org/drawingml/2006/main">
              <a:ext uri="{FF2B5EF4-FFF2-40B4-BE49-F238E27FC236}">
                <a16:creationId xmlns:a16="http://schemas.microsoft.com/office/drawing/2014/main" id="{1A59603F-9BE3-4A9B-9814-32A94D4EB066}"/>
              </a:ext>
            </a:extLst>
          </p:cNvPr>
          <p:cNvSpPr>
            <a:spLocks xmlns:a="http://schemas.openxmlformats.org/drawingml/2006/main" noGrp="1"/>
          </p:cNvSpPr>
          <p:nvPr/>
        </p:nvSpPr>
        <p:spPr>
          <a:xfrm xmlns:a="http://schemas.openxmlformats.org/drawingml/2006/main">
            <a:off x="6010275" y="3255963"/>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42D7C31-8D06-4B6D-AACB-97E5BDC21085}"/>
              </a:ext>
            </a:extLst>
          </p:cNvPr>
          <p:cNvSpPr>
            <a:spLocks xmlns:a="http://schemas.openxmlformats.org/drawingml/2006/main" noGrp="1"/>
          </p:cNvSpPr>
          <p:nvPr/>
        </p:nvSpPr>
        <p:spPr>
          <a:xfrm xmlns:a="http://schemas.openxmlformats.org/drawingml/2006/main">
            <a:off x="6238875" y="205105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AF5D269D-60A3-48DB-B0EE-15E2EFE3B754}"/>
              </a:ext>
            </a:extLst>
          </p:cNvPr>
          <p:cNvSpPr>
            <a:spLocks xmlns:a="http://schemas.openxmlformats.org/drawingml/2006/main" noGrp="1"/>
          </p:cNvSpPr>
          <p:nvPr/>
        </p:nvSpPr>
        <p:spPr>
          <a:xfrm xmlns:a="http://schemas.openxmlformats.org/drawingml/2006/main">
            <a:off x="6238875" y="20510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B94587A-F38D-48BE-BC1A-E2C45E99EA5A}"/>
              </a:ext>
            </a:extLst>
          </p:cNvPr>
          <p:cNvSpPr>
            <a:spLocks xmlns:a="http://schemas.openxmlformats.org/drawingml/2006/main" noGrp="1"/>
          </p:cNvSpPr>
          <p:nvPr/>
        </p:nvSpPr>
        <p:spPr>
          <a:xfrm xmlns:a="http://schemas.openxmlformats.org/drawingml/2006/main">
            <a:off x="6353175" y="21558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5DABF7E2-D493-48CA-BAB8-516D1EBE1C35}"/>
              </a:ext>
            </a:extLst>
          </p:cNvPr>
          <p:cNvSpPr>
            <a:spLocks xmlns:a="http://schemas.openxmlformats.org/drawingml/2006/main" noGrp="1"/>
          </p:cNvSpPr>
          <p:nvPr/>
        </p:nvSpPr>
        <p:spPr>
          <a:xfrm xmlns:a="http://schemas.openxmlformats.org/drawingml/2006/main">
            <a:off x="6600825" y="21748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CV OEM / TIER-1</a:t>
            </a:r>
          </a:p>
        </p:txBody>
      </p:sp>
      <p:sp>
        <p:nvSpPr>
          <p:cNvPr id="28" name="">
            <a:extLst xmlns:a="http://schemas.openxmlformats.org/drawingml/2006/main">
              <a:ext uri="{FF2B5EF4-FFF2-40B4-BE49-F238E27FC236}">
                <a16:creationId xmlns:a16="http://schemas.microsoft.com/office/drawing/2014/main" id="{5183112D-E7AF-44AE-84A8-9F22020EF679}"/>
              </a:ext>
            </a:extLst>
          </p:cNvPr>
          <p:cNvSpPr>
            <a:spLocks xmlns:a="http://schemas.openxmlformats.org/drawingml/2006/main" noGrp="1"/>
          </p:cNvSpPr>
          <p:nvPr/>
        </p:nvSpPr>
        <p:spPr>
          <a:xfrm xmlns:a="http://schemas.openxmlformats.org/drawingml/2006/main">
            <a:off x="6353175" y="237490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Test for nomination, interfaces, safety work products, diagnostics, and automotive-grade qualification. Nomination</a:t>
            </a:r>
          </a:p>
        </p:txBody>
      </p:sp>
      <p:sp>
        <p:nvSpPr>
          <p:cNvPr id="29" name="">
            <a:extLst xmlns:a="http://schemas.openxmlformats.org/drawingml/2006/main">
              <a:ext uri="{FF2B5EF4-FFF2-40B4-BE49-F238E27FC236}">
                <a16:creationId xmlns:a16="http://schemas.microsoft.com/office/drawing/2014/main" id="{2C675930-77E3-489D-AAE5-EEC0A3AA2970}"/>
              </a:ext>
            </a:extLst>
          </p:cNvPr>
          <p:cNvSpPr>
            <a:spLocks xmlns:a="http://schemas.openxmlformats.org/drawingml/2006/main" noGrp="1"/>
          </p:cNvSpPr>
          <p:nvPr/>
        </p:nvSpPr>
        <p:spPr>
          <a:xfrm xmlns:a="http://schemas.openxmlformats.org/drawingml/2006/main">
            <a:off x="8901113" y="3255963"/>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3B4C87A-9CBD-4318-BA65-B924AE9EDADD}"/>
              </a:ext>
            </a:extLst>
          </p:cNvPr>
          <p:cNvSpPr>
            <a:spLocks xmlns:a="http://schemas.openxmlformats.org/drawingml/2006/main" noGrp="1"/>
          </p:cNvSpPr>
          <p:nvPr/>
        </p:nvSpPr>
        <p:spPr>
          <a:xfrm xmlns:a="http://schemas.openxmlformats.org/drawingml/2006/main">
            <a:off x="9129713" y="205105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C0FF461E-39B3-42A8-8573-DA48C8539392}"/>
              </a:ext>
            </a:extLst>
          </p:cNvPr>
          <p:cNvSpPr>
            <a:spLocks xmlns:a="http://schemas.openxmlformats.org/drawingml/2006/main" noGrp="1"/>
          </p:cNvSpPr>
          <p:nvPr/>
        </p:nvSpPr>
        <p:spPr>
          <a:xfrm xmlns:a="http://schemas.openxmlformats.org/drawingml/2006/main">
            <a:off x="9129713" y="20510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7005EBC-84EF-43B4-AF69-A0C5A0E7968F}"/>
              </a:ext>
            </a:extLst>
          </p:cNvPr>
          <p:cNvSpPr>
            <a:spLocks xmlns:a="http://schemas.openxmlformats.org/drawingml/2006/main" noGrp="1"/>
          </p:cNvSpPr>
          <p:nvPr/>
        </p:nvSpPr>
        <p:spPr>
          <a:xfrm xmlns:a="http://schemas.openxmlformats.org/drawingml/2006/main">
            <a:off x="9244013" y="21558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B8FAD0EA-4004-4B7B-BD4A-DD505CC17CB7}"/>
              </a:ext>
            </a:extLst>
          </p:cNvPr>
          <p:cNvSpPr>
            <a:spLocks xmlns:a="http://schemas.openxmlformats.org/drawingml/2006/main" noGrp="1"/>
          </p:cNvSpPr>
          <p:nvPr/>
        </p:nvSpPr>
        <p:spPr>
          <a:xfrm xmlns:a="http://schemas.openxmlformats.org/drawingml/2006/main">
            <a:off x="9491663" y="21748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CV OEM/TIER-1 · DECISION GATE</a:t>
            </a:r>
          </a:p>
        </p:txBody>
      </p:sp>
      <p:sp>
        <p:nvSpPr>
          <p:cNvPr id="34" name="">
            <a:extLst xmlns:a="http://schemas.openxmlformats.org/drawingml/2006/main">
              <a:ext uri="{FF2B5EF4-FFF2-40B4-BE49-F238E27FC236}">
                <a16:creationId xmlns:a16="http://schemas.microsoft.com/office/drawing/2014/main" id="{973C7938-76E4-485C-A8D3-B49BC9893507}"/>
              </a:ext>
            </a:extLst>
          </p:cNvPr>
          <p:cNvSpPr>
            <a:spLocks xmlns:a="http://schemas.openxmlformats.org/drawingml/2006/main" noGrp="1"/>
          </p:cNvSpPr>
          <p:nvPr/>
        </p:nvSpPr>
        <p:spPr>
          <a:xfrm xmlns:a="http://schemas.openxmlformats.org/drawingml/2006/main">
            <a:off x="9244013" y="237490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Requires safety work products and diagnostics</a:t>
            </a:r>
          </a:p>
        </p:txBody>
      </p:sp>
      <p:sp>
        <p:nvSpPr>
          <p:cNvPr id="35" name="">
            <a:extLst xmlns:a="http://schemas.openxmlformats.org/drawingml/2006/main">
              <a:ext uri="{FF2B5EF4-FFF2-40B4-BE49-F238E27FC236}">
                <a16:creationId xmlns:a16="http://schemas.microsoft.com/office/drawing/2014/main" id="{14D032D1-5DC0-4D36-A9C5-BD6B984EA13A}"/>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8B81CCB9-7F08-4AC3-B8CD-6BBC39C7A991}"/>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80A86A7-56F9-4F3F-B6D0-4D223CECFC15}"/>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1C89003E-F115-4916-A770-73B89FED3DAD}"/>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buyer scores what it is accountable for. Because each segment is accountable for something different, the same capability deck fails in two of the three rooms; matching the proof to the gate is what converts interest into qualification.</a:t>
            </a:r>
          </a:p>
        </p:txBody>
      </p:sp>
      <p:sp>
        <p:nvSpPr>
          <p:cNvPr id="39" name="">
            <a:extLst xmlns:a="http://schemas.openxmlformats.org/drawingml/2006/main">
              <a:ext uri="{FF2B5EF4-FFF2-40B4-BE49-F238E27FC236}">
                <a16:creationId xmlns:a16="http://schemas.microsoft.com/office/drawing/2014/main" id="{ECCA338D-4093-4F39-993B-C64151CC42B4}"/>
              </a:ext>
            </a:extLst>
          </p:cNvPr>
          <p:cNvSpPr>
            <a:spLocks xmlns:a="http://schemas.openxmlformats.org/drawingml/2006/main" noGrp="1"/>
          </p:cNvSpPr>
          <p:nvPr/>
        </p:nvSpPr>
        <p:spPr>
          <a:xfrm xmlns:a="http://schemas.openxmlformats.org/drawingml/2006/main">
            <a:off x="6153150" y="472757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7E6503A8-CF8E-48DD-854A-4F0834A2E836}"/>
              </a:ext>
            </a:extLst>
          </p:cNvPr>
          <p:cNvSpPr>
            <a:spLocks xmlns:a="http://schemas.openxmlformats.org/drawingml/2006/main" noGrp="1"/>
          </p:cNvSpPr>
          <p:nvPr/>
        </p:nvSpPr>
        <p:spPr>
          <a:xfrm xmlns:a="http://schemas.openxmlformats.org/drawingml/2006/main">
            <a:off x="6153150" y="472757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25CB0D86-E154-4C4B-B1DC-4A79F1940A95}"/>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6150F854-482C-4412-BE62-310E6DCC3BB1}"/>
              </a:ext>
            </a:extLst>
          </p:cNvPr>
          <p:cNvSpPr>
            <a:spLocks xmlns:a="http://schemas.openxmlformats.org/drawingml/2006/main" noGrp="1"/>
          </p:cNvSpPr>
          <p:nvPr/>
        </p:nvSpPr>
        <p:spPr>
          <a:xfrm xmlns:a="http://schemas.openxmlformats.org/drawingml/2006/main">
            <a:off x="6276975" y="494347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pursuing any account with no identified gate owner.</a:t>
            </a:r>
          </a:p>
        </p:txBody>
      </p:sp>
      <p:sp>
        <p:nvSpPr>
          <p:cNvPr id="43" name="">
            <a:extLst xmlns:a="http://schemas.openxmlformats.org/drawingml/2006/main">
              <a:ext uri="{FF2B5EF4-FFF2-40B4-BE49-F238E27FC236}">
                <a16:creationId xmlns:a16="http://schemas.microsoft.com/office/drawing/2014/main" id="{8FC3F0A5-7DD1-4D97-9B58-6CDCF00B69A0}"/>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D4FC66B7-0BC0-4090-BA54-1E8D6FD292DA}"/>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AE567144-3BF4-4A33-9275-07FAEBE8E6E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777263BE-7B59-4E09-BA5C-A9C2BC0C3E42}"/>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Adopt buyer-specific proof gates as the pipeline qualification standard.</a:t>
            </a:r>
          </a:p>
        </p:txBody>
      </p:sp>
      <p:sp>
        <p:nvSpPr>
          <p:cNvPr id="47" name="">
            <a:extLst xmlns:a="http://schemas.openxmlformats.org/drawingml/2006/main">
              <a:ext uri="{FF2B5EF4-FFF2-40B4-BE49-F238E27FC236}">
                <a16:creationId xmlns:a16="http://schemas.microsoft.com/office/drawing/2014/main" id="{F1CED3C6-DCF6-40DE-98E0-36729062933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2D0B32FD-A66B-4017-B5ED-A4FBC6D3B329}"/>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Next pipeline review, with every open account tagged to its gate.</a:t>
            </a:r>
          </a:p>
        </p:txBody>
      </p:sp>
      <p:sp>
        <p:nvSpPr>
          <p:cNvPr id="49" name="">
            <a:extLst xmlns:a="http://schemas.openxmlformats.org/drawingml/2006/main">
              <a:ext uri="{FF2B5EF4-FFF2-40B4-BE49-F238E27FC236}">
                <a16:creationId xmlns:a16="http://schemas.microsoft.com/office/drawing/2014/main" id="{0F4E2DE7-39F9-4116-AA10-0C2F8544327D}"/>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C422A7C3-6D9D-4A0E-BC7C-516D46254D7F}"/>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pursuing any account with no identified gate owner.</a:t>
            </a:r>
          </a:p>
        </p:txBody>
      </p:sp>
      <p:sp>
        <p:nvSpPr>
          <p:cNvPr id="51" name="">
            <a:extLst xmlns:a="http://schemas.openxmlformats.org/drawingml/2006/main">
              <a:ext uri="{FF2B5EF4-FFF2-40B4-BE49-F238E27FC236}">
                <a16:creationId xmlns:a16="http://schemas.microsoft.com/office/drawing/2014/main" id="{42F59A31-A218-4A46-B710-BA756120062D}"/>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5ADC845-BEAE-42D6-8FCA-923E5AEFFA1F}"/>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1BBF20CE-CE9F-4D67-A741-F786F233CEA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22</a:t>
            </a:r>
          </a:p>
        </p:txBody>
      </p:sp>
    </p:spTree>
    <p:extLst>
      <p:ext uri="{BB962C8B-B14F-4D97-AF65-F5344CB8AC3E}">
        <p14:creationId xmlns:p14="http://schemas.microsoft.com/office/powerpoint/2010/main" val="70964432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28FB4832-61FF-4B6E-ADED-F9EA326A334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F53563F-2B56-4376-8A1E-F86169F96F1E}"/>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B97E803-67D7-48EE-BBC2-A1187AD10A5C}"/>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727ECB6B-26F5-4FFE-8DD7-BE625706F074}"/>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6A88DA5D-670A-44F6-9E53-FEABF0010E98}"/>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Government differentiation must shift from sovereignty alone to demonstrable performance</a:t>
            </a:r>
          </a:p>
        </p:txBody>
      </p:sp>
      <p:sp>
        <p:nvSpPr>
          <p:cNvPr id="6" name="">
            <a:extLst xmlns:a="http://schemas.openxmlformats.org/drawingml/2006/main">
              <a:ext uri="{FF2B5EF4-FFF2-40B4-BE49-F238E27FC236}">
                <a16:creationId xmlns:a16="http://schemas.microsoft.com/office/drawing/2014/main" id="{A25AA83C-9550-4C77-8A8E-F556642102EB}"/>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8E20F7F-1A1D-41A7-B0FE-3385D2F938C4}"/>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Which government-market position is defensible, what must be true, and how should DeepGrid respond?</a:t>
            </a:r>
          </a:p>
        </p:txBody>
      </p:sp>
      <p:sp>
        <p:nvSpPr>
          <p:cNvPr id="8" name="">
            <a:extLst xmlns:a="http://schemas.openxmlformats.org/drawingml/2006/main">
              <a:ext uri="{FF2B5EF4-FFF2-40B4-BE49-F238E27FC236}">
                <a16:creationId xmlns:a16="http://schemas.microsoft.com/office/drawing/2014/main" id="{4B8D7FC8-43C0-4076-8CA5-EB804D63D5B9}"/>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5741B22D-27A6-4229-B849-27E2F88FA375}"/>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F41166B-2C27-4517-900E-E93395858AF3}"/>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7087E347-AE1D-40B2-9067-32F0AF6CD470}"/>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Sovereignty alone no longer differentiates: Starkenn is India-incorporated and already reports government tender revenue. Lead instead with procurable performance, design escrow, serviceability and spares.</a:t>
            </a:r>
          </a:p>
        </p:txBody>
      </p:sp>
      <p:sp>
        <p:nvSpPr>
          <p:cNvPr id="12" name="">
            <a:extLst xmlns:a="http://schemas.openxmlformats.org/drawingml/2006/main">
              <a:ext uri="{FF2B5EF4-FFF2-40B4-BE49-F238E27FC236}">
                <a16:creationId xmlns:a16="http://schemas.microsoft.com/office/drawing/2014/main" id="{3D5645E8-4023-42F8-A0F8-33638DC515BB}"/>
              </a:ext>
            </a:extLst>
          </p:cNvPr>
          <p:cNvSpPr>
            <a:spLocks xmlns:a="http://schemas.openxmlformats.org/drawingml/2006/main" noGrp="1"/>
          </p:cNvSpPr>
          <p:nvPr/>
        </p:nvSpPr>
        <p:spPr>
          <a:xfrm xmlns:a="http://schemas.openxmlformats.org/drawingml/2006/main">
            <a:off x="457200"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1AE5580A-3920-40B7-8BA2-C44146171127}"/>
              </a:ext>
            </a:extLst>
          </p:cNvPr>
          <p:cNvSpPr>
            <a:spLocks xmlns:a="http://schemas.openxmlformats.org/drawingml/2006/main" noGrp="1"/>
          </p:cNvSpPr>
          <p:nvPr/>
        </p:nvSpPr>
        <p:spPr>
          <a:xfrm xmlns:a="http://schemas.openxmlformats.org/drawingml/2006/main">
            <a:off x="457200"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21206A1-1273-4D53-AE88-5F457A6A57BA}"/>
              </a:ext>
            </a:extLst>
          </p:cNvPr>
          <p:cNvSpPr>
            <a:spLocks xmlns:a="http://schemas.openxmlformats.org/drawingml/2006/main" noGrp="1"/>
          </p:cNvSpPr>
          <p:nvPr/>
        </p:nvSpPr>
        <p:spPr>
          <a:xfrm xmlns:a="http://schemas.openxmlformats.org/drawingml/2006/main">
            <a:off x="571500"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3E44B7AC-6BC5-437D-B834-885428A3A704}"/>
              </a:ext>
            </a:extLst>
          </p:cNvPr>
          <p:cNvSpPr>
            <a:spLocks xmlns:a="http://schemas.openxmlformats.org/drawingml/2006/main" noGrp="1"/>
          </p:cNvSpPr>
          <p:nvPr/>
        </p:nvSpPr>
        <p:spPr>
          <a:xfrm xmlns:a="http://schemas.openxmlformats.org/drawingml/2006/main">
            <a:off x="819150"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BUYER REALITY</a:t>
            </a:r>
          </a:p>
        </p:txBody>
      </p:sp>
      <p:sp>
        <p:nvSpPr>
          <p:cNvPr id="16" name="">
            <a:extLst xmlns:a="http://schemas.openxmlformats.org/drawingml/2006/main">
              <a:ext uri="{FF2B5EF4-FFF2-40B4-BE49-F238E27FC236}">
                <a16:creationId xmlns:a16="http://schemas.microsoft.com/office/drawing/2014/main" id="{9036BFF4-A008-4475-8205-7C28A6EE0081}"/>
              </a:ext>
            </a:extLst>
          </p:cNvPr>
          <p:cNvSpPr>
            <a:spLocks xmlns:a="http://schemas.openxmlformats.org/drawingml/2006/main" noGrp="1"/>
          </p:cNvSpPr>
          <p:nvPr/>
        </p:nvSpPr>
        <p:spPr>
          <a:xfrm xmlns:a="http://schemas.openxmlformats.org/drawingml/2006/main">
            <a:off x="571500"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Eligibility, named tender references, vehicle compatibility, local service, spares and acceptance tests are the actual purchase criteria. Eligibility requirements Named tender references Lo…</a:t>
            </a:r>
          </a:p>
        </p:txBody>
      </p:sp>
      <p:sp>
        <p:nvSpPr>
          <p:cNvPr id="17" name="">
            <a:extLst xmlns:a="http://schemas.openxmlformats.org/drawingml/2006/main">
              <a:ext uri="{FF2B5EF4-FFF2-40B4-BE49-F238E27FC236}">
                <a16:creationId xmlns:a16="http://schemas.microsoft.com/office/drawing/2014/main" id="{E13AB61B-623B-4FC0-8CA1-12F28DA64DE1}"/>
              </a:ext>
            </a:extLst>
          </p:cNvPr>
          <p:cNvSpPr>
            <a:spLocks xmlns:a="http://schemas.openxmlformats.org/drawingml/2006/main" noGrp="1"/>
          </p:cNvSpPr>
          <p:nvPr/>
        </p:nvSpPr>
        <p:spPr>
          <a:xfrm xmlns:a="http://schemas.openxmlformats.org/drawingml/2006/main">
            <a:off x="3119438"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C460785-10EA-41F9-A3BD-91BC74F8E589}"/>
              </a:ext>
            </a:extLst>
          </p:cNvPr>
          <p:cNvSpPr>
            <a:spLocks xmlns:a="http://schemas.openxmlformats.org/drawingml/2006/main" noGrp="1"/>
          </p:cNvSpPr>
          <p:nvPr/>
        </p:nvSpPr>
        <p:spPr>
          <a:xfrm xmlns:a="http://schemas.openxmlformats.org/drawingml/2006/main">
            <a:off x="3348038"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DA011E7A-1CFE-41D3-A446-F6830FD84CC4}"/>
              </a:ext>
            </a:extLst>
          </p:cNvPr>
          <p:cNvSpPr>
            <a:spLocks xmlns:a="http://schemas.openxmlformats.org/drawingml/2006/main" noGrp="1"/>
          </p:cNvSpPr>
          <p:nvPr/>
        </p:nvSpPr>
        <p:spPr>
          <a:xfrm xmlns:a="http://schemas.openxmlformats.org/drawingml/2006/main">
            <a:off x="3348038"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93AAA56-A10D-4D7A-A5BE-65E671F15F66}"/>
              </a:ext>
            </a:extLst>
          </p:cNvPr>
          <p:cNvSpPr>
            <a:spLocks xmlns:a="http://schemas.openxmlformats.org/drawingml/2006/main" noGrp="1"/>
          </p:cNvSpPr>
          <p:nvPr/>
        </p:nvSpPr>
        <p:spPr>
          <a:xfrm xmlns:a="http://schemas.openxmlformats.org/drawingml/2006/main">
            <a:off x="3462338"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D1002F2B-A24A-4FC0-882E-B4532D9BFBF8}"/>
              </a:ext>
            </a:extLst>
          </p:cNvPr>
          <p:cNvSpPr>
            <a:spLocks xmlns:a="http://schemas.openxmlformats.org/drawingml/2006/main" noGrp="1"/>
          </p:cNvSpPr>
          <p:nvPr/>
        </p:nvSpPr>
        <p:spPr>
          <a:xfrm xmlns:a="http://schemas.openxmlformats.org/drawingml/2006/main">
            <a:off x="3709988"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COMPETITIVE PROOF</a:t>
            </a:r>
          </a:p>
        </p:txBody>
      </p:sp>
      <p:sp>
        <p:nvSpPr>
          <p:cNvPr id="22" name="">
            <a:extLst xmlns:a="http://schemas.openxmlformats.org/drawingml/2006/main">
              <a:ext uri="{FF2B5EF4-FFF2-40B4-BE49-F238E27FC236}">
                <a16:creationId xmlns:a16="http://schemas.microsoft.com/office/drawing/2014/main" id="{8FD1555E-57BC-4F52-8294-A4A13A9E89D8}"/>
              </a:ext>
            </a:extLst>
          </p:cNvPr>
          <p:cNvSpPr>
            <a:spLocks xmlns:a="http://schemas.openxmlformats.org/drawingml/2006/main" noGrp="1"/>
          </p:cNvSpPr>
          <p:nvPr/>
        </p:nvSpPr>
        <p:spPr>
          <a:xfrm xmlns:a="http://schemas.openxmlformats.org/drawingml/2006/main">
            <a:off x="3462338"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Starkenn is India-incorporated and reports government-tender revenue, weakening DeepGrid's foreign-dependency narrative. India incorporation status Govt tender revenue Local presence proof</a:t>
            </a:r>
          </a:p>
        </p:txBody>
      </p:sp>
      <p:sp>
        <p:nvSpPr>
          <p:cNvPr id="23" name="">
            <a:extLst xmlns:a="http://schemas.openxmlformats.org/drawingml/2006/main">
              <a:ext uri="{FF2B5EF4-FFF2-40B4-BE49-F238E27FC236}">
                <a16:creationId xmlns:a16="http://schemas.microsoft.com/office/drawing/2014/main" id="{3181FAAA-C4CC-4512-9A15-FDA3F6749C79}"/>
              </a:ext>
            </a:extLst>
          </p:cNvPr>
          <p:cNvSpPr>
            <a:spLocks xmlns:a="http://schemas.openxmlformats.org/drawingml/2006/main" noGrp="1"/>
          </p:cNvSpPr>
          <p:nvPr/>
        </p:nvSpPr>
        <p:spPr>
          <a:xfrm xmlns:a="http://schemas.openxmlformats.org/drawingml/2006/main">
            <a:off x="6010275"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9F00ADC-986B-4B08-87A3-521BBA0495A7}"/>
              </a:ext>
            </a:extLst>
          </p:cNvPr>
          <p:cNvSpPr>
            <a:spLocks xmlns:a="http://schemas.openxmlformats.org/drawingml/2006/main" noGrp="1"/>
          </p:cNvSpPr>
          <p:nvPr/>
        </p:nvSpPr>
        <p:spPr>
          <a:xfrm xmlns:a="http://schemas.openxmlformats.org/drawingml/2006/main">
            <a:off x="6238875"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F406E24D-1F23-490C-852A-032CD00DF6FC}"/>
              </a:ext>
            </a:extLst>
          </p:cNvPr>
          <p:cNvSpPr>
            <a:spLocks xmlns:a="http://schemas.openxmlformats.org/drawingml/2006/main" noGrp="1"/>
          </p:cNvSpPr>
          <p:nvPr/>
        </p:nvSpPr>
        <p:spPr>
          <a:xfrm xmlns:a="http://schemas.openxmlformats.org/drawingml/2006/main">
            <a:off x="6238875"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D066F69-1B66-47EE-A395-795406AAE829}"/>
              </a:ext>
            </a:extLst>
          </p:cNvPr>
          <p:cNvSpPr>
            <a:spLocks xmlns:a="http://schemas.openxmlformats.org/drawingml/2006/main" noGrp="1"/>
          </p:cNvSpPr>
          <p:nvPr/>
        </p:nvSpPr>
        <p:spPr>
          <a:xfrm xmlns:a="http://schemas.openxmlformats.org/drawingml/2006/main">
            <a:off x="6353175"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E37BC5C4-835F-44CB-9E49-03196C6A35E0}"/>
              </a:ext>
            </a:extLst>
          </p:cNvPr>
          <p:cNvSpPr>
            <a:spLocks xmlns:a="http://schemas.openxmlformats.org/drawingml/2006/main" noGrp="1"/>
          </p:cNvSpPr>
          <p:nvPr/>
        </p:nvSpPr>
        <p:spPr>
          <a:xfrm xmlns:a="http://schemas.openxmlformats.org/drawingml/2006/main">
            <a:off x="6600825"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STRATEGIC TURN</a:t>
            </a:r>
          </a:p>
        </p:txBody>
      </p:sp>
      <p:sp>
        <p:nvSpPr>
          <p:cNvPr id="28" name="">
            <a:extLst xmlns:a="http://schemas.openxmlformats.org/drawingml/2006/main">
              <a:ext uri="{FF2B5EF4-FFF2-40B4-BE49-F238E27FC236}">
                <a16:creationId xmlns:a16="http://schemas.microsoft.com/office/drawing/2014/main" id="{60EC7CC5-31D5-4A4D-9A03-8E55FD36FA74}"/>
              </a:ext>
            </a:extLst>
          </p:cNvPr>
          <p:cNvSpPr>
            <a:spLocks xmlns:a="http://schemas.openxmlformats.org/drawingml/2006/main" noGrp="1"/>
          </p:cNvSpPr>
          <p:nvPr/>
        </p:nvSpPr>
        <p:spPr>
          <a:xfrm xmlns:a="http://schemas.openxmlformats.org/drawingml/2006/main">
            <a:off x="6353175"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Owned silicon should be expressed through escrow, repairability, supply continuity and local serviceability. Escrow mechanisms Repairability focus Supply continuity</a:t>
            </a:r>
          </a:p>
        </p:txBody>
      </p:sp>
      <p:sp>
        <p:nvSpPr>
          <p:cNvPr id="29" name="">
            <a:extLst xmlns:a="http://schemas.openxmlformats.org/drawingml/2006/main">
              <a:ext uri="{FF2B5EF4-FFF2-40B4-BE49-F238E27FC236}">
                <a16:creationId xmlns:a16="http://schemas.microsoft.com/office/drawing/2014/main" id="{BDAA87FC-941A-4E39-9364-6C0655B9CE1A}"/>
              </a:ext>
            </a:extLst>
          </p:cNvPr>
          <p:cNvSpPr>
            <a:spLocks xmlns:a="http://schemas.openxmlformats.org/drawingml/2006/main" noGrp="1"/>
          </p:cNvSpPr>
          <p:nvPr/>
        </p:nvSpPr>
        <p:spPr>
          <a:xfrm xmlns:a="http://schemas.openxmlformats.org/drawingml/2006/main">
            <a:off x="8901113"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CFDDA35-8F9A-4658-88A5-63E04C3C6872}"/>
              </a:ext>
            </a:extLst>
          </p:cNvPr>
          <p:cNvSpPr>
            <a:spLocks xmlns:a="http://schemas.openxmlformats.org/drawingml/2006/main" noGrp="1"/>
          </p:cNvSpPr>
          <p:nvPr/>
        </p:nvSpPr>
        <p:spPr>
          <a:xfrm xmlns:a="http://schemas.openxmlformats.org/drawingml/2006/main">
            <a:off x="9129713"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ADA24571-162A-4057-8C86-E356304AAFED}"/>
              </a:ext>
            </a:extLst>
          </p:cNvPr>
          <p:cNvSpPr>
            <a:spLocks xmlns:a="http://schemas.openxmlformats.org/drawingml/2006/main" noGrp="1"/>
          </p:cNvSpPr>
          <p:nvPr/>
        </p:nvSpPr>
        <p:spPr>
          <a:xfrm xmlns:a="http://schemas.openxmlformats.org/drawingml/2006/main">
            <a:off x="9129713" y="21526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A0DF65F-F023-4523-A426-A443C1B34C5E}"/>
              </a:ext>
            </a:extLst>
          </p:cNvPr>
          <p:cNvSpPr>
            <a:spLocks xmlns:a="http://schemas.openxmlformats.org/drawingml/2006/main" noGrp="1"/>
          </p:cNvSpPr>
          <p:nvPr/>
        </p:nvSpPr>
        <p:spPr>
          <a:xfrm xmlns:a="http://schemas.openxmlformats.org/drawingml/2006/main">
            <a:off x="9244013"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C1A9629B-60E7-4F09-916B-770A694E32EF}"/>
              </a:ext>
            </a:extLst>
          </p:cNvPr>
          <p:cNvSpPr>
            <a:spLocks xmlns:a="http://schemas.openxmlformats.org/drawingml/2006/main" noGrp="1"/>
          </p:cNvSpPr>
          <p:nvPr/>
        </p:nvSpPr>
        <p:spPr>
          <a:xfrm xmlns:a="http://schemas.openxmlformats.org/drawingml/2006/main">
            <a:off x="9491663"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ABEBCE5E-3142-4B70-8E8D-01BE5A3AE0AA}"/>
              </a:ext>
            </a:extLst>
          </p:cNvPr>
          <p:cNvSpPr>
            <a:spLocks xmlns:a="http://schemas.openxmlformats.org/drawingml/2006/main" noGrp="1"/>
          </p:cNvSpPr>
          <p:nvPr/>
        </p:nvSpPr>
        <p:spPr>
          <a:xfrm xmlns:a="http://schemas.openxmlformats.org/drawingml/2006/main">
            <a:off x="9244013"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revised response documents eligibility, service, spares, escrow and acceptance tests for government evaluation. Documentation ready Service network mapped Escrow in place</a:t>
            </a:r>
          </a:p>
        </p:txBody>
      </p:sp>
      <p:sp>
        <p:nvSpPr>
          <p:cNvPr id="35" name="">
            <a:extLst xmlns:a="http://schemas.openxmlformats.org/drawingml/2006/main">
              <a:ext uri="{FF2B5EF4-FFF2-40B4-BE49-F238E27FC236}">
                <a16:creationId xmlns:a16="http://schemas.microsoft.com/office/drawing/2014/main" id="{755DE5AB-A693-43B7-A8AB-7BE6EB45DFEF}"/>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BCEC261C-DFC7-4705-B37F-5D4E1BADBF22}"/>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3BD8D69-E9F3-49CC-A2E5-27E1F46D0D19}"/>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3DCCF57A-D2DB-4D81-B39D-2611AB2CFA58}"/>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When a rival already satisfies the nationality criterion, that criterion stops separating bidders and the decision falls back to what procurement can actually score — eligibility, service reach and lifecycle cost.</a:t>
            </a:r>
          </a:p>
        </p:txBody>
      </p:sp>
      <p:sp>
        <p:nvSpPr>
          <p:cNvPr id="39" name="">
            <a:extLst xmlns:a="http://schemas.openxmlformats.org/drawingml/2006/main">
              <a:ext uri="{FF2B5EF4-FFF2-40B4-BE49-F238E27FC236}">
                <a16:creationId xmlns:a16="http://schemas.microsoft.com/office/drawing/2014/main" id="{B76719A7-C266-40FB-B95F-095CC7238D47}"/>
              </a:ext>
            </a:extLst>
          </p:cNvPr>
          <p:cNvSpPr>
            <a:spLocks xmlns:a="http://schemas.openxmlformats.org/drawingml/2006/main" noGrp="1"/>
          </p:cNvSpPr>
          <p:nvPr/>
        </p:nvSpPr>
        <p:spPr>
          <a:xfrm xmlns:a="http://schemas.openxmlformats.org/drawingml/2006/main">
            <a:off x="6153150" y="472440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68C747E6-C2AE-4BA4-9F01-47BDEFE30153}"/>
              </a:ext>
            </a:extLst>
          </p:cNvPr>
          <p:cNvSpPr>
            <a:spLocks xmlns:a="http://schemas.openxmlformats.org/drawingml/2006/main" noGrp="1"/>
          </p:cNvSpPr>
          <p:nvPr/>
        </p:nvSpPr>
        <p:spPr>
          <a:xfrm xmlns:a="http://schemas.openxmlformats.org/drawingml/2006/main">
            <a:off x="6153150" y="47244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66E93B6A-EAE5-4A48-A18A-4E793E950A53}"/>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A0747E04-9302-4A2C-8888-E4C99C77BCE5}"/>
              </a:ext>
            </a:extLst>
          </p:cNvPr>
          <p:cNvSpPr>
            <a:spLocks xmlns:a="http://schemas.openxmlformats.org/drawingml/2006/main" noGrp="1"/>
          </p:cNvSpPr>
          <p:nvPr/>
        </p:nvSpPr>
        <p:spPr>
          <a:xfrm xmlns:a="http://schemas.openxmlformats.org/drawingml/2006/main">
            <a:off x="6276975" y="49403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using 'India-native' as the lead claim in any tender response.</a:t>
            </a:r>
          </a:p>
        </p:txBody>
      </p:sp>
      <p:sp>
        <p:nvSpPr>
          <p:cNvPr id="43" name="">
            <a:extLst xmlns:a="http://schemas.openxmlformats.org/drawingml/2006/main">
              <a:ext uri="{FF2B5EF4-FFF2-40B4-BE49-F238E27FC236}">
                <a16:creationId xmlns:a16="http://schemas.microsoft.com/office/drawing/2014/main" id="{F10D4D38-C882-48D2-A260-27263CDBEAC3}"/>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E37A7B9A-68E8-47DD-9791-4B0C877398B7}"/>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65FCF14A-13C1-4178-935D-B7E406CB2489}"/>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47B63EF5-2C65-4056-A670-A59442A7D6A9}"/>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Rewrite the government pitch and one tender response around eligibility, service, spares, escrow</a:t>
            </a:r>
          </a:p>
        </p:txBody>
      </p:sp>
      <p:sp>
        <p:nvSpPr>
          <p:cNvPr id="47" name="">
            <a:extLst xmlns:a="http://schemas.openxmlformats.org/drawingml/2006/main">
              <a:ext uri="{FF2B5EF4-FFF2-40B4-BE49-F238E27FC236}">
                <a16:creationId xmlns:a16="http://schemas.microsoft.com/office/drawing/2014/main" id="{3990BC95-E73B-47AE-91E5-AB1556FC19F1}"/>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F34BBFC3-A7A1-4F18-9616-5012F06DA924}"/>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Government Sales</a:t>
            </a:r>
          </a:p>
          <a:p xmlns:a="http://schemas.openxmlformats.org/drawingml/2006/main">
            <a:pPr algn="l">
              <a:defRPr sz="800">
                <a:solidFill>
                  <a:srgbClr val="8EA0B2"/>
                </a:solidFill>
                <a:latin typeface="Arial"/>
                <a:ea typeface="Arial"/>
                <a:cs typeface="Arial"/>
              </a:defRPr>
            </a:pPr>
            <a:r>
              <a:t>Trigger · Draft within 7 days; submit for internal review by Friday</a:t>
            </a:r>
          </a:p>
        </p:txBody>
      </p:sp>
      <p:sp>
        <p:nvSpPr>
          <p:cNvPr id="49" name="">
            <a:extLst xmlns:a="http://schemas.openxmlformats.org/drawingml/2006/main">
              <a:ext uri="{FF2B5EF4-FFF2-40B4-BE49-F238E27FC236}">
                <a16:creationId xmlns:a16="http://schemas.microsoft.com/office/drawing/2014/main" id="{B82367E3-E7A1-4509-8FD7-772CBD9026D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D22C2BAA-DC56-4777-85C2-E9F8856AF216}"/>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using 'India-native' as the lead claim in any tender response.</a:t>
            </a:r>
          </a:p>
        </p:txBody>
      </p:sp>
      <p:sp>
        <p:nvSpPr>
          <p:cNvPr id="51" name="">
            <a:extLst xmlns:a="http://schemas.openxmlformats.org/drawingml/2006/main">
              <a:ext uri="{FF2B5EF4-FFF2-40B4-BE49-F238E27FC236}">
                <a16:creationId xmlns:a16="http://schemas.microsoft.com/office/drawing/2014/main" id="{F7B2880D-3616-43CE-859A-DD54CD279B0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576838F1-DA55-498E-9D3D-448810D02279}"/>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6AE24E19-7876-490E-931A-C0065DAD383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23</a:t>
            </a:r>
          </a:p>
        </p:txBody>
      </p:sp>
    </p:spTree>
    <p:extLst>
      <p:ext uri="{BB962C8B-B14F-4D97-AF65-F5344CB8AC3E}">
        <p14:creationId xmlns:p14="http://schemas.microsoft.com/office/powerpoint/2010/main" val="111685092"/>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6F3A3A52-1480-43F2-9BB3-0904933B4D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F46A60D-384E-4E3E-AB97-C66710791B1E}"/>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4FC3842-E07C-48AB-912E-D32995E1FE83}"/>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0778E2BB-8A25-4003-8316-E999911B6D86}"/>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AB11C0A3-0F15-43DA-B4D1-F51DFB9F908B}"/>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OEM entry: treat named braking Tier-1 integration as the market-entry event</a:t>
            </a:r>
          </a:p>
        </p:txBody>
      </p:sp>
      <p:sp>
        <p:nvSpPr>
          <p:cNvPr id="6" name="">
            <a:extLst xmlns:a="http://schemas.openxmlformats.org/drawingml/2006/main">
              <a:ext uri="{FF2B5EF4-FFF2-40B4-BE49-F238E27FC236}">
                <a16:creationId xmlns:a16="http://schemas.microsoft.com/office/drawing/2014/main" id="{5705619A-FDEB-4F0E-AF70-7FC4C40EB4B4}"/>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12366D4-A95F-40E1-B052-C226130B3E53}"/>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Should DeepGrid enter through a Tier-1 attach path or lead system ownership for OEM entry?</a:t>
            </a:r>
          </a:p>
        </p:txBody>
      </p:sp>
      <p:sp>
        <p:nvSpPr>
          <p:cNvPr id="8" name="">
            <a:extLst xmlns:a="http://schemas.openxmlformats.org/drawingml/2006/main">
              <a:ext uri="{FF2B5EF4-FFF2-40B4-BE49-F238E27FC236}">
                <a16:creationId xmlns:a16="http://schemas.microsoft.com/office/drawing/2014/main" id="{BF8DF0D6-F298-483B-8A5A-6B7525B4152E}"/>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6F1201F3-480A-4D25-BADA-DE5140A764B6}"/>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3499432-4697-4B4C-889E-F1AE01484581}"/>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D97F7E07-9EB1-4ACD-8C39-2BCFB3B38FE7}"/>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Enter through a named braking Tier-1 integration rather than system ownership. The market-entry event is a Tier-1 programme evaluation, not an OEM logo.</a:t>
            </a:r>
          </a:p>
        </p:txBody>
      </p:sp>
      <p:sp>
        <p:nvSpPr>
          <p:cNvPr id="12" name="">
            <a:extLst xmlns:a="http://schemas.openxmlformats.org/drawingml/2006/main">
              <a:ext uri="{FF2B5EF4-FFF2-40B4-BE49-F238E27FC236}">
                <a16:creationId xmlns:a16="http://schemas.microsoft.com/office/drawing/2014/main" id="{EF2D2CE0-795E-4E4E-8E21-CE7F743C5407}"/>
              </a:ext>
            </a:extLst>
          </p:cNvPr>
          <p:cNvSpPr>
            <a:spLocks xmlns:a="http://schemas.openxmlformats.org/drawingml/2006/main" noGrp="1"/>
          </p:cNvSpPr>
          <p:nvPr/>
        </p:nvSpPr>
        <p:spPr>
          <a:xfrm xmlns:a="http://schemas.openxmlformats.org/drawingml/2006/main">
            <a:off x="457200" y="1841500"/>
            <a:ext cx="3695700" cy="2505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4AFBD6A3-A0C3-45E0-A51A-CAA930CE86AA}"/>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07D2EA7-BDAD-40B7-8E74-F56D8DF102CD}"/>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D5422B95-D805-423F-BBF1-6E8D44E9E6F7}"/>
              </a:ext>
            </a:extLst>
          </p:cNvPr>
          <p:cNvSpPr>
            <a:spLocks xmlns:a="http://schemas.openxmlformats.org/drawingml/2006/main" noGrp="1"/>
          </p:cNvSpPr>
          <p:nvPr/>
        </p:nvSpPr>
        <p:spPr>
          <a:xfrm xmlns:a="http://schemas.openxmlformats.org/drawingml/2006/main">
            <a:off x="571500" y="2108200"/>
            <a:ext cx="3448050"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Enter through a named braking Tier-1 integration rather than system ownership. The market-entry event is a Tier-1 programme evaluation, not an OEM logo.</a:t>
            </a:r>
          </a:p>
        </p:txBody>
      </p:sp>
      <p:sp>
        <p:nvSpPr>
          <p:cNvPr id="16" name="">
            <a:extLst xmlns:a="http://schemas.openxmlformats.org/drawingml/2006/main">
              <a:ext uri="{FF2B5EF4-FFF2-40B4-BE49-F238E27FC236}">
                <a16:creationId xmlns:a16="http://schemas.microsoft.com/office/drawing/2014/main" id="{5CCECD40-7DD3-43AA-BA18-53DF6F6A41B1}"/>
              </a:ext>
            </a:extLst>
          </p:cNvPr>
          <p:cNvSpPr>
            <a:spLocks xmlns:a="http://schemas.openxmlformats.org/drawingml/2006/main" noGrp="1"/>
          </p:cNvSpPr>
          <p:nvPr/>
        </p:nvSpPr>
        <p:spPr>
          <a:xfrm xmlns:a="http://schemas.openxmlformats.org/drawingml/2006/main">
            <a:off x="4248150" y="1841500"/>
            <a:ext cx="3695700" cy="2505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7F3A7965-547B-4146-9010-A62C79E33A97}"/>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E2765C1-E0C8-4B8E-B0A8-A6ADA8C2F129}"/>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619510F1-8DF5-49DF-A227-9904AB191533}"/>
              </a:ext>
            </a:extLst>
          </p:cNvPr>
          <p:cNvSpPr>
            <a:spLocks xmlns:a="http://schemas.openxmlformats.org/drawingml/2006/main" noGrp="1"/>
          </p:cNvSpPr>
          <p:nvPr/>
        </p:nvSpPr>
        <p:spPr>
          <a:xfrm xmlns:a="http://schemas.openxmlformats.org/drawingml/2006/main">
            <a:off x="4362450" y="2108200"/>
            <a:ext cx="3448050"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 Tier-1 attach path makes DeepGrid dependent on a partner's roadmap, and can delay entry indefinitely if that partner deprioritises the programme.</a:t>
            </a:r>
          </a:p>
        </p:txBody>
      </p:sp>
      <p:sp>
        <p:nvSpPr>
          <p:cNvPr id="20" name="">
            <a:extLst xmlns:a="http://schemas.openxmlformats.org/drawingml/2006/main">
              <a:ext uri="{FF2B5EF4-FFF2-40B4-BE49-F238E27FC236}">
                <a16:creationId xmlns:a16="http://schemas.microsoft.com/office/drawing/2014/main" id="{A386BD33-49B2-4E4E-A2B6-F4DBB35EB0E4}"/>
              </a:ext>
            </a:extLst>
          </p:cNvPr>
          <p:cNvSpPr>
            <a:spLocks xmlns:a="http://schemas.openxmlformats.org/drawingml/2006/main" noGrp="1"/>
          </p:cNvSpPr>
          <p:nvPr/>
        </p:nvSpPr>
        <p:spPr>
          <a:xfrm xmlns:a="http://schemas.openxmlformats.org/drawingml/2006/main">
            <a:off x="8039100" y="1841500"/>
            <a:ext cx="3695700" cy="2505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5477ED9C-9258-4112-B5F6-43D9B5CADF35}"/>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DEDD21F-F1C6-4906-9B65-FA5B65118F6A}"/>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55CDEA85-451B-4001-AFC0-6D9C6C49C418}"/>
              </a:ext>
            </a:extLst>
          </p:cNvPr>
          <p:cNvSpPr>
            <a:spLocks xmlns:a="http://schemas.openxmlformats.org/drawingml/2006/main" noGrp="1"/>
          </p:cNvSpPr>
          <p:nvPr/>
        </p:nvSpPr>
        <p:spPr>
          <a:xfrm xmlns:a="http://schemas.openxmlformats.org/drawingml/2006/main">
            <a:off x="8153400" y="2108200"/>
            <a:ext cx="3448050"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Entry Logic DGS001 enters as bounded perception IP with documented interfaces</a:t>
            </a:r>
          </a:p>
        </p:txBody>
      </p:sp>
      <p:sp>
        <p:nvSpPr>
          <p:cNvPr id="24" name="">
            <a:extLst xmlns:a="http://schemas.openxmlformats.org/drawingml/2006/main">
              <a:ext uri="{FF2B5EF4-FFF2-40B4-BE49-F238E27FC236}">
                <a16:creationId xmlns:a16="http://schemas.microsoft.com/office/drawing/2014/main" id="{07A262AB-1252-4275-9432-46AF51204636}"/>
              </a:ext>
            </a:extLst>
          </p:cNvPr>
          <p:cNvSpPr>
            <a:spLocks xmlns:a="http://schemas.openxmlformats.org/drawingml/2006/main" noGrp="1"/>
          </p:cNvSpPr>
          <p:nvPr/>
        </p:nvSpPr>
        <p:spPr>
          <a:xfrm xmlns:a="http://schemas.openxmlformats.org/drawingml/2006/main">
            <a:off x="457200" y="446087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00FADFD8-AA30-4053-AC0E-DAB2BBD3578A}"/>
              </a:ext>
            </a:extLst>
          </p:cNvPr>
          <p:cNvSpPr>
            <a:spLocks xmlns:a="http://schemas.openxmlformats.org/drawingml/2006/main" noGrp="1"/>
          </p:cNvSpPr>
          <p:nvPr/>
        </p:nvSpPr>
        <p:spPr>
          <a:xfrm xmlns:a="http://schemas.openxmlformats.org/drawingml/2006/main">
            <a:off x="457200" y="446087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4BEDC79-6A8F-4212-8402-8F39E31684F1}"/>
              </a:ext>
            </a:extLst>
          </p:cNvPr>
          <p:cNvSpPr>
            <a:spLocks xmlns:a="http://schemas.openxmlformats.org/drawingml/2006/main" noGrp="1"/>
          </p:cNvSpPr>
          <p:nvPr/>
        </p:nvSpPr>
        <p:spPr>
          <a:xfrm xmlns:a="http://schemas.openxmlformats.org/drawingml/2006/main">
            <a:off x="581025" y="45275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594A6064-54B8-40E5-BCC4-1741F9D145F4}"/>
              </a:ext>
            </a:extLst>
          </p:cNvPr>
          <p:cNvSpPr>
            <a:spLocks xmlns:a="http://schemas.openxmlformats.org/drawingml/2006/main" noGrp="1"/>
          </p:cNvSpPr>
          <p:nvPr/>
        </p:nvSpPr>
        <p:spPr>
          <a:xfrm xmlns:a="http://schemas.openxmlformats.org/drawingml/2006/main">
            <a:off x="581025" y="467677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an Indian CV OEM evaluates DeepGrid directly and completes qualification with no Tier-1 in the loop.</a:t>
            </a:r>
          </a:p>
        </p:txBody>
      </p:sp>
      <p:sp>
        <p:nvSpPr>
          <p:cNvPr id="28" name="">
            <a:extLst xmlns:a="http://schemas.openxmlformats.org/drawingml/2006/main">
              <a:ext uri="{FF2B5EF4-FFF2-40B4-BE49-F238E27FC236}">
                <a16:creationId xmlns:a16="http://schemas.microsoft.com/office/drawing/2014/main" id="{71CD2EE3-B353-4CC4-BFF1-F7D8276724F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F35EBFF-9609-4349-A097-DE7BA222257A}"/>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881B986-A7D0-46E9-B029-AC8C4567FC1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7E258BB6-CCA9-44B0-B1A3-3C04D01F6D3C}"/>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Gate OEM positioning on one named Tier-1 programme evaluation</a:t>
            </a:r>
          </a:p>
        </p:txBody>
      </p:sp>
      <p:sp>
        <p:nvSpPr>
          <p:cNvPr id="32" name="">
            <a:extLst xmlns:a="http://schemas.openxmlformats.org/drawingml/2006/main">
              <a:ext uri="{FF2B5EF4-FFF2-40B4-BE49-F238E27FC236}">
                <a16:creationId xmlns:a16="http://schemas.microsoft.com/office/drawing/2014/main" id="{37131A77-2951-4D3F-8F75-2C38D60C96FA}"/>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8F848F23-899F-4277-9291-651D4EAD9FE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First named Tier-1 programme evaluation opened.</a:t>
            </a:r>
          </a:p>
        </p:txBody>
      </p:sp>
      <p:sp>
        <p:nvSpPr>
          <p:cNvPr id="34" name="">
            <a:extLst xmlns:a="http://schemas.openxmlformats.org/drawingml/2006/main">
              <a:ext uri="{FF2B5EF4-FFF2-40B4-BE49-F238E27FC236}">
                <a16:creationId xmlns:a16="http://schemas.microsoft.com/office/drawing/2014/main" id="{1E3CD479-B99C-4E9A-A25D-5C742C200D64}"/>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6275CC31-23C0-48BF-BAC2-B8AF02B1F646}"/>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no Tier-1 opens an evaluation before the 2027 SOP planning lock.</a:t>
            </a:r>
          </a:p>
        </p:txBody>
      </p:sp>
      <p:sp>
        <p:nvSpPr>
          <p:cNvPr id="36" name="">
            <a:extLst xmlns:a="http://schemas.openxmlformats.org/drawingml/2006/main">
              <a:ext uri="{FF2B5EF4-FFF2-40B4-BE49-F238E27FC236}">
                <a16:creationId xmlns:a16="http://schemas.microsoft.com/office/drawing/2014/main" id="{66A85FAE-53AE-4E53-906F-18902352B649}"/>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3AF87D9-863C-4278-AD83-18B8DB0D465C}"/>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32BEAC26-7A59-4E11-8334-74ECAEF5EB9D}"/>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24</a:t>
            </a:r>
          </a:p>
        </p:txBody>
      </p:sp>
    </p:spTree>
    <p:extLst>
      <p:ext uri="{BB962C8B-B14F-4D97-AF65-F5344CB8AC3E}">
        <p14:creationId xmlns:p14="http://schemas.microsoft.com/office/powerpoint/2010/main" val="189725689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3415A81F-C768-4494-BF0B-9E2E5BCEF0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32E9881-45C1-4078-A35F-1640827DE596}"/>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ECBF7A9-920F-4506-940D-5060B5A4E20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9CC17FA2-F40F-4BEA-84A2-64A4225DE90E}"/>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316B8031-2AC2-4AF5-B389-0BCDA3E39F1C}"/>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Mining is the fastest candidate proof arena—but only a paid pilot validates</a:t>
            </a:r>
          </a:p>
        </p:txBody>
      </p:sp>
      <p:sp>
        <p:nvSpPr>
          <p:cNvPr id="6" name="">
            <a:extLst xmlns:a="http://schemas.openxmlformats.org/drawingml/2006/main">
              <a:ext uri="{FF2B5EF4-FFF2-40B4-BE49-F238E27FC236}">
                <a16:creationId xmlns:a16="http://schemas.microsoft.com/office/drawing/2014/main" id="{CA2E8C4E-B5F6-4228-B74D-92B90293DE51}"/>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D93F8DC-796A-4B17-8F63-ED734C43B58D}"/>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Which entry arena offers DeepGrid the fastest credible proof, and what evidence gates must be met?</a:t>
            </a:r>
          </a:p>
        </p:txBody>
      </p:sp>
      <p:sp>
        <p:nvSpPr>
          <p:cNvPr id="8" name="">
            <a:extLst xmlns:a="http://schemas.openxmlformats.org/drawingml/2006/main">
              <a:ext uri="{FF2B5EF4-FFF2-40B4-BE49-F238E27FC236}">
                <a16:creationId xmlns:a16="http://schemas.microsoft.com/office/drawing/2014/main" id="{8678260D-816D-4B83-B3E3-724F39C0DF01}"/>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3739594F-981F-423B-A4A3-018F81506EF6}"/>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377D15E-D881-4FB4-B29C-597F6A823C07}"/>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DC25EA84-36DD-4517-9A71-F98B15C71443}"/>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Mining offers concentrated vehicle access, controlled routes and an operator who already owns the uptime and liability case. Only a paid pilot carrying vehicle access and telemetry rights converts that into evidence.</a:t>
            </a:r>
          </a:p>
        </p:txBody>
      </p:sp>
      <p:sp>
        <p:nvSpPr>
          <p:cNvPr id="12" name="">
            <a:extLst xmlns:a="http://schemas.openxmlformats.org/drawingml/2006/main">
              <a:ext uri="{FF2B5EF4-FFF2-40B4-BE49-F238E27FC236}">
                <a16:creationId xmlns:a16="http://schemas.microsoft.com/office/drawing/2014/main" id="{501C1D7A-04F0-42A0-9FE4-788A6438BF37}"/>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C482F349-524F-4055-A1B9-0B7F0B66A809}"/>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5C82776-AE2E-493F-A935-5702920DE6C1}"/>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B9B370E8-AD3F-475E-B99B-58C1FEFB1557}"/>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WHY FASTER</a:t>
            </a:r>
          </a:p>
        </p:txBody>
      </p:sp>
      <p:sp>
        <p:nvSpPr>
          <p:cNvPr id="16" name="">
            <a:extLst xmlns:a="http://schemas.openxmlformats.org/drawingml/2006/main">
              <a:ext uri="{FF2B5EF4-FFF2-40B4-BE49-F238E27FC236}">
                <a16:creationId xmlns:a16="http://schemas.microsoft.com/office/drawing/2014/main" id="{74BB0FB5-C90A-4D85-8B08-41545FE010D7}"/>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Concentrated vehicle access, controlled routes, named safety champion, and existing mining relationships create rapid validation environment. Vehicle access established Controlled route tes…</a:t>
            </a:r>
          </a:p>
        </p:txBody>
      </p:sp>
      <p:sp>
        <p:nvSpPr>
          <p:cNvPr id="17" name="">
            <a:extLst xmlns:a="http://schemas.openxmlformats.org/drawingml/2006/main">
              <a:ext uri="{FF2B5EF4-FFF2-40B4-BE49-F238E27FC236}">
                <a16:creationId xmlns:a16="http://schemas.microsoft.com/office/drawing/2014/main" id="{D803999A-4DC4-4A5F-B00B-833D053D7674}"/>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2527F85-8791-4FFB-95B2-604BBBE80068}"/>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C3AD142D-8223-4627-85BF-94440E153F8C}"/>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4FAFC93-1F4C-4C94-A79A-40BA2D07DD03}"/>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85666EC8-5883-47FA-9D56-317481C32580}"/>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WHY DIFFICULT</a:t>
            </a:r>
          </a:p>
        </p:txBody>
      </p:sp>
      <p:sp>
        <p:nvSpPr>
          <p:cNvPr id="22" name="">
            <a:extLst xmlns:a="http://schemas.openxmlformats.org/drawingml/2006/main">
              <a:ext uri="{FF2B5EF4-FFF2-40B4-BE49-F238E27FC236}">
                <a16:creationId xmlns:a16="http://schemas.microsoft.com/office/drawing/2014/main" id="{D8235AA2-A7CB-4AF3-80C8-07B69AF8E8B0}"/>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Dust, vibration, occlusion, mixed assets, maintenance discipline, and nuisance braking risks require robust validation. Dust/vibration testing Occlusion scenarios Nuisance braking logs</a:t>
            </a:r>
          </a:p>
        </p:txBody>
      </p:sp>
      <p:sp>
        <p:nvSpPr>
          <p:cNvPr id="23" name="">
            <a:extLst xmlns:a="http://schemas.openxmlformats.org/drawingml/2006/main">
              <a:ext uri="{FF2B5EF4-FFF2-40B4-BE49-F238E27FC236}">
                <a16:creationId xmlns:a16="http://schemas.microsoft.com/office/drawing/2014/main" id="{0340044D-E845-4222-8071-15A79D2F5AB5}"/>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E58EA84-027B-4B30-9A72-D513EA93BFE7}"/>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49274B5F-906C-4B87-8B14-7E14827C9719}"/>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99A793B-3F3F-4F94-9EDD-1AE61349F96B}"/>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98A9ED09-6F1D-40F7-B2E6-DBBB36882C42}"/>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PROOF DESIGN</a:t>
            </a:r>
          </a:p>
        </p:txBody>
      </p:sp>
      <p:sp>
        <p:nvSpPr>
          <p:cNvPr id="28" name="">
            <a:extLst xmlns:a="http://schemas.openxmlformats.org/drawingml/2006/main">
              <a:ext uri="{FF2B5EF4-FFF2-40B4-BE49-F238E27FC236}">
                <a16:creationId xmlns:a16="http://schemas.microsoft.com/office/drawing/2014/main" id="{E1A6E6E1-C39A-4592-BAC7-9DFE3186EA13}"/>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Paid pilots should capture weather, vehicle class, VRU scenario, false positive/negative rates with telemetry. Weather condition logs Vehicle class coverage VRU scenario testing</a:t>
            </a:r>
          </a:p>
        </p:txBody>
      </p:sp>
      <p:sp>
        <p:nvSpPr>
          <p:cNvPr id="29" name="">
            <a:extLst xmlns:a="http://schemas.openxmlformats.org/drawingml/2006/main">
              <a:ext uri="{FF2B5EF4-FFF2-40B4-BE49-F238E27FC236}">
                <a16:creationId xmlns:a16="http://schemas.microsoft.com/office/drawing/2014/main" id="{E4147E5F-2D64-4A3D-A2CC-7231307EF2A1}"/>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0419C1A-E009-448D-BD10-630FA57DC3AD}"/>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9DC40B31-3EED-4B45-996D-F83A6E598486}"/>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4E88535-4825-4D7A-9498-EBF803DC0AAB}"/>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3E7B39F4-0075-4E35-BDEF-C27425D4D616}"/>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39BBDDDE-99EF-46A5-9A99-FD9794B18EFA}"/>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At least one paid pilot signs with vehicle access, telemetry rights, and data ownership confirmed. Vehicle access confirmed Telemetry rights secured Data ownership defined</a:t>
            </a:r>
          </a:p>
        </p:txBody>
      </p:sp>
      <p:sp>
        <p:nvSpPr>
          <p:cNvPr id="35" name="">
            <a:extLst xmlns:a="http://schemas.openxmlformats.org/drawingml/2006/main">
              <a:ext uri="{FF2B5EF4-FFF2-40B4-BE49-F238E27FC236}">
                <a16:creationId xmlns:a16="http://schemas.microsoft.com/office/drawing/2014/main" id="{F0AFD3A6-1157-4FD5-823E-EDF488AD43AE}"/>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C753E570-17F5-4A93-A509-D7B4CB61E9A9}"/>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5E2A067-B869-45CA-985F-0DDC85CB9AA6}"/>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E78B7466-99C7-4698-8D20-DCD1688A2D19}"/>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Proof speed is set by access, not by algorithm maturity. A mine operator controls the vehicles, the routes and the failure cost, so it can grant in weeks what an OEM programme takes quarters to approve.</a:t>
            </a:r>
          </a:p>
        </p:txBody>
      </p:sp>
      <p:sp>
        <p:nvSpPr>
          <p:cNvPr id="39" name="">
            <a:extLst xmlns:a="http://schemas.openxmlformats.org/drawingml/2006/main">
              <a:ext uri="{FF2B5EF4-FFF2-40B4-BE49-F238E27FC236}">
                <a16:creationId xmlns:a16="http://schemas.microsoft.com/office/drawing/2014/main" id="{B28F3730-3F46-4DA3-8917-91BEB33BDE30}"/>
              </a:ext>
            </a:extLst>
          </p:cNvPr>
          <p:cNvSpPr>
            <a:spLocks xmlns:a="http://schemas.openxmlformats.org/drawingml/2006/main" noGrp="1"/>
          </p:cNvSpPr>
          <p:nvPr/>
        </p:nvSpPr>
        <p:spPr>
          <a:xfrm xmlns:a="http://schemas.openxmlformats.org/drawingml/2006/main">
            <a:off x="6153150" y="472757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2B85075E-44D6-47F7-AF30-11BB601145FA}"/>
              </a:ext>
            </a:extLst>
          </p:cNvPr>
          <p:cNvSpPr>
            <a:spLocks xmlns:a="http://schemas.openxmlformats.org/drawingml/2006/main" noGrp="1"/>
          </p:cNvSpPr>
          <p:nvPr/>
        </p:nvSpPr>
        <p:spPr>
          <a:xfrm xmlns:a="http://schemas.openxmlformats.org/drawingml/2006/main">
            <a:off x="6153150" y="472757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E8F4E2F1-EF04-4793-BE5E-8BCB13050C10}"/>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9DE5C430-D72C-492F-AFB0-6F7B81850789}"/>
              </a:ext>
            </a:extLst>
          </p:cNvPr>
          <p:cNvSpPr>
            <a:spLocks xmlns:a="http://schemas.openxmlformats.org/drawingml/2006/main" noGrp="1"/>
          </p:cNvSpPr>
          <p:nvPr/>
        </p:nvSpPr>
        <p:spPr>
          <a:xfrm xmlns:a="http://schemas.openxmlformats.org/drawingml/2006/main">
            <a:off x="6276975" y="494347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unpaid pilots; they yield neither revenue nor data rights.</a:t>
            </a:r>
          </a:p>
        </p:txBody>
      </p:sp>
      <p:sp>
        <p:nvSpPr>
          <p:cNvPr id="43" name="">
            <a:extLst xmlns:a="http://schemas.openxmlformats.org/drawingml/2006/main">
              <a:ext uri="{FF2B5EF4-FFF2-40B4-BE49-F238E27FC236}">
                <a16:creationId xmlns:a16="http://schemas.microsoft.com/office/drawing/2014/main" id="{E45A39C3-8E66-464D-AF9B-7FE079A1CB7D}"/>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E1A06ABC-A8E2-4DE8-A1F4-61118D7D6EAA}"/>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20C2DD9-2E63-4C36-B03C-D7C5BC36C6C9}"/>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1C6B60B8-6783-4A44-9388-439AF83C2DEC}"/>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three paid mining pilot proposals and an embedded radar-partner option</a:t>
            </a:r>
          </a:p>
        </p:txBody>
      </p:sp>
      <p:sp>
        <p:nvSpPr>
          <p:cNvPr id="47" name="">
            <a:extLst xmlns:a="http://schemas.openxmlformats.org/drawingml/2006/main">
              <a:ext uri="{FF2B5EF4-FFF2-40B4-BE49-F238E27FC236}">
                <a16:creationId xmlns:a16="http://schemas.microsoft.com/office/drawing/2014/main" id="{33001B2B-2066-465E-8FEC-1A7E3F903207}"/>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A218990B-0512-4417-9F9D-4DF85BB16C6C}"/>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Field Operations</a:t>
            </a:r>
          </a:p>
          <a:p xmlns:a="http://schemas.openxmlformats.org/drawingml/2006/main">
            <a:pPr algn="l">
              <a:defRPr sz="800">
                <a:solidFill>
                  <a:srgbClr val="8EA0B2"/>
                </a:solidFill>
                <a:latin typeface="Arial"/>
                <a:ea typeface="Arial"/>
                <a:cs typeface="Arial"/>
              </a:defRPr>
            </a:pPr>
            <a:r>
              <a:t>Trigger · At least one paid pilot signs with vehicle access and telemetry rights</a:t>
            </a:r>
          </a:p>
        </p:txBody>
      </p:sp>
      <p:sp>
        <p:nvSpPr>
          <p:cNvPr id="49" name="">
            <a:extLst xmlns:a="http://schemas.openxmlformats.org/drawingml/2006/main">
              <a:ext uri="{FF2B5EF4-FFF2-40B4-BE49-F238E27FC236}">
                <a16:creationId xmlns:a16="http://schemas.microsoft.com/office/drawing/2014/main" id="{7636AAE8-D797-4507-ADB7-B98F67CDBCEF}"/>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9B116E5E-15C9-4E65-B946-97CA71ECA28A}"/>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unpaid pilots; they yield neither revenue nor data rights.</a:t>
            </a:r>
          </a:p>
        </p:txBody>
      </p:sp>
      <p:sp>
        <p:nvSpPr>
          <p:cNvPr id="51" name="">
            <a:extLst xmlns:a="http://schemas.openxmlformats.org/drawingml/2006/main">
              <a:ext uri="{FF2B5EF4-FFF2-40B4-BE49-F238E27FC236}">
                <a16:creationId xmlns:a16="http://schemas.microsoft.com/office/drawing/2014/main" id="{DE4E8B9E-2A9C-4A22-BD6B-456515C0994B}"/>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99A4491D-DCC7-4034-BE03-CD35A27B8964}"/>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4FD2E70A-A0F1-4F4C-AA05-BB45EFDC7AC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25</a:t>
            </a:r>
          </a:p>
        </p:txBody>
      </p:sp>
    </p:spTree>
    <p:extLst>
      <p:ext uri="{BB962C8B-B14F-4D97-AF65-F5344CB8AC3E}">
        <p14:creationId xmlns:p14="http://schemas.microsoft.com/office/powerpoint/2010/main" val="9829501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5A608B3-0C90-4054-8B84-4ABAD1667D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1174638-D2E5-40BC-B089-8E03E58EC62C}"/>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D33B82B-7E7B-4FF6-A7E4-6174DE6E5857}"/>
              </a:ext>
            </a:extLst>
          </p:cNvPr>
          <p:cNvSpPr>
            <a:spLocks xmlns:a="http://schemas.openxmlformats.org/drawingml/2006/main" noGrp="1"/>
          </p:cNvSpPr>
          <p:nvPr/>
        </p:nvSpPr>
        <p:spPr>
          <a:xfrm xmlns:a="http://schemas.openxmlformats.org/drawingml/2006/main">
            <a:off x="457200" y="2038350"/>
            <a:ext cx="11430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9BBC584-7ADE-4DE9-93F9-AFB924B5B151}"/>
              </a:ext>
            </a:extLst>
          </p:cNvPr>
          <p:cNvSpPr>
            <a:spLocks xmlns:a="http://schemas.openxmlformats.org/drawingml/2006/main" noGrp="1"/>
          </p:cNvSpPr>
          <p:nvPr/>
        </p:nvSpPr>
        <p:spPr>
          <a:xfrm xmlns:a="http://schemas.openxmlformats.org/drawingml/2006/main">
            <a:off x="457200" y="2286000"/>
            <a:ext cx="476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EE8585"/>
                </a:solidFill>
                <a:latin typeface="Arial"/>
                <a:ea typeface="Arial"/>
                <a:cs typeface="Arial"/>
              </a:defRPr>
            </a:pPr>
            <a:r>
              <a:t>ACT III</a:t>
            </a:r>
          </a:p>
        </p:txBody>
      </p:sp>
      <p:sp>
        <p:nvSpPr>
          <p:cNvPr id="5" name="">
            <a:extLst xmlns:a="http://schemas.openxmlformats.org/drawingml/2006/main">
              <a:ext uri="{FF2B5EF4-FFF2-40B4-BE49-F238E27FC236}">
                <a16:creationId xmlns:a16="http://schemas.microsoft.com/office/drawing/2014/main" id="{5E7D4061-8ED0-4014-8111-3F4EA591C9AF}"/>
              </a:ext>
            </a:extLst>
          </p:cNvPr>
          <p:cNvSpPr>
            <a:spLocks xmlns:a="http://schemas.openxmlformats.org/drawingml/2006/main" noGrp="1"/>
          </p:cNvSpPr>
          <p:nvPr/>
        </p:nvSpPr>
        <p:spPr>
          <a:xfrm xmlns:a="http://schemas.openxmlformats.org/drawingml/2006/main">
            <a:off x="457200" y="2552700"/>
            <a:ext cx="85725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FFFFFF"/>
                </a:solidFill>
                <a:latin typeface="Georgia"/>
                <a:ea typeface="Georgia"/>
                <a:cs typeface="Georgia"/>
              </a:defRPr>
            </a:pPr>
            <a:r>
              <a:t>The contest</a:t>
            </a:r>
          </a:p>
        </p:txBody>
      </p:sp>
      <p:sp>
        <p:nvSpPr>
          <p:cNvPr id="6" name="">
            <a:extLst xmlns:a="http://schemas.openxmlformats.org/drawingml/2006/main">
              <a:ext uri="{FF2B5EF4-FFF2-40B4-BE49-F238E27FC236}">
                <a16:creationId xmlns:a16="http://schemas.microsoft.com/office/drawing/2014/main" id="{E2B249FB-061E-42D6-BC86-71EEE04B8F19}"/>
              </a:ext>
            </a:extLst>
          </p:cNvPr>
          <p:cNvSpPr>
            <a:spLocks xmlns:a="http://schemas.openxmlformats.org/drawingml/2006/main" noGrp="1"/>
          </p:cNvSpPr>
          <p:nvPr/>
        </p:nvSpPr>
        <p:spPr>
          <a:xfrm xmlns:a="http://schemas.openxmlformats.org/drawingml/2006/main">
            <a:off x="457200" y="3390900"/>
            <a:ext cx="7810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C9D6E2"/>
                </a:solidFill>
                <a:latin typeface="Arial"/>
                <a:ea typeface="Arial"/>
                <a:cs typeface="Arial"/>
              </a:defRPr>
            </a:pPr>
            <a:r>
              <a:t>Against each rival: who are they, what does their AI do, what is proven, and what would change the rating?</a:t>
            </a:r>
          </a:p>
        </p:txBody>
      </p:sp>
      <p:sp>
        <p:nvSpPr>
          <p:cNvPr id="7" name="">
            <a:extLst xmlns:a="http://schemas.openxmlformats.org/drawingml/2006/main">
              <a:ext uri="{FF2B5EF4-FFF2-40B4-BE49-F238E27FC236}">
                <a16:creationId xmlns:a16="http://schemas.microsoft.com/office/drawing/2014/main" id="{F530CFA9-06A2-4AC1-9B48-221DE720D930}"/>
              </a:ext>
            </a:extLst>
          </p:cNvPr>
          <p:cNvSpPr>
            <a:spLocks xmlns:a="http://schemas.openxmlformats.org/drawingml/2006/main" noGrp="1"/>
          </p:cNvSpPr>
          <p:nvPr/>
        </p:nvSpPr>
        <p:spPr>
          <a:xfrm xmlns:a="http://schemas.openxmlformats.org/drawingml/2006/main">
            <a:off x="457200" y="4076700"/>
            <a:ext cx="78105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FA4C6A5-B71D-4B21-96CC-0648EB5A43D6}"/>
              </a:ext>
            </a:extLst>
          </p:cNvPr>
          <p:cNvSpPr>
            <a:spLocks xmlns:a="http://schemas.openxmlformats.org/drawingml/2006/main" noGrp="1"/>
          </p:cNvSpPr>
          <p:nvPr/>
        </p:nvSpPr>
        <p:spPr>
          <a:xfrm xmlns:a="http://schemas.openxmlformats.org/drawingml/2006/main">
            <a:off x="457200" y="42100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E8585"/>
                </a:solidFill>
                <a:latin typeface="Arial"/>
                <a:ea typeface="Arial"/>
                <a:cs typeface="Arial"/>
              </a:defRPr>
            </a:pPr>
            <a:r>
              <a:t>WHAT THIS ACT SETTLES</a:t>
            </a:r>
          </a:p>
        </p:txBody>
      </p:sp>
      <p:sp>
        <p:nvSpPr>
          <p:cNvPr id="9" name="">
            <a:extLst xmlns:a="http://schemas.openxmlformats.org/drawingml/2006/main">
              <a:ext uri="{FF2B5EF4-FFF2-40B4-BE49-F238E27FC236}">
                <a16:creationId xmlns:a16="http://schemas.microsoft.com/office/drawing/2014/main" id="{66CC5756-2CEB-4D18-9BD8-BB8765C4A31E}"/>
              </a:ext>
            </a:extLst>
          </p:cNvPr>
          <p:cNvSpPr>
            <a:spLocks xmlns:a="http://schemas.openxmlformats.org/drawingml/2006/main" noGrp="1"/>
          </p:cNvSpPr>
          <p:nvPr/>
        </p:nvSpPr>
        <p:spPr>
          <a:xfrm xmlns:a="http://schemas.openxmlformats.org/drawingml/2006/main">
            <a:off x="457200" y="4400550"/>
            <a:ext cx="78105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Every competitor argued in one place — identity, capability, evidence and falsifier together.</a:t>
            </a:r>
          </a:p>
        </p:txBody>
      </p:sp>
      <p:sp>
        <p:nvSpPr>
          <p:cNvPr id="10" name="">
            <a:extLst xmlns:a="http://schemas.openxmlformats.org/drawingml/2006/main">
              <a:ext uri="{FF2B5EF4-FFF2-40B4-BE49-F238E27FC236}">
                <a16:creationId xmlns:a16="http://schemas.microsoft.com/office/drawing/2014/main" id="{186BEC7E-768D-499E-964D-DD3D5307D225}"/>
              </a:ext>
            </a:extLst>
          </p:cNvPr>
          <p:cNvSpPr>
            <a:spLocks xmlns:a="http://schemas.openxmlformats.org/drawingml/2006/main" noGrp="1"/>
          </p:cNvSpPr>
          <p:nvPr/>
        </p:nvSpPr>
        <p:spPr>
          <a:xfrm xmlns:a="http://schemas.openxmlformats.org/drawingml/2006/main">
            <a:off x="9410700" y="2495550"/>
            <a:ext cx="1905000" cy="704850"/>
          </a:xfrm>
          <a:prstGeom xmlns:a="http://schemas.openxmlformats.org/drawingml/2006/main" prst="rect">
            <a:avLst/>
          </a:prstGeom>
        </p:spPr>
        <p:txBody>
          <a:bodyPr xmlns:a="http://schemas.openxmlformats.org/drawingml/2006/main" lIns="0" tIns="0" rIns="0" bIns="0" anchor="t">
            <a:normAutofit fontScale="99462"/>
          </a:bodyPr>
          <a:lstStyle xmlns:a="http://schemas.openxmlformats.org/drawingml/2006/main"/>
          <a:p xmlns:a="http://schemas.openxmlformats.org/drawingml/2006/main">
            <a:pPr algn="l">
              <a:defRPr sz="4650" b="1">
                <a:solidFill>
                  <a:srgbClr val="EE8585"/>
                </a:solidFill>
                <a:latin typeface="Georgia"/>
                <a:ea typeface="Georgia"/>
                <a:cs typeface="Georgia"/>
              </a:defRPr>
            </a:pPr>
            <a:r>
              <a:t>44</a:t>
            </a:r>
          </a:p>
        </p:txBody>
      </p:sp>
      <p:sp>
        <p:nvSpPr>
          <p:cNvPr id="11" name="">
            <a:extLst xmlns:a="http://schemas.openxmlformats.org/drawingml/2006/main">
              <a:ext uri="{FF2B5EF4-FFF2-40B4-BE49-F238E27FC236}">
                <a16:creationId xmlns:a16="http://schemas.microsoft.com/office/drawing/2014/main" id="{2A1007D2-D072-4948-A87B-D70B81FDF1D2}"/>
              </a:ext>
            </a:extLst>
          </p:cNvPr>
          <p:cNvSpPr>
            <a:spLocks xmlns:a="http://schemas.openxmlformats.org/drawingml/2006/main" noGrp="1"/>
          </p:cNvSpPr>
          <p:nvPr/>
        </p:nvSpPr>
        <p:spPr>
          <a:xfrm xmlns:a="http://schemas.openxmlformats.org/drawingml/2006/main">
            <a:off x="9410700" y="32385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PAGES</a:t>
            </a:r>
          </a:p>
        </p:txBody>
      </p:sp>
      <p:sp>
        <p:nvSpPr>
          <p:cNvPr id="12" name="">
            <a:extLst xmlns:a="http://schemas.openxmlformats.org/drawingml/2006/main">
              <a:ext uri="{FF2B5EF4-FFF2-40B4-BE49-F238E27FC236}">
                <a16:creationId xmlns:a16="http://schemas.microsoft.com/office/drawing/2014/main" id="{922CDF2D-F374-4903-9A81-5F0C2032E3AB}"/>
              </a:ext>
            </a:extLst>
          </p:cNvPr>
          <p:cNvSpPr>
            <a:spLocks xmlns:a="http://schemas.openxmlformats.org/drawingml/2006/main" noGrp="1"/>
          </p:cNvSpPr>
          <p:nvPr/>
        </p:nvSpPr>
        <p:spPr>
          <a:xfrm xmlns:a="http://schemas.openxmlformats.org/drawingml/2006/main">
            <a:off x="9410700" y="34290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pp. 27–88</a:t>
            </a:r>
          </a:p>
        </p:txBody>
      </p:sp>
      <p:sp>
        <p:nvSpPr>
          <p:cNvPr id="13" name="">
            <a:extLst xmlns:a="http://schemas.openxmlformats.org/drawingml/2006/main">
              <a:ext uri="{FF2B5EF4-FFF2-40B4-BE49-F238E27FC236}">
                <a16:creationId xmlns:a16="http://schemas.microsoft.com/office/drawing/2014/main" id="{2E67706F-854A-4CA8-898B-10B9703F2A6E}"/>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BDE1DF1-C850-43B7-968A-86B40FD222FB}"/>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15" name="">
            <a:extLst xmlns:a="http://schemas.openxmlformats.org/drawingml/2006/main">
              <a:ext uri="{FF2B5EF4-FFF2-40B4-BE49-F238E27FC236}">
                <a16:creationId xmlns:a16="http://schemas.microsoft.com/office/drawing/2014/main" id="{A1A3B497-DB96-476C-9B65-A4475F49BE4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26</a:t>
            </a:r>
          </a:p>
        </p:txBody>
      </p:sp>
    </p:spTree>
    <p:extLst>
      <p:ext uri="{BB962C8B-B14F-4D97-AF65-F5344CB8AC3E}">
        <p14:creationId xmlns:p14="http://schemas.microsoft.com/office/powerpoint/2010/main" val="87261324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0FDAA274-EF1F-49E4-834B-BF371A42BEE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99A8911-39EE-4A1D-AA96-BCF944925E6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166BF4E-A564-42C8-9378-65DE464D5115}"/>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COMPANY PROFILE · P-ACT</a:t>
            </a:r>
          </a:p>
        </p:txBody>
      </p:sp>
      <p:sp>
        <p:nvSpPr>
          <p:cNvPr id="4" name="">
            <a:extLst xmlns:a="http://schemas.openxmlformats.org/drawingml/2006/main">
              <a:ext uri="{FF2B5EF4-FFF2-40B4-BE49-F238E27FC236}">
                <a16:creationId xmlns:a16="http://schemas.microsoft.com/office/drawing/2014/main" id="{650985B7-2FF4-4288-B8E4-4D49EB62F498}"/>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ZF CVCS India</a:t>
            </a:r>
          </a:p>
        </p:txBody>
      </p:sp>
      <p:sp>
        <p:nvSpPr>
          <p:cNvPr id="5" name="">
            <a:extLst xmlns:a="http://schemas.openxmlformats.org/drawingml/2006/main">
              <a:ext uri="{FF2B5EF4-FFF2-40B4-BE49-F238E27FC236}">
                <a16:creationId xmlns:a16="http://schemas.microsoft.com/office/drawing/2014/main" id="{39083A87-3BCE-489E-A3E2-3209946E1F74}"/>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ZF Commercial Vehicle Control Systems India Limited</a:t>
            </a:r>
          </a:p>
        </p:txBody>
      </p:sp>
      <p:sp>
        <p:nvSpPr>
          <p:cNvPr id="6" name="">
            <a:extLst xmlns:a="http://schemas.openxmlformats.org/drawingml/2006/main">
              <a:ext uri="{FF2B5EF4-FFF2-40B4-BE49-F238E27FC236}">
                <a16:creationId xmlns:a16="http://schemas.microsoft.com/office/drawing/2014/main" id="{8C950F44-E2EC-44B2-81BD-C3758446AF0E}"/>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1D6733F-FDF0-4581-8F42-58D7C8FAB1D5}"/>
              </a:ext>
            </a:extLst>
          </p:cNvPr>
          <p:cNvSpPr>
            <a:spLocks xmlns:a="http://schemas.openxmlformats.org/drawingml/2006/main" noGrp="1"/>
          </p:cNvSpPr>
          <p:nvPr/>
        </p:nvSpPr>
        <p:spPr>
          <a:xfrm xmlns:a="http://schemas.openxmlformats.org/drawingml/2006/main">
            <a:off x="45720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50877FE2-9993-4D91-8B83-B1F95C0E3CF0}"/>
              </a:ext>
            </a:extLst>
          </p:cNvPr>
          <p:cNvSpPr>
            <a:spLocks xmlns:a="http://schemas.openxmlformats.org/drawingml/2006/main" noGrp="1"/>
          </p:cNvSpPr>
          <p:nvPr/>
        </p:nvSpPr>
        <p:spPr>
          <a:xfrm xmlns:a="http://schemas.openxmlformats.org/drawingml/2006/main">
            <a:off x="45720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AD81DC6-6B0D-41A8-BA37-C8053F7C049D}"/>
              </a:ext>
            </a:extLst>
          </p:cNvPr>
          <p:cNvSpPr>
            <a:spLocks xmlns:a="http://schemas.openxmlformats.org/drawingml/2006/main" noGrp="1"/>
          </p:cNvSpPr>
          <p:nvPr/>
        </p:nvSpPr>
        <p:spPr>
          <a:xfrm xmlns:a="http://schemas.openxmlformats.org/drawingml/2006/main">
            <a:off x="57150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FOUNDED</a:t>
            </a:r>
          </a:p>
        </p:txBody>
      </p:sp>
      <p:sp>
        <p:nvSpPr>
          <p:cNvPr id="10" name="">
            <a:extLst xmlns:a="http://schemas.openxmlformats.org/drawingml/2006/main">
              <a:ext uri="{FF2B5EF4-FFF2-40B4-BE49-F238E27FC236}">
                <a16:creationId xmlns:a16="http://schemas.microsoft.com/office/drawing/2014/main" id="{1630D6B9-8A90-4190-B864-DC0D73E9E520}"/>
              </a:ext>
            </a:extLst>
          </p:cNvPr>
          <p:cNvSpPr>
            <a:spLocks xmlns:a="http://schemas.openxmlformats.org/drawingml/2006/main" noGrp="1"/>
          </p:cNvSpPr>
          <p:nvPr/>
        </p:nvSpPr>
        <p:spPr>
          <a:xfrm xmlns:a="http://schemas.openxmlformats.org/drawingml/2006/main">
            <a:off x="57150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2004</a:t>
            </a:r>
          </a:p>
        </p:txBody>
      </p:sp>
      <p:sp>
        <p:nvSpPr>
          <p:cNvPr id="11" name="">
            <a:extLst xmlns:a="http://schemas.openxmlformats.org/drawingml/2006/main">
              <a:ext uri="{FF2B5EF4-FFF2-40B4-BE49-F238E27FC236}">
                <a16:creationId xmlns:a16="http://schemas.microsoft.com/office/drawing/2014/main" id="{857F2104-83D6-4266-83EB-FA5B7FDC3FA1}"/>
              </a:ext>
            </a:extLst>
          </p:cNvPr>
          <p:cNvSpPr>
            <a:spLocks xmlns:a="http://schemas.openxmlformats.org/drawingml/2006/main" noGrp="1"/>
          </p:cNvSpPr>
          <p:nvPr/>
        </p:nvSpPr>
        <p:spPr>
          <a:xfrm xmlns:a="http://schemas.openxmlformats.org/drawingml/2006/main">
            <a:off x="57150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Formerly WABCO India Ltd · renamed March 2022</a:t>
            </a:r>
          </a:p>
        </p:txBody>
      </p:sp>
      <p:sp>
        <p:nvSpPr>
          <p:cNvPr id="12" name="">
            <a:extLst xmlns:a="http://schemas.openxmlformats.org/drawingml/2006/main">
              <a:ext uri="{FF2B5EF4-FFF2-40B4-BE49-F238E27FC236}">
                <a16:creationId xmlns:a16="http://schemas.microsoft.com/office/drawing/2014/main" id="{850741FE-5959-4625-8DB6-3A56B884147E}"/>
              </a:ext>
            </a:extLst>
          </p:cNvPr>
          <p:cNvSpPr>
            <a:spLocks xmlns:a="http://schemas.openxmlformats.org/drawingml/2006/main" noGrp="1"/>
          </p:cNvSpPr>
          <p:nvPr/>
        </p:nvSpPr>
        <p:spPr>
          <a:xfrm xmlns:a="http://schemas.openxmlformats.org/drawingml/2006/main">
            <a:off x="3305175"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D6A1FD93-A0F1-4A0D-A42B-39E40C78DDE8}"/>
              </a:ext>
            </a:extLst>
          </p:cNvPr>
          <p:cNvSpPr>
            <a:spLocks xmlns:a="http://schemas.openxmlformats.org/drawingml/2006/main" noGrp="1"/>
          </p:cNvSpPr>
          <p:nvPr/>
        </p:nvSpPr>
        <p:spPr>
          <a:xfrm xmlns:a="http://schemas.openxmlformats.org/drawingml/2006/main">
            <a:off x="3305175"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3E3373D-A011-436C-9681-00CC96EC564C}"/>
              </a:ext>
            </a:extLst>
          </p:cNvPr>
          <p:cNvSpPr>
            <a:spLocks xmlns:a="http://schemas.openxmlformats.org/drawingml/2006/main" noGrp="1"/>
          </p:cNvSpPr>
          <p:nvPr/>
        </p:nvSpPr>
        <p:spPr>
          <a:xfrm xmlns:a="http://schemas.openxmlformats.org/drawingml/2006/main">
            <a:off x="341947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HEADQUARTERS</a:t>
            </a:r>
          </a:p>
        </p:txBody>
      </p:sp>
      <p:sp>
        <p:nvSpPr>
          <p:cNvPr id="15" name="">
            <a:extLst xmlns:a="http://schemas.openxmlformats.org/drawingml/2006/main">
              <a:ext uri="{FF2B5EF4-FFF2-40B4-BE49-F238E27FC236}">
                <a16:creationId xmlns:a16="http://schemas.microsoft.com/office/drawing/2014/main" id="{CF1AE579-BDD1-4447-948A-0ECE8C90E474}"/>
              </a:ext>
            </a:extLst>
          </p:cNvPr>
          <p:cNvSpPr>
            <a:spLocks xmlns:a="http://schemas.openxmlformats.org/drawingml/2006/main" noGrp="1"/>
          </p:cNvSpPr>
          <p:nvPr/>
        </p:nvSpPr>
        <p:spPr>
          <a:xfrm xmlns:a="http://schemas.openxmlformats.org/drawingml/2006/main">
            <a:off x="341947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Chennai, Tamil Nadu, India</a:t>
            </a:r>
          </a:p>
        </p:txBody>
      </p:sp>
      <p:sp>
        <p:nvSpPr>
          <p:cNvPr id="16" name="">
            <a:extLst xmlns:a="http://schemas.openxmlformats.org/drawingml/2006/main">
              <a:ext uri="{FF2B5EF4-FFF2-40B4-BE49-F238E27FC236}">
                <a16:creationId xmlns:a16="http://schemas.microsoft.com/office/drawing/2014/main" id="{083AA566-9EED-44E8-A669-51BD77B63BCD}"/>
              </a:ext>
            </a:extLst>
          </p:cNvPr>
          <p:cNvSpPr>
            <a:spLocks xmlns:a="http://schemas.openxmlformats.org/drawingml/2006/main" noGrp="1"/>
          </p:cNvSpPr>
          <p:nvPr/>
        </p:nvSpPr>
        <p:spPr>
          <a:xfrm xmlns:a="http://schemas.openxmlformats.org/drawingml/2006/main">
            <a:off x="615315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CC36C77E-A0EC-451C-802D-23CA1A6A667D}"/>
              </a:ext>
            </a:extLst>
          </p:cNvPr>
          <p:cNvSpPr>
            <a:spLocks xmlns:a="http://schemas.openxmlformats.org/drawingml/2006/main" noGrp="1"/>
          </p:cNvSpPr>
          <p:nvPr/>
        </p:nvSpPr>
        <p:spPr>
          <a:xfrm xmlns:a="http://schemas.openxmlformats.org/drawingml/2006/main">
            <a:off x="615315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2D4B8DE-D8FB-44D6-B3C4-40094BB2D0FC}"/>
              </a:ext>
            </a:extLst>
          </p:cNvPr>
          <p:cNvSpPr>
            <a:spLocks xmlns:a="http://schemas.openxmlformats.org/drawingml/2006/main" noGrp="1"/>
          </p:cNvSpPr>
          <p:nvPr/>
        </p:nvSpPr>
        <p:spPr>
          <a:xfrm xmlns:a="http://schemas.openxmlformats.org/drawingml/2006/main">
            <a:off x="626745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19" name="">
            <a:extLst xmlns:a="http://schemas.openxmlformats.org/drawingml/2006/main">
              <a:ext uri="{FF2B5EF4-FFF2-40B4-BE49-F238E27FC236}">
                <a16:creationId xmlns:a16="http://schemas.microsoft.com/office/drawing/2014/main" id="{AAFDF045-B513-4BD0-9366-0FC77761CE89}"/>
              </a:ext>
            </a:extLst>
          </p:cNvPr>
          <p:cNvSpPr>
            <a:spLocks xmlns:a="http://schemas.openxmlformats.org/drawingml/2006/main" noGrp="1"/>
          </p:cNvSpPr>
          <p:nvPr/>
        </p:nvSpPr>
        <p:spPr>
          <a:xfrm xmlns:a="http://schemas.openxmlformats.org/drawingml/2006/main">
            <a:off x="626745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NSE: ZFCVINDIA · BSE: 533023</a:t>
            </a:r>
          </a:p>
        </p:txBody>
      </p:sp>
      <p:sp>
        <p:nvSpPr>
          <p:cNvPr id="20" name="">
            <a:extLst xmlns:a="http://schemas.openxmlformats.org/drawingml/2006/main">
              <a:ext uri="{FF2B5EF4-FFF2-40B4-BE49-F238E27FC236}">
                <a16:creationId xmlns:a16="http://schemas.microsoft.com/office/drawing/2014/main" id="{37AC0528-D71A-4B8F-B466-55ABCDDE3A83}"/>
              </a:ext>
            </a:extLst>
          </p:cNvPr>
          <p:cNvSpPr>
            <a:spLocks xmlns:a="http://schemas.openxmlformats.org/drawingml/2006/main" noGrp="1"/>
          </p:cNvSpPr>
          <p:nvPr/>
        </p:nvSpPr>
        <p:spPr>
          <a:xfrm xmlns:a="http://schemas.openxmlformats.org/drawingml/2006/main">
            <a:off x="626745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Publicly listed</a:t>
            </a:r>
          </a:p>
        </p:txBody>
      </p:sp>
      <p:sp>
        <p:nvSpPr>
          <p:cNvPr id="21" name="">
            <a:extLst xmlns:a="http://schemas.openxmlformats.org/drawingml/2006/main">
              <a:ext uri="{FF2B5EF4-FFF2-40B4-BE49-F238E27FC236}">
                <a16:creationId xmlns:a16="http://schemas.microsoft.com/office/drawing/2014/main" id="{774888CC-7A34-460C-B298-52468C53893E}"/>
              </a:ext>
            </a:extLst>
          </p:cNvPr>
          <p:cNvSpPr>
            <a:spLocks xmlns:a="http://schemas.openxmlformats.org/drawingml/2006/main" noGrp="1"/>
          </p:cNvSpPr>
          <p:nvPr/>
        </p:nvSpPr>
        <p:spPr>
          <a:xfrm xmlns:a="http://schemas.openxmlformats.org/drawingml/2006/main">
            <a:off x="9001125" y="1085850"/>
            <a:ext cx="2733675" cy="800100"/>
          </a:xfrm>
          <a:prstGeom xmlns:a="http://schemas.openxmlformats.org/drawingml/2006/main" prst="rect">
            <a:avLst/>
          </a:prstGeom>
          <a:solidFill xmlns:a="http://schemas.openxmlformats.org/drawingml/2006/main">
            <a:srgbClr val="16243A"/>
          </a:solidFill>
          <a:ln xmlns:a="http://schemas.openxmlformats.org/drawingml/2006/main" w="9525">
            <a:solidFill>
              <a:srgbClr val="1A2F45"/>
            </a:solidFill>
            <a:prstDash val="solid"/>
          </a:ln>
        </p:spPr>
      </p:sp>
      <p:sp>
        <p:nvSpPr>
          <p:cNvPr id="22" name="">
            <a:extLst xmlns:a="http://schemas.openxmlformats.org/drawingml/2006/main">
              <a:ext uri="{FF2B5EF4-FFF2-40B4-BE49-F238E27FC236}">
                <a16:creationId xmlns:a16="http://schemas.microsoft.com/office/drawing/2014/main" id="{0BF7F834-F408-4129-92E1-0ED1BB18E277}"/>
              </a:ext>
            </a:extLst>
          </p:cNvPr>
          <p:cNvSpPr>
            <a:spLocks xmlns:a="http://schemas.openxmlformats.org/drawingml/2006/main" noGrp="1"/>
          </p:cNvSpPr>
          <p:nvPr/>
        </p:nvSpPr>
        <p:spPr>
          <a:xfrm xmlns:a="http://schemas.openxmlformats.org/drawingml/2006/main">
            <a:off x="9001125" y="1085850"/>
            <a:ext cx="2733675"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3ED432F-5B02-40ED-9AAB-0F616F934F2B}"/>
              </a:ext>
            </a:extLst>
          </p:cNvPr>
          <p:cNvSpPr>
            <a:spLocks xmlns:a="http://schemas.openxmlformats.org/drawingml/2006/main" noGrp="1"/>
          </p:cNvSpPr>
          <p:nvPr/>
        </p:nvSpPr>
        <p:spPr>
          <a:xfrm xmlns:a="http://schemas.openxmlformats.org/drawingml/2006/main">
            <a:off x="911542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MARKET CAP</a:t>
            </a:r>
          </a:p>
        </p:txBody>
      </p:sp>
      <p:sp>
        <p:nvSpPr>
          <p:cNvPr id="24" name="">
            <a:extLst xmlns:a="http://schemas.openxmlformats.org/drawingml/2006/main">
              <a:ext uri="{FF2B5EF4-FFF2-40B4-BE49-F238E27FC236}">
                <a16:creationId xmlns:a16="http://schemas.microsoft.com/office/drawing/2014/main" id="{490F394E-51DD-415E-9D84-A1D5C3770B61}"/>
              </a:ext>
            </a:extLst>
          </p:cNvPr>
          <p:cNvSpPr>
            <a:spLocks xmlns:a="http://schemas.openxmlformats.org/drawingml/2006/main" noGrp="1"/>
          </p:cNvSpPr>
          <p:nvPr/>
        </p:nvSpPr>
        <p:spPr>
          <a:xfrm xmlns:a="http://schemas.openxmlformats.org/drawingml/2006/main">
            <a:off x="911542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E06767"/>
                </a:solidFill>
                <a:latin typeface="Arial"/>
                <a:ea typeface="Arial"/>
                <a:cs typeface="Arial"/>
              </a:defRPr>
            </a:pPr>
            <a:r>
              <a:t>₹29,642 Cr</a:t>
            </a:r>
          </a:p>
        </p:txBody>
      </p:sp>
      <p:sp>
        <p:nvSpPr>
          <p:cNvPr id="25" name="">
            <a:extLst xmlns:a="http://schemas.openxmlformats.org/drawingml/2006/main">
              <a:ext uri="{FF2B5EF4-FFF2-40B4-BE49-F238E27FC236}">
                <a16:creationId xmlns:a16="http://schemas.microsoft.com/office/drawing/2014/main" id="{E33D02A1-36DF-4AAE-8BB5-614B850DA138}"/>
              </a:ext>
            </a:extLst>
          </p:cNvPr>
          <p:cNvSpPr>
            <a:spLocks xmlns:a="http://schemas.openxmlformats.org/drawingml/2006/main" noGrp="1"/>
          </p:cNvSpPr>
          <p:nvPr/>
        </p:nvSpPr>
        <p:spPr>
          <a:xfrm xmlns:a="http://schemas.openxmlformats.org/drawingml/2006/main">
            <a:off x="9115425"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as of 7 Aug 2026</a:t>
            </a:r>
          </a:p>
        </p:txBody>
      </p:sp>
      <p:sp>
        <p:nvSpPr>
          <p:cNvPr id="26" name="">
            <a:extLst xmlns:a="http://schemas.openxmlformats.org/drawingml/2006/main">
              <a:ext uri="{FF2B5EF4-FFF2-40B4-BE49-F238E27FC236}">
                <a16:creationId xmlns:a16="http://schemas.microsoft.com/office/drawing/2014/main" id="{2A131F15-CDF0-47BC-9E4E-66087DFEEEED}"/>
              </a:ext>
            </a:extLst>
          </p:cNvPr>
          <p:cNvSpPr>
            <a:spLocks xmlns:a="http://schemas.openxmlformats.org/drawingml/2006/main" noGrp="1"/>
          </p:cNvSpPr>
          <p:nvPr/>
        </p:nvSpPr>
        <p:spPr>
          <a:xfrm xmlns:a="http://schemas.openxmlformats.org/drawingml/2006/main">
            <a:off x="4572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PEOPLE</a:t>
            </a:r>
          </a:p>
        </p:txBody>
      </p:sp>
      <p:sp>
        <p:nvSpPr>
          <p:cNvPr id="27" name="">
            <a:extLst xmlns:a="http://schemas.openxmlformats.org/drawingml/2006/main">
              <a:ext uri="{FF2B5EF4-FFF2-40B4-BE49-F238E27FC236}">
                <a16:creationId xmlns:a16="http://schemas.microsoft.com/office/drawing/2014/main" id="{BBFC57F2-5762-473C-A06E-44E312F62CEA}"/>
              </a:ext>
            </a:extLst>
          </p:cNvPr>
          <p:cNvSpPr>
            <a:spLocks xmlns:a="http://schemas.openxmlformats.org/drawingml/2006/main" noGrp="1"/>
          </p:cNvSpPr>
          <p:nvPr/>
        </p:nvSpPr>
        <p:spPr>
          <a:xfrm xmlns:a="http://schemas.openxmlformats.org/drawingml/2006/main">
            <a:off x="4572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28" name="">
            <a:extLst xmlns:a="http://schemas.openxmlformats.org/drawingml/2006/main">
              <a:ext uri="{FF2B5EF4-FFF2-40B4-BE49-F238E27FC236}">
                <a16:creationId xmlns:a16="http://schemas.microsoft.com/office/drawing/2014/main" id="{5561954C-FE11-43C1-B19E-DDF74E64116C}"/>
              </a:ext>
            </a:extLst>
          </p:cNvPr>
          <p:cNvSpPr>
            <a:spLocks xmlns:a="http://schemas.openxmlformats.org/drawingml/2006/main" noGrp="1"/>
          </p:cNvSpPr>
          <p:nvPr/>
        </p:nvSpPr>
        <p:spPr>
          <a:xfrm xmlns:a="http://schemas.openxmlformats.org/drawingml/2006/main">
            <a:off x="42545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VALUE MOVE</a:t>
            </a:r>
          </a:p>
        </p:txBody>
      </p:sp>
      <p:sp>
        <p:nvSpPr>
          <p:cNvPr id="29" name="">
            <a:extLst xmlns:a="http://schemas.openxmlformats.org/drawingml/2006/main">
              <a:ext uri="{FF2B5EF4-FFF2-40B4-BE49-F238E27FC236}">
                <a16:creationId xmlns:a16="http://schemas.microsoft.com/office/drawing/2014/main" id="{744AAF49-A519-45F8-889C-F415A8581C94}"/>
              </a:ext>
            </a:extLst>
          </p:cNvPr>
          <p:cNvSpPr>
            <a:spLocks xmlns:a="http://schemas.openxmlformats.org/drawingml/2006/main" noGrp="1"/>
          </p:cNvSpPr>
          <p:nvPr/>
        </p:nvSpPr>
        <p:spPr>
          <a:xfrm xmlns:a="http://schemas.openxmlformats.org/drawingml/2006/main">
            <a:off x="42545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+13.0% YoY</a:t>
            </a:r>
          </a:p>
        </p:txBody>
      </p:sp>
      <p:sp>
        <p:nvSpPr>
          <p:cNvPr id="30" name="">
            <a:extLst xmlns:a="http://schemas.openxmlformats.org/drawingml/2006/main">
              <a:ext uri="{FF2B5EF4-FFF2-40B4-BE49-F238E27FC236}">
                <a16:creationId xmlns:a16="http://schemas.microsoft.com/office/drawing/2014/main" id="{7BFD5A00-A116-4668-AC68-C995156636CA}"/>
              </a:ext>
            </a:extLst>
          </p:cNvPr>
          <p:cNvSpPr>
            <a:spLocks xmlns:a="http://schemas.openxmlformats.org/drawingml/2006/main" noGrp="1"/>
          </p:cNvSpPr>
          <p:nvPr/>
        </p:nvSpPr>
        <p:spPr>
          <a:xfrm xmlns:a="http://schemas.openxmlformats.org/drawingml/2006/main">
            <a:off x="80518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PARENT / BACKING</a:t>
            </a:r>
          </a:p>
        </p:txBody>
      </p:sp>
      <p:sp>
        <p:nvSpPr>
          <p:cNvPr id="31" name="">
            <a:extLst xmlns:a="http://schemas.openxmlformats.org/drawingml/2006/main">
              <a:ext uri="{FF2B5EF4-FFF2-40B4-BE49-F238E27FC236}">
                <a16:creationId xmlns:a16="http://schemas.microsoft.com/office/drawing/2014/main" id="{A5BF6E70-FEC7-43B3-9168-970B14A08D50}"/>
              </a:ext>
            </a:extLst>
          </p:cNvPr>
          <p:cNvSpPr>
            <a:spLocks xmlns:a="http://schemas.openxmlformats.org/drawingml/2006/main" noGrp="1"/>
          </p:cNvSpPr>
          <p:nvPr/>
        </p:nvSpPr>
        <p:spPr>
          <a:xfrm xmlns:a="http://schemas.openxmlformats.org/drawingml/2006/main">
            <a:off x="80518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WABCO Asia Pvt Ltd (ZF Group — €41.4bn sales, 161,600 staff)</a:t>
            </a:r>
          </a:p>
        </p:txBody>
      </p:sp>
      <p:sp>
        <p:nvSpPr>
          <p:cNvPr id="32" name="">
            <a:extLst xmlns:a="http://schemas.openxmlformats.org/drawingml/2006/main">
              <a:ext uri="{FF2B5EF4-FFF2-40B4-BE49-F238E27FC236}">
                <a16:creationId xmlns:a16="http://schemas.microsoft.com/office/drawing/2014/main" id="{72B899CA-1F18-40F1-8584-AF297F25FA7B}"/>
              </a:ext>
            </a:extLst>
          </p:cNvPr>
          <p:cNvSpPr>
            <a:spLocks xmlns:a="http://schemas.openxmlformats.org/drawingml/2006/main" noGrp="1"/>
          </p:cNvSpPr>
          <p:nvPr/>
        </p:nvSpPr>
        <p:spPr>
          <a:xfrm xmlns:a="http://schemas.openxmlformats.org/drawingml/2006/main">
            <a:off x="457200" y="24574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9409022-3058-4576-90D5-1D80EA8F940F}"/>
              </a:ext>
            </a:extLst>
          </p:cNvPr>
          <p:cNvSpPr>
            <a:spLocks xmlns:a="http://schemas.openxmlformats.org/drawingml/2006/main" noGrp="1"/>
          </p:cNvSpPr>
          <p:nvPr/>
        </p:nvSpPr>
        <p:spPr>
          <a:xfrm xmlns:a="http://schemas.openxmlformats.org/drawingml/2006/main">
            <a:off x="457200" y="257175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WHAT IT SELLS</a:t>
            </a:r>
          </a:p>
        </p:txBody>
      </p:sp>
      <p:sp>
        <p:nvSpPr>
          <p:cNvPr id="34" name="">
            <a:extLst xmlns:a="http://schemas.openxmlformats.org/drawingml/2006/main">
              <a:ext uri="{FF2B5EF4-FFF2-40B4-BE49-F238E27FC236}">
                <a16:creationId xmlns:a16="http://schemas.microsoft.com/office/drawing/2014/main" id="{5BDB257D-A00D-4EEB-BA0D-B5DEA8D30A02}"/>
              </a:ext>
            </a:extLst>
          </p:cNvPr>
          <p:cNvSpPr>
            <a:spLocks xmlns:a="http://schemas.openxmlformats.org/drawingml/2006/main" noGrp="1"/>
          </p:cNvSpPr>
          <p:nvPr/>
        </p:nvSpPr>
        <p:spPr>
          <a:xfrm xmlns:a="http://schemas.openxmlformats.org/drawingml/2006/main">
            <a:off x="457200" y="2733675"/>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Air brake actuation, electronic braking, ADAS, air disc brakes, EPH, TPMS, transmissions, SCALAR fleet orchestration</a:t>
            </a:r>
          </a:p>
        </p:txBody>
      </p:sp>
      <p:sp>
        <p:nvSpPr>
          <p:cNvPr id="35" name="">
            <a:extLst xmlns:a="http://schemas.openxmlformats.org/drawingml/2006/main">
              <a:ext uri="{FF2B5EF4-FFF2-40B4-BE49-F238E27FC236}">
                <a16:creationId xmlns:a16="http://schemas.microsoft.com/office/drawing/2014/main" id="{91519238-AC1B-4561-A476-7648962C3687}"/>
              </a:ext>
            </a:extLst>
          </p:cNvPr>
          <p:cNvSpPr>
            <a:spLocks xmlns:a="http://schemas.openxmlformats.org/drawingml/2006/main" noGrp="1"/>
          </p:cNvSpPr>
          <p:nvPr/>
        </p:nvSpPr>
        <p:spPr>
          <a:xfrm xmlns:a="http://schemas.openxmlformats.org/drawingml/2006/main">
            <a:off x="4572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37299BEE-BB8B-44AF-98FF-4086BD46FE00}"/>
              </a:ext>
            </a:extLst>
          </p:cNvPr>
          <p:cNvSpPr>
            <a:spLocks xmlns:a="http://schemas.openxmlformats.org/drawingml/2006/main" noGrp="1"/>
          </p:cNvSpPr>
          <p:nvPr/>
        </p:nvSpPr>
        <p:spPr>
          <a:xfrm xmlns:a="http://schemas.openxmlformats.org/drawingml/2006/main">
            <a:off x="5715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VALUATION</a:t>
            </a:r>
          </a:p>
        </p:txBody>
      </p:sp>
      <p:sp>
        <p:nvSpPr>
          <p:cNvPr id="37" name="">
            <a:extLst xmlns:a="http://schemas.openxmlformats.org/drawingml/2006/main">
              <a:ext uri="{FF2B5EF4-FFF2-40B4-BE49-F238E27FC236}">
                <a16:creationId xmlns:a16="http://schemas.microsoft.com/office/drawing/2014/main" id="{DC0C5A36-0F01-4351-AB1A-F931CCE9DD01}"/>
              </a:ext>
            </a:extLst>
          </p:cNvPr>
          <p:cNvSpPr>
            <a:spLocks xmlns:a="http://schemas.openxmlformats.org/drawingml/2006/main" noGrp="1"/>
          </p:cNvSpPr>
          <p:nvPr/>
        </p:nvSpPr>
        <p:spPr>
          <a:xfrm xmlns:a="http://schemas.openxmlformats.org/drawingml/2006/main">
            <a:off x="20574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P/E 60.3 · ROCE 19.1% · ROE 14.4%</a:t>
            </a:r>
          </a:p>
        </p:txBody>
      </p:sp>
      <p:sp>
        <p:nvSpPr>
          <p:cNvPr id="38" name="">
            <a:extLst xmlns:a="http://schemas.openxmlformats.org/drawingml/2006/main">
              <a:ext uri="{FF2B5EF4-FFF2-40B4-BE49-F238E27FC236}">
                <a16:creationId xmlns:a16="http://schemas.microsoft.com/office/drawing/2014/main" id="{7DE90478-4694-4996-AE6C-6DF65F43060D}"/>
              </a:ext>
            </a:extLst>
          </p:cNvPr>
          <p:cNvSpPr>
            <a:spLocks xmlns:a="http://schemas.openxmlformats.org/drawingml/2006/main" noGrp="1"/>
          </p:cNvSpPr>
          <p:nvPr/>
        </p:nvSpPr>
        <p:spPr>
          <a:xfrm xmlns:a="http://schemas.openxmlformats.org/drawingml/2006/main">
            <a:off x="62103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5A4E7CD8-998E-48C9-B544-AF408715B574}"/>
              </a:ext>
            </a:extLst>
          </p:cNvPr>
          <p:cNvSpPr>
            <a:spLocks xmlns:a="http://schemas.openxmlformats.org/drawingml/2006/main" noGrp="1"/>
          </p:cNvSpPr>
          <p:nvPr/>
        </p:nvSpPr>
        <p:spPr>
          <a:xfrm xmlns:a="http://schemas.openxmlformats.org/drawingml/2006/main">
            <a:off x="63246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52-WEEK RANGE</a:t>
            </a:r>
          </a:p>
        </p:txBody>
      </p:sp>
      <p:sp>
        <p:nvSpPr>
          <p:cNvPr id="40" name="">
            <a:extLst xmlns:a="http://schemas.openxmlformats.org/drawingml/2006/main">
              <a:ext uri="{FF2B5EF4-FFF2-40B4-BE49-F238E27FC236}">
                <a16:creationId xmlns:a16="http://schemas.microsoft.com/office/drawing/2014/main" id="{D1719FEF-452B-4E23-80A1-167F4E4AE9E6}"/>
              </a:ext>
            </a:extLst>
          </p:cNvPr>
          <p:cNvSpPr>
            <a:spLocks xmlns:a="http://schemas.openxmlformats.org/drawingml/2006/main" noGrp="1"/>
          </p:cNvSpPr>
          <p:nvPr/>
        </p:nvSpPr>
        <p:spPr>
          <a:xfrm xmlns:a="http://schemas.openxmlformats.org/drawingml/2006/main">
            <a:off x="78105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₹2,050 – ₹3,044</a:t>
            </a:r>
          </a:p>
        </p:txBody>
      </p:sp>
      <p:sp>
        <p:nvSpPr>
          <p:cNvPr id="41" name="">
            <a:extLst xmlns:a="http://schemas.openxmlformats.org/drawingml/2006/main">
              <a:ext uri="{FF2B5EF4-FFF2-40B4-BE49-F238E27FC236}">
                <a16:creationId xmlns:a16="http://schemas.microsoft.com/office/drawing/2014/main" id="{044F831C-4C67-420C-A4F0-A86F447C11CE}"/>
              </a:ext>
            </a:extLst>
          </p:cNvPr>
          <p:cNvSpPr>
            <a:spLocks xmlns:a="http://schemas.openxmlformats.org/drawingml/2006/main" noGrp="1"/>
          </p:cNvSpPr>
          <p:nvPr/>
        </p:nvSpPr>
        <p:spPr>
          <a:xfrm xmlns:a="http://schemas.openxmlformats.org/drawingml/2006/main">
            <a:off x="4572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F881F1F-7B12-4FCD-BBD7-7E43D1354098}"/>
              </a:ext>
            </a:extLst>
          </p:cNvPr>
          <p:cNvSpPr>
            <a:spLocks xmlns:a="http://schemas.openxmlformats.org/drawingml/2006/main" noGrp="1"/>
          </p:cNvSpPr>
          <p:nvPr/>
        </p:nvSpPr>
        <p:spPr>
          <a:xfrm xmlns:a="http://schemas.openxmlformats.org/drawingml/2006/main">
            <a:off x="5715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BOOK VALUE</a:t>
            </a:r>
          </a:p>
        </p:txBody>
      </p:sp>
      <p:sp>
        <p:nvSpPr>
          <p:cNvPr id="43" name="">
            <a:extLst xmlns:a="http://schemas.openxmlformats.org/drawingml/2006/main">
              <a:ext uri="{FF2B5EF4-FFF2-40B4-BE49-F238E27FC236}">
                <a16:creationId xmlns:a16="http://schemas.microsoft.com/office/drawing/2014/main" id="{81CF0BA3-9464-456E-89A2-5713C3DB0C00}"/>
              </a:ext>
            </a:extLst>
          </p:cNvPr>
          <p:cNvSpPr>
            <a:spLocks xmlns:a="http://schemas.openxmlformats.org/drawingml/2006/main" noGrp="1"/>
          </p:cNvSpPr>
          <p:nvPr/>
        </p:nvSpPr>
        <p:spPr>
          <a:xfrm xmlns:a="http://schemas.openxmlformats.org/drawingml/2006/main">
            <a:off x="20574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₹323 per share · face value ₹5</a:t>
            </a:r>
          </a:p>
        </p:txBody>
      </p:sp>
      <p:sp>
        <p:nvSpPr>
          <p:cNvPr id="44" name="">
            <a:extLst xmlns:a="http://schemas.openxmlformats.org/drawingml/2006/main">
              <a:ext uri="{FF2B5EF4-FFF2-40B4-BE49-F238E27FC236}">
                <a16:creationId xmlns:a16="http://schemas.microsoft.com/office/drawing/2014/main" id="{491D633D-CA48-4F97-8A0C-71DE0CD083E4}"/>
              </a:ext>
            </a:extLst>
          </p:cNvPr>
          <p:cNvSpPr>
            <a:spLocks xmlns:a="http://schemas.openxmlformats.org/drawingml/2006/main" noGrp="1"/>
          </p:cNvSpPr>
          <p:nvPr/>
        </p:nvSpPr>
        <p:spPr>
          <a:xfrm xmlns:a="http://schemas.openxmlformats.org/drawingml/2006/main">
            <a:off x="62103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E5383D36-9FB9-4C26-B5B7-995D7B98D3B1}"/>
              </a:ext>
            </a:extLst>
          </p:cNvPr>
          <p:cNvSpPr>
            <a:spLocks xmlns:a="http://schemas.openxmlformats.org/drawingml/2006/main" noGrp="1"/>
          </p:cNvSpPr>
          <p:nvPr/>
        </p:nvSpPr>
        <p:spPr>
          <a:xfrm xmlns:a="http://schemas.openxmlformats.org/drawingml/2006/main">
            <a:off x="63246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LEADERSHIP</a:t>
            </a:r>
          </a:p>
        </p:txBody>
      </p:sp>
      <p:sp>
        <p:nvSpPr>
          <p:cNvPr id="46" name="">
            <a:extLst xmlns:a="http://schemas.openxmlformats.org/drawingml/2006/main">
              <a:ext uri="{FF2B5EF4-FFF2-40B4-BE49-F238E27FC236}">
                <a16:creationId xmlns:a16="http://schemas.microsoft.com/office/drawing/2014/main" id="{16B41749-56F6-4644-A188-68DEC564B594}"/>
              </a:ext>
            </a:extLst>
          </p:cNvPr>
          <p:cNvSpPr>
            <a:spLocks xmlns:a="http://schemas.openxmlformats.org/drawingml/2006/main" noGrp="1"/>
          </p:cNvSpPr>
          <p:nvPr/>
        </p:nvSpPr>
        <p:spPr>
          <a:xfrm xmlns:a="http://schemas.openxmlformats.org/drawingml/2006/main">
            <a:off x="78105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Paramjit Singh Chadha (MD) · Akash Passey (Chairman)</a:t>
            </a:r>
          </a:p>
        </p:txBody>
      </p:sp>
      <p:sp>
        <p:nvSpPr>
          <p:cNvPr id="47" name="">
            <a:extLst xmlns:a="http://schemas.openxmlformats.org/drawingml/2006/main">
              <a:ext uri="{FF2B5EF4-FFF2-40B4-BE49-F238E27FC236}">
                <a16:creationId xmlns:a16="http://schemas.microsoft.com/office/drawing/2014/main" id="{FE9B8176-1F90-4A81-8169-EC10A8715908}"/>
              </a:ext>
            </a:extLst>
          </p:cNvPr>
          <p:cNvSpPr>
            <a:spLocks xmlns:a="http://schemas.openxmlformats.org/drawingml/2006/main" noGrp="1"/>
          </p:cNvSpPr>
          <p:nvPr/>
        </p:nvSpPr>
        <p:spPr>
          <a:xfrm xmlns:a="http://schemas.openxmlformats.org/drawingml/2006/main">
            <a:off x="4572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032E4B6A-3D32-479E-AA37-BDB0B7F26A53}"/>
              </a:ext>
            </a:extLst>
          </p:cNvPr>
          <p:cNvSpPr>
            <a:spLocks xmlns:a="http://schemas.openxmlformats.org/drawingml/2006/main" noGrp="1"/>
          </p:cNvSpPr>
          <p:nvPr/>
        </p:nvSpPr>
        <p:spPr>
          <a:xfrm xmlns:a="http://schemas.openxmlformats.org/drawingml/2006/main">
            <a:off x="5715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INDEX</a:t>
            </a:r>
          </a:p>
        </p:txBody>
      </p:sp>
      <p:sp>
        <p:nvSpPr>
          <p:cNvPr id="49" name="">
            <a:extLst xmlns:a="http://schemas.openxmlformats.org/drawingml/2006/main">
              <a:ext uri="{FF2B5EF4-FFF2-40B4-BE49-F238E27FC236}">
                <a16:creationId xmlns:a16="http://schemas.microsoft.com/office/drawing/2014/main" id="{1A6688E5-6722-4067-86E4-8B399346FBE1}"/>
              </a:ext>
            </a:extLst>
          </p:cNvPr>
          <p:cNvSpPr>
            <a:spLocks xmlns:a="http://schemas.openxmlformats.org/drawingml/2006/main" noGrp="1"/>
          </p:cNvSpPr>
          <p:nvPr/>
        </p:nvSpPr>
        <p:spPr>
          <a:xfrm xmlns:a="http://schemas.openxmlformats.org/drawingml/2006/main">
            <a:off x="20574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BSE 500 constituent · ISIN INE342J01019</a:t>
            </a:r>
          </a:p>
        </p:txBody>
      </p:sp>
      <p:sp>
        <p:nvSpPr>
          <p:cNvPr id="50" name="">
            <a:extLst xmlns:a="http://schemas.openxmlformats.org/drawingml/2006/main">
              <a:ext uri="{FF2B5EF4-FFF2-40B4-BE49-F238E27FC236}">
                <a16:creationId xmlns:a16="http://schemas.microsoft.com/office/drawing/2014/main" id="{4107653D-98B8-4593-AB75-D67A5476CCF3}"/>
              </a:ext>
            </a:extLst>
          </p:cNvPr>
          <p:cNvSpPr>
            <a:spLocks xmlns:a="http://schemas.openxmlformats.org/drawingml/2006/main" noGrp="1"/>
          </p:cNvSpPr>
          <p:nvPr/>
        </p:nvSpPr>
        <p:spPr>
          <a:xfrm xmlns:a="http://schemas.openxmlformats.org/drawingml/2006/main">
            <a:off x="62103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6AEF7AB8-8740-401C-8017-A6735B5D5C22}"/>
              </a:ext>
            </a:extLst>
          </p:cNvPr>
          <p:cNvSpPr>
            <a:spLocks xmlns:a="http://schemas.openxmlformats.org/drawingml/2006/main" noGrp="1"/>
          </p:cNvSpPr>
          <p:nvPr/>
        </p:nvSpPr>
        <p:spPr>
          <a:xfrm xmlns:a="http://schemas.openxmlformats.org/drawingml/2006/main">
            <a:off x="63246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EXPORTS</a:t>
            </a:r>
          </a:p>
        </p:txBody>
      </p:sp>
      <p:sp>
        <p:nvSpPr>
          <p:cNvPr id="52" name="">
            <a:extLst xmlns:a="http://schemas.openxmlformats.org/drawingml/2006/main">
              <a:ext uri="{FF2B5EF4-FFF2-40B4-BE49-F238E27FC236}">
                <a16:creationId xmlns:a16="http://schemas.microsoft.com/office/drawing/2014/main" id="{8415D8EC-64C5-4D72-8CB9-E01C24B87189}"/>
              </a:ext>
            </a:extLst>
          </p:cNvPr>
          <p:cNvSpPr>
            <a:spLocks xmlns:a="http://schemas.openxmlformats.org/drawingml/2006/main" noGrp="1"/>
          </p:cNvSpPr>
          <p:nvPr/>
        </p:nvSpPr>
        <p:spPr>
          <a:xfrm xmlns:a="http://schemas.openxmlformats.org/drawingml/2006/main">
            <a:off x="78105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~18 countries — Americas, Asia, Europe, Africa</a:t>
            </a:r>
          </a:p>
        </p:txBody>
      </p:sp>
      <p:sp>
        <p:nvSpPr>
          <p:cNvPr id="53" name="">
            <a:extLst xmlns:a="http://schemas.openxmlformats.org/drawingml/2006/main">
              <a:ext uri="{FF2B5EF4-FFF2-40B4-BE49-F238E27FC236}">
                <a16:creationId xmlns:a16="http://schemas.microsoft.com/office/drawing/2014/main" id="{3FBE63AB-82A5-4A4A-8DFE-550BBDD306FA}"/>
              </a:ext>
            </a:extLst>
          </p:cNvPr>
          <p:cNvSpPr>
            <a:spLocks xmlns:a="http://schemas.openxmlformats.org/drawingml/2006/main" noGrp="1"/>
          </p:cNvSpPr>
          <p:nvPr/>
        </p:nvSpPr>
        <p:spPr>
          <a:xfrm xmlns:a="http://schemas.openxmlformats.org/drawingml/2006/main">
            <a:off x="457200" y="41910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010F3331-1D75-4C6C-8468-73D214896B04}"/>
              </a:ext>
            </a:extLst>
          </p:cNvPr>
          <p:cNvSpPr>
            <a:spLocks xmlns:a="http://schemas.openxmlformats.org/drawingml/2006/main" noGrp="1"/>
          </p:cNvSpPr>
          <p:nvPr/>
        </p:nvSpPr>
        <p:spPr>
          <a:xfrm xmlns:a="http://schemas.openxmlformats.org/drawingml/2006/main">
            <a:off x="457200" y="430530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OPEN ON THIS COMPANY</a:t>
            </a:r>
          </a:p>
        </p:txBody>
      </p:sp>
      <p:sp>
        <p:nvSpPr>
          <p:cNvPr id="55" name="">
            <a:extLst xmlns:a="http://schemas.openxmlformats.org/drawingml/2006/main">
              <a:ext uri="{FF2B5EF4-FFF2-40B4-BE49-F238E27FC236}">
                <a16:creationId xmlns:a16="http://schemas.microsoft.com/office/drawing/2014/main" id="{AA8A7E8B-EF82-45B5-9117-817F43D79832}"/>
              </a:ext>
            </a:extLst>
          </p:cNvPr>
          <p:cNvSpPr>
            <a:spLocks xmlns:a="http://schemas.openxmlformats.org/drawingml/2006/main" noGrp="1"/>
          </p:cNvSpPr>
          <p:nvPr/>
        </p:nvSpPr>
        <p:spPr>
          <a:xfrm xmlns:a="http://schemas.openxmlformats.org/drawingml/2006/main">
            <a:off x="4572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8A235565-8B95-42D5-8C0E-99E50795BDD7}"/>
              </a:ext>
            </a:extLst>
          </p:cNvPr>
          <p:cNvSpPr>
            <a:spLocks xmlns:a="http://schemas.openxmlformats.org/drawingml/2006/main" noGrp="1"/>
          </p:cNvSpPr>
          <p:nvPr/>
        </p:nvSpPr>
        <p:spPr>
          <a:xfrm xmlns:a="http://schemas.openxmlformats.org/drawingml/2006/main">
            <a:off x="4572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Request ARAI certificate numbers and scope</a:t>
            </a:r>
          </a:p>
        </p:txBody>
      </p:sp>
      <p:sp>
        <p:nvSpPr>
          <p:cNvPr id="57" name="">
            <a:extLst xmlns:a="http://schemas.openxmlformats.org/drawingml/2006/main">
              <a:ext uri="{FF2B5EF4-FFF2-40B4-BE49-F238E27FC236}">
                <a16:creationId xmlns:a16="http://schemas.microsoft.com/office/drawing/2014/main" id="{277F8EDC-923C-4CDB-996C-3FE765271B42}"/>
              </a:ext>
            </a:extLst>
          </p:cNvPr>
          <p:cNvSpPr>
            <a:spLocks xmlns:a="http://schemas.openxmlformats.org/drawingml/2006/main" noGrp="1"/>
          </p:cNvSpPr>
          <p:nvPr/>
        </p:nvSpPr>
        <p:spPr>
          <a:xfrm xmlns:a="http://schemas.openxmlformats.org/drawingml/2006/main">
            <a:off x="42545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B87AC376-2989-4A99-9215-11760F4F4A59}"/>
              </a:ext>
            </a:extLst>
          </p:cNvPr>
          <p:cNvSpPr>
            <a:spLocks xmlns:a="http://schemas.openxmlformats.org/drawingml/2006/main" noGrp="1"/>
          </p:cNvSpPr>
          <p:nvPr/>
        </p:nvSpPr>
        <p:spPr>
          <a:xfrm xmlns:a="http://schemas.openxmlformats.org/drawingml/2006/main">
            <a:off x="42545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Obtain the validation protocol behind 300,000 km</a:t>
            </a:r>
          </a:p>
        </p:txBody>
      </p:sp>
      <p:sp>
        <p:nvSpPr>
          <p:cNvPr id="59" name="">
            <a:extLst xmlns:a="http://schemas.openxmlformats.org/drawingml/2006/main">
              <a:ext uri="{FF2B5EF4-FFF2-40B4-BE49-F238E27FC236}">
                <a16:creationId xmlns:a16="http://schemas.microsoft.com/office/drawing/2014/main" id="{8CA39E55-FD7F-40BE-B289-E3ED108CF612}"/>
              </a:ext>
            </a:extLst>
          </p:cNvPr>
          <p:cNvSpPr>
            <a:spLocks xmlns:a="http://schemas.openxmlformats.org/drawingml/2006/main" noGrp="1"/>
          </p:cNvSpPr>
          <p:nvPr/>
        </p:nvSpPr>
        <p:spPr>
          <a:xfrm xmlns:a="http://schemas.openxmlformats.org/drawingml/2006/main">
            <a:off x="80518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C74CBA08-6F2F-4CAF-8576-0142F7F012AC}"/>
              </a:ext>
            </a:extLst>
          </p:cNvPr>
          <p:cNvSpPr>
            <a:spLocks xmlns:a="http://schemas.openxmlformats.org/drawingml/2006/main" noGrp="1"/>
          </p:cNvSpPr>
          <p:nvPr/>
        </p:nvSpPr>
        <p:spPr>
          <a:xfrm xmlns:a="http://schemas.openxmlformats.org/drawingml/2006/main">
            <a:off x="80518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OEM counterparty is unnamed — do not infer</a:t>
            </a:r>
          </a:p>
        </p:txBody>
      </p:sp>
      <p:sp>
        <p:nvSpPr>
          <p:cNvPr id="61" name="">
            <a:extLst xmlns:a="http://schemas.openxmlformats.org/drawingml/2006/main">
              <a:ext uri="{FF2B5EF4-FFF2-40B4-BE49-F238E27FC236}">
                <a16:creationId xmlns:a16="http://schemas.microsoft.com/office/drawing/2014/main" id="{E930D7A1-E0AE-44EA-BD1E-2D80BEFABF39}"/>
              </a:ext>
            </a:extLst>
          </p:cNvPr>
          <p:cNvSpPr>
            <a:spLocks xmlns:a="http://schemas.openxmlformats.org/drawingml/2006/main" noGrp="1"/>
          </p:cNvSpPr>
          <p:nvPr/>
        </p:nvSpPr>
        <p:spPr>
          <a:xfrm xmlns:a="http://schemas.openxmlformats.org/drawingml/2006/main">
            <a:off x="457200" y="5029200"/>
            <a:ext cx="11277600"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F6FB3FBD-B75D-4D1E-8E5E-0BA3E248D0AD}"/>
              </a:ext>
            </a:extLst>
          </p:cNvPr>
          <p:cNvSpPr>
            <a:spLocks xmlns:a="http://schemas.openxmlformats.org/drawingml/2006/main" noGrp="1"/>
          </p:cNvSpPr>
          <p:nvPr/>
        </p:nvSpPr>
        <p:spPr>
          <a:xfrm xmlns:a="http://schemas.openxmlformats.org/drawingml/2006/main">
            <a:off x="457200" y="514350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EVIDENCE POSTURE · VERIFIED</a:t>
            </a:r>
          </a:p>
        </p:txBody>
      </p:sp>
      <p:sp>
        <p:nvSpPr>
          <p:cNvPr id="63" name="">
            <a:extLst xmlns:a="http://schemas.openxmlformats.org/drawingml/2006/main">
              <a:ext uri="{FF2B5EF4-FFF2-40B4-BE49-F238E27FC236}">
                <a16:creationId xmlns:a16="http://schemas.microsoft.com/office/drawing/2014/main" id="{7C3804FC-776F-4034-BE60-32996D7FE191}"/>
              </a:ext>
            </a:extLst>
          </p:cNvPr>
          <p:cNvSpPr>
            <a:spLocks xmlns:a="http://schemas.openxmlformats.org/drawingml/2006/main" noGrp="1"/>
          </p:cNvSpPr>
          <p:nvPr/>
        </p:nvSpPr>
        <p:spPr>
          <a:xfrm xmlns:a="http://schemas.openxmlformats.org/drawingml/2006/main">
            <a:off x="9258300" y="5143500"/>
            <a:ext cx="2476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EV-ZF-01 … EV-ZF-08</a:t>
            </a:r>
          </a:p>
        </p:txBody>
      </p:sp>
      <p:sp>
        <p:nvSpPr>
          <p:cNvPr id="64" name="">
            <a:extLst xmlns:a="http://schemas.openxmlformats.org/drawingml/2006/main">
              <a:ext uri="{FF2B5EF4-FFF2-40B4-BE49-F238E27FC236}">
                <a16:creationId xmlns:a16="http://schemas.microsoft.com/office/drawing/2014/main" id="{1D2658D4-8C5B-4D00-BEBC-87A15FE7E89C}"/>
              </a:ext>
            </a:extLst>
          </p:cNvPr>
          <p:cNvSpPr>
            <a:spLocks xmlns:a="http://schemas.openxmlformats.org/drawingml/2006/main" noGrp="1"/>
          </p:cNvSpPr>
          <p:nvPr/>
        </p:nvSpPr>
        <p:spPr>
          <a:xfrm xmlns:a="http://schemas.openxmlformats.org/drawingml/2006/main">
            <a:off x="457200" y="5334000"/>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Filed as a foreign incumbent. Its India arm is a ₹29,600 Cr listed Indian company incorporated in Chennai in 2004, with Indian homologation capability and an export business. On sovereignty and India-native axes, ZFCVINDIA is domestic.</a:t>
            </a:r>
          </a:p>
        </p:txBody>
      </p:sp>
      <p:sp>
        <p:nvSpPr>
          <p:cNvPr id="65" name="">
            <a:extLst xmlns:a="http://schemas.openxmlformats.org/drawingml/2006/main">
              <a:ext uri="{FF2B5EF4-FFF2-40B4-BE49-F238E27FC236}">
                <a16:creationId xmlns:a16="http://schemas.microsoft.com/office/drawing/2014/main" id="{505ABCFC-C52F-4CCF-BD62-E7F02CD8EE15}"/>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9B69AD39-C270-42E5-831A-C49D2B749B4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7" name="">
            <a:extLst xmlns:a="http://schemas.openxmlformats.org/drawingml/2006/main">
              <a:ext uri="{FF2B5EF4-FFF2-40B4-BE49-F238E27FC236}">
                <a16:creationId xmlns:a16="http://schemas.microsoft.com/office/drawing/2014/main" id="{53044DCE-606F-436E-9B78-33D327C4ACEB}"/>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27</a:t>
            </a:r>
          </a:p>
        </p:txBody>
      </p:sp>
    </p:spTree>
    <p:extLst>
      <p:ext uri="{BB962C8B-B14F-4D97-AF65-F5344CB8AC3E}">
        <p14:creationId xmlns:p14="http://schemas.microsoft.com/office/powerpoint/2010/main" val="1300916728"/>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478368E-90CD-40FB-94C3-44BD54FD221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8AE811A-0FA0-42BE-9368-CAE72A2BD8F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2730D7A-C6AF-4010-B4D0-BCBED7492934}"/>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AI USE CASES · ZF CVCS INDIA</a:t>
            </a:r>
          </a:p>
        </p:txBody>
      </p:sp>
      <p:sp>
        <p:nvSpPr>
          <p:cNvPr id="4" name="">
            <a:extLst xmlns:a="http://schemas.openxmlformats.org/drawingml/2006/main">
              <a:ext uri="{FF2B5EF4-FFF2-40B4-BE49-F238E27FC236}">
                <a16:creationId xmlns:a16="http://schemas.microsoft.com/office/drawing/2014/main" id="{7E761187-E91B-4F93-990D-8E99F9DB004F}"/>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What ZF CVCS India's AI actually does</a:t>
            </a:r>
          </a:p>
        </p:txBody>
      </p:sp>
      <p:sp>
        <p:nvSpPr>
          <p:cNvPr id="5" name="">
            <a:extLst xmlns:a="http://schemas.openxmlformats.org/drawingml/2006/main">
              <a:ext uri="{FF2B5EF4-FFF2-40B4-BE49-F238E27FC236}">
                <a16:creationId xmlns:a16="http://schemas.microsoft.com/office/drawing/2014/main" id="{43595CCA-ABA1-4A51-BD33-1FEED98C8787}"/>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Threat ratings describe how worried to be. This describes what the system is — which is what decides whether DeepGrid displaces, attaches to, or ignores it.</a:t>
            </a:r>
          </a:p>
        </p:txBody>
      </p:sp>
      <p:sp>
        <p:nvSpPr>
          <p:cNvPr id="6" name="">
            <a:extLst xmlns:a="http://schemas.openxmlformats.org/drawingml/2006/main">
              <a:ext uri="{FF2B5EF4-FFF2-40B4-BE49-F238E27FC236}">
                <a16:creationId xmlns:a16="http://schemas.microsoft.com/office/drawing/2014/main" id="{B33C7E20-CEE7-4767-97E6-C79C8F13966E}"/>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915CDE1-F74C-40CD-8FA8-5E9FF998AA42}"/>
              </a:ext>
            </a:extLst>
          </p:cNvPr>
          <p:cNvSpPr>
            <a:spLocks xmlns:a="http://schemas.openxmlformats.org/drawingml/2006/main" noGrp="1"/>
          </p:cNvSpPr>
          <p:nvPr/>
        </p:nvSpPr>
        <p:spPr>
          <a:xfrm xmlns:a="http://schemas.openxmlformats.org/drawingml/2006/main">
            <a:off x="457200" y="11239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396DF5E-22BE-48BB-AA2C-669D85861378}"/>
              </a:ext>
            </a:extLst>
          </p:cNvPr>
          <p:cNvSpPr>
            <a:spLocks xmlns:a="http://schemas.openxmlformats.org/drawingml/2006/main" noGrp="1"/>
          </p:cNvSpPr>
          <p:nvPr/>
        </p:nvSpPr>
        <p:spPr>
          <a:xfrm xmlns:a="http://schemas.openxmlformats.org/drawingml/2006/main">
            <a:off x="609600" y="11620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PATTERN</a:t>
            </a:r>
          </a:p>
        </p:txBody>
      </p:sp>
      <p:sp>
        <p:nvSpPr>
          <p:cNvPr id="9" name="">
            <a:extLst xmlns:a="http://schemas.openxmlformats.org/drawingml/2006/main">
              <a:ext uri="{FF2B5EF4-FFF2-40B4-BE49-F238E27FC236}">
                <a16:creationId xmlns:a16="http://schemas.microsoft.com/office/drawing/2014/main" id="{8D2A04C9-3E82-4D7C-A4BA-074AB3202F73}"/>
              </a:ext>
            </a:extLst>
          </p:cNvPr>
          <p:cNvSpPr>
            <a:spLocks xmlns:a="http://schemas.openxmlformats.org/drawingml/2006/main" noGrp="1"/>
          </p:cNvSpPr>
          <p:nvPr/>
        </p:nvSpPr>
        <p:spPr>
          <a:xfrm xmlns:a="http://schemas.openxmlformats.org/drawingml/2006/main">
            <a:off x="2743200" y="11620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P-FUSE → P-ACT — radar + camera into a braking safety case</a:t>
            </a:r>
          </a:p>
        </p:txBody>
      </p:sp>
      <p:sp>
        <p:nvSpPr>
          <p:cNvPr id="10" name="">
            <a:extLst xmlns:a="http://schemas.openxmlformats.org/drawingml/2006/main">
              <a:ext uri="{FF2B5EF4-FFF2-40B4-BE49-F238E27FC236}">
                <a16:creationId xmlns:a16="http://schemas.microsoft.com/office/drawing/2014/main" id="{51B1701A-C5E0-4E2C-AE40-60A1F25F03D2}"/>
              </a:ext>
            </a:extLst>
          </p:cNvPr>
          <p:cNvSpPr>
            <a:spLocks xmlns:a="http://schemas.openxmlformats.org/drawingml/2006/main" noGrp="1"/>
          </p:cNvSpPr>
          <p:nvPr/>
        </p:nvSpPr>
        <p:spPr>
          <a:xfrm xmlns:a="http://schemas.openxmlformats.org/drawingml/2006/main">
            <a:off x="457200" y="15430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70A421B-A6F6-4A7D-871A-67988F7D1BB4}"/>
              </a:ext>
            </a:extLst>
          </p:cNvPr>
          <p:cNvSpPr>
            <a:spLocks xmlns:a="http://schemas.openxmlformats.org/drawingml/2006/main" noGrp="1"/>
          </p:cNvSpPr>
          <p:nvPr/>
        </p:nvSpPr>
        <p:spPr>
          <a:xfrm xmlns:a="http://schemas.openxmlformats.org/drawingml/2006/main">
            <a:off x="609600" y="15811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STACK</a:t>
            </a:r>
          </a:p>
        </p:txBody>
      </p:sp>
      <p:sp>
        <p:nvSpPr>
          <p:cNvPr id="12" name="">
            <a:extLst xmlns:a="http://schemas.openxmlformats.org/drawingml/2006/main">
              <a:ext uri="{FF2B5EF4-FFF2-40B4-BE49-F238E27FC236}">
                <a16:creationId xmlns:a16="http://schemas.microsoft.com/office/drawing/2014/main" id="{8DB5257F-ABEF-4BCB-AED6-B074912F97C9}"/>
              </a:ext>
            </a:extLst>
          </p:cNvPr>
          <p:cNvSpPr>
            <a:spLocks xmlns:a="http://schemas.openxmlformats.org/drawingml/2006/main" noGrp="1"/>
          </p:cNvSpPr>
          <p:nvPr/>
        </p:nvSpPr>
        <p:spPr>
          <a:xfrm xmlns:a="http://schemas.openxmlformats.org/drawingml/2006/main">
            <a:off x="2743200" y="15811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OnGuardMAX + short-range radar; 16 features (AEBS, BSIS, DDAWS, LDWS, MOIS)</a:t>
            </a:r>
          </a:p>
        </p:txBody>
      </p:sp>
      <p:sp>
        <p:nvSpPr>
          <p:cNvPr id="13" name="">
            <a:extLst xmlns:a="http://schemas.openxmlformats.org/drawingml/2006/main">
              <a:ext uri="{FF2B5EF4-FFF2-40B4-BE49-F238E27FC236}">
                <a16:creationId xmlns:a16="http://schemas.microsoft.com/office/drawing/2014/main" id="{9E2E047A-3305-46C7-9F4E-BB15FD1301B3}"/>
              </a:ext>
            </a:extLst>
          </p:cNvPr>
          <p:cNvSpPr>
            <a:spLocks xmlns:a="http://schemas.openxmlformats.org/drawingml/2006/main" noGrp="1"/>
          </p:cNvSpPr>
          <p:nvPr/>
        </p:nvSpPr>
        <p:spPr>
          <a:xfrm xmlns:a="http://schemas.openxmlformats.org/drawingml/2006/main">
            <a:off x="457200" y="19621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5D52F6A-7D04-49D0-AD4F-304F49F1B39A}"/>
              </a:ext>
            </a:extLst>
          </p:cNvPr>
          <p:cNvSpPr>
            <a:spLocks xmlns:a="http://schemas.openxmlformats.org/drawingml/2006/main" noGrp="1"/>
          </p:cNvSpPr>
          <p:nvPr/>
        </p:nvSpPr>
        <p:spPr>
          <a:xfrm xmlns:a="http://schemas.openxmlformats.org/drawingml/2006/main">
            <a:off x="609600" y="20002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AUTONOMY</a:t>
            </a:r>
          </a:p>
        </p:txBody>
      </p:sp>
      <p:sp>
        <p:nvSpPr>
          <p:cNvPr id="15" name="">
            <a:extLst xmlns:a="http://schemas.openxmlformats.org/drawingml/2006/main">
              <a:ext uri="{FF2B5EF4-FFF2-40B4-BE49-F238E27FC236}">
                <a16:creationId xmlns:a16="http://schemas.microsoft.com/office/drawing/2014/main" id="{C7B68A13-FADB-4D12-B03E-9DE52E5D4108}"/>
              </a:ext>
            </a:extLst>
          </p:cNvPr>
          <p:cNvSpPr>
            <a:spLocks xmlns:a="http://schemas.openxmlformats.org/drawingml/2006/main" noGrp="1"/>
          </p:cNvSpPr>
          <p:nvPr/>
        </p:nvSpPr>
        <p:spPr>
          <a:xfrm xmlns:a="http://schemas.openxmlformats.org/drawingml/2006/main">
            <a:off x="2743200" y="20002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SAE Level 2, designed to extend higher</a:t>
            </a:r>
          </a:p>
        </p:txBody>
      </p:sp>
      <p:sp>
        <p:nvSpPr>
          <p:cNvPr id="16" name="">
            <a:extLst xmlns:a="http://schemas.openxmlformats.org/drawingml/2006/main">
              <a:ext uri="{FF2B5EF4-FFF2-40B4-BE49-F238E27FC236}">
                <a16:creationId xmlns:a16="http://schemas.microsoft.com/office/drawing/2014/main" id="{41E78FCB-8EE0-4924-9BEC-3DA4C738A558}"/>
              </a:ext>
            </a:extLst>
          </p:cNvPr>
          <p:cNvSpPr>
            <a:spLocks xmlns:a="http://schemas.openxmlformats.org/drawingml/2006/main" noGrp="1"/>
          </p:cNvSpPr>
          <p:nvPr/>
        </p:nvSpPr>
        <p:spPr>
          <a:xfrm xmlns:a="http://schemas.openxmlformats.org/drawingml/2006/main">
            <a:off x="457200" y="23812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CC1DBA2-E303-40D5-A7DB-BF33F7F95488}"/>
              </a:ext>
            </a:extLst>
          </p:cNvPr>
          <p:cNvSpPr>
            <a:spLocks xmlns:a="http://schemas.openxmlformats.org/drawingml/2006/main" noGrp="1"/>
          </p:cNvSpPr>
          <p:nvPr/>
        </p:nvSpPr>
        <p:spPr>
          <a:xfrm xmlns:a="http://schemas.openxmlformats.org/drawingml/2006/main">
            <a:off x="609600" y="24193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VALIDATION</a:t>
            </a:r>
          </a:p>
        </p:txBody>
      </p:sp>
      <p:sp>
        <p:nvSpPr>
          <p:cNvPr id="18" name="">
            <a:extLst xmlns:a="http://schemas.openxmlformats.org/drawingml/2006/main">
              <a:ext uri="{FF2B5EF4-FFF2-40B4-BE49-F238E27FC236}">
                <a16:creationId xmlns:a16="http://schemas.microsoft.com/office/drawing/2014/main" id="{3C4A8CD2-D074-4378-B889-BC120FF41F78}"/>
              </a:ext>
            </a:extLst>
          </p:cNvPr>
          <p:cNvSpPr>
            <a:spLocks xmlns:a="http://schemas.openxmlformats.org/drawingml/2006/main" noGrp="1"/>
          </p:cNvSpPr>
          <p:nvPr/>
        </p:nvSpPr>
        <p:spPr>
          <a:xfrm xmlns:a="http://schemas.openxmlformats.org/drawingml/2006/main">
            <a:off x="2743200" y="24193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300,000 km India roads + 65,000 km with customers</a:t>
            </a:r>
          </a:p>
        </p:txBody>
      </p:sp>
      <p:sp>
        <p:nvSpPr>
          <p:cNvPr id="19" name="">
            <a:extLst xmlns:a="http://schemas.openxmlformats.org/drawingml/2006/main">
              <a:ext uri="{FF2B5EF4-FFF2-40B4-BE49-F238E27FC236}">
                <a16:creationId xmlns:a16="http://schemas.microsoft.com/office/drawing/2014/main" id="{41A325C7-E29B-40A5-9127-EC4741A92BBD}"/>
              </a:ext>
            </a:extLst>
          </p:cNvPr>
          <p:cNvSpPr>
            <a:spLocks xmlns:a="http://schemas.openxmlformats.org/drawingml/2006/main" noGrp="1"/>
          </p:cNvSpPr>
          <p:nvPr/>
        </p:nvSpPr>
        <p:spPr>
          <a:xfrm xmlns:a="http://schemas.openxmlformats.org/drawingml/2006/main">
            <a:off x="457200" y="28003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6F0B819-20C3-421A-B72A-717119B9D082}"/>
              </a:ext>
            </a:extLst>
          </p:cNvPr>
          <p:cNvSpPr>
            <a:spLocks xmlns:a="http://schemas.openxmlformats.org/drawingml/2006/main" noGrp="1"/>
          </p:cNvSpPr>
          <p:nvPr/>
        </p:nvSpPr>
        <p:spPr>
          <a:xfrm xmlns:a="http://schemas.openxmlformats.org/drawingml/2006/main">
            <a:off x="609600" y="28384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CERTIFICATION</a:t>
            </a:r>
          </a:p>
        </p:txBody>
      </p:sp>
      <p:sp>
        <p:nvSpPr>
          <p:cNvPr id="21" name="">
            <a:extLst xmlns:a="http://schemas.openxmlformats.org/drawingml/2006/main">
              <a:ext uri="{FF2B5EF4-FFF2-40B4-BE49-F238E27FC236}">
                <a16:creationId xmlns:a16="http://schemas.microsoft.com/office/drawing/2014/main" id="{67EE3696-770E-4B14-9318-C0D1E7DF5191}"/>
              </a:ext>
            </a:extLst>
          </p:cNvPr>
          <p:cNvSpPr>
            <a:spLocks xmlns:a="http://schemas.openxmlformats.org/drawingml/2006/main" noGrp="1"/>
          </p:cNvSpPr>
          <p:nvPr/>
        </p:nvSpPr>
        <p:spPr>
          <a:xfrm xmlns:a="http://schemas.openxmlformats.org/drawingml/2006/main">
            <a:off x="2743200" y="28384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ARAI-certified vs AIS-162/184/186/187/188 — certificate numbers not published</a:t>
            </a:r>
          </a:p>
        </p:txBody>
      </p:sp>
      <p:sp>
        <p:nvSpPr>
          <p:cNvPr id="22" name="">
            <a:extLst xmlns:a="http://schemas.openxmlformats.org/drawingml/2006/main">
              <a:ext uri="{FF2B5EF4-FFF2-40B4-BE49-F238E27FC236}">
                <a16:creationId xmlns:a16="http://schemas.microsoft.com/office/drawing/2014/main" id="{B414ACD7-1304-4000-A7FE-84D12F382ED4}"/>
              </a:ext>
            </a:extLst>
          </p:cNvPr>
          <p:cNvSpPr>
            <a:spLocks xmlns:a="http://schemas.openxmlformats.org/drawingml/2006/main" noGrp="1"/>
          </p:cNvSpPr>
          <p:nvPr/>
        </p:nvSpPr>
        <p:spPr>
          <a:xfrm xmlns:a="http://schemas.openxmlformats.org/drawingml/2006/main">
            <a:off x="457200" y="32575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B04F637-0ED6-4672-8E7F-1174C04E1C8D}"/>
              </a:ext>
            </a:extLst>
          </p:cNvPr>
          <p:cNvSpPr>
            <a:spLocks xmlns:a="http://schemas.openxmlformats.org/drawingml/2006/main" noGrp="1"/>
          </p:cNvSpPr>
          <p:nvPr/>
        </p:nvSpPr>
        <p:spPr>
          <a:xfrm xmlns:a="http://schemas.openxmlformats.org/drawingml/2006/main">
            <a:off x="457200" y="33718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IMPLICATION FOR DEEPGRID</a:t>
            </a:r>
          </a:p>
        </p:txBody>
      </p:sp>
      <p:sp>
        <p:nvSpPr>
          <p:cNvPr id="24" name="">
            <a:extLst xmlns:a="http://schemas.openxmlformats.org/drawingml/2006/main">
              <a:ext uri="{FF2B5EF4-FFF2-40B4-BE49-F238E27FC236}">
                <a16:creationId xmlns:a16="http://schemas.microsoft.com/office/drawing/2014/main" id="{BD782B15-B9DB-4BEF-9134-A669879D078D}"/>
              </a:ext>
            </a:extLst>
          </p:cNvPr>
          <p:cNvSpPr>
            <a:spLocks xmlns:a="http://schemas.openxmlformats.org/drawingml/2006/main" noGrp="1"/>
          </p:cNvSpPr>
          <p:nvPr/>
        </p:nvSpPr>
        <p:spPr>
          <a:xfrm xmlns:a="http://schemas.openxmlformats.org/drawingml/2006/main">
            <a:off x="457200" y="3562350"/>
            <a:ext cx="112776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Filed as a foreign incumbent. Its India arm is a ₹29,600 Cr listed Indian company incorporated in Chennai in 2004, with Indian homologation capability and an export business. On sovereignty and India-native axes, ZFCVINDIA is domestic.</a:t>
            </a:r>
          </a:p>
        </p:txBody>
      </p:sp>
      <p:sp>
        <p:nvSpPr>
          <p:cNvPr id="25" name="">
            <a:extLst xmlns:a="http://schemas.openxmlformats.org/drawingml/2006/main">
              <a:ext uri="{FF2B5EF4-FFF2-40B4-BE49-F238E27FC236}">
                <a16:creationId xmlns:a16="http://schemas.microsoft.com/office/drawing/2014/main" id="{85DBD23F-0D39-4D61-986B-67880982AA16}"/>
              </a:ext>
            </a:extLst>
          </p:cNvPr>
          <p:cNvSpPr>
            <a:spLocks xmlns:a="http://schemas.openxmlformats.org/drawingml/2006/main" noGrp="1"/>
          </p:cNvSpPr>
          <p:nvPr/>
        </p:nvSpPr>
        <p:spPr>
          <a:xfrm xmlns:a="http://schemas.openxmlformats.org/drawingml/2006/main">
            <a:off x="457200" y="4248150"/>
            <a:ext cx="11277600" cy="7048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6" name="">
            <a:extLst xmlns:a="http://schemas.openxmlformats.org/drawingml/2006/main">
              <a:ext uri="{FF2B5EF4-FFF2-40B4-BE49-F238E27FC236}">
                <a16:creationId xmlns:a16="http://schemas.microsoft.com/office/drawing/2014/main" id="{5FBF026B-1E1B-47D1-BAC2-44773C688E0F}"/>
              </a:ext>
            </a:extLst>
          </p:cNvPr>
          <p:cNvSpPr>
            <a:spLocks xmlns:a="http://schemas.openxmlformats.org/drawingml/2006/main" noGrp="1"/>
          </p:cNvSpPr>
          <p:nvPr/>
        </p:nvSpPr>
        <p:spPr>
          <a:xfrm xmlns:a="http://schemas.openxmlformats.org/drawingml/2006/main">
            <a:off x="457200" y="4248150"/>
            <a:ext cx="38100" cy="704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CDC43E4-11BB-4AE6-9E62-D5EAABA0C84A}"/>
              </a:ext>
            </a:extLst>
          </p:cNvPr>
          <p:cNvSpPr>
            <a:spLocks xmlns:a="http://schemas.openxmlformats.org/drawingml/2006/main" noGrp="1"/>
          </p:cNvSpPr>
          <p:nvPr/>
        </p:nvSpPr>
        <p:spPr>
          <a:xfrm xmlns:a="http://schemas.openxmlformats.org/drawingml/2006/main">
            <a:off x="628650" y="4362450"/>
            <a:ext cx="8420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P-ACT · REACHES BRAKE ACTUATION</a:t>
            </a:r>
          </a:p>
        </p:txBody>
      </p:sp>
      <p:sp>
        <p:nvSpPr>
          <p:cNvPr id="28" name="">
            <a:extLst xmlns:a="http://schemas.openxmlformats.org/drawingml/2006/main">
              <a:ext uri="{FF2B5EF4-FFF2-40B4-BE49-F238E27FC236}">
                <a16:creationId xmlns:a16="http://schemas.microsoft.com/office/drawing/2014/main" id="{749B1562-92E9-474E-BE0D-E742C9F6334E}"/>
              </a:ext>
            </a:extLst>
          </p:cNvPr>
          <p:cNvSpPr>
            <a:spLocks xmlns:a="http://schemas.openxmlformats.org/drawingml/2006/main" noGrp="1"/>
          </p:cNvSpPr>
          <p:nvPr/>
        </p:nvSpPr>
        <p:spPr>
          <a:xfrm xmlns:a="http://schemas.openxmlformats.org/drawingml/2006/main">
            <a:off x="628650" y="4552950"/>
            <a:ext cx="8420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Cannot be displaced by a better perception layer alone. The move is to attach INTO this stack, not to compete with it.</a:t>
            </a:r>
          </a:p>
        </p:txBody>
      </p:sp>
      <p:sp>
        <p:nvSpPr>
          <p:cNvPr id="29" name="">
            <a:extLst xmlns:a="http://schemas.openxmlformats.org/drawingml/2006/main">
              <a:ext uri="{FF2B5EF4-FFF2-40B4-BE49-F238E27FC236}">
                <a16:creationId xmlns:a16="http://schemas.microsoft.com/office/drawing/2014/main" id="{9E539374-4BB1-4413-9F69-1089A1FBB210}"/>
              </a:ext>
            </a:extLst>
          </p:cNvPr>
          <p:cNvSpPr>
            <a:spLocks xmlns:a="http://schemas.openxmlformats.org/drawingml/2006/main" noGrp="1"/>
          </p:cNvSpPr>
          <p:nvPr/>
        </p:nvSpPr>
        <p:spPr>
          <a:xfrm xmlns:a="http://schemas.openxmlformats.org/drawingml/2006/main">
            <a:off x="9163050" y="436245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a:solidFill>
                  <a:srgbClr val="8EA0B2"/>
                </a:solidFill>
                <a:latin typeface="Arial"/>
                <a:ea typeface="Arial"/>
                <a:cs typeface="Arial"/>
              </a:defRPr>
            </a:pPr>
            <a:r>
              <a:t>Evidence · EV-ZF-01 … EV-ZF-08</a:t>
            </a:r>
          </a:p>
        </p:txBody>
      </p:sp>
      <p:sp>
        <p:nvSpPr>
          <p:cNvPr id="30" name="">
            <a:extLst xmlns:a="http://schemas.openxmlformats.org/drawingml/2006/main">
              <a:ext uri="{FF2B5EF4-FFF2-40B4-BE49-F238E27FC236}">
                <a16:creationId xmlns:a16="http://schemas.microsoft.com/office/drawing/2014/main" id="{EF5F8899-C052-4F85-99AB-3AEBBB553FF6}"/>
              </a:ext>
            </a:extLst>
          </p:cNvPr>
          <p:cNvSpPr>
            <a:spLocks xmlns:a="http://schemas.openxmlformats.org/drawingml/2006/main" noGrp="1"/>
          </p:cNvSpPr>
          <p:nvPr/>
        </p:nvSpPr>
        <p:spPr>
          <a:xfrm xmlns:a="http://schemas.openxmlformats.org/drawingml/2006/main">
            <a:off x="9163050" y="453390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1BA271"/>
                </a:solidFill>
                <a:latin typeface="Arial"/>
                <a:ea typeface="Arial"/>
                <a:cs typeface="Arial"/>
              </a:defRPr>
            </a:pPr>
            <a:r>
              <a:t>Posture · VERIFIED</a:t>
            </a:r>
          </a:p>
        </p:txBody>
      </p:sp>
      <p:sp>
        <p:nvSpPr>
          <p:cNvPr id="31" name="">
            <a:extLst xmlns:a="http://schemas.openxmlformats.org/drawingml/2006/main">
              <a:ext uri="{FF2B5EF4-FFF2-40B4-BE49-F238E27FC236}">
                <a16:creationId xmlns:a16="http://schemas.microsoft.com/office/drawing/2014/main" id="{C2BFB8FE-1B72-443C-8A64-88112E64AFBC}"/>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4154D6D-9A18-422A-AF47-F191152FE929}"/>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B47C13A2-8EA1-4424-8126-723412FC464F}"/>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28</a:t>
            </a:r>
          </a:p>
        </p:txBody>
      </p:sp>
    </p:spTree>
    <p:extLst>
      <p:ext uri="{BB962C8B-B14F-4D97-AF65-F5344CB8AC3E}">
        <p14:creationId xmlns:p14="http://schemas.microsoft.com/office/powerpoint/2010/main" val="232999656"/>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39FD6B3B-E3B9-423A-9186-E9A80B00B70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04CBB41-14A8-4A0B-9B21-532A04D1F4B1}"/>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9A5D24D-F962-4BD1-A62B-39EAA65333FB}"/>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390F70D9-D08A-473A-9613-2D845866AF50}"/>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81BFCFB1-D300-404E-BB6A-69F58935FC30}"/>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ZF: Structural AEBS strength; programme specifics still need corroboration</a:t>
            </a:r>
          </a:p>
        </p:txBody>
      </p:sp>
      <p:sp>
        <p:nvSpPr>
          <p:cNvPr id="6" name="">
            <a:extLst xmlns:a="http://schemas.openxmlformats.org/drawingml/2006/main">
              <a:ext uri="{FF2B5EF4-FFF2-40B4-BE49-F238E27FC236}">
                <a16:creationId xmlns:a16="http://schemas.microsoft.com/office/drawing/2014/main" id="{0AE37B25-6748-428A-A870-56B5EFD8C035}"/>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070B9FF-5219-4DBB-BA8A-B778647CDA86}"/>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evidence supports ZF's advantage, and which parts remain company-reported?</a:t>
            </a:r>
          </a:p>
        </p:txBody>
      </p:sp>
      <p:sp>
        <p:nvSpPr>
          <p:cNvPr id="8" name="">
            <a:extLst xmlns:a="http://schemas.openxmlformats.org/drawingml/2006/main">
              <a:ext uri="{FF2B5EF4-FFF2-40B4-BE49-F238E27FC236}">
                <a16:creationId xmlns:a16="http://schemas.microsoft.com/office/drawing/2014/main" id="{0AD8233C-E256-41F6-ADCD-8E43144A490B}"/>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AA0141AF-58EE-453E-A579-4E331120AD8B}"/>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0BEE2E9-7906-4A41-BAC1-079DAB6DE389}"/>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DE1767EE-DCA3-4299-B168-28C76DCDA39B}"/>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ZF's disclosed nominations, feature breadth and India validation support a  high provisional threat rating ; they do not independently prove every programme detail. Demand specific programme artifacts before treating as definitive competitor position.</a:t>
            </a:r>
          </a:p>
        </p:txBody>
      </p:sp>
      <p:sp>
        <p:nvSpPr>
          <p:cNvPr id="12" name="">
            <a:extLst xmlns:a="http://schemas.openxmlformats.org/drawingml/2006/main">
              <a:ext uri="{FF2B5EF4-FFF2-40B4-BE49-F238E27FC236}">
                <a16:creationId xmlns:a16="http://schemas.microsoft.com/office/drawing/2014/main" id="{ECE3DF0E-C08F-45D5-A337-97B5B7F1DC7F}"/>
              </a:ext>
            </a:extLst>
          </p:cNvPr>
          <p:cNvSpPr>
            <a:spLocks xmlns:a="http://schemas.openxmlformats.org/drawingml/2006/main" noGrp="1"/>
          </p:cNvSpPr>
          <p:nvPr/>
        </p:nvSpPr>
        <p:spPr>
          <a:xfrm xmlns:a="http://schemas.openxmlformats.org/drawingml/2006/main">
            <a:off x="457200" y="18415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F9555FA6-92CB-4A78-80FA-9381AE5BDFBD}"/>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5E785DF-CEF2-4AF7-A3F1-C7F92D8D54C0}"/>
              </a:ext>
            </a:extLst>
          </p:cNvPr>
          <p:cNvSpPr>
            <a:spLocks xmlns:a="http://schemas.openxmlformats.org/drawingml/2006/main" noGrp="1"/>
          </p:cNvSpPr>
          <p:nvPr/>
        </p:nvSpPr>
        <p:spPr>
          <a:xfrm xmlns:a="http://schemas.openxmlformats.org/drawingml/2006/main">
            <a:off x="457200" y="18415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E4C93EC-D150-4E41-9FA2-06C7B68C4DFB}"/>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PITCH ONE NARROW</a:t>
            </a:r>
          </a:p>
        </p:txBody>
      </p:sp>
      <p:sp>
        <p:nvSpPr>
          <p:cNvPr id="16" name="">
            <a:extLst xmlns:a="http://schemas.openxmlformats.org/drawingml/2006/main">
              <a:ext uri="{FF2B5EF4-FFF2-40B4-BE49-F238E27FC236}">
                <a16:creationId xmlns:a16="http://schemas.microsoft.com/office/drawing/2014/main" id="{B19DB5CC-98DD-44DA-9902-52B45BECAC15}"/>
              </a:ext>
            </a:extLst>
          </p:cNvPr>
          <p:cNvSpPr>
            <a:spLocks xmlns:a="http://schemas.openxmlformats.org/drawingml/2006/main" noGrp="1"/>
          </p:cNvSpPr>
          <p:nvPr/>
        </p:nvSpPr>
        <p:spPr>
          <a:xfrm xmlns:a="http://schemas.openxmlformats.org/drawingml/2006/main">
            <a:off x="4067556" y="19177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Pitch one narrow India-specific perception wedge with stable interfaces, diagnostics, latency/power evidence and clearly bounded safety assumptions.</a:t>
            </a:r>
          </a:p>
        </p:txBody>
      </p:sp>
      <p:sp>
        <p:nvSpPr>
          <p:cNvPr id="17" name="">
            <a:extLst xmlns:a="http://schemas.openxmlformats.org/drawingml/2006/main">
              <a:ext uri="{FF2B5EF4-FFF2-40B4-BE49-F238E27FC236}">
                <a16:creationId xmlns:a16="http://schemas.microsoft.com/office/drawing/2014/main" id="{0C6CC98A-5CB9-4C44-8C21-5FBB82096B03}"/>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73F5EBDA-6E68-44ED-A43D-A3B4F1019C1D}"/>
              </a:ext>
            </a:extLst>
          </p:cNvPr>
          <p:cNvSpPr>
            <a:spLocks xmlns:a="http://schemas.openxmlformats.org/drawingml/2006/main" noGrp="1"/>
          </p:cNvSpPr>
          <p:nvPr/>
        </p:nvSpPr>
        <p:spPr>
          <a:xfrm xmlns:a="http://schemas.openxmlformats.org/drawingml/2006/main">
            <a:off x="457200" y="26416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73F2EED1-B6B0-4EA0-A790-824276F3B1DC}"/>
              </a:ext>
            </a:extLst>
          </p:cNvPr>
          <p:cNvSpPr>
            <a:spLocks xmlns:a="http://schemas.openxmlformats.org/drawingml/2006/main" noGrp="1"/>
          </p:cNvSpPr>
          <p:nvPr/>
        </p:nvSpPr>
        <p:spPr>
          <a:xfrm xmlns:a="http://schemas.openxmlformats.org/drawingml/2006/main">
            <a:off x="457200" y="264160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4D35D91-EAE3-49A7-A662-A8836AC60291}"/>
              </a:ext>
            </a:extLst>
          </p:cNvPr>
          <p:cNvSpPr>
            <a:spLocks xmlns:a="http://schemas.openxmlformats.org/drawingml/2006/main" noGrp="1"/>
          </p:cNvSpPr>
          <p:nvPr/>
        </p:nvSpPr>
        <p:spPr>
          <a:xfrm xmlns:a="http://schemas.openxmlformats.org/drawingml/2006/main">
            <a:off x="457200" y="26416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C773021-3B88-4940-BC2C-1C03ED44B3CE}"/>
              </a:ext>
            </a:extLst>
          </p:cNvPr>
          <p:cNvSpPr>
            <a:spLocks xmlns:a="http://schemas.openxmlformats.org/drawingml/2006/main" noGrp="1"/>
          </p:cNvSpPr>
          <p:nvPr/>
        </p:nvSpPr>
        <p:spPr>
          <a:xfrm xmlns:a="http://schemas.openxmlformats.org/drawingml/2006/main">
            <a:off x="571500" y="27273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CAN SERVE SPECIALISED</a:t>
            </a:r>
          </a:p>
        </p:txBody>
      </p:sp>
      <p:sp>
        <p:nvSpPr>
          <p:cNvPr id="22" name="">
            <a:extLst xmlns:a="http://schemas.openxmlformats.org/drawingml/2006/main">
              <a:ext uri="{FF2B5EF4-FFF2-40B4-BE49-F238E27FC236}">
                <a16:creationId xmlns:a16="http://schemas.microsoft.com/office/drawing/2014/main" id="{DE90A28A-A64D-4F44-96BD-C720759B8495}"/>
              </a:ext>
            </a:extLst>
          </p:cNvPr>
          <p:cNvSpPr>
            <a:spLocks xmlns:a="http://schemas.openxmlformats.org/drawingml/2006/main" noGrp="1"/>
          </p:cNvSpPr>
          <p:nvPr/>
        </p:nvSpPr>
        <p:spPr>
          <a:xfrm xmlns:a="http://schemas.openxmlformats.org/drawingml/2006/main">
            <a:off x="4067556" y="27178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Can serve specialised vehicles but its disclosed India advantage is factory-fit OEM integration, not rapid retrofit economics.</a:t>
            </a:r>
          </a:p>
        </p:txBody>
      </p:sp>
      <p:sp>
        <p:nvSpPr>
          <p:cNvPr id="23" name="">
            <a:extLst xmlns:a="http://schemas.openxmlformats.org/drawingml/2006/main">
              <a:ext uri="{FF2B5EF4-FFF2-40B4-BE49-F238E27FC236}">
                <a16:creationId xmlns:a16="http://schemas.microsoft.com/office/drawing/2014/main" id="{498B17D5-C1F5-4678-84E0-6163A395EBBC}"/>
              </a:ext>
            </a:extLst>
          </p:cNvPr>
          <p:cNvSpPr>
            <a:spLocks xmlns:a="http://schemas.openxmlformats.org/drawingml/2006/main" noGrp="1"/>
          </p:cNvSpPr>
          <p:nvPr/>
        </p:nvSpPr>
        <p:spPr>
          <a:xfrm xmlns:a="http://schemas.openxmlformats.org/drawingml/2006/main">
            <a:off x="9816084" y="27273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53B060B7-79AF-45C9-81DA-EC89CA7602FF}"/>
              </a:ext>
            </a:extLst>
          </p:cNvPr>
          <p:cNvSpPr>
            <a:spLocks xmlns:a="http://schemas.openxmlformats.org/drawingml/2006/main" noGrp="1"/>
          </p:cNvSpPr>
          <p:nvPr/>
        </p:nvSpPr>
        <p:spPr>
          <a:xfrm xmlns:a="http://schemas.openxmlformats.org/drawingml/2006/main">
            <a:off x="457200" y="34417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B2B2A777-40D8-4018-A115-644595A3E95C}"/>
              </a:ext>
            </a:extLst>
          </p:cNvPr>
          <p:cNvSpPr>
            <a:spLocks xmlns:a="http://schemas.openxmlformats.org/drawingml/2006/main" noGrp="1"/>
          </p:cNvSpPr>
          <p:nvPr/>
        </p:nvSpPr>
        <p:spPr>
          <a:xfrm xmlns:a="http://schemas.openxmlformats.org/drawingml/2006/main">
            <a:off x="457200" y="34417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68598B5-C928-4AF3-9732-616C3BD457BC}"/>
              </a:ext>
            </a:extLst>
          </p:cNvPr>
          <p:cNvSpPr>
            <a:spLocks xmlns:a="http://schemas.openxmlformats.org/drawingml/2006/main" noGrp="1"/>
          </p:cNvSpPr>
          <p:nvPr/>
        </p:nvSpPr>
        <p:spPr>
          <a:xfrm xmlns:a="http://schemas.openxmlformats.org/drawingml/2006/main">
            <a:off x="457200" y="34417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769C015-B4BB-49EE-A91C-A7F25BAC0629}"/>
              </a:ext>
            </a:extLst>
          </p:cNvPr>
          <p:cNvSpPr>
            <a:spLocks xmlns:a="http://schemas.openxmlformats.org/drawingml/2006/main" noGrp="1"/>
          </p:cNvSpPr>
          <p:nvPr/>
        </p:nvSpPr>
        <p:spPr>
          <a:xfrm xmlns:a="http://schemas.openxmlformats.org/drawingml/2006/main">
            <a:off x="571500" y="3527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PORTFOLIO IMPLICATION · ALL</a:t>
            </a:r>
          </a:p>
        </p:txBody>
      </p:sp>
      <p:sp>
        <p:nvSpPr>
          <p:cNvPr id="28" name="">
            <a:extLst xmlns:a="http://schemas.openxmlformats.org/drawingml/2006/main">
              <a:ext uri="{FF2B5EF4-FFF2-40B4-BE49-F238E27FC236}">
                <a16:creationId xmlns:a16="http://schemas.microsoft.com/office/drawing/2014/main" id="{30A2DF62-020A-4D6E-8979-6413E25D8DDC}"/>
              </a:ext>
            </a:extLst>
          </p:cNvPr>
          <p:cNvSpPr>
            <a:spLocks xmlns:a="http://schemas.openxmlformats.org/drawingml/2006/main" noGrp="1"/>
          </p:cNvSpPr>
          <p:nvPr/>
        </p:nvSpPr>
        <p:spPr>
          <a:xfrm xmlns:a="http://schemas.openxmlformats.org/drawingml/2006/main">
            <a:off x="4067556" y="35179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PORTFOLIO IMPLICATION · All five lenses converge: do not prime a full AEBS bid against ZF.</a:t>
            </a:r>
          </a:p>
        </p:txBody>
      </p:sp>
      <p:sp>
        <p:nvSpPr>
          <p:cNvPr id="29" name="">
            <a:extLst xmlns:a="http://schemas.openxmlformats.org/drawingml/2006/main">
              <a:ext uri="{FF2B5EF4-FFF2-40B4-BE49-F238E27FC236}">
                <a16:creationId xmlns:a16="http://schemas.microsoft.com/office/drawing/2014/main" id="{5F984C9D-79E0-434E-BF51-C88D335A3CA6}"/>
              </a:ext>
            </a:extLst>
          </p:cNvPr>
          <p:cNvSpPr>
            <a:spLocks xmlns:a="http://schemas.openxmlformats.org/drawingml/2006/main" noGrp="1"/>
          </p:cNvSpPr>
          <p:nvPr/>
        </p:nvSpPr>
        <p:spPr>
          <a:xfrm xmlns:a="http://schemas.openxmlformats.org/drawingml/2006/main">
            <a:off x="9816084" y="3527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A1106B80-B969-4B98-A7DB-40442AE84CB5}"/>
              </a:ext>
            </a:extLst>
          </p:cNvPr>
          <p:cNvSpPr>
            <a:spLocks xmlns:a="http://schemas.openxmlformats.org/drawingml/2006/main" noGrp="1"/>
          </p:cNvSpPr>
          <p:nvPr/>
        </p:nvSpPr>
        <p:spPr>
          <a:xfrm xmlns:a="http://schemas.openxmlformats.org/drawingml/2006/main">
            <a:off x="457200" y="42418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E52A4151-B736-4FD9-ABCA-642E449CF03E}"/>
              </a:ext>
            </a:extLst>
          </p:cNvPr>
          <p:cNvSpPr>
            <a:spLocks xmlns:a="http://schemas.openxmlformats.org/drawingml/2006/main" noGrp="1"/>
          </p:cNvSpPr>
          <p:nvPr/>
        </p:nvSpPr>
        <p:spPr>
          <a:xfrm xmlns:a="http://schemas.openxmlformats.org/drawingml/2006/main">
            <a:off x="457200" y="42418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356F03E-74DA-4537-8791-FD13FAF157C6}"/>
              </a:ext>
            </a:extLst>
          </p:cNvPr>
          <p:cNvSpPr>
            <a:spLocks xmlns:a="http://schemas.openxmlformats.org/drawingml/2006/main" noGrp="1"/>
          </p:cNvSpPr>
          <p:nvPr/>
        </p:nvSpPr>
        <p:spPr>
          <a:xfrm xmlns:a="http://schemas.openxmlformats.org/drawingml/2006/main">
            <a:off x="457200" y="4241800"/>
            <a:ext cx="28575" cy="733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A17E568-8FD5-42EA-A046-E348CC207E81}"/>
              </a:ext>
            </a:extLst>
          </p:cNvPr>
          <p:cNvSpPr>
            <a:spLocks xmlns:a="http://schemas.openxmlformats.org/drawingml/2006/main" noGrp="1"/>
          </p:cNvSpPr>
          <p:nvPr/>
        </p:nvSpPr>
        <p:spPr>
          <a:xfrm xmlns:a="http://schemas.openxmlformats.org/drawingml/2006/main">
            <a:off x="571500" y="43275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LOCAL TIER-1 FOOTPRINT AND</a:t>
            </a:r>
          </a:p>
        </p:txBody>
      </p:sp>
      <p:sp>
        <p:nvSpPr>
          <p:cNvPr id="34" name="">
            <a:extLst xmlns:a="http://schemas.openxmlformats.org/drawingml/2006/main">
              <a:ext uri="{FF2B5EF4-FFF2-40B4-BE49-F238E27FC236}">
                <a16:creationId xmlns:a16="http://schemas.microsoft.com/office/drawing/2014/main" id="{B25DC3E7-05E4-4FAD-B377-AFA090EC3DD4}"/>
              </a:ext>
            </a:extLst>
          </p:cNvPr>
          <p:cNvSpPr>
            <a:spLocks xmlns:a="http://schemas.openxmlformats.org/drawingml/2006/main" noGrp="1"/>
          </p:cNvSpPr>
          <p:nvPr/>
        </p:nvSpPr>
        <p:spPr>
          <a:xfrm xmlns:a="http://schemas.openxmlformats.org/drawingml/2006/main">
            <a:off x="4067556" y="43180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Local Tier-1 footprint and homologation assets are strong, though the disclosed wins are OEM programmes rather than tenders.</a:t>
            </a:r>
          </a:p>
        </p:txBody>
      </p:sp>
      <p:sp>
        <p:nvSpPr>
          <p:cNvPr id="35" name="">
            <a:extLst xmlns:a="http://schemas.openxmlformats.org/drawingml/2006/main">
              <a:ext uri="{FF2B5EF4-FFF2-40B4-BE49-F238E27FC236}">
                <a16:creationId xmlns:a16="http://schemas.microsoft.com/office/drawing/2014/main" id="{C4D093EE-6333-438C-9EE9-069FEC7D2495}"/>
              </a:ext>
            </a:extLst>
          </p:cNvPr>
          <p:cNvSpPr>
            <a:spLocks xmlns:a="http://schemas.openxmlformats.org/drawingml/2006/main" noGrp="1"/>
          </p:cNvSpPr>
          <p:nvPr/>
        </p:nvSpPr>
        <p:spPr>
          <a:xfrm xmlns:a="http://schemas.openxmlformats.org/drawingml/2006/main">
            <a:off x="9816084" y="43275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38364EB7-4ED1-4D9E-BC54-590DB8924F6C}"/>
              </a:ext>
            </a:extLst>
          </p:cNvPr>
          <p:cNvSpPr>
            <a:spLocks xmlns:a="http://schemas.openxmlformats.org/drawingml/2006/main" noGrp="1"/>
          </p:cNvSpPr>
          <p:nvPr/>
        </p:nvSpPr>
        <p:spPr>
          <a:xfrm xmlns:a="http://schemas.openxmlformats.org/drawingml/2006/main">
            <a:off x="457200" y="508952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FFD2B4C9-1473-4D60-A463-B48E5458E431}"/>
              </a:ext>
            </a:extLst>
          </p:cNvPr>
          <p:cNvSpPr>
            <a:spLocks xmlns:a="http://schemas.openxmlformats.org/drawingml/2006/main" noGrp="1"/>
          </p:cNvSpPr>
          <p:nvPr/>
        </p:nvSpPr>
        <p:spPr>
          <a:xfrm xmlns:a="http://schemas.openxmlformats.org/drawingml/2006/main">
            <a:off x="457200" y="508952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F63AC173-2A88-4810-9D64-1C83A2F88171}"/>
              </a:ext>
            </a:extLst>
          </p:cNvPr>
          <p:cNvSpPr>
            <a:spLocks xmlns:a="http://schemas.openxmlformats.org/drawingml/2006/main" noGrp="1"/>
          </p:cNvSpPr>
          <p:nvPr/>
        </p:nvSpPr>
        <p:spPr>
          <a:xfrm xmlns:a="http://schemas.openxmlformats.org/drawingml/2006/main">
            <a:off x="581025" y="5156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F9925A00-0A2D-4DD1-866D-87BF0E1DEFD5}"/>
              </a:ext>
            </a:extLst>
          </p:cNvPr>
          <p:cNvSpPr>
            <a:spLocks xmlns:a="http://schemas.openxmlformats.org/drawingml/2006/main" noGrp="1"/>
          </p:cNvSpPr>
          <p:nvPr/>
        </p:nvSpPr>
        <p:spPr>
          <a:xfrm xmlns:a="http://schemas.openxmlformats.org/drawingml/2006/main">
            <a:off x="581025" y="53054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ARAI certification scope and report numbers show the certification covers a narrower configuration than the programme claim implies.</a:t>
            </a:r>
          </a:p>
        </p:txBody>
      </p:sp>
      <p:sp>
        <p:nvSpPr>
          <p:cNvPr id="40" name="">
            <a:extLst xmlns:a="http://schemas.openxmlformats.org/drawingml/2006/main">
              <a:ext uri="{FF2B5EF4-FFF2-40B4-BE49-F238E27FC236}">
                <a16:creationId xmlns:a16="http://schemas.microsoft.com/office/drawing/2014/main" id="{676DAEA4-25B5-48DD-AB3A-11AE597CB6EA}"/>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01C19480-6F11-41B6-B2F2-4BA4BF792A4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29169CD7-5B19-4076-8AE8-043393556EE7}"/>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BE7AE4E3-6F00-4D71-9D2C-23A15E926AF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Hold ZF at high provisional threat; do not raise to confirmed until platform and certificate specifics are produced.</a:t>
            </a:r>
          </a:p>
        </p:txBody>
      </p:sp>
      <p:sp>
        <p:nvSpPr>
          <p:cNvPr id="44" name="">
            <a:extLst xmlns:a="http://schemas.openxmlformats.org/drawingml/2006/main">
              <a:ext uri="{FF2B5EF4-FFF2-40B4-BE49-F238E27FC236}">
                <a16:creationId xmlns:a16="http://schemas.microsoft.com/office/drawing/2014/main" id="{EABC9AD6-49D1-4666-893C-55CCE3E5E989}"/>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B57CF249-2977-46F9-9739-90C1FEB0380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Receipt of vehicle platform, certificate number and tested configuration.</a:t>
            </a:r>
          </a:p>
        </p:txBody>
      </p:sp>
      <p:sp>
        <p:nvSpPr>
          <p:cNvPr id="46" name="">
            <a:extLst xmlns:a="http://schemas.openxmlformats.org/drawingml/2006/main">
              <a:ext uri="{FF2B5EF4-FFF2-40B4-BE49-F238E27FC236}">
                <a16:creationId xmlns:a16="http://schemas.microsoft.com/office/drawing/2014/main" id="{98A46914-D3E7-4D88-A903-776FFF0F24B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474AFBB0-20D8-429D-AD84-796BE79C7804}"/>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treating ZF's programme specifics as verified in planning material.</a:t>
            </a:r>
          </a:p>
        </p:txBody>
      </p:sp>
      <p:sp>
        <p:nvSpPr>
          <p:cNvPr id="48" name="">
            <a:extLst xmlns:a="http://schemas.openxmlformats.org/drawingml/2006/main">
              <a:ext uri="{FF2B5EF4-FFF2-40B4-BE49-F238E27FC236}">
                <a16:creationId xmlns:a16="http://schemas.microsoft.com/office/drawing/2014/main" id="{924E051C-F396-4E8C-8A57-BEC4FB76AAA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47148927-2861-406F-92EE-DDD01732EB26}"/>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0F2F553F-6461-458D-98B0-5039D15C514A}"/>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29</a:t>
            </a:r>
          </a:p>
        </p:txBody>
      </p:sp>
    </p:spTree>
    <p:extLst>
      <p:ext uri="{BB962C8B-B14F-4D97-AF65-F5344CB8AC3E}">
        <p14:creationId xmlns:p14="http://schemas.microsoft.com/office/powerpoint/2010/main" val="29344195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E42D84D4-C684-4A07-AACE-D799E537BE4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72FDBB5-1842-4970-A214-5C89D3A95BB0}"/>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2945061-A8E6-4125-8BAC-93DF18D937B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3F9BA9AA-C906-4DBF-9115-BFC2F0D323B2}"/>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1FF09698-2F3B-4849-BBEA-AB39E88FEC71}"/>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ZF is most threatening in N2/N3 OEM programmes; government and mining lower</a:t>
            </a:r>
          </a:p>
        </p:txBody>
      </p:sp>
      <p:sp>
        <p:nvSpPr>
          <p:cNvPr id="6" name="">
            <a:extLst xmlns:a="http://schemas.openxmlformats.org/drawingml/2006/main">
              <a:ext uri="{FF2B5EF4-FFF2-40B4-BE49-F238E27FC236}">
                <a16:creationId xmlns:a16="http://schemas.microsoft.com/office/drawing/2014/main" id="{B08FA2DD-C970-4C5A-9125-6560B86F46C0}"/>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44C5D2D-7E02-4F02-8ED5-4A676BC6C83B}"/>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ZF's threat vary by buying arena, and how should DeepGrid allocate effort?</a:t>
            </a:r>
          </a:p>
        </p:txBody>
      </p:sp>
      <p:sp>
        <p:nvSpPr>
          <p:cNvPr id="8" name="">
            <a:extLst xmlns:a="http://schemas.openxmlformats.org/drawingml/2006/main">
              <a:ext uri="{FF2B5EF4-FFF2-40B4-BE49-F238E27FC236}">
                <a16:creationId xmlns:a16="http://schemas.microsoft.com/office/drawing/2014/main" id="{6E33F7E5-2F33-4DA4-83B3-E998CDD0E531}"/>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73DF4F3E-3CA8-4A44-B759-757A47872347}"/>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BC12437-F554-473E-89DD-123F5EFA9157}"/>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14BA615F-FCD5-4F6E-B11D-2BE8FC465665}"/>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ZF is most threatening in N2/N3 OEM programmes, where it owns braking and homologation, and materially weaker in government and mining where it has limited presence.</a:t>
            </a:r>
          </a:p>
        </p:txBody>
      </p:sp>
      <p:sp>
        <p:nvSpPr>
          <p:cNvPr id="12" name="">
            <a:extLst xmlns:a="http://schemas.openxmlformats.org/drawingml/2006/main">
              <a:ext uri="{FF2B5EF4-FFF2-40B4-BE49-F238E27FC236}">
                <a16:creationId xmlns:a16="http://schemas.microsoft.com/office/drawing/2014/main" id="{7AD448C2-0E80-4EE2-A233-2B8332D3D1F8}"/>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CF762F5-A904-4BD0-A15F-9D5A782488F2}"/>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1FFBDE2A-4C42-49D3-8F6E-ACC249C1A58E}"/>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0A561E85-0C89-4B31-B243-8CE6281F9A06}"/>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78EDB97B-07A3-4193-B8A7-C354E9CDEA24}"/>
              </a:ext>
            </a:extLst>
          </p:cNvPr>
          <p:cNvSpPr>
            <a:spLocks xmlns:a="http://schemas.openxmlformats.org/drawingml/2006/main" noGrp="1"/>
          </p:cNvSpPr>
          <p:nvPr/>
        </p:nvSpPr>
        <p:spPr>
          <a:xfrm xmlns:a="http://schemas.openxmlformats.org/drawingml/2006/main">
            <a:off x="457200" y="2089150"/>
            <a:ext cx="2255520" cy="194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08FCAB21-97BB-465A-8911-88300DC51093}"/>
              </a:ext>
            </a:extLst>
          </p:cNvPr>
          <p:cNvSpPr>
            <a:spLocks xmlns:a="http://schemas.openxmlformats.org/drawingml/2006/main" noGrp="1"/>
          </p:cNvSpPr>
          <p:nvPr/>
        </p:nvSpPr>
        <p:spPr>
          <a:xfrm xmlns:a="http://schemas.openxmlformats.org/drawingml/2006/main">
            <a:off x="552450" y="2203450"/>
            <a:ext cx="2103120" cy="1771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ZF</a:t>
            </a:r>
          </a:p>
        </p:txBody>
      </p:sp>
      <p:sp>
        <p:nvSpPr>
          <p:cNvPr id="18" name="">
            <a:extLst xmlns:a="http://schemas.openxmlformats.org/drawingml/2006/main">
              <a:ext uri="{FF2B5EF4-FFF2-40B4-BE49-F238E27FC236}">
                <a16:creationId xmlns:a16="http://schemas.microsoft.com/office/drawing/2014/main" id="{6FB9E714-5CC2-4DC5-8158-8EF315875611}"/>
              </a:ext>
            </a:extLst>
          </p:cNvPr>
          <p:cNvSpPr>
            <a:spLocks xmlns:a="http://schemas.openxmlformats.org/drawingml/2006/main" noGrp="1"/>
          </p:cNvSpPr>
          <p:nvPr/>
        </p:nvSpPr>
        <p:spPr>
          <a:xfrm xmlns:a="http://schemas.openxmlformats.org/drawingml/2006/main">
            <a:off x="274129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2C40DC96-C1C5-488A-BF74-00A8F1F537B9}"/>
              </a:ext>
            </a:extLst>
          </p:cNvPr>
          <p:cNvSpPr>
            <a:spLocks xmlns:a="http://schemas.openxmlformats.org/drawingml/2006/main" noGrp="1"/>
          </p:cNvSpPr>
          <p:nvPr/>
        </p:nvSpPr>
        <p:spPr>
          <a:xfrm xmlns:a="http://schemas.openxmlformats.org/drawingml/2006/main">
            <a:off x="2741295" y="21177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14E0E87-63CF-477D-B5FD-E618D7DE981D}"/>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1" name="">
            <a:extLst xmlns:a="http://schemas.openxmlformats.org/drawingml/2006/main">
              <a:ext uri="{FF2B5EF4-FFF2-40B4-BE49-F238E27FC236}">
                <a16:creationId xmlns:a16="http://schemas.microsoft.com/office/drawing/2014/main" id="{10AC6750-0978-432F-8906-7FBFFC4CFEFA}"/>
              </a:ext>
            </a:extLst>
          </p:cNvPr>
          <p:cNvSpPr>
            <a:spLocks xmlns:a="http://schemas.openxmlformats.org/drawingml/2006/main" noGrp="1"/>
          </p:cNvSpPr>
          <p:nvPr/>
        </p:nvSpPr>
        <p:spPr>
          <a:xfrm xmlns:a="http://schemas.openxmlformats.org/drawingml/2006/main">
            <a:off x="281749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Retrofit potential</a:t>
            </a:r>
          </a:p>
        </p:txBody>
      </p:sp>
      <p:sp>
        <p:nvSpPr>
          <p:cNvPr id="22" name="">
            <a:extLst xmlns:a="http://schemas.openxmlformats.org/drawingml/2006/main">
              <a:ext uri="{FF2B5EF4-FFF2-40B4-BE49-F238E27FC236}">
                <a16:creationId xmlns:a16="http://schemas.microsoft.com/office/drawing/2014/main" id="{555D7855-DB4F-4F75-BAB6-E5B520D5BA76}"/>
              </a:ext>
            </a:extLst>
          </p:cNvPr>
          <p:cNvSpPr>
            <a:spLocks xmlns:a="http://schemas.openxmlformats.org/drawingml/2006/main" noGrp="1"/>
          </p:cNvSpPr>
          <p:nvPr/>
        </p:nvSpPr>
        <p:spPr>
          <a:xfrm xmlns:a="http://schemas.openxmlformats.org/drawingml/2006/main">
            <a:off x="574865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E0D7C798-02E5-4174-9ADB-3851BB7FA661}"/>
              </a:ext>
            </a:extLst>
          </p:cNvPr>
          <p:cNvSpPr>
            <a:spLocks xmlns:a="http://schemas.openxmlformats.org/drawingml/2006/main" noGrp="1"/>
          </p:cNvSpPr>
          <p:nvPr/>
        </p:nvSpPr>
        <p:spPr>
          <a:xfrm xmlns:a="http://schemas.openxmlformats.org/drawingml/2006/main">
            <a:off x="5748655" y="2117725"/>
            <a:ext cx="2419172"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682559A-05EC-4DEA-9A77-2120B5ED2368}"/>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25" name="">
            <a:extLst xmlns:a="http://schemas.openxmlformats.org/drawingml/2006/main">
              <a:ext uri="{FF2B5EF4-FFF2-40B4-BE49-F238E27FC236}">
                <a16:creationId xmlns:a16="http://schemas.microsoft.com/office/drawing/2014/main" id="{D7EBABE7-AC03-46BE-B10B-8C0480B28EF7}"/>
              </a:ext>
            </a:extLst>
          </p:cNvPr>
          <p:cNvSpPr>
            <a:spLocks xmlns:a="http://schemas.openxmlformats.org/drawingml/2006/main" noGrp="1"/>
          </p:cNvSpPr>
          <p:nvPr/>
        </p:nvSpPr>
        <p:spPr>
          <a:xfrm xmlns:a="http://schemas.openxmlformats.org/drawingml/2006/main">
            <a:off x="582485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Factory nomination</a:t>
            </a:r>
          </a:p>
        </p:txBody>
      </p:sp>
      <p:sp>
        <p:nvSpPr>
          <p:cNvPr id="26" name="">
            <a:extLst xmlns:a="http://schemas.openxmlformats.org/drawingml/2006/main">
              <a:ext uri="{FF2B5EF4-FFF2-40B4-BE49-F238E27FC236}">
                <a16:creationId xmlns:a16="http://schemas.microsoft.com/office/drawing/2014/main" id="{B9C39C0B-74FA-45BF-A162-918F1DAAA0CF}"/>
              </a:ext>
            </a:extLst>
          </p:cNvPr>
          <p:cNvSpPr>
            <a:spLocks xmlns:a="http://schemas.openxmlformats.org/drawingml/2006/main" noGrp="1"/>
          </p:cNvSpPr>
          <p:nvPr/>
        </p:nvSpPr>
        <p:spPr>
          <a:xfrm xmlns:a="http://schemas.openxmlformats.org/drawingml/2006/main">
            <a:off x="875601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151FF821-9373-48AB-AC6A-A4E11CC8A77F}"/>
              </a:ext>
            </a:extLst>
          </p:cNvPr>
          <p:cNvSpPr>
            <a:spLocks xmlns:a="http://schemas.openxmlformats.org/drawingml/2006/main" noGrp="1"/>
          </p:cNvSpPr>
          <p:nvPr/>
        </p:nvSpPr>
        <p:spPr>
          <a:xfrm xmlns:a="http://schemas.openxmlformats.org/drawingml/2006/main">
            <a:off x="8756015" y="21177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9C3CEF3-1C94-487B-A2AF-1341CE65E88C}"/>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9" name="">
            <a:extLst xmlns:a="http://schemas.openxmlformats.org/drawingml/2006/main">
              <a:ext uri="{FF2B5EF4-FFF2-40B4-BE49-F238E27FC236}">
                <a16:creationId xmlns:a16="http://schemas.microsoft.com/office/drawing/2014/main" id="{8B3F4C99-A0C3-493C-9D30-1F72AD1793C0}"/>
              </a:ext>
            </a:extLst>
          </p:cNvPr>
          <p:cNvSpPr>
            <a:spLocks xmlns:a="http://schemas.openxmlformats.org/drawingml/2006/main" noGrp="1"/>
          </p:cNvSpPr>
          <p:nvPr/>
        </p:nvSpPr>
        <p:spPr>
          <a:xfrm xmlns:a="http://schemas.openxmlformats.org/drawingml/2006/main">
            <a:off x="883221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Service network</a:t>
            </a:r>
          </a:p>
        </p:txBody>
      </p:sp>
      <p:sp>
        <p:nvSpPr>
          <p:cNvPr id="30" name="">
            <a:extLst xmlns:a="http://schemas.openxmlformats.org/drawingml/2006/main">
              <a:ext uri="{FF2B5EF4-FFF2-40B4-BE49-F238E27FC236}">
                <a16:creationId xmlns:a16="http://schemas.microsoft.com/office/drawing/2014/main" id="{DD260EF3-B001-4779-BBDA-71A71DB38562}"/>
              </a:ext>
            </a:extLst>
          </p:cNvPr>
          <p:cNvSpPr>
            <a:spLocks xmlns:a="http://schemas.openxmlformats.org/drawingml/2006/main" noGrp="1"/>
          </p:cNvSpPr>
          <p:nvPr/>
        </p:nvSpPr>
        <p:spPr>
          <a:xfrm xmlns:a="http://schemas.openxmlformats.org/drawingml/2006/main">
            <a:off x="457200" y="41465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1E1E5E6E-E876-4F93-8505-0EE26F97B7D5}"/>
              </a:ext>
            </a:extLst>
          </p:cNvPr>
          <p:cNvSpPr>
            <a:spLocks xmlns:a="http://schemas.openxmlformats.org/drawingml/2006/main" noGrp="1"/>
          </p:cNvSpPr>
          <p:nvPr/>
        </p:nvSpPr>
        <p:spPr>
          <a:xfrm xmlns:a="http://schemas.openxmlformats.org/drawingml/2006/main">
            <a:off x="457200" y="41465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59F76DB-A4AC-42E3-A9D3-2D91BF1AF0C2}"/>
              </a:ext>
            </a:extLst>
          </p:cNvPr>
          <p:cNvSpPr>
            <a:spLocks xmlns:a="http://schemas.openxmlformats.org/drawingml/2006/main" noGrp="1"/>
          </p:cNvSpPr>
          <p:nvPr/>
        </p:nvSpPr>
        <p:spPr>
          <a:xfrm xmlns:a="http://schemas.openxmlformats.org/drawingml/2006/main">
            <a:off x="581025" y="4213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33" name="">
            <a:extLst xmlns:a="http://schemas.openxmlformats.org/drawingml/2006/main">
              <a:ext uri="{FF2B5EF4-FFF2-40B4-BE49-F238E27FC236}">
                <a16:creationId xmlns:a16="http://schemas.microsoft.com/office/drawing/2014/main" id="{D4AB42B5-FB5C-4088-BFF8-17C719149E2A}"/>
              </a:ext>
            </a:extLst>
          </p:cNvPr>
          <p:cNvSpPr>
            <a:spLocks xmlns:a="http://schemas.openxmlformats.org/drawingml/2006/main" noGrp="1"/>
          </p:cNvSpPr>
          <p:nvPr/>
        </p:nvSpPr>
        <p:spPr>
          <a:xfrm xmlns:a="http://schemas.openxmlformats.org/drawingml/2006/main">
            <a:off x="581025" y="43624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Threat tracks swappability. Where ZF owns the safety case the switching cost is high; where it has no installed service presence a competitor is simply chosen instead.</a:t>
            </a:r>
          </a:p>
        </p:txBody>
      </p:sp>
      <p:sp>
        <p:nvSpPr>
          <p:cNvPr id="34" name="">
            <a:extLst xmlns:a="http://schemas.openxmlformats.org/drawingml/2006/main">
              <a:ext uri="{FF2B5EF4-FFF2-40B4-BE49-F238E27FC236}">
                <a16:creationId xmlns:a16="http://schemas.microsoft.com/office/drawing/2014/main" id="{9E7C6483-A3F2-4CB1-B34D-B77C229F482A}"/>
              </a:ext>
            </a:extLst>
          </p:cNvPr>
          <p:cNvSpPr>
            <a:spLocks xmlns:a="http://schemas.openxmlformats.org/drawingml/2006/main" noGrp="1"/>
          </p:cNvSpPr>
          <p:nvPr/>
        </p:nvSpPr>
        <p:spPr>
          <a:xfrm xmlns:a="http://schemas.openxmlformats.org/drawingml/2006/main">
            <a:off x="6153150" y="41465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5" name="">
            <a:extLst xmlns:a="http://schemas.openxmlformats.org/drawingml/2006/main">
              <a:ext uri="{FF2B5EF4-FFF2-40B4-BE49-F238E27FC236}">
                <a16:creationId xmlns:a16="http://schemas.microsoft.com/office/drawing/2014/main" id="{3F7E7343-6FB0-44BF-A029-E1C0B4A13303}"/>
              </a:ext>
            </a:extLst>
          </p:cNvPr>
          <p:cNvSpPr>
            <a:spLocks xmlns:a="http://schemas.openxmlformats.org/drawingml/2006/main" noGrp="1"/>
          </p:cNvSpPr>
          <p:nvPr/>
        </p:nvSpPr>
        <p:spPr>
          <a:xfrm xmlns:a="http://schemas.openxmlformats.org/drawingml/2006/main">
            <a:off x="6153150" y="41465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FA634CFA-B226-4D68-B8C1-116C45C3CB06}"/>
              </a:ext>
            </a:extLst>
          </p:cNvPr>
          <p:cNvSpPr>
            <a:spLocks xmlns:a="http://schemas.openxmlformats.org/drawingml/2006/main" noGrp="1"/>
          </p:cNvSpPr>
          <p:nvPr/>
        </p:nvSpPr>
        <p:spPr>
          <a:xfrm xmlns:a="http://schemas.openxmlformats.org/drawingml/2006/main">
            <a:off x="6276975" y="4213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37" name="">
            <a:extLst xmlns:a="http://schemas.openxmlformats.org/drawingml/2006/main">
              <a:ext uri="{FF2B5EF4-FFF2-40B4-BE49-F238E27FC236}">
                <a16:creationId xmlns:a16="http://schemas.microsoft.com/office/drawing/2014/main" id="{47B83E5C-47D2-479C-8866-33045CCF6863}"/>
              </a:ext>
            </a:extLst>
          </p:cNvPr>
          <p:cNvSpPr>
            <a:spLocks xmlns:a="http://schemas.openxmlformats.org/drawingml/2006/main" noGrp="1"/>
          </p:cNvSpPr>
          <p:nvPr/>
        </p:nvSpPr>
        <p:spPr>
          <a:xfrm xmlns:a="http://schemas.openxmlformats.org/drawingml/2006/main">
            <a:off x="6276975" y="43624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Any ZF award outside N2/N3 OEM.</a:t>
            </a:r>
          </a:p>
        </p:txBody>
      </p:sp>
      <p:sp>
        <p:nvSpPr>
          <p:cNvPr id="38" name="">
            <a:extLst xmlns:a="http://schemas.openxmlformats.org/drawingml/2006/main">
              <a:ext uri="{FF2B5EF4-FFF2-40B4-BE49-F238E27FC236}">
                <a16:creationId xmlns:a16="http://schemas.microsoft.com/office/drawing/2014/main" id="{6CFF1651-5988-4B3C-8C3C-97A70952DB07}"/>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DB86A048-8B6D-411A-8228-A5A4BC4338DC}"/>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E6E8407-5347-4B35-90DE-E0985BB60B0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1" name="">
            <a:extLst xmlns:a="http://schemas.openxmlformats.org/drawingml/2006/main">
              <a:ext uri="{FF2B5EF4-FFF2-40B4-BE49-F238E27FC236}">
                <a16:creationId xmlns:a16="http://schemas.microsoft.com/office/drawing/2014/main" id="{C30D3CCE-C424-4DEF-B9AB-36B13C060894}"/>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Limit ZF outreach to named N2/N3 OEM or specialised-vehicle opportunities</a:t>
            </a:r>
          </a:p>
        </p:txBody>
      </p:sp>
      <p:sp>
        <p:nvSpPr>
          <p:cNvPr id="42" name="">
            <a:extLst xmlns:a="http://schemas.openxmlformats.org/drawingml/2006/main">
              <a:ext uri="{FF2B5EF4-FFF2-40B4-BE49-F238E27FC236}">
                <a16:creationId xmlns:a16="http://schemas.microsoft.com/office/drawing/2014/main" id="{89A9D19F-9A56-4943-A456-ED6DE094039E}"/>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3" name="">
            <a:extLst xmlns:a="http://schemas.openxmlformats.org/drawingml/2006/main">
              <a:ext uri="{FF2B5EF4-FFF2-40B4-BE49-F238E27FC236}">
                <a16:creationId xmlns:a16="http://schemas.microsoft.com/office/drawing/2014/main" id="{A11CC5E9-52C9-4D05-B567-06BB6522F869}"/>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Any ZF award outside N2/N3 OEM.</a:t>
            </a:r>
          </a:p>
        </p:txBody>
      </p:sp>
      <p:sp>
        <p:nvSpPr>
          <p:cNvPr id="44" name="">
            <a:extLst xmlns:a="http://schemas.openxmlformats.org/drawingml/2006/main">
              <a:ext uri="{FF2B5EF4-FFF2-40B4-BE49-F238E27FC236}">
                <a16:creationId xmlns:a16="http://schemas.microsoft.com/office/drawing/2014/main" id="{7B84DAE9-5522-4202-81CE-5B65FC2AE6DC}"/>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5" name="">
            <a:extLst xmlns:a="http://schemas.openxmlformats.org/drawingml/2006/main">
              <a:ext uri="{FF2B5EF4-FFF2-40B4-BE49-F238E27FC236}">
                <a16:creationId xmlns:a16="http://schemas.microsoft.com/office/drawing/2014/main" id="{3011E349-596F-411E-9152-B9CAFD84F27E}"/>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ZF outreach outside named N2/N3 OEM or specialised-vehicle opportunities.</a:t>
            </a:r>
          </a:p>
        </p:txBody>
      </p:sp>
      <p:sp>
        <p:nvSpPr>
          <p:cNvPr id="46" name="">
            <a:extLst xmlns:a="http://schemas.openxmlformats.org/drawingml/2006/main">
              <a:ext uri="{FF2B5EF4-FFF2-40B4-BE49-F238E27FC236}">
                <a16:creationId xmlns:a16="http://schemas.microsoft.com/office/drawing/2014/main" id="{FECFD990-8F12-45C3-BB37-415DAB4DA2F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74CCF14B-60FE-4D2C-B9E0-E70607000BAB}"/>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8" name="">
            <a:extLst xmlns:a="http://schemas.openxmlformats.org/drawingml/2006/main">
              <a:ext uri="{FF2B5EF4-FFF2-40B4-BE49-F238E27FC236}">
                <a16:creationId xmlns:a16="http://schemas.microsoft.com/office/drawing/2014/main" id="{D45155B8-D3B1-4317-A43F-10BDB8665E67}"/>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30</a:t>
            </a:r>
          </a:p>
        </p:txBody>
      </p:sp>
    </p:spTree>
    <p:extLst>
      <p:ext uri="{BB962C8B-B14F-4D97-AF65-F5344CB8AC3E}">
        <p14:creationId xmlns:p14="http://schemas.microsoft.com/office/powerpoint/2010/main" val="15859014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432B8D3E-C522-4AD7-A1CC-DAC59B9A370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5406167-2B49-4443-A2BD-008BCEF3E535}"/>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D9B2F52-CD78-4145-AA6C-259619F99B9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B2AFAEA5-1650-49E6-8936-756F0FA4B34A}"/>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68BE82C6-E484-4B6A-A00A-E713A64D4A41}"/>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Pursue a narrow perception attachment to ZF only</a:t>
            </a:r>
          </a:p>
        </p:txBody>
      </p:sp>
      <p:sp>
        <p:nvSpPr>
          <p:cNvPr id="6" name="">
            <a:extLst xmlns:a="http://schemas.openxmlformats.org/drawingml/2006/main">
              <a:ext uri="{FF2B5EF4-FFF2-40B4-BE49-F238E27FC236}">
                <a16:creationId xmlns:a16="http://schemas.microsoft.com/office/drawing/2014/main" id="{FFE9A290-5D1A-4079-A277-9CE0300A2C6E}"/>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DA37AB8-D51E-454E-8C5E-05FFA99F722B}"/>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should DeepGrid fund now against ZF, and which signal should trigger escalation?</a:t>
            </a:r>
          </a:p>
        </p:txBody>
      </p:sp>
      <p:sp>
        <p:nvSpPr>
          <p:cNvPr id="8" name="">
            <a:extLst xmlns:a="http://schemas.openxmlformats.org/drawingml/2006/main">
              <a:ext uri="{FF2B5EF4-FFF2-40B4-BE49-F238E27FC236}">
                <a16:creationId xmlns:a16="http://schemas.microsoft.com/office/drawing/2014/main" id="{50BD3AAC-ABE5-4080-98F4-E14860E7EE9D}"/>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11994527-460F-4C43-AF50-BED7CFA1B094}"/>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53A7424-A3A8-4981-9AAF-8D7446504358}"/>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3D484167-9FED-42B8-8E20-EC8E5AFCBCEE}"/>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Fund a single one-use-case integration package for ZF and nothing broader. ZF owns braking, ECU, calibration and homologation, so a narrow attachment is the only economically sane move.</a:t>
            </a:r>
          </a:p>
        </p:txBody>
      </p:sp>
      <p:sp>
        <p:nvSpPr>
          <p:cNvPr id="12" name="">
            <a:extLst xmlns:a="http://schemas.openxmlformats.org/drawingml/2006/main">
              <a:ext uri="{FF2B5EF4-FFF2-40B4-BE49-F238E27FC236}">
                <a16:creationId xmlns:a16="http://schemas.microsoft.com/office/drawing/2014/main" id="{728B27A6-963B-4F2A-8BC5-8BB086CE25E9}"/>
              </a:ext>
            </a:extLst>
          </p:cNvPr>
          <p:cNvSpPr>
            <a:spLocks xmlns:a="http://schemas.openxmlformats.org/drawingml/2006/main" noGrp="1"/>
          </p:cNvSpPr>
          <p:nvPr/>
        </p:nvSpPr>
        <p:spPr>
          <a:xfrm xmlns:a="http://schemas.openxmlformats.org/drawingml/2006/main">
            <a:off x="4572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A07829B9-2D2F-482E-8439-450A4D374870}"/>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FF2DB0C-47B5-4486-A766-ABA3ADC8D439}"/>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92430ACC-868C-4CD1-9EDD-AB30DEDE64CC}"/>
              </a:ext>
            </a:extLst>
          </p:cNvPr>
          <p:cNvSpPr>
            <a:spLocks xmlns:a="http://schemas.openxmlformats.org/drawingml/2006/main" noGrp="1"/>
          </p:cNvSpPr>
          <p:nvPr/>
        </p:nvSpPr>
        <p:spPr>
          <a:xfrm xmlns:a="http://schemas.openxmlformats.org/drawingml/2006/main">
            <a:off x="5715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Fund a single one-use-case integration package for ZF and nothing broader. ZF owns braking, ECU, calibration and homologation, so a narrow attachment is the only economically sane move.</a:t>
            </a:r>
          </a:p>
        </p:txBody>
      </p:sp>
      <p:sp>
        <p:nvSpPr>
          <p:cNvPr id="16" name="">
            <a:extLst xmlns:a="http://schemas.openxmlformats.org/drawingml/2006/main">
              <a:ext uri="{FF2B5EF4-FFF2-40B4-BE49-F238E27FC236}">
                <a16:creationId xmlns:a16="http://schemas.microsoft.com/office/drawing/2014/main" id="{B2362F2E-DAAD-4E41-BB92-0129F3E88031}"/>
              </a:ext>
            </a:extLst>
          </p:cNvPr>
          <p:cNvSpPr>
            <a:spLocks xmlns:a="http://schemas.openxmlformats.org/drawingml/2006/main" noGrp="1"/>
          </p:cNvSpPr>
          <p:nvPr/>
        </p:nvSpPr>
        <p:spPr>
          <a:xfrm xmlns:a="http://schemas.openxmlformats.org/drawingml/2006/main">
            <a:off x="424815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2C223BC3-E74F-499A-8E36-A94732EBBE49}"/>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ED5FAD6-1A16-432E-8C87-E86E3E922D9E}"/>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2AF96DFB-AD37-4A1C-A27D-6645A06B4359}"/>
              </a:ext>
            </a:extLst>
          </p:cNvPr>
          <p:cNvSpPr>
            <a:spLocks xmlns:a="http://schemas.openxmlformats.org/drawingml/2006/main" noGrp="1"/>
          </p:cNvSpPr>
          <p:nvPr/>
        </p:nvSpPr>
        <p:spPr>
          <a:xfrm xmlns:a="http://schemas.openxmlformats.org/drawingml/2006/main">
            <a:off x="436245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 one-use-case package may be too small to interest a Tier-1 of ZF's size, and three rejections would leave DeepGrid without an OEM route.</a:t>
            </a:r>
          </a:p>
        </p:txBody>
      </p:sp>
      <p:sp>
        <p:nvSpPr>
          <p:cNvPr id="20" name="">
            <a:extLst xmlns:a="http://schemas.openxmlformats.org/drawingml/2006/main">
              <a:ext uri="{FF2B5EF4-FFF2-40B4-BE49-F238E27FC236}">
                <a16:creationId xmlns:a16="http://schemas.microsoft.com/office/drawing/2014/main" id="{CDBEFBFB-62BF-41D0-BD30-4FCA8994D699}"/>
              </a:ext>
            </a:extLst>
          </p:cNvPr>
          <p:cNvSpPr>
            <a:spLocks xmlns:a="http://schemas.openxmlformats.org/drawingml/2006/main" noGrp="1"/>
          </p:cNvSpPr>
          <p:nvPr/>
        </p:nvSpPr>
        <p:spPr>
          <a:xfrm xmlns:a="http://schemas.openxmlformats.org/drawingml/2006/main">
            <a:off x="80391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A79E8E52-5402-40B4-BB6B-B65A8EE7C12E}"/>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CDB6B36-301D-4D14-A80E-2A5E66816814}"/>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02307917-4DC0-4175-819B-13C8043B04C7}"/>
              </a:ext>
            </a:extLst>
          </p:cNvPr>
          <p:cNvSpPr>
            <a:spLocks xmlns:a="http://schemas.openxmlformats.org/drawingml/2006/main" noGrp="1"/>
          </p:cNvSpPr>
          <p:nvPr/>
        </p:nvSpPr>
        <p:spPr>
          <a:xfrm xmlns:a="http://schemas.openxmlformats.org/drawingml/2006/main">
            <a:off x="81534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Spend only on a one-use-case integration package; do not fund broad head-to-head</a:t>
            </a:r>
          </a:p>
        </p:txBody>
      </p:sp>
      <p:sp>
        <p:nvSpPr>
          <p:cNvPr id="24" name="">
            <a:extLst xmlns:a="http://schemas.openxmlformats.org/drawingml/2006/main">
              <a:ext uri="{FF2B5EF4-FFF2-40B4-BE49-F238E27FC236}">
                <a16:creationId xmlns:a16="http://schemas.microsoft.com/office/drawing/2014/main" id="{5EEA9DA1-5C31-4CB3-8519-D202BEB0D7BC}"/>
              </a:ext>
            </a:extLst>
          </p:cNvPr>
          <p:cNvSpPr>
            <a:spLocks xmlns:a="http://schemas.openxmlformats.org/drawingml/2006/main" noGrp="1"/>
          </p:cNvSpPr>
          <p:nvPr/>
        </p:nvSpPr>
        <p:spPr>
          <a:xfrm xmlns:a="http://schemas.openxmlformats.org/drawingml/2006/main">
            <a:off x="457200" y="464185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0C89EC05-47F0-429A-B61D-E8CBF19511AA}"/>
              </a:ext>
            </a:extLst>
          </p:cNvPr>
          <p:cNvSpPr>
            <a:spLocks xmlns:a="http://schemas.openxmlformats.org/drawingml/2006/main" noGrp="1"/>
          </p:cNvSpPr>
          <p:nvPr/>
        </p:nvSpPr>
        <p:spPr>
          <a:xfrm xmlns:a="http://schemas.openxmlformats.org/drawingml/2006/main">
            <a:off x="457200" y="464185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63A2D95-8747-443D-973D-4B2AE2BB0E35}"/>
              </a:ext>
            </a:extLst>
          </p:cNvPr>
          <p:cNvSpPr>
            <a:spLocks xmlns:a="http://schemas.openxmlformats.org/drawingml/2006/main" noGrp="1"/>
          </p:cNvSpPr>
          <p:nvPr/>
        </p:nvSpPr>
        <p:spPr>
          <a:xfrm xmlns:a="http://schemas.openxmlformats.org/drawingml/2006/main">
            <a:off x="581025" y="47085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4818B9CE-FC9A-4F5C-B4C8-5588B846E3F8}"/>
              </a:ext>
            </a:extLst>
          </p:cNvPr>
          <p:cNvSpPr>
            <a:spLocks xmlns:a="http://schemas.openxmlformats.org/drawingml/2006/main" noGrp="1"/>
          </p:cNvSpPr>
          <p:nvPr/>
        </p:nvSpPr>
        <p:spPr>
          <a:xfrm xmlns:a="http://schemas.openxmlformats.org/drawingml/2006/main">
            <a:off x="581025" y="48577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ZF requests a broader integration scope than the single use case.</a:t>
            </a:r>
          </a:p>
        </p:txBody>
      </p:sp>
      <p:sp>
        <p:nvSpPr>
          <p:cNvPr id="28" name="">
            <a:extLst xmlns:a="http://schemas.openxmlformats.org/drawingml/2006/main">
              <a:ext uri="{FF2B5EF4-FFF2-40B4-BE49-F238E27FC236}">
                <a16:creationId xmlns:a16="http://schemas.microsoft.com/office/drawing/2014/main" id="{FB3F6A15-BFFE-4553-B576-26777FFEC7F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8D23D98-FB5E-4098-B46E-055AFBE52EC4}"/>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246BA44-F48B-4B3A-A6C9-3ADD4161B10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BEEDE808-CCC7-4944-8991-A8FB4EE30193}"/>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Escalate when ZF accepts DGS001 evaluation</a:t>
            </a:r>
          </a:p>
        </p:txBody>
      </p:sp>
      <p:sp>
        <p:nvSpPr>
          <p:cNvPr id="32" name="">
            <a:extLst xmlns:a="http://schemas.openxmlformats.org/drawingml/2006/main">
              <a:ext uri="{FF2B5EF4-FFF2-40B4-BE49-F238E27FC236}">
                <a16:creationId xmlns:a16="http://schemas.microsoft.com/office/drawing/2014/main" id="{C8B9A7FE-340A-4381-B549-BFA503237EC1}"/>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680DAB6A-D616-42F8-BE78-455152309B38}"/>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Stop after 3 rejections without feedback</a:t>
            </a:r>
          </a:p>
        </p:txBody>
      </p:sp>
      <p:sp>
        <p:nvSpPr>
          <p:cNvPr id="34" name="">
            <a:extLst xmlns:a="http://schemas.openxmlformats.org/drawingml/2006/main">
              <a:ext uri="{FF2B5EF4-FFF2-40B4-BE49-F238E27FC236}">
                <a16:creationId xmlns:a16="http://schemas.microsoft.com/office/drawing/2014/main" id="{7C89471E-D969-49D2-9AD2-BEE0B5EE1714}"/>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B2392EEA-7C99-4FD7-BC33-4C56D26148CE}"/>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after three rejections without substantive feedback.</a:t>
            </a:r>
          </a:p>
        </p:txBody>
      </p:sp>
      <p:sp>
        <p:nvSpPr>
          <p:cNvPr id="36" name="">
            <a:extLst xmlns:a="http://schemas.openxmlformats.org/drawingml/2006/main">
              <a:ext uri="{FF2B5EF4-FFF2-40B4-BE49-F238E27FC236}">
                <a16:creationId xmlns:a16="http://schemas.microsoft.com/office/drawing/2014/main" id="{7FE9DDEF-5459-4CC0-A617-2EF812C14F5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FCB5FD6-18AF-47CB-B717-76A57EA665F3}"/>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8B370254-4A87-4CE6-8170-B15402103D15}"/>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31</a:t>
            </a:r>
          </a:p>
        </p:txBody>
      </p:sp>
    </p:spTree>
    <p:extLst>
      <p:ext uri="{BB962C8B-B14F-4D97-AF65-F5344CB8AC3E}">
        <p14:creationId xmlns:p14="http://schemas.microsoft.com/office/powerpoint/2010/main" val="1394556729"/>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35A63B28-A87A-4185-8C36-D3293DD5088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018F988-B166-4252-A124-6632EE485205}"/>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B367EF0-C443-481B-A82D-0B82C78F103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FE7D2F77-8939-4FE4-98E1-A4F2BBE8628A}"/>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39475217-013A-4014-A1AF-1C5A721F3022}"/>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ZF: Confirm control via programme-level artifacts; treat perception slot as unproven</a:t>
            </a:r>
          </a:p>
        </p:txBody>
      </p:sp>
      <p:sp>
        <p:nvSpPr>
          <p:cNvPr id="6" name="">
            <a:extLst xmlns:a="http://schemas.openxmlformats.org/drawingml/2006/main">
              <a:ext uri="{FF2B5EF4-FFF2-40B4-BE49-F238E27FC236}">
                <a16:creationId xmlns:a16="http://schemas.microsoft.com/office/drawing/2014/main" id="{98D95639-61AB-4F29-9FA8-A306B2179B62}"/>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E370BAA-E6C1-40D6-903E-887A44B4BD8A}"/>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evidence would confirm or falsify ZF's presumed control of the India CV ADAS market?</a:t>
            </a:r>
          </a:p>
        </p:txBody>
      </p:sp>
      <p:sp>
        <p:nvSpPr>
          <p:cNvPr id="8" name="">
            <a:extLst xmlns:a="http://schemas.openxmlformats.org/drawingml/2006/main">
              <a:ext uri="{FF2B5EF4-FFF2-40B4-BE49-F238E27FC236}">
                <a16:creationId xmlns:a16="http://schemas.microsoft.com/office/drawing/2014/main" id="{08CC0079-F6C2-4493-BFC0-2E3251CCDB3E}"/>
              </a:ext>
            </a:extLst>
          </p:cNvPr>
          <p:cNvSpPr>
            <a:spLocks xmlns:a="http://schemas.openxmlformats.org/drawingml/2006/main" noGrp="1"/>
          </p:cNvSpPr>
          <p:nvPr/>
        </p:nvSpPr>
        <p:spPr>
          <a:xfrm xmlns:a="http://schemas.openxmlformats.org/drawingml/2006/main">
            <a:off x="457200" y="1317625"/>
            <a:ext cx="11277600" cy="930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0B5A100C-2E07-4770-ABD6-03816896A9D4}"/>
              </a:ext>
            </a:extLst>
          </p:cNvPr>
          <p:cNvSpPr>
            <a:spLocks xmlns:a="http://schemas.openxmlformats.org/drawingml/2006/main" noGrp="1"/>
          </p:cNvSpPr>
          <p:nvPr/>
        </p:nvSpPr>
        <p:spPr>
          <a:xfrm xmlns:a="http://schemas.openxmlformats.org/drawingml/2006/main">
            <a:off x="457200" y="1317625"/>
            <a:ext cx="28575" cy="9302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098362E-8B02-4262-9100-E1CACD74DB74}"/>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7A54143F-3873-4452-97DD-D863FB09A673}"/>
              </a:ext>
            </a:extLst>
          </p:cNvPr>
          <p:cNvSpPr>
            <a:spLocks xmlns:a="http://schemas.openxmlformats.org/drawingml/2006/main" noGrp="1"/>
          </p:cNvSpPr>
          <p:nvPr/>
        </p:nvSpPr>
        <p:spPr>
          <a:xfrm xmlns:a="http://schemas.openxmlformats.org/drawingml/2006/main">
            <a:off x="581025" y="153352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ZF reports Indian commercial-vehicle ADAS nominations, a 16-feature suite and extensive local validation, but the supplied evidence does not identify the exact platform, certificate or report number, tested configuration, SOP, supplier content and commercial responsibility. Treat ZF integration as the market-entry event; treat ASIC tapeout as separate from programme qualification.</a:t>
            </a:r>
          </a:p>
        </p:txBody>
      </p:sp>
      <p:sp>
        <p:nvSpPr>
          <p:cNvPr id="12" name="">
            <a:extLst xmlns:a="http://schemas.openxmlformats.org/drawingml/2006/main">
              <a:ext uri="{FF2B5EF4-FFF2-40B4-BE49-F238E27FC236}">
                <a16:creationId xmlns:a16="http://schemas.microsoft.com/office/drawing/2014/main" id="{F3E58D44-7718-4E19-AB00-7586860A9D55}"/>
              </a:ext>
            </a:extLst>
          </p:cNvPr>
          <p:cNvSpPr>
            <a:spLocks xmlns:a="http://schemas.openxmlformats.org/drawingml/2006/main" noGrp="1"/>
          </p:cNvSpPr>
          <p:nvPr/>
        </p:nvSpPr>
        <p:spPr>
          <a:xfrm xmlns:a="http://schemas.openxmlformats.org/drawingml/2006/main">
            <a:off x="457200" y="2362200"/>
            <a:ext cx="3695700" cy="2609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F7216463-9398-4651-A349-B1680B08606D}"/>
              </a:ext>
            </a:extLst>
          </p:cNvPr>
          <p:cNvSpPr>
            <a:spLocks xmlns:a="http://schemas.openxmlformats.org/drawingml/2006/main" noGrp="1"/>
          </p:cNvSpPr>
          <p:nvPr/>
        </p:nvSpPr>
        <p:spPr>
          <a:xfrm xmlns:a="http://schemas.openxmlformats.org/drawingml/2006/main">
            <a:off x="457200" y="23622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0C04938-E51E-461B-AC47-4A54C526E1DB}"/>
              </a:ext>
            </a:extLst>
          </p:cNvPr>
          <p:cNvSpPr>
            <a:spLocks xmlns:a="http://schemas.openxmlformats.org/drawingml/2006/main" noGrp="1"/>
          </p:cNvSpPr>
          <p:nvPr/>
        </p:nvSpPr>
        <p:spPr>
          <a:xfrm xmlns:a="http://schemas.openxmlformats.org/drawingml/2006/main">
            <a:off x="571500" y="24765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3349C464-80EE-4C61-BB17-51FEEC92C7BE}"/>
              </a:ext>
            </a:extLst>
          </p:cNvPr>
          <p:cNvSpPr>
            <a:spLocks xmlns:a="http://schemas.openxmlformats.org/drawingml/2006/main" noGrp="1"/>
          </p:cNvSpPr>
          <p:nvPr/>
        </p:nvSpPr>
        <p:spPr>
          <a:xfrm xmlns:a="http://schemas.openxmlformats.org/drawingml/2006/main">
            <a:off x="571500" y="2628900"/>
            <a:ext cx="3448050" cy="2266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ZF reports Indian commercial-vehicle ADAS nominations, a 16-feature suite and extensive local validation, but the supplied evidence does not identify the exact platform, certificate or report number, tested configuration, SOP, supplier content and commercial responsibility. Treat ZF integration as the market-entry event; treat ASIC tapeout as separate from programme qualification.</a:t>
            </a:r>
          </a:p>
        </p:txBody>
      </p:sp>
      <p:sp>
        <p:nvSpPr>
          <p:cNvPr id="16" name="">
            <a:extLst xmlns:a="http://schemas.openxmlformats.org/drawingml/2006/main">
              <a:ext uri="{FF2B5EF4-FFF2-40B4-BE49-F238E27FC236}">
                <a16:creationId xmlns:a16="http://schemas.microsoft.com/office/drawing/2014/main" id="{32974BF2-330A-4ACF-AB42-6106AB739898}"/>
              </a:ext>
            </a:extLst>
          </p:cNvPr>
          <p:cNvSpPr>
            <a:spLocks xmlns:a="http://schemas.openxmlformats.org/drawingml/2006/main" noGrp="1"/>
          </p:cNvSpPr>
          <p:nvPr/>
        </p:nvSpPr>
        <p:spPr>
          <a:xfrm xmlns:a="http://schemas.openxmlformats.org/drawingml/2006/main">
            <a:off x="4248150" y="2362200"/>
            <a:ext cx="3695700" cy="2609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359F5539-4F92-4C9C-BD46-9749A62AE5C2}"/>
              </a:ext>
            </a:extLst>
          </p:cNvPr>
          <p:cNvSpPr>
            <a:spLocks xmlns:a="http://schemas.openxmlformats.org/drawingml/2006/main" noGrp="1"/>
          </p:cNvSpPr>
          <p:nvPr/>
        </p:nvSpPr>
        <p:spPr>
          <a:xfrm xmlns:a="http://schemas.openxmlformats.org/drawingml/2006/main">
            <a:off x="4248150" y="23622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5934712-D809-4533-B7BC-B302EECC254D}"/>
              </a:ext>
            </a:extLst>
          </p:cNvPr>
          <p:cNvSpPr>
            <a:spLocks xmlns:a="http://schemas.openxmlformats.org/drawingml/2006/main" noGrp="1"/>
          </p:cNvSpPr>
          <p:nvPr/>
        </p:nvSpPr>
        <p:spPr>
          <a:xfrm xmlns:a="http://schemas.openxmlformats.org/drawingml/2006/main">
            <a:off x="4362450" y="24765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921DD73E-1D52-4ACF-A889-55C2B584C482}"/>
              </a:ext>
            </a:extLst>
          </p:cNvPr>
          <p:cNvSpPr>
            <a:spLocks xmlns:a="http://schemas.openxmlformats.org/drawingml/2006/main" noGrp="1"/>
          </p:cNvSpPr>
          <p:nvPr/>
        </p:nvSpPr>
        <p:spPr>
          <a:xfrm xmlns:a="http://schemas.openxmlformats.org/drawingml/2006/main">
            <a:off x="4362450" y="2628900"/>
            <a:ext cx="3448050" cy="2266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No supplied primary evidence establishes the exact platform, certificate/report number, tested configuration, SOP, supplier content or commercial responsibility.</a:t>
            </a:r>
          </a:p>
        </p:txBody>
      </p:sp>
      <p:sp>
        <p:nvSpPr>
          <p:cNvPr id="20" name="">
            <a:extLst xmlns:a="http://schemas.openxmlformats.org/drawingml/2006/main">
              <a:ext uri="{FF2B5EF4-FFF2-40B4-BE49-F238E27FC236}">
                <a16:creationId xmlns:a16="http://schemas.microsoft.com/office/drawing/2014/main" id="{11CF2B75-1B73-41A4-AD32-9BC2D0EDB14C}"/>
              </a:ext>
            </a:extLst>
          </p:cNvPr>
          <p:cNvSpPr>
            <a:spLocks xmlns:a="http://schemas.openxmlformats.org/drawingml/2006/main" noGrp="1"/>
          </p:cNvSpPr>
          <p:nvPr/>
        </p:nvSpPr>
        <p:spPr>
          <a:xfrm xmlns:a="http://schemas.openxmlformats.org/drawingml/2006/main">
            <a:off x="8039100" y="2362200"/>
            <a:ext cx="3695700" cy="2609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B4150C41-3EEF-4E81-BB52-90DFADE49B7F}"/>
              </a:ext>
            </a:extLst>
          </p:cNvPr>
          <p:cNvSpPr>
            <a:spLocks xmlns:a="http://schemas.openxmlformats.org/drawingml/2006/main" noGrp="1"/>
          </p:cNvSpPr>
          <p:nvPr/>
        </p:nvSpPr>
        <p:spPr>
          <a:xfrm xmlns:a="http://schemas.openxmlformats.org/drawingml/2006/main">
            <a:off x="8039100" y="23622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79D7E66-D8CF-445D-8A46-FC01EB88CD61}"/>
              </a:ext>
            </a:extLst>
          </p:cNvPr>
          <p:cNvSpPr>
            <a:spLocks xmlns:a="http://schemas.openxmlformats.org/drawingml/2006/main" noGrp="1"/>
          </p:cNvSpPr>
          <p:nvPr/>
        </p:nvSpPr>
        <p:spPr>
          <a:xfrm xmlns:a="http://schemas.openxmlformats.org/drawingml/2006/main">
            <a:off x="8153400" y="24765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EC3B2614-A36D-45CE-8C8A-EF52A12145FC}"/>
              </a:ext>
            </a:extLst>
          </p:cNvPr>
          <p:cNvSpPr>
            <a:spLocks xmlns:a="http://schemas.openxmlformats.org/drawingml/2006/main" noGrp="1"/>
          </p:cNvSpPr>
          <p:nvPr/>
        </p:nvSpPr>
        <p:spPr>
          <a:xfrm xmlns:a="http://schemas.openxmlformats.org/drawingml/2006/main">
            <a:off x="8153400" y="2628900"/>
            <a:ext cx="3448050" cy="2266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Integration Test Treat ZF-class integration as the market-entry event; treat ASIC tapeout as separate from programme qualification</a:t>
            </a:r>
          </a:p>
        </p:txBody>
      </p:sp>
      <p:sp>
        <p:nvSpPr>
          <p:cNvPr id="24" name="">
            <a:extLst xmlns:a="http://schemas.openxmlformats.org/drawingml/2006/main">
              <a:ext uri="{FF2B5EF4-FFF2-40B4-BE49-F238E27FC236}">
                <a16:creationId xmlns:a16="http://schemas.microsoft.com/office/drawing/2014/main" id="{9452CF31-0F46-47B2-8219-326300E56405}"/>
              </a:ext>
            </a:extLst>
          </p:cNvPr>
          <p:cNvSpPr>
            <a:spLocks xmlns:a="http://schemas.openxmlformats.org/drawingml/2006/main" noGrp="1"/>
          </p:cNvSpPr>
          <p:nvPr/>
        </p:nvSpPr>
        <p:spPr>
          <a:xfrm xmlns:a="http://schemas.openxmlformats.org/drawingml/2006/main">
            <a:off x="457200" y="508635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1B793184-1F67-4BB2-B630-29D134E7C18B}"/>
              </a:ext>
            </a:extLst>
          </p:cNvPr>
          <p:cNvSpPr>
            <a:spLocks xmlns:a="http://schemas.openxmlformats.org/drawingml/2006/main" noGrp="1"/>
          </p:cNvSpPr>
          <p:nvPr/>
        </p:nvSpPr>
        <p:spPr>
          <a:xfrm xmlns:a="http://schemas.openxmlformats.org/drawingml/2006/main">
            <a:off x="457200" y="508635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052FE68-EFFC-45A2-986B-F7C9B3F88E0B}"/>
              </a:ext>
            </a:extLst>
          </p:cNvPr>
          <p:cNvSpPr>
            <a:spLocks xmlns:a="http://schemas.openxmlformats.org/drawingml/2006/main" noGrp="1"/>
          </p:cNvSpPr>
          <p:nvPr/>
        </p:nvSpPr>
        <p:spPr>
          <a:xfrm xmlns:a="http://schemas.openxmlformats.org/drawingml/2006/main">
            <a:off x="581025" y="51530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8D73C60D-D8EC-4674-A3C2-606E9E1DC756}"/>
              </a:ext>
            </a:extLst>
          </p:cNvPr>
          <p:cNvSpPr>
            <a:spLocks xmlns:a="http://schemas.openxmlformats.org/drawingml/2006/main" noGrp="1"/>
          </p:cNvSpPr>
          <p:nvPr/>
        </p:nvSpPr>
        <p:spPr>
          <a:xfrm xmlns:a="http://schemas.openxmlformats.org/drawingml/2006/main">
            <a:off x="581025" y="53022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Even a ready DeepGrid interface package does not prove that ZF has a commercially open perception slot. Test with ICD acceptance.</a:t>
            </a:r>
          </a:p>
        </p:txBody>
      </p:sp>
      <p:sp>
        <p:nvSpPr>
          <p:cNvPr id="28" name="">
            <a:extLst xmlns:a="http://schemas.openxmlformats.org/drawingml/2006/main">
              <a:ext uri="{FF2B5EF4-FFF2-40B4-BE49-F238E27FC236}">
                <a16:creationId xmlns:a16="http://schemas.microsoft.com/office/drawing/2014/main" id="{D19F4711-400C-44C5-9EF2-19EBE6F6EC22}"/>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3DCD1E2-17CA-445D-BDEF-00F75702108A}"/>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1319EB7-B09C-44B1-8422-D6B957AA72FB}"/>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ADBF28A2-FF81-471F-A5E2-71AC79F96B8E}"/>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Seek programme-artifact proof and test ICD acceptance for DGS001; treat the perception slot inside ZF's stack as unproven until artifacts arrive.</a:t>
            </a:r>
          </a:p>
        </p:txBody>
      </p:sp>
      <p:sp>
        <p:nvSpPr>
          <p:cNvPr id="32" name="">
            <a:extLst xmlns:a="http://schemas.openxmlformats.org/drawingml/2006/main">
              <a:ext uri="{FF2B5EF4-FFF2-40B4-BE49-F238E27FC236}">
                <a16:creationId xmlns:a16="http://schemas.microsoft.com/office/drawing/2014/main" id="{70348524-793A-49A1-B370-9BCAD43E364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83389B88-8175-4B75-838A-1A752967328B}"/>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Elevate on report numbers/SOP or ICD acceptance</a:t>
            </a:r>
          </a:p>
        </p:txBody>
      </p:sp>
      <p:sp>
        <p:nvSpPr>
          <p:cNvPr id="34" name="">
            <a:extLst xmlns:a="http://schemas.openxmlformats.org/drawingml/2006/main">
              <a:ext uri="{FF2B5EF4-FFF2-40B4-BE49-F238E27FC236}">
                <a16:creationId xmlns:a16="http://schemas.microsoft.com/office/drawing/2014/main" id="{B489B1A8-1357-4039-8E16-6803CA8004C0}"/>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AC36807C-AD84-420F-B906-90BC80FA7B8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assuming a perception slot exists inside ZF's stack.</a:t>
            </a:r>
          </a:p>
        </p:txBody>
      </p:sp>
      <p:sp>
        <p:nvSpPr>
          <p:cNvPr id="36" name="">
            <a:extLst xmlns:a="http://schemas.openxmlformats.org/drawingml/2006/main">
              <a:ext uri="{FF2B5EF4-FFF2-40B4-BE49-F238E27FC236}">
                <a16:creationId xmlns:a16="http://schemas.microsoft.com/office/drawing/2014/main" id="{37810847-0401-4036-B80F-16B1DA036CEF}"/>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79F24D7-37EC-4804-81F3-FAA2F05094F6}"/>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B479F9B5-A6BF-46B6-8085-58A59704E85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32</a:t>
            </a:r>
          </a:p>
        </p:txBody>
      </p:sp>
    </p:spTree>
    <p:extLst>
      <p:ext uri="{BB962C8B-B14F-4D97-AF65-F5344CB8AC3E}">
        <p14:creationId xmlns:p14="http://schemas.microsoft.com/office/powerpoint/2010/main" val="131635315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73EA5B87-D8A1-4C2B-9203-587AAD601F2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8C15CFE-BE23-483C-B970-84B8F163E133}"/>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1E0F5FF-68C1-4D35-B4E3-B45BD0F31CFB}"/>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COMPANY PROFILE · P-ACT</a:t>
            </a:r>
          </a:p>
        </p:txBody>
      </p:sp>
      <p:sp>
        <p:nvSpPr>
          <p:cNvPr id="4" name="">
            <a:extLst xmlns:a="http://schemas.openxmlformats.org/drawingml/2006/main">
              <a:ext uri="{FF2B5EF4-FFF2-40B4-BE49-F238E27FC236}">
                <a16:creationId xmlns:a16="http://schemas.microsoft.com/office/drawing/2014/main" id="{FD269580-B066-4C86-BF6A-25FD49437B52}"/>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Aptiv PLC</a:t>
            </a:r>
          </a:p>
        </p:txBody>
      </p:sp>
      <p:sp>
        <p:nvSpPr>
          <p:cNvPr id="5" name="">
            <a:extLst xmlns:a="http://schemas.openxmlformats.org/drawingml/2006/main">
              <a:ext uri="{FF2B5EF4-FFF2-40B4-BE49-F238E27FC236}">
                <a16:creationId xmlns:a16="http://schemas.microsoft.com/office/drawing/2014/main" id="{6203DC28-3810-4F3E-ACC6-6BC8EA186030}"/>
              </a:ext>
            </a:extLst>
          </p:cNvPr>
          <p:cNvSpPr>
            <a:spLocks xmlns:a="http://schemas.openxmlformats.org/drawingml/2006/main" noGrp="1"/>
          </p:cNvSpPr>
          <p:nvPr/>
        </p:nvSpPr>
        <p:spPr>
          <a:xfrm xmlns:a="http://schemas.openxmlformats.org/drawingml/2006/main">
            <a:off x="457200" y="7620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0910ECD-9F34-44AA-8520-AB14010CAC46}"/>
              </a:ext>
            </a:extLst>
          </p:cNvPr>
          <p:cNvSpPr>
            <a:spLocks xmlns:a="http://schemas.openxmlformats.org/drawingml/2006/main" noGrp="1"/>
          </p:cNvSpPr>
          <p:nvPr/>
        </p:nvSpPr>
        <p:spPr>
          <a:xfrm xmlns:a="http://schemas.openxmlformats.org/drawingml/2006/main">
            <a:off x="457200" y="87630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7" name="">
            <a:extLst xmlns:a="http://schemas.openxmlformats.org/drawingml/2006/main">
              <a:ext uri="{FF2B5EF4-FFF2-40B4-BE49-F238E27FC236}">
                <a16:creationId xmlns:a16="http://schemas.microsoft.com/office/drawing/2014/main" id="{B5B51670-76CC-4FF0-B558-73A749514633}"/>
              </a:ext>
            </a:extLst>
          </p:cNvPr>
          <p:cNvSpPr>
            <a:spLocks xmlns:a="http://schemas.openxmlformats.org/drawingml/2006/main" noGrp="1"/>
          </p:cNvSpPr>
          <p:nvPr/>
        </p:nvSpPr>
        <p:spPr>
          <a:xfrm xmlns:a="http://schemas.openxmlformats.org/drawingml/2006/main">
            <a:off x="457200" y="87630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D396BA9-8EC1-43B4-B1AA-7A3763389852}"/>
              </a:ext>
            </a:extLst>
          </p:cNvPr>
          <p:cNvSpPr>
            <a:spLocks xmlns:a="http://schemas.openxmlformats.org/drawingml/2006/main" noGrp="1"/>
          </p:cNvSpPr>
          <p:nvPr/>
        </p:nvSpPr>
        <p:spPr>
          <a:xfrm xmlns:a="http://schemas.openxmlformats.org/drawingml/2006/main">
            <a:off x="571500" y="99060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FOUNDED</a:t>
            </a:r>
          </a:p>
        </p:txBody>
      </p:sp>
      <p:sp>
        <p:nvSpPr>
          <p:cNvPr id="9" name="">
            <a:extLst xmlns:a="http://schemas.openxmlformats.org/drawingml/2006/main">
              <a:ext uri="{FF2B5EF4-FFF2-40B4-BE49-F238E27FC236}">
                <a16:creationId xmlns:a16="http://schemas.microsoft.com/office/drawing/2014/main" id="{BBEF2A1C-95A8-4317-91F4-845F90FDE6C4}"/>
              </a:ext>
            </a:extLst>
          </p:cNvPr>
          <p:cNvSpPr>
            <a:spLocks xmlns:a="http://schemas.openxmlformats.org/drawingml/2006/main" noGrp="1"/>
          </p:cNvSpPr>
          <p:nvPr/>
        </p:nvSpPr>
        <p:spPr>
          <a:xfrm xmlns:a="http://schemas.openxmlformats.org/drawingml/2006/main">
            <a:off x="571500" y="11430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2017</a:t>
            </a:r>
          </a:p>
        </p:txBody>
      </p:sp>
      <p:sp>
        <p:nvSpPr>
          <p:cNvPr id="10" name="">
            <a:extLst xmlns:a="http://schemas.openxmlformats.org/drawingml/2006/main">
              <a:ext uri="{FF2B5EF4-FFF2-40B4-BE49-F238E27FC236}">
                <a16:creationId xmlns:a16="http://schemas.microsoft.com/office/drawing/2014/main" id="{AB41735D-550A-4B88-B94C-3345E03F7405}"/>
              </a:ext>
            </a:extLst>
          </p:cNvPr>
          <p:cNvSpPr>
            <a:spLocks xmlns:a="http://schemas.openxmlformats.org/drawingml/2006/main" noGrp="1"/>
          </p:cNvSpPr>
          <p:nvPr/>
        </p:nvSpPr>
        <p:spPr>
          <a:xfrm xmlns:a="http://schemas.openxmlformats.org/drawingml/2006/main">
            <a:off x="571500" y="1409700"/>
            <a:ext cx="2505075" cy="228600"/>
          </a:xfrm>
          <a:prstGeom xmlns:a="http://schemas.openxmlformats.org/drawingml/2006/main" prst="rect">
            <a:avLst/>
          </a:prstGeom>
        </p:spPr>
        <p:txBody>
          <a:bodyPr xmlns:a="http://schemas.openxmlformats.org/drawingml/2006/main" lIns="0" tIns="0" rIns="0" bIns="0" anchor="t">
            <a:normAutofit fontScale="98583"/>
          </a:bodyPr>
          <a:lstStyle xmlns:a="http://schemas.openxmlformats.org/drawingml/2006/main"/>
          <a:p xmlns:a="http://schemas.openxmlformats.org/drawingml/2006/main">
            <a:pPr algn="l">
              <a:defRPr sz="800">
                <a:solidFill>
                  <a:srgbClr val="8EA0B2"/>
                </a:solidFill>
                <a:latin typeface="Arial"/>
                <a:ea typeface="Arial"/>
                <a:cs typeface="Arial"/>
              </a:defRPr>
            </a:pPr>
            <a:r>
              <a:t>Current PLC from the Delphi separation; lineage to 1994</a:t>
            </a:r>
          </a:p>
        </p:txBody>
      </p:sp>
      <p:sp>
        <p:nvSpPr>
          <p:cNvPr id="11" name="">
            <a:extLst xmlns:a="http://schemas.openxmlformats.org/drawingml/2006/main">
              <a:ext uri="{FF2B5EF4-FFF2-40B4-BE49-F238E27FC236}">
                <a16:creationId xmlns:a16="http://schemas.microsoft.com/office/drawing/2014/main" id="{AB66B3C5-3785-4DB0-92E5-C74261C675FD}"/>
              </a:ext>
            </a:extLst>
          </p:cNvPr>
          <p:cNvSpPr>
            <a:spLocks xmlns:a="http://schemas.openxmlformats.org/drawingml/2006/main" noGrp="1"/>
          </p:cNvSpPr>
          <p:nvPr/>
        </p:nvSpPr>
        <p:spPr>
          <a:xfrm xmlns:a="http://schemas.openxmlformats.org/drawingml/2006/main">
            <a:off x="3305175" y="87630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2" name="">
            <a:extLst xmlns:a="http://schemas.openxmlformats.org/drawingml/2006/main">
              <a:ext uri="{FF2B5EF4-FFF2-40B4-BE49-F238E27FC236}">
                <a16:creationId xmlns:a16="http://schemas.microsoft.com/office/drawing/2014/main" id="{35765107-8068-490D-94D8-654816B9FC26}"/>
              </a:ext>
            </a:extLst>
          </p:cNvPr>
          <p:cNvSpPr>
            <a:spLocks xmlns:a="http://schemas.openxmlformats.org/drawingml/2006/main" noGrp="1"/>
          </p:cNvSpPr>
          <p:nvPr/>
        </p:nvSpPr>
        <p:spPr>
          <a:xfrm xmlns:a="http://schemas.openxmlformats.org/drawingml/2006/main">
            <a:off x="3305175" y="87630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F4C589D-A1F9-42E3-90CC-55587C58074E}"/>
              </a:ext>
            </a:extLst>
          </p:cNvPr>
          <p:cNvSpPr>
            <a:spLocks xmlns:a="http://schemas.openxmlformats.org/drawingml/2006/main" noGrp="1"/>
          </p:cNvSpPr>
          <p:nvPr/>
        </p:nvSpPr>
        <p:spPr>
          <a:xfrm xmlns:a="http://schemas.openxmlformats.org/drawingml/2006/main">
            <a:off x="3419475" y="99060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HEADQUARTERS</a:t>
            </a:r>
          </a:p>
        </p:txBody>
      </p:sp>
      <p:sp>
        <p:nvSpPr>
          <p:cNvPr id="14" name="">
            <a:extLst xmlns:a="http://schemas.openxmlformats.org/drawingml/2006/main">
              <a:ext uri="{FF2B5EF4-FFF2-40B4-BE49-F238E27FC236}">
                <a16:creationId xmlns:a16="http://schemas.microsoft.com/office/drawing/2014/main" id="{80587519-D50C-42F0-B32E-C8369BD9B62B}"/>
              </a:ext>
            </a:extLst>
          </p:cNvPr>
          <p:cNvSpPr>
            <a:spLocks xmlns:a="http://schemas.openxmlformats.org/drawingml/2006/main" noGrp="1"/>
          </p:cNvSpPr>
          <p:nvPr/>
        </p:nvSpPr>
        <p:spPr>
          <a:xfrm xmlns:a="http://schemas.openxmlformats.org/drawingml/2006/main">
            <a:off x="3419475" y="11430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Schaffhausen, Switzerland</a:t>
            </a:r>
          </a:p>
        </p:txBody>
      </p:sp>
      <p:sp>
        <p:nvSpPr>
          <p:cNvPr id="15" name="">
            <a:extLst xmlns:a="http://schemas.openxmlformats.org/drawingml/2006/main">
              <a:ext uri="{FF2B5EF4-FFF2-40B4-BE49-F238E27FC236}">
                <a16:creationId xmlns:a16="http://schemas.microsoft.com/office/drawing/2014/main" id="{A48FC16F-449D-4AD4-800E-3306062BD2C4}"/>
              </a:ext>
            </a:extLst>
          </p:cNvPr>
          <p:cNvSpPr>
            <a:spLocks xmlns:a="http://schemas.openxmlformats.org/drawingml/2006/main" noGrp="1"/>
          </p:cNvSpPr>
          <p:nvPr/>
        </p:nvSpPr>
        <p:spPr>
          <a:xfrm xmlns:a="http://schemas.openxmlformats.org/drawingml/2006/main">
            <a:off x="6153150" y="87630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6" name="">
            <a:extLst xmlns:a="http://schemas.openxmlformats.org/drawingml/2006/main">
              <a:ext uri="{FF2B5EF4-FFF2-40B4-BE49-F238E27FC236}">
                <a16:creationId xmlns:a16="http://schemas.microsoft.com/office/drawing/2014/main" id="{6F6A9759-51F8-47BC-A351-40CDF714C314}"/>
              </a:ext>
            </a:extLst>
          </p:cNvPr>
          <p:cNvSpPr>
            <a:spLocks xmlns:a="http://schemas.openxmlformats.org/drawingml/2006/main" noGrp="1"/>
          </p:cNvSpPr>
          <p:nvPr/>
        </p:nvSpPr>
        <p:spPr>
          <a:xfrm xmlns:a="http://schemas.openxmlformats.org/drawingml/2006/main">
            <a:off x="6153150" y="87630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D842720-9C14-4F09-8603-EA7BAE57428B}"/>
              </a:ext>
            </a:extLst>
          </p:cNvPr>
          <p:cNvSpPr>
            <a:spLocks xmlns:a="http://schemas.openxmlformats.org/drawingml/2006/main" noGrp="1"/>
          </p:cNvSpPr>
          <p:nvPr/>
        </p:nvSpPr>
        <p:spPr>
          <a:xfrm xmlns:a="http://schemas.openxmlformats.org/drawingml/2006/main">
            <a:off x="6267450" y="99060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18" name="">
            <a:extLst xmlns:a="http://schemas.openxmlformats.org/drawingml/2006/main">
              <a:ext uri="{FF2B5EF4-FFF2-40B4-BE49-F238E27FC236}">
                <a16:creationId xmlns:a16="http://schemas.microsoft.com/office/drawing/2014/main" id="{ADB14EDA-E3AB-45C9-AD65-DC25782BDE81}"/>
              </a:ext>
            </a:extLst>
          </p:cNvPr>
          <p:cNvSpPr>
            <a:spLocks xmlns:a="http://schemas.openxmlformats.org/drawingml/2006/main" noGrp="1"/>
          </p:cNvSpPr>
          <p:nvPr/>
        </p:nvSpPr>
        <p:spPr>
          <a:xfrm xmlns:a="http://schemas.openxmlformats.org/drawingml/2006/main">
            <a:off x="6267450" y="11430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NYSE: APTV</a:t>
            </a:r>
          </a:p>
        </p:txBody>
      </p:sp>
      <p:sp>
        <p:nvSpPr>
          <p:cNvPr id="19" name="">
            <a:extLst xmlns:a="http://schemas.openxmlformats.org/drawingml/2006/main">
              <a:ext uri="{FF2B5EF4-FFF2-40B4-BE49-F238E27FC236}">
                <a16:creationId xmlns:a16="http://schemas.microsoft.com/office/drawing/2014/main" id="{34A3057F-6D85-470F-A24D-44F8EDD68D3F}"/>
              </a:ext>
            </a:extLst>
          </p:cNvPr>
          <p:cNvSpPr>
            <a:spLocks xmlns:a="http://schemas.openxmlformats.org/drawingml/2006/main" noGrp="1"/>
          </p:cNvSpPr>
          <p:nvPr/>
        </p:nvSpPr>
        <p:spPr>
          <a:xfrm xmlns:a="http://schemas.openxmlformats.org/drawingml/2006/main">
            <a:off x="6267450" y="14097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Publicly listed</a:t>
            </a:r>
          </a:p>
        </p:txBody>
      </p:sp>
      <p:sp>
        <p:nvSpPr>
          <p:cNvPr id="20" name="">
            <a:extLst xmlns:a="http://schemas.openxmlformats.org/drawingml/2006/main">
              <a:ext uri="{FF2B5EF4-FFF2-40B4-BE49-F238E27FC236}">
                <a16:creationId xmlns:a16="http://schemas.microsoft.com/office/drawing/2014/main" id="{98A93BCF-68DF-4494-A9D0-E638A1344602}"/>
              </a:ext>
            </a:extLst>
          </p:cNvPr>
          <p:cNvSpPr>
            <a:spLocks xmlns:a="http://schemas.openxmlformats.org/drawingml/2006/main" noGrp="1"/>
          </p:cNvSpPr>
          <p:nvPr/>
        </p:nvSpPr>
        <p:spPr>
          <a:xfrm xmlns:a="http://schemas.openxmlformats.org/drawingml/2006/main">
            <a:off x="9001125" y="876300"/>
            <a:ext cx="2733675" cy="800100"/>
          </a:xfrm>
          <a:prstGeom xmlns:a="http://schemas.openxmlformats.org/drawingml/2006/main" prst="rect">
            <a:avLst/>
          </a:prstGeom>
          <a:solidFill xmlns:a="http://schemas.openxmlformats.org/drawingml/2006/main">
            <a:srgbClr val="16243A"/>
          </a:solidFill>
          <a:ln xmlns:a="http://schemas.openxmlformats.org/drawingml/2006/main" w="9525">
            <a:solidFill>
              <a:srgbClr val="1A2F45"/>
            </a:solidFill>
            <a:prstDash val="solid"/>
          </a:ln>
        </p:spPr>
      </p:sp>
      <p:sp>
        <p:nvSpPr>
          <p:cNvPr id="21" name="">
            <a:extLst xmlns:a="http://schemas.openxmlformats.org/drawingml/2006/main">
              <a:ext uri="{FF2B5EF4-FFF2-40B4-BE49-F238E27FC236}">
                <a16:creationId xmlns:a16="http://schemas.microsoft.com/office/drawing/2014/main" id="{536E395A-7F45-416D-B21A-96D969838504}"/>
              </a:ext>
            </a:extLst>
          </p:cNvPr>
          <p:cNvSpPr>
            <a:spLocks xmlns:a="http://schemas.openxmlformats.org/drawingml/2006/main" noGrp="1"/>
          </p:cNvSpPr>
          <p:nvPr/>
        </p:nvSpPr>
        <p:spPr>
          <a:xfrm xmlns:a="http://schemas.openxmlformats.org/drawingml/2006/main">
            <a:off x="9001125" y="876300"/>
            <a:ext cx="2733675"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24D606A-9366-4D40-9A02-D9151D3ADFAB}"/>
              </a:ext>
            </a:extLst>
          </p:cNvPr>
          <p:cNvSpPr>
            <a:spLocks xmlns:a="http://schemas.openxmlformats.org/drawingml/2006/main" noGrp="1"/>
          </p:cNvSpPr>
          <p:nvPr/>
        </p:nvSpPr>
        <p:spPr>
          <a:xfrm xmlns:a="http://schemas.openxmlformats.org/drawingml/2006/main">
            <a:off x="9115425" y="99060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MARKET CAP</a:t>
            </a:r>
          </a:p>
        </p:txBody>
      </p:sp>
      <p:sp>
        <p:nvSpPr>
          <p:cNvPr id="23" name="">
            <a:extLst xmlns:a="http://schemas.openxmlformats.org/drawingml/2006/main">
              <a:ext uri="{FF2B5EF4-FFF2-40B4-BE49-F238E27FC236}">
                <a16:creationId xmlns:a16="http://schemas.microsoft.com/office/drawing/2014/main" id="{91A9EE26-5FEE-46FE-8DA4-BCC9A1E3D171}"/>
              </a:ext>
            </a:extLst>
          </p:cNvPr>
          <p:cNvSpPr>
            <a:spLocks xmlns:a="http://schemas.openxmlformats.org/drawingml/2006/main" noGrp="1"/>
          </p:cNvSpPr>
          <p:nvPr/>
        </p:nvSpPr>
        <p:spPr>
          <a:xfrm xmlns:a="http://schemas.openxmlformats.org/drawingml/2006/main">
            <a:off x="9115425" y="11430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E06767"/>
                </a:solidFill>
                <a:latin typeface="Arial"/>
                <a:ea typeface="Arial"/>
                <a:cs typeface="Arial"/>
              </a:defRPr>
            </a:pPr>
            <a:r>
              <a:t>$10.2bn</a:t>
            </a:r>
          </a:p>
        </p:txBody>
      </p:sp>
      <p:sp>
        <p:nvSpPr>
          <p:cNvPr id="24" name="">
            <a:extLst xmlns:a="http://schemas.openxmlformats.org/drawingml/2006/main">
              <a:ext uri="{FF2B5EF4-FFF2-40B4-BE49-F238E27FC236}">
                <a16:creationId xmlns:a16="http://schemas.microsoft.com/office/drawing/2014/main" id="{D2661B12-5009-4733-9EFF-2C5C296CE292}"/>
              </a:ext>
            </a:extLst>
          </p:cNvPr>
          <p:cNvSpPr>
            <a:spLocks xmlns:a="http://schemas.openxmlformats.org/drawingml/2006/main" noGrp="1"/>
          </p:cNvSpPr>
          <p:nvPr/>
        </p:nvSpPr>
        <p:spPr>
          <a:xfrm xmlns:a="http://schemas.openxmlformats.org/drawingml/2006/main">
            <a:off x="9115425" y="14097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as of 13 Aug 2026</a:t>
            </a:r>
          </a:p>
        </p:txBody>
      </p:sp>
      <p:sp>
        <p:nvSpPr>
          <p:cNvPr id="25" name="">
            <a:extLst xmlns:a="http://schemas.openxmlformats.org/drawingml/2006/main">
              <a:ext uri="{FF2B5EF4-FFF2-40B4-BE49-F238E27FC236}">
                <a16:creationId xmlns:a16="http://schemas.microsoft.com/office/drawing/2014/main" id="{02379C53-A031-4FE3-8AEB-71D0F9959E9A}"/>
              </a:ext>
            </a:extLst>
          </p:cNvPr>
          <p:cNvSpPr>
            <a:spLocks xmlns:a="http://schemas.openxmlformats.org/drawingml/2006/main" noGrp="1"/>
          </p:cNvSpPr>
          <p:nvPr/>
        </p:nvSpPr>
        <p:spPr>
          <a:xfrm xmlns:a="http://schemas.openxmlformats.org/drawingml/2006/main">
            <a:off x="457200" y="179070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PEOPLE</a:t>
            </a:r>
          </a:p>
        </p:txBody>
      </p:sp>
      <p:sp>
        <p:nvSpPr>
          <p:cNvPr id="26" name="">
            <a:extLst xmlns:a="http://schemas.openxmlformats.org/drawingml/2006/main">
              <a:ext uri="{FF2B5EF4-FFF2-40B4-BE49-F238E27FC236}">
                <a16:creationId xmlns:a16="http://schemas.microsoft.com/office/drawing/2014/main" id="{3BC30815-C5F9-44B8-A770-BB734817EE6B}"/>
              </a:ext>
            </a:extLst>
          </p:cNvPr>
          <p:cNvSpPr>
            <a:spLocks xmlns:a="http://schemas.openxmlformats.org/drawingml/2006/main" noGrp="1"/>
          </p:cNvSpPr>
          <p:nvPr/>
        </p:nvSpPr>
        <p:spPr>
          <a:xfrm xmlns:a="http://schemas.openxmlformats.org/drawingml/2006/main">
            <a:off x="457200" y="193357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13,000 in India (2,500 engineers)</a:t>
            </a:r>
          </a:p>
        </p:txBody>
      </p:sp>
      <p:sp>
        <p:nvSpPr>
          <p:cNvPr id="27" name="">
            <a:extLst xmlns:a="http://schemas.openxmlformats.org/drawingml/2006/main">
              <a:ext uri="{FF2B5EF4-FFF2-40B4-BE49-F238E27FC236}">
                <a16:creationId xmlns:a16="http://schemas.microsoft.com/office/drawing/2014/main" id="{745F94F2-3FB0-4560-8351-7ED106EA1B02}"/>
              </a:ext>
            </a:extLst>
          </p:cNvPr>
          <p:cNvSpPr>
            <a:spLocks xmlns:a="http://schemas.openxmlformats.org/drawingml/2006/main" noGrp="1"/>
          </p:cNvSpPr>
          <p:nvPr/>
        </p:nvSpPr>
        <p:spPr>
          <a:xfrm xmlns:a="http://schemas.openxmlformats.org/drawingml/2006/main">
            <a:off x="4254500" y="179070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VALUE MOVE</a:t>
            </a:r>
          </a:p>
        </p:txBody>
      </p:sp>
      <p:sp>
        <p:nvSpPr>
          <p:cNvPr id="28" name="">
            <a:extLst xmlns:a="http://schemas.openxmlformats.org/drawingml/2006/main">
              <a:ext uri="{FF2B5EF4-FFF2-40B4-BE49-F238E27FC236}">
                <a16:creationId xmlns:a16="http://schemas.microsoft.com/office/drawing/2014/main" id="{5D550EBD-AEA1-49AB-8C0C-108F5D021110}"/>
              </a:ext>
            </a:extLst>
          </p:cNvPr>
          <p:cNvSpPr>
            <a:spLocks xmlns:a="http://schemas.openxmlformats.org/drawingml/2006/main" noGrp="1"/>
          </p:cNvSpPr>
          <p:nvPr/>
        </p:nvSpPr>
        <p:spPr>
          <a:xfrm xmlns:a="http://schemas.openxmlformats.org/drawingml/2006/main">
            <a:off x="4254500" y="193357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−34.6% YoY</a:t>
            </a:r>
          </a:p>
        </p:txBody>
      </p:sp>
      <p:sp>
        <p:nvSpPr>
          <p:cNvPr id="29" name="">
            <a:extLst xmlns:a="http://schemas.openxmlformats.org/drawingml/2006/main">
              <a:ext uri="{FF2B5EF4-FFF2-40B4-BE49-F238E27FC236}">
                <a16:creationId xmlns:a16="http://schemas.microsoft.com/office/drawing/2014/main" id="{E6677190-8D58-40D5-811C-3A77B3709582}"/>
              </a:ext>
            </a:extLst>
          </p:cNvPr>
          <p:cNvSpPr>
            <a:spLocks xmlns:a="http://schemas.openxmlformats.org/drawingml/2006/main" noGrp="1"/>
          </p:cNvSpPr>
          <p:nvPr/>
        </p:nvSpPr>
        <p:spPr>
          <a:xfrm xmlns:a="http://schemas.openxmlformats.org/drawingml/2006/main">
            <a:off x="8051800" y="179070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PARENT / BACKING</a:t>
            </a:r>
          </a:p>
        </p:txBody>
      </p:sp>
      <p:sp>
        <p:nvSpPr>
          <p:cNvPr id="30" name="">
            <a:extLst xmlns:a="http://schemas.openxmlformats.org/drawingml/2006/main">
              <a:ext uri="{FF2B5EF4-FFF2-40B4-BE49-F238E27FC236}">
                <a16:creationId xmlns:a16="http://schemas.microsoft.com/office/drawing/2014/main" id="{E5078E7E-E69D-4275-A9D5-88297FF0EDFB}"/>
              </a:ext>
            </a:extLst>
          </p:cNvPr>
          <p:cNvSpPr>
            <a:spLocks xmlns:a="http://schemas.openxmlformats.org/drawingml/2006/main" noGrp="1"/>
          </p:cNvSpPr>
          <p:nvPr/>
        </p:nvSpPr>
        <p:spPr>
          <a:xfrm xmlns:a="http://schemas.openxmlformats.org/drawingml/2006/main">
            <a:off x="8051800" y="193357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31" name="">
            <a:extLst xmlns:a="http://schemas.openxmlformats.org/drawingml/2006/main">
              <a:ext uri="{FF2B5EF4-FFF2-40B4-BE49-F238E27FC236}">
                <a16:creationId xmlns:a16="http://schemas.microsoft.com/office/drawing/2014/main" id="{07C6AABF-A509-4AC5-BD8C-4DE897C446DC}"/>
              </a:ext>
            </a:extLst>
          </p:cNvPr>
          <p:cNvSpPr>
            <a:spLocks xmlns:a="http://schemas.openxmlformats.org/drawingml/2006/main" noGrp="1"/>
          </p:cNvSpPr>
          <p:nvPr/>
        </p:nvSpPr>
        <p:spPr>
          <a:xfrm xmlns:a="http://schemas.openxmlformats.org/drawingml/2006/main">
            <a:off x="457200" y="22479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4436CDF-37B0-4A18-9B01-39D1807C6644}"/>
              </a:ext>
            </a:extLst>
          </p:cNvPr>
          <p:cNvSpPr>
            <a:spLocks xmlns:a="http://schemas.openxmlformats.org/drawingml/2006/main" noGrp="1"/>
          </p:cNvSpPr>
          <p:nvPr/>
        </p:nvSpPr>
        <p:spPr>
          <a:xfrm xmlns:a="http://schemas.openxmlformats.org/drawingml/2006/main">
            <a:off x="457200" y="236220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WHAT IT SELLS</a:t>
            </a:r>
          </a:p>
        </p:txBody>
      </p:sp>
      <p:sp>
        <p:nvSpPr>
          <p:cNvPr id="33" name="">
            <a:extLst xmlns:a="http://schemas.openxmlformats.org/drawingml/2006/main">
              <a:ext uri="{FF2B5EF4-FFF2-40B4-BE49-F238E27FC236}">
                <a16:creationId xmlns:a16="http://schemas.microsoft.com/office/drawing/2014/main" id="{CF2CE5CD-E337-4AD3-92EA-82C514D4C726}"/>
              </a:ext>
            </a:extLst>
          </p:cNvPr>
          <p:cNvSpPr>
            <a:spLocks xmlns:a="http://schemas.openxmlformats.org/drawingml/2006/main" noGrp="1"/>
          </p:cNvSpPr>
          <p:nvPr/>
        </p:nvSpPr>
        <p:spPr>
          <a:xfrm xmlns:a="http://schemas.openxmlformats.org/drawingml/2006/main">
            <a:off x="457200" y="2524125"/>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Gen 6 ADAS platform, Gen 8 radar, Gen 7 smart camera, LINC software platform, OTA updates</a:t>
            </a:r>
          </a:p>
        </p:txBody>
      </p:sp>
      <p:sp>
        <p:nvSpPr>
          <p:cNvPr id="34" name="">
            <a:extLst xmlns:a="http://schemas.openxmlformats.org/drawingml/2006/main">
              <a:ext uri="{FF2B5EF4-FFF2-40B4-BE49-F238E27FC236}">
                <a16:creationId xmlns:a16="http://schemas.microsoft.com/office/drawing/2014/main" id="{4BD279F4-266D-4D4A-BBBC-5D796920910A}"/>
              </a:ext>
            </a:extLst>
          </p:cNvPr>
          <p:cNvSpPr>
            <a:spLocks xmlns:a="http://schemas.openxmlformats.org/drawingml/2006/main" noGrp="1"/>
          </p:cNvSpPr>
          <p:nvPr/>
        </p:nvSpPr>
        <p:spPr>
          <a:xfrm xmlns:a="http://schemas.openxmlformats.org/drawingml/2006/main">
            <a:off x="457200" y="29622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657FA00-4839-45F0-9725-8F7E95BFB9FC}"/>
              </a:ext>
            </a:extLst>
          </p:cNvPr>
          <p:cNvSpPr>
            <a:spLocks xmlns:a="http://schemas.openxmlformats.org/drawingml/2006/main" noGrp="1"/>
          </p:cNvSpPr>
          <p:nvPr/>
        </p:nvSpPr>
        <p:spPr>
          <a:xfrm xmlns:a="http://schemas.openxmlformats.org/drawingml/2006/main">
            <a:off x="571500" y="29146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TRAJECTORY</a:t>
            </a:r>
          </a:p>
        </p:txBody>
      </p:sp>
      <p:sp>
        <p:nvSpPr>
          <p:cNvPr id="36" name="">
            <a:extLst xmlns:a="http://schemas.openxmlformats.org/drawingml/2006/main">
              <a:ext uri="{FF2B5EF4-FFF2-40B4-BE49-F238E27FC236}">
                <a16:creationId xmlns:a16="http://schemas.microsoft.com/office/drawing/2014/main" id="{630F97FE-008E-4D79-8E7A-84FA063A10A8}"/>
              </a:ext>
            </a:extLst>
          </p:cNvPr>
          <p:cNvSpPr>
            <a:spLocks xmlns:a="http://schemas.openxmlformats.org/drawingml/2006/main" noGrp="1"/>
          </p:cNvSpPr>
          <p:nvPr/>
        </p:nvSpPr>
        <p:spPr>
          <a:xfrm xmlns:a="http://schemas.openxmlformats.org/drawingml/2006/main">
            <a:off x="2057400" y="29146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$25.38bn (Dec 23) → $16.44bn (Dec 25) → $10.2bn</a:t>
            </a:r>
          </a:p>
        </p:txBody>
      </p:sp>
      <p:sp>
        <p:nvSpPr>
          <p:cNvPr id="37" name="">
            <a:extLst xmlns:a="http://schemas.openxmlformats.org/drawingml/2006/main">
              <a:ext uri="{FF2B5EF4-FFF2-40B4-BE49-F238E27FC236}">
                <a16:creationId xmlns:a16="http://schemas.microsoft.com/office/drawing/2014/main" id="{C85CBE2E-2071-4B6B-A96B-EB2DF761B1D5}"/>
              </a:ext>
            </a:extLst>
          </p:cNvPr>
          <p:cNvSpPr>
            <a:spLocks xmlns:a="http://schemas.openxmlformats.org/drawingml/2006/main" noGrp="1"/>
          </p:cNvSpPr>
          <p:nvPr/>
        </p:nvSpPr>
        <p:spPr>
          <a:xfrm xmlns:a="http://schemas.openxmlformats.org/drawingml/2006/main">
            <a:off x="6210300" y="29622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181D6DC-9F8B-47C3-B9E3-7FC65946F034}"/>
              </a:ext>
            </a:extLst>
          </p:cNvPr>
          <p:cNvSpPr>
            <a:spLocks xmlns:a="http://schemas.openxmlformats.org/drawingml/2006/main" noGrp="1"/>
          </p:cNvSpPr>
          <p:nvPr/>
        </p:nvSpPr>
        <p:spPr>
          <a:xfrm xmlns:a="http://schemas.openxmlformats.org/drawingml/2006/main">
            <a:off x="6324600" y="29146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52-WEEK RANGE</a:t>
            </a:r>
          </a:p>
        </p:txBody>
      </p:sp>
      <p:sp>
        <p:nvSpPr>
          <p:cNvPr id="39" name="">
            <a:extLst xmlns:a="http://schemas.openxmlformats.org/drawingml/2006/main">
              <a:ext uri="{FF2B5EF4-FFF2-40B4-BE49-F238E27FC236}">
                <a16:creationId xmlns:a16="http://schemas.microsoft.com/office/drawing/2014/main" id="{30B2846B-33FB-4589-90A8-A03DD7F52518}"/>
              </a:ext>
            </a:extLst>
          </p:cNvPr>
          <p:cNvSpPr>
            <a:spLocks xmlns:a="http://schemas.openxmlformats.org/drawingml/2006/main" noGrp="1"/>
          </p:cNvSpPr>
          <p:nvPr/>
        </p:nvSpPr>
        <p:spPr>
          <a:xfrm xmlns:a="http://schemas.openxmlformats.org/drawingml/2006/main">
            <a:off x="7810500" y="29146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$46.16 – $88.93 — trading near the low</a:t>
            </a:r>
          </a:p>
        </p:txBody>
      </p:sp>
      <p:sp>
        <p:nvSpPr>
          <p:cNvPr id="40" name="">
            <a:extLst xmlns:a="http://schemas.openxmlformats.org/drawingml/2006/main">
              <a:ext uri="{FF2B5EF4-FFF2-40B4-BE49-F238E27FC236}">
                <a16:creationId xmlns:a16="http://schemas.microsoft.com/office/drawing/2014/main" id="{1B8599F5-13AA-4EBD-920A-69DDF27FE25A}"/>
              </a:ext>
            </a:extLst>
          </p:cNvPr>
          <p:cNvSpPr>
            <a:spLocks xmlns:a="http://schemas.openxmlformats.org/drawingml/2006/main" noGrp="1"/>
          </p:cNvSpPr>
          <p:nvPr/>
        </p:nvSpPr>
        <p:spPr>
          <a:xfrm xmlns:a="http://schemas.openxmlformats.org/drawingml/2006/main">
            <a:off x="457200" y="32861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393ADCB2-029E-415C-9906-ED97A88B5275}"/>
              </a:ext>
            </a:extLst>
          </p:cNvPr>
          <p:cNvSpPr>
            <a:spLocks xmlns:a="http://schemas.openxmlformats.org/drawingml/2006/main" noGrp="1"/>
          </p:cNvSpPr>
          <p:nvPr/>
        </p:nvSpPr>
        <p:spPr>
          <a:xfrm xmlns:a="http://schemas.openxmlformats.org/drawingml/2006/main">
            <a:off x="571500" y="32385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INDIA SITES</a:t>
            </a:r>
          </a:p>
        </p:txBody>
      </p:sp>
      <p:sp>
        <p:nvSpPr>
          <p:cNvPr id="42" name="">
            <a:extLst xmlns:a="http://schemas.openxmlformats.org/drawingml/2006/main">
              <a:ext uri="{FF2B5EF4-FFF2-40B4-BE49-F238E27FC236}">
                <a16:creationId xmlns:a16="http://schemas.microsoft.com/office/drawing/2014/main" id="{0884C816-2DBE-412E-9842-83B64ED3663E}"/>
              </a:ext>
            </a:extLst>
          </p:cNvPr>
          <p:cNvSpPr>
            <a:spLocks xmlns:a="http://schemas.openxmlformats.org/drawingml/2006/main" noGrp="1"/>
          </p:cNvSpPr>
          <p:nvPr/>
        </p:nvSpPr>
        <p:spPr>
          <a:xfrm xmlns:a="http://schemas.openxmlformats.org/drawingml/2006/main">
            <a:off x="2057400" y="32385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7 manufacturing · 4 technical centres · 1 tooling</a:t>
            </a:r>
          </a:p>
        </p:txBody>
      </p:sp>
      <p:sp>
        <p:nvSpPr>
          <p:cNvPr id="43" name="">
            <a:extLst xmlns:a="http://schemas.openxmlformats.org/drawingml/2006/main">
              <a:ext uri="{FF2B5EF4-FFF2-40B4-BE49-F238E27FC236}">
                <a16:creationId xmlns:a16="http://schemas.microsoft.com/office/drawing/2014/main" id="{11452724-6623-49B5-9F22-D568248EAD2C}"/>
              </a:ext>
            </a:extLst>
          </p:cNvPr>
          <p:cNvSpPr>
            <a:spLocks xmlns:a="http://schemas.openxmlformats.org/drawingml/2006/main" noGrp="1"/>
          </p:cNvSpPr>
          <p:nvPr/>
        </p:nvSpPr>
        <p:spPr>
          <a:xfrm xmlns:a="http://schemas.openxmlformats.org/drawingml/2006/main">
            <a:off x="6210300" y="32861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B93073DE-27C6-4A84-80A6-CAC62ABAFE2E}"/>
              </a:ext>
            </a:extLst>
          </p:cNvPr>
          <p:cNvSpPr>
            <a:spLocks xmlns:a="http://schemas.openxmlformats.org/drawingml/2006/main" noGrp="1"/>
          </p:cNvSpPr>
          <p:nvPr/>
        </p:nvSpPr>
        <p:spPr>
          <a:xfrm xmlns:a="http://schemas.openxmlformats.org/drawingml/2006/main">
            <a:off x="6324600" y="32385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CHENNAI</a:t>
            </a:r>
          </a:p>
        </p:txBody>
      </p:sp>
      <p:sp>
        <p:nvSpPr>
          <p:cNvPr id="45" name="">
            <a:extLst xmlns:a="http://schemas.openxmlformats.org/drawingml/2006/main">
              <a:ext uri="{FF2B5EF4-FFF2-40B4-BE49-F238E27FC236}">
                <a16:creationId xmlns:a16="http://schemas.microsoft.com/office/drawing/2014/main" id="{7C98B053-DD0A-4492-8730-836C9A4F79FF}"/>
              </a:ext>
            </a:extLst>
          </p:cNvPr>
          <p:cNvSpPr>
            <a:spLocks xmlns:a="http://schemas.openxmlformats.org/drawingml/2006/main" noGrp="1"/>
          </p:cNvSpPr>
          <p:nvPr/>
        </p:nvSpPr>
        <p:spPr>
          <a:xfrm xmlns:a="http://schemas.openxmlformats.org/drawingml/2006/main">
            <a:off x="7810500" y="32385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Technical centre opened 2025; plant expanded 2024</a:t>
            </a:r>
          </a:p>
        </p:txBody>
      </p:sp>
      <p:sp>
        <p:nvSpPr>
          <p:cNvPr id="46" name="">
            <a:extLst xmlns:a="http://schemas.openxmlformats.org/drawingml/2006/main">
              <a:ext uri="{FF2B5EF4-FFF2-40B4-BE49-F238E27FC236}">
                <a16:creationId xmlns:a16="http://schemas.microsoft.com/office/drawing/2014/main" id="{CA1AA424-517F-41D5-B136-F27463C12618}"/>
              </a:ext>
            </a:extLst>
          </p:cNvPr>
          <p:cNvSpPr>
            <a:spLocks xmlns:a="http://schemas.openxmlformats.org/drawingml/2006/main" noGrp="1"/>
          </p:cNvSpPr>
          <p:nvPr/>
        </p:nvSpPr>
        <p:spPr>
          <a:xfrm xmlns:a="http://schemas.openxmlformats.org/drawingml/2006/main">
            <a:off x="457200" y="36099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D27DD275-CE8A-4420-BF31-0EFA69AF848D}"/>
              </a:ext>
            </a:extLst>
          </p:cNvPr>
          <p:cNvSpPr>
            <a:spLocks xmlns:a="http://schemas.openxmlformats.org/drawingml/2006/main" noGrp="1"/>
          </p:cNvSpPr>
          <p:nvPr/>
        </p:nvSpPr>
        <p:spPr>
          <a:xfrm xmlns:a="http://schemas.openxmlformats.org/drawingml/2006/main">
            <a:off x="571500" y="35623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PROGRAM SCOPE</a:t>
            </a:r>
          </a:p>
        </p:txBody>
      </p:sp>
      <p:sp>
        <p:nvSpPr>
          <p:cNvPr id="48" name="">
            <a:extLst xmlns:a="http://schemas.openxmlformats.org/drawingml/2006/main">
              <a:ext uri="{FF2B5EF4-FFF2-40B4-BE49-F238E27FC236}">
                <a16:creationId xmlns:a16="http://schemas.microsoft.com/office/drawing/2014/main" id="{999F79FD-977C-4FE7-B955-C4E98B948990}"/>
              </a:ext>
            </a:extLst>
          </p:cNvPr>
          <p:cNvSpPr>
            <a:spLocks xmlns:a="http://schemas.openxmlformats.org/drawingml/2006/main" noGrp="1"/>
          </p:cNvSpPr>
          <p:nvPr/>
        </p:nvSpPr>
        <p:spPr>
          <a:xfrm xmlns:a="http://schemas.openxmlformats.org/drawingml/2006/main">
            <a:off x="2057400" y="35623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14 models · 30+ variants · uni-voltage architecture</a:t>
            </a:r>
          </a:p>
        </p:txBody>
      </p:sp>
      <p:sp>
        <p:nvSpPr>
          <p:cNvPr id="49" name="">
            <a:extLst xmlns:a="http://schemas.openxmlformats.org/drawingml/2006/main">
              <a:ext uri="{FF2B5EF4-FFF2-40B4-BE49-F238E27FC236}">
                <a16:creationId xmlns:a16="http://schemas.microsoft.com/office/drawing/2014/main" id="{D4396EB2-497F-4465-BF55-6B09D3A0D022}"/>
              </a:ext>
            </a:extLst>
          </p:cNvPr>
          <p:cNvSpPr>
            <a:spLocks xmlns:a="http://schemas.openxmlformats.org/drawingml/2006/main" noGrp="1"/>
          </p:cNvSpPr>
          <p:nvPr/>
        </p:nvSpPr>
        <p:spPr>
          <a:xfrm xmlns:a="http://schemas.openxmlformats.org/drawingml/2006/main">
            <a:off x="6210300" y="36099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F57F34B9-5B02-4C4F-A355-84A52259B1F3}"/>
              </a:ext>
            </a:extLst>
          </p:cNvPr>
          <p:cNvSpPr>
            <a:spLocks xmlns:a="http://schemas.openxmlformats.org/drawingml/2006/main" noGrp="1"/>
          </p:cNvSpPr>
          <p:nvPr/>
        </p:nvSpPr>
        <p:spPr>
          <a:xfrm xmlns:a="http://schemas.openxmlformats.org/drawingml/2006/main">
            <a:off x="6324600" y="35623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SOFTWARE BASE</a:t>
            </a:r>
          </a:p>
        </p:txBody>
      </p:sp>
      <p:sp>
        <p:nvSpPr>
          <p:cNvPr id="51" name="">
            <a:extLst xmlns:a="http://schemas.openxmlformats.org/drawingml/2006/main">
              <a:ext uri="{FF2B5EF4-FFF2-40B4-BE49-F238E27FC236}">
                <a16:creationId xmlns:a16="http://schemas.microsoft.com/office/drawing/2014/main" id="{A5478FE4-97D4-46F5-95E9-0C2256DF5180}"/>
              </a:ext>
            </a:extLst>
          </p:cNvPr>
          <p:cNvSpPr>
            <a:spLocks xmlns:a="http://schemas.openxmlformats.org/drawingml/2006/main" noGrp="1"/>
          </p:cNvSpPr>
          <p:nvPr/>
        </p:nvSpPr>
        <p:spPr>
          <a:xfrm xmlns:a="http://schemas.openxmlformats.org/drawingml/2006/main">
            <a:off x="7810500" y="35623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40m+ vehicles globally (not India)</a:t>
            </a:r>
          </a:p>
        </p:txBody>
      </p:sp>
      <p:sp>
        <p:nvSpPr>
          <p:cNvPr id="52" name="">
            <a:extLst xmlns:a="http://schemas.openxmlformats.org/drawingml/2006/main">
              <a:ext uri="{FF2B5EF4-FFF2-40B4-BE49-F238E27FC236}">
                <a16:creationId xmlns:a16="http://schemas.microsoft.com/office/drawing/2014/main" id="{F7C81852-DE57-48A4-81DD-E7A7A34D4046}"/>
              </a:ext>
            </a:extLst>
          </p:cNvPr>
          <p:cNvSpPr>
            <a:spLocks xmlns:a="http://schemas.openxmlformats.org/drawingml/2006/main" noGrp="1"/>
          </p:cNvSpPr>
          <p:nvPr/>
        </p:nvSpPr>
        <p:spPr>
          <a:xfrm xmlns:a="http://schemas.openxmlformats.org/drawingml/2006/main">
            <a:off x="457200" y="39814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683F006A-4AFA-4D92-BEE9-766FDE7B3AE3}"/>
              </a:ext>
            </a:extLst>
          </p:cNvPr>
          <p:cNvSpPr>
            <a:spLocks xmlns:a="http://schemas.openxmlformats.org/drawingml/2006/main" noGrp="1"/>
          </p:cNvSpPr>
          <p:nvPr/>
        </p:nvSpPr>
        <p:spPr>
          <a:xfrm xmlns:a="http://schemas.openxmlformats.org/drawingml/2006/main">
            <a:off x="457200" y="409575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OPEN ON THIS COMPANY</a:t>
            </a:r>
          </a:p>
        </p:txBody>
      </p:sp>
      <p:sp>
        <p:nvSpPr>
          <p:cNvPr id="54" name="">
            <a:extLst xmlns:a="http://schemas.openxmlformats.org/drawingml/2006/main">
              <a:ext uri="{FF2B5EF4-FFF2-40B4-BE49-F238E27FC236}">
                <a16:creationId xmlns:a16="http://schemas.microsoft.com/office/drawing/2014/main" id="{4B3F816E-91ED-4375-B279-08680BC6A8E6}"/>
              </a:ext>
            </a:extLst>
          </p:cNvPr>
          <p:cNvSpPr>
            <a:spLocks xmlns:a="http://schemas.openxmlformats.org/drawingml/2006/main" noGrp="1"/>
          </p:cNvSpPr>
          <p:nvPr/>
        </p:nvSpPr>
        <p:spPr>
          <a:xfrm xmlns:a="http://schemas.openxmlformats.org/drawingml/2006/main">
            <a:off x="457200" y="428625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636F7A81-5DCD-4535-9FA9-023CD5EFACE4}"/>
              </a:ext>
            </a:extLst>
          </p:cNvPr>
          <p:cNvSpPr>
            <a:spLocks xmlns:a="http://schemas.openxmlformats.org/drawingml/2006/main" noGrp="1"/>
          </p:cNvSpPr>
          <p:nvPr/>
        </p:nvSpPr>
        <p:spPr>
          <a:xfrm xmlns:a="http://schemas.openxmlformats.org/drawingml/2006/main">
            <a:off x="457200" y="437197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Confirm whether the Aptiv and STRADVISION India wins are one program</a:t>
            </a:r>
          </a:p>
        </p:txBody>
      </p:sp>
      <p:sp>
        <p:nvSpPr>
          <p:cNvPr id="56" name="">
            <a:extLst xmlns:a="http://schemas.openxmlformats.org/drawingml/2006/main">
              <a:ext uri="{FF2B5EF4-FFF2-40B4-BE49-F238E27FC236}">
                <a16:creationId xmlns:a16="http://schemas.microsoft.com/office/drawing/2014/main" id="{DA865607-BB21-4F1F-A80B-98C9D2F0A92B}"/>
              </a:ext>
            </a:extLst>
          </p:cNvPr>
          <p:cNvSpPr>
            <a:spLocks xmlns:a="http://schemas.openxmlformats.org/drawingml/2006/main" noGrp="1"/>
          </p:cNvSpPr>
          <p:nvPr/>
        </p:nvSpPr>
        <p:spPr>
          <a:xfrm xmlns:a="http://schemas.openxmlformats.org/drawingml/2006/main">
            <a:off x="4254500" y="428625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B6B88CD6-EEE3-4AFA-8795-3B70FF81F687}"/>
              </a:ext>
            </a:extLst>
          </p:cNvPr>
          <p:cNvSpPr>
            <a:spLocks xmlns:a="http://schemas.openxmlformats.org/drawingml/2006/main" noGrp="1"/>
          </p:cNvSpPr>
          <p:nvPr/>
        </p:nvSpPr>
        <p:spPr>
          <a:xfrm xmlns:a="http://schemas.openxmlformats.org/drawingml/2006/main">
            <a:off x="4254500" y="437197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No India-specific certification published</a:t>
            </a:r>
          </a:p>
        </p:txBody>
      </p:sp>
      <p:sp>
        <p:nvSpPr>
          <p:cNvPr id="58" name="">
            <a:extLst xmlns:a="http://schemas.openxmlformats.org/drawingml/2006/main">
              <a:ext uri="{FF2B5EF4-FFF2-40B4-BE49-F238E27FC236}">
                <a16:creationId xmlns:a16="http://schemas.microsoft.com/office/drawing/2014/main" id="{E1649578-CC16-4ADF-9F4C-B3C6BDEAF061}"/>
              </a:ext>
            </a:extLst>
          </p:cNvPr>
          <p:cNvSpPr>
            <a:spLocks xmlns:a="http://schemas.openxmlformats.org/drawingml/2006/main" noGrp="1"/>
          </p:cNvSpPr>
          <p:nvPr/>
        </p:nvSpPr>
        <p:spPr>
          <a:xfrm xmlns:a="http://schemas.openxmlformats.org/drawingml/2006/main">
            <a:off x="8051800" y="428625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CED4384F-A70B-47A4-A886-88A3420E0EE5}"/>
              </a:ext>
            </a:extLst>
          </p:cNvPr>
          <p:cNvSpPr>
            <a:spLocks xmlns:a="http://schemas.openxmlformats.org/drawingml/2006/main" noGrp="1"/>
          </p:cNvSpPr>
          <p:nvPr/>
        </p:nvSpPr>
        <p:spPr>
          <a:xfrm xmlns:a="http://schemas.openxmlformats.org/drawingml/2006/main">
            <a:off x="8051800" y="437197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OEM counterparty unnamed</a:t>
            </a:r>
          </a:p>
        </p:txBody>
      </p:sp>
      <p:sp>
        <p:nvSpPr>
          <p:cNvPr id="60" name="">
            <a:extLst xmlns:a="http://schemas.openxmlformats.org/drawingml/2006/main">
              <a:ext uri="{FF2B5EF4-FFF2-40B4-BE49-F238E27FC236}">
                <a16:creationId xmlns:a16="http://schemas.microsoft.com/office/drawing/2014/main" id="{B3441A50-9AF9-4532-9A40-E5B4B12F06D8}"/>
              </a:ext>
            </a:extLst>
          </p:cNvPr>
          <p:cNvSpPr>
            <a:spLocks xmlns:a="http://schemas.openxmlformats.org/drawingml/2006/main" noGrp="1"/>
          </p:cNvSpPr>
          <p:nvPr/>
        </p:nvSpPr>
        <p:spPr>
          <a:xfrm xmlns:a="http://schemas.openxmlformats.org/drawingml/2006/main">
            <a:off x="457200" y="4819650"/>
            <a:ext cx="11277600"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E2859FAC-5A81-49B7-BCB2-2C8290CF16CA}"/>
              </a:ext>
            </a:extLst>
          </p:cNvPr>
          <p:cNvSpPr>
            <a:spLocks xmlns:a="http://schemas.openxmlformats.org/drawingml/2006/main" noGrp="1"/>
          </p:cNvSpPr>
          <p:nvPr/>
        </p:nvSpPr>
        <p:spPr>
          <a:xfrm xmlns:a="http://schemas.openxmlformats.org/drawingml/2006/main">
            <a:off x="457200" y="49339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EVIDENCE POSTURE · VERIFIED</a:t>
            </a:r>
          </a:p>
        </p:txBody>
      </p:sp>
      <p:sp>
        <p:nvSpPr>
          <p:cNvPr id="62" name="">
            <a:extLst xmlns:a="http://schemas.openxmlformats.org/drawingml/2006/main">
              <a:ext uri="{FF2B5EF4-FFF2-40B4-BE49-F238E27FC236}">
                <a16:creationId xmlns:a16="http://schemas.microsoft.com/office/drawing/2014/main" id="{E75F3C81-5E9E-4E35-91A7-4810EF06033B}"/>
              </a:ext>
            </a:extLst>
          </p:cNvPr>
          <p:cNvSpPr>
            <a:spLocks xmlns:a="http://schemas.openxmlformats.org/drawingml/2006/main" noGrp="1"/>
          </p:cNvSpPr>
          <p:nvPr/>
        </p:nvSpPr>
        <p:spPr>
          <a:xfrm xmlns:a="http://schemas.openxmlformats.org/drawingml/2006/main">
            <a:off x="9258300" y="4933950"/>
            <a:ext cx="2476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EV-APT-01 … EV-APT-08</a:t>
            </a:r>
          </a:p>
        </p:txBody>
      </p:sp>
      <p:sp>
        <p:nvSpPr>
          <p:cNvPr id="63" name="">
            <a:extLst xmlns:a="http://schemas.openxmlformats.org/drawingml/2006/main">
              <a:ext uri="{FF2B5EF4-FFF2-40B4-BE49-F238E27FC236}">
                <a16:creationId xmlns:a16="http://schemas.microsoft.com/office/drawing/2014/main" id="{1CB6B180-2F56-4300-B396-7C8FE9482358}"/>
              </a:ext>
            </a:extLst>
          </p:cNvPr>
          <p:cNvSpPr>
            <a:spLocks xmlns:a="http://schemas.openxmlformats.org/drawingml/2006/main" noGrp="1"/>
          </p:cNvSpPr>
          <p:nvPr/>
        </p:nvSpPr>
        <p:spPr>
          <a:xfrm xmlns:a="http://schemas.openxmlformats.org/drawingml/2006/main">
            <a:off x="457200" y="5124450"/>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Market cap roughly halved in under three years and trades near a 52-week low — a supplier under that pressure partners and prices differently. Its 2,500 India engineers are ~165× Gahan AI's entire headcount.</a:t>
            </a:r>
          </a:p>
        </p:txBody>
      </p:sp>
      <p:sp>
        <p:nvSpPr>
          <p:cNvPr id="64" name="">
            <a:extLst xmlns:a="http://schemas.openxmlformats.org/drawingml/2006/main">
              <a:ext uri="{FF2B5EF4-FFF2-40B4-BE49-F238E27FC236}">
                <a16:creationId xmlns:a16="http://schemas.microsoft.com/office/drawing/2014/main" id="{C7B63774-C42A-448D-A64F-062C5BC46D4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A49E0C63-EB64-41B9-B09D-6CB2BC6EBAE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6" name="">
            <a:extLst xmlns:a="http://schemas.openxmlformats.org/drawingml/2006/main">
              <a:ext uri="{FF2B5EF4-FFF2-40B4-BE49-F238E27FC236}">
                <a16:creationId xmlns:a16="http://schemas.microsoft.com/office/drawing/2014/main" id="{3EB4EADF-2617-470F-976D-D2822DA95B1B}"/>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33</a:t>
            </a:r>
          </a:p>
        </p:txBody>
      </p:sp>
    </p:spTree>
    <p:extLst>
      <p:ext uri="{BB962C8B-B14F-4D97-AF65-F5344CB8AC3E}">
        <p14:creationId xmlns:p14="http://schemas.microsoft.com/office/powerpoint/2010/main" val="133219779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301F62E-0584-4A3D-B4C7-DB59B8A08E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D029A05-8BE5-4799-97F1-6F2857983AD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97608C3-786A-423F-8746-CB1F8A462F17}"/>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AI USE CASES · APTIV PLC</a:t>
            </a:r>
          </a:p>
        </p:txBody>
      </p:sp>
      <p:sp>
        <p:nvSpPr>
          <p:cNvPr id="4" name="">
            <a:extLst xmlns:a="http://schemas.openxmlformats.org/drawingml/2006/main">
              <a:ext uri="{FF2B5EF4-FFF2-40B4-BE49-F238E27FC236}">
                <a16:creationId xmlns:a16="http://schemas.microsoft.com/office/drawing/2014/main" id="{CF9DA6B0-6A18-4E7D-B817-9A6F1366EE53}"/>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What Aptiv PLC's AI actually does</a:t>
            </a:r>
          </a:p>
        </p:txBody>
      </p:sp>
      <p:sp>
        <p:nvSpPr>
          <p:cNvPr id="5" name="">
            <a:extLst xmlns:a="http://schemas.openxmlformats.org/drawingml/2006/main">
              <a:ext uri="{FF2B5EF4-FFF2-40B4-BE49-F238E27FC236}">
                <a16:creationId xmlns:a16="http://schemas.microsoft.com/office/drawing/2014/main" id="{BF4850DA-B45B-4E83-B6AE-2261419FA71E}"/>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Threat ratings describe how worried to be. This describes what the system is — which is what decides whether DeepGrid displaces, attaches to, or ignores it.</a:t>
            </a:r>
          </a:p>
        </p:txBody>
      </p:sp>
      <p:sp>
        <p:nvSpPr>
          <p:cNvPr id="6" name="">
            <a:extLst xmlns:a="http://schemas.openxmlformats.org/drawingml/2006/main">
              <a:ext uri="{FF2B5EF4-FFF2-40B4-BE49-F238E27FC236}">
                <a16:creationId xmlns:a16="http://schemas.microsoft.com/office/drawing/2014/main" id="{7F2DCB61-0AB6-4220-BAA4-083197FEFFCC}"/>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85E48B7-22A1-4D09-8A8E-462BD7533303}"/>
              </a:ext>
            </a:extLst>
          </p:cNvPr>
          <p:cNvSpPr>
            <a:spLocks xmlns:a="http://schemas.openxmlformats.org/drawingml/2006/main" noGrp="1"/>
          </p:cNvSpPr>
          <p:nvPr/>
        </p:nvSpPr>
        <p:spPr>
          <a:xfrm xmlns:a="http://schemas.openxmlformats.org/drawingml/2006/main">
            <a:off x="457200" y="11239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8E10F2D-0D3F-4EDB-9B7A-6DFA992F61E4}"/>
              </a:ext>
            </a:extLst>
          </p:cNvPr>
          <p:cNvSpPr>
            <a:spLocks xmlns:a="http://schemas.openxmlformats.org/drawingml/2006/main" noGrp="1"/>
          </p:cNvSpPr>
          <p:nvPr/>
        </p:nvSpPr>
        <p:spPr>
          <a:xfrm xmlns:a="http://schemas.openxmlformats.org/drawingml/2006/main">
            <a:off x="609600" y="11620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PATTERN</a:t>
            </a:r>
          </a:p>
        </p:txBody>
      </p:sp>
      <p:sp>
        <p:nvSpPr>
          <p:cNvPr id="9" name="">
            <a:extLst xmlns:a="http://schemas.openxmlformats.org/drawingml/2006/main">
              <a:ext uri="{FF2B5EF4-FFF2-40B4-BE49-F238E27FC236}">
                <a16:creationId xmlns:a16="http://schemas.microsoft.com/office/drawing/2014/main" id="{9D01FCFC-C797-4C35-88F2-BF129E53DA21}"/>
              </a:ext>
            </a:extLst>
          </p:cNvPr>
          <p:cNvSpPr>
            <a:spLocks xmlns:a="http://schemas.openxmlformats.org/drawingml/2006/main" noGrp="1"/>
          </p:cNvSpPr>
          <p:nvPr/>
        </p:nvSpPr>
        <p:spPr>
          <a:xfrm xmlns:a="http://schemas.openxmlformats.org/drawingml/2006/main">
            <a:off x="2743200" y="11620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P-FUSE → P-ACT — Gen 8 radar + Gen 7 camera</a:t>
            </a:r>
          </a:p>
        </p:txBody>
      </p:sp>
      <p:sp>
        <p:nvSpPr>
          <p:cNvPr id="10" name="">
            <a:extLst xmlns:a="http://schemas.openxmlformats.org/drawingml/2006/main">
              <a:ext uri="{FF2B5EF4-FFF2-40B4-BE49-F238E27FC236}">
                <a16:creationId xmlns:a16="http://schemas.microsoft.com/office/drawing/2014/main" id="{8E80CD50-D778-4CE1-AD51-117A28752B58}"/>
              </a:ext>
            </a:extLst>
          </p:cNvPr>
          <p:cNvSpPr>
            <a:spLocks xmlns:a="http://schemas.openxmlformats.org/drawingml/2006/main" noGrp="1"/>
          </p:cNvSpPr>
          <p:nvPr/>
        </p:nvSpPr>
        <p:spPr>
          <a:xfrm xmlns:a="http://schemas.openxmlformats.org/drawingml/2006/main">
            <a:off x="457200" y="15430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5959F7E-68C1-4537-A6D5-163060F51412}"/>
              </a:ext>
            </a:extLst>
          </p:cNvPr>
          <p:cNvSpPr>
            <a:spLocks xmlns:a="http://schemas.openxmlformats.org/drawingml/2006/main" noGrp="1"/>
          </p:cNvSpPr>
          <p:nvPr/>
        </p:nvSpPr>
        <p:spPr>
          <a:xfrm xmlns:a="http://schemas.openxmlformats.org/drawingml/2006/main">
            <a:off x="609600" y="15811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PERCEPTION</a:t>
            </a:r>
          </a:p>
        </p:txBody>
      </p:sp>
      <p:sp>
        <p:nvSpPr>
          <p:cNvPr id="12" name="">
            <a:extLst xmlns:a="http://schemas.openxmlformats.org/drawingml/2006/main">
              <a:ext uri="{FF2B5EF4-FFF2-40B4-BE49-F238E27FC236}">
                <a16:creationId xmlns:a16="http://schemas.microsoft.com/office/drawing/2014/main" id="{CE4C5E93-105A-4544-84A0-9A61767ACE95}"/>
              </a:ext>
            </a:extLst>
          </p:cNvPr>
          <p:cNvSpPr>
            <a:spLocks xmlns:a="http://schemas.openxmlformats.org/drawingml/2006/main" noGrp="1"/>
          </p:cNvSpPr>
          <p:nvPr/>
        </p:nvSpPr>
        <p:spPr>
          <a:xfrm xmlns:a="http://schemas.openxmlformats.org/drawingml/2006/main">
            <a:off x="2743200" y="15811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STRADVISION AI vision INSIDE the Gen 7 camera</a:t>
            </a:r>
          </a:p>
        </p:txBody>
      </p:sp>
      <p:sp>
        <p:nvSpPr>
          <p:cNvPr id="13" name="">
            <a:extLst xmlns:a="http://schemas.openxmlformats.org/drawingml/2006/main">
              <a:ext uri="{FF2B5EF4-FFF2-40B4-BE49-F238E27FC236}">
                <a16:creationId xmlns:a16="http://schemas.microsoft.com/office/drawing/2014/main" id="{B957D4B0-55C5-4732-8C36-D51EE91C55E6}"/>
              </a:ext>
            </a:extLst>
          </p:cNvPr>
          <p:cNvSpPr>
            <a:spLocks xmlns:a="http://schemas.openxmlformats.org/drawingml/2006/main" noGrp="1"/>
          </p:cNvSpPr>
          <p:nvPr/>
        </p:nvSpPr>
        <p:spPr>
          <a:xfrm xmlns:a="http://schemas.openxmlformats.org/drawingml/2006/main">
            <a:off x="457200" y="19621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1DB8428-52D0-45A5-AA37-FEE49CF80EA6}"/>
              </a:ext>
            </a:extLst>
          </p:cNvPr>
          <p:cNvSpPr>
            <a:spLocks xmlns:a="http://schemas.openxmlformats.org/drawingml/2006/main" noGrp="1"/>
          </p:cNvSpPr>
          <p:nvPr/>
        </p:nvSpPr>
        <p:spPr>
          <a:xfrm xmlns:a="http://schemas.openxmlformats.org/drawingml/2006/main">
            <a:off x="609600" y="20002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INDIA CLASSES</a:t>
            </a:r>
          </a:p>
        </p:txBody>
      </p:sp>
      <p:sp>
        <p:nvSpPr>
          <p:cNvPr id="15" name="">
            <a:extLst xmlns:a="http://schemas.openxmlformats.org/drawingml/2006/main">
              <a:ext uri="{FF2B5EF4-FFF2-40B4-BE49-F238E27FC236}">
                <a16:creationId xmlns:a16="http://schemas.microsoft.com/office/drawing/2014/main" id="{D9D51898-4B2A-42C5-84FC-7EBF7CEF5CCD}"/>
              </a:ext>
            </a:extLst>
          </p:cNvPr>
          <p:cNvSpPr>
            <a:spLocks xmlns:a="http://schemas.openxmlformats.org/drawingml/2006/main" noGrp="1"/>
          </p:cNvSpPr>
          <p:nvPr/>
        </p:nvSpPr>
        <p:spPr>
          <a:xfrm xmlns:a="http://schemas.openxmlformats.org/drawingml/2006/main">
            <a:off x="2743200" y="20002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Three-wheelers, large animals, pedestrians, road workers, cyclists</a:t>
            </a:r>
          </a:p>
        </p:txBody>
      </p:sp>
      <p:sp>
        <p:nvSpPr>
          <p:cNvPr id="16" name="">
            <a:extLst xmlns:a="http://schemas.openxmlformats.org/drawingml/2006/main">
              <a:ext uri="{FF2B5EF4-FFF2-40B4-BE49-F238E27FC236}">
                <a16:creationId xmlns:a16="http://schemas.microsoft.com/office/drawing/2014/main" id="{41ED815E-0EDB-4ECC-91E6-E0801B2913CC}"/>
              </a:ext>
            </a:extLst>
          </p:cNvPr>
          <p:cNvSpPr>
            <a:spLocks xmlns:a="http://schemas.openxmlformats.org/drawingml/2006/main" noGrp="1"/>
          </p:cNvSpPr>
          <p:nvPr/>
        </p:nvSpPr>
        <p:spPr>
          <a:xfrm xmlns:a="http://schemas.openxmlformats.org/drawingml/2006/main">
            <a:off x="457200" y="23812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92B7C82-6C24-4E9D-952C-60E2F48A3011}"/>
              </a:ext>
            </a:extLst>
          </p:cNvPr>
          <p:cNvSpPr>
            <a:spLocks xmlns:a="http://schemas.openxmlformats.org/drawingml/2006/main" noGrp="1"/>
          </p:cNvSpPr>
          <p:nvPr/>
        </p:nvSpPr>
        <p:spPr>
          <a:xfrm xmlns:a="http://schemas.openxmlformats.org/drawingml/2006/main">
            <a:off x="609600" y="24193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SCALE</a:t>
            </a:r>
          </a:p>
        </p:txBody>
      </p:sp>
      <p:sp>
        <p:nvSpPr>
          <p:cNvPr id="18" name="">
            <a:extLst xmlns:a="http://schemas.openxmlformats.org/drawingml/2006/main">
              <a:ext uri="{FF2B5EF4-FFF2-40B4-BE49-F238E27FC236}">
                <a16:creationId xmlns:a16="http://schemas.microsoft.com/office/drawing/2014/main" id="{81044D50-BE51-4963-BA19-8C9B525F382D}"/>
              </a:ext>
            </a:extLst>
          </p:cNvPr>
          <p:cNvSpPr>
            <a:spLocks xmlns:a="http://schemas.openxmlformats.org/drawingml/2006/main" noGrp="1"/>
          </p:cNvSpPr>
          <p:nvPr/>
        </p:nvSpPr>
        <p:spPr>
          <a:xfrm xmlns:a="http://schemas.openxmlformats.org/drawingml/2006/main">
            <a:off x="2743200" y="24193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40m+ vehicles globally for the ADAS software — global, not India</a:t>
            </a:r>
          </a:p>
        </p:txBody>
      </p:sp>
      <p:sp>
        <p:nvSpPr>
          <p:cNvPr id="19" name="">
            <a:extLst xmlns:a="http://schemas.openxmlformats.org/drawingml/2006/main">
              <a:ext uri="{FF2B5EF4-FFF2-40B4-BE49-F238E27FC236}">
                <a16:creationId xmlns:a16="http://schemas.microsoft.com/office/drawing/2014/main" id="{17F23721-E7B8-4DC3-A06D-780509382C96}"/>
              </a:ext>
            </a:extLst>
          </p:cNvPr>
          <p:cNvSpPr>
            <a:spLocks xmlns:a="http://schemas.openxmlformats.org/drawingml/2006/main" noGrp="1"/>
          </p:cNvSpPr>
          <p:nvPr/>
        </p:nvSpPr>
        <p:spPr>
          <a:xfrm xmlns:a="http://schemas.openxmlformats.org/drawingml/2006/main">
            <a:off x="457200" y="28003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85673BF-C52E-4760-AF3B-1914AFA566D1}"/>
              </a:ext>
            </a:extLst>
          </p:cNvPr>
          <p:cNvSpPr>
            <a:spLocks xmlns:a="http://schemas.openxmlformats.org/drawingml/2006/main" noGrp="1"/>
          </p:cNvSpPr>
          <p:nvPr/>
        </p:nvSpPr>
        <p:spPr>
          <a:xfrm xmlns:a="http://schemas.openxmlformats.org/drawingml/2006/main">
            <a:off x="609600" y="28384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LIFECYCLE</a:t>
            </a:r>
          </a:p>
        </p:txBody>
      </p:sp>
      <p:sp>
        <p:nvSpPr>
          <p:cNvPr id="21" name="">
            <a:extLst xmlns:a="http://schemas.openxmlformats.org/drawingml/2006/main">
              <a:ext uri="{FF2B5EF4-FFF2-40B4-BE49-F238E27FC236}">
                <a16:creationId xmlns:a16="http://schemas.microsoft.com/office/drawing/2014/main" id="{4D5A1AD6-0233-4C19-9A9D-6FCD45767C63}"/>
              </a:ext>
            </a:extLst>
          </p:cNvPr>
          <p:cNvSpPr>
            <a:spLocks xmlns:a="http://schemas.openxmlformats.org/drawingml/2006/main" noGrp="1"/>
          </p:cNvSpPr>
          <p:nvPr/>
        </p:nvSpPr>
        <p:spPr>
          <a:xfrm xmlns:a="http://schemas.openxmlformats.org/drawingml/2006/main">
            <a:off x="2743200" y="28384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OTA feature and performance updates via LINC + Wind River VxWorks</a:t>
            </a:r>
          </a:p>
        </p:txBody>
      </p:sp>
      <p:sp>
        <p:nvSpPr>
          <p:cNvPr id="22" name="">
            <a:extLst xmlns:a="http://schemas.openxmlformats.org/drawingml/2006/main">
              <a:ext uri="{FF2B5EF4-FFF2-40B4-BE49-F238E27FC236}">
                <a16:creationId xmlns:a16="http://schemas.microsoft.com/office/drawing/2014/main" id="{67AAD45F-44BD-4066-93F5-9284F4441257}"/>
              </a:ext>
            </a:extLst>
          </p:cNvPr>
          <p:cNvSpPr>
            <a:spLocks xmlns:a="http://schemas.openxmlformats.org/drawingml/2006/main" noGrp="1"/>
          </p:cNvSpPr>
          <p:nvPr/>
        </p:nvSpPr>
        <p:spPr>
          <a:xfrm xmlns:a="http://schemas.openxmlformats.org/drawingml/2006/main">
            <a:off x="457200" y="32575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36C2EDC-9C10-43CC-8375-E6E874757A28}"/>
              </a:ext>
            </a:extLst>
          </p:cNvPr>
          <p:cNvSpPr>
            <a:spLocks xmlns:a="http://schemas.openxmlformats.org/drawingml/2006/main" noGrp="1"/>
          </p:cNvSpPr>
          <p:nvPr/>
        </p:nvSpPr>
        <p:spPr>
          <a:xfrm xmlns:a="http://schemas.openxmlformats.org/drawingml/2006/main">
            <a:off x="457200" y="33718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IMPLICATION FOR DEEPGRID</a:t>
            </a:r>
          </a:p>
        </p:txBody>
      </p:sp>
      <p:sp>
        <p:nvSpPr>
          <p:cNvPr id="24" name="">
            <a:extLst xmlns:a="http://schemas.openxmlformats.org/drawingml/2006/main">
              <a:ext uri="{FF2B5EF4-FFF2-40B4-BE49-F238E27FC236}">
                <a16:creationId xmlns:a16="http://schemas.microsoft.com/office/drawing/2014/main" id="{B67E6A2E-571E-4E33-BF85-A23B22DCDE53}"/>
              </a:ext>
            </a:extLst>
          </p:cNvPr>
          <p:cNvSpPr>
            <a:spLocks xmlns:a="http://schemas.openxmlformats.org/drawingml/2006/main" noGrp="1"/>
          </p:cNvSpPr>
          <p:nvPr/>
        </p:nvSpPr>
        <p:spPr>
          <a:xfrm xmlns:a="http://schemas.openxmlformats.org/drawingml/2006/main">
            <a:off x="457200" y="3562350"/>
            <a:ext cx="112776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Market cap roughly halved in under three years and trades near a 52-week low — a supplier under that pressure partners and prices differently. Its 2,500 India engineers are ~165× Gahan AI's entire headcount.</a:t>
            </a:r>
          </a:p>
        </p:txBody>
      </p:sp>
      <p:sp>
        <p:nvSpPr>
          <p:cNvPr id="25" name="">
            <a:extLst xmlns:a="http://schemas.openxmlformats.org/drawingml/2006/main">
              <a:ext uri="{FF2B5EF4-FFF2-40B4-BE49-F238E27FC236}">
                <a16:creationId xmlns:a16="http://schemas.microsoft.com/office/drawing/2014/main" id="{CFB0D23C-3FC7-44CE-9424-B81BF5B6F6C1}"/>
              </a:ext>
            </a:extLst>
          </p:cNvPr>
          <p:cNvSpPr>
            <a:spLocks xmlns:a="http://schemas.openxmlformats.org/drawingml/2006/main" noGrp="1"/>
          </p:cNvSpPr>
          <p:nvPr/>
        </p:nvSpPr>
        <p:spPr>
          <a:xfrm xmlns:a="http://schemas.openxmlformats.org/drawingml/2006/main">
            <a:off x="457200" y="4248150"/>
            <a:ext cx="11277600" cy="7048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6" name="">
            <a:extLst xmlns:a="http://schemas.openxmlformats.org/drawingml/2006/main">
              <a:ext uri="{FF2B5EF4-FFF2-40B4-BE49-F238E27FC236}">
                <a16:creationId xmlns:a16="http://schemas.microsoft.com/office/drawing/2014/main" id="{5EDB8675-93EB-4F6D-822E-47E8A819AAAE}"/>
              </a:ext>
            </a:extLst>
          </p:cNvPr>
          <p:cNvSpPr>
            <a:spLocks xmlns:a="http://schemas.openxmlformats.org/drawingml/2006/main" noGrp="1"/>
          </p:cNvSpPr>
          <p:nvPr/>
        </p:nvSpPr>
        <p:spPr>
          <a:xfrm xmlns:a="http://schemas.openxmlformats.org/drawingml/2006/main">
            <a:off x="457200" y="4248150"/>
            <a:ext cx="38100" cy="704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10018A6-4B99-447B-B51A-5FCCE73F0D7A}"/>
              </a:ext>
            </a:extLst>
          </p:cNvPr>
          <p:cNvSpPr>
            <a:spLocks xmlns:a="http://schemas.openxmlformats.org/drawingml/2006/main" noGrp="1"/>
          </p:cNvSpPr>
          <p:nvPr/>
        </p:nvSpPr>
        <p:spPr>
          <a:xfrm xmlns:a="http://schemas.openxmlformats.org/drawingml/2006/main">
            <a:off x="628650" y="4362450"/>
            <a:ext cx="8420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P-ACT · REACHES BRAKE ACTUATION</a:t>
            </a:r>
          </a:p>
        </p:txBody>
      </p:sp>
      <p:sp>
        <p:nvSpPr>
          <p:cNvPr id="28" name="">
            <a:extLst xmlns:a="http://schemas.openxmlformats.org/drawingml/2006/main">
              <a:ext uri="{FF2B5EF4-FFF2-40B4-BE49-F238E27FC236}">
                <a16:creationId xmlns:a16="http://schemas.microsoft.com/office/drawing/2014/main" id="{06E89802-4F59-4EDC-908D-3CD25C9DAB12}"/>
              </a:ext>
            </a:extLst>
          </p:cNvPr>
          <p:cNvSpPr>
            <a:spLocks xmlns:a="http://schemas.openxmlformats.org/drawingml/2006/main" noGrp="1"/>
          </p:cNvSpPr>
          <p:nvPr/>
        </p:nvSpPr>
        <p:spPr>
          <a:xfrm xmlns:a="http://schemas.openxmlformats.org/drawingml/2006/main">
            <a:off x="628650" y="4552950"/>
            <a:ext cx="8420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Cannot be displaced by a better perception layer alone. The move is to attach INTO this stack, not to compete with it.</a:t>
            </a:r>
          </a:p>
        </p:txBody>
      </p:sp>
      <p:sp>
        <p:nvSpPr>
          <p:cNvPr id="29" name="">
            <a:extLst xmlns:a="http://schemas.openxmlformats.org/drawingml/2006/main">
              <a:ext uri="{FF2B5EF4-FFF2-40B4-BE49-F238E27FC236}">
                <a16:creationId xmlns:a16="http://schemas.microsoft.com/office/drawing/2014/main" id="{EEAD278E-C675-4C69-A107-778997A0EC67}"/>
              </a:ext>
            </a:extLst>
          </p:cNvPr>
          <p:cNvSpPr>
            <a:spLocks xmlns:a="http://schemas.openxmlformats.org/drawingml/2006/main" noGrp="1"/>
          </p:cNvSpPr>
          <p:nvPr/>
        </p:nvSpPr>
        <p:spPr>
          <a:xfrm xmlns:a="http://schemas.openxmlformats.org/drawingml/2006/main">
            <a:off x="9163050" y="436245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a:solidFill>
                  <a:srgbClr val="8EA0B2"/>
                </a:solidFill>
                <a:latin typeface="Arial"/>
                <a:ea typeface="Arial"/>
                <a:cs typeface="Arial"/>
              </a:defRPr>
            </a:pPr>
            <a:r>
              <a:t>Evidence · EV-APT-01 … EV-APT-08</a:t>
            </a:r>
          </a:p>
        </p:txBody>
      </p:sp>
      <p:sp>
        <p:nvSpPr>
          <p:cNvPr id="30" name="">
            <a:extLst xmlns:a="http://schemas.openxmlformats.org/drawingml/2006/main">
              <a:ext uri="{FF2B5EF4-FFF2-40B4-BE49-F238E27FC236}">
                <a16:creationId xmlns:a16="http://schemas.microsoft.com/office/drawing/2014/main" id="{17EFAC6D-18C3-4A9E-8D2F-0885C18EEF13}"/>
              </a:ext>
            </a:extLst>
          </p:cNvPr>
          <p:cNvSpPr>
            <a:spLocks xmlns:a="http://schemas.openxmlformats.org/drawingml/2006/main" noGrp="1"/>
          </p:cNvSpPr>
          <p:nvPr/>
        </p:nvSpPr>
        <p:spPr>
          <a:xfrm xmlns:a="http://schemas.openxmlformats.org/drawingml/2006/main">
            <a:off x="9163050" y="453390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1BA271"/>
                </a:solidFill>
                <a:latin typeface="Arial"/>
                <a:ea typeface="Arial"/>
                <a:cs typeface="Arial"/>
              </a:defRPr>
            </a:pPr>
            <a:r>
              <a:t>Posture · VERIFIED</a:t>
            </a:r>
          </a:p>
        </p:txBody>
      </p:sp>
      <p:sp>
        <p:nvSpPr>
          <p:cNvPr id="31" name="">
            <a:extLst xmlns:a="http://schemas.openxmlformats.org/drawingml/2006/main">
              <a:ext uri="{FF2B5EF4-FFF2-40B4-BE49-F238E27FC236}">
                <a16:creationId xmlns:a16="http://schemas.microsoft.com/office/drawing/2014/main" id="{4C0F28A4-8C63-412A-97C5-401B8331D757}"/>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02307ED-D922-4310-930C-72F7DAE646E2}"/>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7D42A8F0-C1B1-47F4-8B98-A18BA6C6E56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34</a:t>
            </a:r>
          </a:p>
        </p:txBody>
      </p:sp>
    </p:spTree>
    <p:extLst>
      <p:ext uri="{BB962C8B-B14F-4D97-AF65-F5344CB8AC3E}">
        <p14:creationId xmlns:p14="http://schemas.microsoft.com/office/powerpoint/2010/main" val="1325410971"/>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CCFF25FD-0FB8-4CD6-9E31-EE76F910C04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76CC7D8-3EDE-470F-906A-50DF509873F1}"/>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0F353C8-80D9-4141-9599-E9A315E0767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0227C02B-E90D-4BDC-82E1-41590A998E8D}"/>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03DB04A2-A2B5-4C6C-B8F3-D0AA47AD6AFC}"/>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Aptiv Competitive Profile - Evidence Assessment</a:t>
            </a:r>
          </a:p>
        </p:txBody>
      </p:sp>
      <p:sp>
        <p:nvSpPr>
          <p:cNvPr id="6" name="">
            <a:extLst xmlns:a="http://schemas.openxmlformats.org/drawingml/2006/main">
              <a:ext uri="{FF2B5EF4-FFF2-40B4-BE49-F238E27FC236}">
                <a16:creationId xmlns:a16="http://schemas.microsoft.com/office/drawing/2014/main" id="{2A02A0DF-64CA-4469-ABF2-FA7EB89AB90F}"/>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332A742-2F9F-4568-A72B-6338E80E6FBB}"/>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Observable position, company claims, evidence gaps, DeepGrid exposure, and threat assessment</a:t>
            </a:r>
          </a:p>
        </p:txBody>
      </p:sp>
      <p:sp>
        <p:nvSpPr>
          <p:cNvPr id="8" name="">
            <a:extLst xmlns:a="http://schemas.openxmlformats.org/drawingml/2006/main">
              <a:ext uri="{FF2B5EF4-FFF2-40B4-BE49-F238E27FC236}">
                <a16:creationId xmlns:a16="http://schemas.microsoft.com/office/drawing/2014/main" id="{4A307C1C-A2F2-47F3-B0C2-474608823B01}"/>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692DB3C2-60CB-4FA3-8688-9FBA165B3750}"/>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00144F5-BF53-4B81-9E65-659DFB4EC113}"/>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C890A29D-9A9C-44B2-83C9-6BAAC412AFE5}"/>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Aptiv holds global ADAS scale plus India engineering and manufacturing access, and is not displaceable head-on. The response is to attach as a specialised perception subsystem rather than contest vehicle-level integration.</a:t>
            </a:r>
          </a:p>
        </p:txBody>
      </p:sp>
      <p:sp>
        <p:nvSpPr>
          <p:cNvPr id="12" name="">
            <a:extLst xmlns:a="http://schemas.openxmlformats.org/drawingml/2006/main">
              <a:ext uri="{FF2B5EF4-FFF2-40B4-BE49-F238E27FC236}">
                <a16:creationId xmlns:a16="http://schemas.microsoft.com/office/drawing/2014/main" id="{53179414-BF0D-4FBA-8CD4-917D6C73D90E}"/>
              </a:ext>
            </a:extLst>
          </p:cNvPr>
          <p:cNvSpPr>
            <a:spLocks xmlns:a="http://schemas.openxmlformats.org/drawingml/2006/main" noGrp="1"/>
          </p:cNvSpPr>
          <p:nvPr/>
        </p:nvSpPr>
        <p:spPr>
          <a:xfrm xmlns:a="http://schemas.openxmlformats.org/drawingml/2006/main">
            <a:off x="457200" y="18415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8298FCC9-2306-4443-81C2-484E9B81452F}"/>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7E52F88-4A19-45D8-AF4D-6B4446FDBDA5}"/>
              </a:ext>
            </a:extLst>
          </p:cNvPr>
          <p:cNvSpPr>
            <a:spLocks xmlns:a="http://schemas.openxmlformats.org/drawingml/2006/main" noGrp="1"/>
          </p:cNvSpPr>
          <p:nvPr/>
        </p:nvSpPr>
        <p:spPr>
          <a:xfrm xmlns:a="http://schemas.openxmlformats.org/drawingml/2006/main">
            <a:off x="457200" y="18415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EFAE7B5-982E-4D86-8F74-6F6A3D1D4576}"/>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PRIORITISE COMPETITORS BY</a:t>
            </a:r>
          </a:p>
        </p:txBody>
      </p:sp>
      <p:sp>
        <p:nvSpPr>
          <p:cNvPr id="16" name="">
            <a:extLst xmlns:a="http://schemas.openxmlformats.org/drawingml/2006/main">
              <a:ext uri="{FF2B5EF4-FFF2-40B4-BE49-F238E27FC236}">
                <a16:creationId xmlns:a16="http://schemas.microsoft.com/office/drawing/2014/main" id="{B2210A26-DA0C-40CA-8D06-B535E598C64C}"/>
              </a:ext>
            </a:extLst>
          </p:cNvPr>
          <p:cNvSpPr>
            <a:spLocks xmlns:a="http://schemas.openxmlformats.org/drawingml/2006/main" noGrp="1"/>
          </p:cNvSpPr>
          <p:nvPr/>
        </p:nvSpPr>
        <p:spPr>
          <a:xfrm xmlns:a="http://schemas.openxmlformats.org/drawingml/2006/main">
            <a:off x="4067556" y="19177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Prioritise competitors by control point and verified programme evidence—not by the length of their feature list.</a:t>
            </a:r>
          </a:p>
        </p:txBody>
      </p:sp>
      <p:sp>
        <p:nvSpPr>
          <p:cNvPr id="17" name="">
            <a:extLst xmlns:a="http://schemas.openxmlformats.org/drawingml/2006/main">
              <a:ext uri="{FF2B5EF4-FFF2-40B4-BE49-F238E27FC236}">
                <a16:creationId xmlns:a16="http://schemas.microsoft.com/office/drawing/2014/main" id="{B003A6EC-275D-4EFF-A851-67B4E8AFBBB6}"/>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9B10030D-3F03-49D7-B858-A6A554E225A8}"/>
              </a:ext>
            </a:extLst>
          </p:cNvPr>
          <p:cNvSpPr>
            <a:spLocks xmlns:a="http://schemas.openxmlformats.org/drawingml/2006/main" noGrp="1"/>
          </p:cNvSpPr>
          <p:nvPr/>
        </p:nvSpPr>
        <p:spPr>
          <a:xfrm xmlns:a="http://schemas.openxmlformats.org/drawingml/2006/main">
            <a:off x="457200" y="26416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62F3CE30-9BC6-49FE-99D8-746663F3AF6C}"/>
              </a:ext>
            </a:extLst>
          </p:cNvPr>
          <p:cNvSpPr>
            <a:spLocks xmlns:a="http://schemas.openxmlformats.org/drawingml/2006/main" noGrp="1"/>
          </p:cNvSpPr>
          <p:nvPr/>
        </p:nvSpPr>
        <p:spPr>
          <a:xfrm xmlns:a="http://schemas.openxmlformats.org/drawingml/2006/main">
            <a:off x="457200" y="264160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900A845-DABC-45E5-A97C-FD4D6D4DB8F7}"/>
              </a:ext>
            </a:extLst>
          </p:cNvPr>
          <p:cNvSpPr>
            <a:spLocks xmlns:a="http://schemas.openxmlformats.org/drawingml/2006/main" noGrp="1"/>
          </p:cNvSpPr>
          <p:nvPr/>
        </p:nvSpPr>
        <p:spPr>
          <a:xfrm xmlns:a="http://schemas.openxmlformats.org/drawingml/2006/main">
            <a:off x="457200" y="26416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90CC510-FB26-4B6E-858D-84ABA8EA0877}"/>
              </a:ext>
            </a:extLst>
          </p:cNvPr>
          <p:cNvSpPr>
            <a:spLocks xmlns:a="http://schemas.openxmlformats.org/drawingml/2006/main" noGrp="1"/>
          </p:cNvSpPr>
          <p:nvPr/>
        </p:nvSpPr>
        <p:spPr>
          <a:xfrm xmlns:a="http://schemas.openxmlformats.org/drawingml/2006/main">
            <a:off x="571500" y="27273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THREAT IS HIGHEST WHERE</a:t>
            </a:r>
          </a:p>
        </p:txBody>
      </p:sp>
      <p:sp>
        <p:nvSpPr>
          <p:cNvPr id="22" name="">
            <a:extLst xmlns:a="http://schemas.openxmlformats.org/drawingml/2006/main">
              <a:ext uri="{FF2B5EF4-FFF2-40B4-BE49-F238E27FC236}">
                <a16:creationId xmlns:a16="http://schemas.microsoft.com/office/drawing/2014/main" id="{68E9E61A-ED1A-4046-B2F6-9934EBB30EF9}"/>
              </a:ext>
            </a:extLst>
          </p:cNvPr>
          <p:cNvSpPr>
            <a:spLocks xmlns:a="http://schemas.openxmlformats.org/drawingml/2006/main" noGrp="1"/>
          </p:cNvSpPr>
          <p:nvPr/>
        </p:nvSpPr>
        <p:spPr>
          <a:xfrm xmlns:a="http://schemas.openxmlformats.org/drawingml/2006/main">
            <a:off x="4067556" y="27178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Threat is highest where proof and distribution overlap</a:t>
            </a:r>
          </a:p>
        </p:txBody>
      </p:sp>
      <p:sp>
        <p:nvSpPr>
          <p:cNvPr id="23" name="">
            <a:extLst xmlns:a="http://schemas.openxmlformats.org/drawingml/2006/main">
              <a:ext uri="{FF2B5EF4-FFF2-40B4-BE49-F238E27FC236}">
                <a16:creationId xmlns:a16="http://schemas.microsoft.com/office/drawing/2014/main" id="{4F1F3270-F384-41C2-94E4-7AFE2AFCE6ED}"/>
              </a:ext>
            </a:extLst>
          </p:cNvPr>
          <p:cNvSpPr>
            <a:spLocks xmlns:a="http://schemas.openxmlformats.org/drawingml/2006/main" noGrp="1"/>
          </p:cNvSpPr>
          <p:nvPr/>
        </p:nvSpPr>
        <p:spPr>
          <a:xfrm xmlns:a="http://schemas.openxmlformats.org/drawingml/2006/main">
            <a:off x="9816084" y="27273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3329D23E-98CB-4998-990F-98C7441750CE}"/>
              </a:ext>
            </a:extLst>
          </p:cNvPr>
          <p:cNvSpPr>
            <a:spLocks xmlns:a="http://schemas.openxmlformats.org/drawingml/2006/main" noGrp="1"/>
          </p:cNvSpPr>
          <p:nvPr/>
        </p:nvSpPr>
        <p:spPr>
          <a:xfrm xmlns:a="http://schemas.openxmlformats.org/drawingml/2006/main">
            <a:off x="457200" y="34417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E3725DAF-74AE-42FE-92FE-130008BB8DAA}"/>
              </a:ext>
            </a:extLst>
          </p:cNvPr>
          <p:cNvSpPr>
            <a:spLocks xmlns:a="http://schemas.openxmlformats.org/drawingml/2006/main" noGrp="1"/>
          </p:cNvSpPr>
          <p:nvPr/>
        </p:nvSpPr>
        <p:spPr>
          <a:xfrm xmlns:a="http://schemas.openxmlformats.org/drawingml/2006/main">
            <a:off x="457200" y="34417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55FF902-974A-4E9F-998A-1E9DE2DDCA24}"/>
              </a:ext>
            </a:extLst>
          </p:cNvPr>
          <p:cNvSpPr>
            <a:spLocks xmlns:a="http://schemas.openxmlformats.org/drawingml/2006/main" noGrp="1"/>
          </p:cNvSpPr>
          <p:nvPr/>
        </p:nvSpPr>
        <p:spPr>
          <a:xfrm xmlns:a="http://schemas.openxmlformats.org/drawingml/2006/main">
            <a:off x="457200" y="3441700"/>
            <a:ext cx="28575" cy="733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59254C9-6918-4C4D-9E0A-64CD7E656CE9}"/>
              </a:ext>
            </a:extLst>
          </p:cNvPr>
          <p:cNvSpPr>
            <a:spLocks xmlns:a="http://schemas.openxmlformats.org/drawingml/2006/main" noGrp="1"/>
          </p:cNvSpPr>
          <p:nvPr/>
        </p:nvSpPr>
        <p:spPr>
          <a:xfrm xmlns:a="http://schemas.openxmlformats.org/drawingml/2006/main">
            <a:off x="571500" y="3527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STRADVISION DIRECTLY</a:t>
            </a:r>
          </a:p>
        </p:txBody>
      </p:sp>
      <p:sp>
        <p:nvSpPr>
          <p:cNvPr id="28" name="">
            <a:extLst xmlns:a="http://schemas.openxmlformats.org/drawingml/2006/main">
              <a:ext uri="{FF2B5EF4-FFF2-40B4-BE49-F238E27FC236}">
                <a16:creationId xmlns:a16="http://schemas.microsoft.com/office/drawing/2014/main" id="{D8932EFA-39C8-45DE-9CA2-317251B8F73D}"/>
              </a:ext>
            </a:extLst>
          </p:cNvPr>
          <p:cNvSpPr>
            <a:spLocks xmlns:a="http://schemas.openxmlformats.org/drawingml/2006/main" noGrp="1"/>
          </p:cNvSpPr>
          <p:nvPr/>
        </p:nvSpPr>
        <p:spPr>
          <a:xfrm xmlns:a="http://schemas.openxmlformats.org/drawingml/2006/main">
            <a:off x="4067556" y="35179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STRADVISION directly contests the perception layer at global production scale; channel partnerships can convert faster than standalone startups.</a:t>
            </a:r>
          </a:p>
        </p:txBody>
      </p:sp>
      <p:sp>
        <p:nvSpPr>
          <p:cNvPr id="29" name="">
            <a:extLst xmlns:a="http://schemas.openxmlformats.org/drawingml/2006/main">
              <a:ext uri="{FF2B5EF4-FFF2-40B4-BE49-F238E27FC236}">
                <a16:creationId xmlns:a16="http://schemas.microsoft.com/office/drawing/2014/main" id="{693D2661-F9AC-4571-B033-E4958ACC04B9}"/>
              </a:ext>
            </a:extLst>
          </p:cNvPr>
          <p:cNvSpPr>
            <a:spLocks xmlns:a="http://schemas.openxmlformats.org/drawingml/2006/main" noGrp="1"/>
          </p:cNvSpPr>
          <p:nvPr/>
        </p:nvSpPr>
        <p:spPr>
          <a:xfrm xmlns:a="http://schemas.openxmlformats.org/drawingml/2006/main">
            <a:off x="9816084" y="3527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0" name="">
            <a:extLst xmlns:a="http://schemas.openxmlformats.org/drawingml/2006/main">
              <a:ext uri="{FF2B5EF4-FFF2-40B4-BE49-F238E27FC236}">
                <a16:creationId xmlns:a16="http://schemas.microsoft.com/office/drawing/2014/main" id="{0D99290B-698D-43E2-8D79-82CD4C0CF05C}"/>
              </a:ext>
            </a:extLst>
          </p:cNvPr>
          <p:cNvSpPr>
            <a:spLocks xmlns:a="http://schemas.openxmlformats.org/drawingml/2006/main" noGrp="1"/>
          </p:cNvSpPr>
          <p:nvPr/>
        </p:nvSpPr>
        <p:spPr>
          <a:xfrm xmlns:a="http://schemas.openxmlformats.org/drawingml/2006/main">
            <a:off x="457200" y="42418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178EFBD4-D494-4E72-9228-E9F90544D9B6}"/>
              </a:ext>
            </a:extLst>
          </p:cNvPr>
          <p:cNvSpPr>
            <a:spLocks xmlns:a="http://schemas.openxmlformats.org/drawingml/2006/main" noGrp="1"/>
          </p:cNvSpPr>
          <p:nvPr/>
        </p:nvSpPr>
        <p:spPr>
          <a:xfrm xmlns:a="http://schemas.openxmlformats.org/drawingml/2006/main">
            <a:off x="457200" y="42418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385E97A-D18E-49D7-BDDE-F2B53F036F54}"/>
              </a:ext>
            </a:extLst>
          </p:cNvPr>
          <p:cNvSpPr>
            <a:spLocks xmlns:a="http://schemas.openxmlformats.org/drawingml/2006/main" noGrp="1"/>
          </p:cNvSpPr>
          <p:nvPr/>
        </p:nvSpPr>
        <p:spPr>
          <a:xfrm xmlns:a="http://schemas.openxmlformats.org/drawingml/2006/main">
            <a:off x="457200" y="4241800"/>
            <a:ext cx="28575" cy="733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C0B9292-3C9F-4B2E-9906-29566D32A899}"/>
              </a:ext>
            </a:extLst>
          </p:cNvPr>
          <p:cNvSpPr>
            <a:spLocks xmlns:a="http://schemas.openxmlformats.org/drawingml/2006/main" noGrp="1"/>
          </p:cNvSpPr>
          <p:nvPr/>
        </p:nvSpPr>
        <p:spPr>
          <a:xfrm xmlns:a="http://schemas.openxmlformats.org/drawingml/2006/main">
            <a:off x="571500" y="43275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PROOF PLUS ACCESS CREATES</a:t>
            </a:r>
          </a:p>
        </p:txBody>
      </p:sp>
      <p:sp>
        <p:nvSpPr>
          <p:cNvPr id="34" name="">
            <a:extLst xmlns:a="http://schemas.openxmlformats.org/drawingml/2006/main">
              <a:ext uri="{FF2B5EF4-FFF2-40B4-BE49-F238E27FC236}">
                <a16:creationId xmlns:a16="http://schemas.microsoft.com/office/drawing/2014/main" id="{31F037AD-19B9-42F8-8879-C3F160304DAF}"/>
              </a:ext>
            </a:extLst>
          </p:cNvPr>
          <p:cNvSpPr>
            <a:spLocks xmlns:a="http://schemas.openxmlformats.org/drawingml/2006/main" noGrp="1"/>
          </p:cNvSpPr>
          <p:nvPr/>
        </p:nvSpPr>
        <p:spPr>
          <a:xfrm xmlns:a="http://schemas.openxmlformats.org/drawingml/2006/main">
            <a:off x="4067556" y="43180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Proof plus access creates the immediate threat: ZF/Aptiv own programmes and integration; drivebuddyAI has an announced fleet contract.</a:t>
            </a:r>
          </a:p>
        </p:txBody>
      </p:sp>
      <p:sp>
        <p:nvSpPr>
          <p:cNvPr id="35" name="">
            <a:extLst xmlns:a="http://schemas.openxmlformats.org/drawingml/2006/main">
              <a:ext uri="{FF2B5EF4-FFF2-40B4-BE49-F238E27FC236}">
                <a16:creationId xmlns:a16="http://schemas.microsoft.com/office/drawing/2014/main" id="{DC851905-1C24-411B-93C4-62643FBB7958}"/>
              </a:ext>
            </a:extLst>
          </p:cNvPr>
          <p:cNvSpPr>
            <a:spLocks xmlns:a="http://schemas.openxmlformats.org/drawingml/2006/main" noGrp="1"/>
          </p:cNvSpPr>
          <p:nvPr/>
        </p:nvSpPr>
        <p:spPr>
          <a:xfrm xmlns:a="http://schemas.openxmlformats.org/drawingml/2006/main">
            <a:off x="9816084" y="43275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1722F917-B552-4482-921D-70A1AEE49D02}"/>
              </a:ext>
            </a:extLst>
          </p:cNvPr>
          <p:cNvSpPr>
            <a:spLocks xmlns:a="http://schemas.openxmlformats.org/drawingml/2006/main" noGrp="1"/>
          </p:cNvSpPr>
          <p:nvPr/>
        </p:nvSpPr>
        <p:spPr>
          <a:xfrm xmlns:a="http://schemas.openxmlformats.org/drawingml/2006/main">
            <a:off x="457200" y="508952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DC66230E-CF95-44E5-981E-E28CE7BAE7C3}"/>
              </a:ext>
            </a:extLst>
          </p:cNvPr>
          <p:cNvSpPr>
            <a:spLocks xmlns:a="http://schemas.openxmlformats.org/drawingml/2006/main" noGrp="1"/>
          </p:cNvSpPr>
          <p:nvPr/>
        </p:nvSpPr>
        <p:spPr>
          <a:xfrm xmlns:a="http://schemas.openxmlformats.org/drawingml/2006/main">
            <a:off x="457200" y="508952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FD488A3C-0BEE-4942-B854-23ABB2BF070A}"/>
              </a:ext>
            </a:extLst>
          </p:cNvPr>
          <p:cNvSpPr>
            <a:spLocks xmlns:a="http://schemas.openxmlformats.org/drawingml/2006/main" noGrp="1"/>
          </p:cNvSpPr>
          <p:nvPr/>
        </p:nvSpPr>
        <p:spPr>
          <a:xfrm xmlns:a="http://schemas.openxmlformats.org/drawingml/2006/main">
            <a:off x="581025" y="5156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F2707730-DCAB-4B99-8855-B680290B63A9}"/>
              </a:ext>
            </a:extLst>
          </p:cNvPr>
          <p:cNvSpPr>
            <a:spLocks xmlns:a="http://schemas.openxmlformats.org/drawingml/2006/main" noGrp="1"/>
          </p:cNvSpPr>
          <p:nvPr/>
        </p:nvSpPr>
        <p:spPr>
          <a:xfrm xmlns:a="http://schemas.openxmlformats.org/drawingml/2006/main">
            <a:off x="581025" y="53054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Aptiv publicly sources third-party perception software for an Indian CV programme.</a:t>
            </a:r>
          </a:p>
        </p:txBody>
      </p:sp>
      <p:sp>
        <p:nvSpPr>
          <p:cNvPr id="40" name="">
            <a:extLst xmlns:a="http://schemas.openxmlformats.org/drawingml/2006/main">
              <a:ext uri="{FF2B5EF4-FFF2-40B4-BE49-F238E27FC236}">
                <a16:creationId xmlns:a16="http://schemas.microsoft.com/office/drawing/2014/main" id="{E70E6C4B-0DCB-4D5E-9873-FC3E1F089CC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7CDF1E6D-66FA-4BD6-AD4B-8A92491E86F4}"/>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72A7D37F-9603-4741-BC13-58468E66F1D7}"/>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614BB34B-641D-4748-BC9E-B5563891DD9D}"/>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Position DGS001 as complementary to Aptiv's vehicle-level integration; do not bid head-on.</a:t>
            </a:r>
          </a:p>
        </p:txBody>
      </p:sp>
      <p:sp>
        <p:nvSpPr>
          <p:cNvPr id="44" name="">
            <a:extLst xmlns:a="http://schemas.openxmlformats.org/drawingml/2006/main">
              <a:ext uri="{FF2B5EF4-FFF2-40B4-BE49-F238E27FC236}">
                <a16:creationId xmlns:a16="http://schemas.microsoft.com/office/drawing/2014/main" id="{260BEAD9-0D7D-4F0A-A85A-522BCE29437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5B98D6FE-8E88-480F-B88F-7F87FB84897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Any Aptiv India CV programme announcement.</a:t>
            </a:r>
          </a:p>
        </p:txBody>
      </p:sp>
      <p:sp>
        <p:nvSpPr>
          <p:cNvPr id="46" name="">
            <a:extLst xmlns:a="http://schemas.openxmlformats.org/drawingml/2006/main">
              <a:ext uri="{FF2B5EF4-FFF2-40B4-BE49-F238E27FC236}">
                <a16:creationId xmlns:a16="http://schemas.microsoft.com/office/drawing/2014/main" id="{E23DC7F0-F93E-4368-B1A6-1C93E2522DA1}"/>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683B9D0B-AE2C-4D4E-8E32-47B0CCA93380}"/>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any head-on full-stack bid against Aptiv.</a:t>
            </a:r>
          </a:p>
        </p:txBody>
      </p:sp>
      <p:sp>
        <p:nvSpPr>
          <p:cNvPr id="48" name="">
            <a:extLst xmlns:a="http://schemas.openxmlformats.org/drawingml/2006/main">
              <a:ext uri="{FF2B5EF4-FFF2-40B4-BE49-F238E27FC236}">
                <a16:creationId xmlns:a16="http://schemas.microsoft.com/office/drawing/2014/main" id="{1DA461FD-F54E-4C37-ABB6-C5733D8597C5}"/>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098F8728-09CE-43F5-B55B-E7D840A5066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2A627711-0240-4921-80E5-C92EE4DC6EDA}"/>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35</a:t>
            </a:r>
          </a:p>
        </p:txBody>
      </p:sp>
    </p:spTree>
    <p:extLst>
      <p:ext uri="{BB962C8B-B14F-4D97-AF65-F5344CB8AC3E}">
        <p14:creationId xmlns:p14="http://schemas.microsoft.com/office/powerpoint/2010/main" val="1874742238"/>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F6B2E3A7-3484-45C7-83F4-78B3FE4284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0861879-426C-466A-AD4C-79910E7E3107}"/>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26BAC1E-8924-4C27-868D-61E677F8F82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61394F66-AA08-4CD6-9098-A1973A04E531}"/>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25159BE7-B910-4C0C-B008-2181C319FBBB}"/>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Aptiv Evidence Ladder Profile - Competitive Assessment</a:t>
            </a:r>
          </a:p>
        </p:txBody>
      </p:sp>
      <p:sp>
        <p:nvSpPr>
          <p:cNvPr id="6" name="">
            <a:extLst xmlns:a="http://schemas.openxmlformats.org/drawingml/2006/main">
              <a:ext uri="{FF2B5EF4-FFF2-40B4-BE49-F238E27FC236}">
                <a16:creationId xmlns:a16="http://schemas.microsoft.com/office/drawing/2014/main" id="{96C86753-A9D2-4DF2-86C4-12AD5B9533C0}"/>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CAC4E46-5063-4FC9-8497-904B8ACF3215}"/>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Analyzing Aptiv's India CV ADAS positioning, claims, evidence gaps, and threat exposure</a:t>
            </a:r>
          </a:p>
        </p:txBody>
      </p:sp>
      <p:sp>
        <p:nvSpPr>
          <p:cNvPr id="8" name="">
            <a:extLst xmlns:a="http://schemas.openxmlformats.org/drawingml/2006/main">
              <a:ext uri="{FF2B5EF4-FFF2-40B4-BE49-F238E27FC236}">
                <a16:creationId xmlns:a16="http://schemas.microsoft.com/office/drawing/2014/main" id="{3A294AE8-3303-48AD-A7A5-6BCFFA3A8F5E}"/>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CBAD6B23-1950-4045-B3EB-0B19FFD573F9}"/>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A82339A-EAC8-4440-8D03-3E1C4B3146C8}"/>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399F1ECE-353A-4432-9CB5-D961C63E6F52}"/>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Aptiv's India CV claim rests on global scale and stated local capability with no public India deployment proof. Rate it HIGH in OEM/Tier-1 on relationships and INSUFFICIENT on India-specific deployment.</a:t>
            </a:r>
          </a:p>
        </p:txBody>
      </p:sp>
      <p:sp>
        <p:nvSpPr>
          <p:cNvPr id="12" name="">
            <a:extLst xmlns:a="http://schemas.openxmlformats.org/drawingml/2006/main">
              <a:ext uri="{FF2B5EF4-FFF2-40B4-BE49-F238E27FC236}">
                <a16:creationId xmlns:a16="http://schemas.microsoft.com/office/drawing/2014/main" id="{56614622-ABCD-45C5-B747-BDDAE9CF2140}"/>
              </a:ext>
            </a:extLst>
          </p:cNvPr>
          <p:cNvSpPr>
            <a:spLocks xmlns:a="http://schemas.openxmlformats.org/drawingml/2006/main" noGrp="1"/>
          </p:cNvSpPr>
          <p:nvPr/>
        </p:nvSpPr>
        <p:spPr>
          <a:xfrm xmlns:a="http://schemas.openxmlformats.org/drawingml/2006/main">
            <a:off x="457200" y="18415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1F2CDDD0-5CF6-49A5-930A-B72223BFA908}"/>
              </a:ext>
            </a:extLst>
          </p:cNvPr>
          <p:cNvSpPr>
            <a:spLocks xmlns:a="http://schemas.openxmlformats.org/drawingml/2006/main" noGrp="1"/>
          </p:cNvSpPr>
          <p:nvPr/>
        </p:nvSpPr>
        <p:spPr>
          <a:xfrm xmlns:a="http://schemas.openxmlformats.org/drawingml/2006/main">
            <a:off x="457200" y="1841500"/>
            <a:ext cx="7668768"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5DF9D59-43D5-46B2-BAEB-D5C20C38DDA4}"/>
              </a:ext>
            </a:extLst>
          </p:cNvPr>
          <p:cNvSpPr>
            <a:spLocks xmlns:a="http://schemas.openxmlformats.org/drawingml/2006/main" noGrp="1"/>
          </p:cNvSpPr>
          <p:nvPr/>
        </p:nvSpPr>
        <p:spPr>
          <a:xfrm xmlns:a="http://schemas.openxmlformats.org/drawingml/2006/main">
            <a:off x="457200" y="18415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2191B24-3F14-4D3D-A737-89B89241689D}"/>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APTIV’S 40M+ ACTIVE-SAFETY</a:t>
            </a:r>
          </a:p>
        </p:txBody>
      </p:sp>
      <p:sp>
        <p:nvSpPr>
          <p:cNvPr id="16" name="">
            <a:extLst xmlns:a="http://schemas.openxmlformats.org/drawingml/2006/main">
              <a:ext uri="{FF2B5EF4-FFF2-40B4-BE49-F238E27FC236}">
                <a16:creationId xmlns:a16="http://schemas.microsoft.com/office/drawing/2014/main" id="{F5179A41-2DF2-4B77-A93B-AC1F8761FEB7}"/>
              </a:ext>
            </a:extLst>
          </p:cNvPr>
          <p:cNvSpPr>
            <a:spLocks xmlns:a="http://schemas.openxmlformats.org/drawingml/2006/main" noGrp="1"/>
          </p:cNvSpPr>
          <p:nvPr/>
        </p:nvSpPr>
        <p:spPr>
          <a:xfrm xmlns:a="http://schemas.openxmlformats.org/drawingml/2006/main">
            <a:off x="4067556" y="19177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Aptiv’s 40m+ active-safety footprint is global, not India-specific, but demonstrates a production-software base DeepGrid cannot yet match.</a:t>
            </a:r>
          </a:p>
        </p:txBody>
      </p:sp>
      <p:sp>
        <p:nvSpPr>
          <p:cNvPr id="17" name="">
            <a:extLst xmlns:a="http://schemas.openxmlformats.org/drawingml/2006/main">
              <a:ext uri="{FF2B5EF4-FFF2-40B4-BE49-F238E27FC236}">
                <a16:creationId xmlns:a16="http://schemas.microsoft.com/office/drawing/2014/main" id="{F021E1CA-0DB7-4CF3-8186-6F8F5F071D1E}"/>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ATTRIBUTED CLAIM</a:t>
            </a:r>
          </a:p>
        </p:txBody>
      </p:sp>
      <p:sp>
        <p:nvSpPr>
          <p:cNvPr id="18" name="">
            <a:extLst xmlns:a="http://schemas.openxmlformats.org/drawingml/2006/main">
              <a:ext uri="{FF2B5EF4-FFF2-40B4-BE49-F238E27FC236}">
                <a16:creationId xmlns:a16="http://schemas.microsoft.com/office/drawing/2014/main" id="{F6BF9700-66C8-40EC-B52B-FF77F7577FD3}"/>
              </a:ext>
            </a:extLst>
          </p:cNvPr>
          <p:cNvSpPr>
            <a:spLocks xmlns:a="http://schemas.openxmlformats.org/drawingml/2006/main" noGrp="1"/>
          </p:cNvSpPr>
          <p:nvPr/>
        </p:nvSpPr>
        <p:spPr>
          <a:xfrm xmlns:a="http://schemas.openxmlformats.org/drawingml/2006/main">
            <a:off x="457200" y="26416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8F5A37FD-A8EE-409F-90CA-D18BBA606BE0}"/>
              </a:ext>
            </a:extLst>
          </p:cNvPr>
          <p:cNvSpPr>
            <a:spLocks xmlns:a="http://schemas.openxmlformats.org/drawingml/2006/main" noGrp="1"/>
          </p:cNvSpPr>
          <p:nvPr/>
        </p:nvSpPr>
        <p:spPr>
          <a:xfrm xmlns:a="http://schemas.openxmlformats.org/drawingml/2006/main">
            <a:off x="457200" y="2641600"/>
            <a:ext cx="744321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45D08E1-EDDE-4A40-AF78-F415FC8B4A1A}"/>
              </a:ext>
            </a:extLst>
          </p:cNvPr>
          <p:cNvSpPr>
            <a:spLocks xmlns:a="http://schemas.openxmlformats.org/drawingml/2006/main" noGrp="1"/>
          </p:cNvSpPr>
          <p:nvPr/>
        </p:nvSpPr>
        <p:spPr>
          <a:xfrm xmlns:a="http://schemas.openxmlformats.org/drawingml/2006/main">
            <a:off x="457200" y="26416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77F4E7D-A78A-4779-819D-970F6A682A4D}"/>
              </a:ext>
            </a:extLst>
          </p:cNvPr>
          <p:cNvSpPr>
            <a:spLocks xmlns:a="http://schemas.openxmlformats.org/drawingml/2006/main" noGrp="1"/>
          </p:cNvSpPr>
          <p:nvPr/>
        </p:nvSpPr>
        <p:spPr>
          <a:xfrm xmlns:a="http://schemas.openxmlformats.org/drawingml/2006/main">
            <a:off x="571500" y="27273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APTIV ANNOUNCED THAT A TOP</a:t>
            </a:r>
          </a:p>
        </p:txBody>
      </p:sp>
      <p:sp>
        <p:nvSpPr>
          <p:cNvPr id="22" name="">
            <a:extLst xmlns:a="http://schemas.openxmlformats.org/drawingml/2006/main">
              <a:ext uri="{FF2B5EF4-FFF2-40B4-BE49-F238E27FC236}">
                <a16:creationId xmlns:a16="http://schemas.microsoft.com/office/drawing/2014/main" id="{9FC5578F-3254-43D9-B94D-EC4FCA12E155}"/>
              </a:ext>
            </a:extLst>
          </p:cNvPr>
          <p:cNvSpPr>
            <a:spLocks xmlns:a="http://schemas.openxmlformats.org/drawingml/2006/main" noGrp="1"/>
          </p:cNvSpPr>
          <p:nvPr/>
        </p:nvSpPr>
        <p:spPr>
          <a:xfrm xmlns:a="http://schemas.openxmlformats.org/drawingml/2006/main">
            <a:off x="4067556" y="27178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Aptiv announced that a top global CV OEM selected Gen 6 and linked the programme to India capacity.</a:t>
            </a:r>
          </a:p>
        </p:txBody>
      </p:sp>
      <p:sp>
        <p:nvSpPr>
          <p:cNvPr id="23" name="">
            <a:extLst xmlns:a="http://schemas.openxmlformats.org/drawingml/2006/main">
              <a:ext uri="{FF2B5EF4-FFF2-40B4-BE49-F238E27FC236}">
                <a16:creationId xmlns:a16="http://schemas.microsoft.com/office/drawing/2014/main" id="{E468A6C4-AD14-4375-87FA-DDC5B1604CD4}"/>
              </a:ext>
            </a:extLst>
          </p:cNvPr>
          <p:cNvSpPr>
            <a:spLocks xmlns:a="http://schemas.openxmlformats.org/drawingml/2006/main" noGrp="1"/>
          </p:cNvSpPr>
          <p:nvPr/>
        </p:nvSpPr>
        <p:spPr>
          <a:xfrm xmlns:a="http://schemas.openxmlformats.org/drawingml/2006/main">
            <a:off x="9816084" y="27273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ATTRIBUTED CLAIM</a:t>
            </a:r>
          </a:p>
        </p:txBody>
      </p:sp>
      <p:sp>
        <p:nvSpPr>
          <p:cNvPr id="24" name="">
            <a:extLst xmlns:a="http://schemas.openxmlformats.org/drawingml/2006/main">
              <a:ext uri="{FF2B5EF4-FFF2-40B4-BE49-F238E27FC236}">
                <a16:creationId xmlns:a16="http://schemas.microsoft.com/office/drawing/2014/main" id="{C6F9C1C6-7AE5-4710-81E5-5DCAE343BDA3}"/>
              </a:ext>
            </a:extLst>
          </p:cNvPr>
          <p:cNvSpPr>
            <a:spLocks xmlns:a="http://schemas.openxmlformats.org/drawingml/2006/main" noGrp="1"/>
          </p:cNvSpPr>
          <p:nvPr/>
        </p:nvSpPr>
        <p:spPr>
          <a:xfrm xmlns:a="http://schemas.openxmlformats.org/drawingml/2006/main">
            <a:off x="457200" y="34417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41090518-3BBB-460A-9867-384366A9CD46}"/>
              </a:ext>
            </a:extLst>
          </p:cNvPr>
          <p:cNvSpPr>
            <a:spLocks xmlns:a="http://schemas.openxmlformats.org/drawingml/2006/main" noGrp="1"/>
          </p:cNvSpPr>
          <p:nvPr/>
        </p:nvSpPr>
        <p:spPr>
          <a:xfrm xmlns:a="http://schemas.openxmlformats.org/drawingml/2006/main">
            <a:off x="457200" y="34417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D6D0D42-E9BE-4CC9-BB88-CCF688059AE5}"/>
              </a:ext>
            </a:extLst>
          </p:cNvPr>
          <p:cNvSpPr>
            <a:spLocks xmlns:a="http://schemas.openxmlformats.org/drawingml/2006/main" noGrp="1"/>
          </p:cNvSpPr>
          <p:nvPr/>
        </p:nvSpPr>
        <p:spPr>
          <a:xfrm xmlns:a="http://schemas.openxmlformats.org/drawingml/2006/main">
            <a:off x="457200" y="34417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8B62532-753D-4D76-9318-F706014AABCA}"/>
              </a:ext>
            </a:extLst>
          </p:cNvPr>
          <p:cNvSpPr>
            <a:spLocks xmlns:a="http://schemas.openxmlformats.org/drawingml/2006/main" noGrp="1"/>
          </p:cNvSpPr>
          <p:nvPr/>
        </p:nvSpPr>
        <p:spPr>
          <a:xfrm xmlns:a="http://schemas.openxmlformats.org/drawingml/2006/main">
            <a:off x="571500" y="3527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DEEPGRID NEEDS A MEASURABLE</a:t>
            </a:r>
          </a:p>
        </p:txBody>
      </p:sp>
      <p:sp>
        <p:nvSpPr>
          <p:cNvPr id="28" name="">
            <a:extLst xmlns:a="http://schemas.openxmlformats.org/drawingml/2006/main">
              <a:ext uri="{FF2B5EF4-FFF2-40B4-BE49-F238E27FC236}">
                <a16:creationId xmlns:a16="http://schemas.microsoft.com/office/drawing/2014/main" id="{D7D6E801-9732-4039-A374-15286CD8CE5E}"/>
              </a:ext>
            </a:extLst>
          </p:cNvPr>
          <p:cNvSpPr>
            <a:spLocks xmlns:a="http://schemas.openxmlformats.org/drawingml/2006/main" noGrp="1"/>
          </p:cNvSpPr>
          <p:nvPr/>
        </p:nvSpPr>
        <p:spPr>
          <a:xfrm xmlns:a="http://schemas.openxmlformats.org/drawingml/2006/main">
            <a:off x="4067556" y="35179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DeepGrid needs a measurable wedge—India-specific VRU classes or cost/power on constrained compute—that survives an equal-scope benchmark against Apti…</a:t>
            </a:r>
          </a:p>
        </p:txBody>
      </p:sp>
      <p:sp>
        <p:nvSpPr>
          <p:cNvPr id="29" name="">
            <a:extLst xmlns:a="http://schemas.openxmlformats.org/drawingml/2006/main">
              <a:ext uri="{FF2B5EF4-FFF2-40B4-BE49-F238E27FC236}">
                <a16:creationId xmlns:a16="http://schemas.microsoft.com/office/drawing/2014/main" id="{601FBD3F-87E5-49F9-841E-983E27739E85}"/>
              </a:ext>
            </a:extLst>
          </p:cNvPr>
          <p:cNvSpPr>
            <a:spLocks xmlns:a="http://schemas.openxmlformats.org/drawingml/2006/main" noGrp="1"/>
          </p:cNvSpPr>
          <p:nvPr/>
        </p:nvSpPr>
        <p:spPr>
          <a:xfrm xmlns:a="http://schemas.openxmlformats.org/drawingml/2006/main">
            <a:off x="9816084" y="3527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DC8F2DB4-9A24-42BC-8682-CCE0C854B407}"/>
              </a:ext>
            </a:extLst>
          </p:cNvPr>
          <p:cNvSpPr>
            <a:spLocks xmlns:a="http://schemas.openxmlformats.org/drawingml/2006/main" noGrp="1"/>
          </p:cNvSpPr>
          <p:nvPr/>
        </p:nvSpPr>
        <p:spPr>
          <a:xfrm xmlns:a="http://schemas.openxmlformats.org/drawingml/2006/main">
            <a:off x="457200" y="42418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F5EBD2A8-23BB-40DC-82D9-0EC1D7D959BD}"/>
              </a:ext>
            </a:extLst>
          </p:cNvPr>
          <p:cNvSpPr>
            <a:spLocks xmlns:a="http://schemas.openxmlformats.org/drawingml/2006/main" noGrp="1"/>
          </p:cNvSpPr>
          <p:nvPr/>
        </p:nvSpPr>
        <p:spPr>
          <a:xfrm xmlns:a="http://schemas.openxmlformats.org/drawingml/2006/main">
            <a:off x="457200" y="42418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71DF728-A0CF-4D6B-9D4D-4034C4D0A495}"/>
              </a:ext>
            </a:extLst>
          </p:cNvPr>
          <p:cNvSpPr>
            <a:spLocks xmlns:a="http://schemas.openxmlformats.org/drawingml/2006/main" noGrp="1"/>
          </p:cNvSpPr>
          <p:nvPr/>
        </p:nvSpPr>
        <p:spPr>
          <a:xfrm xmlns:a="http://schemas.openxmlformats.org/drawingml/2006/main">
            <a:off x="457200" y="4241800"/>
            <a:ext cx="28575" cy="733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12A093F-2CF3-4777-8E81-F5DDC80CF85C}"/>
              </a:ext>
            </a:extLst>
          </p:cNvPr>
          <p:cNvSpPr>
            <a:spLocks xmlns:a="http://schemas.openxmlformats.org/drawingml/2006/main" noGrp="1"/>
          </p:cNvSpPr>
          <p:nvPr/>
        </p:nvSpPr>
        <p:spPr>
          <a:xfrm xmlns:a="http://schemas.openxmlformats.org/drawingml/2006/main">
            <a:off x="571500" y="43275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APTIV CAN BUNDLE RADAR</a:t>
            </a:r>
          </a:p>
        </p:txBody>
      </p:sp>
      <p:sp>
        <p:nvSpPr>
          <p:cNvPr id="34" name="">
            <a:extLst xmlns:a="http://schemas.openxmlformats.org/drawingml/2006/main">
              <a:ext uri="{FF2B5EF4-FFF2-40B4-BE49-F238E27FC236}">
                <a16:creationId xmlns:a16="http://schemas.microsoft.com/office/drawing/2014/main" id="{F6D1BAC3-F91B-44E1-ABB2-9F63967F5EBD}"/>
              </a:ext>
            </a:extLst>
          </p:cNvPr>
          <p:cNvSpPr>
            <a:spLocks xmlns:a="http://schemas.openxmlformats.org/drawingml/2006/main" noGrp="1"/>
          </p:cNvSpPr>
          <p:nvPr/>
        </p:nvSpPr>
        <p:spPr>
          <a:xfrm xmlns:a="http://schemas.openxmlformats.org/drawingml/2006/main">
            <a:off x="4067556" y="43180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Aptiv can bundle radar, smart camera, STRADVISION perception, ECU, application engineering and manufacturing into one nominated architecture across m…</a:t>
            </a:r>
          </a:p>
        </p:txBody>
      </p:sp>
      <p:sp>
        <p:nvSpPr>
          <p:cNvPr id="35" name="">
            <a:extLst xmlns:a="http://schemas.openxmlformats.org/drawingml/2006/main">
              <a:ext uri="{FF2B5EF4-FFF2-40B4-BE49-F238E27FC236}">
                <a16:creationId xmlns:a16="http://schemas.microsoft.com/office/drawing/2014/main" id="{E472ADF3-2009-4177-949E-766FCBEDC9D2}"/>
              </a:ext>
            </a:extLst>
          </p:cNvPr>
          <p:cNvSpPr>
            <a:spLocks xmlns:a="http://schemas.openxmlformats.org/drawingml/2006/main" noGrp="1"/>
          </p:cNvSpPr>
          <p:nvPr/>
        </p:nvSpPr>
        <p:spPr>
          <a:xfrm xmlns:a="http://schemas.openxmlformats.org/drawingml/2006/main">
            <a:off x="9816084" y="43275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055A362D-9E70-4AAB-A05A-EEB61DD5C019}"/>
              </a:ext>
            </a:extLst>
          </p:cNvPr>
          <p:cNvSpPr>
            <a:spLocks xmlns:a="http://schemas.openxmlformats.org/drawingml/2006/main" noGrp="1"/>
          </p:cNvSpPr>
          <p:nvPr/>
        </p:nvSpPr>
        <p:spPr>
          <a:xfrm xmlns:a="http://schemas.openxmlformats.org/drawingml/2006/main">
            <a:off x="457200" y="508952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DD3EB463-84E8-4BCA-BA41-F78A5D80FDEA}"/>
              </a:ext>
            </a:extLst>
          </p:cNvPr>
          <p:cNvSpPr>
            <a:spLocks xmlns:a="http://schemas.openxmlformats.org/drawingml/2006/main" noGrp="1"/>
          </p:cNvSpPr>
          <p:nvPr/>
        </p:nvSpPr>
        <p:spPr>
          <a:xfrm xmlns:a="http://schemas.openxmlformats.org/drawingml/2006/main">
            <a:off x="457200" y="508952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3641476-DB5F-4F30-AD02-524F565EF861}"/>
              </a:ext>
            </a:extLst>
          </p:cNvPr>
          <p:cNvSpPr>
            <a:spLocks xmlns:a="http://schemas.openxmlformats.org/drawingml/2006/main" noGrp="1"/>
          </p:cNvSpPr>
          <p:nvPr/>
        </p:nvSpPr>
        <p:spPr>
          <a:xfrm xmlns:a="http://schemas.openxmlformats.org/drawingml/2006/main">
            <a:off x="581025" y="5156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0B616BA4-04D1-42AA-923F-EB25F2CE21DC}"/>
              </a:ext>
            </a:extLst>
          </p:cNvPr>
          <p:cNvSpPr>
            <a:spLocks xmlns:a="http://schemas.openxmlformats.org/drawingml/2006/main" noGrp="1"/>
          </p:cNvSpPr>
          <p:nvPr/>
        </p:nvSpPr>
        <p:spPr>
          <a:xfrm xmlns:a="http://schemas.openxmlformats.org/drawingml/2006/main">
            <a:off x="581025" y="53054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an India CV deployment or nomination is confirmed by an OEM or a filing rather than by Aptiv's own material.</a:t>
            </a:r>
          </a:p>
        </p:txBody>
      </p:sp>
      <p:sp>
        <p:nvSpPr>
          <p:cNvPr id="40" name="">
            <a:extLst xmlns:a="http://schemas.openxmlformats.org/drawingml/2006/main">
              <a:ext uri="{FF2B5EF4-FFF2-40B4-BE49-F238E27FC236}">
                <a16:creationId xmlns:a16="http://schemas.microsoft.com/office/drawing/2014/main" id="{47C0005D-A8FF-4483-B39F-246A66C57210}"/>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656ECA9F-0502-4A5C-839C-F8FE66A341D6}"/>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4D282621-0DA2-433A-9B62-52705AACFACC}"/>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67D581DA-F7AC-4015-9BF4-CCDCC1C72257}"/>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Strategy:  Leverage India-specific perception capabilities and local support.  Tactics:  1) Document cost advantage vs Aptiv, 2) Build OEM partnerships, 3) Demonstrate…</a:t>
            </a:r>
          </a:p>
        </p:txBody>
      </p:sp>
      <p:sp>
        <p:nvSpPr>
          <p:cNvPr id="44" name="">
            <a:extLst xmlns:a="http://schemas.openxmlformats.org/drawingml/2006/main">
              <a:ext uri="{FF2B5EF4-FFF2-40B4-BE49-F238E27FC236}">
                <a16:creationId xmlns:a16="http://schemas.microsoft.com/office/drawing/2014/main" id="{521BBDDD-038B-4412-9DF4-D1CD465DACE0}"/>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B4C9F4DC-BBBF-459A-832E-6B6702EEABF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Aptiv India CV programme disclosure.</a:t>
            </a:r>
          </a:p>
        </p:txBody>
      </p:sp>
      <p:sp>
        <p:nvSpPr>
          <p:cNvPr id="46" name="">
            <a:extLst xmlns:a="http://schemas.openxmlformats.org/drawingml/2006/main">
              <a:ext uri="{FF2B5EF4-FFF2-40B4-BE49-F238E27FC236}">
                <a16:creationId xmlns:a16="http://schemas.microsoft.com/office/drawing/2014/main" id="{3B320216-BF65-47F3-89BA-B53B5B4BDAC0}"/>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843D6EAE-9482-4E58-B152-79C14D751B0F}"/>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rating Aptiv's India deployment as proven in any internal document.</a:t>
            </a:r>
          </a:p>
        </p:txBody>
      </p:sp>
      <p:sp>
        <p:nvSpPr>
          <p:cNvPr id="48" name="">
            <a:extLst xmlns:a="http://schemas.openxmlformats.org/drawingml/2006/main">
              <a:ext uri="{FF2B5EF4-FFF2-40B4-BE49-F238E27FC236}">
                <a16:creationId xmlns:a16="http://schemas.microsoft.com/office/drawing/2014/main" id="{6847781D-2A20-4BDE-BD32-EFCF3B2CAF3C}"/>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1D0807BE-5902-4E1D-AF29-EF00A7E72ED9}"/>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87D6A24C-99C9-4C59-8F46-FE08F26AF91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36</a:t>
            </a:r>
          </a:p>
        </p:txBody>
      </p:sp>
    </p:spTree>
    <p:extLst>
      <p:ext uri="{BB962C8B-B14F-4D97-AF65-F5344CB8AC3E}">
        <p14:creationId xmlns:p14="http://schemas.microsoft.com/office/powerpoint/2010/main" val="128321102"/>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165839C4-0360-48A8-BC89-4EFEEF118D8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98EC710-1F1E-4A4F-AAC1-FF8D0D1A83A1}"/>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DF4CE83-9459-405A-BDBD-D39B02471559}"/>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C404BBDB-906C-4B80-93E8-9EC7A8EB3B99}"/>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2885399B-77F8-4C0E-826C-10E878DC7A52}"/>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Aptiv threat: highest in N2/N3 OEM buying; government and fleet lower</a:t>
            </a:r>
          </a:p>
        </p:txBody>
      </p:sp>
      <p:sp>
        <p:nvSpPr>
          <p:cNvPr id="6" name="">
            <a:extLst xmlns:a="http://schemas.openxmlformats.org/drawingml/2006/main">
              <a:ext uri="{FF2B5EF4-FFF2-40B4-BE49-F238E27FC236}">
                <a16:creationId xmlns:a16="http://schemas.microsoft.com/office/drawing/2014/main" id="{53CB7C73-10C0-4F82-9CA9-04333A45BFB6}"/>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6C3DF63-E4E3-41C1-9054-43C0F426371A}"/>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Aptiv's threat change by buying arena, and where should DeepGrid focus competitive monitoring?</a:t>
            </a:r>
          </a:p>
        </p:txBody>
      </p:sp>
      <p:sp>
        <p:nvSpPr>
          <p:cNvPr id="8" name="">
            <a:extLst xmlns:a="http://schemas.openxmlformats.org/drawingml/2006/main">
              <a:ext uri="{FF2B5EF4-FFF2-40B4-BE49-F238E27FC236}">
                <a16:creationId xmlns:a16="http://schemas.microsoft.com/office/drawing/2014/main" id="{0BBAC8A5-A94D-4170-B708-1F226B105458}"/>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B64074C6-6517-4A0B-AFBD-A0893A1C0589}"/>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AC54987-F323-4F35-B64A-C3D650E09CA9}"/>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11227BE2-97E6-4788-879F-CE78E189C20A}"/>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Aptiv's threat is highest in N2/N3 OEM buying, where factory nomination decides, and lower in government and fleet where it has limited presence.</a:t>
            </a:r>
          </a:p>
        </p:txBody>
      </p:sp>
      <p:sp>
        <p:nvSpPr>
          <p:cNvPr id="12" name="">
            <a:extLst xmlns:a="http://schemas.openxmlformats.org/drawingml/2006/main">
              <a:ext uri="{FF2B5EF4-FFF2-40B4-BE49-F238E27FC236}">
                <a16:creationId xmlns:a16="http://schemas.microsoft.com/office/drawing/2014/main" id="{231D56C2-F157-495B-A287-4D281F5E58C3}"/>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72FBCDF-2D9B-4DC5-B859-51D9AF18859C}"/>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138B66A8-FAFC-45B8-BDE6-A650073A7AB1}"/>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37625FA1-1154-401E-BED0-88709FA148C0}"/>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A75E7C56-4CF0-44DF-B992-882D5BA473D3}"/>
              </a:ext>
            </a:extLst>
          </p:cNvPr>
          <p:cNvSpPr>
            <a:spLocks xmlns:a="http://schemas.openxmlformats.org/drawingml/2006/main" noGrp="1"/>
          </p:cNvSpPr>
          <p:nvPr/>
        </p:nvSpPr>
        <p:spPr>
          <a:xfrm xmlns:a="http://schemas.openxmlformats.org/drawingml/2006/main">
            <a:off x="457200" y="2089150"/>
            <a:ext cx="2255520" cy="1257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36B43C72-7EBF-46BA-A73F-39E8C33D255B}"/>
              </a:ext>
            </a:extLst>
          </p:cNvPr>
          <p:cNvSpPr>
            <a:spLocks xmlns:a="http://schemas.openxmlformats.org/drawingml/2006/main" noGrp="1"/>
          </p:cNvSpPr>
          <p:nvPr/>
        </p:nvSpPr>
        <p:spPr>
          <a:xfrm xmlns:a="http://schemas.openxmlformats.org/drawingml/2006/main">
            <a:off x="552450" y="2203450"/>
            <a:ext cx="210312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N2/N3 OEM</a:t>
            </a:r>
          </a:p>
        </p:txBody>
      </p:sp>
      <p:sp>
        <p:nvSpPr>
          <p:cNvPr id="18" name="">
            <a:extLst xmlns:a="http://schemas.openxmlformats.org/drawingml/2006/main">
              <a:ext uri="{FF2B5EF4-FFF2-40B4-BE49-F238E27FC236}">
                <a16:creationId xmlns:a16="http://schemas.microsoft.com/office/drawing/2014/main" id="{D6AFF160-9A67-4A73-A440-0B1A37836492}"/>
              </a:ext>
            </a:extLst>
          </p:cNvPr>
          <p:cNvSpPr>
            <a:spLocks xmlns:a="http://schemas.openxmlformats.org/drawingml/2006/main" noGrp="1"/>
          </p:cNvSpPr>
          <p:nvPr/>
        </p:nvSpPr>
        <p:spPr>
          <a:xfrm xmlns:a="http://schemas.openxmlformats.org/drawingml/2006/main">
            <a:off x="274129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348AEE09-AECB-4254-8826-BEE2FD470496}"/>
              </a:ext>
            </a:extLst>
          </p:cNvPr>
          <p:cNvSpPr>
            <a:spLocks xmlns:a="http://schemas.openxmlformats.org/drawingml/2006/main" noGrp="1"/>
          </p:cNvSpPr>
          <p:nvPr/>
        </p:nvSpPr>
        <p:spPr>
          <a:xfrm xmlns:a="http://schemas.openxmlformats.org/drawingml/2006/main">
            <a:off x="2741295" y="21177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F6CF6E0-38B2-4203-B76A-97C4F01CF5C0}"/>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21" name="">
            <a:extLst xmlns:a="http://schemas.openxmlformats.org/drawingml/2006/main">
              <a:ext uri="{FF2B5EF4-FFF2-40B4-BE49-F238E27FC236}">
                <a16:creationId xmlns:a16="http://schemas.microsoft.com/office/drawing/2014/main" id="{49D75667-D7DB-4152-9E6D-EA6611742C2B}"/>
              </a:ext>
            </a:extLst>
          </p:cNvPr>
          <p:cNvSpPr>
            <a:spLocks xmlns:a="http://schemas.openxmlformats.org/drawingml/2006/main" noGrp="1"/>
          </p:cNvSpPr>
          <p:nvPr/>
        </p:nvSpPr>
        <p:spPr>
          <a:xfrm xmlns:a="http://schemas.openxmlformats.org/drawingml/2006/main">
            <a:off x="281749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govt contracts</a:t>
            </a:r>
          </a:p>
        </p:txBody>
      </p:sp>
      <p:sp>
        <p:nvSpPr>
          <p:cNvPr id="22" name="">
            <a:extLst xmlns:a="http://schemas.openxmlformats.org/drawingml/2006/main">
              <a:ext uri="{FF2B5EF4-FFF2-40B4-BE49-F238E27FC236}">
                <a16:creationId xmlns:a16="http://schemas.microsoft.com/office/drawing/2014/main" id="{B811A1BF-4029-4859-A97E-C9F0AD5E709B}"/>
              </a:ext>
            </a:extLst>
          </p:cNvPr>
          <p:cNvSpPr>
            <a:spLocks xmlns:a="http://schemas.openxmlformats.org/drawingml/2006/main" noGrp="1"/>
          </p:cNvSpPr>
          <p:nvPr/>
        </p:nvSpPr>
        <p:spPr>
          <a:xfrm xmlns:a="http://schemas.openxmlformats.org/drawingml/2006/main">
            <a:off x="574865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2CC4E336-2796-4816-A83D-340EBF1F08DF}"/>
              </a:ext>
            </a:extLst>
          </p:cNvPr>
          <p:cNvSpPr>
            <a:spLocks xmlns:a="http://schemas.openxmlformats.org/drawingml/2006/main" noGrp="1"/>
          </p:cNvSpPr>
          <p:nvPr/>
        </p:nvSpPr>
        <p:spPr>
          <a:xfrm xmlns:a="http://schemas.openxmlformats.org/drawingml/2006/main">
            <a:off x="5748655" y="2117725"/>
            <a:ext cx="295021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87C487C-F5BA-471B-B257-E70FEAE9DEEA}"/>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HIGHEST</a:t>
            </a:r>
          </a:p>
        </p:txBody>
      </p:sp>
      <p:sp>
        <p:nvSpPr>
          <p:cNvPr id="25" name="">
            <a:extLst xmlns:a="http://schemas.openxmlformats.org/drawingml/2006/main">
              <a:ext uri="{FF2B5EF4-FFF2-40B4-BE49-F238E27FC236}">
                <a16:creationId xmlns:a16="http://schemas.microsoft.com/office/drawing/2014/main" id="{24D9071E-50C6-4BA6-A48D-8BD945270F33}"/>
              </a:ext>
            </a:extLst>
          </p:cNvPr>
          <p:cNvSpPr>
            <a:spLocks xmlns:a="http://schemas.openxmlformats.org/drawingml/2006/main" noGrp="1"/>
          </p:cNvSpPr>
          <p:nvPr/>
        </p:nvSpPr>
        <p:spPr>
          <a:xfrm xmlns:a="http://schemas.openxmlformats.org/drawingml/2006/main">
            <a:off x="582485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Accountable integration</a:t>
            </a:r>
          </a:p>
        </p:txBody>
      </p:sp>
      <p:sp>
        <p:nvSpPr>
          <p:cNvPr id="26" name="">
            <a:extLst xmlns:a="http://schemas.openxmlformats.org/drawingml/2006/main">
              <a:ext uri="{FF2B5EF4-FFF2-40B4-BE49-F238E27FC236}">
                <a16:creationId xmlns:a16="http://schemas.microsoft.com/office/drawing/2014/main" id="{ADD31FA1-32DA-4090-B77F-C0F7130A48C7}"/>
              </a:ext>
            </a:extLst>
          </p:cNvPr>
          <p:cNvSpPr>
            <a:spLocks xmlns:a="http://schemas.openxmlformats.org/drawingml/2006/main" noGrp="1"/>
          </p:cNvSpPr>
          <p:nvPr/>
        </p:nvSpPr>
        <p:spPr>
          <a:xfrm xmlns:a="http://schemas.openxmlformats.org/drawingml/2006/main">
            <a:off x="875601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4C4C32D1-0B84-4F47-9BDA-5E0F69435874}"/>
              </a:ext>
            </a:extLst>
          </p:cNvPr>
          <p:cNvSpPr>
            <a:spLocks xmlns:a="http://schemas.openxmlformats.org/drawingml/2006/main" noGrp="1"/>
          </p:cNvSpPr>
          <p:nvPr/>
        </p:nvSpPr>
        <p:spPr>
          <a:xfrm xmlns:a="http://schemas.openxmlformats.org/drawingml/2006/main">
            <a:off x="8756015" y="21177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2FA2228-6E9C-4E91-B94C-CCE8772ED289}"/>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29" name="">
            <a:extLst xmlns:a="http://schemas.openxmlformats.org/drawingml/2006/main">
              <a:ext uri="{FF2B5EF4-FFF2-40B4-BE49-F238E27FC236}">
                <a16:creationId xmlns:a16="http://schemas.microsoft.com/office/drawing/2014/main" id="{FBB8A0D2-6478-45C3-8397-C5032C7EF40C}"/>
              </a:ext>
            </a:extLst>
          </p:cNvPr>
          <p:cNvSpPr>
            <a:spLocks xmlns:a="http://schemas.openxmlformats.org/drawingml/2006/main" noGrp="1"/>
          </p:cNvSpPr>
          <p:nvPr/>
        </p:nvSpPr>
        <p:spPr>
          <a:xfrm xmlns:a="http://schemas.openxmlformats.org/drawingml/2006/main">
            <a:off x="883221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Aftermarket fit lower</a:t>
            </a:r>
          </a:p>
        </p:txBody>
      </p:sp>
      <p:sp>
        <p:nvSpPr>
          <p:cNvPr id="30" name="">
            <a:extLst xmlns:a="http://schemas.openxmlformats.org/drawingml/2006/main">
              <a:ext uri="{FF2B5EF4-FFF2-40B4-BE49-F238E27FC236}">
                <a16:creationId xmlns:a16="http://schemas.microsoft.com/office/drawing/2014/main" id="{84958F70-C375-4325-8622-157B29CE1AEB}"/>
              </a:ext>
            </a:extLst>
          </p:cNvPr>
          <p:cNvSpPr>
            <a:spLocks xmlns:a="http://schemas.openxmlformats.org/drawingml/2006/main" noGrp="1"/>
          </p:cNvSpPr>
          <p:nvPr/>
        </p:nvSpPr>
        <p:spPr>
          <a:xfrm xmlns:a="http://schemas.openxmlformats.org/drawingml/2006/main">
            <a:off x="457200" y="3346450"/>
            <a:ext cx="2255520" cy="1257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6B6FC7FA-67F6-4A0C-BE81-0E8A1A4E3A92}"/>
              </a:ext>
            </a:extLst>
          </p:cNvPr>
          <p:cNvSpPr>
            <a:spLocks xmlns:a="http://schemas.openxmlformats.org/drawingml/2006/main" noGrp="1"/>
          </p:cNvSpPr>
          <p:nvPr/>
        </p:nvSpPr>
        <p:spPr>
          <a:xfrm xmlns:a="http://schemas.openxmlformats.org/drawingml/2006/main">
            <a:off x="552450" y="3460750"/>
            <a:ext cx="210312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STRADVISION</a:t>
            </a:r>
          </a:p>
        </p:txBody>
      </p:sp>
      <p:sp>
        <p:nvSpPr>
          <p:cNvPr id="32" name="">
            <a:extLst xmlns:a="http://schemas.openxmlformats.org/drawingml/2006/main">
              <a:ext uri="{FF2B5EF4-FFF2-40B4-BE49-F238E27FC236}">
                <a16:creationId xmlns:a16="http://schemas.microsoft.com/office/drawing/2014/main" id="{BE339176-12C5-4F24-8BC5-EEB3E5ED1122}"/>
              </a:ext>
            </a:extLst>
          </p:cNvPr>
          <p:cNvSpPr>
            <a:spLocks xmlns:a="http://schemas.openxmlformats.org/drawingml/2006/main" noGrp="1"/>
          </p:cNvSpPr>
          <p:nvPr/>
        </p:nvSpPr>
        <p:spPr>
          <a:xfrm xmlns:a="http://schemas.openxmlformats.org/drawingml/2006/main">
            <a:off x="274129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3" name="">
            <a:extLst xmlns:a="http://schemas.openxmlformats.org/drawingml/2006/main">
              <a:ext uri="{FF2B5EF4-FFF2-40B4-BE49-F238E27FC236}">
                <a16:creationId xmlns:a16="http://schemas.microsoft.com/office/drawing/2014/main" id="{69947FAE-8277-4407-9F18-4F174C0DF0D9}"/>
              </a:ext>
            </a:extLst>
          </p:cNvPr>
          <p:cNvSpPr>
            <a:spLocks xmlns:a="http://schemas.openxmlformats.org/drawingml/2006/main" noGrp="1"/>
          </p:cNvSpPr>
          <p:nvPr/>
        </p:nvSpPr>
        <p:spPr>
          <a:xfrm xmlns:a="http://schemas.openxmlformats.org/drawingml/2006/main">
            <a:off x="2741295" y="33750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08A0C258-FA91-4A65-8434-48D7BF365DC4}"/>
              </a:ext>
            </a:extLst>
          </p:cNvPr>
          <p:cNvSpPr>
            <a:spLocks xmlns:a="http://schemas.openxmlformats.org/drawingml/2006/main" noGrp="1"/>
          </p:cNvSpPr>
          <p:nvPr/>
        </p:nvSpPr>
        <p:spPr>
          <a:xfrm xmlns:a="http://schemas.openxmlformats.org/drawingml/2006/main">
            <a:off x="281749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35" name="">
            <a:extLst xmlns:a="http://schemas.openxmlformats.org/drawingml/2006/main">
              <a:ext uri="{FF2B5EF4-FFF2-40B4-BE49-F238E27FC236}">
                <a16:creationId xmlns:a16="http://schemas.microsoft.com/office/drawing/2014/main" id="{C417EAA6-98B6-4769-B960-FB4E85A7F213}"/>
              </a:ext>
            </a:extLst>
          </p:cNvPr>
          <p:cNvSpPr>
            <a:spLocks xmlns:a="http://schemas.openxmlformats.org/drawingml/2006/main" noGrp="1"/>
          </p:cNvSpPr>
          <p:nvPr/>
        </p:nvSpPr>
        <p:spPr>
          <a:xfrm xmlns:a="http://schemas.openxmlformats.org/drawingml/2006/main">
            <a:off x="281749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govt presence</a:t>
            </a:r>
          </a:p>
        </p:txBody>
      </p:sp>
      <p:sp>
        <p:nvSpPr>
          <p:cNvPr id="36" name="">
            <a:extLst xmlns:a="http://schemas.openxmlformats.org/drawingml/2006/main">
              <a:ext uri="{FF2B5EF4-FFF2-40B4-BE49-F238E27FC236}">
                <a16:creationId xmlns:a16="http://schemas.microsoft.com/office/drawing/2014/main" id="{6D3AC05A-1AE2-4A82-BF8D-135606394E26}"/>
              </a:ext>
            </a:extLst>
          </p:cNvPr>
          <p:cNvSpPr>
            <a:spLocks xmlns:a="http://schemas.openxmlformats.org/drawingml/2006/main" noGrp="1"/>
          </p:cNvSpPr>
          <p:nvPr/>
        </p:nvSpPr>
        <p:spPr>
          <a:xfrm xmlns:a="http://schemas.openxmlformats.org/drawingml/2006/main">
            <a:off x="574865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D4A3E5AD-908A-4F2E-864D-4A22B58C729B}"/>
              </a:ext>
            </a:extLst>
          </p:cNvPr>
          <p:cNvSpPr>
            <a:spLocks xmlns:a="http://schemas.openxmlformats.org/drawingml/2006/main" noGrp="1"/>
          </p:cNvSpPr>
          <p:nvPr/>
        </p:nvSpPr>
        <p:spPr>
          <a:xfrm xmlns:a="http://schemas.openxmlformats.org/drawingml/2006/main">
            <a:off x="574865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27A66972-1E4C-476A-ACAD-D1102DA1F489}"/>
              </a:ext>
            </a:extLst>
          </p:cNvPr>
          <p:cNvSpPr>
            <a:spLocks xmlns:a="http://schemas.openxmlformats.org/drawingml/2006/main" noGrp="1"/>
          </p:cNvSpPr>
          <p:nvPr/>
        </p:nvSpPr>
        <p:spPr>
          <a:xfrm xmlns:a="http://schemas.openxmlformats.org/drawingml/2006/main">
            <a:off x="582485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39" name="">
            <a:extLst xmlns:a="http://schemas.openxmlformats.org/drawingml/2006/main">
              <a:ext uri="{FF2B5EF4-FFF2-40B4-BE49-F238E27FC236}">
                <a16:creationId xmlns:a16="http://schemas.microsoft.com/office/drawing/2014/main" id="{E0A10E52-8BB8-40DC-BE8C-A4D56E555ADE}"/>
              </a:ext>
            </a:extLst>
          </p:cNvPr>
          <p:cNvSpPr>
            <a:spLocks xmlns:a="http://schemas.openxmlformats.org/drawingml/2006/main" noGrp="1"/>
          </p:cNvSpPr>
          <p:nvPr/>
        </p:nvSpPr>
        <p:spPr>
          <a:xfrm xmlns:a="http://schemas.openxmlformats.org/drawingml/2006/main">
            <a:off x="582485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Tier-2 software</a:t>
            </a:r>
          </a:p>
        </p:txBody>
      </p:sp>
      <p:sp>
        <p:nvSpPr>
          <p:cNvPr id="40" name="">
            <a:extLst xmlns:a="http://schemas.openxmlformats.org/drawingml/2006/main">
              <a:ext uri="{FF2B5EF4-FFF2-40B4-BE49-F238E27FC236}">
                <a16:creationId xmlns:a16="http://schemas.microsoft.com/office/drawing/2014/main" id="{CBECA8FF-054A-411A-A5A2-D5F0FAF1F15A}"/>
              </a:ext>
            </a:extLst>
          </p:cNvPr>
          <p:cNvSpPr>
            <a:spLocks xmlns:a="http://schemas.openxmlformats.org/drawingml/2006/main" noGrp="1"/>
          </p:cNvSpPr>
          <p:nvPr/>
        </p:nvSpPr>
        <p:spPr>
          <a:xfrm xmlns:a="http://schemas.openxmlformats.org/drawingml/2006/main">
            <a:off x="875601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1" name="">
            <a:extLst xmlns:a="http://schemas.openxmlformats.org/drawingml/2006/main">
              <a:ext uri="{FF2B5EF4-FFF2-40B4-BE49-F238E27FC236}">
                <a16:creationId xmlns:a16="http://schemas.microsoft.com/office/drawing/2014/main" id="{82046609-780D-4EDF-B033-8A2BFBF5533C}"/>
              </a:ext>
            </a:extLst>
          </p:cNvPr>
          <p:cNvSpPr>
            <a:spLocks xmlns:a="http://schemas.openxmlformats.org/drawingml/2006/main" noGrp="1"/>
          </p:cNvSpPr>
          <p:nvPr/>
        </p:nvSpPr>
        <p:spPr>
          <a:xfrm xmlns:a="http://schemas.openxmlformats.org/drawingml/2006/main">
            <a:off x="875601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E7FF735A-BEDF-4D87-911C-B4C511783166}"/>
              </a:ext>
            </a:extLst>
          </p:cNvPr>
          <p:cNvSpPr>
            <a:spLocks xmlns:a="http://schemas.openxmlformats.org/drawingml/2006/main" noGrp="1"/>
          </p:cNvSpPr>
          <p:nvPr/>
        </p:nvSpPr>
        <p:spPr>
          <a:xfrm xmlns:a="http://schemas.openxmlformats.org/drawingml/2006/main">
            <a:off x="883221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43" name="">
            <a:extLst xmlns:a="http://schemas.openxmlformats.org/drawingml/2006/main">
              <a:ext uri="{FF2B5EF4-FFF2-40B4-BE49-F238E27FC236}">
                <a16:creationId xmlns:a16="http://schemas.microsoft.com/office/drawing/2014/main" id="{7516CEA3-E01A-42BC-BEF9-EF06F8C7953E}"/>
              </a:ext>
            </a:extLst>
          </p:cNvPr>
          <p:cNvSpPr>
            <a:spLocks xmlns:a="http://schemas.openxmlformats.org/drawingml/2006/main" noGrp="1"/>
          </p:cNvSpPr>
          <p:nvPr/>
        </p:nvSpPr>
        <p:spPr>
          <a:xfrm xmlns:a="http://schemas.openxmlformats.org/drawingml/2006/main">
            <a:off x="883221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Needs service fit</a:t>
            </a:r>
          </a:p>
        </p:txBody>
      </p:sp>
      <p:sp>
        <p:nvSpPr>
          <p:cNvPr id="44" name="">
            <a:extLst xmlns:a="http://schemas.openxmlformats.org/drawingml/2006/main">
              <a:ext uri="{FF2B5EF4-FFF2-40B4-BE49-F238E27FC236}">
                <a16:creationId xmlns:a16="http://schemas.microsoft.com/office/drawing/2014/main" id="{D54811CD-6DEA-4253-B3B3-7F8CC6B6F391}"/>
              </a:ext>
            </a:extLst>
          </p:cNvPr>
          <p:cNvSpPr>
            <a:spLocks xmlns:a="http://schemas.openxmlformats.org/drawingml/2006/main" noGrp="1"/>
          </p:cNvSpPr>
          <p:nvPr/>
        </p:nvSpPr>
        <p:spPr>
          <a:xfrm xmlns:a="http://schemas.openxmlformats.org/drawingml/2006/main">
            <a:off x="457200" y="47180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5" name="">
            <a:extLst xmlns:a="http://schemas.openxmlformats.org/drawingml/2006/main">
              <a:ext uri="{FF2B5EF4-FFF2-40B4-BE49-F238E27FC236}">
                <a16:creationId xmlns:a16="http://schemas.microsoft.com/office/drawing/2014/main" id="{0C6EB8C1-45B1-481C-B0BF-C1611758D281}"/>
              </a:ext>
            </a:extLst>
          </p:cNvPr>
          <p:cNvSpPr>
            <a:spLocks xmlns:a="http://schemas.openxmlformats.org/drawingml/2006/main" noGrp="1"/>
          </p:cNvSpPr>
          <p:nvPr/>
        </p:nvSpPr>
        <p:spPr>
          <a:xfrm xmlns:a="http://schemas.openxmlformats.org/drawingml/2006/main">
            <a:off x="457200" y="47180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A2E937FD-6731-429E-881F-5127A5BCCD32}"/>
              </a:ext>
            </a:extLst>
          </p:cNvPr>
          <p:cNvSpPr>
            <a:spLocks xmlns:a="http://schemas.openxmlformats.org/drawingml/2006/main" noGrp="1"/>
          </p:cNvSpPr>
          <p:nvPr/>
        </p:nvSpPr>
        <p:spPr>
          <a:xfrm xmlns:a="http://schemas.openxmlformats.org/drawingml/2006/main">
            <a:off x="58102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47" name="">
            <a:extLst xmlns:a="http://schemas.openxmlformats.org/drawingml/2006/main">
              <a:ext uri="{FF2B5EF4-FFF2-40B4-BE49-F238E27FC236}">
                <a16:creationId xmlns:a16="http://schemas.microsoft.com/office/drawing/2014/main" id="{06A83B63-9C21-41A5-BE93-F641137F540F}"/>
              </a:ext>
            </a:extLst>
          </p:cNvPr>
          <p:cNvSpPr>
            <a:spLocks xmlns:a="http://schemas.openxmlformats.org/drawingml/2006/main" noGrp="1"/>
          </p:cNvSpPr>
          <p:nvPr/>
        </p:nvSpPr>
        <p:spPr>
          <a:xfrm xmlns:a="http://schemas.openxmlformats.org/drawingml/2006/main">
            <a:off x="581025" y="49339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Aptiv converts platform relationships into nominations. That mechanism has no equivalent in a tender scored on eligibility and local service, or in an aftermarket sale scored on installation.</a:t>
            </a:r>
          </a:p>
        </p:txBody>
      </p:sp>
      <p:sp>
        <p:nvSpPr>
          <p:cNvPr id="48" name="">
            <a:extLst xmlns:a="http://schemas.openxmlformats.org/drawingml/2006/main">
              <a:ext uri="{FF2B5EF4-FFF2-40B4-BE49-F238E27FC236}">
                <a16:creationId xmlns:a16="http://schemas.microsoft.com/office/drawing/2014/main" id="{EC724051-C595-411D-84E1-DF672B4A60B7}"/>
              </a:ext>
            </a:extLst>
          </p:cNvPr>
          <p:cNvSpPr>
            <a:spLocks xmlns:a="http://schemas.openxmlformats.org/drawingml/2006/main" noGrp="1"/>
          </p:cNvSpPr>
          <p:nvPr/>
        </p:nvSpPr>
        <p:spPr>
          <a:xfrm xmlns:a="http://schemas.openxmlformats.org/drawingml/2006/main">
            <a:off x="6153150" y="47180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9" name="">
            <a:extLst xmlns:a="http://schemas.openxmlformats.org/drawingml/2006/main">
              <a:ext uri="{FF2B5EF4-FFF2-40B4-BE49-F238E27FC236}">
                <a16:creationId xmlns:a16="http://schemas.microsoft.com/office/drawing/2014/main" id="{5F93B871-2BFB-4759-AAD2-20B0C85A1134}"/>
              </a:ext>
            </a:extLst>
          </p:cNvPr>
          <p:cNvSpPr>
            <a:spLocks xmlns:a="http://schemas.openxmlformats.org/drawingml/2006/main" noGrp="1"/>
          </p:cNvSpPr>
          <p:nvPr/>
        </p:nvSpPr>
        <p:spPr>
          <a:xfrm xmlns:a="http://schemas.openxmlformats.org/drawingml/2006/main">
            <a:off x="6153150" y="47180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1F1B5C8A-9469-46FE-BA5A-A63DA2E948CE}"/>
              </a:ext>
            </a:extLst>
          </p:cNvPr>
          <p:cNvSpPr>
            <a:spLocks xmlns:a="http://schemas.openxmlformats.org/drawingml/2006/main" noGrp="1"/>
          </p:cNvSpPr>
          <p:nvPr/>
        </p:nvSpPr>
        <p:spPr>
          <a:xfrm xmlns:a="http://schemas.openxmlformats.org/drawingml/2006/main">
            <a:off x="627697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51" name="">
            <a:extLst xmlns:a="http://schemas.openxmlformats.org/drawingml/2006/main">
              <a:ext uri="{FF2B5EF4-FFF2-40B4-BE49-F238E27FC236}">
                <a16:creationId xmlns:a16="http://schemas.microsoft.com/office/drawing/2014/main" id="{CF39DDD0-1DA3-4A46-99A4-D731A195F891}"/>
              </a:ext>
            </a:extLst>
          </p:cNvPr>
          <p:cNvSpPr>
            <a:spLocks xmlns:a="http://schemas.openxmlformats.org/drawingml/2006/main" noGrp="1"/>
          </p:cNvSpPr>
          <p:nvPr/>
        </p:nvSpPr>
        <p:spPr>
          <a:xfrm xmlns:a="http://schemas.openxmlformats.org/drawingml/2006/main">
            <a:off x="6276975" y="49339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Any Aptiv appearance outside OEM/Tier-1.</a:t>
            </a:r>
          </a:p>
        </p:txBody>
      </p:sp>
      <p:sp>
        <p:nvSpPr>
          <p:cNvPr id="52" name="">
            <a:extLst xmlns:a="http://schemas.openxmlformats.org/drawingml/2006/main">
              <a:ext uri="{FF2B5EF4-FFF2-40B4-BE49-F238E27FC236}">
                <a16:creationId xmlns:a16="http://schemas.microsoft.com/office/drawing/2014/main" id="{41B86C80-DA50-4757-B59E-FB1A27243BC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F4D1A567-F13D-4238-B4A9-DDA0356B2FE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F266C891-F2DB-42D2-8B40-3EE5CAED71F7}"/>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55" name="">
            <a:extLst xmlns:a="http://schemas.openxmlformats.org/drawingml/2006/main">
              <a:ext uri="{FF2B5EF4-FFF2-40B4-BE49-F238E27FC236}">
                <a16:creationId xmlns:a16="http://schemas.microsoft.com/office/drawing/2014/main" id="{92BF31FC-3FB3-467C-B72F-6775DC86FB44}"/>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Concentrate benchmark investment on OEM RFQs; monitor the other two arenas only.</a:t>
            </a:r>
          </a:p>
        </p:txBody>
      </p:sp>
      <p:sp>
        <p:nvSpPr>
          <p:cNvPr id="56" name="">
            <a:extLst xmlns:a="http://schemas.openxmlformats.org/drawingml/2006/main">
              <a:ext uri="{FF2B5EF4-FFF2-40B4-BE49-F238E27FC236}">
                <a16:creationId xmlns:a16="http://schemas.microsoft.com/office/drawing/2014/main" id="{57CCB61F-B239-4386-9B5F-32C12716E639}"/>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57" name="">
            <a:extLst xmlns:a="http://schemas.openxmlformats.org/drawingml/2006/main">
              <a:ext uri="{FF2B5EF4-FFF2-40B4-BE49-F238E27FC236}">
                <a16:creationId xmlns:a16="http://schemas.microsoft.com/office/drawing/2014/main" id="{2B990DC4-706A-4193-92D9-7850BBC6475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Any Aptiv appearance outside OEM/Tier-1.</a:t>
            </a:r>
          </a:p>
        </p:txBody>
      </p:sp>
      <p:sp>
        <p:nvSpPr>
          <p:cNvPr id="58" name="">
            <a:extLst xmlns:a="http://schemas.openxmlformats.org/drawingml/2006/main">
              <a:ext uri="{FF2B5EF4-FFF2-40B4-BE49-F238E27FC236}">
                <a16:creationId xmlns:a16="http://schemas.microsoft.com/office/drawing/2014/main" id="{85C0F30D-0FA7-4743-9382-3E8A5952C36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9" name="">
            <a:extLst xmlns:a="http://schemas.openxmlformats.org/drawingml/2006/main">
              <a:ext uri="{FF2B5EF4-FFF2-40B4-BE49-F238E27FC236}">
                <a16:creationId xmlns:a16="http://schemas.microsoft.com/office/drawing/2014/main" id="{5A5BA81D-1D52-4E4E-B92D-6D8C8DCBB121}"/>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Aptiv enters a government tender.</a:t>
            </a:r>
          </a:p>
        </p:txBody>
      </p:sp>
      <p:sp>
        <p:nvSpPr>
          <p:cNvPr id="60" name="">
            <a:extLst xmlns:a="http://schemas.openxmlformats.org/drawingml/2006/main">
              <a:ext uri="{FF2B5EF4-FFF2-40B4-BE49-F238E27FC236}">
                <a16:creationId xmlns:a16="http://schemas.microsoft.com/office/drawing/2014/main" id="{07509D56-7712-419E-9D1B-15F837DDA9A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95E30DA4-E04D-4417-98B0-0E10D91A6C0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2" name="">
            <a:extLst xmlns:a="http://schemas.openxmlformats.org/drawingml/2006/main">
              <a:ext uri="{FF2B5EF4-FFF2-40B4-BE49-F238E27FC236}">
                <a16:creationId xmlns:a16="http://schemas.microsoft.com/office/drawing/2014/main" id="{5785893D-F281-4C8E-8342-8DC6C1293BDB}"/>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37</a:t>
            </a:r>
          </a:p>
        </p:txBody>
      </p:sp>
    </p:spTree>
    <p:extLst>
      <p:ext uri="{BB962C8B-B14F-4D97-AF65-F5344CB8AC3E}">
        <p14:creationId xmlns:p14="http://schemas.microsoft.com/office/powerpoint/2010/main" val="258486734"/>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84DA96C1-8447-4BB5-8565-B2A6A66C91D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F83DD8-2417-4DB1-B8B0-A70CD344E1B2}"/>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52D6BF5-EE65-4420-B1A5-29DFD43F34D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03DE7C3A-EBAD-4A70-9A39-4B9E1365BBB3}"/>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E7788B04-1995-480C-A39A-4DBE64D60EBE}"/>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Fund one equal-scope perception benchmark vs. Aptiv/Gen-6 stack</a:t>
            </a:r>
          </a:p>
        </p:txBody>
      </p:sp>
      <p:sp>
        <p:nvSpPr>
          <p:cNvPr id="6" name="">
            <a:extLst xmlns:a="http://schemas.openxmlformats.org/drawingml/2006/main">
              <a:ext uri="{FF2B5EF4-FFF2-40B4-BE49-F238E27FC236}">
                <a16:creationId xmlns:a16="http://schemas.microsoft.com/office/drawing/2014/main" id="{E904D671-79CE-438F-B107-95AFD24353DA}"/>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029CB25-9F36-4E17-BB1E-F819DA116FBF}"/>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response should DeepGrid fund now, and which observable result should escalate?</a:t>
            </a:r>
          </a:p>
        </p:txBody>
      </p:sp>
      <p:sp>
        <p:nvSpPr>
          <p:cNvPr id="8" name="">
            <a:extLst xmlns:a="http://schemas.openxmlformats.org/drawingml/2006/main">
              <a:ext uri="{FF2B5EF4-FFF2-40B4-BE49-F238E27FC236}">
                <a16:creationId xmlns:a16="http://schemas.microsoft.com/office/drawing/2014/main" id="{FC76245E-76FA-4D3B-99F1-DE2D5AF5DA4C}"/>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D22C8F17-57E8-42C0-8769-6EF734A0F450}"/>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DF8CA4E-BD14-4F9C-8C1B-E9559C037BF6}"/>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E22587E5-C80A-47D1-BD31-DFCCD282D806}"/>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Fund one equal-scope perception benchmark against the Gen-6 stack, matched on hardware, class scope and denominators. Compete on one provable India-specific control point rather than full-stack parity.</a:t>
            </a:r>
          </a:p>
        </p:txBody>
      </p:sp>
      <p:sp>
        <p:nvSpPr>
          <p:cNvPr id="12" name="">
            <a:extLst xmlns:a="http://schemas.openxmlformats.org/drawingml/2006/main">
              <a:ext uri="{FF2B5EF4-FFF2-40B4-BE49-F238E27FC236}">
                <a16:creationId xmlns:a16="http://schemas.microsoft.com/office/drawing/2014/main" id="{D6C98DFF-7B4B-4237-BE8C-1B797834F3C8}"/>
              </a:ext>
            </a:extLst>
          </p:cNvPr>
          <p:cNvSpPr>
            <a:spLocks xmlns:a="http://schemas.openxmlformats.org/drawingml/2006/main" noGrp="1"/>
          </p:cNvSpPr>
          <p:nvPr/>
        </p:nvSpPr>
        <p:spPr>
          <a:xfrm xmlns:a="http://schemas.openxmlformats.org/drawingml/2006/main">
            <a:off x="457200" y="1841500"/>
            <a:ext cx="3695700" cy="2686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E4088396-60E6-48D3-AB9F-343E67BDF747}"/>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2BAD122-D641-4943-A1A3-9CAFD4C008FF}"/>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38FA1B21-6F5B-465B-B662-0C0ED576F8DF}"/>
              </a:ext>
            </a:extLst>
          </p:cNvPr>
          <p:cNvSpPr>
            <a:spLocks xmlns:a="http://schemas.openxmlformats.org/drawingml/2006/main" noGrp="1"/>
          </p:cNvSpPr>
          <p:nvPr/>
        </p:nvSpPr>
        <p:spPr>
          <a:xfrm xmlns:a="http://schemas.openxmlformats.org/drawingml/2006/main">
            <a:off x="5715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Fund one equal-scope perception benchmark against the Gen-6 stack, matched on hardware, class scope and denominators. Compete on one provable India-specific control point rather than full-stack parity.</a:t>
            </a:r>
          </a:p>
        </p:txBody>
      </p:sp>
      <p:sp>
        <p:nvSpPr>
          <p:cNvPr id="16" name="">
            <a:extLst xmlns:a="http://schemas.openxmlformats.org/drawingml/2006/main">
              <a:ext uri="{FF2B5EF4-FFF2-40B4-BE49-F238E27FC236}">
                <a16:creationId xmlns:a16="http://schemas.microsoft.com/office/drawing/2014/main" id="{66DCA174-E203-4DAD-9818-628E4F645D5E}"/>
              </a:ext>
            </a:extLst>
          </p:cNvPr>
          <p:cNvSpPr>
            <a:spLocks xmlns:a="http://schemas.openxmlformats.org/drawingml/2006/main" noGrp="1"/>
          </p:cNvSpPr>
          <p:nvPr/>
        </p:nvSpPr>
        <p:spPr>
          <a:xfrm xmlns:a="http://schemas.openxmlformats.org/drawingml/2006/main">
            <a:off x="4248150" y="1841500"/>
            <a:ext cx="3695700" cy="2686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4059D418-B86E-40BA-9EA9-6D1BBED03147}"/>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EBB6409-31DE-4780-8F82-7485587FABDD}"/>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C7D98517-1A5C-4E1E-9D48-5F67CC1C5AB1}"/>
              </a:ext>
            </a:extLst>
          </p:cNvPr>
          <p:cNvSpPr>
            <a:spLocks xmlns:a="http://schemas.openxmlformats.org/drawingml/2006/main" noGrp="1"/>
          </p:cNvSpPr>
          <p:nvPr/>
        </p:nvSpPr>
        <p:spPr>
          <a:xfrm xmlns:a="http://schemas.openxmlformats.org/drawingml/2006/main">
            <a:off x="436245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Aptiv may decline to expose a comparable configuration, in which case equal scope cannot be constructed and the comparison stays rhetorical.</a:t>
            </a:r>
          </a:p>
        </p:txBody>
      </p:sp>
      <p:sp>
        <p:nvSpPr>
          <p:cNvPr id="20" name="">
            <a:extLst xmlns:a="http://schemas.openxmlformats.org/drawingml/2006/main">
              <a:ext uri="{FF2B5EF4-FFF2-40B4-BE49-F238E27FC236}">
                <a16:creationId xmlns:a16="http://schemas.microsoft.com/office/drawing/2014/main" id="{14992194-9625-4698-A9FE-5BAFD3277DF2}"/>
              </a:ext>
            </a:extLst>
          </p:cNvPr>
          <p:cNvSpPr>
            <a:spLocks xmlns:a="http://schemas.openxmlformats.org/drawingml/2006/main" noGrp="1"/>
          </p:cNvSpPr>
          <p:nvPr/>
        </p:nvSpPr>
        <p:spPr>
          <a:xfrm xmlns:a="http://schemas.openxmlformats.org/drawingml/2006/main">
            <a:off x="8039100" y="1841500"/>
            <a:ext cx="3695700" cy="2686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1" name="">
            <a:extLst xmlns:a="http://schemas.openxmlformats.org/drawingml/2006/main">
              <a:ext uri="{FF2B5EF4-FFF2-40B4-BE49-F238E27FC236}">
                <a16:creationId xmlns:a16="http://schemas.microsoft.com/office/drawing/2014/main" id="{1AF1E40B-589D-4E51-BF7E-F19DC7957330}"/>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5C8E5CF-8DBC-493C-8967-EBBE075F5F8D}"/>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47E9069A-EE00-4811-9233-678E2759BBA6}"/>
              </a:ext>
            </a:extLst>
          </p:cNvPr>
          <p:cNvSpPr>
            <a:spLocks xmlns:a="http://schemas.openxmlformats.org/drawingml/2006/main" noGrp="1"/>
          </p:cNvSpPr>
          <p:nvPr/>
        </p:nvSpPr>
        <p:spPr>
          <a:xfrm xmlns:a="http://schemas.openxmlformats.org/drawingml/2006/main">
            <a:off x="81534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Compete on one provable India-specific control point; do not position as full-stack alternative</a:t>
            </a:r>
          </a:p>
        </p:txBody>
      </p:sp>
      <p:sp>
        <p:nvSpPr>
          <p:cNvPr id="24" name="">
            <a:extLst xmlns:a="http://schemas.openxmlformats.org/drawingml/2006/main">
              <a:ext uri="{FF2B5EF4-FFF2-40B4-BE49-F238E27FC236}">
                <a16:creationId xmlns:a16="http://schemas.microsoft.com/office/drawing/2014/main" id="{071C26E7-0145-4C2D-9A05-3F02960D9951}"/>
              </a:ext>
            </a:extLst>
          </p:cNvPr>
          <p:cNvSpPr>
            <a:spLocks xmlns:a="http://schemas.openxmlformats.org/drawingml/2006/main" noGrp="1"/>
          </p:cNvSpPr>
          <p:nvPr/>
        </p:nvSpPr>
        <p:spPr>
          <a:xfrm xmlns:a="http://schemas.openxmlformats.org/drawingml/2006/main">
            <a:off x="457200" y="4641850"/>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32A22040-2EB6-406A-8107-ABF1F0C57D35}"/>
              </a:ext>
            </a:extLst>
          </p:cNvPr>
          <p:cNvSpPr>
            <a:spLocks xmlns:a="http://schemas.openxmlformats.org/drawingml/2006/main" noGrp="1"/>
          </p:cNvSpPr>
          <p:nvPr/>
        </p:nvSpPr>
        <p:spPr>
          <a:xfrm xmlns:a="http://schemas.openxmlformats.org/drawingml/2006/main">
            <a:off x="457200" y="464185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05E3609-5F70-4427-880B-EC2CC1CA1A07}"/>
              </a:ext>
            </a:extLst>
          </p:cNvPr>
          <p:cNvSpPr>
            <a:spLocks xmlns:a="http://schemas.openxmlformats.org/drawingml/2006/main" noGrp="1"/>
          </p:cNvSpPr>
          <p:nvPr/>
        </p:nvSpPr>
        <p:spPr>
          <a:xfrm xmlns:a="http://schemas.openxmlformats.org/drawingml/2006/main">
            <a:off x="581025" y="47085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CD1A65DB-3B94-4315-A278-6D3BA6581AEF}"/>
              </a:ext>
            </a:extLst>
          </p:cNvPr>
          <p:cNvSpPr>
            <a:spLocks xmlns:a="http://schemas.openxmlformats.org/drawingml/2006/main" noGrp="1"/>
          </p:cNvSpPr>
          <p:nvPr/>
        </p:nvSpPr>
        <p:spPr>
          <a:xfrm xmlns:a="http://schemas.openxmlformats.org/drawingml/2006/main">
            <a:off x="581025" y="48577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Falsified if equal scope cannot be obtained — which invalidates the comparison, not the position.</a:t>
            </a:r>
          </a:p>
        </p:txBody>
      </p:sp>
      <p:sp>
        <p:nvSpPr>
          <p:cNvPr id="28" name="">
            <a:extLst xmlns:a="http://schemas.openxmlformats.org/drawingml/2006/main">
              <a:ext uri="{FF2B5EF4-FFF2-40B4-BE49-F238E27FC236}">
                <a16:creationId xmlns:a16="http://schemas.microsoft.com/office/drawing/2014/main" id="{77AC4BF0-DDDB-43E2-9BEA-83BD2EFE8A5A}"/>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27EA0E8-695B-4CBB-8D03-9FD4D2A03FD0}"/>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0F009AA-BAEA-46C0-9240-27164096318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EF4C24E1-2143-4DFC-B3CB-385DDE28022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Escalate only if DeepGrid beats threshold</a:t>
            </a:r>
          </a:p>
        </p:txBody>
      </p:sp>
      <p:sp>
        <p:nvSpPr>
          <p:cNvPr id="32" name="">
            <a:extLst xmlns:a="http://schemas.openxmlformats.org/drawingml/2006/main">
              <a:ext uri="{FF2B5EF4-FFF2-40B4-BE49-F238E27FC236}">
                <a16:creationId xmlns:a16="http://schemas.microsoft.com/office/drawing/2014/main" id="{66B26C93-4002-486C-8ED1-90C61113A8DB}"/>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78AF0A90-20DE-4A63-9B9C-427A8A8C9418}"/>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Stop if equal scope cannot be obtained</a:t>
            </a:r>
          </a:p>
        </p:txBody>
      </p:sp>
      <p:sp>
        <p:nvSpPr>
          <p:cNvPr id="34" name="">
            <a:extLst xmlns:a="http://schemas.openxmlformats.org/drawingml/2006/main">
              <a:ext uri="{FF2B5EF4-FFF2-40B4-BE49-F238E27FC236}">
                <a16:creationId xmlns:a16="http://schemas.microsoft.com/office/drawing/2014/main" id="{4D384C14-B219-4A5E-A12C-1AF1E06874D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988626A8-CDDB-492D-8AA0-2BB64CE8C1EE}"/>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the benchmark if equal scope cannot be obtained; never publish an unequal comparison.</a:t>
            </a:r>
          </a:p>
        </p:txBody>
      </p:sp>
      <p:sp>
        <p:nvSpPr>
          <p:cNvPr id="36" name="">
            <a:extLst xmlns:a="http://schemas.openxmlformats.org/drawingml/2006/main">
              <a:ext uri="{FF2B5EF4-FFF2-40B4-BE49-F238E27FC236}">
                <a16:creationId xmlns:a16="http://schemas.microsoft.com/office/drawing/2014/main" id="{85DCD436-23DA-41D8-8CE3-5CBE70D12FF3}"/>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6B39349C-1621-4B70-8CD5-F60C0EC9FB64}"/>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B7E4A382-BB94-455A-8B52-3A7EC312C86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38</a:t>
            </a:r>
          </a:p>
        </p:txBody>
      </p:sp>
    </p:spTree>
    <p:extLst>
      <p:ext uri="{BB962C8B-B14F-4D97-AF65-F5344CB8AC3E}">
        <p14:creationId xmlns:p14="http://schemas.microsoft.com/office/powerpoint/2010/main" val="1773859778"/>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1F42C6F5-C943-4C6D-965E-531E70EEF69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0B04D9A-F1CF-4463-87CB-AA2C47880F28}"/>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AE622E2-7E2D-4CA1-A847-E34AA669B06A}"/>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CB2142FA-C5D9-49A0-B13D-05AF54B0A3E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F173EDD0-7307-4807-99BD-717D224CD0FF}"/>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Aptiv is a high OEM threat only if its India CV specifics are verified</a:t>
            </a:r>
          </a:p>
        </p:txBody>
      </p:sp>
      <p:sp>
        <p:nvSpPr>
          <p:cNvPr id="6" name="">
            <a:extLst xmlns:a="http://schemas.openxmlformats.org/drawingml/2006/main">
              <a:ext uri="{FF2B5EF4-FFF2-40B4-BE49-F238E27FC236}">
                <a16:creationId xmlns:a16="http://schemas.microsoft.com/office/drawing/2014/main" id="{52A4945D-E6E5-436A-84BF-284C82590944}"/>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0CAC1AE-6BCA-4DA5-A31B-C66C9AE73E1C}"/>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materially raise or lower Aptiv's threat rating?</a:t>
            </a:r>
          </a:p>
        </p:txBody>
      </p:sp>
      <p:sp>
        <p:nvSpPr>
          <p:cNvPr id="8" name="">
            <a:extLst xmlns:a="http://schemas.openxmlformats.org/drawingml/2006/main">
              <a:ext uri="{FF2B5EF4-FFF2-40B4-BE49-F238E27FC236}">
                <a16:creationId xmlns:a16="http://schemas.microsoft.com/office/drawing/2014/main" id="{4823079C-ECAE-465F-963E-0E2461F29ED5}"/>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08584B81-F381-4943-BC53-2A133F377DBB}"/>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6795C5E-E541-41F8-B6CD-25BB3C3A33FC}"/>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57606BFE-ADBC-4049-AB61-06A820198A20}"/>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The headline signals formidable integration capacity, but the decisive operating facts—programme scope, supplier choice and India performance—remain uncorroborated. The proposed DeepGrid wedge may reflect internal preference rather than buyer demand.</a:t>
            </a:r>
          </a:p>
        </p:txBody>
      </p:sp>
      <p:sp>
        <p:nvSpPr>
          <p:cNvPr id="12" name="">
            <a:extLst xmlns:a="http://schemas.openxmlformats.org/drawingml/2006/main">
              <a:ext uri="{FF2B5EF4-FFF2-40B4-BE49-F238E27FC236}">
                <a16:creationId xmlns:a16="http://schemas.microsoft.com/office/drawing/2014/main" id="{580A0186-95A6-4950-8783-8EB729F2E37F}"/>
              </a:ext>
            </a:extLst>
          </p:cNvPr>
          <p:cNvSpPr>
            <a:spLocks xmlns:a="http://schemas.openxmlformats.org/drawingml/2006/main" noGrp="1"/>
          </p:cNvSpPr>
          <p:nvPr/>
        </p:nvSpPr>
        <p:spPr>
          <a:xfrm xmlns:a="http://schemas.openxmlformats.org/drawingml/2006/main">
            <a:off x="45720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9020F857-ACC3-4080-B277-BE9D3C377EE2}"/>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E63ECC5-963F-44E1-9842-EC6A8B19B05E}"/>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669F9BEF-F9F0-466F-B6B1-C4E72208A568}"/>
              </a:ext>
            </a:extLst>
          </p:cNvPr>
          <p:cNvSpPr>
            <a:spLocks xmlns:a="http://schemas.openxmlformats.org/drawingml/2006/main" noGrp="1"/>
          </p:cNvSpPr>
          <p:nvPr/>
        </p:nvSpPr>
        <p:spPr>
          <a:xfrm xmlns:a="http://schemas.openxmlformats.org/drawingml/2006/main">
            <a:off x="5715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headline signals formidable integration capacity, but the decisive operating facts—programme scope, supplier choice and India performance—remain uncorroborated. The proposed DeepGrid wedge may reflect internal preference rather than buyer demand.</a:t>
            </a:r>
          </a:p>
        </p:txBody>
      </p:sp>
      <p:sp>
        <p:nvSpPr>
          <p:cNvPr id="16" name="">
            <a:extLst xmlns:a="http://schemas.openxmlformats.org/drawingml/2006/main">
              <a:ext uri="{FF2B5EF4-FFF2-40B4-BE49-F238E27FC236}">
                <a16:creationId xmlns:a16="http://schemas.microsoft.com/office/drawing/2014/main" id="{B65316C1-03B8-4142-8AA3-D9CA0C98639A}"/>
              </a:ext>
            </a:extLst>
          </p:cNvPr>
          <p:cNvSpPr>
            <a:spLocks xmlns:a="http://schemas.openxmlformats.org/drawingml/2006/main" noGrp="1"/>
          </p:cNvSpPr>
          <p:nvPr/>
        </p:nvSpPr>
        <p:spPr>
          <a:xfrm xmlns:a="http://schemas.openxmlformats.org/drawingml/2006/main">
            <a:off x="424815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BAFBBC5B-3906-48C2-A85E-CDAE58EAEC75}"/>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39A9969-768E-41CC-94DA-3C5962474FE6}"/>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243E4758-F163-4C2A-B2CB-138263625C31}"/>
              </a:ext>
            </a:extLst>
          </p:cNvPr>
          <p:cNvSpPr>
            <a:spLocks xmlns:a="http://schemas.openxmlformats.org/drawingml/2006/main" noGrp="1"/>
          </p:cNvSpPr>
          <p:nvPr/>
        </p:nvSpPr>
        <p:spPr>
          <a:xfrm xmlns:a="http://schemas.openxmlformats.org/drawingml/2006/main">
            <a:off x="436245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40m+ global footprint may make India-specific verification irrelevant to an OEM that already trusts Aptiv globally — in which case the missing specifics never become a decision factor at all.</a:t>
            </a:r>
          </a:p>
        </p:txBody>
      </p:sp>
      <p:sp>
        <p:nvSpPr>
          <p:cNvPr id="20" name="">
            <a:extLst xmlns:a="http://schemas.openxmlformats.org/drawingml/2006/main">
              <a:ext uri="{FF2B5EF4-FFF2-40B4-BE49-F238E27FC236}">
                <a16:creationId xmlns:a16="http://schemas.microsoft.com/office/drawing/2014/main" id="{5EEFB8FE-F390-44A5-8E3E-B4F23B8E5104}"/>
              </a:ext>
            </a:extLst>
          </p:cNvPr>
          <p:cNvSpPr>
            <a:spLocks xmlns:a="http://schemas.openxmlformats.org/drawingml/2006/main" noGrp="1"/>
          </p:cNvSpPr>
          <p:nvPr/>
        </p:nvSpPr>
        <p:spPr>
          <a:xfrm xmlns:a="http://schemas.openxmlformats.org/drawingml/2006/main">
            <a:off x="803910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1" name="">
            <a:extLst xmlns:a="http://schemas.openxmlformats.org/drawingml/2006/main">
              <a:ext uri="{FF2B5EF4-FFF2-40B4-BE49-F238E27FC236}">
                <a16:creationId xmlns:a16="http://schemas.microsoft.com/office/drawing/2014/main" id="{2A6DE905-4252-4407-BC78-C058BBAB3753}"/>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0484C4E-29E3-4A54-B065-026453392E9B}"/>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EDDA1B7D-6518-42C5-A67A-4B65BB859A71}"/>
              </a:ext>
            </a:extLst>
          </p:cNvPr>
          <p:cNvSpPr>
            <a:spLocks xmlns:a="http://schemas.openxmlformats.org/drawingml/2006/main" noGrp="1"/>
          </p:cNvSpPr>
          <p:nvPr/>
        </p:nvSpPr>
        <p:spPr>
          <a:xfrm xmlns:a="http://schemas.openxmlformats.org/drawingml/2006/main">
            <a:off x="81534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Compete via Wedge Compete only through a measurable perception wedge, not a full-stack replacement</a:t>
            </a:r>
          </a:p>
        </p:txBody>
      </p:sp>
      <p:sp>
        <p:nvSpPr>
          <p:cNvPr id="24" name="">
            <a:extLst xmlns:a="http://schemas.openxmlformats.org/drawingml/2006/main">
              <a:ext uri="{FF2B5EF4-FFF2-40B4-BE49-F238E27FC236}">
                <a16:creationId xmlns:a16="http://schemas.microsoft.com/office/drawing/2014/main" id="{69ECCCD7-8C79-4358-93EC-0F03AC508E0A}"/>
              </a:ext>
            </a:extLst>
          </p:cNvPr>
          <p:cNvSpPr>
            <a:spLocks xmlns:a="http://schemas.openxmlformats.org/drawingml/2006/main" noGrp="1"/>
          </p:cNvSpPr>
          <p:nvPr/>
        </p:nvSpPr>
        <p:spPr>
          <a:xfrm xmlns:a="http://schemas.openxmlformats.org/drawingml/2006/main">
            <a:off x="457200" y="4813300"/>
            <a:ext cx="1127760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3D0B81B9-8D2A-4D89-B3C7-541BD994D89F}"/>
              </a:ext>
            </a:extLst>
          </p:cNvPr>
          <p:cNvSpPr>
            <a:spLocks xmlns:a="http://schemas.openxmlformats.org/drawingml/2006/main" noGrp="1"/>
          </p:cNvSpPr>
          <p:nvPr/>
        </p:nvSpPr>
        <p:spPr>
          <a:xfrm xmlns:a="http://schemas.openxmlformats.org/drawingml/2006/main">
            <a:off x="457200" y="4813300"/>
            <a:ext cx="28575" cy="673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8B2ED86-49A5-4486-8E89-D0296E78C39A}"/>
              </a:ext>
            </a:extLst>
          </p:cNvPr>
          <p:cNvSpPr>
            <a:spLocks xmlns:a="http://schemas.openxmlformats.org/drawingml/2006/main" noGrp="1"/>
          </p:cNvSpPr>
          <p:nvPr/>
        </p:nvSpPr>
        <p:spPr>
          <a:xfrm xmlns:a="http://schemas.openxmlformats.org/drawingml/2006/main">
            <a:off x="581025" y="48799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B199DE43-905F-4C51-81F0-4E4D60E10F53}"/>
              </a:ext>
            </a:extLst>
          </p:cNvPr>
          <p:cNvSpPr>
            <a:spLocks xmlns:a="http://schemas.openxmlformats.org/drawingml/2006/main" noGrp="1"/>
          </p:cNvSpPr>
          <p:nvPr/>
        </p:nvSpPr>
        <p:spPr>
          <a:xfrm xmlns:a="http://schemas.openxmlformats.org/drawingml/2006/main">
            <a:off x="581025" y="5029200"/>
            <a:ext cx="1102995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view is falsified if a named India CV OEM confirms Aptiv Gen-6 selection with local engineering and SOP, or if DeepGrid's perception layer demonstrates superior India VRU accuracy in controlled tests.</a:t>
            </a:r>
          </a:p>
        </p:txBody>
      </p:sp>
      <p:sp>
        <p:nvSpPr>
          <p:cNvPr id="28" name="">
            <a:extLst xmlns:a="http://schemas.openxmlformats.org/drawingml/2006/main">
              <a:ext uri="{FF2B5EF4-FFF2-40B4-BE49-F238E27FC236}">
                <a16:creationId xmlns:a16="http://schemas.microsoft.com/office/drawing/2014/main" id="{6C51F754-2B74-455A-BFF1-2B3CDC72FE73}"/>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58B48D5-3EC6-4834-B814-601E71556C6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338BCE1-E28E-47C7-9043-F1415E233D62}"/>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843A3EEB-396C-4255-9346-1549066A0BC9}"/>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Do not pursue an Aptiv-led full-stack bid; run equal-scope perception tests</a:t>
            </a:r>
          </a:p>
        </p:txBody>
      </p:sp>
      <p:sp>
        <p:nvSpPr>
          <p:cNvPr id="32" name="">
            <a:extLst xmlns:a="http://schemas.openxmlformats.org/drawingml/2006/main">
              <a:ext uri="{FF2B5EF4-FFF2-40B4-BE49-F238E27FC236}">
                <a16:creationId xmlns:a16="http://schemas.microsoft.com/office/drawing/2014/main" id="{95F7F5D1-C7D5-484F-AF5E-B19E9F22DCF5}"/>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C636A81A-59F7-4FE8-BC2D-E6914C7A859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Trigger on RFQ naming Aptiv; verify India CV specifics</a:t>
            </a:r>
          </a:p>
        </p:txBody>
      </p:sp>
      <p:sp>
        <p:nvSpPr>
          <p:cNvPr id="34" name="">
            <a:extLst xmlns:a="http://schemas.openxmlformats.org/drawingml/2006/main">
              <a:ext uri="{FF2B5EF4-FFF2-40B4-BE49-F238E27FC236}">
                <a16:creationId xmlns:a16="http://schemas.microsoft.com/office/drawing/2014/main" id="{B7C6550C-6F84-4E56-87B8-D8670F37BF5F}"/>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B76F86C5-904A-490A-B7A0-9E605A89633F}"/>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pursuing an Aptiv-led full-stack bid.</a:t>
            </a:r>
          </a:p>
        </p:txBody>
      </p:sp>
      <p:sp>
        <p:nvSpPr>
          <p:cNvPr id="36" name="">
            <a:extLst xmlns:a="http://schemas.openxmlformats.org/drawingml/2006/main">
              <a:ext uri="{FF2B5EF4-FFF2-40B4-BE49-F238E27FC236}">
                <a16:creationId xmlns:a16="http://schemas.microsoft.com/office/drawing/2014/main" id="{02F9B9AA-816F-4E8E-96DD-232A107A5EB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E92ABEC-C057-4EBE-84B9-1180D29328E1}"/>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4824255E-013F-4735-A1FF-8F78F8846615}"/>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39</a:t>
            </a:r>
          </a:p>
        </p:txBody>
      </p:sp>
    </p:spTree>
    <p:extLst>
      <p:ext uri="{BB962C8B-B14F-4D97-AF65-F5344CB8AC3E}">
        <p14:creationId xmlns:p14="http://schemas.microsoft.com/office/powerpoint/2010/main" val="1018681524"/>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0F6503E5-5C57-471B-941C-DBDE455599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36980A3-50F9-4AFF-B4EA-300A455B11C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8E198F1-5275-42DD-85BB-EDCCD3C94D26}"/>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COMPANY PROFILE · P-ACT</a:t>
            </a:r>
          </a:p>
        </p:txBody>
      </p:sp>
      <p:sp>
        <p:nvSpPr>
          <p:cNvPr id="4" name="">
            <a:extLst xmlns:a="http://schemas.openxmlformats.org/drawingml/2006/main">
              <a:ext uri="{FF2B5EF4-FFF2-40B4-BE49-F238E27FC236}">
                <a16:creationId xmlns:a16="http://schemas.microsoft.com/office/drawing/2014/main" id="{D4844901-53D7-4ABA-9598-F6CA752DF7AD}"/>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STRADVISION</a:t>
            </a:r>
          </a:p>
        </p:txBody>
      </p:sp>
      <p:sp>
        <p:nvSpPr>
          <p:cNvPr id="5" name="">
            <a:extLst xmlns:a="http://schemas.openxmlformats.org/drawingml/2006/main">
              <a:ext uri="{FF2B5EF4-FFF2-40B4-BE49-F238E27FC236}">
                <a16:creationId xmlns:a16="http://schemas.microsoft.com/office/drawing/2014/main" id="{58AD9027-1A12-4FE8-97DC-BAF7DE5354A3}"/>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STRADVISION, Inc.</a:t>
            </a:r>
          </a:p>
        </p:txBody>
      </p:sp>
      <p:sp>
        <p:nvSpPr>
          <p:cNvPr id="6" name="">
            <a:extLst xmlns:a="http://schemas.openxmlformats.org/drawingml/2006/main">
              <a:ext uri="{FF2B5EF4-FFF2-40B4-BE49-F238E27FC236}">
                <a16:creationId xmlns:a16="http://schemas.microsoft.com/office/drawing/2014/main" id="{12C757CA-724C-4DF2-905B-1918FA4993C2}"/>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271D502-0599-4544-9DFB-6915C7881856}"/>
              </a:ext>
            </a:extLst>
          </p:cNvPr>
          <p:cNvSpPr>
            <a:spLocks xmlns:a="http://schemas.openxmlformats.org/drawingml/2006/main" noGrp="1"/>
          </p:cNvSpPr>
          <p:nvPr/>
        </p:nvSpPr>
        <p:spPr>
          <a:xfrm xmlns:a="http://schemas.openxmlformats.org/drawingml/2006/main">
            <a:off x="45720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81611AD8-885D-4B16-B05F-455A71AFFAA6}"/>
              </a:ext>
            </a:extLst>
          </p:cNvPr>
          <p:cNvSpPr>
            <a:spLocks xmlns:a="http://schemas.openxmlformats.org/drawingml/2006/main" noGrp="1"/>
          </p:cNvSpPr>
          <p:nvPr/>
        </p:nvSpPr>
        <p:spPr>
          <a:xfrm xmlns:a="http://schemas.openxmlformats.org/drawingml/2006/main">
            <a:off x="45720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F5BA72B-8E04-426A-AAEC-9CB039A7ECF0}"/>
              </a:ext>
            </a:extLst>
          </p:cNvPr>
          <p:cNvSpPr>
            <a:spLocks xmlns:a="http://schemas.openxmlformats.org/drawingml/2006/main" noGrp="1"/>
          </p:cNvSpPr>
          <p:nvPr/>
        </p:nvSpPr>
        <p:spPr>
          <a:xfrm xmlns:a="http://schemas.openxmlformats.org/drawingml/2006/main">
            <a:off x="57150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FOUNDED</a:t>
            </a:r>
          </a:p>
        </p:txBody>
      </p:sp>
      <p:sp>
        <p:nvSpPr>
          <p:cNvPr id="10" name="">
            <a:extLst xmlns:a="http://schemas.openxmlformats.org/drawingml/2006/main">
              <a:ext uri="{FF2B5EF4-FFF2-40B4-BE49-F238E27FC236}">
                <a16:creationId xmlns:a16="http://schemas.microsoft.com/office/drawing/2014/main" id="{BD2D874E-EAD8-4CBB-B7E4-D4D9052D66B3}"/>
              </a:ext>
            </a:extLst>
          </p:cNvPr>
          <p:cNvSpPr>
            <a:spLocks xmlns:a="http://schemas.openxmlformats.org/drawingml/2006/main" noGrp="1"/>
          </p:cNvSpPr>
          <p:nvPr/>
        </p:nvSpPr>
        <p:spPr>
          <a:xfrm xmlns:a="http://schemas.openxmlformats.org/drawingml/2006/main">
            <a:off x="57150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2014</a:t>
            </a:r>
          </a:p>
        </p:txBody>
      </p:sp>
      <p:sp>
        <p:nvSpPr>
          <p:cNvPr id="11" name="">
            <a:extLst xmlns:a="http://schemas.openxmlformats.org/drawingml/2006/main">
              <a:ext uri="{FF2B5EF4-FFF2-40B4-BE49-F238E27FC236}">
                <a16:creationId xmlns:a16="http://schemas.microsoft.com/office/drawing/2014/main" id="{789C86CE-0457-418B-B728-33BD7493F0D3}"/>
              </a:ext>
            </a:extLst>
          </p:cNvPr>
          <p:cNvSpPr>
            <a:spLocks xmlns:a="http://schemas.openxmlformats.org/drawingml/2006/main" noGrp="1"/>
          </p:cNvSpPr>
          <p:nvPr/>
        </p:nvSpPr>
        <p:spPr>
          <a:xfrm xmlns:a="http://schemas.openxmlformats.org/drawingml/2006/main">
            <a:off x="57150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Supplies into a customer's actuation safety case</a:t>
            </a:r>
          </a:p>
        </p:txBody>
      </p:sp>
      <p:sp>
        <p:nvSpPr>
          <p:cNvPr id="12" name="">
            <a:extLst xmlns:a="http://schemas.openxmlformats.org/drawingml/2006/main">
              <a:ext uri="{FF2B5EF4-FFF2-40B4-BE49-F238E27FC236}">
                <a16:creationId xmlns:a16="http://schemas.microsoft.com/office/drawing/2014/main" id="{590D80B8-2AD9-4608-AEAC-F780BE021702}"/>
              </a:ext>
            </a:extLst>
          </p:cNvPr>
          <p:cNvSpPr>
            <a:spLocks xmlns:a="http://schemas.openxmlformats.org/drawingml/2006/main" noGrp="1"/>
          </p:cNvSpPr>
          <p:nvPr/>
        </p:nvSpPr>
        <p:spPr>
          <a:xfrm xmlns:a="http://schemas.openxmlformats.org/drawingml/2006/main">
            <a:off x="3305175"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8CA97390-46A7-4DD4-9BA2-A9AB346836C6}"/>
              </a:ext>
            </a:extLst>
          </p:cNvPr>
          <p:cNvSpPr>
            <a:spLocks xmlns:a="http://schemas.openxmlformats.org/drawingml/2006/main" noGrp="1"/>
          </p:cNvSpPr>
          <p:nvPr/>
        </p:nvSpPr>
        <p:spPr>
          <a:xfrm xmlns:a="http://schemas.openxmlformats.org/drawingml/2006/main">
            <a:off x="3305175"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6D34CC5-A3F6-4A62-BDBA-64318A36A55D}"/>
              </a:ext>
            </a:extLst>
          </p:cNvPr>
          <p:cNvSpPr>
            <a:spLocks xmlns:a="http://schemas.openxmlformats.org/drawingml/2006/main" noGrp="1"/>
          </p:cNvSpPr>
          <p:nvPr/>
        </p:nvSpPr>
        <p:spPr>
          <a:xfrm xmlns:a="http://schemas.openxmlformats.org/drawingml/2006/main">
            <a:off x="341947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HEADQUARTERS</a:t>
            </a:r>
          </a:p>
        </p:txBody>
      </p:sp>
      <p:sp>
        <p:nvSpPr>
          <p:cNvPr id="15" name="">
            <a:extLst xmlns:a="http://schemas.openxmlformats.org/drawingml/2006/main">
              <a:ext uri="{FF2B5EF4-FFF2-40B4-BE49-F238E27FC236}">
                <a16:creationId xmlns:a16="http://schemas.microsoft.com/office/drawing/2014/main" id="{43F1B20E-B514-45AB-A59B-47D26B55A381}"/>
              </a:ext>
            </a:extLst>
          </p:cNvPr>
          <p:cNvSpPr>
            <a:spLocks xmlns:a="http://schemas.openxmlformats.org/drawingml/2006/main" noGrp="1"/>
          </p:cNvSpPr>
          <p:nvPr/>
        </p:nvSpPr>
        <p:spPr>
          <a:xfrm xmlns:a="http://schemas.openxmlformats.org/drawingml/2006/main">
            <a:off x="341947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Seoul, South Korea</a:t>
            </a:r>
          </a:p>
        </p:txBody>
      </p:sp>
      <p:sp>
        <p:nvSpPr>
          <p:cNvPr id="16" name="">
            <a:extLst xmlns:a="http://schemas.openxmlformats.org/drawingml/2006/main">
              <a:ext uri="{FF2B5EF4-FFF2-40B4-BE49-F238E27FC236}">
                <a16:creationId xmlns:a16="http://schemas.microsoft.com/office/drawing/2014/main" id="{AD5EBC1F-04F3-4845-B9E8-FA712BB514BA}"/>
              </a:ext>
            </a:extLst>
          </p:cNvPr>
          <p:cNvSpPr>
            <a:spLocks xmlns:a="http://schemas.openxmlformats.org/drawingml/2006/main" noGrp="1"/>
          </p:cNvSpPr>
          <p:nvPr/>
        </p:nvSpPr>
        <p:spPr>
          <a:xfrm xmlns:a="http://schemas.openxmlformats.org/drawingml/2006/main">
            <a:off x="615315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F5AA24E7-3338-40C0-B3BA-C87069FED46B}"/>
              </a:ext>
            </a:extLst>
          </p:cNvPr>
          <p:cNvSpPr>
            <a:spLocks xmlns:a="http://schemas.openxmlformats.org/drawingml/2006/main" noGrp="1"/>
          </p:cNvSpPr>
          <p:nvPr/>
        </p:nvSpPr>
        <p:spPr>
          <a:xfrm xmlns:a="http://schemas.openxmlformats.org/drawingml/2006/main">
            <a:off x="615315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2C522E8-493B-4F41-B830-5934EE4DD504}"/>
              </a:ext>
            </a:extLst>
          </p:cNvPr>
          <p:cNvSpPr>
            <a:spLocks xmlns:a="http://schemas.openxmlformats.org/drawingml/2006/main" noGrp="1"/>
          </p:cNvSpPr>
          <p:nvPr/>
        </p:nvSpPr>
        <p:spPr>
          <a:xfrm xmlns:a="http://schemas.openxmlformats.org/drawingml/2006/main">
            <a:off x="626745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19" name="">
            <a:extLst xmlns:a="http://schemas.openxmlformats.org/drawingml/2006/main">
              <a:ext uri="{FF2B5EF4-FFF2-40B4-BE49-F238E27FC236}">
                <a16:creationId xmlns:a16="http://schemas.microsoft.com/office/drawing/2014/main" id="{4C2B65F6-3174-4C4D-8F04-4D70B7542B80}"/>
              </a:ext>
            </a:extLst>
          </p:cNvPr>
          <p:cNvSpPr>
            <a:spLocks xmlns:a="http://schemas.openxmlformats.org/drawingml/2006/main" noGrp="1"/>
          </p:cNvSpPr>
          <p:nvPr/>
        </p:nvSpPr>
        <p:spPr>
          <a:xfrm xmlns:a="http://schemas.openxmlformats.org/drawingml/2006/main">
            <a:off x="626745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PRIVATE</a:t>
            </a:r>
          </a:p>
        </p:txBody>
      </p:sp>
      <p:sp>
        <p:nvSpPr>
          <p:cNvPr id="20" name="">
            <a:extLst xmlns:a="http://schemas.openxmlformats.org/drawingml/2006/main">
              <a:ext uri="{FF2B5EF4-FFF2-40B4-BE49-F238E27FC236}">
                <a16:creationId xmlns:a16="http://schemas.microsoft.com/office/drawing/2014/main" id="{C93A4DAD-2683-4862-9E3B-B380F0BD46EA}"/>
              </a:ext>
            </a:extLst>
          </p:cNvPr>
          <p:cNvSpPr>
            <a:spLocks xmlns:a="http://schemas.openxmlformats.org/drawingml/2006/main" noGrp="1"/>
          </p:cNvSpPr>
          <p:nvPr/>
        </p:nvSpPr>
        <p:spPr>
          <a:xfrm xmlns:a="http://schemas.openxmlformats.org/drawingml/2006/main">
            <a:off x="6267450" y="1619250"/>
            <a:ext cx="2505075" cy="228600"/>
          </a:xfrm>
          <a:prstGeom xmlns:a="http://schemas.openxmlformats.org/drawingml/2006/main" prst="rect">
            <a:avLst/>
          </a:prstGeom>
        </p:spPr>
        <p:txBody>
          <a:bodyPr xmlns:a="http://schemas.openxmlformats.org/drawingml/2006/main" lIns="0" tIns="0" rIns="0" bIns="0" anchor="t">
            <a:normAutofit fontScale="99755"/>
          </a:bodyPr>
          <a:lstStyle xmlns:a="http://schemas.openxmlformats.org/drawingml/2006/main"/>
          <a:p xmlns:a="http://schemas.openxmlformats.org/drawingml/2006/main">
            <a:pPr algn="l">
              <a:defRPr sz="800">
                <a:solidFill>
                  <a:srgbClr val="8EA0B2"/>
                </a:solidFill>
                <a:latin typeface="Arial"/>
                <a:ea typeface="Arial"/>
                <a:cs typeface="Arial"/>
              </a:defRPr>
            </a:pPr>
            <a:r>
              <a:t>Offices: San Jose, Detroit, Tokyo, Shanghai, Düsseldorf</a:t>
            </a:r>
          </a:p>
        </p:txBody>
      </p:sp>
      <p:sp>
        <p:nvSpPr>
          <p:cNvPr id="21" name="">
            <a:extLst xmlns:a="http://schemas.openxmlformats.org/drawingml/2006/main">
              <a:ext uri="{FF2B5EF4-FFF2-40B4-BE49-F238E27FC236}">
                <a16:creationId xmlns:a16="http://schemas.microsoft.com/office/drawing/2014/main" id="{272B7D88-70D4-414E-BC11-5426EF7A15EB}"/>
              </a:ext>
            </a:extLst>
          </p:cNvPr>
          <p:cNvSpPr>
            <a:spLocks xmlns:a="http://schemas.openxmlformats.org/drawingml/2006/main" noGrp="1"/>
          </p:cNvSpPr>
          <p:nvPr/>
        </p:nvSpPr>
        <p:spPr>
          <a:xfrm xmlns:a="http://schemas.openxmlformats.org/drawingml/2006/main">
            <a:off x="9001125" y="1085850"/>
            <a:ext cx="2733675" cy="800100"/>
          </a:xfrm>
          <a:prstGeom xmlns:a="http://schemas.openxmlformats.org/drawingml/2006/main" prst="rect">
            <a:avLst/>
          </a:prstGeom>
          <a:solidFill xmlns:a="http://schemas.openxmlformats.org/drawingml/2006/main">
            <a:srgbClr val="16243A"/>
          </a:solidFill>
          <a:ln xmlns:a="http://schemas.openxmlformats.org/drawingml/2006/main" w="9525">
            <a:solidFill>
              <a:srgbClr val="1A2F45"/>
            </a:solidFill>
            <a:prstDash val="solid"/>
          </a:ln>
        </p:spPr>
      </p:sp>
      <p:sp>
        <p:nvSpPr>
          <p:cNvPr id="22" name="">
            <a:extLst xmlns:a="http://schemas.openxmlformats.org/drawingml/2006/main">
              <a:ext uri="{FF2B5EF4-FFF2-40B4-BE49-F238E27FC236}">
                <a16:creationId xmlns:a16="http://schemas.microsoft.com/office/drawing/2014/main" id="{5AA46190-523A-43D1-AFAA-BA411EC2FB42}"/>
              </a:ext>
            </a:extLst>
          </p:cNvPr>
          <p:cNvSpPr>
            <a:spLocks xmlns:a="http://schemas.openxmlformats.org/drawingml/2006/main" noGrp="1"/>
          </p:cNvSpPr>
          <p:nvPr/>
        </p:nvSpPr>
        <p:spPr>
          <a:xfrm xmlns:a="http://schemas.openxmlformats.org/drawingml/2006/main">
            <a:off x="9001125" y="1085850"/>
            <a:ext cx="2733675"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517EB75-E5CA-4AD5-9A3A-25E1E39A716E}"/>
              </a:ext>
            </a:extLst>
          </p:cNvPr>
          <p:cNvSpPr>
            <a:spLocks xmlns:a="http://schemas.openxmlformats.org/drawingml/2006/main" noGrp="1"/>
          </p:cNvSpPr>
          <p:nvPr/>
        </p:nvSpPr>
        <p:spPr>
          <a:xfrm xmlns:a="http://schemas.openxmlformats.org/drawingml/2006/main">
            <a:off x="911542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CAPITAL</a:t>
            </a:r>
          </a:p>
        </p:txBody>
      </p:sp>
      <p:sp>
        <p:nvSpPr>
          <p:cNvPr id="24" name="">
            <a:extLst xmlns:a="http://schemas.openxmlformats.org/drawingml/2006/main">
              <a:ext uri="{FF2B5EF4-FFF2-40B4-BE49-F238E27FC236}">
                <a16:creationId xmlns:a16="http://schemas.microsoft.com/office/drawing/2014/main" id="{E942BFB6-E5C0-4C5B-909E-0E88D1BB18DA}"/>
              </a:ext>
            </a:extLst>
          </p:cNvPr>
          <p:cNvSpPr>
            <a:spLocks xmlns:a="http://schemas.openxmlformats.org/drawingml/2006/main" noGrp="1"/>
          </p:cNvSpPr>
          <p:nvPr/>
        </p:nvSpPr>
        <p:spPr>
          <a:xfrm xmlns:a="http://schemas.openxmlformats.org/drawingml/2006/main">
            <a:off x="911542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E06767"/>
                </a:solidFill>
                <a:latin typeface="Arial"/>
                <a:ea typeface="Arial"/>
                <a:cs typeface="Arial"/>
              </a:defRPr>
            </a:pPr>
            <a:r>
              <a:t>Not established</a:t>
            </a:r>
          </a:p>
        </p:txBody>
      </p:sp>
      <p:sp>
        <p:nvSpPr>
          <p:cNvPr id="25" name="">
            <a:extLst xmlns:a="http://schemas.openxmlformats.org/drawingml/2006/main">
              <a:ext uri="{FF2B5EF4-FFF2-40B4-BE49-F238E27FC236}">
                <a16:creationId xmlns:a16="http://schemas.microsoft.com/office/drawing/2014/main" id="{208FEDA3-DC4A-4CF2-8FBB-CA7FC2984747}"/>
              </a:ext>
            </a:extLst>
          </p:cNvPr>
          <p:cNvSpPr>
            <a:spLocks xmlns:a="http://schemas.openxmlformats.org/drawingml/2006/main" noGrp="1"/>
          </p:cNvSpPr>
          <p:nvPr/>
        </p:nvSpPr>
        <p:spPr>
          <a:xfrm xmlns:a="http://schemas.openxmlformats.org/drawingml/2006/main">
            <a:off x="9115425"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as of —</a:t>
            </a:r>
          </a:p>
        </p:txBody>
      </p:sp>
      <p:sp>
        <p:nvSpPr>
          <p:cNvPr id="26" name="">
            <a:extLst xmlns:a="http://schemas.openxmlformats.org/drawingml/2006/main">
              <a:ext uri="{FF2B5EF4-FFF2-40B4-BE49-F238E27FC236}">
                <a16:creationId xmlns:a16="http://schemas.microsoft.com/office/drawing/2014/main" id="{7CF3B3B9-7C0B-4D81-9302-B26B8838778B}"/>
              </a:ext>
            </a:extLst>
          </p:cNvPr>
          <p:cNvSpPr>
            <a:spLocks xmlns:a="http://schemas.openxmlformats.org/drawingml/2006/main" noGrp="1"/>
          </p:cNvSpPr>
          <p:nvPr/>
        </p:nvSpPr>
        <p:spPr>
          <a:xfrm xmlns:a="http://schemas.openxmlformats.org/drawingml/2006/main">
            <a:off x="4572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PEOPLE</a:t>
            </a:r>
          </a:p>
        </p:txBody>
      </p:sp>
      <p:sp>
        <p:nvSpPr>
          <p:cNvPr id="27" name="">
            <a:extLst xmlns:a="http://schemas.openxmlformats.org/drawingml/2006/main">
              <a:ext uri="{FF2B5EF4-FFF2-40B4-BE49-F238E27FC236}">
                <a16:creationId xmlns:a16="http://schemas.microsoft.com/office/drawing/2014/main" id="{7DEC96D5-99B8-44D2-90EF-BA6BEE9ABAB7}"/>
              </a:ext>
            </a:extLst>
          </p:cNvPr>
          <p:cNvSpPr>
            <a:spLocks xmlns:a="http://schemas.openxmlformats.org/drawingml/2006/main" noGrp="1"/>
          </p:cNvSpPr>
          <p:nvPr/>
        </p:nvSpPr>
        <p:spPr>
          <a:xfrm xmlns:a="http://schemas.openxmlformats.org/drawingml/2006/main">
            <a:off x="4572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300+</a:t>
            </a:r>
          </a:p>
        </p:txBody>
      </p:sp>
      <p:sp>
        <p:nvSpPr>
          <p:cNvPr id="28" name="">
            <a:extLst xmlns:a="http://schemas.openxmlformats.org/drawingml/2006/main">
              <a:ext uri="{FF2B5EF4-FFF2-40B4-BE49-F238E27FC236}">
                <a16:creationId xmlns:a16="http://schemas.microsoft.com/office/drawing/2014/main" id="{30567289-28A5-4B82-A0D9-3EAE407DB37C}"/>
              </a:ext>
            </a:extLst>
          </p:cNvPr>
          <p:cNvSpPr>
            <a:spLocks xmlns:a="http://schemas.openxmlformats.org/drawingml/2006/main" noGrp="1"/>
          </p:cNvSpPr>
          <p:nvPr/>
        </p:nvSpPr>
        <p:spPr>
          <a:xfrm xmlns:a="http://schemas.openxmlformats.org/drawingml/2006/main">
            <a:off x="42545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VALUE MOVE</a:t>
            </a:r>
          </a:p>
        </p:txBody>
      </p:sp>
      <p:sp>
        <p:nvSpPr>
          <p:cNvPr id="29" name="">
            <a:extLst xmlns:a="http://schemas.openxmlformats.org/drawingml/2006/main">
              <a:ext uri="{FF2B5EF4-FFF2-40B4-BE49-F238E27FC236}">
                <a16:creationId xmlns:a16="http://schemas.microsoft.com/office/drawing/2014/main" id="{48B22CD5-ED08-41FD-ACBD-D27F63D6FDE2}"/>
              </a:ext>
            </a:extLst>
          </p:cNvPr>
          <p:cNvSpPr>
            <a:spLocks xmlns:a="http://schemas.openxmlformats.org/drawingml/2006/main" noGrp="1"/>
          </p:cNvSpPr>
          <p:nvPr/>
        </p:nvSpPr>
        <p:spPr>
          <a:xfrm xmlns:a="http://schemas.openxmlformats.org/drawingml/2006/main">
            <a:off x="42545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300+ employees</a:t>
            </a:r>
          </a:p>
        </p:txBody>
      </p:sp>
      <p:sp>
        <p:nvSpPr>
          <p:cNvPr id="30" name="">
            <a:extLst xmlns:a="http://schemas.openxmlformats.org/drawingml/2006/main">
              <a:ext uri="{FF2B5EF4-FFF2-40B4-BE49-F238E27FC236}">
                <a16:creationId xmlns:a16="http://schemas.microsoft.com/office/drawing/2014/main" id="{F7A1820B-DC43-4E1A-80B9-A791C82F1271}"/>
              </a:ext>
            </a:extLst>
          </p:cNvPr>
          <p:cNvSpPr>
            <a:spLocks xmlns:a="http://schemas.openxmlformats.org/drawingml/2006/main" noGrp="1"/>
          </p:cNvSpPr>
          <p:nvPr/>
        </p:nvSpPr>
        <p:spPr>
          <a:xfrm xmlns:a="http://schemas.openxmlformats.org/drawingml/2006/main">
            <a:off x="80518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PARENT / BACKING</a:t>
            </a:r>
          </a:p>
        </p:txBody>
      </p:sp>
      <p:sp>
        <p:nvSpPr>
          <p:cNvPr id="31" name="">
            <a:extLst xmlns:a="http://schemas.openxmlformats.org/drawingml/2006/main">
              <a:ext uri="{FF2B5EF4-FFF2-40B4-BE49-F238E27FC236}">
                <a16:creationId xmlns:a16="http://schemas.microsoft.com/office/drawing/2014/main" id="{FCF09712-1CE6-4C51-B395-09EE71BCFE8A}"/>
              </a:ext>
            </a:extLst>
          </p:cNvPr>
          <p:cNvSpPr>
            <a:spLocks xmlns:a="http://schemas.openxmlformats.org/drawingml/2006/main" noGrp="1"/>
          </p:cNvSpPr>
          <p:nvPr/>
        </p:nvSpPr>
        <p:spPr>
          <a:xfrm xmlns:a="http://schemas.openxmlformats.org/drawingml/2006/main">
            <a:off x="80518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32" name="">
            <a:extLst xmlns:a="http://schemas.openxmlformats.org/drawingml/2006/main">
              <a:ext uri="{FF2B5EF4-FFF2-40B4-BE49-F238E27FC236}">
                <a16:creationId xmlns:a16="http://schemas.microsoft.com/office/drawing/2014/main" id="{F8C2E9CB-B0D4-4B24-97DF-71B0A99C9B7D}"/>
              </a:ext>
            </a:extLst>
          </p:cNvPr>
          <p:cNvSpPr>
            <a:spLocks xmlns:a="http://schemas.openxmlformats.org/drawingml/2006/main" noGrp="1"/>
          </p:cNvSpPr>
          <p:nvPr/>
        </p:nvSpPr>
        <p:spPr>
          <a:xfrm xmlns:a="http://schemas.openxmlformats.org/drawingml/2006/main">
            <a:off x="457200" y="24574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7EE7110-2992-4451-9D44-EA2942EF6713}"/>
              </a:ext>
            </a:extLst>
          </p:cNvPr>
          <p:cNvSpPr>
            <a:spLocks xmlns:a="http://schemas.openxmlformats.org/drawingml/2006/main" noGrp="1"/>
          </p:cNvSpPr>
          <p:nvPr/>
        </p:nvSpPr>
        <p:spPr>
          <a:xfrm xmlns:a="http://schemas.openxmlformats.org/drawingml/2006/main">
            <a:off x="457200" y="257175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WHAT IT SELLS</a:t>
            </a:r>
          </a:p>
        </p:txBody>
      </p:sp>
      <p:sp>
        <p:nvSpPr>
          <p:cNvPr id="34" name="">
            <a:extLst xmlns:a="http://schemas.openxmlformats.org/drawingml/2006/main">
              <a:ext uri="{FF2B5EF4-FFF2-40B4-BE49-F238E27FC236}">
                <a16:creationId xmlns:a16="http://schemas.microsoft.com/office/drawing/2014/main" id="{63E50365-7162-4826-A84F-D75B90BEE70B}"/>
              </a:ext>
            </a:extLst>
          </p:cNvPr>
          <p:cNvSpPr>
            <a:spLocks xmlns:a="http://schemas.openxmlformats.org/drawingml/2006/main" noGrp="1"/>
          </p:cNvSpPr>
          <p:nvPr/>
        </p:nvSpPr>
        <p:spPr>
          <a:xfrm xmlns:a="http://schemas.openxmlformats.org/drawingml/2006/main">
            <a:off x="457200" y="2733675"/>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SVNet — AI vision perception software for AEB, FCW and LDW on constrained hardware</a:t>
            </a:r>
          </a:p>
        </p:txBody>
      </p:sp>
      <p:sp>
        <p:nvSpPr>
          <p:cNvPr id="35" name="">
            <a:extLst xmlns:a="http://schemas.openxmlformats.org/drawingml/2006/main">
              <a:ext uri="{FF2B5EF4-FFF2-40B4-BE49-F238E27FC236}">
                <a16:creationId xmlns:a16="http://schemas.microsoft.com/office/drawing/2014/main" id="{4B4EDD65-5CCE-4C39-8998-CF49C9EE12EE}"/>
              </a:ext>
            </a:extLst>
          </p:cNvPr>
          <p:cNvSpPr>
            <a:spLocks xmlns:a="http://schemas.openxmlformats.org/drawingml/2006/main" noGrp="1"/>
          </p:cNvSpPr>
          <p:nvPr/>
        </p:nvSpPr>
        <p:spPr>
          <a:xfrm xmlns:a="http://schemas.openxmlformats.org/drawingml/2006/main">
            <a:off x="4572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3792CAE-DBD5-4C7B-B56A-125B70588B6D}"/>
              </a:ext>
            </a:extLst>
          </p:cNvPr>
          <p:cNvSpPr>
            <a:spLocks xmlns:a="http://schemas.openxmlformats.org/drawingml/2006/main" noGrp="1"/>
          </p:cNvSpPr>
          <p:nvPr/>
        </p:nvSpPr>
        <p:spPr>
          <a:xfrm xmlns:a="http://schemas.openxmlformats.org/drawingml/2006/main">
            <a:off x="5715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FOUNDED BY</a:t>
            </a:r>
          </a:p>
        </p:txBody>
      </p:sp>
      <p:sp>
        <p:nvSpPr>
          <p:cNvPr id="37" name="">
            <a:extLst xmlns:a="http://schemas.openxmlformats.org/drawingml/2006/main">
              <a:ext uri="{FF2B5EF4-FFF2-40B4-BE49-F238E27FC236}">
                <a16:creationId xmlns:a16="http://schemas.microsoft.com/office/drawing/2014/main" id="{486B1FA5-2559-4872-BF88-B11EA5A2FD5C}"/>
              </a:ext>
            </a:extLst>
          </p:cNvPr>
          <p:cNvSpPr>
            <a:spLocks xmlns:a="http://schemas.openxmlformats.org/drawingml/2006/main" noGrp="1"/>
          </p:cNvSpPr>
          <p:nvPr/>
        </p:nvSpPr>
        <p:spPr>
          <a:xfrm xmlns:a="http://schemas.openxmlformats.org/drawingml/2006/main">
            <a:off x="20574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Automotive AI vision specialists, Seoul</a:t>
            </a:r>
          </a:p>
        </p:txBody>
      </p:sp>
      <p:sp>
        <p:nvSpPr>
          <p:cNvPr id="38" name="">
            <a:extLst xmlns:a="http://schemas.openxmlformats.org/drawingml/2006/main">
              <a:ext uri="{FF2B5EF4-FFF2-40B4-BE49-F238E27FC236}">
                <a16:creationId xmlns:a16="http://schemas.microsoft.com/office/drawing/2014/main" id="{65418B8A-B97F-4071-918A-AC85E9BB71AA}"/>
              </a:ext>
            </a:extLst>
          </p:cNvPr>
          <p:cNvSpPr>
            <a:spLocks xmlns:a="http://schemas.openxmlformats.org/drawingml/2006/main" noGrp="1"/>
          </p:cNvSpPr>
          <p:nvPr/>
        </p:nvSpPr>
        <p:spPr>
          <a:xfrm xmlns:a="http://schemas.openxmlformats.org/drawingml/2006/main">
            <a:off x="62103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A9F685C2-1563-4019-B248-6FAE54C4FE01}"/>
              </a:ext>
            </a:extLst>
          </p:cNvPr>
          <p:cNvSpPr>
            <a:spLocks xmlns:a="http://schemas.openxmlformats.org/drawingml/2006/main" noGrp="1"/>
          </p:cNvSpPr>
          <p:nvPr/>
        </p:nvSpPr>
        <p:spPr>
          <a:xfrm xmlns:a="http://schemas.openxmlformats.org/drawingml/2006/main">
            <a:off x="63246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GLOBAL OFFICES</a:t>
            </a:r>
          </a:p>
        </p:txBody>
      </p:sp>
      <p:sp>
        <p:nvSpPr>
          <p:cNvPr id="40" name="">
            <a:extLst xmlns:a="http://schemas.openxmlformats.org/drawingml/2006/main">
              <a:ext uri="{FF2B5EF4-FFF2-40B4-BE49-F238E27FC236}">
                <a16:creationId xmlns:a16="http://schemas.microsoft.com/office/drawing/2014/main" id="{2BE02D25-6423-4756-8B6A-55A249061265}"/>
              </a:ext>
            </a:extLst>
          </p:cNvPr>
          <p:cNvSpPr>
            <a:spLocks xmlns:a="http://schemas.openxmlformats.org/drawingml/2006/main" noGrp="1"/>
          </p:cNvSpPr>
          <p:nvPr/>
        </p:nvSpPr>
        <p:spPr>
          <a:xfrm xmlns:a="http://schemas.openxmlformats.org/drawingml/2006/main">
            <a:off x="78105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San Jose · Detroit · Tokyo · Shanghai · Düsseldorf</a:t>
            </a:r>
          </a:p>
        </p:txBody>
      </p:sp>
      <p:sp>
        <p:nvSpPr>
          <p:cNvPr id="41" name="">
            <a:extLst xmlns:a="http://schemas.openxmlformats.org/drawingml/2006/main">
              <a:ext uri="{FF2B5EF4-FFF2-40B4-BE49-F238E27FC236}">
                <a16:creationId xmlns:a16="http://schemas.microsoft.com/office/drawing/2014/main" id="{5C46F30E-529A-49D9-868B-A9D78F73BEC3}"/>
              </a:ext>
            </a:extLst>
          </p:cNvPr>
          <p:cNvSpPr>
            <a:spLocks xmlns:a="http://schemas.openxmlformats.org/drawingml/2006/main" noGrp="1"/>
          </p:cNvSpPr>
          <p:nvPr/>
        </p:nvSpPr>
        <p:spPr>
          <a:xfrm xmlns:a="http://schemas.openxmlformats.org/drawingml/2006/main">
            <a:off x="4572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679CAE3-2AD3-4F58-9460-D6088316445E}"/>
              </a:ext>
            </a:extLst>
          </p:cNvPr>
          <p:cNvSpPr>
            <a:spLocks xmlns:a="http://schemas.openxmlformats.org/drawingml/2006/main" noGrp="1"/>
          </p:cNvSpPr>
          <p:nvPr/>
        </p:nvSpPr>
        <p:spPr>
          <a:xfrm xmlns:a="http://schemas.openxmlformats.org/drawingml/2006/main">
            <a:off x="5715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DEPLOYMENT</a:t>
            </a:r>
          </a:p>
        </p:txBody>
      </p:sp>
      <p:sp>
        <p:nvSpPr>
          <p:cNvPr id="43" name="">
            <a:extLst xmlns:a="http://schemas.openxmlformats.org/drawingml/2006/main">
              <a:ext uri="{FF2B5EF4-FFF2-40B4-BE49-F238E27FC236}">
                <a16:creationId xmlns:a16="http://schemas.microsoft.com/office/drawing/2014/main" id="{9C5DC810-32B4-46C6-BFFD-0F543B5AB6BB}"/>
              </a:ext>
            </a:extLst>
          </p:cNvPr>
          <p:cNvSpPr>
            <a:spLocks xmlns:a="http://schemas.openxmlformats.org/drawingml/2006/main" noGrp="1"/>
          </p:cNvSpPr>
          <p:nvPr/>
        </p:nvSpPr>
        <p:spPr>
          <a:xfrm xmlns:a="http://schemas.openxmlformats.org/drawingml/2006/main">
            <a:off x="20574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~5 million cumulative SVNet units</a:t>
            </a:r>
          </a:p>
        </p:txBody>
      </p:sp>
      <p:sp>
        <p:nvSpPr>
          <p:cNvPr id="44" name="">
            <a:extLst xmlns:a="http://schemas.openxmlformats.org/drawingml/2006/main">
              <a:ext uri="{FF2B5EF4-FFF2-40B4-BE49-F238E27FC236}">
                <a16:creationId xmlns:a16="http://schemas.microsoft.com/office/drawing/2014/main" id="{3E41449F-0882-4F28-9C17-79CFD5C2193B}"/>
              </a:ext>
            </a:extLst>
          </p:cNvPr>
          <p:cNvSpPr>
            <a:spLocks xmlns:a="http://schemas.openxmlformats.org/drawingml/2006/main" noGrp="1"/>
          </p:cNvSpPr>
          <p:nvPr/>
        </p:nvSpPr>
        <p:spPr>
          <a:xfrm xmlns:a="http://schemas.openxmlformats.org/drawingml/2006/main">
            <a:off x="62103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28635C8B-5E5C-4F36-8508-8AF669BFF70B}"/>
              </a:ext>
            </a:extLst>
          </p:cNvPr>
          <p:cNvSpPr>
            <a:spLocks xmlns:a="http://schemas.openxmlformats.org/drawingml/2006/main" noGrp="1"/>
          </p:cNvSpPr>
          <p:nvPr/>
        </p:nvSpPr>
        <p:spPr>
          <a:xfrm xmlns:a="http://schemas.openxmlformats.org/drawingml/2006/main">
            <a:off x="63246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FUNCTIONAL SAFETY</a:t>
            </a:r>
          </a:p>
        </p:txBody>
      </p:sp>
      <p:sp>
        <p:nvSpPr>
          <p:cNvPr id="46" name="">
            <a:extLst xmlns:a="http://schemas.openxmlformats.org/drawingml/2006/main">
              <a:ext uri="{FF2B5EF4-FFF2-40B4-BE49-F238E27FC236}">
                <a16:creationId xmlns:a16="http://schemas.microsoft.com/office/drawing/2014/main" id="{B618B925-2814-41AD-9310-D425D10B3962}"/>
              </a:ext>
            </a:extLst>
          </p:cNvPr>
          <p:cNvSpPr>
            <a:spLocks xmlns:a="http://schemas.openxmlformats.org/drawingml/2006/main" noGrp="1"/>
          </p:cNvSpPr>
          <p:nvPr/>
        </p:nvSpPr>
        <p:spPr>
          <a:xfrm xmlns:a="http://schemas.openxmlformats.org/drawingml/2006/main">
            <a:off x="78105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ISO 26262 — the credential DeepGrid lacks</a:t>
            </a:r>
          </a:p>
        </p:txBody>
      </p:sp>
      <p:sp>
        <p:nvSpPr>
          <p:cNvPr id="47" name="">
            <a:extLst xmlns:a="http://schemas.openxmlformats.org/drawingml/2006/main">
              <a:ext uri="{FF2B5EF4-FFF2-40B4-BE49-F238E27FC236}">
                <a16:creationId xmlns:a16="http://schemas.microsoft.com/office/drawing/2014/main" id="{5A8AFBAC-C915-4375-8735-7A7D63CB0970}"/>
              </a:ext>
            </a:extLst>
          </p:cNvPr>
          <p:cNvSpPr>
            <a:spLocks xmlns:a="http://schemas.openxmlformats.org/drawingml/2006/main" noGrp="1"/>
          </p:cNvSpPr>
          <p:nvPr/>
        </p:nvSpPr>
        <p:spPr>
          <a:xfrm xmlns:a="http://schemas.openxmlformats.org/drawingml/2006/main">
            <a:off x="4572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50C0E888-E340-4F10-AD54-3234B384A4CB}"/>
              </a:ext>
            </a:extLst>
          </p:cNvPr>
          <p:cNvSpPr>
            <a:spLocks xmlns:a="http://schemas.openxmlformats.org/drawingml/2006/main" noGrp="1"/>
          </p:cNvSpPr>
          <p:nvPr/>
        </p:nvSpPr>
        <p:spPr>
          <a:xfrm xmlns:a="http://schemas.openxmlformats.org/drawingml/2006/main">
            <a:off x="5715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SECURITY</a:t>
            </a:r>
          </a:p>
        </p:txBody>
      </p:sp>
      <p:sp>
        <p:nvSpPr>
          <p:cNvPr id="49" name="">
            <a:extLst xmlns:a="http://schemas.openxmlformats.org/drawingml/2006/main">
              <a:ext uri="{FF2B5EF4-FFF2-40B4-BE49-F238E27FC236}">
                <a16:creationId xmlns:a16="http://schemas.microsoft.com/office/drawing/2014/main" id="{43187533-20E7-4782-93DD-DE295C77956C}"/>
              </a:ext>
            </a:extLst>
          </p:cNvPr>
          <p:cNvSpPr>
            <a:spLocks xmlns:a="http://schemas.openxmlformats.org/drawingml/2006/main" noGrp="1"/>
          </p:cNvSpPr>
          <p:nvPr/>
        </p:nvSpPr>
        <p:spPr>
          <a:xfrm xmlns:a="http://schemas.openxmlformats.org/drawingml/2006/main">
            <a:off x="20574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TISAX AL3 · ISO 9001:2015</a:t>
            </a:r>
          </a:p>
        </p:txBody>
      </p:sp>
      <p:sp>
        <p:nvSpPr>
          <p:cNvPr id="50" name="">
            <a:extLst xmlns:a="http://schemas.openxmlformats.org/drawingml/2006/main">
              <a:ext uri="{FF2B5EF4-FFF2-40B4-BE49-F238E27FC236}">
                <a16:creationId xmlns:a16="http://schemas.microsoft.com/office/drawing/2014/main" id="{A62F898C-AC21-457A-A472-D1A187BF7684}"/>
              </a:ext>
            </a:extLst>
          </p:cNvPr>
          <p:cNvSpPr>
            <a:spLocks xmlns:a="http://schemas.openxmlformats.org/drawingml/2006/main" noGrp="1"/>
          </p:cNvSpPr>
          <p:nvPr/>
        </p:nvSpPr>
        <p:spPr>
          <a:xfrm xmlns:a="http://schemas.openxmlformats.org/drawingml/2006/main">
            <a:off x="62103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072DCCDE-035B-4C0B-8329-6C5155C7327C}"/>
              </a:ext>
            </a:extLst>
          </p:cNvPr>
          <p:cNvSpPr>
            <a:spLocks xmlns:a="http://schemas.openxmlformats.org/drawingml/2006/main" noGrp="1"/>
          </p:cNvSpPr>
          <p:nvPr/>
        </p:nvSpPr>
        <p:spPr>
          <a:xfrm xmlns:a="http://schemas.openxmlformats.org/drawingml/2006/main">
            <a:off x="63246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POSITION</a:t>
            </a:r>
          </a:p>
        </p:txBody>
      </p:sp>
      <p:sp>
        <p:nvSpPr>
          <p:cNvPr id="52" name="">
            <a:extLst xmlns:a="http://schemas.openxmlformats.org/drawingml/2006/main">
              <a:ext uri="{FF2B5EF4-FFF2-40B4-BE49-F238E27FC236}">
                <a16:creationId xmlns:a16="http://schemas.microsoft.com/office/drawing/2014/main" id="{600DAE6E-D653-435F-9E11-1516E27411E2}"/>
              </a:ext>
            </a:extLst>
          </p:cNvPr>
          <p:cNvSpPr>
            <a:spLocks xmlns:a="http://schemas.openxmlformats.org/drawingml/2006/main" noGrp="1"/>
          </p:cNvSpPr>
          <p:nvPr/>
        </p:nvSpPr>
        <p:spPr>
          <a:xfrm xmlns:a="http://schemas.openxmlformats.org/drawingml/2006/main">
            <a:off x="78105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Perception layer inside Aptiv Gen 7 camera</a:t>
            </a:r>
          </a:p>
        </p:txBody>
      </p:sp>
      <p:sp>
        <p:nvSpPr>
          <p:cNvPr id="53" name="">
            <a:extLst xmlns:a="http://schemas.openxmlformats.org/drawingml/2006/main">
              <a:ext uri="{FF2B5EF4-FFF2-40B4-BE49-F238E27FC236}">
                <a16:creationId xmlns:a16="http://schemas.microsoft.com/office/drawing/2014/main" id="{3A869D11-BE17-45F6-B7C7-89AB88902E34}"/>
              </a:ext>
            </a:extLst>
          </p:cNvPr>
          <p:cNvSpPr>
            <a:spLocks xmlns:a="http://schemas.openxmlformats.org/drawingml/2006/main" noGrp="1"/>
          </p:cNvSpPr>
          <p:nvPr/>
        </p:nvSpPr>
        <p:spPr>
          <a:xfrm xmlns:a="http://schemas.openxmlformats.org/drawingml/2006/main">
            <a:off x="457200" y="41910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4521E08D-4850-406A-AA65-BC33F3B5E604}"/>
              </a:ext>
            </a:extLst>
          </p:cNvPr>
          <p:cNvSpPr>
            <a:spLocks xmlns:a="http://schemas.openxmlformats.org/drawingml/2006/main" noGrp="1"/>
          </p:cNvSpPr>
          <p:nvPr/>
        </p:nvSpPr>
        <p:spPr>
          <a:xfrm xmlns:a="http://schemas.openxmlformats.org/drawingml/2006/main">
            <a:off x="457200" y="430530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OPEN ON THIS COMPANY</a:t>
            </a:r>
          </a:p>
        </p:txBody>
      </p:sp>
      <p:sp>
        <p:nvSpPr>
          <p:cNvPr id="55" name="">
            <a:extLst xmlns:a="http://schemas.openxmlformats.org/drawingml/2006/main">
              <a:ext uri="{FF2B5EF4-FFF2-40B4-BE49-F238E27FC236}">
                <a16:creationId xmlns:a16="http://schemas.microsoft.com/office/drawing/2014/main" id="{E3DBAD1C-7F64-47BD-A095-ACE8E3C9A5D3}"/>
              </a:ext>
            </a:extLst>
          </p:cNvPr>
          <p:cNvSpPr>
            <a:spLocks xmlns:a="http://schemas.openxmlformats.org/drawingml/2006/main" noGrp="1"/>
          </p:cNvSpPr>
          <p:nvPr/>
        </p:nvSpPr>
        <p:spPr>
          <a:xfrm xmlns:a="http://schemas.openxmlformats.org/drawingml/2006/main">
            <a:off x="4572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4123B56E-7F17-4394-B596-CA60A4917874}"/>
              </a:ext>
            </a:extLst>
          </p:cNvPr>
          <p:cNvSpPr>
            <a:spLocks xmlns:a="http://schemas.openxmlformats.org/drawingml/2006/main" noGrp="1"/>
          </p:cNvSpPr>
          <p:nvPr/>
        </p:nvSpPr>
        <p:spPr>
          <a:xfrm xmlns:a="http://schemas.openxmlformats.org/drawingml/2006/main">
            <a:off x="4572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Confirm ISO 26262 scope, edition and ASIL level</a:t>
            </a:r>
          </a:p>
        </p:txBody>
      </p:sp>
      <p:sp>
        <p:nvSpPr>
          <p:cNvPr id="57" name="">
            <a:extLst xmlns:a="http://schemas.openxmlformats.org/drawingml/2006/main">
              <a:ext uri="{FF2B5EF4-FFF2-40B4-BE49-F238E27FC236}">
                <a16:creationId xmlns:a16="http://schemas.microsoft.com/office/drawing/2014/main" id="{5B41C6E1-4264-4AD6-9876-13A212A81120}"/>
              </a:ext>
            </a:extLst>
          </p:cNvPr>
          <p:cNvSpPr>
            <a:spLocks xmlns:a="http://schemas.openxmlformats.org/drawingml/2006/main" noGrp="1"/>
          </p:cNvSpPr>
          <p:nvPr/>
        </p:nvSpPr>
        <p:spPr>
          <a:xfrm xmlns:a="http://schemas.openxmlformats.org/drawingml/2006/main">
            <a:off x="42545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70E21E4A-E54D-410B-A3DF-F8A2A7ECC528}"/>
              </a:ext>
            </a:extLst>
          </p:cNvPr>
          <p:cNvSpPr>
            <a:spLocks xmlns:a="http://schemas.openxmlformats.org/drawingml/2006/main" noGrp="1"/>
          </p:cNvSpPr>
          <p:nvPr/>
        </p:nvSpPr>
        <p:spPr>
          <a:xfrm xmlns:a="http://schemas.openxmlformats.org/drawingml/2006/main">
            <a:off x="42545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India CV program counterparty unnamed</a:t>
            </a:r>
          </a:p>
        </p:txBody>
      </p:sp>
      <p:sp>
        <p:nvSpPr>
          <p:cNvPr id="59" name="">
            <a:extLst xmlns:a="http://schemas.openxmlformats.org/drawingml/2006/main">
              <a:ext uri="{FF2B5EF4-FFF2-40B4-BE49-F238E27FC236}">
                <a16:creationId xmlns:a16="http://schemas.microsoft.com/office/drawing/2014/main" id="{F85593C8-5361-419B-9E8C-C85D9E4FF4F9}"/>
              </a:ext>
            </a:extLst>
          </p:cNvPr>
          <p:cNvSpPr>
            <a:spLocks xmlns:a="http://schemas.openxmlformats.org/drawingml/2006/main" noGrp="1"/>
          </p:cNvSpPr>
          <p:nvPr/>
        </p:nvSpPr>
        <p:spPr>
          <a:xfrm xmlns:a="http://schemas.openxmlformats.org/drawingml/2006/main">
            <a:off x="80518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CD1755C2-E6DD-4B1E-AFE5-FFDCF8D7FB36}"/>
              </a:ext>
            </a:extLst>
          </p:cNvPr>
          <p:cNvSpPr>
            <a:spLocks xmlns:a="http://schemas.openxmlformats.org/drawingml/2006/main" noGrp="1"/>
          </p:cNvSpPr>
          <p:nvPr/>
        </p:nvSpPr>
        <p:spPr>
          <a:xfrm xmlns:a="http://schemas.openxmlformats.org/drawingml/2006/main">
            <a:off x="80518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No public valuation to size the competitor</a:t>
            </a:r>
          </a:p>
        </p:txBody>
      </p:sp>
      <p:sp>
        <p:nvSpPr>
          <p:cNvPr id="61" name="">
            <a:extLst xmlns:a="http://schemas.openxmlformats.org/drawingml/2006/main">
              <a:ext uri="{FF2B5EF4-FFF2-40B4-BE49-F238E27FC236}">
                <a16:creationId xmlns:a16="http://schemas.microsoft.com/office/drawing/2014/main" id="{C6E56E8D-6E45-4AF6-AE27-16D5150CEB5B}"/>
              </a:ext>
            </a:extLst>
          </p:cNvPr>
          <p:cNvSpPr>
            <a:spLocks xmlns:a="http://schemas.openxmlformats.org/drawingml/2006/main" noGrp="1"/>
          </p:cNvSpPr>
          <p:nvPr/>
        </p:nvSpPr>
        <p:spPr>
          <a:xfrm xmlns:a="http://schemas.openxmlformats.org/drawingml/2006/main">
            <a:off x="457200" y="5029200"/>
            <a:ext cx="11277600"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B243ED67-93B8-42C0-8FCF-5069F4F73891}"/>
              </a:ext>
            </a:extLst>
          </p:cNvPr>
          <p:cNvSpPr>
            <a:spLocks xmlns:a="http://schemas.openxmlformats.org/drawingml/2006/main" noGrp="1"/>
          </p:cNvSpPr>
          <p:nvPr/>
        </p:nvSpPr>
        <p:spPr>
          <a:xfrm xmlns:a="http://schemas.openxmlformats.org/drawingml/2006/main">
            <a:off x="457200" y="514350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EVIDENCE POSTURE · VERIFIED</a:t>
            </a:r>
          </a:p>
        </p:txBody>
      </p:sp>
      <p:sp>
        <p:nvSpPr>
          <p:cNvPr id="63" name="">
            <a:extLst xmlns:a="http://schemas.openxmlformats.org/drawingml/2006/main">
              <a:ext uri="{FF2B5EF4-FFF2-40B4-BE49-F238E27FC236}">
                <a16:creationId xmlns:a16="http://schemas.microsoft.com/office/drawing/2014/main" id="{F851FA29-947F-4E49-B555-7EAFB75ECC50}"/>
              </a:ext>
            </a:extLst>
          </p:cNvPr>
          <p:cNvSpPr>
            <a:spLocks xmlns:a="http://schemas.openxmlformats.org/drawingml/2006/main" noGrp="1"/>
          </p:cNvSpPr>
          <p:nvPr/>
        </p:nvSpPr>
        <p:spPr>
          <a:xfrm xmlns:a="http://schemas.openxmlformats.org/drawingml/2006/main">
            <a:off x="9258300" y="5143500"/>
            <a:ext cx="2476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EV-SV-01 … EV-SV-06</a:t>
            </a:r>
          </a:p>
        </p:txBody>
      </p:sp>
      <p:sp>
        <p:nvSpPr>
          <p:cNvPr id="64" name="">
            <a:extLst xmlns:a="http://schemas.openxmlformats.org/drawingml/2006/main">
              <a:ext uri="{FF2B5EF4-FFF2-40B4-BE49-F238E27FC236}">
                <a16:creationId xmlns:a16="http://schemas.microsoft.com/office/drawing/2014/main" id="{82A1E200-3B91-4A4C-94E6-6FB6B2569AD9}"/>
              </a:ext>
            </a:extLst>
          </p:cNvPr>
          <p:cNvSpPr>
            <a:spLocks xmlns:a="http://schemas.openxmlformats.org/drawingml/2006/main" noGrp="1"/>
          </p:cNvSpPr>
          <p:nvPr/>
        </p:nvSpPr>
        <p:spPr>
          <a:xfrm xmlns:a="http://schemas.openxmlformats.org/drawingml/2006/main">
            <a:off x="457200" y="5334000"/>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300-person private company — smaller than most of the field — occupying exactly the position DeepGrid is bidding for, with ISO 26262 and ~5m units. Both the proof the strategy works and the incumbent in the seat.</a:t>
            </a:r>
          </a:p>
        </p:txBody>
      </p:sp>
      <p:sp>
        <p:nvSpPr>
          <p:cNvPr id="65" name="">
            <a:extLst xmlns:a="http://schemas.openxmlformats.org/drawingml/2006/main">
              <a:ext uri="{FF2B5EF4-FFF2-40B4-BE49-F238E27FC236}">
                <a16:creationId xmlns:a16="http://schemas.microsoft.com/office/drawing/2014/main" id="{F20F389C-D23C-43E7-8698-2CB1E362FCA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B5C4E0DE-F1FC-4E98-8FF2-F117A0145D3F}"/>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7" name="">
            <a:extLst xmlns:a="http://schemas.openxmlformats.org/drawingml/2006/main">
              <a:ext uri="{FF2B5EF4-FFF2-40B4-BE49-F238E27FC236}">
                <a16:creationId xmlns:a16="http://schemas.microsoft.com/office/drawing/2014/main" id="{5E60C208-08E6-4019-803E-76B51712CD7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40</a:t>
            </a:r>
          </a:p>
        </p:txBody>
      </p:sp>
    </p:spTree>
    <p:extLst>
      <p:ext uri="{BB962C8B-B14F-4D97-AF65-F5344CB8AC3E}">
        <p14:creationId xmlns:p14="http://schemas.microsoft.com/office/powerpoint/2010/main" val="650783975"/>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731478D-362E-4F71-979C-48719AD966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9B9307E-B9EF-4007-A8CC-D53C9B7BDA2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6043F5E-B270-4E0C-BA9F-D0EA38EF0FD9}"/>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AI USE CASES · STRADVISION</a:t>
            </a:r>
          </a:p>
        </p:txBody>
      </p:sp>
      <p:sp>
        <p:nvSpPr>
          <p:cNvPr id="4" name="">
            <a:extLst xmlns:a="http://schemas.openxmlformats.org/drawingml/2006/main">
              <a:ext uri="{FF2B5EF4-FFF2-40B4-BE49-F238E27FC236}">
                <a16:creationId xmlns:a16="http://schemas.microsoft.com/office/drawing/2014/main" id="{38CE027D-8723-4188-918C-47C8C3A0660E}"/>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What STRADVISION's AI actually does</a:t>
            </a:r>
          </a:p>
        </p:txBody>
      </p:sp>
      <p:sp>
        <p:nvSpPr>
          <p:cNvPr id="5" name="">
            <a:extLst xmlns:a="http://schemas.openxmlformats.org/drawingml/2006/main">
              <a:ext uri="{FF2B5EF4-FFF2-40B4-BE49-F238E27FC236}">
                <a16:creationId xmlns:a16="http://schemas.microsoft.com/office/drawing/2014/main" id="{2F2735F6-323F-491C-B631-3496AC536D6D}"/>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Threat ratings describe how worried to be. This describes what the system is — which is what decides whether DeepGrid displaces, attaches to, or ignores it.</a:t>
            </a:r>
          </a:p>
        </p:txBody>
      </p:sp>
      <p:sp>
        <p:nvSpPr>
          <p:cNvPr id="6" name="">
            <a:extLst xmlns:a="http://schemas.openxmlformats.org/drawingml/2006/main">
              <a:ext uri="{FF2B5EF4-FFF2-40B4-BE49-F238E27FC236}">
                <a16:creationId xmlns:a16="http://schemas.microsoft.com/office/drawing/2014/main" id="{D7E9523B-9E62-4C6B-8BD7-05BEF3BFF1FB}"/>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75E999A-C01A-4B12-9A9F-2D09223060F1}"/>
              </a:ext>
            </a:extLst>
          </p:cNvPr>
          <p:cNvSpPr>
            <a:spLocks xmlns:a="http://schemas.openxmlformats.org/drawingml/2006/main" noGrp="1"/>
          </p:cNvSpPr>
          <p:nvPr/>
        </p:nvSpPr>
        <p:spPr>
          <a:xfrm xmlns:a="http://schemas.openxmlformats.org/drawingml/2006/main">
            <a:off x="457200" y="11239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2A61157-C274-4511-91A1-EA79B5E95D69}"/>
              </a:ext>
            </a:extLst>
          </p:cNvPr>
          <p:cNvSpPr>
            <a:spLocks xmlns:a="http://schemas.openxmlformats.org/drawingml/2006/main" noGrp="1"/>
          </p:cNvSpPr>
          <p:nvPr/>
        </p:nvSpPr>
        <p:spPr>
          <a:xfrm xmlns:a="http://schemas.openxmlformats.org/drawingml/2006/main">
            <a:off x="609600" y="11620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PATTERN</a:t>
            </a:r>
          </a:p>
        </p:txBody>
      </p:sp>
      <p:sp>
        <p:nvSpPr>
          <p:cNvPr id="9" name="">
            <a:extLst xmlns:a="http://schemas.openxmlformats.org/drawingml/2006/main">
              <a:ext uri="{FF2B5EF4-FFF2-40B4-BE49-F238E27FC236}">
                <a16:creationId xmlns:a16="http://schemas.microsoft.com/office/drawing/2014/main" id="{93008409-4A02-44BB-9ADD-AEC536EC389E}"/>
              </a:ext>
            </a:extLst>
          </p:cNvPr>
          <p:cNvSpPr>
            <a:spLocks xmlns:a="http://schemas.openxmlformats.org/drawingml/2006/main" noGrp="1"/>
          </p:cNvSpPr>
          <p:nvPr/>
        </p:nvSpPr>
        <p:spPr>
          <a:xfrm xmlns:a="http://schemas.openxmlformats.org/drawingml/2006/main">
            <a:off x="2743200" y="11620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P-VIS supplied into a customer's P-ACT — DeepGrid's exact target slot</a:t>
            </a:r>
          </a:p>
        </p:txBody>
      </p:sp>
      <p:sp>
        <p:nvSpPr>
          <p:cNvPr id="10" name="">
            <a:extLst xmlns:a="http://schemas.openxmlformats.org/drawingml/2006/main">
              <a:ext uri="{FF2B5EF4-FFF2-40B4-BE49-F238E27FC236}">
                <a16:creationId xmlns:a16="http://schemas.microsoft.com/office/drawing/2014/main" id="{F268CD80-5743-460E-A32C-DB80F61FE38A}"/>
              </a:ext>
            </a:extLst>
          </p:cNvPr>
          <p:cNvSpPr>
            <a:spLocks xmlns:a="http://schemas.openxmlformats.org/drawingml/2006/main" noGrp="1"/>
          </p:cNvSpPr>
          <p:nvPr/>
        </p:nvSpPr>
        <p:spPr>
          <a:xfrm xmlns:a="http://schemas.openxmlformats.org/drawingml/2006/main">
            <a:off x="457200" y="15430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419D589-B540-4A7A-9986-F0EEE5754A06}"/>
              </a:ext>
            </a:extLst>
          </p:cNvPr>
          <p:cNvSpPr>
            <a:spLocks xmlns:a="http://schemas.openxmlformats.org/drawingml/2006/main" noGrp="1"/>
          </p:cNvSpPr>
          <p:nvPr/>
        </p:nvSpPr>
        <p:spPr>
          <a:xfrm xmlns:a="http://schemas.openxmlformats.org/drawingml/2006/main">
            <a:off x="609600" y="15811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FUNCTIONS</a:t>
            </a:r>
          </a:p>
        </p:txBody>
      </p:sp>
      <p:sp>
        <p:nvSpPr>
          <p:cNvPr id="12" name="">
            <a:extLst xmlns:a="http://schemas.openxmlformats.org/drawingml/2006/main">
              <a:ext uri="{FF2B5EF4-FFF2-40B4-BE49-F238E27FC236}">
                <a16:creationId xmlns:a16="http://schemas.microsoft.com/office/drawing/2014/main" id="{CD637871-E830-48E7-9998-9A7EDD88D545}"/>
              </a:ext>
            </a:extLst>
          </p:cNvPr>
          <p:cNvSpPr>
            <a:spLocks xmlns:a="http://schemas.openxmlformats.org/drawingml/2006/main" noGrp="1"/>
          </p:cNvSpPr>
          <p:nvPr/>
        </p:nvSpPr>
        <p:spPr>
          <a:xfrm xmlns:a="http://schemas.openxmlformats.org/drawingml/2006/main">
            <a:off x="2743200" y="15811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Object detection + classification driving AEB, FCW, LDW from ONE stack</a:t>
            </a:r>
          </a:p>
        </p:txBody>
      </p:sp>
      <p:sp>
        <p:nvSpPr>
          <p:cNvPr id="13" name="">
            <a:extLst xmlns:a="http://schemas.openxmlformats.org/drawingml/2006/main">
              <a:ext uri="{FF2B5EF4-FFF2-40B4-BE49-F238E27FC236}">
                <a16:creationId xmlns:a16="http://schemas.microsoft.com/office/drawing/2014/main" id="{9394B7FD-72BF-4E96-B0B0-8BD89B791B99}"/>
              </a:ext>
            </a:extLst>
          </p:cNvPr>
          <p:cNvSpPr>
            <a:spLocks xmlns:a="http://schemas.openxmlformats.org/drawingml/2006/main" noGrp="1"/>
          </p:cNvSpPr>
          <p:nvPr/>
        </p:nvSpPr>
        <p:spPr>
          <a:xfrm xmlns:a="http://schemas.openxmlformats.org/drawingml/2006/main">
            <a:off x="457200" y="19621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7FAB431-43C3-4A1C-B1D1-21B8952D9DBD}"/>
              </a:ext>
            </a:extLst>
          </p:cNvPr>
          <p:cNvSpPr>
            <a:spLocks xmlns:a="http://schemas.openxmlformats.org/drawingml/2006/main" noGrp="1"/>
          </p:cNvSpPr>
          <p:nvPr/>
        </p:nvSpPr>
        <p:spPr>
          <a:xfrm xmlns:a="http://schemas.openxmlformats.org/drawingml/2006/main">
            <a:off x="609600" y="20002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COMPUTE</a:t>
            </a:r>
          </a:p>
        </p:txBody>
      </p:sp>
      <p:sp>
        <p:nvSpPr>
          <p:cNvPr id="15" name="">
            <a:extLst xmlns:a="http://schemas.openxmlformats.org/drawingml/2006/main">
              <a:ext uri="{FF2B5EF4-FFF2-40B4-BE49-F238E27FC236}">
                <a16:creationId xmlns:a16="http://schemas.microsoft.com/office/drawing/2014/main" id="{94D45D46-537E-4DFD-BD74-903D546908F9}"/>
              </a:ext>
            </a:extLst>
          </p:cNvPr>
          <p:cNvSpPr>
            <a:spLocks xmlns:a="http://schemas.openxmlformats.org/drawingml/2006/main" noGrp="1"/>
          </p:cNvSpPr>
          <p:nvPr/>
        </p:nvSpPr>
        <p:spPr>
          <a:xfrm xmlns:a="http://schemas.openxmlformats.org/drawingml/2006/main">
            <a:off x="2743200" y="20002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Explicitly designed for low-cost, resource-constrained hardware</a:t>
            </a:r>
          </a:p>
        </p:txBody>
      </p:sp>
      <p:sp>
        <p:nvSpPr>
          <p:cNvPr id="16" name="">
            <a:extLst xmlns:a="http://schemas.openxmlformats.org/drawingml/2006/main">
              <a:ext uri="{FF2B5EF4-FFF2-40B4-BE49-F238E27FC236}">
                <a16:creationId xmlns:a16="http://schemas.microsoft.com/office/drawing/2014/main" id="{0D0B900C-3CFF-45C0-AEC3-F6B7EDC9DC36}"/>
              </a:ext>
            </a:extLst>
          </p:cNvPr>
          <p:cNvSpPr>
            <a:spLocks xmlns:a="http://schemas.openxmlformats.org/drawingml/2006/main" noGrp="1"/>
          </p:cNvSpPr>
          <p:nvPr/>
        </p:nvSpPr>
        <p:spPr>
          <a:xfrm xmlns:a="http://schemas.openxmlformats.org/drawingml/2006/main">
            <a:off x="457200" y="23812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58F3125-193E-474A-8DFA-5AE8B940933E}"/>
              </a:ext>
            </a:extLst>
          </p:cNvPr>
          <p:cNvSpPr>
            <a:spLocks xmlns:a="http://schemas.openxmlformats.org/drawingml/2006/main" noGrp="1"/>
          </p:cNvSpPr>
          <p:nvPr/>
        </p:nvSpPr>
        <p:spPr>
          <a:xfrm xmlns:a="http://schemas.openxmlformats.org/drawingml/2006/main">
            <a:off x="609600" y="24193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SCALE</a:t>
            </a:r>
          </a:p>
        </p:txBody>
      </p:sp>
      <p:sp>
        <p:nvSpPr>
          <p:cNvPr id="18" name="">
            <a:extLst xmlns:a="http://schemas.openxmlformats.org/drawingml/2006/main">
              <a:ext uri="{FF2B5EF4-FFF2-40B4-BE49-F238E27FC236}">
                <a16:creationId xmlns:a16="http://schemas.microsoft.com/office/drawing/2014/main" id="{95EB5223-D43E-41E7-B011-9CB1DABD811E}"/>
              </a:ext>
            </a:extLst>
          </p:cNvPr>
          <p:cNvSpPr>
            <a:spLocks xmlns:a="http://schemas.openxmlformats.org/drawingml/2006/main" noGrp="1"/>
          </p:cNvSpPr>
          <p:nvPr/>
        </p:nvSpPr>
        <p:spPr>
          <a:xfrm xmlns:a="http://schemas.openxmlformats.org/drawingml/2006/main">
            <a:off x="2743200" y="24193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~5 million cumulative SVNet units deployed globally</a:t>
            </a:r>
          </a:p>
        </p:txBody>
      </p:sp>
      <p:sp>
        <p:nvSpPr>
          <p:cNvPr id="19" name="">
            <a:extLst xmlns:a="http://schemas.openxmlformats.org/drawingml/2006/main">
              <a:ext uri="{FF2B5EF4-FFF2-40B4-BE49-F238E27FC236}">
                <a16:creationId xmlns:a16="http://schemas.microsoft.com/office/drawing/2014/main" id="{317F81B0-A899-41A1-9EAF-CDDB91E5E358}"/>
              </a:ext>
            </a:extLst>
          </p:cNvPr>
          <p:cNvSpPr>
            <a:spLocks xmlns:a="http://schemas.openxmlformats.org/drawingml/2006/main" noGrp="1"/>
          </p:cNvSpPr>
          <p:nvPr/>
        </p:nvSpPr>
        <p:spPr>
          <a:xfrm xmlns:a="http://schemas.openxmlformats.org/drawingml/2006/main">
            <a:off x="457200" y="28003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7A24038-27BD-469F-93FD-9707F37F8E0B}"/>
              </a:ext>
            </a:extLst>
          </p:cNvPr>
          <p:cNvSpPr>
            <a:spLocks xmlns:a="http://schemas.openxmlformats.org/drawingml/2006/main" noGrp="1"/>
          </p:cNvSpPr>
          <p:nvPr/>
        </p:nvSpPr>
        <p:spPr>
          <a:xfrm xmlns:a="http://schemas.openxmlformats.org/drawingml/2006/main">
            <a:off x="609600" y="28384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CERTIFICATION</a:t>
            </a:r>
          </a:p>
        </p:txBody>
      </p:sp>
      <p:sp>
        <p:nvSpPr>
          <p:cNvPr id="21" name="">
            <a:extLst xmlns:a="http://schemas.openxmlformats.org/drawingml/2006/main">
              <a:ext uri="{FF2B5EF4-FFF2-40B4-BE49-F238E27FC236}">
                <a16:creationId xmlns:a16="http://schemas.microsoft.com/office/drawing/2014/main" id="{C2786159-B319-4851-B9B5-6EB4A946EFDB}"/>
              </a:ext>
            </a:extLst>
          </p:cNvPr>
          <p:cNvSpPr>
            <a:spLocks xmlns:a="http://schemas.openxmlformats.org/drawingml/2006/main" noGrp="1"/>
          </p:cNvSpPr>
          <p:nvPr/>
        </p:nvSpPr>
        <p:spPr>
          <a:xfrm xmlns:a="http://schemas.openxmlformats.org/drawingml/2006/main">
            <a:off x="2743200" y="28384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ISO 26262 · ISO 9001:2015 · TISAX AL3</a:t>
            </a:r>
          </a:p>
        </p:txBody>
      </p:sp>
      <p:sp>
        <p:nvSpPr>
          <p:cNvPr id="22" name="">
            <a:extLst xmlns:a="http://schemas.openxmlformats.org/drawingml/2006/main">
              <a:ext uri="{FF2B5EF4-FFF2-40B4-BE49-F238E27FC236}">
                <a16:creationId xmlns:a16="http://schemas.microsoft.com/office/drawing/2014/main" id="{A315DAE6-952B-47B4-9F06-D24BEA1CF47D}"/>
              </a:ext>
            </a:extLst>
          </p:cNvPr>
          <p:cNvSpPr>
            <a:spLocks xmlns:a="http://schemas.openxmlformats.org/drawingml/2006/main" noGrp="1"/>
          </p:cNvSpPr>
          <p:nvPr/>
        </p:nvSpPr>
        <p:spPr>
          <a:xfrm xmlns:a="http://schemas.openxmlformats.org/drawingml/2006/main">
            <a:off x="457200" y="32575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E39E09C-105F-403D-AF80-8AC90E643BE8}"/>
              </a:ext>
            </a:extLst>
          </p:cNvPr>
          <p:cNvSpPr>
            <a:spLocks xmlns:a="http://schemas.openxmlformats.org/drawingml/2006/main" noGrp="1"/>
          </p:cNvSpPr>
          <p:nvPr/>
        </p:nvSpPr>
        <p:spPr>
          <a:xfrm xmlns:a="http://schemas.openxmlformats.org/drawingml/2006/main">
            <a:off x="457200" y="33718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IMPLICATION FOR DEEPGRID</a:t>
            </a:r>
          </a:p>
        </p:txBody>
      </p:sp>
      <p:sp>
        <p:nvSpPr>
          <p:cNvPr id="24" name="">
            <a:extLst xmlns:a="http://schemas.openxmlformats.org/drawingml/2006/main">
              <a:ext uri="{FF2B5EF4-FFF2-40B4-BE49-F238E27FC236}">
                <a16:creationId xmlns:a16="http://schemas.microsoft.com/office/drawing/2014/main" id="{35A9360D-A341-4F12-AA54-0B51F2D89E80}"/>
              </a:ext>
            </a:extLst>
          </p:cNvPr>
          <p:cNvSpPr>
            <a:spLocks xmlns:a="http://schemas.openxmlformats.org/drawingml/2006/main" noGrp="1"/>
          </p:cNvSpPr>
          <p:nvPr/>
        </p:nvSpPr>
        <p:spPr>
          <a:xfrm xmlns:a="http://schemas.openxmlformats.org/drawingml/2006/main">
            <a:off x="457200" y="3562350"/>
            <a:ext cx="112776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300-person private company — smaller than most of the field — occupying exactly the position DeepGrid is bidding for, with ISO 26262 and ~5m units. Both the proof the strategy works and the incumbent in the seat.</a:t>
            </a:r>
          </a:p>
        </p:txBody>
      </p:sp>
      <p:sp>
        <p:nvSpPr>
          <p:cNvPr id="25" name="">
            <a:extLst xmlns:a="http://schemas.openxmlformats.org/drawingml/2006/main">
              <a:ext uri="{FF2B5EF4-FFF2-40B4-BE49-F238E27FC236}">
                <a16:creationId xmlns:a16="http://schemas.microsoft.com/office/drawing/2014/main" id="{DB8A6F39-A9BE-446F-A7D2-32840052ADDC}"/>
              </a:ext>
            </a:extLst>
          </p:cNvPr>
          <p:cNvSpPr>
            <a:spLocks xmlns:a="http://schemas.openxmlformats.org/drawingml/2006/main" noGrp="1"/>
          </p:cNvSpPr>
          <p:nvPr/>
        </p:nvSpPr>
        <p:spPr>
          <a:xfrm xmlns:a="http://schemas.openxmlformats.org/drawingml/2006/main">
            <a:off x="457200" y="4248150"/>
            <a:ext cx="11277600" cy="7048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6" name="">
            <a:extLst xmlns:a="http://schemas.openxmlformats.org/drawingml/2006/main">
              <a:ext uri="{FF2B5EF4-FFF2-40B4-BE49-F238E27FC236}">
                <a16:creationId xmlns:a16="http://schemas.microsoft.com/office/drawing/2014/main" id="{A3FE4ECF-7FC5-4B05-90E9-C4644F4D5AFF}"/>
              </a:ext>
            </a:extLst>
          </p:cNvPr>
          <p:cNvSpPr>
            <a:spLocks xmlns:a="http://schemas.openxmlformats.org/drawingml/2006/main" noGrp="1"/>
          </p:cNvSpPr>
          <p:nvPr/>
        </p:nvSpPr>
        <p:spPr>
          <a:xfrm xmlns:a="http://schemas.openxmlformats.org/drawingml/2006/main">
            <a:off x="457200" y="4248150"/>
            <a:ext cx="38100" cy="704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74191DE-3737-4081-9F1B-E7D6407EB701}"/>
              </a:ext>
            </a:extLst>
          </p:cNvPr>
          <p:cNvSpPr>
            <a:spLocks xmlns:a="http://schemas.openxmlformats.org/drawingml/2006/main" noGrp="1"/>
          </p:cNvSpPr>
          <p:nvPr/>
        </p:nvSpPr>
        <p:spPr>
          <a:xfrm xmlns:a="http://schemas.openxmlformats.org/drawingml/2006/main">
            <a:off x="628650" y="4362450"/>
            <a:ext cx="8420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P-ACT · REACHES BRAKE ACTUATION</a:t>
            </a:r>
          </a:p>
        </p:txBody>
      </p:sp>
      <p:sp>
        <p:nvSpPr>
          <p:cNvPr id="28" name="">
            <a:extLst xmlns:a="http://schemas.openxmlformats.org/drawingml/2006/main">
              <a:ext uri="{FF2B5EF4-FFF2-40B4-BE49-F238E27FC236}">
                <a16:creationId xmlns:a16="http://schemas.microsoft.com/office/drawing/2014/main" id="{7A5935DB-20B5-4301-989B-8FBAFA6624AB}"/>
              </a:ext>
            </a:extLst>
          </p:cNvPr>
          <p:cNvSpPr>
            <a:spLocks xmlns:a="http://schemas.openxmlformats.org/drawingml/2006/main" noGrp="1"/>
          </p:cNvSpPr>
          <p:nvPr/>
        </p:nvSpPr>
        <p:spPr>
          <a:xfrm xmlns:a="http://schemas.openxmlformats.org/drawingml/2006/main">
            <a:off x="628650" y="4552950"/>
            <a:ext cx="8420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Cannot be displaced by a better perception layer alone. The move is to attach INTO this stack, not to compete with it.</a:t>
            </a:r>
          </a:p>
        </p:txBody>
      </p:sp>
      <p:sp>
        <p:nvSpPr>
          <p:cNvPr id="29" name="">
            <a:extLst xmlns:a="http://schemas.openxmlformats.org/drawingml/2006/main">
              <a:ext uri="{FF2B5EF4-FFF2-40B4-BE49-F238E27FC236}">
                <a16:creationId xmlns:a16="http://schemas.microsoft.com/office/drawing/2014/main" id="{90743257-99AB-49EA-BC2C-4022B917F24B}"/>
              </a:ext>
            </a:extLst>
          </p:cNvPr>
          <p:cNvSpPr>
            <a:spLocks xmlns:a="http://schemas.openxmlformats.org/drawingml/2006/main" noGrp="1"/>
          </p:cNvSpPr>
          <p:nvPr/>
        </p:nvSpPr>
        <p:spPr>
          <a:xfrm xmlns:a="http://schemas.openxmlformats.org/drawingml/2006/main">
            <a:off x="9163050" y="436245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a:solidFill>
                  <a:srgbClr val="8EA0B2"/>
                </a:solidFill>
                <a:latin typeface="Arial"/>
                <a:ea typeface="Arial"/>
                <a:cs typeface="Arial"/>
              </a:defRPr>
            </a:pPr>
            <a:r>
              <a:t>Evidence · EV-SV-01 … EV-SV-06</a:t>
            </a:r>
          </a:p>
        </p:txBody>
      </p:sp>
      <p:sp>
        <p:nvSpPr>
          <p:cNvPr id="30" name="">
            <a:extLst xmlns:a="http://schemas.openxmlformats.org/drawingml/2006/main">
              <a:ext uri="{FF2B5EF4-FFF2-40B4-BE49-F238E27FC236}">
                <a16:creationId xmlns:a16="http://schemas.microsoft.com/office/drawing/2014/main" id="{B205BB6B-E588-4D26-BD01-DBBB618460BF}"/>
              </a:ext>
            </a:extLst>
          </p:cNvPr>
          <p:cNvSpPr>
            <a:spLocks xmlns:a="http://schemas.openxmlformats.org/drawingml/2006/main" noGrp="1"/>
          </p:cNvSpPr>
          <p:nvPr/>
        </p:nvSpPr>
        <p:spPr>
          <a:xfrm xmlns:a="http://schemas.openxmlformats.org/drawingml/2006/main">
            <a:off x="9163050" y="453390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1BA271"/>
                </a:solidFill>
                <a:latin typeface="Arial"/>
                <a:ea typeface="Arial"/>
                <a:cs typeface="Arial"/>
              </a:defRPr>
            </a:pPr>
            <a:r>
              <a:t>Posture · VERIFIED</a:t>
            </a:r>
          </a:p>
        </p:txBody>
      </p:sp>
      <p:sp>
        <p:nvSpPr>
          <p:cNvPr id="31" name="">
            <a:extLst xmlns:a="http://schemas.openxmlformats.org/drawingml/2006/main">
              <a:ext uri="{FF2B5EF4-FFF2-40B4-BE49-F238E27FC236}">
                <a16:creationId xmlns:a16="http://schemas.microsoft.com/office/drawing/2014/main" id="{5AD28A03-67FC-4E76-8758-A5380363600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90A38D2-8BAB-4307-9ED4-C089B69D7C6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738C465A-828C-4C5A-B427-5D65728CDCF5}"/>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41</a:t>
            </a:r>
          </a:p>
        </p:txBody>
      </p:sp>
    </p:spTree>
    <p:extLst>
      <p:ext uri="{BB962C8B-B14F-4D97-AF65-F5344CB8AC3E}">
        <p14:creationId xmlns:p14="http://schemas.microsoft.com/office/powerpoint/2010/main" val="246210857"/>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C49F30F0-9BF2-4710-B9E3-B4256B8B60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C0A4C67-4A54-4332-A8D5-51057049D578}"/>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F50BF96-FB3B-4755-9B4F-94B2D41B5AF5}"/>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73E8F6C6-814A-4EDE-B925-BD03450ABA63}"/>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D6C811B9-69AD-47F7-A72F-8E4CA58DD5BD}"/>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STRADVISION: Credible perception-layer comparator; India CV specifics not established</a:t>
            </a:r>
          </a:p>
        </p:txBody>
      </p:sp>
      <p:sp>
        <p:nvSpPr>
          <p:cNvPr id="6" name="">
            <a:extLst xmlns:a="http://schemas.openxmlformats.org/drawingml/2006/main">
              <a:ext uri="{FF2B5EF4-FFF2-40B4-BE49-F238E27FC236}">
                <a16:creationId xmlns:a16="http://schemas.microsoft.com/office/drawing/2014/main" id="{51699019-8A6C-4537-9527-403794EA423D}"/>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F11A3EC-90B6-4D9B-8C49-7DFB8538A873}"/>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evidence supports a direct software-layer threat, and what remains unverified?</a:t>
            </a:r>
          </a:p>
        </p:txBody>
      </p:sp>
      <p:sp>
        <p:nvSpPr>
          <p:cNvPr id="8" name="">
            <a:extLst xmlns:a="http://schemas.openxmlformats.org/drawingml/2006/main">
              <a:ext uri="{FF2B5EF4-FFF2-40B4-BE49-F238E27FC236}">
                <a16:creationId xmlns:a16="http://schemas.microsoft.com/office/drawing/2014/main" id="{A3D12978-9372-43FB-8FCC-E70B5BB30405}"/>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1C1D11C8-F651-4780-839B-A299E71AC7FC}"/>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2E32087-C7E9-488D-9FCA-892F440EC0F2}"/>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D6386552-6190-4115-B0C6-19CE6478A3B9}"/>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Reported global deployment establishes a scale signal; it does not independently prove equivalent software scope, hardware performance or Indian commercial-vehicle applicability. Use as comparator but require India-specific testing before competitive positioning.</a:t>
            </a:r>
          </a:p>
        </p:txBody>
      </p:sp>
      <p:sp>
        <p:nvSpPr>
          <p:cNvPr id="12" name="">
            <a:extLst xmlns:a="http://schemas.openxmlformats.org/drawingml/2006/main">
              <a:ext uri="{FF2B5EF4-FFF2-40B4-BE49-F238E27FC236}">
                <a16:creationId xmlns:a16="http://schemas.microsoft.com/office/drawing/2014/main" id="{3F267540-F16A-4104-A3EC-1F0E8DC7F48A}"/>
              </a:ext>
            </a:extLst>
          </p:cNvPr>
          <p:cNvSpPr>
            <a:spLocks xmlns:a="http://schemas.openxmlformats.org/drawingml/2006/main" noGrp="1"/>
          </p:cNvSpPr>
          <p:nvPr/>
        </p:nvSpPr>
        <p:spPr>
          <a:xfrm xmlns:a="http://schemas.openxmlformats.org/drawingml/2006/main">
            <a:off x="457200" y="2152650"/>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7F7D8542-2763-44D0-AB04-8FDB2F648188}"/>
              </a:ext>
            </a:extLst>
          </p:cNvPr>
          <p:cNvSpPr>
            <a:spLocks xmlns:a="http://schemas.openxmlformats.org/drawingml/2006/main" noGrp="1"/>
          </p:cNvSpPr>
          <p:nvPr/>
        </p:nvSpPr>
        <p:spPr>
          <a:xfrm xmlns:a="http://schemas.openxmlformats.org/drawingml/2006/main">
            <a:off x="457200" y="215265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94EFF2B-D720-4544-9A2D-815DC80A1885}"/>
              </a:ext>
            </a:extLst>
          </p:cNvPr>
          <p:cNvSpPr>
            <a:spLocks xmlns:a="http://schemas.openxmlformats.org/drawingml/2006/main" noGrp="1"/>
          </p:cNvSpPr>
          <p:nvPr/>
        </p:nvSpPr>
        <p:spPr>
          <a:xfrm xmlns:a="http://schemas.openxmlformats.org/drawingml/2006/main">
            <a:off x="457200" y="2152650"/>
            <a:ext cx="28575" cy="6477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CBA6ADE-0402-44D7-AA7E-57023E4CA4BA}"/>
              </a:ext>
            </a:extLst>
          </p:cNvPr>
          <p:cNvSpPr>
            <a:spLocks xmlns:a="http://schemas.openxmlformats.org/drawingml/2006/main" noGrp="1"/>
          </p:cNvSpPr>
          <p:nvPr/>
        </p:nvSpPr>
        <p:spPr>
          <a:xfrm xmlns:a="http://schemas.openxmlformats.org/drawingml/2006/main">
            <a:off x="571500" y="2238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VERIFY NAMED AUTOMOTIVE</a:t>
            </a:r>
          </a:p>
        </p:txBody>
      </p:sp>
      <p:sp>
        <p:nvSpPr>
          <p:cNvPr id="16" name="">
            <a:extLst xmlns:a="http://schemas.openxmlformats.org/drawingml/2006/main">
              <a:ext uri="{FF2B5EF4-FFF2-40B4-BE49-F238E27FC236}">
                <a16:creationId xmlns:a16="http://schemas.microsoft.com/office/drawing/2014/main" id="{09FCB84A-BE83-4B09-8877-12284383FA17}"/>
              </a:ext>
            </a:extLst>
          </p:cNvPr>
          <p:cNvSpPr>
            <a:spLocks xmlns:a="http://schemas.openxmlformats.org/drawingml/2006/main" noGrp="1"/>
          </p:cNvSpPr>
          <p:nvPr/>
        </p:nvSpPr>
        <p:spPr>
          <a:xfrm xmlns:a="http://schemas.openxmlformats.org/drawingml/2006/main">
            <a:off x="4067556" y="2228850"/>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Verify named automotive part, process node/package, AEC-Q grade, safety collateral, toolchain, production samples, OEM/Tier-1 evaluation and long-ter…</a:t>
            </a:r>
          </a:p>
        </p:txBody>
      </p:sp>
      <p:sp>
        <p:nvSpPr>
          <p:cNvPr id="17" name="">
            <a:extLst xmlns:a="http://schemas.openxmlformats.org/drawingml/2006/main">
              <a:ext uri="{FF2B5EF4-FFF2-40B4-BE49-F238E27FC236}">
                <a16:creationId xmlns:a16="http://schemas.microsoft.com/office/drawing/2014/main" id="{78F284BC-143A-480E-BCA6-66C023BAA3F8}"/>
              </a:ext>
            </a:extLst>
          </p:cNvPr>
          <p:cNvSpPr>
            <a:spLocks xmlns:a="http://schemas.openxmlformats.org/drawingml/2006/main" noGrp="1"/>
          </p:cNvSpPr>
          <p:nvPr/>
        </p:nvSpPr>
        <p:spPr>
          <a:xfrm xmlns:a="http://schemas.openxmlformats.org/drawingml/2006/main">
            <a:off x="9816084" y="2238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D60AC21B-FCAA-4D51-9EC5-A707D37FB755}"/>
              </a:ext>
            </a:extLst>
          </p:cNvPr>
          <p:cNvSpPr>
            <a:spLocks xmlns:a="http://schemas.openxmlformats.org/drawingml/2006/main" noGrp="1"/>
          </p:cNvSpPr>
          <p:nvPr/>
        </p:nvSpPr>
        <p:spPr>
          <a:xfrm xmlns:a="http://schemas.openxmlformats.org/drawingml/2006/main">
            <a:off x="457200" y="2867025"/>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309F31B2-B4A3-49E6-8FB4-7CA8C7AFC7F0}"/>
              </a:ext>
            </a:extLst>
          </p:cNvPr>
          <p:cNvSpPr>
            <a:spLocks xmlns:a="http://schemas.openxmlformats.org/drawingml/2006/main" noGrp="1"/>
          </p:cNvSpPr>
          <p:nvPr/>
        </p:nvSpPr>
        <p:spPr>
          <a:xfrm xmlns:a="http://schemas.openxmlformats.org/drawingml/2006/main">
            <a:off x="457200" y="2867025"/>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D8381AC-250C-434C-8FC5-8C527B2D0C89}"/>
              </a:ext>
            </a:extLst>
          </p:cNvPr>
          <p:cNvSpPr>
            <a:spLocks xmlns:a="http://schemas.openxmlformats.org/drawingml/2006/main" noGrp="1"/>
          </p:cNvSpPr>
          <p:nvPr/>
        </p:nvSpPr>
        <p:spPr>
          <a:xfrm xmlns:a="http://schemas.openxmlformats.org/drawingml/2006/main">
            <a:off x="457200" y="2867025"/>
            <a:ext cx="28575" cy="6477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270C4F0-BE5A-4CBB-8364-FA1C3805FB28}"/>
              </a:ext>
            </a:extLst>
          </p:cNvPr>
          <p:cNvSpPr>
            <a:spLocks xmlns:a="http://schemas.openxmlformats.org/drawingml/2006/main" noGrp="1"/>
          </p:cNvSpPr>
          <p:nvPr/>
        </p:nvSpPr>
        <p:spPr>
          <a:xfrm xmlns:a="http://schemas.openxmlformats.org/drawingml/2006/main">
            <a:off x="571500" y="29527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DEEPGRID MUST DIFFERENTIATE</a:t>
            </a:r>
          </a:p>
        </p:txBody>
      </p:sp>
      <p:sp>
        <p:nvSpPr>
          <p:cNvPr id="22" name="">
            <a:extLst xmlns:a="http://schemas.openxmlformats.org/drawingml/2006/main">
              <a:ext uri="{FF2B5EF4-FFF2-40B4-BE49-F238E27FC236}">
                <a16:creationId xmlns:a16="http://schemas.microsoft.com/office/drawing/2014/main" id="{52EB8B55-B21E-4B04-ABBD-87D26F59292B}"/>
              </a:ext>
            </a:extLst>
          </p:cNvPr>
          <p:cNvSpPr>
            <a:spLocks xmlns:a="http://schemas.openxmlformats.org/drawingml/2006/main" noGrp="1"/>
          </p:cNvSpPr>
          <p:nvPr/>
        </p:nvSpPr>
        <p:spPr>
          <a:xfrm xmlns:a="http://schemas.openxmlformats.org/drawingml/2006/main">
            <a:off x="4067556" y="2943225"/>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DeepGrid must differentiate on application evidence and automotive work products—not India origin or TOPS.</a:t>
            </a:r>
          </a:p>
        </p:txBody>
      </p:sp>
      <p:sp>
        <p:nvSpPr>
          <p:cNvPr id="23" name="">
            <a:extLst xmlns:a="http://schemas.openxmlformats.org/drawingml/2006/main">
              <a:ext uri="{FF2B5EF4-FFF2-40B4-BE49-F238E27FC236}">
                <a16:creationId xmlns:a16="http://schemas.microsoft.com/office/drawing/2014/main" id="{3CAEDA37-9B95-4F47-9FB0-DF0E6D1918D6}"/>
              </a:ext>
            </a:extLst>
          </p:cNvPr>
          <p:cNvSpPr>
            <a:spLocks xmlns:a="http://schemas.openxmlformats.org/drawingml/2006/main" noGrp="1"/>
          </p:cNvSpPr>
          <p:nvPr/>
        </p:nvSpPr>
        <p:spPr>
          <a:xfrm xmlns:a="http://schemas.openxmlformats.org/drawingml/2006/main">
            <a:off x="9816084" y="29527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6446DC93-3F23-4207-8C18-4E251A10442D}"/>
              </a:ext>
            </a:extLst>
          </p:cNvPr>
          <p:cNvSpPr>
            <a:spLocks xmlns:a="http://schemas.openxmlformats.org/drawingml/2006/main" noGrp="1"/>
          </p:cNvSpPr>
          <p:nvPr/>
        </p:nvSpPr>
        <p:spPr>
          <a:xfrm xmlns:a="http://schemas.openxmlformats.org/drawingml/2006/main">
            <a:off x="457200" y="3581400"/>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674A5486-E22F-433D-8512-8800C0986194}"/>
              </a:ext>
            </a:extLst>
          </p:cNvPr>
          <p:cNvSpPr>
            <a:spLocks xmlns:a="http://schemas.openxmlformats.org/drawingml/2006/main" noGrp="1"/>
          </p:cNvSpPr>
          <p:nvPr/>
        </p:nvSpPr>
        <p:spPr>
          <a:xfrm xmlns:a="http://schemas.openxmlformats.org/drawingml/2006/main">
            <a:off x="457200" y="35814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630996B-5E59-4F30-9C50-4FFD3B3FD293}"/>
              </a:ext>
            </a:extLst>
          </p:cNvPr>
          <p:cNvSpPr>
            <a:spLocks xmlns:a="http://schemas.openxmlformats.org/drawingml/2006/main" noGrp="1"/>
          </p:cNvSpPr>
          <p:nvPr/>
        </p:nvSpPr>
        <p:spPr>
          <a:xfrm xmlns:a="http://schemas.openxmlformats.org/drawingml/2006/main">
            <a:off x="457200" y="3581400"/>
            <a:ext cx="28575" cy="6477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EFA642B-CC0E-4A6E-8FCD-721692616B12}"/>
              </a:ext>
            </a:extLst>
          </p:cNvPr>
          <p:cNvSpPr>
            <a:spLocks xmlns:a="http://schemas.openxmlformats.org/drawingml/2006/main" noGrp="1"/>
          </p:cNvSpPr>
          <p:nvPr/>
        </p:nvSpPr>
        <p:spPr>
          <a:xfrm xmlns:a="http://schemas.openxmlformats.org/drawingml/2006/main">
            <a:off x="571500" y="36671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PARTNER OR COEXIST WHERE</a:t>
            </a:r>
          </a:p>
        </p:txBody>
      </p:sp>
      <p:sp>
        <p:nvSpPr>
          <p:cNvPr id="28" name="">
            <a:extLst xmlns:a="http://schemas.openxmlformats.org/drawingml/2006/main">
              <a:ext uri="{FF2B5EF4-FFF2-40B4-BE49-F238E27FC236}">
                <a16:creationId xmlns:a16="http://schemas.microsoft.com/office/drawing/2014/main" id="{F3C9CDB5-5E62-4D9D-8C4A-F0D521FAE946}"/>
              </a:ext>
            </a:extLst>
          </p:cNvPr>
          <p:cNvSpPr>
            <a:spLocks xmlns:a="http://schemas.openxmlformats.org/drawingml/2006/main" noGrp="1"/>
          </p:cNvSpPr>
          <p:nvPr/>
        </p:nvSpPr>
        <p:spPr>
          <a:xfrm xmlns:a="http://schemas.openxmlformats.org/drawingml/2006/main">
            <a:off x="4067556" y="3657600"/>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Partner or coexist where Netrasemi supplies general compute and DeepGrid supplies automotive perception.</a:t>
            </a:r>
          </a:p>
        </p:txBody>
      </p:sp>
      <p:sp>
        <p:nvSpPr>
          <p:cNvPr id="29" name="">
            <a:extLst xmlns:a="http://schemas.openxmlformats.org/drawingml/2006/main">
              <a:ext uri="{FF2B5EF4-FFF2-40B4-BE49-F238E27FC236}">
                <a16:creationId xmlns:a16="http://schemas.microsoft.com/office/drawing/2014/main" id="{E6937575-9E50-4276-A7E4-B33CA5A3F61E}"/>
              </a:ext>
            </a:extLst>
          </p:cNvPr>
          <p:cNvSpPr>
            <a:spLocks xmlns:a="http://schemas.openxmlformats.org/drawingml/2006/main" noGrp="1"/>
          </p:cNvSpPr>
          <p:nvPr/>
        </p:nvSpPr>
        <p:spPr>
          <a:xfrm xmlns:a="http://schemas.openxmlformats.org/drawingml/2006/main">
            <a:off x="9816084" y="36671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AAF8814B-0079-4B0E-82DE-B3CE9C729C05}"/>
              </a:ext>
            </a:extLst>
          </p:cNvPr>
          <p:cNvSpPr>
            <a:spLocks xmlns:a="http://schemas.openxmlformats.org/drawingml/2006/main" noGrp="1"/>
          </p:cNvSpPr>
          <p:nvPr/>
        </p:nvSpPr>
        <p:spPr>
          <a:xfrm xmlns:a="http://schemas.openxmlformats.org/drawingml/2006/main">
            <a:off x="457200" y="4295775"/>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1F88845E-5760-4116-A9C9-2966124726AA}"/>
              </a:ext>
            </a:extLst>
          </p:cNvPr>
          <p:cNvSpPr>
            <a:spLocks xmlns:a="http://schemas.openxmlformats.org/drawingml/2006/main" noGrp="1"/>
          </p:cNvSpPr>
          <p:nvPr/>
        </p:nvSpPr>
        <p:spPr>
          <a:xfrm xmlns:a="http://schemas.openxmlformats.org/drawingml/2006/main">
            <a:off x="457200" y="429577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5389B35-E838-457D-97C8-40EAC41BB0D1}"/>
              </a:ext>
            </a:extLst>
          </p:cNvPr>
          <p:cNvSpPr>
            <a:spLocks xmlns:a="http://schemas.openxmlformats.org/drawingml/2006/main" noGrp="1"/>
          </p:cNvSpPr>
          <p:nvPr/>
        </p:nvSpPr>
        <p:spPr>
          <a:xfrm xmlns:a="http://schemas.openxmlformats.org/drawingml/2006/main">
            <a:off x="457200" y="4295775"/>
            <a:ext cx="28575" cy="6477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223197F-9ED6-4D82-A1AF-13140A1760FC}"/>
              </a:ext>
            </a:extLst>
          </p:cNvPr>
          <p:cNvSpPr>
            <a:spLocks xmlns:a="http://schemas.openxmlformats.org/drawingml/2006/main" noGrp="1"/>
          </p:cNvSpPr>
          <p:nvPr/>
        </p:nvSpPr>
        <p:spPr>
          <a:xfrm xmlns:a="http://schemas.openxmlformats.org/drawingml/2006/main">
            <a:off x="571500" y="43815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REVIEWED SOURCES DID NOT</a:t>
            </a:r>
          </a:p>
        </p:txBody>
      </p:sp>
      <p:sp>
        <p:nvSpPr>
          <p:cNvPr id="34" name="">
            <a:extLst xmlns:a="http://schemas.openxmlformats.org/drawingml/2006/main">
              <a:ext uri="{FF2B5EF4-FFF2-40B4-BE49-F238E27FC236}">
                <a16:creationId xmlns:a16="http://schemas.microsoft.com/office/drawing/2014/main" id="{D23CE76B-A988-45AC-8165-1A61D5C4F014}"/>
              </a:ext>
            </a:extLst>
          </p:cNvPr>
          <p:cNvSpPr>
            <a:spLocks xmlns:a="http://schemas.openxmlformats.org/drawingml/2006/main" noGrp="1"/>
          </p:cNvSpPr>
          <p:nvPr/>
        </p:nvSpPr>
        <p:spPr>
          <a:xfrm xmlns:a="http://schemas.openxmlformats.org/drawingml/2006/main">
            <a:off x="4067556" y="4371975"/>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Reviewed sources did not evidence an automotive OEM nomination, on-road deployment, ARAI approval, IATF/AEC-Q qualification or brake integration.</a:t>
            </a:r>
          </a:p>
        </p:txBody>
      </p:sp>
      <p:sp>
        <p:nvSpPr>
          <p:cNvPr id="35" name="">
            <a:extLst xmlns:a="http://schemas.openxmlformats.org/drawingml/2006/main">
              <a:ext uri="{FF2B5EF4-FFF2-40B4-BE49-F238E27FC236}">
                <a16:creationId xmlns:a16="http://schemas.microsoft.com/office/drawing/2014/main" id="{B67B92EB-CAAB-4D76-922C-5D76E102168F}"/>
              </a:ext>
            </a:extLst>
          </p:cNvPr>
          <p:cNvSpPr>
            <a:spLocks xmlns:a="http://schemas.openxmlformats.org/drawingml/2006/main" noGrp="1"/>
          </p:cNvSpPr>
          <p:nvPr/>
        </p:nvSpPr>
        <p:spPr>
          <a:xfrm xmlns:a="http://schemas.openxmlformats.org/drawingml/2006/main">
            <a:off x="9816084" y="43815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FEC11A47-6468-44E6-A11B-BA10FD3F2AEE}"/>
              </a:ext>
            </a:extLst>
          </p:cNvPr>
          <p:cNvSpPr>
            <a:spLocks xmlns:a="http://schemas.openxmlformats.org/drawingml/2006/main" noGrp="1"/>
          </p:cNvSpPr>
          <p:nvPr/>
        </p:nvSpPr>
        <p:spPr>
          <a:xfrm xmlns:a="http://schemas.openxmlformats.org/drawingml/2006/main">
            <a:off x="457200" y="505777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4EC9530D-65EC-49FC-AD53-06FE3D78B7D2}"/>
              </a:ext>
            </a:extLst>
          </p:cNvPr>
          <p:cNvSpPr>
            <a:spLocks xmlns:a="http://schemas.openxmlformats.org/drawingml/2006/main" noGrp="1"/>
          </p:cNvSpPr>
          <p:nvPr/>
        </p:nvSpPr>
        <p:spPr>
          <a:xfrm xmlns:a="http://schemas.openxmlformats.org/drawingml/2006/main">
            <a:off x="457200" y="505777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49E2080-FC0E-42F2-A60E-449A182B03B4}"/>
              </a:ext>
            </a:extLst>
          </p:cNvPr>
          <p:cNvSpPr>
            <a:spLocks xmlns:a="http://schemas.openxmlformats.org/drawingml/2006/main" noGrp="1"/>
          </p:cNvSpPr>
          <p:nvPr/>
        </p:nvSpPr>
        <p:spPr>
          <a:xfrm xmlns:a="http://schemas.openxmlformats.org/drawingml/2006/main">
            <a:off x="581025" y="51244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D31FA913-E105-413E-B3A4-1CD03E2D1F17}"/>
              </a:ext>
            </a:extLst>
          </p:cNvPr>
          <p:cNvSpPr>
            <a:spLocks xmlns:a="http://schemas.openxmlformats.org/drawingml/2006/main" noGrp="1"/>
          </p:cNvSpPr>
          <p:nvPr/>
        </p:nvSpPr>
        <p:spPr>
          <a:xfrm xmlns:a="http://schemas.openxmlformats.org/drawingml/2006/main">
            <a:off x="581025" y="527367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STRADVISION publishes India CV class scope, configuration and denominators matching the benchmark request.</a:t>
            </a:r>
          </a:p>
        </p:txBody>
      </p:sp>
      <p:sp>
        <p:nvSpPr>
          <p:cNvPr id="40" name="">
            <a:extLst xmlns:a="http://schemas.openxmlformats.org/drawingml/2006/main">
              <a:ext uri="{FF2B5EF4-FFF2-40B4-BE49-F238E27FC236}">
                <a16:creationId xmlns:a16="http://schemas.microsoft.com/office/drawing/2014/main" id="{AC20878A-DABF-4AD2-BEE1-299E28866ADB}"/>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E6F3FC1-2F8C-42F5-8B55-2D2C0CEBF22F}"/>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45110862-CDEB-439C-BCA6-498848B68ABC}"/>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714C7902-7C96-435D-AEAE-8D1667D5E28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Benchmark against STRADVISION on equal scope; do not concede the layer on deployment volume.</a:t>
            </a:r>
          </a:p>
        </p:txBody>
      </p:sp>
      <p:sp>
        <p:nvSpPr>
          <p:cNvPr id="44" name="">
            <a:extLst xmlns:a="http://schemas.openxmlformats.org/drawingml/2006/main">
              <a:ext uri="{FF2B5EF4-FFF2-40B4-BE49-F238E27FC236}">
                <a16:creationId xmlns:a16="http://schemas.microsoft.com/office/drawing/2014/main" id="{4DF5C526-F198-421C-BF52-1DE8D0C2F43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1A2F52A9-EBA3-4EDE-943B-0EF3E9C15CD4}"/>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Receipt of SVNet configuration, hardware and India class scope.</a:t>
            </a:r>
          </a:p>
        </p:txBody>
      </p:sp>
      <p:sp>
        <p:nvSpPr>
          <p:cNvPr id="46" name="">
            <a:extLst xmlns:a="http://schemas.openxmlformats.org/drawingml/2006/main">
              <a:ext uri="{FF2B5EF4-FFF2-40B4-BE49-F238E27FC236}">
                <a16:creationId xmlns:a16="http://schemas.microsoft.com/office/drawing/2014/main" id="{0366EE18-B4B5-4A57-8FF3-5FA8913C0B70}"/>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98AF6A93-0B39-4453-A5BC-E30A49F961E4}"/>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treating scheduled design-win volume as deployed volume.</a:t>
            </a:r>
          </a:p>
        </p:txBody>
      </p:sp>
      <p:sp>
        <p:nvSpPr>
          <p:cNvPr id="48" name="">
            <a:extLst xmlns:a="http://schemas.openxmlformats.org/drawingml/2006/main">
              <a:ext uri="{FF2B5EF4-FFF2-40B4-BE49-F238E27FC236}">
                <a16:creationId xmlns:a16="http://schemas.microsoft.com/office/drawing/2014/main" id="{3B4A98EC-8DCF-4D2A-9DC7-2EAC1FA00C4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2E5ADE4A-4017-40C9-83B2-3D955CCB72B4}"/>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98E22702-1CEF-4DAA-8414-9899087FA6A6}"/>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42</a:t>
            </a:r>
          </a:p>
        </p:txBody>
      </p:sp>
    </p:spTree>
    <p:extLst>
      <p:ext uri="{BB962C8B-B14F-4D97-AF65-F5344CB8AC3E}">
        <p14:creationId xmlns:p14="http://schemas.microsoft.com/office/powerpoint/2010/main" val="841535284"/>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443A2D2A-CE2F-407F-9B48-D43160E6BD4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9B829D1-1A1D-4422-8A6E-A96955AD67F5}"/>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3F4B3D7-DAA3-4C2B-9CE1-27608D06BC16}"/>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44D29436-5A5D-4C9A-83D0-91B5534F71F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81AF8198-B2BC-4972-87B4-451AC6D35D9A}"/>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STRADVISION is most threatening in N2/N3 OEM buying</a:t>
            </a:r>
          </a:p>
        </p:txBody>
      </p:sp>
      <p:sp>
        <p:nvSpPr>
          <p:cNvPr id="6" name="">
            <a:extLst xmlns:a="http://schemas.openxmlformats.org/drawingml/2006/main">
              <a:ext uri="{FF2B5EF4-FFF2-40B4-BE49-F238E27FC236}">
                <a16:creationId xmlns:a16="http://schemas.microsoft.com/office/drawing/2014/main" id="{1746EA9E-7D17-4733-820F-6695FF047A5F}"/>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90450D8-994D-4B4C-A418-4E2E597359A0}"/>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STRADVISION's threat change by buying arena, and where should DeepGrid defend?</a:t>
            </a:r>
          </a:p>
        </p:txBody>
      </p:sp>
      <p:sp>
        <p:nvSpPr>
          <p:cNvPr id="8" name="">
            <a:extLst xmlns:a="http://schemas.openxmlformats.org/drawingml/2006/main">
              <a:ext uri="{FF2B5EF4-FFF2-40B4-BE49-F238E27FC236}">
                <a16:creationId xmlns:a16="http://schemas.microsoft.com/office/drawing/2014/main" id="{D023A7EF-1AF5-40F4-8E7E-264AD838F638}"/>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D056BBF7-C381-40B0-A5F7-7C11037A6C28}"/>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C23CB1F-3483-4994-AB2B-AF0CC643E506}"/>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CE6D5F6E-FC21-497E-852D-40F81D863B3A}"/>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STRADVISION is most threatening in N2/N3 OEM buying, where Tier-1 distribution and production scale decide, and lower in government and fleet where it has no direct presence.</a:t>
            </a:r>
          </a:p>
        </p:txBody>
      </p:sp>
      <p:sp>
        <p:nvSpPr>
          <p:cNvPr id="12" name="">
            <a:extLst xmlns:a="http://schemas.openxmlformats.org/drawingml/2006/main">
              <a:ext uri="{FF2B5EF4-FFF2-40B4-BE49-F238E27FC236}">
                <a16:creationId xmlns:a16="http://schemas.microsoft.com/office/drawing/2014/main" id="{C34F9F10-4996-4E38-81A1-FC9C1294CAAA}"/>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09F1788-D366-4AE6-BAB0-02349299A5A4}"/>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85070C52-9C96-49B9-9F86-169B85477CC7}"/>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F6BAD5DF-FA73-4553-BAF3-C89B554EED8A}"/>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3E40C176-22C0-420D-8D65-BD366BD2E2AA}"/>
              </a:ext>
            </a:extLst>
          </p:cNvPr>
          <p:cNvSpPr>
            <a:spLocks xmlns:a="http://schemas.openxmlformats.org/drawingml/2006/main" noGrp="1"/>
          </p:cNvSpPr>
          <p:nvPr/>
        </p:nvSpPr>
        <p:spPr>
          <a:xfrm xmlns:a="http://schemas.openxmlformats.org/drawingml/2006/main">
            <a:off x="457200" y="2089150"/>
            <a:ext cx="2255520" cy="1257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52D961E3-2D5E-44E0-86FA-53C17B97C0B2}"/>
              </a:ext>
            </a:extLst>
          </p:cNvPr>
          <p:cNvSpPr>
            <a:spLocks xmlns:a="http://schemas.openxmlformats.org/drawingml/2006/main" noGrp="1"/>
          </p:cNvSpPr>
          <p:nvPr/>
        </p:nvSpPr>
        <p:spPr>
          <a:xfrm xmlns:a="http://schemas.openxmlformats.org/drawingml/2006/main">
            <a:off x="552450" y="2203450"/>
            <a:ext cx="210312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N2/N3 OEM</a:t>
            </a:r>
          </a:p>
        </p:txBody>
      </p:sp>
      <p:sp>
        <p:nvSpPr>
          <p:cNvPr id="18" name="">
            <a:extLst xmlns:a="http://schemas.openxmlformats.org/drawingml/2006/main">
              <a:ext uri="{FF2B5EF4-FFF2-40B4-BE49-F238E27FC236}">
                <a16:creationId xmlns:a16="http://schemas.microsoft.com/office/drawing/2014/main" id="{BDACB7D2-B07A-4237-8841-659DF75D488D}"/>
              </a:ext>
            </a:extLst>
          </p:cNvPr>
          <p:cNvSpPr>
            <a:spLocks xmlns:a="http://schemas.openxmlformats.org/drawingml/2006/main" noGrp="1"/>
          </p:cNvSpPr>
          <p:nvPr/>
        </p:nvSpPr>
        <p:spPr>
          <a:xfrm xmlns:a="http://schemas.openxmlformats.org/drawingml/2006/main">
            <a:off x="274129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275B3EA6-1E76-416E-92A0-EC3AAAF19C0D}"/>
              </a:ext>
            </a:extLst>
          </p:cNvPr>
          <p:cNvSpPr>
            <a:spLocks xmlns:a="http://schemas.openxmlformats.org/drawingml/2006/main" noGrp="1"/>
          </p:cNvSpPr>
          <p:nvPr/>
        </p:nvSpPr>
        <p:spPr>
          <a:xfrm xmlns:a="http://schemas.openxmlformats.org/drawingml/2006/main">
            <a:off x="2741295" y="21177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0E0B654-C754-487E-AC8B-CA1FCFAFD53A}"/>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21" name="">
            <a:extLst xmlns:a="http://schemas.openxmlformats.org/drawingml/2006/main">
              <a:ext uri="{FF2B5EF4-FFF2-40B4-BE49-F238E27FC236}">
                <a16:creationId xmlns:a16="http://schemas.microsoft.com/office/drawing/2014/main" id="{1338905A-9DD4-4DE2-9A91-B7904A46C801}"/>
              </a:ext>
            </a:extLst>
          </p:cNvPr>
          <p:cNvSpPr>
            <a:spLocks xmlns:a="http://schemas.openxmlformats.org/drawingml/2006/main" noGrp="1"/>
          </p:cNvSpPr>
          <p:nvPr/>
        </p:nvSpPr>
        <p:spPr>
          <a:xfrm xmlns:a="http://schemas.openxmlformats.org/drawingml/2006/main">
            <a:off x="281749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presence</a:t>
            </a:r>
          </a:p>
        </p:txBody>
      </p:sp>
      <p:sp>
        <p:nvSpPr>
          <p:cNvPr id="22" name="">
            <a:extLst xmlns:a="http://schemas.openxmlformats.org/drawingml/2006/main">
              <a:ext uri="{FF2B5EF4-FFF2-40B4-BE49-F238E27FC236}">
                <a16:creationId xmlns:a16="http://schemas.microsoft.com/office/drawing/2014/main" id="{AF9EC75E-098B-4788-9991-531BE65EBB7F}"/>
              </a:ext>
            </a:extLst>
          </p:cNvPr>
          <p:cNvSpPr>
            <a:spLocks xmlns:a="http://schemas.openxmlformats.org/drawingml/2006/main" noGrp="1"/>
          </p:cNvSpPr>
          <p:nvPr/>
        </p:nvSpPr>
        <p:spPr>
          <a:xfrm xmlns:a="http://schemas.openxmlformats.org/drawingml/2006/main">
            <a:off x="574865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360E23DF-B313-4889-9E3B-0EE13CC18562}"/>
              </a:ext>
            </a:extLst>
          </p:cNvPr>
          <p:cNvSpPr>
            <a:spLocks xmlns:a="http://schemas.openxmlformats.org/drawingml/2006/main" noGrp="1"/>
          </p:cNvSpPr>
          <p:nvPr/>
        </p:nvSpPr>
        <p:spPr>
          <a:xfrm xmlns:a="http://schemas.openxmlformats.org/drawingml/2006/main">
            <a:off x="5748655" y="2117725"/>
            <a:ext cx="295021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A868147-34E5-4228-80FC-95D9D32C75FE}"/>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HIGHEST</a:t>
            </a:r>
          </a:p>
        </p:txBody>
      </p:sp>
      <p:sp>
        <p:nvSpPr>
          <p:cNvPr id="25" name="">
            <a:extLst xmlns:a="http://schemas.openxmlformats.org/drawingml/2006/main">
              <a:ext uri="{FF2B5EF4-FFF2-40B4-BE49-F238E27FC236}">
                <a16:creationId xmlns:a16="http://schemas.microsoft.com/office/drawing/2014/main" id="{95C56B84-9CA9-47E9-8ECB-2E78D38F0394}"/>
              </a:ext>
            </a:extLst>
          </p:cNvPr>
          <p:cNvSpPr>
            <a:spLocks xmlns:a="http://schemas.openxmlformats.org/drawingml/2006/main" noGrp="1"/>
          </p:cNvSpPr>
          <p:nvPr/>
        </p:nvSpPr>
        <p:spPr>
          <a:xfrm xmlns:a="http://schemas.openxmlformats.org/drawingml/2006/main">
            <a:off x="582485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Factory mandates</a:t>
            </a:r>
          </a:p>
        </p:txBody>
      </p:sp>
      <p:sp>
        <p:nvSpPr>
          <p:cNvPr id="26" name="">
            <a:extLst xmlns:a="http://schemas.openxmlformats.org/drawingml/2006/main">
              <a:ext uri="{FF2B5EF4-FFF2-40B4-BE49-F238E27FC236}">
                <a16:creationId xmlns:a16="http://schemas.microsoft.com/office/drawing/2014/main" id="{ABED618C-C1B0-4428-B997-E8B15486D5A9}"/>
              </a:ext>
            </a:extLst>
          </p:cNvPr>
          <p:cNvSpPr>
            <a:spLocks xmlns:a="http://schemas.openxmlformats.org/drawingml/2006/main" noGrp="1"/>
          </p:cNvSpPr>
          <p:nvPr/>
        </p:nvSpPr>
        <p:spPr>
          <a:xfrm xmlns:a="http://schemas.openxmlformats.org/drawingml/2006/main">
            <a:off x="875601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4E0FA09E-8E71-45B1-BBDE-9C4047F6FE2B}"/>
              </a:ext>
            </a:extLst>
          </p:cNvPr>
          <p:cNvSpPr>
            <a:spLocks xmlns:a="http://schemas.openxmlformats.org/drawingml/2006/main" noGrp="1"/>
          </p:cNvSpPr>
          <p:nvPr/>
        </p:nvSpPr>
        <p:spPr>
          <a:xfrm xmlns:a="http://schemas.openxmlformats.org/drawingml/2006/main">
            <a:off x="8756015" y="21177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B998380-0885-427B-9DFB-2D226FE6C78F}"/>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29" name="">
            <a:extLst xmlns:a="http://schemas.openxmlformats.org/drawingml/2006/main">
              <a:ext uri="{FF2B5EF4-FFF2-40B4-BE49-F238E27FC236}">
                <a16:creationId xmlns:a16="http://schemas.microsoft.com/office/drawing/2014/main" id="{A3FF6249-523D-4732-AE3D-B71C02A2C53D}"/>
              </a:ext>
            </a:extLst>
          </p:cNvPr>
          <p:cNvSpPr>
            <a:spLocks xmlns:a="http://schemas.openxmlformats.org/drawingml/2006/main" noGrp="1"/>
          </p:cNvSpPr>
          <p:nvPr/>
        </p:nvSpPr>
        <p:spPr>
          <a:xfrm xmlns:a="http://schemas.openxmlformats.org/drawingml/2006/main">
            <a:off x="883221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presence</a:t>
            </a:r>
          </a:p>
        </p:txBody>
      </p:sp>
      <p:sp>
        <p:nvSpPr>
          <p:cNvPr id="30" name="">
            <a:extLst xmlns:a="http://schemas.openxmlformats.org/drawingml/2006/main">
              <a:ext uri="{FF2B5EF4-FFF2-40B4-BE49-F238E27FC236}">
                <a16:creationId xmlns:a16="http://schemas.microsoft.com/office/drawing/2014/main" id="{26127C28-1A7F-4000-9259-F2F2CB17815A}"/>
              </a:ext>
            </a:extLst>
          </p:cNvPr>
          <p:cNvSpPr>
            <a:spLocks xmlns:a="http://schemas.openxmlformats.org/drawingml/2006/main" noGrp="1"/>
          </p:cNvSpPr>
          <p:nvPr/>
        </p:nvSpPr>
        <p:spPr>
          <a:xfrm xmlns:a="http://schemas.openxmlformats.org/drawingml/2006/main">
            <a:off x="457200" y="3346450"/>
            <a:ext cx="2255520" cy="1257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A7F968B3-1BCA-45A2-83C9-DBA4EFC68E3E}"/>
              </a:ext>
            </a:extLst>
          </p:cNvPr>
          <p:cNvSpPr>
            <a:spLocks xmlns:a="http://schemas.openxmlformats.org/drawingml/2006/main" noGrp="1"/>
          </p:cNvSpPr>
          <p:nvPr/>
        </p:nvSpPr>
        <p:spPr>
          <a:xfrm xmlns:a="http://schemas.openxmlformats.org/drawingml/2006/main">
            <a:off x="552450" y="3460750"/>
            <a:ext cx="210312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AFTERMARKET</a:t>
            </a:r>
          </a:p>
        </p:txBody>
      </p:sp>
      <p:sp>
        <p:nvSpPr>
          <p:cNvPr id="32" name="">
            <a:extLst xmlns:a="http://schemas.openxmlformats.org/drawingml/2006/main">
              <a:ext uri="{FF2B5EF4-FFF2-40B4-BE49-F238E27FC236}">
                <a16:creationId xmlns:a16="http://schemas.microsoft.com/office/drawing/2014/main" id="{60C47202-D8F0-438B-9C05-C30B5DDB8C94}"/>
              </a:ext>
            </a:extLst>
          </p:cNvPr>
          <p:cNvSpPr>
            <a:spLocks xmlns:a="http://schemas.openxmlformats.org/drawingml/2006/main" noGrp="1"/>
          </p:cNvSpPr>
          <p:nvPr/>
        </p:nvSpPr>
        <p:spPr>
          <a:xfrm xmlns:a="http://schemas.openxmlformats.org/drawingml/2006/main">
            <a:off x="274129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3" name="">
            <a:extLst xmlns:a="http://schemas.openxmlformats.org/drawingml/2006/main">
              <a:ext uri="{FF2B5EF4-FFF2-40B4-BE49-F238E27FC236}">
                <a16:creationId xmlns:a16="http://schemas.microsoft.com/office/drawing/2014/main" id="{A85E4A72-0B8D-4E89-BB8F-898B16A9B932}"/>
              </a:ext>
            </a:extLst>
          </p:cNvPr>
          <p:cNvSpPr>
            <a:spLocks xmlns:a="http://schemas.openxmlformats.org/drawingml/2006/main" noGrp="1"/>
          </p:cNvSpPr>
          <p:nvPr/>
        </p:nvSpPr>
        <p:spPr>
          <a:xfrm xmlns:a="http://schemas.openxmlformats.org/drawingml/2006/main">
            <a:off x="274129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D8AF566-5D8E-4EE5-8A0C-F2C71F297106}"/>
              </a:ext>
            </a:extLst>
          </p:cNvPr>
          <p:cNvSpPr>
            <a:spLocks xmlns:a="http://schemas.openxmlformats.org/drawingml/2006/main" noGrp="1"/>
          </p:cNvSpPr>
          <p:nvPr/>
        </p:nvSpPr>
        <p:spPr>
          <a:xfrm xmlns:a="http://schemas.openxmlformats.org/drawingml/2006/main">
            <a:off x="281749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35" name="">
            <a:extLst xmlns:a="http://schemas.openxmlformats.org/drawingml/2006/main">
              <a:ext uri="{FF2B5EF4-FFF2-40B4-BE49-F238E27FC236}">
                <a16:creationId xmlns:a16="http://schemas.microsoft.com/office/drawing/2014/main" id="{03B289F4-CFB8-405D-A018-120534F5FB36}"/>
              </a:ext>
            </a:extLst>
          </p:cNvPr>
          <p:cNvSpPr>
            <a:spLocks xmlns:a="http://schemas.openxmlformats.org/drawingml/2006/main" noGrp="1"/>
          </p:cNvSpPr>
          <p:nvPr/>
        </p:nvSpPr>
        <p:spPr>
          <a:xfrm xmlns:a="http://schemas.openxmlformats.org/drawingml/2006/main">
            <a:off x="281749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Integration needed</a:t>
            </a:r>
          </a:p>
        </p:txBody>
      </p:sp>
      <p:sp>
        <p:nvSpPr>
          <p:cNvPr id="36" name="">
            <a:extLst xmlns:a="http://schemas.openxmlformats.org/drawingml/2006/main">
              <a:ext uri="{FF2B5EF4-FFF2-40B4-BE49-F238E27FC236}">
                <a16:creationId xmlns:a16="http://schemas.microsoft.com/office/drawing/2014/main" id="{91C407BA-D304-4227-A750-C3DB806463D0}"/>
              </a:ext>
            </a:extLst>
          </p:cNvPr>
          <p:cNvSpPr>
            <a:spLocks xmlns:a="http://schemas.openxmlformats.org/drawingml/2006/main" noGrp="1"/>
          </p:cNvSpPr>
          <p:nvPr/>
        </p:nvSpPr>
        <p:spPr>
          <a:xfrm xmlns:a="http://schemas.openxmlformats.org/drawingml/2006/main">
            <a:off x="574865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07EAAFB4-29DD-48FD-B3F0-430A3454592A}"/>
              </a:ext>
            </a:extLst>
          </p:cNvPr>
          <p:cNvSpPr>
            <a:spLocks xmlns:a="http://schemas.openxmlformats.org/drawingml/2006/main" noGrp="1"/>
          </p:cNvSpPr>
          <p:nvPr/>
        </p:nvSpPr>
        <p:spPr>
          <a:xfrm xmlns:a="http://schemas.openxmlformats.org/drawingml/2006/main">
            <a:off x="574865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A6554EED-46AA-4C7B-BC2E-483F00119282}"/>
              </a:ext>
            </a:extLst>
          </p:cNvPr>
          <p:cNvSpPr>
            <a:spLocks xmlns:a="http://schemas.openxmlformats.org/drawingml/2006/main" noGrp="1"/>
          </p:cNvSpPr>
          <p:nvPr/>
        </p:nvSpPr>
        <p:spPr>
          <a:xfrm xmlns:a="http://schemas.openxmlformats.org/drawingml/2006/main">
            <a:off x="582485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39" name="">
            <a:extLst xmlns:a="http://schemas.openxmlformats.org/drawingml/2006/main">
              <a:ext uri="{FF2B5EF4-FFF2-40B4-BE49-F238E27FC236}">
                <a16:creationId xmlns:a16="http://schemas.microsoft.com/office/drawing/2014/main" id="{EED955EC-847D-4188-9239-F2F931C16FA5}"/>
              </a:ext>
            </a:extLst>
          </p:cNvPr>
          <p:cNvSpPr>
            <a:spLocks xmlns:a="http://schemas.openxmlformats.org/drawingml/2006/main" noGrp="1"/>
          </p:cNvSpPr>
          <p:nvPr/>
        </p:nvSpPr>
        <p:spPr>
          <a:xfrm xmlns:a="http://schemas.openxmlformats.org/drawingml/2006/main">
            <a:off x="582485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Production refs</a:t>
            </a:r>
          </a:p>
        </p:txBody>
      </p:sp>
      <p:sp>
        <p:nvSpPr>
          <p:cNvPr id="40" name="">
            <a:extLst xmlns:a="http://schemas.openxmlformats.org/drawingml/2006/main">
              <a:ext uri="{FF2B5EF4-FFF2-40B4-BE49-F238E27FC236}">
                <a16:creationId xmlns:a16="http://schemas.microsoft.com/office/drawing/2014/main" id="{22AB36AC-043E-4BAA-A207-BB6D3627BA48}"/>
              </a:ext>
            </a:extLst>
          </p:cNvPr>
          <p:cNvSpPr>
            <a:spLocks xmlns:a="http://schemas.openxmlformats.org/drawingml/2006/main" noGrp="1"/>
          </p:cNvSpPr>
          <p:nvPr/>
        </p:nvSpPr>
        <p:spPr>
          <a:xfrm xmlns:a="http://schemas.openxmlformats.org/drawingml/2006/main">
            <a:off x="875601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1" name="">
            <a:extLst xmlns:a="http://schemas.openxmlformats.org/drawingml/2006/main">
              <a:ext uri="{FF2B5EF4-FFF2-40B4-BE49-F238E27FC236}">
                <a16:creationId xmlns:a16="http://schemas.microsoft.com/office/drawing/2014/main" id="{BFA9D839-29BE-4E2A-AE91-A306C68A3382}"/>
              </a:ext>
            </a:extLst>
          </p:cNvPr>
          <p:cNvSpPr>
            <a:spLocks xmlns:a="http://schemas.openxmlformats.org/drawingml/2006/main" noGrp="1"/>
          </p:cNvSpPr>
          <p:nvPr/>
        </p:nvSpPr>
        <p:spPr>
          <a:xfrm xmlns:a="http://schemas.openxmlformats.org/drawingml/2006/main">
            <a:off x="875601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945EDBD-AAE8-40CD-B891-8613F0BED892}"/>
              </a:ext>
            </a:extLst>
          </p:cNvPr>
          <p:cNvSpPr>
            <a:spLocks xmlns:a="http://schemas.openxmlformats.org/drawingml/2006/main" noGrp="1"/>
          </p:cNvSpPr>
          <p:nvPr/>
        </p:nvSpPr>
        <p:spPr>
          <a:xfrm xmlns:a="http://schemas.openxmlformats.org/drawingml/2006/main">
            <a:off x="883221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43" name="">
            <a:extLst xmlns:a="http://schemas.openxmlformats.org/drawingml/2006/main">
              <a:ext uri="{FF2B5EF4-FFF2-40B4-BE49-F238E27FC236}">
                <a16:creationId xmlns:a16="http://schemas.microsoft.com/office/drawing/2014/main" id="{50E56E15-F4D4-4737-9570-477EBE66C4AB}"/>
              </a:ext>
            </a:extLst>
          </p:cNvPr>
          <p:cNvSpPr>
            <a:spLocks xmlns:a="http://schemas.openxmlformats.org/drawingml/2006/main" noGrp="1"/>
          </p:cNvSpPr>
          <p:nvPr/>
        </p:nvSpPr>
        <p:spPr>
          <a:xfrm xmlns:a="http://schemas.openxmlformats.org/drawingml/2006/main">
            <a:off x="883221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Service fit</a:t>
            </a:r>
          </a:p>
        </p:txBody>
      </p:sp>
      <p:sp>
        <p:nvSpPr>
          <p:cNvPr id="44" name="">
            <a:extLst xmlns:a="http://schemas.openxmlformats.org/drawingml/2006/main">
              <a:ext uri="{FF2B5EF4-FFF2-40B4-BE49-F238E27FC236}">
                <a16:creationId xmlns:a16="http://schemas.microsoft.com/office/drawing/2014/main" id="{CD5A01BE-60C6-49ED-97EF-544E1B2BB2CE}"/>
              </a:ext>
            </a:extLst>
          </p:cNvPr>
          <p:cNvSpPr>
            <a:spLocks xmlns:a="http://schemas.openxmlformats.org/drawingml/2006/main" noGrp="1"/>
          </p:cNvSpPr>
          <p:nvPr/>
        </p:nvSpPr>
        <p:spPr>
          <a:xfrm xmlns:a="http://schemas.openxmlformats.org/drawingml/2006/main">
            <a:off x="457200" y="47180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5" name="">
            <a:extLst xmlns:a="http://schemas.openxmlformats.org/drawingml/2006/main">
              <a:ext uri="{FF2B5EF4-FFF2-40B4-BE49-F238E27FC236}">
                <a16:creationId xmlns:a16="http://schemas.microsoft.com/office/drawing/2014/main" id="{C11A7397-5D43-4F78-866C-6C7C2E63F089}"/>
              </a:ext>
            </a:extLst>
          </p:cNvPr>
          <p:cNvSpPr>
            <a:spLocks xmlns:a="http://schemas.openxmlformats.org/drawingml/2006/main" noGrp="1"/>
          </p:cNvSpPr>
          <p:nvPr/>
        </p:nvSpPr>
        <p:spPr>
          <a:xfrm xmlns:a="http://schemas.openxmlformats.org/drawingml/2006/main">
            <a:off x="457200" y="47180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644561B1-5F42-4EDC-9CF7-5C16EAC6353B}"/>
              </a:ext>
            </a:extLst>
          </p:cNvPr>
          <p:cNvSpPr>
            <a:spLocks xmlns:a="http://schemas.openxmlformats.org/drawingml/2006/main" noGrp="1"/>
          </p:cNvSpPr>
          <p:nvPr/>
        </p:nvSpPr>
        <p:spPr>
          <a:xfrm xmlns:a="http://schemas.openxmlformats.org/drawingml/2006/main">
            <a:off x="58102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47" name="">
            <a:extLst xmlns:a="http://schemas.openxmlformats.org/drawingml/2006/main">
              <a:ext uri="{FF2B5EF4-FFF2-40B4-BE49-F238E27FC236}">
                <a16:creationId xmlns:a16="http://schemas.microsoft.com/office/drawing/2014/main" id="{E102AA46-50FB-4576-8B47-B856D920303C}"/>
              </a:ext>
            </a:extLst>
          </p:cNvPr>
          <p:cNvSpPr>
            <a:spLocks xmlns:a="http://schemas.openxmlformats.org/drawingml/2006/main" noGrp="1"/>
          </p:cNvSpPr>
          <p:nvPr/>
        </p:nvSpPr>
        <p:spPr>
          <a:xfrm xmlns:a="http://schemas.openxmlformats.org/drawingml/2006/main">
            <a:off x="581025" y="49339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As a software layer sold through Tier-1s, its reach follows its distributors. Where those distributors compete it is strong; where the buyer purchases directly it has no route.</a:t>
            </a:r>
          </a:p>
        </p:txBody>
      </p:sp>
      <p:sp>
        <p:nvSpPr>
          <p:cNvPr id="48" name="">
            <a:extLst xmlns:a="http://schemas.openxmlformats.org/drawingml/2006/main">
              <a:ext uri="{FF2B5EF4-FFF2-40B4-BE49-F238E27FC236}">
                <a16:creationId xmlns:a16="http://schemas.microsoft.com/office/drawing/2014/main" id="{B3E84A2E-2DA0-44A9-91D1-4424112D9705}"/>
              </a:ext>
            </a:extLst>
          </p:cNvPr>
          <p:cNvSpPr>
            <a:spLocks xmlns:a="http://schemas.openxmlformats.org/drawingml/2006/main" noGrp="1"/>
          </p:cNvSpPr>
          <p:nvPr/>
        </p:nvSpPr>
        <p:spPr>
          <a:xfrm xmlns:a="http://schemas.openxmlformats.org/drawingml/2006/main">
            <a:off x="6153150" y="47180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9" name="">
            <a:extLst xmlns:a="http://schemas.openxmlformats.org/drawingml/2006/main">
              <a:ext uri="{FF2B5EF4-FFF2-40B4-BE49-F238E27FC236}">
                <a16:creationId xmlns:a16="http://schemas.microsoft.com/office/drawing/2014/main" id="{4C261FB5-B6D6-4ED3-AB3F-F4DD8829AC40}"/>
              </a:ext>
            </a:extLst>
          </p:cNvPr>
          <p:cNvSpPr>
            <a:spLocks xmlns:a="http://schemas.openxmlformats.org/drawingml/2006/main" noGrp="1"/>
          </p:cNvSpPr>
          <p:nvPr/>
        </p:nvSpPr>
        <p:spPr>
          <a:xfrm xmlns:a="http://schemas.openxmlformats.org/drawingml/2006/main">
            <a:off x="6153150" y="47180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8A00970C-1E8F-47A5-9148-0A0016D3FF56}"/>
              </a:ext>
            </a:extLst>
          </p:cNvPr>
          <p:cNvSpPr>
            <a:spLocks xmlns:a="http://schemas.openxmlformats.org/drawingml/2006/main" noGrp="1"/>
          </p:cNvSpPr>
          <p:nvPr/>
        </p:nvSpPr>
        <p:spPr>
          <a:xfrm xmlns:a="http://schemas.openxmlformats.org/drawingml/2006/main">
            <a:off x="627697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51" name="">
            <a:extLst xmlns:a="http://schemas.openxmlformats.org/drawingml/2006/main">
              <a:ext uri="{FF2B5EF4-FFF2-40B4-BE49-F238E27FC236}">
                <a16:creationId xmlns:a16="http://schemas.microsoft.com/office/drawing/2014/main" id="{60288034-892E-4B78-A073-3304228B0AA6}"/>
              </a:ext>
            </a:extLst>
          </p:cNvPr>
          <p:cNvSpPr>
            <a:spLocks xmlns:a="http://schemas.openxmlformats.org/drawingml/2006/main" noGrp="1"/>
          </p:cNvSpPr>
          <p:nvPr/>
        </p:nvSpPr>
        <p:spPr>
          <a:xfrm xmlns:a="http://schemas.openxmlformats.org/drawingml/2006/main">
            <a:off x="6276975" y="49339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Any STRADVISION India CV nomination.</a:t>
            </a:r>
          </a:p>
        </p:txBody>
      </p:sp>
      <p:sp>
        <p:nvSpPr>
          <p:cNvPr id="52" name="">
            <a:extLst xmlns:a="http://schemas.openxmlformats.org/drawingml/2006/main">
              <a:ext uri="{FF2B5EF4-FFF2-40B4-BE49-F238E27FC236}">
                <a16:creationId xmlns:a16="http://schemas.microsoft.com/office/drawing/2014/main" id="{668B914A-D02C-44F9-BDEC-E9BD5252F261}"/>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8A12DD7A-F050-4DE9-8310-D2E045BC8250}"/>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1B8D0B0E-2BCD-4EB2-A16C-E7D4785C991F}"/>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55" name="">
            <a:extLst xmlns:a="http://schemas.openxmlformats.org/drawingml/2006/main">
              <a:ext uri="{FF2B5EF4-FFF2-40B4-BE49-F238E27FC236}">
                <a16:creationId xmlns:a16="http://schemas.microsoft.com/office/drawing/2014/main" id="{570C593E-A1E6-4A15-9BAD-215BC3C169CF}"/>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Concentrate the perception-layer defence on N2/N3 OEM buying.</a:t>
            </a:r>
          </a:p>
        </p:txBody>
      </p:sp>
      <p:sp>
        <p:nvSpPr>
          <p:cNvPr id="56" name="">
            <a:extLst xmlns:a="http://schemas.openxmlformats.org/drawingml/2006/main">
              <a:ext uri="{FF2B5EF4-FFF2-40B4-BE49-F238E27FC236}">
                <a16:creationId xmlns:a16="http://schemas.microsoft.com/office/drawing/2014/main" id="{DED23A0E-CB6A-4D56-934D-991CE2AF8FE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57" name="">
            <a:extLst xmlns:a="http://schemas.openxmlformats.org/drawingml/2006/main">
              <a:ext uri="{FF2B5EF4-FFF2-40B4-BE49-F238E27FC236}">
                <a16:creationId xmlns:a16="http://schemas.microsoft.com/office/drawing/2014/main" id="{5B61EFE7-E7A0-4F37-84F7-0D5E78ABC2A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Any STRADVISION India CV nomination.</a:t>
            </a:r>
          </a:p>
        </p:txBody>
      </p:sp>
      <p:sp>
        <p:nvSpPr>
          <p:cNvPr id="58" name="">
            <a:extLst xmlns:a="http://schemas.openxmlformats.org/drawingml/2006/main">
              <a:ext uri="{FF2B5EF4-FFF2-40B4-BE49-F238E27FC236}">
                <a16:creationId xmlns:a16="http://schemas.microsoft.com/office/drawing/2014/main" id="{B778DAEA-9419-4001-8AA1-0EFAF251BE7A}"/>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9" name="">
            <a:extLst xmlns:a="http://schemas.openxmlformats.org/drawingml/2006/main">
              <a:ext uri="{FF2B5EF4-FFF2-40B4-BE49-F238E27FC236}">
                <a16:creationId xmlns:a16="http://schemas.microsoft.com/office/drawing/2014/main" id="{C3649490-59FF-491C-9DF6-0F29E21949A1}"/>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any STRADVISION India CV nomination.</a:t>
            </a:r>
          </a:p>
        </p:txBody>
      </p:sp>
      <p:sp>
        <p:nvSpPr>
          <p:cNvPr id="60" name="">
            <a:extLst xmlns:a="http://schemas.openxmlformats.org/drawingml/2006/main">
              <a:ext uri="{FF2B5EF4-FFF2-40B4-BE49-F238E27FC236}">
                <a16:creationId xmlns:a16="http://schemas.microsoft.com/office/drawing/2014/main" id="{46DC5D1E-D488-42C0-9CA0-FAE05C0DC19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58A6C6D4-68F8-4725-B770-95767E41FFB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2" name="">
            <a:extLst xmlns:a="http://schemas.openxmlformats.org/drawingml/2006/main">
              <a:ext uri="{FF2B5EF4-FFF2-40B4-BE49-F238E27FC236}">
                <a16:creationId xmlns:a16="http://schemas.microsoft.com/office/drawing/2014/main" id="{0E184B6C-4B20-4115-8AD2-32D89703567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43</a:t>
            </a:r>
          </a:p>
        </p:txBody>
      </p:sp>
    </p:spTree>
    <p:extLst>
      <p:ext uri="{BB962C8B-B14F-4D97-AF65-F5344CB8AC3E}">
        <p14:creationId xmlns:p14="http://schemas.microsoft.com/office/powerpoint/2010/main" val="1349833689"/>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FB26A110-BDBE-4FC5-8B72-B627912A27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20697EC-C4C7-4EBB-861E-F51E6ECCFCB5}"/>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540CAD5-46CB-452A-82CD-0017003E341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812AE4AD-A5A7-409F-AC9C-5FCA85E679BD}"/>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DDF3B81B-F36A-47E9-B008-6AE3504CEAA1}"/>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Use STRADVISION as primary layer comparator; run equal-scope benchmark</a:t>
            </a:r>
          </a:p>
        </p:txBody>
      </p:sp>
      <p:sp>
        <p:nvSpPr>
          <p:cNvPr id="6" name="">
            <a:extLst xmlns:a="http://schemas.openxmlformats.org/drawingml/2006/main">
              <a:ext uri="{FF2B5EF4-FFF2-40B4-BE49-F238E27FC236}">
                <a16:creationId xmlns:a16="http://schemas.microsoft.com/office/drawing/2014/main" id="{0B1C8CBD-BFFB-472D-A4F0-BC52A544486B}"/>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0B50F9A-B6BD-41FF-AE50-B39E8584DF46}"/>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response should DeepGrid fund now, and which observable signal should trigger escalation?</a:t>
            </a:r>
          </a:p>
        </p:txBody>
      </p:sp>
      <p:sp>
        <p:nvSpPr>
          <p:cNvPr id="8" name="">
            <a:extLst xmlns:a="http://schemas.openxmlformats.org/drawingml/2006/main">
              <a:ext uri="{FF2B5EF4-FFF2-40B4-BE49-F238E27FC236}">
                <a16:creationId xmlns:a16="http://schemas.microsoft.com/office/drawing/2014/main" id="{1576D48B-B6AB-4FDC-B90E-BDCBF0193FDA}"/>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2BD737C4-9C8E-4099-A1CC-E3E32F9ED069}"/>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68786D1-DD2B-4869-854B-456F11882E03}"/>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41E08B9F-9897-4D17-BD39-3D49655A3E61}"/>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Use STRADVISION as the primary perception-layer comparator and run an equal-scope benchmark reporting accuracy, latency, power, class scope and denominators. It contests the same layer without owning the vehicle.</a:t>
            </a:r>
          </a:p>
        </p:txBody>
      </p:sp>
      <p:sp>
        <p:nvSpPr>
          <p:cNvPr id="12" name="">
            <a:extLst xmlns:a="http://schemas.openxmlformats.org/drawingml/2006/main">
              <a:ext uri="{FF2B5EF4-FFF2-40B4-BE49-F238E27FC236}">
                <a16:creationId xmlns:a16="http://schemas.microsoft.com/office/drawing/2014/main" id="{7D1971D0-1F59-4FCC-B438-17C1F0970BCE}"/>
              </a:ext>
            </a:extLst>
          </p:cNvPr>
          <p:cNvSpPr>
            <a:spLocks xmlns:a="http://schemas.openxmlformats.org/drawingml/2006/main" noGrp="1"/>
          </p:cNvSpPr>
          <p:nvPr/>
        </p:nvSpPr>
        <p:spPr>
          <a:xfrm xmlns:a="http://schemas.openxmlformats.org/drawingml/2006/main">
            <a:off x="45720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D6593CD1-38E8-4217-812E-31A9F5551942}"/>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25642C7-D545-4341-99B7-4B8A499B338C}"/>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F6C8C95D-C0DF-407C-BABC-CABA639C28AF}"/>
              </a:ext>
            </a:extLst>
          </p:cNvPr>
          <p:cNvSpPr>
            <a:spLocks xmlns:a="http://schemas.openxmlformats.org/drawingml/2006/main" noGrp="1"/>
          </p:cNvSpPr>
          <p:nvPr/>
        </p:nvSpPr>
        <p:spPr>
          <a:xfrm xmlns:a="http://schemas.openxmlformats.org/drawingml/2006/main">
            <a:off x="5715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Use STRADVISION as the primary perception-layer comparator and run an equal-scope benchmark reporting accuracy, latency, power, class scope and denominators. It contests the same layer without owning the vehicle.</a:t>
            </a:r>
          </a:p>
        </p:txBody>
      </p:sp>
      <p:sp>
        <p:nvSpPr>
          <p:cNvPr id="16" name="">
            <a:extLst xmlns:a="http://schemas.openxmlformats.org/drawingml/2006/main">
              <a:ext uri="{FF2B5EF4-FFF2-40B4-BE49-F238E27FC236}">
                <a16:creationId xmlns:a16="http://schemas.microsoft.com/office/drawing/2014/main" id="{FDC73EB7-0EE7-49A9-94FA-0D6014E5F1B3}"/>
              </a:ext>
            </a:extLst>
          </p:cNvPr>
          <p:cNvSpPr>
            <a:spLocks xmlns:a="http://schemas.openxmlformats.org/drawingml/2006/main" noGrp="1"/>
          </p:cNvSpPr>
          <p:nvPr/>
        </p:nvSpPr>
        <p:spPr>
          <a:xfrm xmlns:a="http://schemas.openxmlformats.org/drawingml/2006/main">
            <a:off x="424815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DD1399ED-1A09-4CBE-B4AE-2D6EF8797620}"/>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96232CA-F22F-4AA4-BC5F-DF58BDA3845C}"/>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D4D3028B-DF1F-4B2D-9DB4-4AD50DAE7098}"/>
              </a:ext>
            </a:extLst>
          </p:cNvPr>
          <p:cNvSpPr>
            <a:spLocks xmlns:a="http://schemas.openxmlformats.org/drawingml/2006/main" noGrp="1"/>
          </p:cNvSpPr>
          <p:nvPr/>
        </p:nvSpPr>
        <p:spPr>
          <a:xfrm xmlns:a="http://schemas.openxmlformats.org/drawingml/2006/main">
            <a:off x="436245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Its ~5m-unit global deployment (Apr 2026) is a scale signal DeepGrid cannot match, and a buyer may treat deployment volume as a proxy for reliability regardless of benchmark results.</a:t>
            </a:r>
          </a:p>
        </p:txBody>
      </p:sp>
      <p:sp>
        <p:nvSpPr>
          <p:cNvPr id="20" name="">
            <a:extLst xmlns:a="http://schemas.openxmlformats.org/drawingml/2006/main">
              <a:ext uri="{FF2B5EF4-FFF2-40B4-BE49-F238E27FC236}">
                <a16:creationId xmlns:a16="http://schemas.microsoft.com/office/drawing/2014/main" id="{557D96D7-1146-4452-837F-2EA50EC6E5A6}"/>
              </a:ext>
            </a:extLst>
          </p:cNvPr>
          <p:cNvSpPr>
            <a:spLocks xmlns:a="http://schemas.openxmlformats.org/drawingml/2006/main" noGrp="1"/>
          </p:cNvSpPr>
          <p:nvPr/>
        </p:nvSpPr>
        <p:spPr>
          <a:xfrm xmlns:a="http://schemas.openxmlformats.org/drawingml/2006/main">
            <a:off x="803910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C0A53BFB-EDE4-4094-AB55-BF1B063931B6}"/>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8758E3E-0745-4BBF-9CA1-1467551ACD73}"/>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32EDAF07-80A7-4989-90DA-C291EB34746B}"/>
              </a:ext>
            </a:extLst>
          </p:cNvPr>
          <p:cNvSpPr>
            <a:spLocks xmlns:a="http://schemas.openxmlformats.org/drawingml/2006/main" noGrp="1"/>
          </p:cNvSpPr>
          <p:nvPr/>
        </p:nvSpPr>
        <p:spPr>
          <a:xfrm xmlns:a="http://schemas.openxmlformats.org/drawingml/2006/main">
            <a:off x="81534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Make reproducible evidence—not domestic positioning—the basis of the STRADVISION response</a:t>
            </a:r>
          </a:p>
        </p:txBody>
      </p:sp>
      <p:sp>
        <p:nvSpPr>
          <p:cNvPr id="24" name="">
            <a:extLst xmlns:a="http://schemas.openxmlformats.org/drawingml/2006/main">
              <a:ext uri="{FF2B5EF4-FFF2-40B4-BE49-F238E27FC236}">
                <a16:creationId xmlns:a16="http://schemas.microsoft.com/office/drawing/2014/main" id="{A9F4D463-F8A6-469F-B201-45503445C945}"/>
              </a:ext>
            </a:extLst>
          </p:cNvPr>
          <p:cNvSpPr>
            <a:spLocks xmlns:a="http://schemas.openxmlformats.org/drawingml/2006/main" noGrp="1"/>
          </p:cNvSpPr>
          <p:nvPr/>
        </p:nvSpPr>
        <p:spPr>
          <a:xfrm xmlns:a="http://schemas.openxmlformats.org/drawingml/2006/main">
            <a:off x="457200" y="481330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2427AED9-9476-420B-9EA3-F4BEFD6C8446}"/>
              </a:ext>
            </a:extLst>
          </p:cNvPr>
          <p:cNvSpPr>
            <a:spLocks xmlns:a="http://schemas.openxmlformats.org/drawingml/2006/main" noGrp="1"/>
          </p:cNvSpPr>
          <p:nvPr/>
        </p:nvSpPr>
        <p:spPr>
          <a:xfrm xmlns:a="http://schemas.openxmlformats.org/drawingml/2006/main">
            <a:off x="457200" y="481330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A350955-9590-4ADA-9EB0-4759E17BB836}"/>
              </a:ext>
            </a:extLst>
          </p:cNvPr>
          <p:cNvSpPr>
            <a:spLocks xmlns:a="http://schemas.openxmlformats.org/drawingml/2006/main" noGrp="1"/>
          </p:cNvSpPr>
          <p:nvPr/>
        </p:nvSpPr>
        <p:spPr>
          <a:xfrm xmlns:a="http://schemas.openxmlformats.org/drawingml/2006/main">
            <a:off x="581025" y="48799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F1F7BFFA-2B81-4888-8365-5FF4BD3E993C}"/>
              </a:ext>
            </a:extLst>
          </p:cNvPr>
          <p:cNvSpPr>
            <a:spLocks xmlns:a="http://schemas.openxmlformats.org/drawingml/2006/main" noGrp="1"/>
          </p:cNvSpPr>
          <p:nvPr/>
        </p:nvSpPr>
        <p:spPr>
          <a:xfrm xmlns:a="http://schemas.openxmlformats.org/drawingml/2006/main">
            <a:off x="581025" y="50292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equal scope cannot be obtained, or if STRADVISION's India CV class scope proves materially different.</a:t>
            </a:r>
          </a:p>
        </p:txBody>
      </p:sp>
      <p:sp>
        <p:nvSpPr>
          <p:cNvPr id="28" name="">
            <a:extLst xmlns:a="http://schemas.openxmlformats.org/drawingml/2006/main">
              <a:ext uri="{FF2B5EF4-FFF2-40B4-BE49-F238E27FC236}">
                <a16:creationId xmlns:a16="http://schemas.microsoft.com/office/drawing/2014/main" id="{2F53950C-4CF9-4E6D-8572-33B8E45A2973}"/>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AB25E8A-B391-4017-AE1D-FD6C0165BB61}"/>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4A0EDE7-96AC-49A0-B265-F177E36A8FBC}"/>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17125E14-8623-449B-A129-6C8E5A3DE8E3}"/>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Escalate only when results report accuracy, latency, power, class scope, denominators</a:t>
            </a:r>
          </a:p>
        </p:txBody>
      </p:sp>
      <p:sp>
        <p:nvSpPr>
          <p:cNvPr id="32" name="">
            <a:extLst xmlns:a="http://schemas.openxmlformats.org/drawingml/2006/main">
              <a:ext uri="{FF2B5EF4-FFF2-40B4-BE49-F238E27FC236}">
                <a16:creationId xmlns:a16="http://schemas.microsoft.com/office/drawing/2014/main" id="{274E608C-0681-4840-8ECC-3D22B5709783}"/>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B9A54433-AA5C-472A-8539-7821F8303B94}"/>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Stop if equal scope cannot be obtained</a:t>
            </a:r>
          </a:p>
        </p:txBody>
      </p:sp>
      <p:sp>
        <p:nvSpPr>
          <p:cNvPr id="34" name="">
            <a:extLst xmlns:a="http://schemas.openxmlformats.org/drawingml/2006/main">
              <a:ext uri="{FF2B5EF4-FFF2-40B4-BE49-F238E27FC236}">
                <a16:creationId xmlns:a16="http://schemas.microsoft.com/office/drawing/2014/main" id="{539DBFB9-27E6-416F-93D1-6F1CD9BFAC0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09D7FDB9-C5DD-4B99-B12F-085F44E594FE}"/>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if equal scope cannot be obtained.</a:t>
            </a:r>
          </a:p>
        </p:txBody>
      </p:sp>
      <p:sp>
        <p:nvSpPr>
          <p:cNvPr id="36" name="">
            <a:extLst xmlns:a="http://schemas.openxmlformats.org/drawingml/2006/main">
              <a:ext uri="{FF2B5EF4-FFF2-40B4-BE49-F238E27FC236}">
                <a16:creationId xmlns:a16="http://schemas.microsoft.com/office/drawing/2014/main" id="{DC02041D-66B9-49DF-A544-4EFD4AF9E203}"/>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66E27D52-F134-42F7-A0F1-E1C0AF3E8794}"/>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BB7F9123-3FB4-4C40-9BC2-6964A6BA5BA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44</a:t>
            </a:r>
          </a:p>
        </p:txBody>
      </p:sp>
    </p:spTree>
    <p:extLst>
      <p:ext uri="{BB962C8B-B14F-4D97-AF65-F5344CB8AC3E}">
        <p14:creationId xmlns:p14="http://schemas.microsoft.com/office/powerpoint/2010/main" val="2057484081"/>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EC2A4194-E4F9-45E3-AC3B-71DBF9F587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BBB2DAF-88AF-4AC2-A18D-756CF15CC374}"/>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0C48F7F-8924-4A6F-A648-EE52266E136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D4013115-2326-42F6-AA40-76CCBA8419D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B842E76E-FE4E-4891-85A1-22CA0846E515}"/>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STRADVISION: Run constrained-compute comparator; global scale ≠ India CV proof</a:t>
            </a:r>
          </a:p>
        </p:txBody>
      </p:sp>
      <p:sp>
        <p:nvSpPr>
          <p:cNvPr id="6" name="">
            <a:extLst xmlns:a="http://schemas.openxmlformats.org/drawingml/2006/main">
              <a:ext uri="{FF2B5EF4-FFF2-40B4-BE49-F238E27FC236}">
                <a16:creationId xmlns:a16="http://schemas.microsoft.com/office/drawing/2014/main" id="{83B2DFF5-D27B-471D-80C7-F5706C5E61F4}"/>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B7DB563-2F40-47AC-8B35-47F45DC75274}"/>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evidence would materially raise or lower STRADVISION's threat rating?</a:t>
            </a:r>
          </a:p>
        </p:txBody>
      </p:sp>
      <p:sp>
        <p:nvSpPr>
          <p:cNvPr id="8" name="">
            <a:extLst xmlns:a="http://schemas.openxmlformats.org/drawingml/2006/main">
              <a:ext uri="{FF2B5EF4-FFF2-40B4-BE49-F238E27FC236}">
                <a16:creationId xmlns:a16="http://schemas.microsoft.com/office/drawing/2014/main" id="{902E2BDF-4063-49F0-AD25-CE6BCB44523B}"/>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21FAAFE2-FF99-4507-9B43-37155AEE67FC}"/>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9A4B428-F0E5-4EF6-B520-EF6923DC0B10}"/>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B05911BE-1182-47E7-B9E0-2FFF766D710B}"/>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It is the cleanest proposed layer-for-layer comparator, but only a reproducible constrained-compute test can establish superiority on DeepGrid's target hardware and Indian scenarios.</a:t>
            </a:r>
          </a:p>
        </p:txBody>
      </p:sp>
      <p:sp>
        <p:nvSpPr>
          <p:cNvPr id="12" name="">
            <a:extLst xmlns:a="http://schemas.openxmlformats.org/drawingml/2006/main">
              <a:ext uri="{FF2B5EF4-FFF2-40B4-BE49-F238E27FC236}">
                <a16:creationId xmlns:a16="http://schemas.microsoft.com/office/drawing/2014/main" id="{5DF8BD5B-ECFA-4AF5-B00D-9765BB47A84B}"/>
              </a:ext>
            </a:extLst>
          </p:cNvPr>
          <p:cNvSpPr>
            <a:spLocks xmlns:a="http://schemas.openxmlformats.org/drawingml/2006/main" noGrp="1"/>
          </p:cNvSpPr>
          <p:nvPr/>
        </p:nvSpPr>
        <p:spPr>
          <a:xfrm xmlns:a="http://schemas.openxmlformats.org/drawingml/2006/main">
            <a:off x="457200" y="2152650"/>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7C962076-3DC5-442D-9CCD-6656AF1DA6F9}"/>
              </a:ext>
            </a:extLst>
          </p:cNvPr>
          <p:cNvSpPr>
            <a:spLocks xmlns:a="http://schemas.openxmlformats.org/drawingml/2006/main" noGrp="1"/>
          </p:cNvSpPr>
          <p:nvPr/>
        </p:nvSpPr>
        <p:spPr>
          <a:xfrm xmlns:a="http://schemas.openxmlformats.org/drawingml/2006/main">
            <a:off x="457200" y="215265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82AE212-D8D4-4DDD-8C53-8CEF4F659A43}"/>
              </a:ext>
            </a:extLst>
          </p:cNvPr>
          <p:cNvSpPr>
            <a:spLocks xmlns:a="http://schemas.openxmlformats.org/drawingml/2006/main" noGrp="1"/>
          </p:cNvSpPr>
          <p:nvPr/>
        </p:nvSpPr>
        <p:spPr>
          <a:xfrm xmlns:a="http://schemas.openxmlformats.org/drawingml/2006/main">
            <a:off x="457200" y="2152650"/>
            <a:ext cx="28575" cy="800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7CF0E3D-7011-47A7-B1C6-AEA9E702D16E}"/>
              </a:ext>
            </a:extLst>
          </p:cNvPr>
          <p:cNvSpPr>
            <a:spLocks xmlns:a="http://schemas.openxmlformats.org/drawingml/2006/main" noGrp="1"/>
          </p:cNvSpPr>
          <p:nvPr/>
        </p:nvSpPr>
        <p:spPr>
          <a:xfrm xmlns:a="http://schemas.openxmlformats.org/drawingml/2006/main">
            <a:off x="571500" y="2238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FREEZE THE CLAIM REGISTER</a:t>
            </a:r>
          </a:p>
        </p:txBody>
      </p:sp>
      <p:sp>
        <p:nvSpPr>
          <p:cNvPr id="16" name="">
            <a:extLst xmlns:a="http://schemas.openxmlformats.org/drawingml/2006/main">
              <a:ext uri="{FF2B5EF4-FFF2-40B4-BE49-F238E27FC236}">
                <a16:creationId xmlns:a16="http://schemas.microsoft.com/office/drawing/2014/main" id="{4FE20E02-5720-4523-B7EB-C1A71DE625F5}"/>
              </a:ext>
            </a:extLst>
          </p:cNvPr>
          <p:cNvSpPr>
            <a:spLocks xmlns:a="http://schemas.openxmlformats.org/drawingml/2006/main" noGrp="1"/>
          </p:cNvSpPr>
          <p:nvPr/>
        </p:nvSpPr>
        <p:spPr>
          <a:xfrm xmlns:a="http://schemas.openxmlformats.org/drawingml/2006/main">
            <a:off x="4067556" y="2228850"/>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Freeze the claim register; correct mandate/certification language; request primary evidence from Gahan/Starkenn; define partner interface package.</a:t>
            </a:r>
          </a:p>
        </p:txBody>
      </p:sp>
      <p:sp>
        <p:nvSpPr>
          <p:cNvPr id="17" name="">
            <a:extLst xmlns:a="http://schemas.openxmlformats.org/drawingml/2006/main">
              <a:ext uri="{FF2B5EF4-FFF2-40B4-BE49-F238E27FC236}">
                <a16:creationId xmlns:a16="http://schemas.microsoft.com/office/drawing/2014/main" id="{076A555E-F8B2-4DF2-8164-864EA4552454}"/>
              </a:ext>
            </a:extLst>
          </p:cNvPr>
          <p:cNvSpPr>
            <a:spLocks xmlns:a="http://schemas.openxmlformats.org/drawingml/2006/main" noGrp="1"/>
          </p:cNvSpPr>
          <p:nvPr/>
        </p:nvSpPr>
        <p:spPr>
          <a:xfrm xmlns:a="http://schemas.openxmlformats.org/drawingml/2006/main">
            <a:off x="9816084" y="2238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A27BDDD9-3687-4FAB-B866-0370236DF39E}"/>
              </a:ext>
            </a:extLst>
          </p:cNvPr>
          <p:cNvSpPr>
            <a:spLocks xmlns:a="http://schemas.openxmlformats.org/drawingml/2006/main" noGrp="1"/>
          </p:cNvSpPr>
          <p:nvPr/>
        </p:nvSpPr>
        <p:spPr>
          <a:xfrm xmlns:a="http://schemas.openxmlformats.org/drawingml/2006/main">
            <a:off x="457200" y="3019425"/>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BEFB131B-FC50-48A4-89E3-28E0A8E93844}"/>
              </a:ext>
            </a:extLst>
          </p:cNvPr>
          <p:cNvSpPr>
            <a:spLocks xmlns:a="http://schemas.openxmlformats.org/drawingml/2006/main" noGrp="1"/>
          </p:cNvSpPr>
          <p:nvPr/>
        </p:nvSpPr>
        <p:spPr>
          <a:xfrm xmlns:a="http://schemas.openxmlformats.org/drawingml/2006/main">
            <a:off x="457200" y="3019425"/>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6B24751-9ACF-43E4-8FE8-351E13096CED}"/>
              </a:ext>
            </a:extLst>
          </p:cNvPr>
          <p:cNvSpPr>
            <a:spLocks xmlns:a="http://schemas.openxmlformats.org/drawingml/2006/main" noGrp="1"/>
          </p:cNvSpPr>
          <p:nvPr/>
        </p:nvSpPr>
        <p:spPr>
          <a:xfrm xmlns:a="http://schemas.openxmlformats.org/drawingml/2006/main">
            <a:off x="457200" y="3019425"/>
            <a:ext cx="28575" cy="800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296FBDA-C3AA-4347-91D0-CF23193147CE}"/>
              </a:ext>
            </a:extLst>
          </p:cNvPr>
          <p:cNvSpPr>
            <a:spLocks xmlns:a="http://schemas.openxmlformats.org/drawingml/2006/main" noGrp="1"/>
          </p:cNvSpPr>
          <p:nvPr/>
        </p:nvSpPr>
        <p:spPr>
          <a:xfrm xmlns:a="http://schemas.openxmlformats.org/drawingml/2006/main">
            <a:off x="571500" y="31051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CONTRACT THREE PAID</a:t>
            </a:r>
          </a:p>
        </p:txBody>
      </p:sp>
      <p:sp>
        <p:nvSpPr>
          <p:cNvPr id="22" name="">
            <a:extLst xmlns:a="http://schemas.openxmlformats.org/drawingml/2006/main">
              <a:ext uri="{FF2B5EF4-FFF2-40B4-BE49-F238E27FC236}">
                <a16:creationId xmlns:a16="http://schemas.microsoft.com/office/drawing/2014/main" id="{D29E0358-93B8-4234-AC3C-F1ABA40C7943}"/>
              </a:ext>
            </a:extLst>
          </p:cNvPr>
          <p:cNvSpPr>
            <a:spLocks xmlns:a="http://schemas.openxmlformats.org/drawingml/2006/main" noGrp="1"/>
          </p:cNvSpPr>
          <p:nvPr/>
        </p:nvSpPr>
        <p:spPr>
          <a:xfrm xmlns:a="http://schemas.openxmlformats.org/drawingml/2006/main">
            <a:off x="4067556" y="3095625"/>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Contract three paid telemetry-rich pilots and an independent characterisation protocol; publish only reproducible field and track metrics.</a:t>
            </a:r>
          </a:p>
        </p:txBody>
      </p:sp>
      <p:sp>
        <p:nvSpPr>
          <p:cNvPr id="23" name="">
            <a:extLst xmlns:a="http://schemas.openxmlformats.org/drawingml/2006/main">
              <a:ext uri="{FF2B5EF4-FFF2-40B4-BE49-F238E27FC236}">
                <a16:creationId xmlns:a16="http://schemas.microsoft.com/office/drawing/2014/main" id="{3465F412-AFEF-414A-B21C-AE018D34840A}"/>
              </a:ext>
            </a:extLst>
          </p:cNvPr>
          <p:cNvSpPr>
            <a:spLocks xmlns:a="http://schemas.openxmlformats.org/drawingml/2006/main" noGrp="1"/>
          </p:cNvSpPr>
          <p:nvPr/>
        </p:nvSpPr>
        <p:spPr>
          <a:xfrm xmlns:a="http://schemas.openxmlformats.org/drawingml/2006/main">
            <a:off x="9816084" y="31051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798C8284-B03A-4DA7-B555-AF6C52D01534}"/>
              </a:ext>
            </a:extLst>
          </p:cNvPr>
          <p:cNvSpPr>
            <a:spLocks xmlns:a="http://schemas.openxmlformats.org/drawingml/2006/main" noGrp="1"/>
          </p:cNvSpPr>
          <p:nvPr/>
        </p:nvSpPr>
        <p:spPr>
          <a:xfrm xmlns:a="http://schemas.openxmlformats.org/drawingml/2006/main">
            <a:off x="457200" y="3886200"/>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DE0F96A5-1B9B-4EB8-BC19-D4E944094100}"/>
              </a:ext>
            </a:extLst>
          </p:cNvPr>
          <p:cNvSpPr>
            <a:spLocks xmlns:a="http://schemas.openxmlformats.org/drawingml/2006/main" noGrp="1"/>
          </p:cNvSpPr>
          <p:nvPr/>
        </p:nvSpPr>
        <p:spPr>
          <a:xfrm xmlns:a="http://schemas.openxmlformats.org/drawingml/2006/main">
            <a:off x="457200" y="38862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0D09228-D211-40C1-960D-F3758570DCB7}"/>
              </a:ext>
            </a:extLst>
          </p:cNvPr>
          <p:cNvSpPr>
            <a:spLocks xmlns:a="http://schemas.openxmlformats.org/drawingml/2006/main" noGrp="1"/>
          </p:cNvSpPr>
          <p:nvPr/>
        </p:nvSpPr>
        <p:spPr>
          <a:xfrm xmlns:a="http://schemas.openxmlformats.org/drawingml/2006/main">
            <a:off x="457200" y="3886200"/>
            <a:ext cx="28575" cy="800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36937CB-1DA8-470F-80F2-58E8234A4A95}"/>
              </a:ext>
            </a:extLst>
          </p:cNvPr>
          <p:cNvSpPr>
            <a:spLocks xmlns:a="http://schemas.openxmlformats.org/drawingml/2006/main" noGrp="1"/>
          </p:cNvSpPr>
          <p:nvPr/>
        </p:nvSpPr>
        <p:spPr>
          <a:xfrm xmlns:a="http://schemas.openxmlformats.org/drawingml/2006/main">
            <a:off x="571500" y="3971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APPROACH ONE BRAKING TIER-1</a:t>
            </a:r>
          </a:p>
        </p:txBody>
      </p:sp>
      <p:sp>
        <p:nvSpPr>
          <p:cNvPr id="28" name="">
            <a:extLst xmlns:a="http://schemas.openxmlformats.org/drawingml/2006/main">
              <a:ext uri="{FF2B5EF4-FFF2-40B4-BE49-F238E27FC236}">
                <a16:creationId xmlns:a16="http://schemas.microsoft.com/office/drawing/2014/main" id="{802F4155-85D6-4302-A01D-14E7E0F16450}"/>
              </a:ext>
            </a:extLst>
          </p:cNvPr>
          <p:cNvSpPr>
            <a:spLocks xmlns:a="http://schemas.openxmlformats.org/drawingml/2006/main" noGrp="1"/>
          </p:cNvSpPr>
          <p:nvPr/>
        </p:nvSpPr>
        <p:spPr>
          <a:xfrm xmlns:a="http://schemas.openxmlformats.org/drawingml/2006/main">
            <a:off x="4067556" y="3962400"/>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Approach one braking Tier-1 and Starkenn with a bounded technical wedge; issue comparable RFQs for sensors/ECU/integration/support.</a:t>
            </a:r>
          </a:p>
        </p:txBody>
      </p:sp>
      <p:sp>
        <p:nvSpPr>
          <p:cNvPr id="29" name="">
            <a:extLst xmlns:a="http://schemas.openxmlformats.org/drawingml/2006/main">
              <a:ext uri="{FF2B5EF4-FFF2-40B4-BE49-F238E27FC236}">
                <a16:creationId xmlns:a16="http://schemas.microsoft.com/office/drawing/2014/main" id="{C9D971DE-48A1-4956-9002-B4C21D18CA49}"/>
              </a:ext>
            </a:extLst>
          </p:cNvPr>
          <p:cNvSpPr>
            <a:spLocks xmlns:a="http://schemas.openxmlformats.org/drawingml/2006/main" noGrp="1"/>
          </p:cNvSpPr>
          <p:nvPr/>
        </p:nvSpPr>
        <p:spPr>
          <a:xfrm xmlns:a="http://schemas.openxmlformats.org/drawingml/2006/main">
            <a:off x="9816084" y="3971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09BFD599-5FD5-4C3D-8314-F2E67B401901}"/>
              </a:ext>
            </a:extLst>
          </p:cNvPr>
          <p:cNvSpPr>
            <a:spLocks xmlns:a="http://schemas.openxmlformats.org/drawingml/2006/main" noGrp="1"/>
          </p:cNvSpPr>
          <p:nvPr/>
        </p:nvSpPr>
        <p:spPr>
          <a:xfrm xmlns:a="http://schemas.openxmlformats.org/drawingml/2006/main">
            <a:off x="457200" y="4752975"/>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BE0725E9-EC64-47B7-8942-474A0BE282CF}"/>
              </a:ext>
            </a:extLst>
          </p:cNvPr>
          <p:cNvSpPr>
            <a:spLocks xmlns:a="http://schemas.openxmlformats.org/drawingml/2006/main" noGrp="1"/>
          </p:cNvSpPr>
          <p:nvPr/>
        </p:nvSpPr>
        <p:spPr>
          <a:xfrm xmlns:a="http://schemas.openxmlformats.org/drawingml/2006/main">
            <a:off x="457200" y="475297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26E2951-68F8-4560-9E59-29CE2204F794}"/>
              </a:ext>
            </a:extLst>
          </p:cNvPr>
          <p:cNvSpPr>
            <a:spLocks xmlns:a="http://schemas.openxmlformats.org/drawingml/2006/main" noGrp="1"/>
          </p:cNvSpPr>
          <p:nvPr/>
        </p:nvSpPr>
        <p:spPr>
          <a:xfrm xmlns:a="http://schemas.openxmlformats.org/drawingml/2006/main">
            <a:off x="457200" y="4752975"/>
            <a:ext cx="28575" cy="800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FA6FB71-8F2A-4E15-8389-23CE4224450A}"/>
              </a:ext>
            </a:extLst>
          </p:cNvPr>
          <p:cNvSpPr>
            <a:spLocks xmlns:a="http://schemas.openxmlformats.org/drawingml/2006/main" noGrp="1"/>
          </p:cNvSpPr>
          <p:nvPr/>
        </p:nvSpPr>
        <p:spPr>
          <a:xfrm xmlns:a="http://schemas.openxmlformats.org/drawingml/2006/main">
            <a:off x="571500" y="48387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9124CF2A-DFF0-447F-9DBB-08561B274FA4}"/>
              </a:ext>
            </a:extLst>
          </p:cNvPr>
          <p:cNvSpPr>
            <a:spLocks xmlns:a="http://schemas.openxmlformats.org/drawingml/2006/main" noGrp="1"/>
          </p:cNvSpPr>
          <p:nvPr/>
        </p:nvSpPr>
        <p:spPr>
          <a:xfrm xmlns:a="http://schemas.openxmlformats.org/drawingml/2006/main">
            <a:off x="4067556" y="4829175"/>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Lab result may not predict production integration</a:t>
            </a:r>
          </a:p>
        </p:txBody>
      </p:sp>
      <p:sp>
        <p:nvSpPr>
          <p:cNvPr id="35" name="">
            <a:extLst xmlns:a="http://schemas.openxmlformats.org/drawingml/2006/main">
              <a:ext uri="{FF2B5EF4-FFF2-40B4-BE49-F238E27FC236}">
                <a16:creationId xmlns:a16="http://schemas.microsoft.com/office/drawing/2014/main" id="{227688A6-C6F5-4D33-A689-B6A336767FD5}"/>
              </a:ext>
            </a:extLst>
          </p:cNvPr>
          <p:cNvSpPr>
            <a:spLocks xmlns:a="http://schemas.openxmlformats.org/drawingml/2006/main" noGrp="1"/>
          </p:cNvSpPr>
          <p:nvPr/>
        </p:nvSpPr>
        <p:spPr>
          <a:xfrm xmlns:a="http://schemas.openxmlformats.org/drawingml/2006/main">
            <a:off x="9816084" y="48387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CB780584-D8D1-486F-90CC-732806EC2A1F}"/>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753FE74-354C-49C3-87F0-56A38D94B4DC}"/>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EFAEECD-67EB-417F-9879-597F69DA2F04}"/>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138A6625-1464-4BEE-A6CF-A93E0E194BA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Run the constrained-compute comparator; do not concede the layer on global scale.</a:t>
            </a:r>
          </a:p>
        </p:txBody>
      </p:sp>
      <p:sp>
        <p:nvSpPr>
          <p:cNvPr id="40" name="">
            <a:extLst xmlns:a="http://schemas.openxmlformats.org/drawingml/2006/main">
              <a:ext uri="{FF2B5EF4-FFF2-40B4-BE49-F238E27FC236}">
                <a16:creationId xmlns:a16="http://schemas.microsoft.com/office/drawing/2014/main" id="{78F60C1D-D461-4445-86AD-308A2E4C7F33}"/>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0C69B268-CD83-458C-9BAC-976DA697A4B4}"/>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Receipt of an exact configuration and denominators enabling equal scope.</a:t>
            </a:r>
          </a:p>
        </p:txBody>
      </p:sp>
      <p:sp>
        <p:nvSpPr>
          <p:cNvPr id="42" name="">
            <a:extLst xmlns:a="http://schemas.openxmlformats.org/drawingml/2006/main">
              <a:ext uri="{FF2B5EF4-FFF2-40B4-BE49-F238E27FC236}">
                <a16:creationId xmlns:a16="http://schemas.microsoft.com/office/drawing/2014/main" id="{713910E6-7F61-40A4-9BD3-6AAC84D532F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8DC48513-1CF0-4588-A665-397EEDE6B39A}"/>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the comparison if equal scope cannot be established.</a:t>
            </a:r>
          </a:p>
        </p:txBody>
      </p:sp>
      <p:sp>
        <p:nvSpPr>
          <p:cNvPr id="44" name="">
            <a:extLst xmlns:a="http://schemas.openxmlformats.org/drawingml/2006/main">
              <a:ext uri="{FF2B5EF4-FFF2-40B4-BE49-F238E27FC236}">
                <a16:creationId xmlns:a16="http://schemas.microsoft.com/office/drawing/2014/main" id="{840832B2-9547-4466-81E1-A1D123931BCE}"/>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11E9C817-DC06-4A70-899F-B200BD8273E2}"/>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9B486F6B-5086-4A14-A3A2-FBFF9468996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45</a:t>
            </a:r>
          </a:p>
        </p:txBody>
      </p:sp>
    </p:spTree>
    <p:extLst>
      <p:ext uri="{BB962C8B-B14F-4D97-AF65-F5344CB8AC3E}">
        <p14:creationId xmlns:p14="http://schemas.microsoft.com/office/powerpoint/2010/main" val="285129076"/>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15A582EA-F3F3-42C7-8F7F-F7CD26B497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E2009D0-C140-4E61-B127-7593FCF6FA0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091A574-8D1E-41CE-AA49-5CA0A720BFC2}"/>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COMPANY PROFILE · P-WARN</a:t>
            </a:r>
          </a:p>
        </p:txBody>
      </p:sp>
      <p:sp>
        <p:nvSpPr>
          <p:cNvPr id="4" name="">
            <a:extLst xmlns:a="http://schemas.openxmlformats.org/drawingml/2006/main">
              <a:ext uri="{FF2B5EF4-FFF2-40B4-BE49-F238E27FC236}">
                <a16:creationId xmlns:a16="http://schemas.microsoft.com/office/drawing/2014/main" id="{8A3EB7C1-2F06-47F4-8AEE-22B33DA189E8}"/>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drivebuddyAI</a:t>
            </a:r>
          </a:p>
        </p:txBody>
      </p:sp>
      <p:sp>
        <p:nvSpPr>
          <p:cNvPr id="5" name="">
            <a:extLst xmlns:a="http://schemas.openxmlformats.org/drawingml/2006/main">
              <a:ext uri="{FF2B5EF4-FFF2-40B4-BE49-F238E27FC236}">
                <a16:creationId xmlns:a16="http://schemas.microsoft.com/office/drawing/2014/main" id="{22567933-C23D-4943-8E3B-FCF84F4849DE}"/>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Roadzen Inc (parent)</a:t>
            </a:r>
          </a:p>
        </p:txBody>
      </p:sp>
      <p:sp>
        <p:nvSpPr>
          <p:cNvPr id="6" name="">
            <a:extLst xmlns:a="http://schemas.openxmlformats.org/drawingml/2006/main">
              <a:ext uri="{FF2B5EF4-FFF2-40B4-BE49-F238E27FC236}">
                <a16:creationId xmlns:a16="http://schemas.microsoft.com/office/drawing/2014/main" id="{09880E8B-9ECA-4298-8D7A-001E803D50AF}"/>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A5C30C7-8C05-4362-AB8E-81E480B582BC}"/>
              </a:ext>
            </a:extLst>
          </p:cNvPr>
          <p:cNvSpPr>
            <a:spLocks xmlns:a="http://schemas.openxmlformats.org/drawingml/2006/main" noGrp="1"/>
          </p:cNvSpPr>
          <p:nvPr/>
        </p:nvSpPr>
        <p:spPr>
          <a:xfrm xmlns:a="http://schemas.openxmlformats.org/drawingml/2006/main">
            <a:off x="45720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4DAE8397-6743-4F6A-B588-810B0D526DA8}"/>
              </a:ext>
            </a:extLst>
          </p:cNvPr>
          <p:cNvSpPr>
            <a:spLocks xmlns:a="http://schemas.openxmlformats.org/drawingml/2006/main" noGrp="1"/>
          </p:cNvSpPr>
          <p:nvPr/>
        </p:nvSpPr>
        <p:spPr>
          <a:xfrm xmlns:a="http://schemas.openxmlformats.org/drawingml/2006/main">
            <a:off x="45720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DB62E01-0F7A-471C-ABE9-4D9D3ADACC6D}"/>
              </a:ext>
            </a:extLst>
          </p:cNvPr>
          <p:cNvSpPr>
            <a:spLocks xmlns:a="http://schemas.openxmlformats.org/drawingml/2006/main" noGrp="1"/>
          </p:cNvSpPr>
          <p:nvPr/>
        </p:nvSpPr>
        <p:spPr>
          <a:xfrm xmlns:a="http://schemas.openxmlformats.org/drawingml/2006/main">
            <a:off x="57150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FOUNDED</a:t>
            </a:r>
          </a:p>
        </p:txBody>
      </p:sp>
      <p:sp>
        <p:nvSpPr>
          <p:cNvPr id="10" name="">
            <a:extLst xmlns:a="http://schemas.openxmlformats.org/drawingml/2006/main">
              <a:ext uri="{FF2B5EF4-FFF2-40B4-BE49-F238E27FC236}">
                <a16:creationId xmlns:a16="http://schemas.microsoft.com/office/drawing/2014/main" id="{B5622836-7473-4B9B-A812-B162DC7D62A5}"/>
              </a:ext>
            </a:extLst>
          </p:cNvPr>
          <p:cNvSpPr>
            <a:spLocks xmlns:a="http://schemas.openxmlformats.org/drawingml/2006/main" noGrp="1"/>
          </p:cNvSpPr>
          <p:nvPr/>
        </p:nvSpPr>
        <p:spPr>
          <a:xfrm xmlns:a="http://schemas.openxmlformats.org/drawingml/2006/main">
            <a:off x="57150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2015</a:t>
            </a:r>
          </a:p>
        </p:txBody>
      </p:sp>
      <p:sp>
        <p:nvSpPr>
          <p:cNvPr id="11" name="">
            <a:extLst xmlns:a="http://schemas.openxmlformats.org/drawingml/2006/main">
              <a:ext uri="{FF2B5EF4-FFF2-40B4-BE49-F238E27FC236}">
                <a16:creationId xmlns:a16="http://schemas.microsoft.com/office/drawing/2014/main" id="{ACE611EE-9656-44CE-8695-2F4EF4FA09FC}"/>
              </a:ext>
            </a:extLst>
          </p:cNvPr>
          <p:cNvSpPr>
            <a:spLocks xmlns:a="http://schemas.openxmlformats.org/drawingml/2006/main" noGrp="1"/>
          </p:cNvSpPr>
          <p:nvPr/>
        </p:nvSpPr>
        <p:spPr>
          <a:xfrm xmlns:a="http://schemas.openxmlformats.org/drawingml/2006/main">
            <a:off x="57150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Roadzen; drivebuddyAI acquired into the group</a:t>
            </a:r>
          </a:p>
        </p:txBody>
      </p:sp>
      <p:sp>
        <p:nvSpPr>
          <p:cNvPr id="12" name="">
            <a:extLst xmlns:a="http://schemas.openxmlformats.org/drawingml/2006/main">
              <a:ext uri="{FF2B5EF4-FFF2-40B4-BE49-F238E27FC236}">
                <a16:creationId xmlns:a16="http://schemas.microsoft.com/office/drawing/2014/main" id="{2C2D5E28-0289-4016-B274-2F9D1A3FF6D4}"/>
              </a:ext>
            </a:extLst>
          </p:cNvPr>
          <p:cNvSpPr>
            <a:spLocks xmlns:a="http://schemas.openxmlformats.org/drawingml/2006/main" noGrp="1"/>
          </p:cNvSpPr>
          <p:nvPr/>
        </p:nvSpPr>
        <p:spPr>
          <a:xfrm xmlns:a="http://schemas.openxmlformats.org/drawingml/2006/main">
            <a:off x="3305175"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8C43FBC4-36EE-421B-8289-EC3986A2CA01}"/>
              </a:ext>
            </a:extLst>
          </p:cNvPr>
          <p:cNvSpPr>
            <a:spLocks xmlns:a="http://schemas.openxmlformats.org/drawingml/2006/main" noGrp="1"/>
          </p:cNvSpPr>
          <p:nvPr/>
        </p:nvSpPr>
        <p:spPr>
          <a:xfrm xmlns:a="http://schemas.openxmlformats.org/drawingml/2006/main">
            <a:off x="3305175"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7ED3738-2931-4169-BF21-F329AD8B8DE3}"/>
              </a:ext>
            </a:extLst>
          </p:cNvPr>
          <p:cNvSpPr>
            <a:spLocks xmlns:a="http://schemas.openxmlformats.org/drawingml/2006/main" noGrp="1"/>
          </p:cNvSpPr>
          <p:nvPr/>
        </p:nvSpPr>
        <p:spPr>
          <a:xfrm xmlns:a="http://schemas.openxmlformats.org/drawingml/2006/main">
            <a:off x="341947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HEADQUARTERS</a:t>
            </a:r>
          </a:p>
        </p:txBody>
      </p:sp>
      <p:sp>
        <p:nvSpPr>
          <p:cNvPr id="15" name="">
            <a:extLst xmlns:a="http://schemas.openxmlformats.org/drawingml/2006/main">
              <a:ext uri="{FF2B5EF4-FFF2-40B4-BE49-F238E27FC236}">
                <a16:creationId xmlns:a16="http://schemas.microsoft.com/office/drawing/2014/main" id="{E7317626-DB32-46E9-BA31-1DE13C6E2F60}"/>
              </a:ext>
            </a:extLst>
          </p:cNvPr>
          <p:cNvSpPr>
            <a:spLocks xmlns:a="http://schemas.openxmlformats.org/drawingml/2006/main" noGrp="1"/>
          </p:cNvSpPr>
          <p:nvPr/>
        </p:nvSpPr>
        <p:spPr>
          <a:xfrm xmlns:a="http://schemas.openxmlformats.org/drawingml/2006/main">
            <a:off x="341947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New York, USA + India operations</a:t>
            </a:r>
          </a:p>
        </p:txBody>
      </p:sp>
      <p:sp>
        <p:nvSpPr>
          <p:cNvPr id="16" name="">
            <a:extLst xmlns:a="http://schemas.openxmlformats.org/drawingml/2006/main">
              <a:ext uri="{FF2B5EF4-FFF2-40B4-BE49-F238E27FC236}">
                <a16:creationId xmlns:a16="http://schemas.microsoft.com/office/drawing/2014/main" id="{56EEA4DD-6B6D-4B25-BBE6-13B26B5A7E34}"/>
              </a:ext>
            </a:extLst>
          </p:cNvPr>
          <p:cNvSpPr>
            <a:spLocks xmlns:a="http://schemas.openxmlformats.org/drawingml/2006/main" noGrp="1"/>
          </p:cNvSpPr>
          <p:nvPr/>
        </p:nvSpPr>
        <p:spPr>
          <a:xfrm xmlns:a="http://schemas.openxmlformats.org/drawingml/2006/main">
            <a:off x="615315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0C2F48D0-493B-4D6C-9640-5BCFF9788B9C}"/>
              </a:ext>
            </a:extLst>
          </p:cNvPr>
          <p:cNvSpPr>
            <a:spLocks xmlns:a="http://schemas.openxmlformats.org/drawingml/2006/main" noGrp="1"/>
          </p:cNvSpPr>
          <p:nvPr/>
        </p:nvSpPr>
        <p:spPr>
          <a:xfrm xmlns:a="http://schemas.openxmlformats.org/drawingml/2006/main">
            <a:off x="615315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AECC905-7C3F-4F63-9AA8-7288F549AAC6}"/>
              </a:ext>
            </a:extLst>
          </p:cNvPr>
          <p:cNvSpPr>
            <a:spLocks xmlns:a="http://schemas.openxmlformats.org/drawingml/2006/main" noGrp="1"/>
          </p:cNvSpPr>
          <p:nvPr/>
        </p:nvSpPr>
        <p:spPr>
          <a:xfrm xmlns:a="http://schemas.openxmlformats.org/drawingml/2006/main">
            <a:off x="626745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19" name="">
            <a:extLst xmlns:a="http://schemas.openxmlformats.org/drawingml/2006/main">
              <a:ext uri="{FF2B5EF4-FFF2-40B4-BE49-F238E27FC236}">
                <a16:creationId xmlns:a16="http://schemas.microsoft.com/office/drawing/2014/main" id="{267F092A-2A15-42DF-AACC-8CC98882A194}"/>
              </a:ext>
            </a:extLst>
          </p:cNvPr>
          <p:cNvSpPr>
            <a:spLocks xmlns:a="http://schemas.openxmlformats.org/drawingml/2006/main" noGrp="1"/>
          </p:cNvSpPr>
          <p:nvPr/>
        </p:nvSpPr>
        <p:spPr>
          <a:xfrm xmlns:a="http://schemas.openxmlformats.org/drawingml/2006/main">
            <a:off x="626745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Nasdaq: RDZN</a:t>
            </a:r>
          </a:p>
        </p:txBody>
      </p:sp>
      <p:sp>
        <p:nvSpPr>
          <p:cNvPr id="20" name="">
            <a:extLst xmlns:a="http://schemas.openxmlformats.org/drawingml/2006/main">
              <a:ext uri="{FF2B5EF4-FFF2-40B4-BE49-F238E27FC236}">
                <a16:creationId xmlns:a16="http://schemas.microsoft.com/office/drawing/2014/main" id="{07633E60-EB56-485A-B06E-5ADDF15A456E}"/>
              </a:ext>
            </a:extLst>
          </p:cNvPr>
          <p:cNvSpPr>
            <a:spLocks xmlns:a="http://schemas.openxmlformats.org/drawingml/2006/main" noGrp="1"/>
          </p:cNvSpPr>
          <p:nvPr/>
        </p:nvSpPr>
        <p:spPr>
          <a:xfrm xmlns:a="http://schemas.openxmlformats.org/drawingml/2006/main">
            <a:off x="626745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Publicly listed</a:t>
            </a:r>
          </a:p>
        </p:txBody>
      </p:sp>
      <p:sp>
        <p:nvSpPr>
          <p:cNvPr id="21" name="">
            <a:extLst xmlns:a="http://schemas.openxmlformats.org/drawingml/2006/main">
              <a:ext uri="{FF2B5EF4-FFF2-40B4-BE49-F238E27FC236}">
                <a16:creationId xmlns:a16="http://schemas.microsoft.com/office/drawing/2014/main" id="{90FB29AA-48F5-4661-924C-CF4F593F7473}"/>
              </a:ext>
            </a:extLst>
          </p:cNvPr>
          <p:cNvSpPr>
            <a:spLocks xmlns:a="http://schemas.openxmlformats.org/drawingml/2006/main" noGrp="1"/>
          </p:cNvSpPr>
          <p:nvPr/>
        </p:nvSpPr>
        <p:spPr>
          <a:xfrm xmlns:a="http://schemas.openxmlformats.org/drawingml/2006/main">
            <a:off x="9001125" y="1085850"/>
            <a:ext cx="2733675" cy="800100"/>
          </a:xfrm>
          <a:prstGeom xmlns:a="http://schemas.openxmlformats.org/drawingml/2006/main" prst="rect">
            <a:avLst/>
          </a:prstGeom>
          <a:solidFill xmlns:a="http://schemas.openxmlformats.org/drawingml/2006/main">
            <a:srgbClr val="16243A"/>
          </a:solidFill>
          <a:ln xmlns:a="http://schemas.openxmlformats.org/drawingml/2006/main" w="9525">
            <a:solidFill>
              <a:srgbClr val="1A2F45"/>
            </a:solidFill>
            <a:prstDash val="solid"/>
          </a:ln>
        </p:spPr>
      </p:sp>
      <p:sp>
        <p:nvSpPr>
          <p:cNvPr id="22" name="">
            <a:extLst xmlns:a="http://schemas.openxmlformats.org/drawingml/2006/main">
              <a:ext uri="{FF2B5EF4-FFF2-40B4-BE49-F238E27FC236}">
                <a16:creationId xmlns:a16="http://schemas.microsoft.com/office/drawing/2014/main" id="{1AA0473F-5D69-4C07-8899-D48B092867AD}"/>
              </a:ext>
            </a:extLst>
          </p:cNvPr>
          <p:cNvSpPr>
            <a:spLocks xmlns:a="http://schemas.openxmlformats.org/drawingml/2006/main" noGrp="1"/>
          </p:cNvSpPr>
          <p:nvPr/>
        </p:nvSpPr>
        <p:spPr>
          <a:xfrm xmlns:a="http://schemas.openxmlformats.org/drawingml/2006/main">
            <a:off x="9001125" y="1085850"/>
            <a:ext cx="2733675"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62A653E-1F25-45DB-A1C6-59A4959D2F39}"/>
              </a:ext>
            </a:extLst>
          </p:cNvPr>
          <p:cNvSpPr>
            <a:spLocks xmlns:a="http://schemas.openxmlformats.org/drawingml/2006/main" noGrp="1"/>
          </p:cNvSpPr>
          <p:nvPr/>
        </p:nvSpPr>
        <p:spPr>
          <a:xfrm xmlns:a="http://schemas.openxmlformats.org/drawingml/2006/main">
            <a:off x="911542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MARKET CAP</a:t>
            </a:r>
          </a:p>
        </p:txBody>
      </p:sp>
      <p:sp>
        <p:nvSpPr>
          <p:cNvPr id="24" name="">
            <a:extLst xmlns:a="http://schemas.openxmlformats.org/drawingml/2006/main">
              <a:ext uri="{FF2B5EF4-FFF2-40B4-BE49-F238E27FC236}">
                <a16:creationId xmlns:a16="http://schemas.microsoft.com/office/drawing/2014/main" id="{3D03E90D-4746-4286-A2B7-53AF03BDF148}"/>
              </a:ext>
            </a:extLst>
          </p:cNvPr>
          <p:cNvSpPr>
            <a:spLocks xmlns:a="http://schemas.openxmlformats.org/drawingml/2006/main" noGrp="1"/>
          </p:cNvSpPr>
          <p:nvPr/>
        </p:nvSpPr>
        <p:spPr>
          <a:xfrm xmlns:a="http://schemas.openxmlformats.org/drawingml/2006/main">
            <a:off x="911542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D7720B"/>
                </a:solidFill>
                <a:latin typeface="Arial"/>
                <a:ea typeface="Arial"/>
                <a:cs typeface="Arial"/>
              </a:defRPr>
            </a:pPr>
            <a:r>
              <a:t>~$112m</a:t>
            </a:r>
          </a:p>
        </p:txBody>
      </p:sp>
      <p:sp>
        <p:nvSpPr>
          <p:cNvPr id="25" name="">
            <a:extLst xmlns:a="http://schemas.openxmlformats.org/drawingml/2006/main">
              <a:ext uri="{FF2B5EF4-FFF2-40B4-BE49-F238E27FC236}">
                <a16:creationId xmlns:a16="http://schemas.microsoft.com/office/drawing/2014/main" id="{ACDC3830-69B2-46FC-8E3F-683C335C93D7}"/>
              </a:ext>
            </a:extLst>
          </p:cNvPr>
          <p:cNvSpPr>
            <a:spLocks xmlns:a="http://schemas.openxmlformats.org/drawingml/2006/main" noGrp="1"/>
          </p:cNvSpPr>
          <p:nvPr/>
        </p:nvSpPr>
        <p:spPr>
          <a:xfrm xmlns:a="http://schemas.openxmlformats.org/drawingml/2006/main">
            <a:off x="9115425"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as of 14 Aug 2026</a:t>
            </a:r>
          </a:p>
        </p:txBody>
      </p:sp>
      <p:sp>
        <p:nvSpPr>
          <p:cNvPr id="26" name="">
            <a:extLst xmlns:a="http://schemas.openxmlformats.org/drawingml/2006/main">
              <a:ext uri="{FF2B5EF4-FFF2-40B4-BE49-F238E27FC236}">
                <a16:creationId xmlns:a16="http://schemas.microsoft.com/office/drawing/2014/main" id="{61B2A511-26AE-4A78-A920-2A33D2D5047B}"/>
              </a:ext>
            </a:extLst>
          </p:cNvPr>
          <p:cNvSpPr>
            <a:spLocks xmlns:a="http://schemas.openxmlformats.org/drawingml/2006/main" noGrp="1"/>
          </p:cNvSpPr>
          <p:nvPr/>
        </p:nvSpPr>
        <p:spPr>
          <a:xfrm xmlns:a="http://schemas.openxmlformats.org/drawingml/2006/main">
            <a:off x="4572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PEOPLE</a:t>
            </a:r>
          </a:p>
        </p:txBody>
      </p:sp>
      <p:sp>
        <p:nvSpPr>
          <p:cNvPr id="27" name="">
            <a:extLst xmlns:a="http://schemas.openxmlformats.org/drawingml/2006/main">
              <a:ext uri="{FF2B5EF4-FFF2-40B4-BE49-F238E27FC236}">
                <a16:creationId xmlns:a16="http://schemas.microsoft.com/office/drawing/2014/main" id="{E3A3B891-2B35-43E5-92AD-F471964B6F04}"/>
              </a:ext>
            </a:extLst>
          </p:cNvPr>
          <p:cNvSpPr>
            <a:spLocks xmlns:a="http://schemas.openxmlformats.org/drawingml/2006/main" noGrp="1"/>
          </p:cNvSpPr>
          <p:nvPr/>
        </p:nvSpPr>
        <p:spPr>
          <a:xfrm xmlns:a="http://schemas.openxmlformats.org/drawingml/2006/main">
            <a:off x="4572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28" name="">
            <a:extLst xmlns:a="http://schemas.openxmlformats.org/drawingml/2006/main">
              <a:ext uri="{FF2B5EF4-FFF2-40B4-BE49-F238E27FC236}">
                <a16:creationId xmlns:a16="http://schemas.microsoft.com/office/drawing/2014/main" id="{C7E826AE-152F-46F9-81AC-9AF0D3111B8F}"/>
              </a:ext>
            </a:extLst>
          </p:cNvPr>
          <p:cNvSpPr>
            <a:spLocks xmlns:a="http://schemas.openxmlformats.org/drawingml/2006/main" noGrp="1"/>
          </p:cNvSpPr>
          <p:nvPr/>
        </p:nvSpPr>
        <p:spPr>
          <a:xfrm xmlns:a="http://schemas.openxmlformats.org/drawingml/2006/main">
            <a:off x="42545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VALUE MOVE</a:t>
            </a:r>
          </a:p>
        </p:txBody>
      </p:sp>
      <p:sp>
        <p:nvSpPr>
          <p:cNvPr id="29" name="">
            <a:extLst xmlns:a="http://schemas.openxmlformats.org/drawingml/2006/main">
              <a:ext uri="{FF2B5EF4-FFF2-40B4-BE49-F238E27FC236}">
                <a16:creationId xmlns:a16="http://schemas.microsoft.com/office/drawing/2014/main" id="{4C129B66-CF66-443A-A1E0-C232DFF0B296}"/>
              </a:ext>
            </a:extLst>
          </p:cNvPr>
          <p:cNvSpPr>
            <a:spLocks xmlns:a="http://schemas.openxmlformats.org/drawingml/2006/main" noGrp="1"/>
          </p:cNvSpPr>
          <p:nvPr/>
        </p:nvSpPr>
        <p:spPr>
          <a:xfrm xmlns:a="http://schemas.openxmlformats.org/drawingml/2006/main">
            <a:off x="42545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52-wk $0.81–$2.56</a:t>
            </a:r>
          </a:p>
        </p:txBody>
      </p:sp>
      <p:sp>
        <p:nvSpPr>
          <p:cNvPr id="30" name="">
            <a:extLst xmlns:a="http://schemas.openxmlformats.org/drawingml/2006/main">
              <a:ext uri="{FF2B5EF4-FFF2-40B4-BE49-F238E27FC236}">
                <a16:creationId xmlns:a16="http://schemas.microsoft.com/office/drawing/2014/main" id="{A629E07B-140C-447F-A606-12C1370530D3}"/>
              </a:ext>
            </a:extLst>
          </p:cNvPr>
          <p:cNvSpPr>
            <a:spLocks xmlns:a="http://schemas.openxmlformats.org/drawingml/2006/main" noGrp="1"/>
          </p:cNvSpPr>
          <p:nvPr/>
        </p:nvSpPr>
        <p:spPr>
          <a:xfrm xmlns:a="http://schemas.openxmlformats.org/drawingml/2006/main">
            <a:off x="80518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PARENT / BACKING</a:t>
            </a:r>
          </a:p>
        </p:txBody>
      </p:sp>
      <p:sp>
        <p:nvSpPr>
          <p:cNvPr id="31" name="">
            <a:extLst xmlns:a="http://schemas.openxmlformats.org/drawingml/2006/main">
              <a:ext uri="{FF2B5EF4-FFF2-40B4-BE49-F238E27FC236}">
                <a16:creationId xmlns:a16="http://schemas.microsoft.com/office/drawing/2014/main" id="{DAD4D4E0-A0BC-4818-ADE2-13676DF62361}"/>
              </a:ext>
            </a:extLst>
          </p:cNvPr>
          <p:cNvSpPr>
            <a:spLocks xmlns:a="http://schemas.openxmlformats.org/drawingml/2006/main" noGrp="1"/>
          </p:cNvSpPr>
          <p:nvPr/>
        </p:nvSpPr>
        <p:spPr>
          <a:xfrm xmlns:a="http://schemas.openxmlformats.org/drawingml/2006/main">
            <a:off x="80518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Roadzen Inc — insurance + mobility AI</a:t>
            </a:r>
          </a:p>
        </p:txBody>
      </p:sp>
      <p:sp>
        <p:nvSpPr>
          <p:cNvPr id="32" name="">
            <a:extLst xmlns:a="http://schemas.openxmlformats.org/drawingml/2006/main">
              <a:ext uri="{FF2B5EF4-FFF2-40B4-BE49-F238E27FC236}">
                <a16:creationId xmlns:a16="http://schemas.microsoft.com/office/drawing/2014/main" id="{F6B516A6-259A-4722-8C45-89297097AD8A}"/>
              </a:ext>
            </a:extLst>
          </p:cNvPr>
          <p:cNvSpPr>
            <a:spLocks xmlns:a="http://schemas.openxmlformats.org/drawingml/2006/main" noGrp="1"/>
          </p:cNvSpPr>
          <p:nvPr/>
        </p:nvSpPr>
        <p:spPr>
          <a:xfrm xmlns:a="http://schemas.openxmlformats.org/drawingml/2006/main">
            <a:off x="457200" y="24574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9A47AFA-D1A5-4EE7-AA2F-AB0FA6776A04}"/>
              </a:ext>
            </a:extLst>
          </p:cNvPr>
          <p:cNvSpPr>
            <a:spLocks xmlns:a="http://schemas.openxmlformats.org/drawingml/2006/main" noGrp="1"/>
          </p:cNvSpPr>
          <p:nvPr/>
        </p:nvSpPr>
        <p:spPr>
          <a:xfrm xmlns:a="http://schemas.openxmlformats.org/drawingml/2006/main">
            <a:off x="457200" y="257175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WHAT IT SELLS</a:t>
            </a:r>
          </a:p>
        </p:txBody>
      </p:sp>
      <p:sp>
        <p:nvSpPr>
          <p:cNvPr id="34" name="">
            <a:extLst xmlns:a="http://schemas.openxmlformats.org/drawingml/2006/main">
              <a:ext uri="{FF2B5EF4-FFF2-40B4-BE49-F238E27FC236}">
                <a16:creationId xmlns:a16="http://schemas.microsoft.com/office/drawing/2014/main" id="{8A3FEFAD-4C9C-446E-95A7-34EEB36E204E}"/>
              </a:ext>
            </a:extLst>
          </p:cNvPr>
          <p:cNvSpPr>
            <a:spLocks xmlns:a="http://schemas.openxmlformats.org/drawingml/2006/main" noGrp="1"/>
          </p:cNvSpPr>
          <p:nvPr/>
        </p:nvSpPr>
        <p:spPr>
          <a:xfrm xmlns:a="http://schemas.openxmlformats.org/drawingml/2006/main">
            <a:off x="457200" y="2733675"/>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Six-camera surround-view ADAS, driver monitoring, video telematics, predictive risk intelligence</a:t>
            </a:r>
          </a:p>
        </p:txBody>
      </p:sp>
      <p:sp>
        <p:nvSpPr>
          <p:cNvPr id="35" name="">
            <a:extLst xmlns:a="http://schemas.openxmlformats.org/drawingml/2006/main">
              <a:ext uri="{FF2B5EF4-FFF2-40B4-BE49-F238E27FC236}">
                <a16:creationId xmlns:a16="http://schemas.microsoft.com/office/drawing/2014/main" id="{FC968568-1C47-446C-9BD9-950FB275AE78}"/>
              </a:ext>
            </a:extLst>
          </p:cNvPr>
          <p:cNvSpPr>
            <a:spLocks xmlns:a="http://schemas.openxmlformats.org/drawingml/2006/main" noGrp="1"/>
          </p:cNvSpPr>
          <p:nvPr/>
        </p:nvSpPr>
        <p:spPr>
          <a:xfrm xmlns:a="http://schemas.openxmlformats.org/drawingml/2006/main">
            <a:off x="4572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7B9D848-905D-4008-9E99-2F41AF888A8F}"/>
              </a:ext>
            </a:extLst>
          </p:cNvPr>
          <p:cNvSpPr>
            <a:spLocks xmlns:a="http://schemas.openxmlformats.org/drawingml/2006/main" noGrp="1"/>
          </p:cNvSpPr>
          <p:nvPr/>
        </p:nvSpPr>
        <p:spPr>
          <a:xfrm xmlns:a="http://schemas.openxmlformats.org/drawingml/2006/main">
            <a:off x="5715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MARKET CAP CAUTION</a:t>
            </a:r>
          </a:p>
        </p:txBody>
      </p:sp>
      <p:sp>
        <p:nvSpPr>
          <p:cNvPr id="37" name="">
            <a:extLst xmlns:a="http://schemas.openxmlformats.org/drawingml/2006/main">
              <a:ext uri="{FF2B5EF4-FFF2-40B4-BE49-F238E27FC236}">
                <a16:creationId xmlns:a16="http://schemas.microsoft.com/office/drawing/2014/main" id="{96662118-380D-4A2D-B46A-3621A7889416}"/>
              </a:ext>
            </a:extLst>
          </p:cNvPr>
          <p:cNvSpPr>
            <a:spLocks xmlns:a="http://schemas.openxmlformats.org/drawingml/2006/main" noGrp="1"/>
          </p:cNvSpPr>
          <p:nvPr/>
        </p:nvSpPr>
        <p:spPr>
          <a:xfrm xmlns:a="http://schemas.openxmlformats.org/drawingml/2006/main">
            <a:off x="20574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Sources differ: $60m / $112m / $160m</a:t>
            </a:r>
          </a:p>
        </p:txBody>
      </p:sp>
      <p:sp>
        <p:nvSpPr>
          <p:cNvPr id="38" name="">
            <a:extLst xmlns:a="http://schemas.openxmlformats.org/drawingml/2006/main">
              <a:ext uri="{FF2B5EF4-FFF2-40B4-BE49-F238E27FC236}">
                <a16:creationId xmlns:a16="http://schemas.microsoft.com/office/drawing/2014/main" id="{623C6D0E-C2FF-4D0B-8FEB-8245C838DBC5}"/>
              </a:ext>
            </a:extLst>
          </p:cNvPr>
          <p:cNvSpPr>
            <a:spLocks xmlns:a="http://schemas.openxmlformats.org/drawingml/2006/main" noGrp="1"/>
          </p:cNvSpPr>
          <p:nvPr/>
        </p:nvSpPr>
        <p:spPr>
          <a:xfrm xmlns:a="http://schemas.openxmlformats.org/drawingml/2006/main">
            <a:off x="62103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004B046-740F-4D4F-A069-5D9719BB3FAC}"/>
              </a:ext>
            </a:extLst>
          </p:cNvPr>
          <p:cNvSpPr>
            <a:spLocks xmlns:a="http://schemas.openxmlformats.org/drawingml/2006/main" noGrp="1"/>
          </p:cNvSpPr>
          <p:nvPr/>
        </p:nvSpPr>
        <p:spPr>
          <a:xfrm xmlns:a="http://schemas.openxmlformats.org/drawingml/2006/main">
            <a:off x="63246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SHARES</a:t>
            </a:r>
          </a:p>
        </p:txBody>
      </p:sp>
      <p:sp>
        <p:nvSpPr>
          <p:cNvPr id="40" name="">
            <a:extLst xmlns:a="http://schemas.openxmlformats.org/drawingml/2006/main">
              <a:ext uri="{FF2B5EF4-FFF2-40B4-BE49-F238E27FC236}">
                <a16:creationId xmlns:a16="http://schemas.microsoft.com/office/drawing/2014/main" id="{2FCF8405-DED3-4927-BA3A-E82452E309AF}"/>
              </a:ext>
            </a:extLst>
          </p:cNvPr>
          <p:cNvSpPr>
            <a:spLocks xmlns:a="http://schemas.openxmlformats.org/drawingml/2006/main" noGrp="1"/>
          </p:cNvSpPr>
          <p:nvPr/>
        </p:nvSpPr>
        <p:spPr>
          <a:xfrm xmlns:a="http://schemas.openxmlformats.org/drawingml/2006/main">
            <a:off x="78105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84.56m outstanding · float 40.1m</a:t>
            </a:r>
          </a:p>
        </p:txBody>
      </p:sp>
      <p:sp>
        <p:nvSpPr>
          <p:cNvPr id="41" name="">
            <a:extLst xmlns:a="http://schemas.openxmlformats.org/drawingml/2006/main">
              <a:ext uri="{FF2B5EF4-FFF2-40B4-BE49-F238E27FC236}">
                <a16:creationId xmlns:a16="http://schemas.microsoft.com/office/drawing/2014/main" id="{1A999310-0734-4DA9-8A96-F7834EFBF9D4}"/>
              </a:ext>
            </a:extLst>
          </p:cNvPr>
          <p:cNvSpPr>
            <a:spLocks xmlns:a="http://schemas.openxmlformats.org/drawingml/2006/main" noGrp="1"/>
          </p:cNvSpPr>
          <p:nvPr/>
        </p:nvSpPr>
        <p:spPr>
          <a:xfrm xmlns:a="http://schemas.openxmlformats.org/drawingml/2006/main">
            <a:off x="4572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BC49742-F83D-4232-8B9F-2EC0F9885C5E}"/>
              </a:ext>
            </a:extLst>
          </p:cNvPr>
          <p:cNvSpPr>
            <a:spLocks xmlns:a="http://schemas.openxmlformats.org/drawingml/2006/main" noGrp="1"/>
          </p:cNvSpPr>
          <p:nvPr/>
        </p:nvSpPr>
        <p:spPr>
          <a:xfrm xmlns:a="http://schemas.openxmlformats.org/drawingml/2006/main">
            <a:off x="5715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52-WEEK RANGE</a:t>
            </a:r>
          </a:p>
        </p:txBody>
      </p:sp>
      <p:sp>
        <p:nvSpPr>
          <p:cNvPr id="43" name="">
            <a:extLst xmlns:a="http://schemas.openxmlformats.org/drawingml/2006/main">
              <a:ext uri="{FF2B5EF4-FFF2-40B4-BE49-F238E27FC236}">
                <a16:creationId xmlns:a16="http://schemas.microsoft.com/office/drawing/2014/main" id="{06B1E70D-1A8A-4445-989E-026C3BCFC842}"/>
              </a:ext>
            </a:extLst>
          </p:cNvPr>
          <p:cNvSpPr>
            <a:spLocks xmlns:a="http://schemas.openxmlformats.org/drawingml/2006/main" noGrp="1"/>
          </p:cNvSpPr>
          <p:nvPr/>
        </p:nvSpPr>
        <p:spPr>
          <a:xfrm xmlns:a="http://schemas.openxmlformats.org/drawingml/2006/main">
            <a:off x="20574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$0.81 – $2.56</a:t>
            </a:r>
          </a:p>
        </p:txBody>
      </p:sp>
      <p:sp>
        <p:nvSpPr>
          <p:cNvPr id="44" name="">
            <a:extLst xmlns:a="http://schemas.openxmlformats.org/drawingml/2006/main">
              <a:ext uri="{FF2B5EF4-FFF2-40B4-BE49-F238E27FC236}">
                <a16:creationId xmlns:a16="http://schemas.microsoft.com/office/drawing/2014/main" id="{70D144EC-CE6B-48AE-BE26-B0FD04210CBF}"/>
              </a:ext>
            </a:extLst>
          </p:cNvPr>
          <p:cNvSpPr>
            <a:spLocks xmlns:a="http://schemas.openxmlformats.org/drawingml/2006/main" noGrp="1"/>
          </p:cNvSpPr>
          <p:nvPr/>
        </p:nvSpPr>
        <p:spPr>
          <a:xfrm xmlns:a="http://schemas.openxmlformats.org/drawingml/2006/main">
            <a:off x="62103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83E09F6-50C4-4832-939F-673C698BA2AC}"/>
              </a:ext>
            </a:extLst>
          </p:cNvPr>
          <p:cNvSpPr>
            <a:spLocks xmlns:a="http://schemas.openxmlformats.org/drawingml/2006/main" noGrp="1"/>
          </p:cNvSpPr>
          <p:nvPr/>
        </p:nvSpPr>
        <p:spPr>
          <a:xfrm xmlns:a="http://schemas.openxmlformats.org/drawingml/2006/main">
            <a:off x="63246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CURRENT CONTRACT</a:t>
            </a:r>
          </a:p>
        </p:txBody>
      </p:sp>
      <p:sp>
        <p:nvSpPr>
          <p:cNvPr id="46" name="">
            <a:extLst xmlns:a="http://schemas.openxmlformats.org/drawingml/2006/main">
              <a:ext uri="{FF2B5EF4-FFF2-40B4-BE49-F238E27FC236}">
                <a16:creationId xmlns:a16="http://schemas.microsoft.com/office/drawing/2014/main" id="{46922B5A-CD2D-4850-9CAA-5BC9B31CF88D}"/>
              </a:ext>
            </a:extLst>
          </p:cNvPr>
          <p:cNvSpPr>
            <a:spLocks xmlns:a="http://schemas.openxmlformats.org/drawingml/2006/main" noGrp="1"/>
          </p:cNvSpPr>
          <p:nvPr/>
        </p:nvSpPr>
        <p:spPr>
          <a:xfrm xmlns:a="http://schemas.openxmlformats.org/drawingml/2006/main">
            <a:off x="78105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$5.3m / 3,600 e-buses and trucks (Jun 2026)</a:t>
            </a:r>
          </a:p>
        </p:txBody>
      </p:sp>
      <p:sp>
        <p:nvSpPr>
          <p:cNvPr id="47" name="">
            <a:extLst xmlns:a="http://schemas.openxmlformats.org/drawingml/2006/main">
              <a:ext uri="{FF2B5EF4-FFF2-40B4-BE49-F238E27FC236}">
                <a16:creationId xmlns:a16="http://schemas.microsoft.com/office/drawing/2014/main" id="{A0667E24-29A2-4B8B-8B19-C60B8756E60C}"/>
              </a:ext>
            </a:extLst>
          </p:cNvPr>
          <p:cNvSpPr>
            <a:spLocks xmlns:a="http://schemas.openxmlformats.org/drawingml/2006/main" noGrp="1"/>
          </p:cNvSpPr>
          <p:nvPr/>
        </p:nvSpPr>
        <p:spPr>
          <a:xfrm xmlns:a="http://schemas.openxmlformats.org/drawingml/2006/main">
            <a:off x="4572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6B293F90-E21F-486B-98C9-7AD5012CF522}"/>
              </a:ext>
            </a:extLst>
          </p:cNvPr>
          <p:cNvSpPr>
            <a:spLocks xmlns:a="http://schemas.openxmlformats.org/drawingml/2006/main" noGrp="1"/>
          </p:cNvSpPr>
          <p:nvPr/>
        </p:nvSpPr>
        <p:spPr>
          <a:xfrm xmlns:a="http://schemas.openxmlformats.org/drawingml/2006/main">
            <a:off x="5715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PRIOR CONTRACT</a:t>
            </a:r>
          </a:p>
        </p:txBody>
      </p:sp>
      <p:sp>
        <p:nvSpPr>
          <p:cNvPr id="49" name="">
            <a:extLst xmlns:a="http://schemas.openxmlformats.org/drawingml/2006/main">
              <a:ext uri="{FF2B5EF4-FFF2-40B4-BE49-F238E27FC236}">
                <a16:creationId xmlns:a16="http://schemas.microsoft.com/office/drawing/2014/main" id="{4AF90F46-6DA1-4FBD-B3AD-B65A2D5785F5}"/>
              </a:ext>
            </a:extLst>
          </p:cNvPr>
          <p:cNvSpPr>
            <a:spLocks xmlns:a="http://schemas.openxmlformats.org/drawingml/2006/main" noGrp="1"/>
          </p:cNvSpPr>
          <p:nvPr/>
        </p:nvSpPr>
        <p:spPr>
          <a:xfrm xmlns:a="http://schemas.openxmlformats.org/drawingml/2006/main">
            <a:off x="20574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$2.5m / 3,000 heavy trucks</a:t>
            </a:r>
          </a:p>
        </p:txBody>
      </p:sp>
      <p:sp>
        <p:nvSpPr>
          <p:cNvPr id="50" name="">
            <a:extLst xmlns:a="http://schemas.openxmlformats.org/drawingml/2006/main">
              <a:ext uri="{FF2B5EF4-FFF2-40B4-BE49-F238E27FC236}">
                <a16:creationId xmlns:a16="http://schemas.microsoft.com/office/drawing/2014/main" id="{AF284B43-A47A-4696-8B75-D2AB1AD4330A}"/>
              </a:ext>
            </a:extLst>
          </p:cNvPr>
          <p:cNvSpPr>
            <a:spLocks xmlns:a="http://schemas.openxmlformats.org/drawingml/2006/main" noGrp="1"/>
          </p:cNvSpPr>
          <p:nvPr/>
        </p:nvSpPr>
        <p:spPr>
          <a:xfrm xmlns:a="http://schemas.openxmlformats.org/drawingml/2006/main">
            <a:off x="62103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592200B3-F3C5-40CF-AC05-010756E03AC6}"/>
              </a:ext>
            </a:extLst>
          </p:cNvPr>
          <p:cNvSpPr>
            <a:spLocks xmlns:a="http://schemas.openxmlformats.org/drawingml/2006/main" noGrp="1"/>
          </p:cNvSpPr>
          <p:nvPr/>
        </p:nvSpPr>
        <p:spPr>
          <a:xfrm xmlns:a="http://schemas.openxmlformats.org/drawingml/2006/main">
            <a:off x="63246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SECTORS</a:t>
            </a:r>
          </a:p>
        </p:txBody>
      </p:sp>
      <p:sp>
        <p:nvSpPr>
          <p:cNvPr id="52" name="">
            <a:extLst xmlns:a="http://schemas.openxmlformats.org/drawingml/2006/main">
              <a:ext uri="{FF2B5EF4-FFF2-40B4-BE49-F238E27FC236}">
                <a16:creationId xmlns:a16="http://schemas.microsoft.com/office/drawing/2014/main" id="{6973973E-7F67-4FE3-A757-3A228ABFA788}"/>
              </a:ext>
            </a:extLst>
          </p:cNvPr>
          <p:cNvSpPr>
            <a:spLocks xmlns:a="http://schemas.openxmlformats.org/drawingml/2006/main" noGrp="1"/>
          </p:cNvSpPr>
          <p:nvPr/>
        </p:nvSpPr>
        <p:spPr>
          <a:xfrm xmlns:a="http://schemas.openxmlformats.org/drawingml/2006/main">
            <a:off x="78105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Public transport · seaport logistics · mining · industrial</a:t>
            </a:r>
          </a:p>
        </p:txBody>
      </p:sp>
      <p:sp>
        <p:nvSpPr>
          <p:cNvPr id="53" name="">
            <a:extLst xmlns:a="http://schemas.openxmlformats.org/drawingml/2006/main">
              <a:ext uri="{FF2B5EF4-FFF2-40B4-BE49-F238E27FC236}">
                <a16:creationId xmlns:a16="http://schemas.microsoft.com/office/drawing/2014/main" id="{E85EFE4F-1168-471D-8495-EE287CF59709}"/>
              </a:ext>
            </a:extLst>
          </p:cNvPr>
          <p:cNvSpPr>
            <a:spLocks xmlns:a="http://schemas.openxmlformats.org/drawingml/2006/main" noGrp="1"/>
          </p:cNvSpPr>
          <p:nvPr/>
        </p:nvSpPr>
        <p:spPr>
          <a:xfrm xmlns:a="http://schemas.openxmlformats.org/drawingml/2006/main">
            <a:off x="457200" y="41910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DEF755C8-2DFB-48C5-BEDA-EDF4A9503DF4}"/>
              </a:ext>
            </a:extLst>
          </p:cNvPr>
          <p:cNvSpPr>
            <a:spLocks xmlns:a="http://schemas.openxmlformats.org/drawingml/2006/main" noGrp="1"/>
          </p:cNvSpPr>
          <p:nvPr/>
        </p:nvSpPr>
        <p:spPr>
          <a:xfrm xmlns:a="http://schemas.openxmlformats.org/drawingml/2006/main">
            <a:off x="457200" y="430530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OPEN ON THIS COMPANY</a:t>
            </a:r>
          </a:p>
        </p:txBody>
      </p:sp>
      <p:sp>
        <p:nvSpPr>
          <p:cNvPr id="55" name="">
            <a:extLst xmlns:a="http://schemas.openxmlformats.org/drawingml/2006/main">
              <a:ext uri="{FF2B5EF4-FFF2-40B4-BE49-F238E27FC236}">
                <a16:creationId xmlns:a16="http://schemas.microsoft.com/office/drawing/2014/main" id="{431B31C0-DC31-4705-AD76-2345DB9D0366}"/>
              </a:ext>
            </a:extLst>
          </p:cNvPr>
          <p:cNvSpPr>
            <a:spLocks xmlns:a="http://schemas.openxmlformats.org/drawingml/2006/main" noGrp="1"/>
          </p:cNvSpPr>
          <p:nvPr/>
        </p:nvSpPr>
        <p:spPr>
          <a:xfrm xmlns:a="http://schemas.openxmlformats.org/drawingml/2006/main">
            <a:off x="4572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7C064EE9-CBBC-4FBA-9E85-129E8717AE44}"/>
              </a:ext>
            </a:extLst>
          </p:cNvPr>
          <p:cNvSpPr>
            <a:spLocks xmlns:a="http://schemas.openxmlformats.org/drawingml/2006/main" noGrp="1"/>
          </p:cNvSpPr>
          <p:nvPr/>
        </p:nvSpPr>
        <p:spPr>
          <a:xfrm xmlns:a="http://schemas.openxmlformats.org/drawingml/2006/main">
            <a:off x="4572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Customer-side confirmation of live deployment, not issuer announcement</a:t>
            </a:r>
          </a:p>
        </p:txBody>
      </p:sp>
      <p:sp>
        <p:nvSpPr>
          <p:cNvPr id="57" name="">
            <a:extLst xmlns:a="http://schemas.openxmlformats.org/drawingml/2006/main">
              <a:ext uri="{FF2B5EF4-FFF2-40B4-BE49-F238E27FC236}">
                <a16:creationId xmlns:a16="http://schemas.microsoft.com/office/drawing/2014/main" id="{F0AEE3A5-9C90-4EF1-A86E-02F60BB0906F}"/>
              </a:ext>
            </a:extLst>
          </p:cNvPr>
          <p:cNvSpPr>
            <a:spLocks xmlns:a="http://schemas.openxmlformats.org/drawingml/2006/main" noGrp="1"/>
          </p:cNvSpPr>
          <p:nvPr/>
        </p:nvSpPr>
        <p:spPr>
          <a:xfrm xmlns:a="http://schemas.openxmlformats.org/drawingml/2006/main">
            <a:off x="42545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29C34265-8504-4976-9904-2AFD6F557CC9}"/>
              </a:ext>
            </a:extLst>
          </p:cNvPr>
          <p:cNvSpPr>
            <a:spLocks xmlns:a="http://schemas.openxmlformats.org/drawingml/2006/main" noGrp="1"/>
          </p:cNvSpPr>
          <p:nvPr/>
        </p:nvSpPr>
        <p:spPr>
          <a:xfrm xmlns:a="http://schemas.openxmlformats.org/drawingml/2006/main">
            <a:off x="42545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Market cap disputed across sources</a:t>
            </a:r>
          </a:p>
        </p:txBody>
      </p:sp>
      <p:sp>
        <p:nvSpPr>
          <p:cNvPr id="59" name="">
            <a:extLst xmlns:a="http://schemas.openxmlformats.org/drawingml/2006/main">
              <a:ext uri="{FF2B5EF4-FFF2-40B4-BE49-F238E27FC236}">
                <a16:creationId xmlns:a16="http://schemas.microsoft.com/office/drawing/2014/main" id="{F5A9F8DF-0D9A-43D2-A01C-3B428467AADE}"/>
              </a:ext>
            </a:extLst>
          </p:cNvPr>
          <p:cNvSpPr>
            <a:spLocks xmlns:a="http://schemas.openxmlformats.org/drawingml/2006/main" noGrp="1"/>
          </p:cNvSpPr>
          <p:nvPr/>
        </p:nvSpPr>
        <p:spPr>
          <a:xfrm xmlns:a="http://schemas.openxmlformats.org/drawingml/2006/main">
            <a:off x="80518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307F7B63-CF50-4AC6-9652-97CF35D70C7F}"/>
              </a:ext>
            </a:extLst>
          </p:cNvPr>
          <p:cNvSpPr>
            <a:spLocks xmlns:a="http://schemas.openxmlformats.org/drawingml/2006/main" noGrp="1"/>
          </p:cNvSpPr>
          <p:nvPr/>
        </p:nvSpPr>
        <p:spPr>
          <a:xfrm xmlns:a="http://schemas.openxmlformats.org/drawingml/2006/main">
            <a:off x="80518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No AEB actuation — confirm before rating as mandate threat</a:t>
            </a:r>
          </a:p>
        </p:txBody>
      </p:sp>
      <p:sp>
        <p:nvSpPr>
          <p:cNvPr id="61" name="">
            <a:extLst xmlns:a="http://schemas.openxmlformats.org/drawingml/2006/main">
              <a:ext uri="{FF2B5EF4-FFF2-40B4-BE49-F238E27FC236}">
                <a16:creationId xmlns:a16="http://schemas.microsoft.com/office/drawing/2014/main" id="{9055F466-3676-4D0E-9DCD-FCCCD2B8803C}"/>
              </a:ext>
            </a:extLst>
          </p:cNvPr>
          <p:cNvSpPr>
            <a:spLocks xmlns:a="http://schemas.openxmlformats.org/drawingml/2006/main" noGrp="1"/>
          </p:cNvSpPr>
          <p:nvPr/>
        </p:nvSpPr>
        <p:spPr>
          <a:xfrm xmlns:a="http://schemas.openxmlformats.org/drawingml/2006/main">
            <a:off x="457200" y="5029200"/>
            <a:ext cx="11277600"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EA448D2B-6DEE-48F9-BBCC-99BA7D3AC81C}"/>
              </a:ext>
            </a:extLst>
          </p:cNvPr>
          <p:cNvSpPr>
            <a:spLocks xmlns:a="http://schemas.openxmlformats.org/drawingml/2006/main" noGrp="1"/>
          </p:cNvSpPr>
          <p:nvPr/>
        </p:nvSpPr>
        <p:spPr>
          <a:xfrm xmlns:a="http://schemas.openxmlformats.org/drawingml/2006/main">
            <a:off x="457200" y="514350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EVIDENCE POSTURE · VERIFIED</a:t>
            </a:r>
          </a:p>
        </p:txBody>
      </p:sp>
      <p:sp>
        <p:nvSpPr>
          <p:cNvPr id="63" name="">
            <a:extLst xmlns:a="http://schemas.openxmlformats.org/drawingml/2006/main">
              <a:ext uri="{FF2B5EF4-FFF2-40B4-BE49-F238E27FC236}">
                <a16:creationId xmlns:a16="http://schemas.microsoft.com/office/drawing/2014/main" id="{B3A69DCD-F3B3-4183-868A-48636033CE75}"/>
              </a:ext>
            </a:extLst>
          </p:cNvPr>
          <p:cNvSpPr>
            <a:spLocks xmlns:a="http://schemas.openxmlformats.org/drawingml/2006/main" noGrp="1"/>
          </p:cNvSpPr>
          <p:nvPr/>
        </p:nvSpPr>
        <p:spPr>
          <a:xfrm xmlns:a="http://schemas.openxmlformats.org/drawingml/2006/main">
            <a:off x="9258300" y="5143500"/>
            <a:ext cx="2476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EV-DBA-01 … EV-DBA-04</a:t>
            </a:r>
          </a:p>
        </p:txBody>
      </p:sp>
      <p:sp>
        <p:nvSpPr>
          <p:cNvPr id="64" name="">
            <a:extLst xmlns:a="http://schemas.openxmlformats.org/drawingml/2006/main">
              <a:ext uri="{FF2B5EF4-FFF2-40B4-BE49-F238E27FC236}">
                <a16:creationId xmlns:a16="http://schemas.microsoft.com/office/drawing/2014/main" id="{6AD90B16-277B-48EF-8C7E-80AB37AD3C2F}"/>
              </a:ext>
            </a:extLst>
          </p:cNvPr>
          <p:cNvSpPr>
            <a:spLocks xmlns:a="http://schemas.openxmlformats.org/drawingml/2006/main" noGrp="1"/>
          </p:cNvSpPr>
          <p:nvPr/>
        </p:nvSpPr>
        <p:spPr>
          <a:xfrm xmlns:a="http://schemas.openxmlformats.org/drawingml/2006/main">
            <a:off x="457200" y="5334000"/>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Fastest commercial momentum in the set on the weakest balance sheet — a micro-cap near $1. Sources disagree on its market cap ($60m / $112m / $160m). It does not actuate brakes, so it is not competing for the mandate.</a:t>
            </a:r>
          </a:p>
        </p:txBody>
      </p:sp>
      <p:sp>
        <p:nvSpPr>
          <p:cNvPr id="65" name="">
            <a:extLst xmlns:a="http://schemas.openxmlformats.org/drawingml/2006/main">
              <a:ext uri="{FF2B5EF4-FFF2-40B4-BE49-F238E27FC236}">
                <a16:creationId xmlns:a16="http://schemas.microsoft.com/office/drawing/2014/main" id="{676BC7BC-D750-421A-BD30-CF33084C97F3}"/>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8AC13D62-4EE6-47E5-AA5D-1FA2E8730B63}"/>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7" name="">
            <a:extLst xmlns:a="http://schemas.openxmlformats.org/drawingml/2006/main">
              <a:ext uri="{FF2B5EF4-FFF2-40B4-BE49-F238E27FC236}">
                <a16:creationId xmlns:a16="http://schemas.microsoft.com/office/drawing/2014/main" id="{C27E8CCD-77B5-4438-ADFD-E6F42357371A}"/>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46</a:t>
            </a:r>
          </a:p>
        </p:txBody>
      </p:sp>
    </p:spTree>
    <p:extLst>
      <p:ext uri="{BB962C8B-B14F-4D97-AF65-F5344CB8AC3E}">
        <p14:creationId xmlns:p14="http://schemas.microsoft.com/office/powerpoint/2010/main" val="1017300397"/>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B49197F-8CC7-495E-9A13-94D2A4D9CAF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29DB23F-6812-4096-954B-6D9C94848E5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B3EC5E7-DE81-479E-A5F1-8968129C116E}"/>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AI USE CASES · DRIVEBUDDYAI</a:t>
            </a:r>
          </a:p>
        </p:txBody>
      </p:sp>
      <p:sp>
        <p:nvSpPr>
          <p:cNvPr id="4" name="">
            <a:extLst xmlns:a="http://schemas.openxmlformats.org/drawingml/2006/main">
              <a:ext uri="{FF2B5EF4-FFF2-40B4-BE49-F238E27FC236}">
                <a16:creationId xmlns:a16="http://schemas.microsoft.com/office/drawing/2014/main" id="{DDE73F1F-9596-4435-A076-CC9621219D87}"/>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What drivebuddyAI's AI actually does</a:t>
            </a:r>
          </a:p>
        </p:txBody>
      </p:sp>
      <p:sp>
        <p:nvSpPr>
          <p:cNvPr id="5" name="">
            <a:extLst xmlns:a="http://schemas.openxmlformats.org/drawingml/2006/main">
              <a:ext uri="{FF2B5EF4-FFF2-40B4-BE49-F238E27FC236}">
                <a16:creationId xmlns:a16="http://schemas.microsoft.com/office/drawing/2014/main" id="{6F11AF8A-3CA6-4D15-B905-B6BE7DCC8B1B}"/>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Threat ratings describe how worried to be. This describes what the system is — which is what decides whether DeepGrid displaces, attaches to, or ignores it.</a:t>
            </a:r>
          </a:p>
        </p:txBody>
      </p:sp>
      <p:sp>
        <p:nvSpPr>
          <p:cNvPr id="6" name="">
            <a:extLst xmlns:a="http://schemas.openxmlformats.org/drawingml/2006/main">
              <a:ext uri="{FF2B5EF4-FFF2-40B4-BE49-F238E27FC236}">
                <a16:creationId xmlns:a16="http://schemas.microsoft.com/office/drawing/2014/main" id="{AEBB77F6-B730-4BCA-87C8-95D65C00AEA0}"/>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5C59683-030D-4F54-A071-343128742EA2}"/>
              </a:ext>
            </a:extLst>
          </p:cNvPr>
          <p:cNvSpPr>
            <a:spLocks xmlns:a="http://schemas.openxmlformats.org/drawingml/2006/main" noGrp="1"/>
          </p:cNvSpPr>
          <p:nvPr/>
        </p:nvSpPr>
        <p:spPr>
          <a:xfrm xmlns:a="http://schemas.openxmlformats.org/drawingml/2006/main">
            <a:off x="457200" y="11239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EEE4602-6CF1-423E-AF53-7C8F3B95CF8C}"/>
              </a:ext>
            </a:extLst>
          </p:cNvPr>
          <p:cNvSpPr>
            <a:spLocks xmlns:a="http://schemas.openxmlformats.org/drawingml/2006/main" noGrp="1"/>
          </p:cNvSpPr>
          <p:nvPr/>
        </p:nvSpPr>
        <p:spPr>
          <a:xfrm xmlns:a="http://schemas.openxmlformats.org/drawingml/2006/main">
            <a:off x="609600" y="11620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PATTERN</a:t>
            </a:r>
          </a:p>
        </p:txBody>
      </p:sp>
      <p:sp>
        <p:nvSpPr>
          <p:cNvPr id="9" name="">
            <a:extLst xmlns:a="http://schemas.openxmlformats.org/drawingml/2006/main">
              <a:ext uri="{FF2B5EF4-FFF2-40B4-BE49-F238E27FC236}">
                <a16:creationId xmlns:a16="http://schemas.microsoft.com/office/drawing/2014/main" id="{46D6F056-8AE3-4033-B414-43D0943486E3}"/>
              </a:ext>
            </a:extLst>
          </p:cNvPr>
          <p:cNvSpPr>
            <a:spLocks xmlns:a="http://schemas.openxmlformats.org/drawingml/2006/main" noGrp="1"/>
          </p:cNvSpPr>
          <p:nvPr/>
        </p:nvSpPr>
        <p:spPr>
          <a:xfrm xmlns:a="http://schemas.openxmlformats.org/drawingml/2006/main">
            <a:off x="2743200" y="11620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P-VIS + P-DMS + P-TEL — camera-only, NO brake actuation</a:t>
            </a:r>
          </a:p>
        </p:txBody>
      </p:sp>
      <p:sp>
        <p:nvSpPr>
          <p:cNvPr id="10" name="">
            <a:extLst xmlns:a="http://schemas.openxmlformats.org/drawingml/2006/main">
              <a:ext uri="{FF2B5EF4-FFF2-40B4-BE49-F238E27FC236}">
                <a16:creationId xmlns:a16="http://schemas.microsoft.com/office/drawing/2014/main" id="{D2423FF0-BA83-4997-892C-E61ABD2016C0}"/>
              </a:ext>
            </a:extLst>
          </p:cNvPr>
          <p:cNvSpPr>
            <a:spLocks xmlns:a="http://schemas.openxmlformats.org/drawingml/2006/main" noGrp="1"/>
          </p:cNvSpPr>
          <p:nvPr/>
        </p:nvSpPr>
        <p:spPr>
          <a:xfrm xmlns:a="http://schemas.openxmlformats.org/drawingml/2006/main">
            <a:off x="457200" y="15430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B06A5C7-02F5-48BD-8ECF-4D9D377C53A9}"/>
              </a:ext>
            </a:extLst>
          </p:cNvPr>
          <p:cNvSpPr>
            <a:spLocks xmlns:a="http://schemas.openxmlformats.org/drawingml/2006/main" noGrp="1"/>
          </p:cNvSpPr>
          <p:nvPr/>
        </p:nvSpPr>
        <p:spPr>
          <a:xfrm xmlns:a="http://schemas.openxmlformats.org/drawingml/2006/main">
            <a:off x="609600" y="15811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ARCHITECTURE</a:t>
            </a:r>
          </a:p>
        </p:txBody>
      </p:sp>
      <p:sp>
        <p:nvSpPr>
          <p:cNvPr id="12" name="">
            <a:extLst xmlns:a="http://schemas.openxmlformats.org/drawingml/2006/main">
              <a:ext uri="{FF2B5EF4-FFF2-40B4-BE49-F238E27FC236}">
                <a16:creationId xmlns:a16="http://schemas.microsoft.com/office/drawing/2014/main" id="{92DC8843-81BD-407B-8117-393EC8B5B6DA}"/>
              </a:ext>
            </a:extLst>
          </p:cNvPr>
          <p:cNvSpPr>
            <a:spLocks xmlns:a="http://schemas.openxmlformats.org/drawingml/2006/main" noGrp="1"/>
          </p:cNvSpPr>
          <p:nvPr/>
        </p:nvSpPr>
        <p:spPr>
          <a:xfrm xmlns:a="http://schemas.openxmlformats.org/drawingml/2006/main">
            <a:off x="2743200" y="15811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Six cameras; onboard AI interprets the scene in real time</a:t>
            </a:r>
          </a:p>
        </p:txBody>
      </p:sp>
      <p:sp>
        <p:nvSpPr>
          <p:cNvPr id="13" name="">
            <a:extLst xmlns:a="http://schemas.openxmlformats.org/drawingml/2006/main">
              <a:ext uri="{FF2B5EF4-FFF2-40B4-BE49-F238E27FC236}">
                <a16:creationId xmlns:a16="http://schemas.microsoft.com/office/drawing/2014/main" id="{F01E8FD1-EB54-4D95-9BE5-2C27D8EE2C5E}"/>
              </a:ext>
            </a:extLst>
          </p:cNvPr>
          <p:cNvSpPr>
            <a:spLocks xmlns:a="http://schemas.openxmlformats.org/drawingml/2006/main" noGrp="1"/>
          </p:cNvSpPr>
          <p:nvPr/>
        </p:nvSpPr>
        <p:spPr>
          <a:xfrm xmlns:a="http://schemas.openxmlformats.org/drawingml/2006/main">
            <a:off x="457200" y="19621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AC0A93D-66D4-4C2C-919F-B74587F91951}"/>
              </a:ext>
            </a:extLst>
          </p:cNvPr>
          <p:cNvSpPr>
            <a:spLocks xmlns:a="http://schemas.openxmlformats.org/drawingml/2006/main" noGrp="1"/>
          </p:cNvSpPr>
          <p:nvPr/>
        </p:nvSpPr>
        <p:spPr>
          <a:xfrm xmlns:a="http://schemas.openxmlformats.org/drawingml/2006/main">
            <a:off x="609600" y="20002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FUNCTION</a:t>
            </a:r>
          </a:p>
        </p:txBody>
      </p:sp>
      <p:sp>
        <p:nvSpPr>
          <p:cNvPr id="15" name="">
            <a:extLst xmlns:a="http://schemas.openxmlformats.org/drawingml/2006/main">
              <a:ext uri="{FF2B5EF4-FFF2-40B4-BE49-F238E27FC236}">
                <a16:creationId xmlns:a16="http://schemas.microsoft.com/office/drawing/2014/main" id="{280B04D7-1A17-4B6C-A814-1CF8BF62DD76}"/>
              </a:ext>
            </a:extLst>
          </p:cNvPr>
          <p:cNvSpPr>
            <a:spLocks xmlns:a="http://schemas.openxmlformats.org/drawingml/2006/main" noGrp="1"/>
          </p:cNvSpPr>
          <p:nvPr/>
        </p:nvSpPr>
        <p:spPr>
          <a:xfrm xmlns:a="http://schemas.openxmlformats.org/drawingml/2006/main">
            <a:off x="2743200" y="20002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Detects and classifies vulnerable road users, assesses risk, ALERTS the driver</a:t>
            </a:r>
          </a:p>
        </p:txBody>
      </p:sp>
      <p:sp>
        <p:nvSpPr>
          <p:cNvPr id="16" name="">
            <a:extLst xmlns:a="http://schemas.openxmlformats.org/drawingml/2006/main">
              <a:ext uri="{FF2B5EF4-FFF2-40B4-BE49-F238E27FC236}">
                <a16:creationId xmlns:a16="http://schemas.microsoft.com/office/drawing/2014/main" id="{C84E53B4-29A5-4216-A537-3893ED0B73EA}"/>
              </a:ext>
            </a:extLst>
          </p:cNvPr>
          <p:cNvSpPr>
            <a:spLocks xmlns:a="http://schemas.openxmlformats.org/drawingml/2006/main" noGrp="1"/>
          </p:cNvSpPr>
          <p:nvPr/>
        </p:nvSpPr>
        <p:spPr>
          <a:xfrm xmlns:a="http://schemas.openxmlformats.org/drawingml/2006/main">
            <a:off x="457200" y="23812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E6147F1-9AF3-478F-A898-DE466FED3162}"/>
              </a:ext>
            </a:extLst>
          </p:cNvPr>
          <p:cNvSpPr>
            <a:spLocks xmlns:a="http://schemas.openxmlformats.org/drawingml/2006/main" noGrp="1"/>
          </p:cNvSpPr>
          <p:nvPr/>
        </p:nvSpPr>
        <p:spPr>
          <a:xfrm xmlns:a="http://schemas.openxmlformats.org/drawingml/2006/main">
            <a:off x="609600" y="24193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COMMERCIAL</a:t>
            </a:r>
          </a:p>
        </p:txBody>
      </p:sp>
      <p:sp>
        <p:nvSpPr>
          <p:cNvPr id="18" name="">
            <a:extLst xmlns:a="http://schemas.openxmlformats.org/drawingml/2006/main">
              <a:ext uri="{FF2B5EF4-FFF2-40B4-BE49-F238E27FC236}">
                <a16:creationId xmlns:a16="http://schemas.microsoft.com/office/drawing/2014/main" id="{B3C09E2F-6EC3-4507-95A5-E857B47285C5}"/>
              </a:ext>
            </a:extLst>
          </p:cNvPr>
          <p:cNvSpPr>
            <a:spLocks xmlns:a="http://schemas.openxmlformats.org/drawingml/2006/main" noGrp="1"/>
          </p:cNvSpPr>
          <p:nvPr/>
        </p:nvSpPr>
        <p:spPr>
          <a:xfrm xmlns:a="http://schemas.openxmlformats.org/drawingml/2006/main">
            <a:off x="2743200" y="24193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$5.3m / 3,600 e-buses and trucks (Jun 2026); prior $2.5m / 3,000 trucks</a:t>
            </a:r>
          </a:p>
        </p:txBody>
      </p:sp>
      <p:sp>
        <p:nvSpPr>
          <p:cNvPr id="19" name="">
            <a:extLst xmlns:a="http://schemas.openxmlformats.org/drawingml/2006/main">
              <a:ext uri="{FF2B5EF4-FFF2-40B4-BE49-F238E27FC236}">
                <a16:creationId xmlns:a16="http://schemas.microsoft.com/office/drawing/2014/main" id="{2E4CF05A-78C3-4B07-AAE1-3703F270DECC}"/>
              </a:ext>
            </a:extLst>
          </p:cNvPr>
          <p:cNvSpPr>
            <a:spLocks xmlns:a="http://schemas.openxmlformats.org/drawingml/2006/main" noGrp="1"/>
          </p:cNvSpPr>
          <p:nvPr/>
        </p:nvSpPr>
        <p:spPr>
          <a:xfrm xmlns:a="http://schemas.openxmlformats.org/drawingml/2006/main">
            <a:off x="457200" y="28003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04EDCC2-3720-4E36-9473-C4282A358DBB}"/>
              </a:ext>
            </a:extLst>
          </p:cNvPr>
          <p:cNvSpPr>
            <a:spLocks xmlns:a="http://schemas.openxmlformats.org/drawingml/2006/main" noGrp="1"/>
          </p:cNvSpPr>
          <p:nvPr/>
        </p:nvSpPr>
        <p:spPr>
          <a:xfrm xmlns:a="http://schemas.openxmlformats.org/drawingml/2006/main">
            <a:off x="609600" y="28384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FLYWHEEL</a:t>
            </a:r>
          </a:p>
        </p:txBody>
      </p:sp>
      <p:sp>
        <p:nvSpPr>
          <p:cNvPr id="21" name="">
            <a:extLst xmlns:a="http://schemas.openxmlformats.org/drawingml/2006/main">
              <a:ext uri="{FF2B5EF4-FFF2-40B4-BE49-F238E27FC236}">
                <a16:creationId xmlns:a16="http://schemas.microsoft.com/office/drawing/2014/main" id="{126CB607-375E-4F50-AA61-6E39930AC2EC}"/>
              </a:ext>
            </a:extLst>
          </p:cNvPr>
          <p:cNvSpPr>
            <a:spLocks xmlns:a="http://schemas.openxmlformats.org/drawingml/2006/main" noGrp="1"/>
          </p:cNvSpPr>
          <p:nvPr/>
        </p:nvSpPr>
        <p:spPr>
          <a:xfrm xmlns:a="http://schemas.openxmlformats.org/drawingml/2006/main">
            <a:off x="2743200" y="28384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Telematics feeds the parent's insurance underwriting — recurring, not hardware</a:t>
            </a:r>
          </a:p>
        </p:txBody>
      </p:sp>
      <p:sp>
        <p:nvSpPr>
          <p:cNvPr id="22" name="">
            <a:extLst xmlns:a="http://schemas.openxmlformats.org/drawingml/2006/main">
              <a:ext uri="{FF2B5EF4-FFF2-40B4-BE49-F238E27FC236}">
                <a16:creationId xmlns:a16="http://schemas.microsoft.com/office/drawing/2014/main" id="{FF204352-5BA0-4A8B-82E5-AFF9DCEFA5B2}"/>
              </a:ext>
            </a:extLst>
          </p:cNvPr>
          <p:cNvSpPr>
            <a:spLocks xmlns:a="http://schemas.openxmlformats.org/drawingml/2006/main" noGrp="1"/>
          </p:cNvSpPr>
          <p:nvPr/>
        </p:nvSpPr>
        <p:spPr>
          <a:xfrm xmlns:a="http://schemas.openxmlformats.org/drawingml/2006/main">
            <a:off x="457200" y="32575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A3A0488-DCF4-4903-9F1A-B680CEA84A82}"/>
              </a:ext>
            </a:extLst>
          </p:cNvPr>
          <p:cNvSpPr>
            <a:spLocks xmlns:a="http://schemas.openxmlformats.org/drawingml/2006/main" noGrp="1"/>
          </p:cNvSpPr>
          <p:nvPr/>
        </p:nvSpPr>
        <p:spPr>
          <a:xfrm xmlns:a="http://schemas.openxmlformats.org/drawingml/2006/main">
            <a:off x="457200" y="33718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IMPLICATION FOR DEEPGRID</a:t>
            </a:r>
          </a:p>
        </p:txBody>
      </p:sp>
      <p:sp>
        <p:nvSpPr>
          <p:cNvPr id="24" name="">
            <a:extLst xmlns:a="http://schemas.openxmlformats.org/drawingml/2006/main">
              <a:ext uri="{FF2B5EF4-FFF2-40B4-BE49-F238E27FC236}">
                <a16:creationId xmlns:a16="http://schemas.microsoft.com/office/drawing/2014/main" id="{A1001CDE-D8C4-483E-9408-0A4F84BDDCCF}"/>
              </a:ext>
            </a:extLst>
          </p:cNvPr>
          <p:cNvSpPr>
            <a:spLocks xmlns:a="http://schemas.openxmlformats.org/drawingml/2006/main" noGrp="1"/>
          </p:cNvSpPr>
          <p:nvPr/>
        </p:nvSpPr>
        <p:spPr>
          <a:xfrm xmlns:a="http://schemas.openxmlformats.org/drawingml/2006/main">
            <a:off x="457200" y="3562350"/>
            <a:ext cx="112776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Fastest commercial momentum in the set on the weakest balance sheet — a micro-cap near $1. Sources disagree on its market cap ($60m / $112m / $160m). It does not actuate brakes, so it is not competing for the mandate.</a:t>
            </a:r>
          </a:p>
        </p:txBody>
      </p:sp>
      <p:sp>
        <p:nvSpPr>
          <p:cNvPr id="25" name="">
            <a:extLst xmlns:a="http://schemas.openxmlformats.org/drawingml/2006/main">
              <a:ext uri="{FF2B5EF4-FFF2-40B4-BE49-F238E27FC236}">
                <a16:creationId xmlns:a16="http://schemas.microsoft.com/office/drawing/2014/main" id="{CF0486A0-3DD2-49F9-9340-C13A97D4DF45}"/>
              </a:ext>
            </a:extLst>
          </p:cNvPr>
          <p:cNvSpPr>
            <a:spLocks xmlns:a="http://schemas.openxmlformats.org/drawingml/2006/main" noGrp="1"/>
          </p:cNvSpPr>
          <p:nvPr/>
        </p:nvSpPr>
        <p:spPr>
          <a:xfrm xmlns:a="http://schemas.openxmlformats.org/drawingml/2006/main">
            <a:off x="457200" y="4248150"/>
            <a:ext cx="11277600" cy="7048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6" name="">
            <a:extLst xmlns:a="http://schemas.openxmlformats.org/drawingml/2006/main">
              <a:ext uri="{FF2B5EF4-FFF2-40B4-BE49-F238E27FC236}">
                <a16:creationId xmlns:a16="http://schemas.microsoft.com/office/drawing/2014/main" id="{B617D1B2-4FE0-4D65-B4FB-8C0E7F349C25}"/>
              </a:ext>
            </a:extLst>
          </p:cNvPr>
          <p:cNvSpPr>
            <a:spLocks xmlns:a="http://schemas.openxmlformats.org/drawingml/2006/main" noGrp="1"/>
          </p:cNvSpPr>
          <p:nvPr/>
        </p:nvSpPr>
        <p:spPr>
          <a:xfrm xmlns:a="http://schemas.openxmlformats.org/drawingml/2006/main">
            <a:off x="457200" y="4248150"/>
            <a:ext cx="38100" cy="7048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ACB2F77-72BB-4E1A-9041-312189FACBDC}"/>
              </a:ext>
            </a:extLst>
          </p:cNvPr>
          <p:cNvSpPr>
            <a:spLocks xmlns:a="http://schemas.openxmlformats.org/drawingml/2006/main" noGrp="1"/>
          </p:cNvSpPr>
          <p:nvPr/>
        </p:nvSpPr>
        <p:spPr>
          <a:xfrm xmlns:a="http://schemas.openxmlformats.org/drawingml/2006/main">
            <a:off x="628650" y="4362450"/>
            <a:ext cx="8420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P-WARN · WARNING ONLY — NO BRAKE ACTUATION</a:t>
            </a:r>
          </a:p>
        </p:txBody>
      </p:sp>
      <p:sp>
        <p:nvSpPr>
          <p:cNvPr id="28" name="">
            <a:extLst xmlns:a="http://schemas.openxmlformats.org/drawingml/2006/main">
              <a:ext uri="{FF2B5EF4-FFF2-40B4-BE49-F238E27FC236}">
                <a16:creationId xmlns:a16="http://schemas.microsoft.com/office/drawing/2014/main" id="{6C947448-2452-4B50-BAE5-F08B8AE6F018}"/>
              </a:ext>
            </a:extLst>
          </p:cNvPr>
          <p:cNvSpPr>
            <a:spLocks xmlns:a="http://schemas.openxmlformats.org/drawingml/2006/main" noGrp="1"/>
          </p:cNvSpPr>
          <p:nvPr/>
        </p:nvSpPr>
        <p:spPr>
          <a:xfrm xmlns:a="http://schemas.openxmlformats.org/drawingml/2006/main">
            <a:off x="628650" y="4552950"/>
            <a:ext cx="8420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Not a mandate competitor. It is winning retrofit fleet-safety budget on a different clock, against a different buyer.</a:t>
            </a:r>
          </a:p>
        </p:txBody>
      </p:sp>
      <p:sp>
        <p:nvSpPr>
          <p:cNvPr id="29" name="">
            <a:extLst xmlns:a="http://schemas.openxmlformats.org/drawingml/2006/main">
              <a:ext uri="{FF2B5EF4-FFF2-40B4-BE49-F238E27FC236}">
                <a16:creationId xmlns:a16="http://schemas.microsoft.com/office/drawing/2014/main" id="{86F6B29A-0534-45CC-B365-DC0D9F72C228}"/>
              </a:ext>
            </a:extLst>
          </p:cNvPr>
          <p:cNvSpPr>
            <a:spLocks xmlns:a="http://schemas.openxmlformats.org/drawingml/2006/main" noGrp="1"/>
          </p:cNvSpPr>
          <p:nvPr/>
        </p:nvSpPr>
        <p:spPr>
          <a:xfrm xmlns:a="http://schemas.openxmlformats.org/drawingml/2006/main">
            <a:off x="9163050" y="436245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a:solidFill>
                  <a:srgbClr val="8EA0B2"/>
                </a:solidFill>
                <a:latin typeface="Arial"/>
                <a:ea typeface="Arial"/>
                <a:cs typeface="Arial"/>
              </a:defRPr>
            </a:pPr>
            <a:r>
              <a:t>Evidence · EV-DBA-01 … EV-DBA-04</a:t>
            </a:r>
          </a:p>
        </p:txBody>
      </p:sp>
      <p:sp>
        <p:nvSpPr>
          <p:cNvPr id="30" name="">
            <a:extLst xmlns:a="http://schemas.openxmlformats.org/drawingml/2006/main">
              <a:ext uri="{FF2B5EF4-FFF2-40B4-BE49-F238E27FC236}">
                <a16:creationId xmlns:a16="http://schemas.microsoft.com/office/drawing/2014/main" id="{48B525D1-13A0-4CDA-82BB-67C94DAF621A}"/>
              </a:ext>
            </a:extLst>
          </p:cNvPr>
          <p:cNvSpPr>
            <a:spLocks xmlns:a="http://schemas.openxmlformats.org/drawingml/2006/main" noGrp="1"/>
          </p:cNvSpPr>
          <p:nvPr/>
        </p:nvSpPr>
        <p:spPr>
          <a:xfrm xmlns:a="http://schemas.openxmlformats.org/drawingml/2006/main">
            <a:off x="9163050" y="453390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1BA271"/>
                </a:solidFill>
                <a:latin typeface="Arial"/>
                <a:ea typeface="Arial"/>
                <a:cs typeface="Arial"/>
              </a:defRPr>
            </a:pPr>
            <a:r>
              <a:t>Posture · VERIFIED</a:t>
            </a:r>
          </a:p>
        </p:txBody>
      </p:sp>
      <p:sp>
        <p:nvSpPr>
          <p:cNvPr id="31" name="">
            <a:extLst xmlns:a="http://schemas.openxmlformats.org/drawingml/2006/main">
              <a:ext uri="{FF2B5EF4-FFF2-40B4-BE49-F238E27FC236}">
                <a16:creationId xmlns:a16="http://schemas.microsoft.com/office/drawing/2014/main" id="{A0F055E5-E4E9-46D1-9EF0-0227D0411E6B}"/>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863AE96-8563-4442-83BD-8024E75C4FF2}"/>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37ADCE51-7A5E-4662-864C-43E1908AD68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47</a:t>
            </a:r>
          </a:p>
        </p:txBody>
      </p:sp>
    </p:spTree>
    <p:extLst>
      <p:ext uri="{BB962C8B-B14F-4D97-AF65-F5344CB8AC3E}">
        <p14:creationId xmlns:p14="http://schemas.microsoft.com/office/powerpoint/2010/main" val="154696266"/>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BE3035DA-53E8-453A-A1BD-6F47938A8B3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4FF0372-075D-4EC6-95E1-EC2E67A4F074}"/>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B9FE703-2FAE-42CB-8725-1BCCE0AC1901}"/>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760A0950-5E3E-49E1-9E4A-81378A481992}"/>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45ACF3DA-433A-4A3F-8639-667A98DDC89F}"/>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drivebuddyAI signals material fleet-workflow demand, but deployment quality remains unproven</a:t>
            </a:r>
          </a:p>
        </p:txBody>
      </p:sp>
      <p:sp>
        <p:nvSpPr>
          <p:cNvPr id="6" name="">
            <a:extLst xmlns:a="http://schemas.openxmlformats.org/drawingml/2006/main">
              <a:ext uri="{FF2B5EF4-FFF2-40B4-BE49-F238E27FC236}">
                <a16:creationId xmlns:a16="http://schemas.microsoft.com/office/drawing/2014/main" id="{D7EC8081-D5F4-4FC0-821D-F969DF71299E}"/>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6B4D3B0-2B2F-445A-AD67-B12B2AF89958}"/>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evidence supports the fleet-workflow signal, and what remains company-reported?</a:t>
            </a:r>
          </a:p>
        </p:txBody>
      </p:sp>
      <p:sp>
        <p:nvSpPr>
          <p:cNvPr id="8" name="">
            <a:extLst xmlns:a="http://schemas.openxmlformats.org/drawingml/2006/main">
              <a:ext uri="{FF2B5EF4-FFF2-40B4-BE49-F238E27FC236}">
                <a16:creationId xmlns:a16="http://schemas.microsoft.com/office/drawing/2014/main" id="{A2C1775E-6114-4DE3-81C3-FA1A25637F56}"/>
              </a:ext>
            </a:extLst>
          </p:cNvPr>
          <p:cNvSpPr>
            <a:spLocks xmlns:a="http://schemas.openxmlformats.org/drawingml/2006/main" noGrp="1"/>
          </p:cNvSpPr>
          <p:nvPr/>
        </p:nvSpPr>
        <p:spPr>
          <a:xfrm xmlns:a="http://schemas.openxmlformats.org/drawingml/2006/main">
            <a:off x="457200" y="1317625"/>
            <a:ext cx="11277600" cy="930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EABF6B8B-D915-4715-8B79-1FB4CD8593AC}"/>
              </a:ext>
            </a:extLst>
          </p:cNvPr>
          <p:cNvSpPr>
            <a:spLocks xmlns:a="http://schemas.openxmlformats.org/drawingml/2006/main" noGrp="1"/>
          </p:cNvSpPr>
          <p:nvPr/>
        </p:nvSpPr>
        <p:spPr>
          <a:xfrm xmlns:a="http://schemas.openxmlformats.org/drawingml/2006/main">
            <a:off x="457200" y="1317625"/>
            <a:ext cx="28575" cy="9302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9B56DC6-5F26-4B0A-A77C-A4591924D34C}"/>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95581B77-121B-4B9B-A7D3-FCBE9573B801}"/>
              </a:ext>
            </a:extLst>
          </p:cNvPr>
          <p:cNvSpPr>
            <a:spLocks xmlns:a="http://schemas.openxmlformats.org/drawingml/2006/main" noGrp="1"/>
          </p:cNvSpPr>
          <p:nvPr/>
        </p:nvSpPr>
        <p:spPr>
          <a:xfrm xmlns:a="http://schemas.openxmlformats.org/drawingml/2006/main">
            <a:off x="581025" y="153352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programme is evidence of a plausible fleet-workflow route to market, not proof of AEBS capability or homologation. The announced contract provides a meaningful commercial benchmark, yet customer anonymity, rollout uncertainty and approval-scope gaps prevent treating it as a fully validated deployment.</a:t>
            </a:r>
          </a:p>
        </p:txBody>
      </p:sp>
      <p:sp>
        <p:nvSpPr>
          <p:cNvPr id="12" name="">
            <a:extLst xmlns:a="http://schemas.openxmlformats.org/drawingml/2006/main">
              <a:ext uri="{FF2B5EF4-FFF2-40B4-BE49-F238E27FC236}">
                <a16:creationId xmlns:a16="http://schemas.microsoft.com/office/drawing/2014/main" id="{EEA421EF-AA26-452C-83C6-60AEA391E9A7}"/>
              </a:ext>
            </a:extLst>
          </p:cNvPr>
          <p:cNvSpPr>
            <a:spLocks xmlns:a="http://schemas.openxmlformats.org/drawingml/2006/main" noGrp="1"/>
          </p:cNvSpPr>
          <p:nvPr/>
        </p:nvSpPr>
        <p:spPr>
          <a:xfrm xmlns:a="http://schemas.openxmlformats.org/drawingml/2006/main">
            <a:off x="457200" y="2362200"/>
            <a:ext cx="11277600" cy="600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1C76D3E3-93E6-4766-8DDA-282C3BDB7DAC}"/>
              </a:ext>
            </a:extLst>
          </p:cNvPr>
          <p:cNvSpPr>
            <a:spLocks xmlns:a="http://schemas.openxmlformats.org/drawingml/2006/main" noGrp="1"/>
          </p:cNvSpPr>
          <p:nvPr/>
        </p:nvSpPr>
        <p:spPr>
          <a:xfrm xmlns:a="http://schemas.openxmlformats.org/drawingml/2006/main">
            <a:off x="457200" y="2362200"/>
            <a:ext cx="7668768"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3AD62AE-C2D6-44D0-931B-51423759BBD3}"/>
              </a:ext>
            </a:extLst>
          </p:cNvPr>
          <p:cNvSpPr>
            <a:spLocks xmlns:a="http://schemas.openxmlformats.org/drawingml/2006/main" noGrp="1"/>
          </p:cNvSpPr>
          <p:nvPr/>
        </p:nvSpPr>
        <p:spPr>
          <a:xfrm xmlns:a="http://schemas.openxmlformats.org/drawingml/2006/main">
            <a:off x="457200" y="2362200"/>
            <a:ext cx="28575" cy="6000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CD6D754-C1BC-42E9-9465-82D0B624426D}"/>
              </a:ext>
            </a:extLst>
          </p:cNvPr>
          <p:cNvSpPr>
            <a:spLocks xmlns:a="http://schemas.openxmlformats.org/drawingml/2006/main" noGrp="1"/>
          </p:cNvSpPr>
          <p:nvPr/>
        </p:nvSpPr>
        <p:spPr>
          <a:xfrm xmlns:a="http://schemas.openxmlformats.org/drawingml/2006/main">
            <a:off x="571500" y="2447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ZF DISCLOSED INDIAN CV ADAS</a:t>
            </a:r>
          </a:p>
        </p:txBody>
      </p:sp>
      <p:sp>
        <p:nvSpPr>
          <p:cNvPr id="16" name="">
            <a:extLst xmlns:a="http://schemas.openxmlformats.org/drawingml/2006/main">
              <a:ext uri="{FF2B5EF4-FFF2-40B4-BE49-F238E27FC236}">
                <a16:creationId xmlns:a16="http://schemas.microsoft.com/office/drawing/2014/main" id="{18F635F5-7CA4-48C0-AFA0-74CAC34EBE38}"/>
              </a:ext>
            </a:extLst>
          </p:cNvPr>
          <p:cNvSpPr>
            <a:spLocks xmlns:a="http://schemas.openxmlformats.org/drawingml/2006/main" noGrp="1"/>
          </p:cNvSpPr>
          <p:nvPr/>
        </p:nvSpPr>
        <p:spPr>
          <a:xfrm xmlns:a="http://schemas.openxmlformats.org/drawingml/2006/main">
            <a:off x="4067556" y="2438400"/>
            <a:ext cx="5638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ZF disclosed Indian CV ADAS nominations, a 16-feature suite and extensive India validation; the customer is unnamed.</a:t>
            </a:r>
          </a:p>
        </p:txBody>
      </p:sp>
      <p:sp>
        <p:nvSpPr>
          <p:cNvPr id="17" name="">
            <a:extLst xmlns:a="http://schemas.openxmlformats.org/drawingml/2006/main">
              <a:ext uri="{FF2B5EF4-FFF2-40B4-BE49-F238E27FC236}">
                <a16:creationId xmlns:a16="http://schemas.microsoft.com/office/drawing/2014/main" id="{1D9D466D-EC17-427A-B550-646765C777B8}"/>
              </a:ext>
            </a:extLst>
          </p:cNvPr>
          <p:cNvSpPr>
            <a:spLocks xmlns:a="http://schemas.openxmlformats.org/drawingml/2006/main" noGrp="1"/>
          </p:cNvSpPr>
          <p:nvPr/>
        </p:nvSpPr>
        <p:spPr>
          <a:xfrm xmlns:a="http://schemas.openxmlformats.org/drawingml/2006/main">
            <a:off x="9816084" y="2447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ATTRIBUTED CLAIM</a:t>
            </a:r>
          </a:p>
        </p:txBody>
      </p:sp>
      <p:sp>
        <p:nvSpPr>
          <p:cNvPr id="18" name="">
            <a:extLst xmlns:a="http://schemas.openxmlformats.org/drawingml/2006/main">
              <a:ext uri="{FF2B5EF4-FFF2-40B4-BE49-F238E27FC236}">
                <a16:creationId xmlns:a16="http://schemas.microsoft.com/office/drawing/2014/main" id="{B26CDF99-14C3-44E5-8F06-EF895FE4881A}"/>
              </a:ext>
            </a:extLst>
          </p:cNvPr>
          <p:cNvSpPr>
            <a:spLocks xmlns:a="http://schemas.openxmlformats.org/drawingml/2006/main" noGrp="1"/>
          </p:cNvSpPr>
          <p:nvPr/>
        </p:nvSpPr>
        <p:spPr>
          <a:xfrm xmlns:a="http://schemas.openxmlformats.org/drawingml/2006/main">
            <a:off x="457200" y="3028950"/>
            <a:ext cx="11277600" cy="600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741FEC70-1B38-4217-AB7F-CFEB4569A05D}"/>
              </a:ext>
            </a:extLst>
          </p:cNvPr>
          <p:cNvSpPr>
            <a:spLocks xmlns:a="http://schemas.openxmlformats.org/drawingml/2006/main" noGrp="1"/>
          </p:cNvSpPr>
          <p:nvPr/>
        </p:nvSpPr>
        <p:spPr>
          <a:xfrm xmlns:a="http://schemas.openxmlformats.org/drawingml/2006/main">
            <a:off x="457200" y="302895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089A221-731E-48AA-BBF5-D71B64A4BD58}"/>
              </a:ext>
            </a:extLst>
          </p:cNvPr>
          <p:cNvSpPr>
            <a:spLocks xmlns:a="http://schemas.openxmlformats.org/drawingml/2006/main" noGrp="1"/>
          </p:cNvSpPr>
          <p:nvPr/>
        </p:nvSpPr>
        <p:spPr>
          <a:xfrm xmlns:a="http://schemas.openxmlformats.org/drawingml/2006/main">
            <a:off x="457200" y="3028950"/>
            <a:ext cx="28575" cy="6000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56631A0-4D61-4EAE-91B5-E8F7DC2116A6}"/>
              </a:ext>
            </a:extLst>
          </p:cNvPr>
          <p:cNvSpPr>
            <a:spLocks xmlns:a="http://schemas.openxmlformats.org/drawingml/2006/main" noGrp="1"/>
          </p:cNvSpPr>
          <p:nvPr/>
        </p:nvSpPr>
        <p:spPr>
          <a:xfrm xmlns:a="http://schemas.openxmlformats.org/drawingml/2006/main">
            <a:off x="571500" y="31146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VERIFY EXACT VEHICLE</a:t>
            </a:r>
          </a:p>
        </p:txBody>
      </p:sp>
      <p:sp>
        <p:nvSpPr>
          <p:cNvPr id="22" name="">
            <a:extLst xmlns:a="http://schemas.openxmlformats.org/drawingml/2006/main">
              <a:ext uri="{FF2B5EF4-FFF2-40B4-BE49-F238E27FC236}">
                <a16:creationId xmlns:a16="http://schemas.microsoft.com/office/drawing/2014/main" id="{D27ECA09-7A22-4297-8CD8-24556DAC15AE}"/>
              </a:ext>
            </a:extLst>
          </p:cNvPr>
          <p:cNvSpPr>
            <a:spLocks xmlns:a="http://schemas.openxmlformats.org/drawingml/2006/main" noGrp="1"/>
          </p:cNvSpPr>
          <p:nvPr/>
        </p:nvSpPr>
        <p:spPr>
          <a:xfrm xmlns:a="http://schemas.openxmlformats.org/drawingml/2006/main">
            <a:off x="4067556" y="3105150"/>
            <a:ext cx="5638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Verify exact vehicle platforms, certificate/report number, tested configuration, SOP, supplier content and commercial responsibility.</a:t>
            </a:r>
          </a:p>
        </p:txBody>
      </p:sp>
      <p:sp>
        <p:nvSpPr>
          <p:cNvPr id="23" name="">
            <a:extLst xmlns:a="http://schemas.openxmlformats.org/drawingml/2006/main">
              <a:ext uri="{FF2B5EF4-FFF2-40B4-BE49-F238E27FC236}">
                <a16:creationId xmlns:a16="http://schemas.microsoft.com/office/drawing/2014/main" id="{92AD4EAF-FACA-4CA6-B0C5-5C43615DA8C1}"/>
              </a:ext>
            </a:extLst>
          </p:cNvPr>
          <p:cNvSpPr>
            <a:spLocks xmlns:a="http://schemas.openxmlformats.org/drawingml/2006/main" noGrp="1"/>
          </p:cNvSpPr>
          <p:nvPr/>
        </p:nvSpPr>
        <p:spPr>
          <a:xfrm xmlns:a="http://schemas.openxmlformats.org/drawingml/2006/main">
            <a:off x="9816084" y="31146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CB76786C-2E01-4121-B8DD-4576EA63825C}"/>
              </a:ext>
            </a:extLst>
          </p:cNvPr>
          <p:cNvSpPr>
            <a:spLocks xmlns:a="http://schemas.openxmlformats.org/drawingml/2006/main" noGrp="1"/>
          </p:cNvSpPr>
          <p:nvPr/>
        </p:nvSpPr>
        <p:spPr>
          <a:xfrm xmlns:a="http://schemas.openxmlformats.org/drawingml/2006/main">
            <a:off x="457200" y="3695700"/>
            <a:ext cx="11277600" cy="600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7BB9AAB1-70F1-4840-846F-0E963081B897}"/>
              </a:ext>
            </a:extLst>
          </p:cNvPr>
          <p:cNvSpPr>
            <a:spLocks xmlns:a="http://schemas.openxmlformats.org/drawingml/2006/main" noGrp="1"/>
          </p:cNvSpPr>
          <p:nvPr/>
        </p:nvSpPr>
        <p:spPr>
          <a:xfrm xmlns:a="http://schemas.openxmlformats.org/drawingml/2006/main">
            <a:off x="457200" y="36957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6481C58-1CCD-4ADE-9E55-01700F235D76}"/>
              </a:ext>
            </a:extLst>
          </p:cNvPr>
          <p:cNvSpPr>
            <a:spLocks xmlns:a="http://schemas.openxmlformats.org/drawingml/2006/main" noGrp="1"/>
          </p:cNvSpPr>
          <p:nvPr/>
        </p:nvSpPr>
        <p:spPr>
          <a:xfrm xmlns:a="http://schemas.openxmlformats.org/drawingml/2006/main">
            <a:off x="457200" y="3695700"/>
            <a:ext cx="28575" cy="6000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088F5E0-9E80-44AB-9367-B8215E0FA14F}"/>
              </a:ext>
            </a:extLst>
          </p:cNvPr>
          <p:cNvSpPr>
            <a:spLocks xmlns:a="http://schemas.openxmlformats.org/drawingml/2006/main" noGrp="1"/>
          </p:cNvSpPr>
          <p:nvPr/>
        </p:nvSpPr>
        <p:spPr>
          <a:xfrm xmlns:a="http://schemas.openxmlformats.org/drawingml/2006/main">
            <a:off x="571500" y="3781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COMPETITOR 4/10 · EVIDENCE</a:t>
            </a:r>
          </a:p>
        </p:txBody>
      </p:sp>
      <p:sp>
        <p:nvSpPr>
          <p:cNvPr id="28" name="">
            <a:extLst xmlns:a="http://schemas.openxmlformats.org/drawingml/2006/main">
              <a:ext uri="{FF2B5EF4-FFF2-40B4-BE49-F238E27FC236}">
                <a16:creationId xmlns:a16="http://schemas.microsoft.com/office/drawing/2014/main" id="{8A603228-9512-4BC5-813C-23D94B0CDBDF}"/>
              </a:ext>
            </a:extLst>
          </p:cNvPr>
          <p:cNvSpPr>
            <a:spLocks xmlns:a="http://schemas.openxmlformats.org/drawingml/2006/main" noGrp="1"/>
          </p:cNvSpPr>
          <p:nvPr/>
        </p:nvSpPr>
        <p:spPr>
          <a:xfrm xmlns:a="http://schemas.openxmlformats.org/drawingml/2006/main">
            <a:off x="4067556" y="3771900"/>
            <a:ext cx="5638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COMPETITOR 4/10 · EVIDENCE PROFILE · SITUATION ASSESSMENT</a:t>
            </a:r>
          </a:p>
        </p:txBody>
      </p:sp>
      <p:sp>
        <p:nvSpPr>
          <p:cNvPr id="29" name="">
            <a:extLst xmlns:a="http://schemas.openxmlformats.org/drawingml/2006/main">
              <a:ext uri="{FF2B5EF4-FFF2-40B4-BE49-F238E27FC236}">
                <a16:creationId xmlns:a16="http://schemas.microsoft.com/office/drawing/2014/main" id="{21A3D161-AC37-4329-97CF-EBEF56327730}"/>
              </a:ext>
            </a:extLst>
          </p:cNvPr>
          <p:cNvSpPr>
            <a:spLocks xmlns:a="http://schemas.openxmlformats.org/drawingml/2006/main" noGrp="1"/>
          </p:cNvSpPr>
          <p:nvPr/>
        </p:nvSpPr>
        <p:spPr>
          <a:xfrm xmlns:a="http://schemas.openxmlformats.org/drawingml/2006/main">
            <a:off x="9816084" y="3781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54CFF886-5D30-4A9D-AD7C-118D8263EA32}"/>
              </a:ext>
            </a:extLst>
          </p:cNvPr>
          <p:cNvSpPr>
            <a:spLocks xmlns:a="http://schemas.openxmlformats.org/drawingml/2006/main" noGrp="1"/>
          </p:cNvSpPr>
          <p:nvPr/>
        </p:nvSpPr>
        <p:spPr>
          <a:xfrm xmlns:a="http://schemas.openxmlformats.org/drawingml/2006/main">
            <a:off x="457200" y="4362450"/>
            <a:ext cx="11277600" cy="600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8F298BF7-9DE9-4D91-81C0-EEBB913625EE}"/>
              </a:ext>
            </a:extLst>
          </p:cNvPr>
          <p:cNvSpPr>
            <a:spLocks xmlns:a="http://schemas.openxmlformats.org/drawingml/2006/main" noGrp="1"/>
          </p:cNvSpPr>
          <p:nvPr/>
        </p:nvSpPr>
        <p:spPr>
          <a:xfrm xmlns:a="http://schemas.openxmlformats.org/drawingml/2006/main">
            <a:off x="457200" y="436245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4546134-9505-4FA0-B633-59B9897BC635}"/>
              </a:ext>
            </a:extLst>
          </p:cNvPr>
          <p:cNvSpPr>
            <a:spLocks xmlns:a="http://schemas.openxmlformats.org/drawingml/2006/main" noGrp="1"/>
          </p:cNvSpPr>
          <p:nvPr/>
        </p:nvSpPr>
        <p:spPr>
          <a:xfrm xmlns:a="http://schemas.openxmlformats.org/drawingml/2006/main">
            <a:off x="457200" y="4362450"/>
            <a:ext cx="28575" cy="6000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D729444-9E5A-4C75-8173-427001D164F1}"/>
              </a:ext>
            </a:extLst>
          </p:cNvPr>
          <p:cNvSpPr>
            <a:spLocks xmlns:a="http://schemas.openxmlformats.org/drawingml/2006/main" noGrp="1"/>
          </p:cNvSpPr>
          <p:nvPr/>
        </p:nvSpPr>
        <p:spPr>
          <a:xfrm xmlns:a="http://schemas.openxmlformats.org/drawingml/2006/main">
            <a:off x="571500" y="44481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AVAILABLE REPORTING SCOPES</a:t>
            </a:r>
          </a:p>
        </p:txBody>
      </p:sp>
      <p:sp>
        <p:nvSpPr>
          <p:cNvPr id="34" name="">
            <a:extLst xmlns:a="http://schemas.openxmlformats.org/drawingml/2006/main">
              <a:ext uri="{FF2B5EF4-FFF2-40B4-BE49-F238E27FC236}">
                <a16:creationId xmlns:a16="http://schemas.microsoft.com/office/drawing/2014/main" id="{9B9233E1-4872-4E11-AA1F-EF5CF00E52C7}"/>
              </a:ext>
            </a:extLst>
          </p:cNvPr>
          <p:cNvSpPr>
            <a:spLocks xmlns:a="http://schemas.openxmlformats.org/drawingml/2006/main" noGrp="1"/>
          </p:cNvSpPr>
          <p:nvPr/>
        </p:nvSpPr>
        <p:spPr>
          <a:xfrm xmlns:a="http://schemas.openxmlformats.org/drawingml/2006/main">
            <a:off x="4067556" y="4438650"/>
            <a:ext cx="5638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Available reporting scopes ARAI certification to the cited compliance basis and programme configuration, not every feature or use case.</a:t>
            </a:r>
          </a:p>
        </p:txBody>
      </p:sp>
      <p:sp>
        <p:nvSpPr>
          <p:cNvPr id="35" name="">
            <a:extLst xmlns:a="http://schemas.openxmlformats.org/drawingml/2006/main">
              <a:ext uri="{FF2B5EF4-FFF2-40B4-BE49-F238E27FC236}">
                <a16:creationId xmlns:a16="http://schemas.microsoft.com/office/drawing/2014/main" id="{2859D013-DF45-4AC8-A0B0-3A91F3302B71}"/>
              </a:ext>
            </a:extLst>
          </p:cNvPr>
          <p:cNvSpPr>
            <a:spLocks xmlns:a="http://schemas.openxmlformats.org/drawingml/2006/main" noGrp="1"/>
          </p:cNvSpPr>
          <p:nvPr/>
        </p:nvSpPr>
        <p:spPr>
          <a:xfrm xmlns:a="http://schemas.openxmlformats.org/drawingml/2006/main">
            <a:off x="9816084" y="44481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7AEBDF88-28A3-4124-B92A-1322E29A31A8}"/>
              </a:ext>
            </a:extLst>
          </p:cNvPr>
          <p:cNvSpPr>
            <a:spLocks xmlns:a="http://schemas.openxmlformats.org/drawingml/2006/main" noGrp="1"/>
          </p:cNvSpPr>
          <p:nvPr/>
        </p:nvSpPr>
        <p:spPr>
          <a:xfrm xmlns:a="http://schemas.openxmlformats.org/drawingml/2006/main">
            <a:off x="457200" y="507682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75A05669-9F93-420B-836A-E7F2C15F8E86}"/>
              </a:ext>
            </a:extLst>
          </p:cNvPr>
          <p:cNvSpPr>
            <a:spLocks xmlns:a="http://schemas.openxmlformats.org/drawingml/2006/main" noGrp="1"/>
          </p:cNvSpPr>
          <p:nvPr/>
        </p:nvSpPr>
        <p:spPr>
          <a:xfrm xmlns:a="http://schemas.openxmlformats.org/drawingml/2006/main">
            <a:off x="457200" y="507682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35DB9962-B79F-4FB0-9188-8E5E1D1C3D84}"/>
              </a:ext>
            </a:extLst>
          </p:cNvPr>
          <p:cNvSpPr>
            <a:spLocks xmlns:a="http://schemas.openxmlformats.org/drawingml/2006/main" noGrp="1"/>
          </p:cNvSpPr>
          <p:nvPr/>
        </p:nvSpPr>
        <p:spPr>
          <a:xfrm xmlns:a="http://schemas.openxmlformats.org/drawingml/2006/main">
            <a:off x="581025" y="51435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959A072C-4513-42EB-AF44-0784C2ECDC3C}"/>
              </a:ext>
            </a:extLst>
          </p:cNvPr>
          <p:cNvSpPr>
            <a:spLocks xmlns:a="http://schemas.openxmlformats.org/drawingml/2006/main" noGrp="1"/>
          </p:cNvSpPr>
          <p:nvPr/>
        </p:nvSpPr>
        <p:spPr>
          <a:xfrm xmlns:a="http://schemas.openxmlformats.org/drawingml/2006/main">
            <a:off x="581025" y="52927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the initial 3,000-truck programme is confirmed live by the customer rather than the issuer, which would convert the signal into deployment proof.</a:t>
            </a:r>
          </a:p>
        </p:txBody>
      </p:sp>
      <p:sp>
        <p:nvSpPr>
          <p:cNvPr id="40" name="">
            <a:extLst xmlns:a="http://schemas.openxmlformats.org/drawingml/2006/main">
              <a:ext uri="{FF2B5EF4-FFF2-40B4-BE49-F238E27FC236}">
                <a16:creationId xmlns:a16="http://schemas.microsoft.com/office/drawing/2014/main" id="{9C026C48-6FF4-4F16-8B4D-56DCECB517BE}"/>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BE51A5E-A1EC-4A3F-99C1-6F3152394F54}"/>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862A412-B901-4FB3-B923-5A9D467088D7}"/>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703D7642-8659-4400-9F94-11AA9B17D692}"/>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Treat the programme as a route-to-market signal, not as AEBS capability evidence.</a:t>
            </a:r>
          </a:p>
        </p:txBody>
      </p:sp>
      <p:sp>
        <p:nvSpPr>
          <p:cNvPr id="44" name="">
            <a:extLst xmlns:a="http://schemas.openxmlformats.org/drawingml/2006/main">
              <a:ext uri="{FF2B5EF4-FFF2-40B4-BE49-F238E27FC236}">
                <a16:creationId xmlns:a16="http://schemas.microsoft.com/office/drawing/2014/main" id="{D32A3026-7039-484D-8653-4459AE6C5B43}"/>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1A9BEEB8-3038-45C1-8B3C-5623DA2D4C8F}"/>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Customer-side confirmation of live vehicle count and service quality.</a:t>
            </a:r>
          </a:p>
        </p:txBody>
      </p:sp>
      <p:sp>
        <p:nvSpPr>
          <p:cNvPr id="46" name="">
            <a:extLst xmlns:a="http://schemas.openxmlformats.org/drawingml/2006/main">
              <a:ext uri="{FF2B5EF4-FFF2-40B4-BE49-F238E27FC236}">
                <a16:creationId xmlns:a16="http://schemas.microsoft.com/office/drawing/2014/main" id="{B3914BE1-93C5-42A0-9DAE-65CF5000C755}"/>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BEEA5C52-3017-4023-B5F2-C259335D5C2C}"/>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citing US$2.5m as current — superseded by US$5.3m / 3,600 vehicles (Jun 2026) — or the 10,000-vehicle expansion without the issuer-announcement caveat.</a:t>
            </a:r>
          </a:p>
        </p:txBody>
      </p:sp>
      <p:sp>
        <p:nvSpPr>
          <p:cNvPr id="48" name="">
            <a:extLst xmlns:a="http://schemas.openxmlformats.org/drawingml/2006/main">
              <a:ext uri="{FF2B5EF4-FFF2-40B4-BE49-F238E27FC236}">
                <a16:creationId xmlns:a16="http://schemas.microsoft.com/office/drawing/2014/main" id="{19EABCC2-141D-44B5-9779-C0D2423C4A7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FC79A7C3-802C-49DC-A9BB-AC20CCABF22B}"/>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16293E33-B8DF-468C-BCE7-83ECD19FC762}"/>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48</a:t>
            </a:r>
          </a:p>
        </p:txBody>
      </p:sp>
    </p:spTree>
    <p:extLst>
      <p:ext uri="{BB962C8B-B14F-4D97-AF65-F5344CB8AC3E}">
        <p14:creationId xmlns:p14="http://schemas.microsoft.com/office/powerpoint/2010/main" val="940387866"/>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B6C2C8AD-F14C-4950-BD00-121260D693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1013005-1EAB-44A1-87E1-A09D1AFF45ED}"/>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4581790-3E1E-4D35-A52B-F68A00B1CC2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13737578-23CC-4729-8CF8-4EAE71F8BB8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B21DC20C-1EA0-48E9-9A62-3DF884CD7D6F}"/>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drivebuddyAI threat: highest in fleet aftermarket; watch OEM/government</a:t>
            </a:r>
          </a:p>
        </p:txBody>
      </p:sp>
      <p:sp>
        <p:nvSpPr>
          <p:cNvPr id="6" name="">
            <a:extLst xmlns:a="http://schemas.openxmlformats.org/drawingml/2006/main">
              <a:ext uri="{FF2B5EF4-FFF2-40B4-BE49-F238E27FC236}">
                <a16:creationId xmlns:a16="http://schemas.microsoft.com/office/drawing/2014/main" id="{C487C8CD-C68A-4297-B085-A3264422EEA2}"/>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BB698B7-6D40-4992-B646-C4DD8964B37D}"/>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drivebuddyAI's threat change by buying arena, and where should DeepGrid respond?</a:t>
            </a:r>
          </a:p>
        </p:txBody>
      </p:sp>
      <p:sp>
        <p:nvSpPr>
          <p:cNvPr id="8" name="">
            <a:extLst xmlns:a="http://schemas.openxmlformats.org/drawingml/2006/main">
              <a:ext uri="{FF2B5EF4-FFF2-40B4-BE49-F238E27FC236}">
                <a16:creationId xmlns:a16="http://schemas.microsoft.com/office/drawing/2014/main" id="{2A333344-6620-46BF-B1CF-AAEF15C9899D}"/>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24B3E2CA-A651-465D-AC41-AFA17A033A4B}"/>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3245FF0-70EC-4F43-9845-13DED53084CC}"/>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27E25584-24AB-4821-926B-03011BB1B38A}"/>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drivebuddyAI is most threatening in fleet aftermarket, where workflow ROI decides the purchase, and medium in OEM and government where integration and approvals decide.</a:t>
            </a:r>
          </a:p>
        </p:txBody>
      </p:sp>
      <p:sp>
        <p:nvSpPr>
          <p:cNvPr id="12" name="">
            <a:extLst xmlns:a="http://schemas.openxmlformats.org/drawingml/2006/main">
              <a:ext uri="{FF2B5EF4-FFF2-40B4-BE49-F238E27FC236}">
                <a16:creationId xmlns:a16="http://schemas.microsoft.com/office/drawing/2014/main" id="{0F3911A1-4EA7-4CAA-94C1-3D3EE4A33DA4}"/>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C421A95-1BCA-4030-AAD7-4495618A1A8D}"/>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AF017905-99C0-4B90-8BC0-5F92025B3E5B}"/>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61DBA2E6-5FB0-4FBE-99CF-86145AD22ABE}"/>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68B7B4EE-4040-4F0B-A93F-890823A4FB5B}"/>
              </a:ext>
            </a:extLst>
          </p:cNvPr>
          <p:cNvSpPr>
            <a:spLocks xmlns:a="http://schemas.openxmlformats.org/drawingml/2006/main" noGrp="1"/>
          </p:cNvSpPr>
          <p:nvPr/>
        </p:nvSpPr>
        <p:spPr>
          <a:xfrm xmlns:a="http://schemas.openxmlformats.org/drawingml/2006/main">
            <a:off x="457200" y="2089150"/>
            <a:ext cx="2255520" cy="1257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0567C6DD-12D1-4F2F-A5B4-CD58EA88FE9C}"/>
              </a:ext>
            </a:extLst>
          </p:cNvPr>
          <p:cNvSpPr>
            <a:spLocks xmlns:a="http://schemas.openxmlformats.org/drawingml/2006/main" noGrp="1"/>
          </p:cNvSpPr>
          <p:nvPr/>
        </p:nvSpPr>
        <p:spPr>
          <a:xfrm xmlns:a="http://schemas.openxmlformats.org/drawingml/2006/main">
            <a:off x="552450" y="2203450"/>
            <a:ext cx="210312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STRADVISION</a:t>
            </a:r>
          </a:p>
        </p:txBody>
      </p:sp>
      <p:sp>
        <p:nvSpPr>
          <p:cNvPr id="18" name="">
            <a:extLst xmlns:a="http://schemas.openxmlformats.org/drawingml/2006/main">
              <a:ext uri="{FF2B5EF4-FFF2-40B4-BE49-F238E27FC236}">
                <a16:creationId xmlns:a16="http://schemas.microsoft.com/office/drawing/2014/main" id="{7A4AA769-140B-405A-A416-1E2C63BE60C6}"/>
              </a:ext>
            </a:extLst>
          </p:cNvPr>
          <p:cNvSpPr>
            <a:spLocks xmlns:a="http://schemas.openxmlformats.org/drawingml/2006/main" noGrp="1"/>
          </p:cNvSpPr>
          <p:nvPr/>
        </p:nvSpPr>
        <p:spPr>
          <a:xfrm xmlns:a="http://schemas.openxmlformats.org/drawingml/2006/main">
            <a:off x="274129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1455D401-6FE3-4297-A129-E6B7FEFA00DA}"/>
              </a:ext>
            </a:extLst>
          </p:cNvPr>
          <p:cNvSpPr>
            <a:spLocks xmlns:a="http://schemas.openxmlformats.org/drawingml/2006/main" noGrp="1"/>
          </p:cNvSpPr>
          <p:nvPr/>
        </p:nvSpPr>
        <p:spPr>
          <a:xfrm xmlns:a="http://schemas.openxmlformats.org/drawingml/2006/main">
            <a:off x="2741295" y="21177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F00E816-FFAA-48CF-850A-EFE829DDE7B9}"/>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21" name="">
            <a:extLst xmlns:a="http://schemas.openxmlformats.org/drawingml/2006/main">
              <a:ext uri="{FF2B5EF4-FFF2-40B4-BE49-F238E27FC236}">
                <a16:creationId xmlns:a16="http://schemas.microsoft.com/office/drawing/2014/main" id="{9A996278-3364-4424-94C1-D7EA79AD0A7E}"/>
              </a:ext>
            </a:extLst>
          </p:cNvPr>
          <p:cNvSpPr>
            <a:spLocks xmlns:a="http://schemas.openxmlformats.org/drawingml/2006/main" noGrp="1"/>
          </p:cNvSpPr>
          <p:nvPr/>
        </p:nvSpPr>
        <p:spPr>
          <a:xfrm xmlns:a="http://schemas.openxmlformats.org/drawingml/2006/main">
            <a:off x="281749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presence</a:t>
            </a:r>
          </a:p>
        </p:txBody>
      </p:sp>
      <p:sp>
        <p:nvSpPr>
          <p:cNvPr id="22" name="">
            <a:extLst xmlns:a="http://schemas.openxmlformats.org/drawingml/2006/main">
              <a:ext uri="{FF2B5EF4-FFF2-40B4-BE49-F238E27FC236}">
                <a16:creationId xmlns:a16="http://schemas.microsoft.com/office/drawing/2014/main" id="{5498005A-3A76-4576-8AA9-47F5B1FE47E6}"/>
              </a:ext>
            </a:extLst>
          </p:cNvPr>
          <p:cNvSpPr>
            <a:spLocks xmlns:a="http://schemas.openxmlformats.org/drawingml/2006/main" noGrp="1"/>
          </p:cNvSpPr>
          <p:nvPr/>
        </p:nvSpPr>
        <p:spPr>
          <a:xfrm xmlns:a="http://schemas.openxmlformats.org/drawingml/2006/main">
            <a:off x="574865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990DC1CF-6BAC-4768-8399-DB0A81AE17CD}"/>
              </a:ext>
            </a:extLst>
          </p:cNvPr>
          <p:cNvSpPr>
            <a:spLocks xmlns:a="http://schemas.openxmlformats.org/drawingml/2006/main" noGrp="1"/>
          </p:cNvSpPr>
          <p:nvPr/>
        </p:nvSpPr>
        <p:spPr>
          <a:xfrm xmlns:a="http://schemas.openxmlformats.org/drawingml/2006/main">
            <a:off x="5748655" y="2117725"/>
            <a:ext cx="2419172"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6E18737-D791-4C7E-B8E7-E42999DD99A2}"/>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25" name="">
            <a:extLst xmlns:a="http://schemas.openxmlformats.org/drawingml/2006/main">
              <a:ext uri="{FF2B5EF4-FFF2-40B4-BE49-F238E27FC236}">
                <a16:creationId xmlns:a16="http://schemas.microsoft.com/office/drawing/2014/main" id="{9FBE98DC-6507-49B8-A06F-03A5C2C661AB}"/>
              </a:ext>
            </a:extLst>
          </p:cNvPr>
          <p:cNvSpPr>
            <a:spLocks xmlns:a="http://schemas.openxmlformats.org/drawingml/2006/main" noGrp="1"/>
          </p:cNvSpPr>
          <p:nvPr/>
        </p:nvSpPr>
        <p:spPr>
          <a:xfrm xmlns:a="http://schemas.openxmlformats.org/drawingml/2006/main">
            <a:off x="582485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OEM integration</a:t>
            </a:r>
          </a:p>
        </p:txBody>
      </p:sp>
      <p:sp>
        <p:nvSpPr>
          <p:cNvPr id="26" name="">
            <a:extLst xmlns:a="http://schemas.openxmlformats.org/drawingml/2006/main">
              <a:ext uri="{FF2B5EF4-FFF2-40B4-BE49-F238E27FC236}">
                <a16:creationId xmlns:a16="http://schemas.microsoft.com/office/drawing/2014/main" id="{893F4122-594B-4B83-BEB7-41E4D73EFC53}"/>
              </a:ext>
            </a:extLst>
          </p:cNvPr>
          <p:cNvSpPr>
            <a:spLocks xmlns:a="http://schemas.openxmlformats.org/drawingml/2006/main" noGrp="1"/>
          </p:cNvSpPr>
          <p:nvPr/>
        </p:nvSpPr>
        <p:spPr>
          <a:xfrm xmlns:a="http://schemas.openxmlformats.org/drawingml/2006/main">
            <a:off x="875601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66FB4120-9102-4EF1-91AE-4C77B97C93B6}"/>
              </a:ext>
            </a:extLst>
          </p:cNvPr>
          <p:cNvSpPr>
            <a:spLocks xmlns:a="http://schemas.openxmlformats.org/drawingml/2006/main" noGrp="1"/>
          </p:cNvSpPr>
          <p:nvPr/>
        </p:nvSpPr>
        <p:spPr>
          <a:xfrm xmlns:a="http://schemas.openxmlformats.org/drawingml/2006/main">
            <a:off x="8756015" y="21177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2B95DF1-8F9A-4C09-98BC-D7C2C7F95D50}"/>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29" name="">
            <a:extLst xmlns:a="http://schemas.openxmlformats.org/drawingml/2006/main">
              <a:ext uri="{FF2B5EF4-FFF2-40B4-BE49-F238E27FC236}">
                <a16:creationId xmlns:a16="http://schemas.microsoft.com/office/drawing/2014/main" id="{8C7F7643-E880-4CCB-8627-346CE860E24A}"/>
              </a:ext>
            </a:extLst>
          </p:cNvPr>
          <p:cNvSpPr>
            <a:spLocks xmlns:a="http://schemas.openxmlformats.org/drawingml/2006/main" noGrp="1"/>
          </p:cNvSpPr>
          <p:nvPr/>
        </p:nvSpPr>
        <p:spPr>
          <a:xfrm xmlns:a="http://schemas.openxmlformats.org/drawingml/2006/main">
            <a:off x="883221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presence</a:t>
            </a:r>
          </a:p>
        </p:txBody>
      </p:sp>
      <p:sp>
        <p:nvSpPr>
          <p:cNvPr id="30" name="">
            <a:extLst xmlns:a="http://schemas.openxmlformats.org/drawingml/2006/main">
              <a:ext uri="{FF2B5EF4-FFF2-40B4-BE49-F238E27FC236}">
                <a16:creationId xmlns:a16="http://schemas.microsoft.com/office/drawing/2014/main" id="{3384A520-D5F2-40E5-BD01-58959F9ACB83}"/>
              </a:ext>
            </a:extLst>
          </p:cNvPr>
          <p:cNvSpPr>
            <a:spLocks xmlns:a="http://schemas.openxmlformats.org/drawingml/2006/main" noGrp="1"/>
          </p:cNvSpPr>
          <p:nvPr/>
        </p:nvSpPr>
        <p:spPr>
          <a:xfrm xmlns:a="http://schemas.openxmlformats.org/drawingml/2006/main">
            <a:off x="457200" y="3346450"/>
            <a:ext cx="2255520" cy="1257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05927056-BEF0-476F-AF49-CE19DDB6BB22}"/>
              </a:ext>
            </a:extLst>
          </p:cNvPr>
          <p:cNvSpPr>
            <a:spLocks xmlns:a="http://schemas.openxmlformats.org/drawingml/2006/main" noGrp="1"/>
          </p:cNvSpPr>
          <p:nvPr/>
        </p:nvSpPr>
        <p:spPr>
          <a:xfrm xmlns:a="http://schemas.openxmlformats.org/drawingml/2006/main">
            <a:off x="552450" y="3460750"/>
            <a:ext cx="210312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BITSENSING</a:t>
            </a:r>
          </a:p>
        </p:txBody>
      </p:sp>
      <p:sp>
        <p:nvSpPr>
          <p:cNvPr id="32" name="">
            <a:extLst xmlns:a="http://schemas.openxmlformats.org/drawingml/2006/main">
              <a:ext uri="{FF2B5EF4-FFF2-40B4-BE49-F238E27FC236}">
                <a16:creationId xmlns:a16="http://schemas.microsoft.com/office/drawing/2014/main" id="{B32CEB31-8732-4F07-8FC9-2C92D293C1AB}"/>
              </a:ext>
            </a:extLst>
          </p:cNvPr>
          <p:cNvSpPr>
            <a:spLocks xmlns:a="http://schemas.openxmlformats.org/drawingml/2006/main" noGrp="1"/>
          </p:cNvSpPr>
          <p:nvPr/>
        </p:nvSpPr>
        <p:spPr>
          <a:xfrm xmlns:a="http://schemas.openxmlformats.org/drawingml/2006/main">
            <a:off x="274129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3" name="">
            <a:extLst xmlns:a="http://schemas.openxmlformats.org/drawingml/2006/main">
              <a:ext uri="{FF2B5EF4-FFF2-40B4-BE49-F238E27FC236}">
                <a16:creationId xmlns:a16="http://schemas.microsoft.com/office/drawing/2014/main" id="{D18C7FC0-1D89-4F9A-BDAC-AED8F4F3BA15}"/>
              </a:ext>
            </a:extLst>
          </p:cNvPr>
          <p:cNvSpPr>
            <a:spLocks xmlns:a="http://schemas.openxmlformats.org/drawingml/2006/main" noGrp="1"/>
          </p:cNvSpPr>
          <p:nvPr/>
        </p:nvSpPr>
        <p:spPr>
          <a:xfrm xmlns:a="http://schemas.openxmlformats.org/drawingml/2006/main">
            <a:off x="2741295" y="33750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091CF89E-10EE-4F33-8A21-87226800265F}"/>
              </a:ext>
            </a:extLst>
          </p:cNvPr>
          <p:cNvSpPr>
            <a:spLocks xmlns:a="http://schemas.openxmlformats.org/drawingml/2006/main" noGrp="1"/>
          </p:cNvSpPr>
          <p:nvPr/>
        </p:nvSpPr>
        <p:spPr>
          <a:xfrm xmlns:a="http://schemas.openxmlformats.org/drawingml/2006/main">
            <a:off x="281749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35" name="">
            <a:extLst xmlns:a="http://schemas.openxmlformats.org/drawingml/2006/main">
              <a:ext uri="{FF2B5EF4-FFF2-40B4-BE49-F238E27FC236}">
                <a16:creationId xmlns:a16="http://schemas.microsoft.com/office/drawing/2014/main" id="{5485263D-9E7C-4F43-B4F9-1E06F5BC3C52}"/>
              </a:ext>
            </a:extLst>
          </p:cNvPr>
          <p:cNvSpPr>
            <a:spLocks xmlns:a="http://schemas.openxmlformats.org/drawingml/2006/main" noGrp="1"/>
          </p:cNvSpPr>
          <p:nvPr/>
        </p:nvSpPr>
        <p:spPr>
          <a:xfrm xmlns:a="http://schemas.openxmlformats.org/drawingml/2006/main">
            <a:off x="281749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presence</a:t>
            </a:r>
          </a:p>
        </p:txBody>
      </p:sp>
      <p:sp>
        <p:nvSpPr>
          <p:cNvPr id="36" name="">
            <a:extLst xmlns:a="http://schemas.openxmlformats.org/drawingml/2006/main">
              <a:ext uri="{FF2B5EF4-FFF2-40B4-BE49-F238E27FC236}">
                <a16:creationId xmlns:a16="http://schemas.microsoft.com/office/drawing/2014/main" id="{6BB76FF5-0F7D-4F36-9932-53E39516023B}"/>
              </a:ext>
            </a:extLst>
          </p:cNvPr>
          <p:cNvSpPr>
            <a:spLocks xmlns:a="http://schemas.openxmlformats.org/drawingml/2006/main" noGrp="1"/>
          </p:cNvSpPr>
          <p:nvPr/>
        </p:nvSpPr>
        <p:spPr>
          <a:xfrm xmlns:a="http://schemas.openxmlformats.org/drawingml/2006/main">
            <a:off x="574865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A468ADF2-9609-40EB-8E7E-7A266DEDF908}"/>
              </a:ext>
            </a:extLst>
          </p:cNvPr>
          <p:cNvSpPr>
            <a:spLocks xmlns:a="http://schemas.openxmlformats.org/drawingml/2006/main" noGrp="1"/>
          </p:cNvSpPr>
          <p:nvPr/>
        </p:nvSpPr>
        <p:spPr>
          <a:xfrm xmlns:a="http://schemas.openxmlformats.org/drawingml/2006/main">
            <a:off x="574865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F04B1DCE-D551-4C73-B786-AD3E1F789CB1}"/>
              </a:ext>
            </a:extLst>
          </p:cNvPr>
          <p:cNvSpPr>
            <a:spLocks xmlns:a="http://schemas.openxmlformats.org/drawingml/2006/main" noGrp="1"/>
          </p:cNvSpPr>
          <p:nvPr/>
        </p:nvSpPr>
        <p:spPr>
          <a:xfrm xmlns:a="http://schemas.openxmlformats.org/drawingml/2006/main">
            <a:off x="582485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39" name="">
            <a:extLst xmlns:a="http://schemas.openxmlformats.org/drawingml/2006/main">
              <a:ext uri="{FF2B5EF4-FFF2-40B4-BE49-F238E27FC236}">
                <a16:creationId xmlns:a16="http://schemas.microsoft.com/office/drawing/2014/main" id="{39EE5816-BF18-4D47-A1EC-E22A26F4C378}"/>
              </a:ext>
            </a:extLst>
          </p:cNvPr>
          <p:cNvSpPr>
            <a:spLocks xmlns:a="http://schemas.openxmlformats.org/drawingml/2006/main" noGrp="1"/>
          </p:cNvSpPr>
          <p:nvPr/>
        </p:nvSpPr>
        <p:spPr>
          <a:xfrm xmlns:a="http://schemas.openxmlformats.org/drawingml/2006/main">
            <a:off x="582485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Sensor supplier</a:t>
            </a:r>
          </a:p>
        </p:txBody>
      </p:sp>
      <p:sp>
        <p:nvSpPr>
          <p:cNvPr id="40" name="">
            <a:extLst xmlns:a="http://schemas.openxmlformats.org/drawingml/2006/main">
              <a:ext uri="{FF2B5EF4-FFF2-40B4-BE49-F238E27FC236}">
                <a16:creationId xmlns:a16="http://schemas.microsoft.com/office/drawing/2014/main" id="{FF7D18AD-2BB2-453B-A0A0-5054B425C9DA}"/>
              </a:ext>
            </a:extLst>
          </p:cNvPr>
          <p:cNvSpPr>
            <a:spLocks xmlns:a="http://schemas.openxmlformats.org/drawingml/2006/main" noGrp="1"/>
          </p:cNvSpPr>
          <p:nvPr/>
        </p:nvSpPr>
        <p:spPr>
          <a:xfrm xmlns:a="http://schemas.openxmlformats.org/drawingml/2006/main">
            <a:off x="875601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1" name="">
            <a:extLst xmlns:a="http://schemas.openxmlformats.org/drawingml/2006/main">
              <a:ext uri="{FF2B5EF4-FFF2-40B4-BE49-F238E27FC236}">
                <a16:creationId xmlns:a16="http://schemas.microsoft.com/office/drawing/2014/main" id="{D6FCBBA6-0CE4-4982-BCE9-5601D9654131}"/>
              </a:ext>
            </a:extLst>
          </p:cNvPr>
          <p:cNvSpPr>
            <a:spLocks xmlns:a="http://schemas.openxmlformats.org/drawingml/2006/main" noGrp="1"/>
          </p:cNvSpPr>
          <p:nvPr/>
        </p:nvSpPr>
        <p:spPr>
          <a:xfrm xmlns:a="http://schemas.openxmlformats.org/drawingml/2006/main">
            <a:off x="875601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991334E3-1407-4C63-B0D9-6B83B9E655AE}"/>
              </a:ext>
            </a:extLst>
          </p:cNvPr>
          <p:cNvSpPr>
            <a:spLocks xmlns:a="http://schemas.openxmlformats.org/drawingml/2006/main" noGrp="1"/>
          </p:cNvSpPr>
          <p:nvPr/>
        </p:nvSpPr>
        <p:spPr>
          <a:xfrm xmlns:a="http://schemas.openxmlformats.org/drawingml/2006/main">
            <a:off x="883221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43" name="">
            <a:extLst xmlns:a="http://schemas.openxmlformats.org/drawingml/2006/main">
              <a:ext uri="{FF2B5EF4-FFF2-40B4-BE49-F238E27FC236}">
                <a16:creationId xmlns:a16="http://schemas.microsoft.com/office/drawing/2014/main" id="{325A7E42-97C6-4227-A16A-FCF1ACF9459C}"/>
              </a:ext>
            </a:extLst>
          </p:cNvPr>
          <p:cNvSpPr>
            <a:spLocks xmlns:a="http://schemas.openxmlformats.org/drawingml/2006/main" noGrp="1"/>
          </p:cNvSpPr>
          <p:nvPr/>
        </p:nvSpPr>
        <p:spPr>
          <a:xfrm xmlns:a="http://schemas.openxmlformats.org/drawingml/2006/main">
            <a:off x="883221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Mining potential</a:t>
            </a:r>
          </a:p>
        </p:txBody>
      </p:sp>
      <p:sp>
        <p:nvSpPr>
          <p:cNvPr id="44" name="">
            <a:extLst xmlns:a="http://schemas.openxmlformats.org/drawingml/2006/main">
              <a:ext uri="{FF2B5EF4-FFF2-40B4-BE49-F238E27FC236}">
                <a16:creationId xmlns:a16="http://schemas.microsoft.com/office/drawing/2014/main" id="{D16190E5-A589-4091-B1C7-AA893ADBB422}"/>
              </a:ext>
            </a:extLst>
          </p:cNvPr>
          <p:cNvSpPr>
            <a:spLocks xmlns:a="http://schemas.openxmlformats.org/drawingml/2006/main" noGrp="1"/>
          </p:cNvSpPr>
          <p:nvPr/>
        </p:nvSpPr>
        <p:spPr>
          <a:xfrm xmlns:a="http://schemas.openxmlformats.org/drawingml/2006/main">
            <a:off x="457200" y="47180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5" name="">
            <a:extLst xmlns:a="http://schemas.openxmlformats.org/drawingml/2006/main">
              <a:ext uri="{FF2B5EF4-FFF2-40B4-BE49-F238E27FC236}">
                <a16:creationId xmlns:a16="http://schemas.microsoft.com/office/drawing/2014/main" id="{1C50F8DC-41DD-4FC0-B40E-1479A7A6222B}"/>
              </a:ext>
            </a:extLst>
          </p:cNvPr>
          <p:cNvSpPr>
            <a:spLocks xmlns:a="http://schemas.openxmlformats.org/drawingml/2006/main" noGrp="1"/>
          </p:cNvSpPr>
          <p:nvPr/>
        </p:nvSpPr>
        <p:spPr>
          <a:xfrm xmlns:a="http://schemas.openxmlformats.org/drawingml/2006/main">
            <a:off x="457200" y="47180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41393816-84ED-424F-90E0-1B1B39AB2686}"/>
              </a:ext>
            </a:extLst>
          </p:cNvPr>
          <p:cNvSpPr>
            <a:spLocks xmlns:a="http://schemas.openxmlformats.org/drawingml/2006/main" noGrp="1"/>
          </p:cNvSpPr>
          <p:nvPr/>
        </p:nvSpPr>
        <p:spPr>
          <a:xfrm xmlns:a="http://schemas.openxmlformats.org/drawingml/2006/main">
            <a:off x="58102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47" name="">
            <a:extLst xmlns:a="http://schemas.openxmlformats.org/drawingml/2006/main">
              <a:ext uri="{FF2B5EF4-FFF2-40B4-BE49-F238E27FC236}">
                <a16:creationId xmlns:a16="http://schemas.microsoft.com/office/drawing/2014/main" id="{93116C2D-8139-4192-969D-D47F4A36FC7C}"/>
              </a:ext>
            </a:extLst>
          </p:cNvPr>
          <p:cNvSpPr>
            <a:spLocks xmlns:a="http://schemas.openxmlformats.org/drawingml/2006/main" noGrp="1"/>
          </p:cNvSpPr>
          <p:nvPr/>
        </p:nvSpPr>
        <p:spPr>
          <a:xfrm xmlns:a="http://schemas.openxmlformats.org/drawingml/2006/main">
            <a:off x="581025" y="49339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Its advantage is workflow and fleet relationships, which convert directly into aftermarket sales but carry no weight in a nomination or a tender scored on qualification.</a:t>
            </a:r>
          </a:p>
        </p:txBody>
      </p:sp>
      <p:sp>
        <p:nvSpPr>
          <p:cNvPr id="48" name="">
            <a:extLst xmlns:a="http://schemas.openxmlformats.org/drawingml/2006/main">
              <a:ext uri="{FF2B5EF4-FFF2-40B4-BE49-F238E27FC236}">
                <a16:creationId xmlns:a16="http://schemas.microsoft.com/office/drawing/2014/main" id="{7258C0DD-F1AE-456C-8B39-A27BA8DD8096}"/>
              </a:ext>
            </a:extLst>
          </p:cNvPr>
          <p:cNvSpPr>
            <a:spLocks xmlns:a="http://schemas.openxmlformats.org/drawingml/2006/main" noGrp="1"/>
          </p:cNvSpPr>
          <p:nvPr/>
        </p:nvSpPr>
        <p:spPr>
          <a:xfrm xmlns:a="http://schemas.openxmlformats.org/drawingml/2006/main">
            <a:off x="6153150" y="47180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9" name="">
            <a:extLst xmlns:a="http://schemas.openxmlformats.org/drawingml/2006/main">
              <a:ext uri="{FF2B5EF4-FFF2-40B4-BE49-F238E27FC236}">
                <a16:creationId xmlns:a16="http://schemas.microsoft.com/office/drawing/2014/main" id="{54B8D49A-320E-473B-9255-4148054E30C2}"/>
              </a:ext>
            </a:extLst>
          </p:cNvPr>
          <p:cNvSpPr>
            <a:spLocks xmlns:a="http://schemas.openxmlformats.org/drawingml/2006/main" noGrp="1"/>
          </p:cNvSpPr>
          <p:nvPr/>
        </p:nvSpPr>
        <p:spPr>
          <a:xfrm xmlns:a="http://schemas.openxmlformats.org/drawingml/2006/main">
            <a:off x="6153150" y="47180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003E3740-9BA5-4A64-B6B0-3C328B9B1CA5}"/>
              </a:ext>
            </a:extLst>
          </p:cNvPr>
          <p:cNvSpPr>
            <a:spLocks xmlns:a="http://schemas.openxmlformats.org/drawingml/2006/main" noGrp="1"/>
          </p:cNvSpPr>
          <p:nvPr/>
        </p:nvSpPr>
        <p:spPr>
          <a:xfrm xmlns:a="http://schemas.openxmlformats.org/drawingml/2006/main">
            <a:off x="627697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51" name="">
            <a:extLst xmlns:a="http://schemas.openxmlformats.org/drawingml/2006/main">
              <a:ext uri="{FF2B5EF4-FFF2-40B4-BE49-F238E27FC236}">
                <a16:creationId xmlns:a16="http://schemas.microsoft.com/office/drawing/2014/main" id="{7F4B6EE6-CA2C-4A85-A0BE-ED51525B64DE}"/>
              </a:ext>
            </a:extLst>
          </p:cNvPr>
          <p:cNvSpPr>
            <a:spLocks xmlns:a="http://schemas.openxmlformats.org/drawingml/2006/main" noGrp="1"/>
          </p:cNvSpPr>
          <p:nvPr/>
        </p:nvSpPr>
        <p:spPr>
          <a:xfrm xmlns:a="http://schemas.openxmlformats.org/drawingml/2006/main">
            <a:off x="6276975" y="49339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Monday fleet and mining pipeline review.</a:t>
            </a:r>
          </a:p>
        </p:txBody>
      </p:sp>
      <p:sp>
        <p:nvSpPr>
          <p:cNvPr id="52" name="">
            <a:extLst xmlns:a="http://schemas.openxmlformats.org/drawingml/2006/main">
              <a:ext uri="{FF2B5EF4-FFF2-40B4-BE49-F238E27FC236}">
                <a16:creationId xmlns:a16="http://schemas.microsoft.com/office/drawing/2014/main" id="{96399F3F-AA87-4FF9-BA57-60C6D3F96A40}"/>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B52DFADC-6957-4504-A877-B0BAD957D4ED}"/>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53FE7E14-F04F-4DAD-879F-6F46C548885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55" name="">
            <a:extLst xmlns:a="http://schemas.openxmlformats.org/drawingml/2006/main">
              <a:ext uri="{FF2B5EF4-FFF2-40B4-BE49-F238E27FC236}">
                <a16:creationId xmlns:a16="http://schemas.microsoft.com/office/drawing/2014/main" id="{860671B2-8737-4558-B80A-F89B03DF131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Prioritise competitive response in fleet and mining pipeline reviews Monday</a:t>
            </a:r>
          </a:p>
        </p:txBody>
      </p:sp>
      <p:sp>
        <p:nvSpPr>
          <p:cNvPr id="56" name="">
            <a:extLst xmlns:a="http://schemas.openxmlformats.org/drawingml/2006/main">
              <a:ext uri="{FF2B5EF4-FFF2-40B4-BE49-F238E27FC236}">
                <a16:creationId xmlns:a16="http://schemas.microsoft.com/office/drawing/2014/main" id="{2FB5FFD8-AC21-4C9F-943E-E09BD382A8D6}"/>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57" name="">
            <a:extLst xmlns:a="http://schemas.openxmlformats.org/drawingml/2006/main">
              <a:ext uri="{FF2B5EF4-FFF2-40B4-BE49-F238E27FC236}">
                <a16:creationId xmlns:a16="http://schemas.microsoft.com/office/drawing/2014/main" id="{59ECB3AD-80A0-478A-82C7-DB58117595F2}"/>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Monday fleet and mining pipeline review.</a:t>
            </a:r>
          </a:p>
        </p:txBody>
      </p:sp>
      <p:sp>
        <p:nvSpPr>
          <p:cNvPr id="58" name="">
            <a:extLst xmlns:a="http://schemas.openxmlformats.org/drawingml/2006/main">
              <a:ext uri="{FF2B5EF4-FFF2-40B4-BE49-F238E27FC236}">
                <a16:creationId xmlns:a16="http://schemas.microsoft.com/office/drawing/2014/main" id="{F6C501C7-4E5A-4101-98C9-B6ED63C0D3C3}"/>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9" name="">
            <a:extLst xmlns:a="http://schemas.openxmlformats.org/drawingml/2006/main">
              <a:ext uri="{FF2B5EF4-FFF2-40B4-BE49-F238E27FC236}">
                <a16:creationId xmlns:a16="http://schemas.microsoft.com/office/drawing/2014/main" id="{5DF72F59-70ED-40C3-941A-665D77F29C83}"/>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any drivebuddyAI OEM or government award.</a:t>
            </a:r>
          </a:p>
        </p:txBody>
      </p:sp>
      <p:sp>
        <p:nvSpPr>
          <p:cNvPr id="60" name="">
            <a:extLst xmlns:a="http://schemas.openxmlformats.org/drawingml/2006/main">
              <a:ext uri="{FF2B5EF4-FFF2-40B4-BE49-F238E27FC236}">
                <a16:creationId xmlns:a16="http://schemas.microsoft.com/office/drawing/2014/main" id="{D0BDDCA6-9554-48D5-BB09-E4C4D146DFD5}"/>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E5FB22FF-91C8-461F-BEBD-2542410B6343}"/>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2" name="">
            <a:extLst xmlns:a="http://schemas.openxmlformats.org/drawingml/2006/main">
              <a:ext uri="{FF2B5EF4-FFF2-40B4-BE49-F238E27FC236}">
                <a16:creationId xmlns:a16="http://schemas.microsoft.com/office/drawing/2014/main" id="{533C8042-9C7B-4C34-A1C3-AFB3577B2BA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49</a:t>
            </a:r>
          </a:p>
        </p:txBody>
      </p:sp>
    </p:spTree>
    <p:extLst>
      <p:ext uri="{BB962C8B-B14F-4D97-AF65-F5344CB8AC3E}">
        <p14:creationId xmlns:p14="http://schemas.microsoft.com/office/powerpoint/2010/main" val="1524270039"/>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3DF8E035-1A54-41B1-B2F1-63F91C05D85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A62C1CA-FACC-4F26-A970-1DD38B73187B}"/>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556A683-A4C5-4200-B8F8-063BDBFFBF82}"/>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AA1FD565-A91A-42FB-93DE-2EA24AC6870A}"/>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ECD9E9A5-CD84-4413-A730-3FC7C79B18D7}"/>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Verify drivebuddyAI's deployment gates; fund paid-fleet pilot if VRU value is provable</a:t>
            </a:r>
          </a:p>
        </p:txBody>
      </p:sp>
      <p:sp>
        <p:nvSpPr>
          <p:cNvPr id="6" name="">
            <a:extLst xmlns:a="http://schemas.openxmlformats.org/drawingml/2006/main">
              <a:ext uri="{FF2B5EF4-FFF2-40B4-BE49-F238E27FC236}">
                <a16:creationId xmlns:a16="http://schemas.microsoft.com/office/drawing/2014/main" id="{2EE13A7F-ED25-4C9A-BA87-8C6CC567EE42}"/>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4A7592D-6512-47E2-A3A7-E8252E3546B9}"/>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response should DeepGrid fund, and which observable evidence should determine escalation?</a:t>
            </a:r>
          </a:p>
        </p:txBody>
      </p:sp>
      <p:sp>
        <p:nvSpPr>
          <p:cNvPr id="8" name="">
            <a:extLst xmlns:a="http://schemas.openxmlformats.org/drawingml/2006/main">
              <a:ext uri="{FF2B5EF4-FFF2-40B4-BE49-F238E27FC236}">
                <a16:creationId xmlns:a16="http://schemas.microsoft.com/office/drawing/2014/main" id="{68D22290-7802-479E-8E31-504DD81851E0}"/>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0FBE1E13-04BD-4B18-ABD1-D5A3835662A9}"/>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286F195-3A8B-45BC-8375-A7075D3F1862}"/>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8ADAEF1E-0D62-403B-94B6-D816F39B06AE}"/>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Verify the deployment gates — customer identity, live vehicle count, rollout and revenue recognition — and fund a paid-fleet pilot only where a VRU improvement is provable.</a:t>
            </a:r>
          </a:p>
        </p:txBody>
      </p:sp>
      <p:sp>
        <p:nvSpPr>
          <p:cNvPr id="12" name="">
            <a:extLst xmlns:a="http://schemas.openxmlformats.org/drawingml/2006/main">
              <a:ext uri="{FF2B5EF4-FFF2-40B4-BE49-F238E27FC236}">
                <a16:creationId xmlns:a16="http://schemas.microsoft.com/office/drawing/2014/main" id="{AC64521C-7956-4D6E-9950-93E391C2A2CF}"/>
              </a:ext>
            </a:extLst>
          </p:cNvPr>
          <p:cNvSpPr>
            <a:spLocks xmlns:a="http://schemas.openxmlformats.org/drawingml/2006/main" noGrp="1"/>
          </p:cNvSpPr>
          <p:nvPr/>
        </p:nvSpPr>
        <p:spPr>
          <a:xfrm xmlns:a="http://schemas.openxmlformats.org/drawingml/2006/main">
            <a:off x="457200"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FF6A338E-EB96-436E-9146-A49D17D338CB}"/>
              </a:ext>
            </a:extLst>
          </p:cNvPr>
          <p:cNvSpPr>
            <a:spLocks xmlns:a="http://schemas.openxmlformats.org/drawingml/2006/main" noGrp="1"/>
          </p:cNvSpPr>
          <p:nvPr/>
        </p:nvSpPr>
        <p:spPr>
          <a:xfrm xmlns:a="http://schemas.openxmlformats.org/drawingml/2006/main">
            <a:off x="457200"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792315C-75CC-4699-9493-CE491FF3543C}"/>
              </a:ext>
            </a:extLst>
          </p:cNvPr>
          <p:cNvSpPr>
            <a:spLocks xmlns:a="http://schemas.openxmlformats.org/drawingml/2006/main" noGrp="1"/>
          </p:cNvSpPr>
          <p:nvPr/>
        </p:nvSpPr>
        <p:spPr>
          <a:xfrm xmlns:a="http://schemas.openxmlformats.org/drawingml/2006/main">
            <a:off x="571500"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2C78599F-7623-4488-B259-341C3EA84F9C}"/>
              </a:ext>
            </a:extLst>
          </p:cNvPr>
          <p:cNvSpPr>
            <a:spLocks xmlns:a="http://schemas.openxmlformats.org/drawingml/2006/main" noGrp="1"/>
          </p:cNvSpPr>
          <p:nvPr/>
        </p:nvSpPr>
        <p:spPr>
          <a:xfrm xmlns:a="http://schemas.openxmlformats.org/drawingml/2006/main">
            <a:off x="819150"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PROPOSED PROPOSITION</a:t>
            </a:r>
          </a:p>
        </p:txBody>
      </p:sp>
      <p:sp>
        <p:nvSpPr>
          <p:cNvPr id="16" name="">
            <a:extLst xmlns:a="http://schemas.openxmlformats.org/drawingml/2006/main">
              <a:ext uri="{FF2B5EF4-FFF2-40B4-BE49-F238E27FC236}">
                <a16:creationId xmlns:a16="http://schemas.microsoft.com/office/drawing/2014/main" id="{F635B85E-0529-4630-87C2-D617E9E8D034}"/>
              </a:ext>
            </a:extLst>
          </p:cNvPr>
          <p:cNvSpPr>
            <a:spLocks xmlns:a="http://schemas.openxmlformats.org/drawingml/2006/main" noGrp="1"/>
          </p:cNvSpPr>
          <p:nvPr/>
        </p:nvSpPr>
        <p:spPr>
          <a:xfrm xmlns:a="http://schemas.openxmlformats.org/drawingml/2006/main">
            <a:off x="571500"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reported six-camera proposition combines driver identity, attendance, behavior, video evidence, and intervention capabilities for fleet workflows. Six-camera workflow Identity + attenda…</a:t>
            </a:r>
          </a:p>
        </p:txBody>
      </p:sp>
      <p:sp>
        <p:nvSpPr>
          <p:cNvPr id="17" name="">
            <a:extLst xmlns:a="http://schemas.openxmlformats.org/drawingml/2006/main">
              <a:ext uri="{FF2B5EF4-FFF2-40B4-BE49-F238E27FC236}">
                <a16:creationId xmlns:a16="http://schemas.microsoft.com/office/drawing/2014/main" id="{C3E99AEE-20BE-4C03-8CAD-FF938EF4A487}"/>
              </a:ext>
            </a:extLst>
          </p:cNvPr>
          <p:cNvSpPr>
            <a:spLocks xmlns:a="http://schemas.openxmlformats.org/drawingml/2006/main" noGrp="1"/>
          </p:cNvSpPr>
          <p:nvPr/>
        </p:nvSpPr>
        <p:spPr>
          <a:xfrm xmlns:a="http://schemas.openxmlformats.org/drawingml/2006/main">
            <a:off x="3119438"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FE121AA-DAE9-43FD-AF6E-E7554F524227}"/>
              </a:ext>
            </a:extLst>
          </p:cNvPr>
          <p:cNvSpPr>
            <a:spLocks xmlns:a="http://schemas.openxmlformats.org/drawingml/2006/main" noGrp="1"/>
          </p:cNvSpPr>
          <p:nvPr/>
        </p:nvSpPr>
        <p:spPr>
          <a:xfrm xmlns:a="http://schemas.openxmlformats.org/drawingml/2006/main">
            <a:off x="3348038"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DAD025D1-6AD0-4087-8CB1-00F5C52B8E07}"/>
              </a:ext>
            </a:extLst>
          </p:cNvPr>
          <p:cNvSpPr>
            <a:spLocks xmlns:a="http://schemas.openxmlformats.org/drawingml/2006/main" noGrp="1"/>
          </p:cNvSpPr>
          <p:nvPr/>
        </p:nvSpPr>
        <p:spPr>
          <a:xfrm xmlns:a="http://schemas.openxmlformats.org/drawingml/2006/main">
            <a:off x="3348038"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CC4634E-4546-4388-B967-2426E05D5C8A}"/>
              </a:ext>
            </a:extLst>
          </p:cNvPr>
          <p:cNvSpPr>
            <a:spLocks xmlns:a="http://schemas.openxmlformats.org/drawingml/2006/main" noGrp="1"/>
          </p:cNvSpPr>
          <p:nvPr/>
        </p:nvSpPr>
        <p:spPr>
          <a:xfrm xmlns:a="http://schemas.openxmlformats.org/drawingml/2006/main">
            <a:off x="3462338"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7D440159-343B-482D-B471-673D3818812B}"/>
              </a:ext>
            </a:extLst>
          </p:cNvPr>
          <p:cNvSpPr>
            <a:spLocks xmlns:a="http://schemas.openxmlformats.org/drawingml/2006/main" noGrp="1"/>
          </p:cNvSpPr>
          <p:nvPr/>
        </p:nvSpPr>
        <p:spPr>
          <a:xfrm xmlns:a="http://schemas.openxmlformats.org/drawingml/2006/main">
            <a:off x="3709988"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COMPETITIVE MECHANISM</a:t>
            </a:r>
          </a:p>
        </p:txBody>
      </p:sp>
      <p:sp>
        <p:nvSpPr>
          <p:cNvPr id="22" name="">
            <a:extLst xmlns:a="http://schemas.openxmlformats.org/drawingml/2006/main">
              <a:ext uri="{FF2B5EF4-FFF2-40B4-BE49-F238E27FC236}">
                <a16:creationId xmlns:a16="http://schemas.microsoft.com/office/drawing/2014/main" id="{F5413127-E0A0-4C1B-9C79-665B6FB125D1}"/>
              </a:ext>
            </a:extLst>
          </p:cNvPr>
          <p:cNvSpPr>
            <a:spLocks xmlns:a="http://schemas.openxmlformats.org/drawingml/2006/main" noGrp="1"/>
          </p:cNvSpPr>
          <p:nvPr/>
        </p:nvSpPr>
        <p:spPr>
          <a:xfrm xmlns:a="http://schemas.openxmlformats.org/drawingml/2006/main">
            <a:off x="3462338"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Workflow ROI and serviceability may enable hardware-plus-telematics monetization earlier than full AEBS homologation. Workflow ROI analysis Serviceability metrics Telematics monetization</a:t>
            </a:r>
          </a:p>
        </p:txBody>
      </p:sp>
      <p:sp>
        <p:nvSpPr>
          <p:cNvPr id="23" name="">
            <a:extLst xmlns:a="http://schemas.openxmlformats.org/drawingml/2006/main">
              <a:ext uri="{FF2B5EF4-FFF2-40B4-BE49-F238E27FC236}">
                <a16:creationId xmlns:a16="http://schemas.microsoft.com/office/drawing/2014/main" id="{EFC2B974-FBFC-4FF5-A501-E2DCA7A29C64}"/>
              </a:ext>
            </a:extLst>
          </p:cNvPr>
          <p:cNvSpPr>
            <a:spLocks xmlns:a="http://schemas.openxmlformats.org/drawingml/2006/main" noGrp="1"/>
          </p:cNvSpPr>
          <p:nvPr/>
        </p:nvSpPr>
        <p:spPr>
          <a:xfrm xmlns:a="http://schemas.openxmlformats.org/drawingml/2006/main">
            <a:off x="6010275"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EB2328E-685B-47B1-A933-B035249A614D}"/>
              </a:ext>
            </a:extLst>
          </p:cNvPr>
          <p:cNvSpPr>
            <a:spLocks xmlns:a="http://schemas.openxmlformats.org/drawingml/2006/main" noGrp="1"/>
          </p:cNvSpPr>
          <p:nvPr/>
        </p:nvSpPr>
        <p:spPr>
          <a:xfrm xmlns:a="http://schemas.openxmlformats.org/drawingml/2006/main">
            <a:off x="6238875"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ED098F5B-891C-499D-9088-C3BA6835C1E2}"/>
              </a:ext>
            </a:extLst>
          </p:cNvPr>
          <p:cNvSpPr>
            <a:spLocks xmlns:a="http://schemas.openxmlformats.org/drawingml/2006/main" noGrp="1"/>
          </p:cNvSpPr>
          <p:nvPr/>
        </p:nvSpPr>
        <p:spPr>
          <a:xfrm xmlns:a="http://schemas.openxmlformats.org/drawingml/2006/main">
            <a:off x="6238875"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8E90021-0114-4EB9-BA2E-F4C84808A95B}"/>
              </a:ext>
            </a:extLst>
          </p:cNvPr>
          <p:cNvSpPr>
            <a:spLocks xmlns:a="http://schemas.openxmlformats.org/drawingml/2006/main" noGrp="1"/>
          </p:cNvSpPr>
          <p:nvPr/>
        </p:nvSpPr>
        <p:spPr>
          <a:xfrm xmlns:a="http://schemas.openxmlformats.org/drawingml/2006/main">
            <a:off x="6353175"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CB03D3C8-09B1-4782-ADC4-B3BB44538ECC}"/>
              </a:ext>
            </a:extLst>
          </p:cNvPr>
          <p:cNvSpPr>
            <a:spLocks xmlns:a="http://schemas.openxmlformats.org/drawingml/2006/main" noGrp="1"/>
          </p:cNvSpPr>
          <p:nvPr/>
        </p:nvSpPr>
        <p:spPr>
          <a:xfrm xmlns:a="http://schemas.openxmlformats.org/drawingml/2006/main">
            <a:off x="6600825"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EVIDENCE VERIFICATION</a:t>
            </a:r>
          </a:p>
        </p:txBody>
      </p:sp>
      <p:sp>
        <p:nvSpPr>
          <p:cNvPr id="28" name="">
            <a:extLst xmlns:a="http://schemas.openxmlformats.org/drawingml/2006/main">
              <a:ext uri="{FF2B5EF4-FFF2-40B4-BE49-F238E27FC236}">
                <a16:creationId xmlns:a16="http://schemas.microsoft.com/office/drawing/2014/main" id="{82C17DA3-93F5-4571-BEE1-E176ADC84D76}"/>
              </a:ext>
            </a:extLst>
          </p:cNvPr>
          <p:cNvSpPr>
            <a:spLocks xmlns:a="http://schemas.openxmlformats.org/drawingml/2006/main" noGrp="1"/>
          </p:cNvSpPr>
          <p:nvPr/>
        </p:nvSpPr>
        <p:spPr>
          <a:xfrm xmlns:a="http://schemas.openxmlformats.org/drawingml/2006/main">
            <a:off x="6353175"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Verify customer, live count, rollout, revenue recognition, installer capacity, uptime, and service quality metrics. Customer verification Live vehicle count Uptime validation</a:t>
            </a:r>
          </a:p>
        </p:txBody>
      </p:sp>
      <p:sp>
        <p:nvSpPr>
          <p:cNvPr id="29" name="">
            <a:extLst xmlns:a="http://schemas.openxmlformats.org/drawingml/2006/main">
              <a:ext uri="{FF2B5EF4-FFF2-40B4-BE49-F238E27FC236}">
                <a16:creationId xmlns:a16="http://schemas.microsoft.com/office/drawing/2014/main" id="{43BC7FB3-8B71-4972-ADB3-E6763D9EB9B2}"/>
              </a:ext>
            </a:extLst>
          </p:cNvPr>
          <p:cNvSpPr>
            <a:spLocks xmlns:a="http://schemas.openxmlformats.org/drawingml/2006/main" noGrp="1"/>
          </p:cNvSpPr>
          <p:nvPr/>
        </p:nvSpPr>
        <p:spPr>
          <a:xfrm xmlns:a="http://schemas.openxmlformats.org/drawingml/2006/main">
            <a:off x="8901113"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7D2EFAE-5C9F-4D08-8564-46CA413D0F2F}"/>
              </a:ext>
            </a:extLst>
          </p:cNvPr>
          <p:cNvSpPr>
            <a:spLocks xmlns:a="http://schemas.openxmlformats.org/drawingml/2006/main" noGrp="1"/>
          </p:cNvSpPr>
          <p:nvPr/>
        </p:nvSpPr>
        <p:spPr>
          <a:xfrm xmlns:a="http://schemas.openxmlformats.org/drawingml/2006/main">
            <a:off x="9129713"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8A21FA8D-D58D-48BE-B7EC-0C3177251A1C}"/>
              </a:ext>
            </a:extLst>
          </p:cNvPr>
          <p:cNvSpPr>
            <a:spLocks xmlns:a="http://schemas.openxmlformats.org/drawingml/2006/main" noGrp="1"/>
          </p:cNvSpPr>
          <p:nvPr/>
        </p:nvSpPr>
        <p:spPr>
          <a:xfrm xmlns:a="http://schemas.openxmlformats.org/drawingml/2006/main">
            <a:off x="9129713" y="21526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E20A479-CA09-4BA1-87AC-3E5076F82C43}"/>
              </a:ext>
            </a:extLst>
          </p:cNvPr>
          <p:cNvSpPr>
            <a:spLocks xmlns:a="http://schemas.openxmlformats.org/drawingml/2006/main" noGrp="1"/>
          </p:cNvSpPr>
          <p:nvPr/>
        </p:nvSpPr>
        <p:spPr>
          <a:xfrm xmlns:a="http://schemas.openxmlformats.org/drawingml/2006/main">
            <a:off x="9244013"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86E96F5C-ABD3-4D8E-95BC-E160518D6E42}"/>
              </a:ext>
            </a:extLst>
          </p:cNvPr>
          <p:cNvSpPr>
            <a:spLocks xmlns:a="http://schemas.openxmlformats.org/drawingml/2006/main" noGrp="1"/>
          </p:cNvSpPr>
          <p:nvPr/>
        </p:nvSpPr>
        <p:spPr>
          <a:xfrm xmlns:a="http://schemas.openxmlformats.org/drawingml/2006/main">
            <a:off x="9491663"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424D61A6-364C-459B-85FE-98036F8953C3}"/>
              </a:ext>
            </a:extLst>
          </p:cNvPr>
          <p:cNvSpPr>
            <a:spLocks xmlns:a="http://schemas.openxmlformats.org/drawingml/2006/main" noGrp="1"/>
          </p:cNvSpPr>
          <p:nvPr/>
        </p:nvSpPr>
        <p:spPr>
          <a:xfrm xmlns:a="http://schemas.openxmlformats.org/drawingml/2006/main">
            <a:off x="9244013"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One fleet signs a paid pilot and drivebuddyAI evidence confirms deployment gates are met. Paid pilot signed Deployment verified Value proven</a:t>
            </a:r>
          </a:p>
        </p:txBody>
      </p:sp>
      <p:sp>
        <p:nvSpPr>
          <p:cNvPr id="35" name="">
            <a:extLst xmlns:a="http://schemas.openxmlformats.org/drawingml/2006/main">
              <a:ext uri="{FF2B5EF4-FFF2-40B4-BE49-F238E27FC236}">
                <a16:creationId xmlns:a16="http://schemas.microsoft.com/office/drawing/2014/main" id="{ADF1DCB1-968A-4E1D-89BD-D7BCDEA48612}"/>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E24AC478-AD4B-449B-8CB7-9BD4896C991A}"/>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00014D2-506B-4A22-AD80-4D4B0258D605}"/>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92D92E18-1B3A-4587-B548-4E52CD563275}"/>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pilot is worth funding only if perception, rather than telematics, is what improves the fleet's safety and claims outcome. Verifying the gates first determines whether that question is even live.</a:t>
            </a:r>
          </a:p>
        </p:txBody>
      </p:sp>
      <p:sp>
        <p:nvSpPr>
          <p:cNvPr id="39" name="">
            <a:extLst xmlns:a="http://schemas.openxmlformats.org/drawingml/2006/main">
              <a:ext uri="{FF2B5EF4-FFF2-40B4-BE49-F238E27FC236}">
                <a16:creationId xmlns:a16="http://schemas.microsoft.com/office/drawing/2014/main" id="{B7DCB658-A8B3-4A8B-9E00-E2190305632B}"/>
              </a:ext>
            </a:extLst>
          </p:cNvPr>
          <p:cNvSpPr>
            <a:spLocks xmlns:a="http://schemas.openxmlformats.org/drawingml/2006/main" noGrp="1"/>
          </p:cNvSpPr>
          <p:nvPr/>
        </p:nvSpPr>
        <p:spPr>
          <a:xfrm xmlns:a="http://schemas.openxmlformats.org/drawingml/2006/main">
            <a:off x="6153150" y="472440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3DD0EE6F-C7A7-4D5E-AFA0-F7E2594DCB78}"/>
              </a:ext>
            </a:extLst>
          </p:cNvPr>
          <p:cNvSpPr>
            <a:spLocks xmlns:a="http://schemas.openxmlformats.org/drawingml/2006/main" noGrp="1"/>
          </p:cNvSpPr>
          <p:nvPr/>
        </p:nvSpPr>
        <p:spPr>
          <a:xfrm xmlns:a="http://schemas.openxmlformats.org/drawingml/2006/main">
            <a:off x="6153150" y="47244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F961C7E5-E56F-4408-A544-EB1EB1B0E04E}"/>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A07B2FED-657D-46E9-B7F6-9C7720473D85}"/>
              </a:ext>
            </a:extLst>
          </p:cNvPr>
          <p:cNvSpPr>
            <a:spLocks xmlns:a="http://schemas.openxmlformats.org/drawingml/2006/main" noGrp="1"/>
          </p:cNvSpPr>
          <p:nvPr/>
        </p:nvSpPr>
        <p:spPr>
          <a:xfrm xmlns:a="http://schemas.openxmlformats.org/drawingml/2006/main">
            <a:off x="6276975" y="49403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or redesign if the pilot shows no measurable safety or claims improvement.</a:t>
            </a:r>
          </a:p>
        </p:txBody>
      </p:sp>
      <p:sp>
        <p:nvSpPr>
          <p:cNvPr id="43" name="">
            <a:extLst xmlns:a="http://schemas.openxmlformats.org/drawingml/2006/main">
              <a:ext uri="{FF2B5EF4-FFF2-40B4-BE49-F238E27FC236}">
                <a16:creationId xmlns:a16="http://schemas.microsoft.com/office/drawing/2014/main" id="{E6902663-325C-4C4A-86EE-83BD2EBCDCDA}"/>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46290C29-F9BE-448E-9313-3DACA12441D9}"/>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DB07CD9-0D1D-447A-9ABC-AF57E4CC407A}"/>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78CA9041-7A11-4D87-A43D-0EE8B0C3E68D}"/>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Sales to approach three fleets Monday with a paid pilot proposal</a:t>
            </a:r>
          </a:p>
        </p:txBody>
      </p:sp>
      <p:sp>
        <p:nvSpPr>
          <p:cNvPr id="47" name="">
            <a:extLst xmlns:a="http://schemas.openxmlformats.org/drawingml/2006/main">
              <a:ext uri="{FF2B5EF4-FFF2-40B4-BE49-F238E27FC236}">
                <a16:creationId xmlns:a16="http://schemas.microsoft.com/office/drawing/2014/main" id="{2EC30F63-0433-4DF3-98FB-107DBA40CDEE}"/>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42A285E6-4ACF-4BBB-BCB3-EB30491A1222}"/>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Sales</a:t>
            </a:r>
          </a:p>
          <a:p xmlns:a="http://schemas.openxmlformats.org/drawingml/2006/main">
            <a:pPr algn="l">
              <a:defRPr sz="800">
                <a:solidFill>
                  <a:srgbClr val="8EA0B2"/>
                </a:solidFill>
                <a:latin typeface="Arial"/>
                <a:ea typeface="Arial"/>
                <a:cs typeface="Arial"/>
              </a:defRPr>
            </a:pPr>
            <a:r>
              <a:t>Trigger · Proceed when one fleet signs paid pilot + verified deployment gates</a:t>
            </a:r>
          </a:p>
        </p:txBody>
      </p:sp>
      <p:sp>
        <p:nvSpPr>
          <p:cNvPr id="49" name="">
            <a:extLst xmlns:a="http://schemas.openxmlformats.org/drawingml/2006/main">
              <a:ext uri="{FF2B5EF4-FFF2-40B4-BE49-F238E27FC236}">
                <a16:creationId xmlns:a16="http://schemas.microsoft.com/office/drawing/2014/main" id="{471CBF8F-6D98-4008-9798-4B01CA171987}"/>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94B21B4A-9C85-41A0-B897-E571F365B142}"/>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or redesign if the pilot shows no measurable safety or claims improvement.</a:t>
            </a:r>
          </a:p>
        </p:txBody>
      </p:sp>
      <p:sp>
        <p:nvSpPr>
          <p:cNvPr id="51" name="">
            <a:extLst xmlns:a="http://schemas.openxmlformats.org/drawingml/2006/main">
              <a:ext uri="{FF2B5EF4-FFF2-40B4-BE49-F238E27FC236}">
                <a16:creationId xmlns:a16="http://schemas.microsoft.com/office/drawing/2014/main" id="{E192F560-DEC2-4024-BA2E-C375440FCA6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6AC003D3-9548-4D60-BB3D-BEDF27BB2A9E}"/>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E2839530-A04F-47FD-BDF2-FB62180E0AB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50</a:t>
            </a:r>
          </a:p>
        </p:txBody>
      </p:sp>
    </p:spTree>
    <p:extLst>
      <p:ext uri="{BB962C8B-B14F-4D97-AF65-F5344CB8AC3E}">
        <p14:creationId xmlns:p14="http://schemas.microsoft.com/office/powerpoint/2010/main" val="648914056"/>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D926043D-EA62-424E-B05D-6A2408C8B62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88CD44F-6998-49D3-A442-463BC4305EB9}"/>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9F57C94-B2D2-4622-97E1-EEC3AADF5FEC}"/>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19EB9AA9-6B88-4DC8-B5BA-E51FEED1F749}"/>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C2600157-AAD8-4E02-8348-F3067A1D0A0E}"/>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drivebuddyAI: Raise on operational delivery; lower on delays or poor uptime</a:t>
            </a:r>
          </a:p>
        </p:txBody>
      </p:sp>
      <p:sp>
        <p:nvSpPr>
          <p:cNvPr id="6" name="">
            <a:extLst xmlns:a="http://schemas.openxmlformats.org/drawingml/2006/main">
              <a:ext uri="{FF2B5EF4-FFF2-40B4-BE49-F238E27FC236}">
                <a16:creationId xmlns:a16="http://schemas.microsoft.com/office/drawing/2014/main" id="{5268CA8A-1E62-4694-94BA-186806D6D856}"/>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4FD3A7D-D012-4B02-9572-56AC15F9A9E6}"/>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evidence would materially raise or lower drivebuddyAI's threat rating?</a:t>
            </a:r>
          </a:p>
        </p:txBody>
      </p:sp>
      <p:sp>
        <p:nvSpPr>
          <p:cNvPr id="8" name="">
            <a:extLst xmlns:a="http://schemas.openxmlformats.org/drawingml/2006/main">
              <a:ext uri="{FF2B5EF4-FFF2-40B4-BE49-F238E27FC236}">
                <a16:creationId xmlns:a16="http://schemas.microsoft.com/office/drawing/2014/main" id="{56F99BA6-327A-44FF-9FA2-983CC514EF0E}"/>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5326692E-3A1A-40F0-B99E-2DC898169D44}"/>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FA9B495-3A73-4402-9EE2-F2EF443E2601}"/>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754CD085-F4D3-4AFD-B6DE-797F7D180C7D}"/>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proposition may monetise identity, attendance, behaviour, video evidence and intervention before full AEBS homologation; however, the supplied record does not independently establish live deployment scale or performance metrics.</a:t>
            </a:r>
          </a:p>
        </p:txBody>
      </p:sp>
      <p:sp>
        <p:nvSpPr>
          <p:cNvPr id="12" name="">
            <a:extLst xmlns:a="http://schemas.openxmlformats.org/drawingml/2006/main">
              <a:ext uri="{FF2B5EF4-FFF2-40B4-BE49-F238E27FC236}">
                <a16:creationId xmlns:a16="http://schemas.microsoft.com/office/drawing/2014/main" id="{C22278C1-8579-4269-B86C-EE017D54F1CF}"/>
              </a:ext>
            </a:extLst>
          </p:cNvPr>
          <p:cNvSpPr>
            <a:spLocks xmlns:a="http://schemas.openxmlformats.org/drawingml/2006/main" noGrp="1"/>
          </p:cNvSpPr>
          <p:nvPr/>
        </p:nvSpPr>
        <p:spPr>
          <a:xfrm xmlns:a="http://schemas.openxmlformats.org/drawingml/2006/main">
            <a:off x="45720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DF5CEF94-527A-4ACC-82E7-CD970DE44392}"/>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E51D123-6775-4788-9E73-A2179F92AE83}"/>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55C877E1-5014-44BA-B120-CD59363B0F51}"/>
              </a:ext>
            </a:extLst>
          </p:cNvPr>
          <p:cNvSpPr>
            <a:spLocks xmlns:a="http://schemas.openxmlformats.org/drawingml/2006/main" noGrp="1"/>
          </p:cNvSpPr>
          <p:nvPr/>
        </p:nvSpPr>
        <p:spPr>
          <a:xfrm xmlns:a="http://schemas.openxmlformats.org/drawingml/2006/main">
            <a:off x="5715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 proposition may monetise identity, attendance, behaviour, video evidence and intervention before full AEBS homologation; however, the supplied record does not independently establish live deployment scale or performance metrics.</a:t>
            </a:r>
          </a:p>
        </p:txBody>
      </p:sp>
      <p:sp>
        <p:nvSpPr>
          <p:cNvPr id="16" name="">
            <a:extLst xmlns:a="http://schemas.openxmlformats.org/drawingml/2006/main">
              <a:ext uri="{FF2B5EF4-FFF2-40B4-BE49-F238E27FC236}">
                <a16:creationId xmlns:a16="http://schemas.microsoft.com/office/drawing/2014/main" id="{2A471C93-C5F3-4EB5-A07B-0ECD46E30DC8}"/>
              </a:ext>
            </a:extLst>
          </p:cNvPr>
          <p:cNvSpPr>
            <a:spLocks xmlns:a="http://schemas.openxmlformats.org/drawingml/2006/main" noGrp="1"/>
          </p:cNvSpPr>
          <p:nvPr/>
        </p:nvSpPr>
        <p:spPr>
          <a:xfrm xmlns:a="http://schemas.openxmlformats.org/drawingml/2006/main">
            <a:off x="424815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A5A35703-EEC8-4E9F-893B-4778E24D433D}"/>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3FA3C97-0666-40AD-9F81-B8E7FE07E077}"/>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E26E2E59-CA39-433C-82F6-9A20AD3D48AD}"/>
              </a:ext>
            </a:extLst>
          </p:cNvPr>
          <p:cNvSpPr>
            <a:spLocks xmlns:a="http://schemas.openxmlformats.org/drawingml/2006/main" noGrp="1"/>
          </p:cNvSpPr>
          <p:nvPr/>
        </p:nvSpPr>
        <p:spPr>
          <a:xfrm xmlns:a="http://schemas.openxmlformats.org/drawingml/2006/main">
            <a:off x="436245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Workflow monetisation may sustain the business regardless of perception quality, so poor uptime would lower the technical threat without lowering the commercial one.</a:t>
            </a:r>
          </a:p>
        </p:txBody>
      </p:sp>
      <p:sp>
        <p:nvSpPr>
          <p:cNvPr id="20" name="">
            <a:extLst xmlns:a="http://schemas.openxmlformats.org/drawingml/2006/main">
              <a:ext uri="{FF2B5EF4-FFF2-40B4-BE49-F238E27FC236}">
                <a16:creationId xmlns:a16="http://schemas.microsoft.com/office/drawing/2014/main" id="{56A55DBE-899F-4BA0-B72B-777CB36F4F18}"/>
              </a:ext>
            </a:extLst>
          </p:cNvPr>
          <p:cNvSpPr>
            <a:spLocks xmlns:a="http://schemas.openxmlformats.org/drawingml/2006/main" noGrp="1"/>
          </p:cNvSpPr>
          <p:nvPr/>
        </p:nvSpPr>
        <p:spPr>
          <a:xfrm xmlns:a="http://schemas.openxmlformats.org/drawingml/2006/main">
            <a:off x="803910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70599614-14A2-46D6-9F13-A9A0B229ED93}"/>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2F857DD-20CB-4E28-87DA-705843F3454D}"/>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50DEF5D0-D566-4CFF-8F1C-A32AB14A5ADA}"/>
              </a:ext>
            </a:extLst>
          </p:cNvPr>
          <p:cNvSpPr>
            <a:spLocks xmlns:a="http://schemas.openxmlformats.org/drawingml/2006/main" noGrp="1"/>
          </p:cNvSpPr>
          <p:nvPr/>
        </p:nvSpPr>
        <p:spPr>
          <a:xfrm xmlns:a="http://schemas.openxmlformats.org/drawingml/2006/main">
            <a:off x="81534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Benchmark on Evidence Benchmark drivebuddyAI on paid operating evidence; differentiate DGS001 through measured VRU performance</a:t>
            </a:r>
          </a:p>
        </p:txBody>
      </p:sp>
      <p:sp>
        <p:nvSpPr>
          <p:cNvPr id="24" name="">
            <a:extLst xmlns:a="http://schemas.openxmlformats.org/drawingml/2006/main">
              <a:ext uri="{FF2B5EF4-FFF2-40B4-BE49-F238E27FC236}">
                <a16:creationId xmlns:a16="http://schemas.microsoft.com/office/drawing/2014/main" id="{1C28A38D-46BB-4A64-AB2A-D42780E7519D}"/>
              </a:ext>
            </a:extLst>
          </p:cNvPr>
          <p:cNvSpPr>
            <a:spLocks xmlns:a="http://schemas.openxmlformats.org/drawingml/2006/main" noGrp="1"/>
          </p:cNvSpPr>
          <p:nvPr/>
        </p:nvSpPr>
        <p:spPr>
          <a:xfrm xmlns:a="http://schemas.openxmlformats.org/drawingml/2006/main">
            <a:off x="457200" y="4813300"/>
            <a:ext cx="11277600" cy="673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9A8EEEF2-244C-4F98-B8E8-88D66CD7C6A2}"/>
              </a:ext>
            </a:extLst>
          </p:cNvPr>
          <p:cNvSpPr>
            <a:spLocks xmlns:a="http://schemas.openxmlformats.org/drawingml/2006/main" noGrp="1"/>
          </p:cNvSpPr>
          <p:nvPr/>
        </p:nvSpPr>
        <p:spPr>
          <a:xfrm xmlns:a="http://schemas.openxmlformats.org/drawingml/2006/main">
            <a:off x="457200" y="4813300"/>
            <a:ext cx="28575" cy="673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B67D99C-C7EB-4904-81D4-854EA33E29FD}"/>
              </a:ext>
            </a:extLst>
          </p:cNvPr>
          <p:cNvSpPr>
            <a:spLocks xmlns:a="http://schemas.openxmlformats.org/drawingml/2006/main" noGrp="1"/>
          </p:cNvSpPr>
          <p:nvPr/>
        </p:nvSpPr>
        <p:spPr>
          <a:xfrm xmlns:a="http://schemas.openxmlformats.org/drawingml/2006/main">
            <a:off x="581025" y="48799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8606DCB0-FEC5-482F-B28A-5B5C89094E53}"/>
              </a:ext>
            </a:extLst>
          </p:cNvPr>
          <p:cNvSpPr>
            <a:spLocks xmlns:a="http://schemas.openxmlformats.org/drawingml/2006/main" noGrp="1"/>
          </p:cNvSpPr>
          <p:nvPr/>
        </p:nvSpPr>
        <p:spPr>
          <a:xfrm xmlns:a="http://schemas.openxmlformats.org/drawingml/2006/main">
            <a:off x="581025" y="5029200"/>
            <a:ext cx="1102995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 programme could already be delivering strong fleet economics. This view is falsified by customer-side proof of live deployment, uptime metrics, or expansion beyond the initial 3,600-vehicle commitment (Jun 2026). Monitor for actual vehicle counts and service reliability data.</a:t>
            </a:r>
          </a:p>
        </p:txBody>
      </p:sp>
      <p:sp>
        <p:nvSpPr>
          <p:cNvPr id="28" name="">
            <a:extLst xmlns:a="http://schemas.openxmlformats.org/drawingml/2006/main">
              <a:ext uri="{FF2B5EF4-FFF2-40B4-BE49-F238E27FC236}">
                <a16:creationId xmlns:a16="http://schemas.microsoft.com/office/drawing/2014/main" id="{78BB3F44-7C83-4CD1-B0E2-4A0667436FA5}"/>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19E657E-933F-437E-9270-FB3584F90131}"/>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2329B54-3A4E-4FAA-948D-FDAAAD865E3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03129301-F28C-4727-94C4-6D4DD2482F1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Pursue paid pilot; evaluate ROI/uptime impacts before scaling partnership</a:t>
            </a:r>
          </a:p>
        </p:txBody>
      </p:sp>
      <p:sp>
        <p:nvSpPr>
          <p:cNvPr id="32" name="">
            <a:extLst xmlns:a="http://schemas.openxmlformats.org/drawingml/2006/main">
              <a:ext uri="{FF2B5EF4-FFF2-40B4-BE49-F238E27FC236}">
                <a16:creationId xmlns:a16="http://schemas.microsoft.com/office/drawing/2014/main" id="{F7C3EF64-0AB5-4431-B62E-DBCA072627E7}"/>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D28F1983-52A0-4150-852C-8B0774C1202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Raise on live deployment + KPIs; lower on delays or service issues</a:t>
            </a:r>
          </a:p>
        </p:txBody>
      </p:sp>
      <p:sp>
        <p:nvSpPr>
          <p:cNvPr id="34" name="">
            <a:extLst xmlns:a="http://schemas.openxmlformats.org/drawingml/2006/main">
              <a:ext uri="{FF2B5EF4-FFF2-40B4-BE49-F238E27FC236}">
                <a16:creationId xmlns:a16="http://schemas.microsoft.com/office/drawing/2014/main" id="{06AE0F8B-1B33-411D-900F-FECBAA8D8F67}"/>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B508081C-1321-449B-BFBD-B868CDB6E356}"/>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treating a reported ARAI demonstration or DDAWS certificate as AEBS type approval.</a:t>
            </a:r>
          </a:p>
        </p:txBody>
      </p:sp>
      <p:sp>
        <p:nvSpPr>
          <p:cNvPr id="36" name="">
            <a:extLst xmlns:a="http://schemas.openxmlformats.org/drawingml/2006/main">
              <a:ext uri="{FF2B5EF4-FFF2-40B4-BE49-F238E27FC236}">
                <a16:creationId xmlns:a16="http://schemas.microsoft.com/office/drawing/2014/main" id="{517C49F7-B969-476A-A732-2DCE285CBBA3}"/>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4FB22E6-7A87-4566-B0F6-5DAB99DF591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9EDC4EDA-5912-4B9E-B8FC-850851C7753F}"/>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51</a:t>
            </a:r>
          </a:p>
        </p:txBody>
      </p:sp>
    </p:spTree>
    <p:extLst>
      <p:ext uri="{BB962C8B-B14F-4D97-AF65-F5344CB8AC3E}">
        <p14:creationId xmlns:p14="http://schemas.microsoft.com/office/powerpoint/2010/main" val="906535316"/>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95D181FB-B79B-4738-8154-26E501B072B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415A54B-3D24-4C1E-B995-A380D88F8E5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6292774-5A51-4B63-9780-980CE17B55D6}"/>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COMPANY PROFILE · P-WARN</a:t>
            </a:r>
          </a:p>
        </p:txBody>
      </p:sp>
      <p:sp>
        <p:nvSpPr>
          <p:cNvPr id="4" name="">
            <a:extLst xmlns:a="http://schemas.openxmlformats.org/drawingml/2006/main">
              <a:ext uri="{FF2B5EF4-FFF2-40B4-BE49-F238E27FC236}">
                <a16:creationId xmlns:a16="http://schemas.microsoft.com/office/drawing/2014/main" id="{E7B4E029-77A0-4D6C-B4B3-4082C8189755}"/>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Starkenn</a:t>
            </a:r>
          </a:p>
        </p:txBody>
      </p:sp>
      <p:sp>
        <p:nvSpPr>
          <p:cNvPr id="5" name="">
            <a:extLst xmlns:a="http://schemas.openxmlformats.org/drawingml/2006/main">
              <a:ext uri="{FF2B5EF4-FFF2-40B4-BE49-F238E27FC236}">
                <a16:creationId xmlns:a16="http://schemas.microsoft.com/office/drawing/2014/main" id="{5C7C1C28-B2F7-4A78-A98A-D6E45476C385}"/>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Starkenn Technologies Private Limited</a:t>
            </a:r>
          </a:p>
        </p:txBody>
      </p:sp>
      <p:sp>
        <p:nvSpPr>
          <p:cNvPr id="6" name="">
            <a:extLst xmlns:a="http://schemas.openxmlformats.org/drawingml/2006/main">
              <a:ext uri="{FF2B5EF4-FFF2-40B4-BE49-F238E27FC236}">
                <a16:creationId xmlns:a16="http://schemas.microsoft.com/office/drawing/2014/main" id="{E2EADC49-6E63-44D0-AF36-D7D64F4016BF}"/>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E7A4E6D-9EEC-4C66-AC66-C8174670ECA8}"/>
              </a:ext>
            </a:extLst>
          </p:cNvPr>
          <p:cNvSpPr>
            <a:spLocks xmlns:a="http://schemas.openxmlformats.org/drawingml/2006/main" noGrp="1"/>
          </p:cNvSpPr>
          <p:nvPr/>
        </p:nvSpPr>
        <p:spPr>
          <a:xfrm xmlns:a="http://schemas.openxmlformats.org/drawingml/2006/main">
            <a:off x="45720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4AE94C4F-99E7-4FD3-8506-AD28FCD71ECB}"/>
              </a:ext>
            </a:extLst>
          </p:cNvPr>
          <p:cNvSpPr>
            <a:spLocks xmlns:a="http://schemas.openxmlformats.org/drawingml/2006/main" noGrp="1"/>
          </p:cNvSpPr>
          <p:nvPr/>
        </p:nvSpPr>
        <p:spPr>
          <a:xfrm xmlns:a="http://schemas.openxmlformats.org/drawingml/2006/main">
            <a:off x="45720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EBD7440-8FFA-4566-BBE4-675649630735}"/>
              </a:ext>
            </a:extLst>
          </p:cNvPr>
          <p:cNvSpPr>
            <a:spLocks xmlns:a="http://schemas.openxmlformats.org/drawingml/2006/main" noGrp="1"/>
          </p:cNvSpPr>
          <p:nvPr/>
        </p:nvSpPr>
        <p:spPr>
          <a:xfrm xmlns:a="http://schemas.openxmlformats.org/drawingml/2006/main">
            <a:off x="57150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FOUNDED</a:t>
            </a:r>
          </a:p>
        </p:txBody>
      </p:sp>
      <p:sp>
        <p:nvSpPr>
          <p:cNvPr id="10" name="">
            <a:extLst xmlns:a="http://schemas.openxmlformats.org/drawingml/2006/main">
              <a:ext uri="{FF2B5EF4-FFF2-40B4-BE49-F238E27FC236}">
                <a16:creationId xmlns:a16="http://schemas.microsoft.com/office/drawing/2014/main" id="{08E097EC-6DED-46D3-8DAC-57EFA7820CE1}"/>
              </a:ext>
            </a:extLst>
          </p:cNvPr>
          <p:cNvSpPr>
            <a:spLocks xmlns:a="http://schemas.openxmlformats.org/drawingml/2006/main" noGrp="1"/>
          </p:cNvSpPr>
          <p:nvPr/>
        </p:nvSpPr>
        <p:spPr>
          <a:xfrm xmlns:a="http://schemas.openxmlformats.org/drawingml/2006/main">
            <a:off x="57150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2022</a:t>
            </a:r>
          </a:p>
        </p:txBody>
      </p:sp>
      <p:sp>
        <p:nvSpPr>
          <p:cNvPr id="11" name="">
            <a:extLst xmlns:a="http://schemas.openxmlformats.org/drawingml/2006/main">
              <a:ext uri="{FF2B5EF4-FFF2-40B4-BE49-F238E27FC236}">
                <a16:creationId xmlns:a16="http://schemas.microsoft.com/office/drawing/2014/main" id="{7771F43F-C929-4D4A-918F-B41524F7B1A5}"/>
              </a:ext>
            </a:extLst>
          </p:cNvPr>
          <p:cNvSpPr>
            <a:spLocks xmlns:a="http://schemas.openxmlformats.org/drawingml/2006/main" noGrp="1"/>
          </p:cNvSpPr>
          <p:nvPr/>
        </p:nvSpPr>
        <p:spPr>
          <a:xfrm xmlns:a="http://schemas.openxmlformats.org/drawingml/2006/main">
            <a:off x="57150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Founders Sumedh and Swastid Badve</a:t>
            </a:r>
          </a:p>
        </p:txBody>
      </p:sp>
      <p:sp>
        <p:nvSpPr>
          <p:cNvPr id="12" name="">
            <a:extLst xmlns:a="http://schemas.openxmlformats.org/drawingml/2006/main">
              <a:ext uri="{FF2B5EF4-FFF2-40B4-BE49-F238E27FC236}">
                <a16:creationId xmlns:a16="http://schemas.microsoft.com/office/drawing/2014/main" id="{C5087D7C-101A-4FD7-9680-2FF373FBD963}"/>
              </a:ext>
            </a:extLst>
          </p:cNvPr>
          <p:cNvSpPr>
            <a:spLocks xmlns:a="http://schemas.openxmlformats.org/drawingml/2006/main" noGrp="1"/>
          </p:cNvSpPr>
          <p:nvPr/>
        </p:nvSpPr>
        <p:spPr>
          <a:xfrm xmlns:a="http://schemas.openxmlformats.org/drawingml/2006/main">
            <a:off x="3305175"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E1251758-8C6B-44B2-9FE3-82A2A0A4FF80}"/>
              </a:ext>
            </a:extLst>
          </p:cNvPr>
          <p:cNvSpPr>
            <a:spLocks xmlns:a="http://schemas.openxmlformats.org/drawingml/2006/main" noGrp="1"/>
          </p:cNvSpPr>
          <p:nvPr/>
        </p:nvSpPr>
        <p:spPr>
          <a:xfrm xmlns:a="http://schemas.openxmlformats.org/drawingml/2006/main">
            <a:off x="3305175"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D709209-3428-4BB2-8F94-1A3AB9ED81BA}"/>
              </a:ext>
            </a:extLst>
          </p:cNvPr>
          <p:cNvSpPr>
            <a:spLocks xmlns:a="http://schemas.openxmlformats.org/drawingml/2006/main" noGrp="1"/>
          </p:cNvSpPr>
          <p:nvPr/>
        </p:nvSpPr>
        <p:spPr>
          <a:xfrm xmlns:a="http://schemas.openxmlformats.org/drawingml/2006/main">
            <a:off x="341947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HEADQUARTERS</a:t>
            </a:r>
          </a:p>
        </p:txBody>
      </p:sp>
      <p:sp>
        <p:nvSpPr>
          <p:cNvPr id="15" name="">
            <a:extLst xmlns:a="http://schemas.openxmlformats.org/drawingml/2006/main">
              <a:ext uri="{FF2B5EF4-FFF2-40B4-BE49-F238E27FC236}">
                <a16:creationId xmlns:a16="http://schemas.microsoft.com/office/drawing/2014/main" id="{2DF837DB-3663-4845-B497-42F2D5F13D4D}"/>
              </a:ext>
            </a:extLst>
          </p:cNvPr>
          <p:cNvSpPr>
            <a:spLocks xmlns:a="http://schemas.openxmlformats.org/drawingml/2006/main" noGrp="1"/>
          </p:cNvSpPr>
          <p:nvPr/>
        </p:nvSpPr>
        <p:spPr>
          <a:xfrm xmlns:a="http://schemas.openxmlformats.org/drawingml/2006/main">
            <a:off x="3419475" y="1352550"/>
            <a:ext cx="2505075" cy="228600"/>
          </a:xfrm>
          <a:prstGeom xmlns:a="http://schemas.openxmlformats.org/drawingml/2006/main" prst="rect">
            <a:avLst/>
          </a:prstGeom>
        </p:spPr>
        <p:txBody>
          <a:bodyPr xmlns:a="http://schemas.openxmlformats.org/drawingml/2006/main" lIns="0" tIns="0" rIns="0" bIns="0" anchor="t">
            <a:normAutofit fontScale="94628"/>
          </a:bodyPr>
          <a:lstStyle xmlns:a="http://schemas.openxmlformats.org/drawingml/2006/main"/>
          <a:p xmlns:a="http://schemas.openxmlformats.org/drawingml/2006/main">
            <a:pPr algn="l">
              <a:defRPr sz="1200" b="1">
                <a:solidFill>
                  <a:srgbClr val="FFFFFF"/>
                </a:solidFill>
                <a:latin typeface="Arial"/>
                <a:ea typeface="Arial"/>
                <a:cs typeface="Arial"/>
              </a:defRPr>
            </a:pPr>
            <a:r>
              <a:t>Pune · mfg Turbhe, assembly Aundh</a:t>
            </a:r>
          </a:p>
        </p:txBody>
      </p:sp>
      <p:sp>
        <p:nvSpPr>
          <p:cNvPr id="16" name="">
            <a:extLst xmlns:a="http://schemas.openxmlformats.org/drawingml/2006/main">
              <a:ext uri="{FF2B5EF4-FFF2-40B4-BE49-F238E27FC236}">
                <a16:creationId xmlns:a16="http://schemas.microsoft.com/office/drawing/2014/main" id="{E931C47A-3080-4288-B4B9-E1E705028EFB}"/>
              </a:ext>
            </a:extLst>
          </p:cNvPr>
          <p:cNvSpPr>
            <a:spLocks xmlns:a="http://schemas.openxmlformats.org/drawingml/2006/main" noGrp="1"/>
          </p:cNvSpPr>
          <p:nvPr/>
        </p:nvSpPr>
        <p:spPr>
          <a:xfrm xmlns:a="http://schemas.openxmlformats.org/drawingml/2006/main">
            <a:off x="615315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4D26C56D-4BED-4691-B023-1DE117271BBE}"/>
              </a:ext>
            </a:extLst>
          </p:cNvPr>
          <p:cNvSpPr>
            <a:spLocks xmlns:a="http://schemas.openxmlformats.org/drawingml/2006/main" noGrp="1"/>
          </p:cNvSpPr>
          <p:nvPr/>
        </p:nvSpPr>
        <p:spPr>
          <a:xfrm xmlns:a="http://schemas.openxmlformats.org/drawingml/2006/main">
            <a:off x="615315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39215E4-E1BC-423C-ACAF-DB47E0ABBA9C}"/>
              </a:ext>
            </a:extLst>
          </p:cNvPr>
          <p:cNvSpPr>
            <a:spLocks xmlns:a="http://schemas.openxmlformats.org/drawingml/2006/main" noGrp="1"/>
          </p:cNvSpPr>
          <p:nvPr/>
        </p:nvSpPr>
        <p:spPr>
          <a:xfrm xmlns:a="http://schemas.openxmlformats.org/drawingml/2006/main">
            <a:off x="626745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19" name="">
            <a:extLst xmlns:a="http://schemas.openxmlformats.org/drawingml/2006/main">
              <a:ext uri="{FF2B5EF4-FFF2-40B4-BE49-F238E27FC236}">
                <a16:creationId xmlns:a16="http://schemas.microsoft.com/office/drawing/2014/main" id="{48297C89-4566-42C7-BF0B-0648141497D8}"/>
              </a:ext>
            </a:extLst>
          </p:cNvPr>
          <p:cNvSpPr>
            <a:spLocks xmlns:a="http://schemas.openxmlformats.org/drawingml/2006/main" noGrp="1"/>
          </p:cNvSpPr>
          <p:nvPr/>
        </p:nvSpPr>
        <p:spPr>
          <a:xfrm xmlns:a="http://schemas.openxmlformats.org/drawingml/2006/main">
            <a:off x="626745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PRIVATE</a:t>
            </a:r>
          </a:p>
        </p:txBody>
      </p:sp>
      <p:sp>
        <p:nvSpPr>
          <p:cNvPr id="20" name="">
            <a:extLst xmlns:a="http://schemas.openxmlformats.org/drawingml/2006/main">
              <a:ext uri="{FF2B5EF4-FFF2-40B4-BE49-F238E27FC236}">
                <a16:creationId xmlns:a16="http://schemas.microsoft.com/office/drawing/2014/main" id="{8757AF76-7094-4E8A-8A17-47266B6E3C4F}"/>
              </a:ext>
            </a:extLst>
          </p:cNvPr>
          <p:cNvSpPr>
            <a:spLocks xmlns:a="http://schemas.openxmlformats.org/drawingml/2006/main" noGrp="1"/>
          </p:cNvSpPr>
          <p:nvPr/>
        </p:nvSpPr>
        <p:spPr>
          <a:xfrm xmlns:a="http://schemas.openxmlformats.org/drawingml/2006/main">
            <a:off x="626745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Backed by Belrise Industries</a:t>
            </a:r>
          </a:p>
        </p:txBody>
      </p:sp>
      <p:sp>
        <p:nvSpPr>
          <p:cNvPr id="21" name="">
            <a:extLst xmlns:a="http://schemas.openxmlformats.org/drawingml/2006/main">
              <a:ext uri="{FF2B5EF4-FFF2-40B4-BE49-F238E27FC236}">
                <a16:creationId xmlns:a16="http://schemas.microsoft.com/office/drawing/2014/main" id="{5C57B3DE-68BD-4896-9904-FC4B8399B845}"/>
              </a:ext>
            </a:extLst>
          </p:cNvPr>
          <p:cNvSpPr>
            <a:spLocks xmlns:a="http://schemas.openxmlformats.org/drawingml/2006/main" noGrp="1"/>
          </p:cNvSpPr>
          <p:nvPr/>
        </p:nvSpPr>
        <p:spPr>
          <a:xfrm xmlns:a="http://schemas.openxmlformats.org/drawingml/2006/main">
            <a:off x="9001125" y="1085850"/>
            <a:ext cx="2733675" cy="800100"/>
          </a:xfrm>
          <a:prstGeom xmlns:a="http://schemas.openxmlformats.org/drawingml/2006/main" prst="rect">
            <a:avLst/>
          </a:prstGeom>
          <a:solidFill xmlns:a="http://schemas.openxmlformats.org/drawingml/2006/main">
            <a:srgbClr val="16243A"/>
          </a:solidFill>
          <a:ln xmlns:a="http://schemas.openxmlformats.org/drawingml/2006/main" w="9525">
            <a:solidFill>
              <a:srgbClr val="1A2F45"/>
            </a:solidFill>
            <a:prstDash val="solid"/>
          </a:ln>
        </p:spPr>
      </p:sp>
      <p:sp>
        <p:nvSpPr>
          <p:cNvPr id="22" name="">
            <a:extLst xmlns:a="http://schemas.openxmlformats.org/drawingml/2006/main">
              <a:ext uri="{FF2B5EF4-FFF2-40B4-BE49-F238E27FC236}">
                <a16:creationId xmlns:a16="http://schemas.microsoft.com/office/drawing/2014/main" id="{FF8D1027-EAFC-4456-A956-11781C904082}"/>
              </a:ext>
            </a:extLst>
          </p:cNvPr>
          <p:cNvSpPr>
            <a:spLocks xmlns:a="http://schemas.openxmlformats.org/drawingml/2006/main" noGrp="1"/>
          </p:cNvSpPr>
          <p:nvPr/>
        </p:nvSpPr>
        <p:spPr>
          <a:xfrm xmlns:a="http://schemas.openxmlformats.org/drawingml/2006/main">
            <a:off x="9001125" y="1085850"/>
            <a:ext cx="2733675"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C796F87-AC3C-40C7-B6C6-6738CEC431D7}"/>
              </a:ext>
            </a:extLst>
          </p:cNvPr>
          <p:cNvSpPr>
            <a:spLocks xmlns:a="http://schemas.openxmlformats.org/drawingml/2006/main" noGrp="1"/>
          </p:cNvSpPr>
          <p:nvPr/>
        </p:nvSpPr>
        <p:spPr>
          <a:xfrm xmlns:a="http://schemas.openxmlformats.org/drawingml/2006/main">
            <a:off x="911542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CAPITAL</a:t>
            </a:r>
          </a:p>
        </p:txBody>
      </p:sp>
      <p:sp>
        <p:nvSpPr>
          <p:cNvPr id="24" name="">
            <a:extLst xmlns:a="http://schemas.openxmlformats.org/drawingml/2006/main">
              <a:ext uri="{FF2B5EF4-FFF2-40B4-BE49-F238E27FC236}">
                <a16:creationId xmlns:a16="http://schemas.microsoft.com/office/drawing/2014/main" id="{D4688AD3-158E-4E78-8240-693C525E2E91}"/>
              </a:ext>
            </a:extLst>
          </p:cNvPr>
          <p:cNvSpPr>
            <a:spLocks xmlns:a="http://schemas.openxmlformats.org/drawingml/2006/main" noGrp="1"/>
          </p:cNvSpPr>
          <p:nvPr/>
        </p:nvSpPr>
        <p:spPr>
          <a:xfrm xmlns:a="http://schemas.openxmlformats.org/drawingml/2006/main">
            <a:off x="911542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D7720B"/>
                </a:solidFill>
                <a:latin typeface="Arial"/>
                <a:ea typeface="Arial"/>
                <a:cs typeface="Arial"/>
              </a:defRPr>
            </a:pPr>
            <a:r>
              <a:t>$2.0m raised</a:t>
            </a:r>
          </a:p>
        </p:txBody>
      </p:sp>
      <p:sp>
        <p:nvSpPr>
          <p:cNvPr id="25" name="">
            <a:extLst xmlns:a="http://schemas.openxmlformats.org/drawingml/2006/main">
              <a:ext uri="{FF2B5EF4-FFF2-40B4-BE49-F238E27FC236}">
                <a16:creationId xmlns:a16="http://schemas.microsoft.com/office/drawing/2014/main" id="{2D6615F3-9D6F-4DD7-B367-16E93F8EC90D}"/>
              </a:ext>
            </a:extLst>
          </p:cNvPr>
          <p:cNvSpPr>
            <a:spLocks xmlns:a="http://schemas.openxmlformats.org/drawingml/2006/main" noGrp="1"/>
          </p:cNvSpPr>
          <p:nvPr/>
        </p:nvSpPr>
        <p:spPr>
          <a:xfrm xmlns:a="http://schemas.openxmlformats.org/drawingml/2006/main">
            <a:off x="9115425"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as of seed Apr 2023</a:t>
            </a:r>
          </a:p>
        </p:txBody>
      </p:sp>
      <p:sp>
        <p:nvSpPr>
          <p:cNvPr id="26" name="">
            <a:extLst xmlns:a="http://schemas.openxmlformats.org/drawingml/2006/main">
              <a:ext uri="{FF2B5EF4-FFF2-40B4-BE49-F238E27FC236}">
                <a16:creationId xmlns:a16="http://schemas.microsoft.com/office/drawing/2014/main" id="{71002702-2753-403A-97CA-3D63B97D8D35}"/>
              </a:ext>
            </a:extLst>
          </p:cNvPr>
          <p:cNvSpPr>
            <a:spLocks xmlns:a="http://schemas.openxmlformats.org/drawingml/2006/main" noGrp="1"/>
          </p:cNvSpPr>
          <p:nvPr/>
        </p:nvSpPr>
        <p:spPr>
          <a:xfrm xmlns:a="http://schemas.openxmlformats.org/drawingml/2006/main">
            <a:off x="4572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PEOPLE</a:t>
            </a:r>
          </a:p>
        </p:txBody>
      </p:sp>
      <p:sp>
        <p:nvSpPr>
          <p:cNvPr id="27" name="">
            <a:extLst xmlns:a="http://schemas.openxmlformats.org/drawingml/2006/main">
              <a:ext uri="{FF2B5EF4-FFF2-40B4-BE49-F238E27FC236}">
                <a16:creationId xmlns:a16="http://schemas.microsoft.com/office/drawing/2014/main" id="{951CA985-61C0-4797-95C7-FFD4185C1646}"/>
              </a:ext>
            </a:extLst>
          </p:cNvPr>
          <p:cNvSpPr>
            <a:spLocks xmlns:a="http://schemas.openxmlformats.org/drawingml/2006/main" noGrp="1"/>
          </p:cNvSpPr>
          <p:nvPr/>
        </p:nvSpPr>
        <p:spPr>
          <a:xfrm xmlns:a="http://schemas.openxmlformats.org/drawingml/2006/main">
            <a:off x="4572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57 (−12 YoY)</a:t>
            </a:r>
          </a:p>
        </p:txBody>
      </p:sp>
      <p:sp>
        <p:nvSpPr>
          <p:cNvPr id="28" name="">
            <a:extLst xmlns:a="http://schemas.openxmlformats.org/drawingml/2006/main">
              <a:ext uri="{FF2B5EF4-FFF2-40B4-BE49-F238E27FC236}">
                <a16:creationId xmlns:a16="http://schemas.microsoft.com/office/drawing/2014/main" id="{C5EA23EA-9411-484B-8B39-D9C270160494}"/>
              </a:ext>
            </a:extLst>
          </p:cNvPr>
          <p:cNvSpPr>
            <a:spLocks xmlns:a="http://schemas.openxmlformats.org/drawingml/2006/main" noGrp="1"/>
          </p:cNvSpPr>
          <p:nvPr/>
        </p:nvSpPr>
        <p:spPr>
          <a:xfrm xmlns:a="http://schemas.openxmlformats.org/drawingml/2006/main">
            <a:off x="42545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VALUE MOVE</a:t>
            </a:r>
          </a:p>
        </p:txBody>
      </p:sp>
      <p:sp>
        <p:nvSpPr>
          <p:cNvPr id="29" name="">
            <a:extLst xmlns:a="http://schemas.openxmlformats.org/drawingml/2006/main">
              <a:ext uri="{FF2B5EF4-FFF2-40B4-BE49-F238E27FC236}">
                <a16:creationId xmlns:a16="http://schemas.microsoft.com/office/drawing/2014/main" id="{D53DD84C-DA4C-41C6-829D-7AA8069E3170}"/>
              </a:ext>
            </a:extLst>
          </p:cNvPr>
          <p:cNvSpPr>
            <a:spLocks xmlns:a="http://schemas.openxmlformats.org/drawingml/2006/main" noGrp="1"/>
          </p:cNvSpPr>
          <p:nvPr/>
        </p:nvSpPr>
        <p:spPr>
          <a:xfrm xmlns:a="http://schemas.openxmlformats.org/drawingml/2006/main">
            <a:off x="42545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57 staff, −15.8% YoY</a:t>
            </a:r>
          </a:p>
        </p:txBody>
      </p:sp>
      <p:sp>
        <p:nvSpPr>
          <p:cNvPr id="30" name="">
            <a:extLst xmlns:a="http://schemas.openxmlformats.org/drawingml/2006/main">
              <a:ext uri="{FF2B5EF4-FFF2-40B4-BE49-F238E27FC236}">
                <a16:creationId xmlns:a16="http://schemas.microsoft.com/office/drawing/2014/main" id="{C436BD47-C85B-44CB-85A4-4CD58CCB4070}"/>
              </a:ext>
            </a:extLst>
          </p:cNvPr>
          <p:cNvSpPr>
            <a:spLocks xmlns:a="http://schemas.openxmlformats.org/drawingml/2006/main" noGrp="1"/>
          </p:cNvSpPr>
          <p:nvPr/>
        </p:nvSpPr>
        <p:spPr>
          <a:xfrm xmlns:a="http://schemas.openxmlformats.org/drawingml/2006/main">
            <a:off x="80518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PARENT / BACKING</a:t>
            </a:r>
          </a:p>
        </p:txBody>
      </p:sp>
      <p:sp>
        <p:nvSpPr>
          <p:cNvPr id="31" name="">
            <a:extLst xmlns:a="http://schemas.openxmlformats.org/drawingml/2006/main">
              <a:ext uri="{FF2B5EF4-FFF2-40B4-BE49-F238E27FC236}">
                <a16:creationId xmlns:a16="http://schemas.microsoft.com/office/drawing/2014/main" id="{98231262-F372-4F24-9045-57D4119CB9B2}"/>
              </a:ext>
            </a:extLst>
          </p:cNvPr>
          <p:cNvSpPr>
            <a:spLocks xmlns:a="http://schemas.openxmlformats.org/drawingml/2006/main" noGrp="1"/>
          </p:cNvSpPr>
          <p:nvPr/>
        </p:nvSpPr>
        <p:spPr>
          <a:xfrm xmlns:a="http://schemas.openxmlformats.org/drawingml/2006/main">
            <a:off x="80518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32" name="">
            <a:extLst xmlns:a="http://schemas.openxmlformats.org/drawingml/2006/main">
              <a:ext uri="{FF2B5EF4-FFF2-40B4-BE49-F238E27FC236}">
                <a16:creationId xmlns:a16="http://schemas.microsoft.com/office/drawing/2014/main" id="{FE261B62-7665-47E6-A3CD-0E0CA1ED8499}"/>
              </a:ext>
            </a:extLst>
          </p:cNvPr>
          <p:cNvSpPr>
            <a:spLocks xmlns:a="http://schemas.openxmlformats.org/drawingml/2006/main" noGrp="1"/>
          </p:cNvSpPr>
          <p:nvPr/>
        </p:nvSpPr>
        <p:spPr>
          <a:xfrm xmlns:a="http://schemas.openxmlformats.org/drawingml/2006/main">
            <a:off x="457200" y="24574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109D586-1FA5-4198-A703-476B2D031F95}"/>
              </a:ext>
            </a:extLst>
          </p:cNvPr>
          <p:cNvSpPr>
            <a:spLocks xmlns:a="http://schemas.openxmlformats.org/drawingml/2006/main" noGrp="1"/>
          </p:cNvSpPr>
          <p:nvPr/>
        </p:nvSpPr>
        <p:spPr>
          <a:xfrm xmlns:a="http://schemas.openxmlformats.org/drawingml/2006/main">
            <a:off x="457200" y="257175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WHAT IT SELLS</a:t>
            </a:r>
          </a:p>
        </p:txBody>
      </p:sp>
      <p:sp>
        <p:nvSpPr>
          <p:cNvPr id="34" name="">
            <a:extLst xmlns:a="http://schemas.openxmlformats.org/drawingml/2006/main">
              <a:ext uri="{FF2B5EF4-FFF2-40B4-BE49-F238E27FC236}">
                <a16:creationId xmlns:a16="http://schemas.microsoft.com/office/drawing/2014/main" id="{D09C0C72-A04C-4A9D-8918-AF53577BDD7D}"/>
              </a:ext>
            </a:extLst>
          </p:cNvPr>
          <p:cNvSpPr>
            <a:spLocks xmlns:a="http://schemas.openxmlformats.org/drawingml/2006/main" noGrp="1"/>
          </p:cNvSpPr>
          <p:nvPr/>
        </p:nvSpPr>
        <p:spPr>
          <a:xfrm xmlns:a="http://schemas.openxmlformats.org/drawingml/2006/main">
            <a:off x="457200" y="2733675"/>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Brake-Safe (collision mitigation), Attention (DMS with alcohol interlock), Stark-I (fleet telematics)</a:t>
            </a:r>
          </a:p>
        </p:txBody>
      </p:sp>
      <p:sp>
        <p:nvSpPr>
          <p:cNvPr id="35" name="">
            <a:extLst xmlns:a="http://schemas.openxmlformats.org/drawingml/2006/main">
              <a:ext uri="{FF2B5EF4-FFF2-40B4-BE49-F238E27FC236}">
                <a16:creationId xmlns:a16="http://schemas.microsoft.com/office/drawing/2014/main" id="{B86FC771-FDB7-413D-9AC0-41DE96209B24}"/>
              </a:ext>
            </a:extLst>
          </p:cNvPr>
          <p:cNvSpPr>
            <a:spLocks xmlns:a="http://schemas.openxmlformats.org/drawingml/2006/main" noGrp="1"/>
          </p:cNvSpPr>
          <p:nvPr/>
        </p:nvSpPr>
        <p:spPr>
          <a:xfrm xmlns:a="http://schemas.openxmlformats.org/drawingml/2006/main">
            <a:off x="4572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8F26564B-3013-477D-B088-CBE2243F46F2}"/>
              </a:ext>
            </a:extLst>
          </p:cNvPr>
          <p:cNvSpPr>
            <a:spLocks xmlns:a="http://schemas.openxmlformats.org/drawingml/2006/main" noGrp="1"/>
          </p:cNvSpPr>
          <p:nvPr/>
        </p:nvSpPr>
        <p:spPr>
          <a:xfrm xmlns:a="http://schemas.openxmlformats.org/drawingml/2006/main">
            <a:off x="5715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FUNDING</a:t>
            </a:r>
          </a:p>
        </p:txBody>
      </p:sp>
      <p:sp>
        <p:nvSpPr>
          <p:cNvPr id="37" name="">
            <a:extLst xmlns:a="http://schemas.openxmlformats.org/drawingml/2006/main">
              <a:ext uri="{FF2B5EF4-FFF2-40B4-BE49-F238E27FC236}">
                <a16:creationId xmlns:a16="http://schemas.microsoft.com/office/drawing/2014/main" id="{95E6284B-4AA9-4001-903D-21345E045897}"/>
              </a:ext>
            </a:extLst>
          </p:cNvPr>
          <p:cNvSpPr>
            <a:spLocks xmlns:a="http://schemas.openxmlformats.org/drawingml/2006/main" noGrp="1"/>
          </p:cNvSpPr>
          <p:nvPr/>
        </p:nvSpPr>
        <p:spPr>
          <a:xfrm xmlns:a="http://schemas.openxmlformats.org/drawingml/2006/main">
            <a:off x="20574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$2.0m — single seed round, April 2023</a:t>
            </a:r>
          </a:p>
        </p:txBody>
      </p:sp>
      <p:sp>
        <p:nvSpPr>
          <p:cNvPr id="38" name="">
            <a:extLst xmlns:a="http://schemas.openxmlformats.org/drawingml/2006/main">
              <a:ext uri="{FF2B5EF4-FFF2-40B4-BE49-F238E27FC236}">
                <a16:creationId xmlns:a16="http://schemas.microsoft.com/office/drawing/2014/main" id="{C55185FF-F33A-4EE1-9FBF-8354585B4A26}"/>
              </a:ext>
            </a:extLst>
          </p:cNvPr>
          <p:cNvSpPr>
            <a:spLocks xmlns:a="http://schemas.openxmlformats.org/drawingml/2006/main" noGrp="1"/>
          </p:cNvSpPr>
          <p:nvPr/>
        </p:nvSpPr>
        <p:spPr>
          <a:xfrm xmlns:a="http://schemas.openxmlformats.org/drawingml/2006/main">
            <a:off x="62103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8765E906-1A8B-485A-B14A-EDFF87A38BB0}"/>
              </a:ext>
            </a:extLst>
          </p:cNvPr>
          <p:cNvSpPr>
            <a:spLocks xmlns:a="http://schemas.openxmlformats.org/drawingml/2006/main" noGrp="1"/>
          </p:cNvSpPr>
          <p:nvPr/>
        </p:nvSpPr>
        <p:spPr>
          <a:xfrm xmlns:a="http://schemas.openxmlformats.org/drawingml/2006/main">
            <a:off x="63246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HEADCOUNT TREND</a:t>
            </a:r>
          </a:p>
        </p:txBody>
      </p:sp>
      <p:sp>
        <p:nvSpPr>
          <p:cNvPr id="40" name="">
            <a:extLst xmlns:a="http://schemas.openxmlformats.org/drawingml/2006/main">
              <a:ext uri="{FF2B5EF4-FFF2-40B4-BE49-F238E27FC236}">
                <a16:creationId xmlns:a16="http://schemas.microsoft.com/office/drawing/2014/main" id="{46FAC812-1DC1-44B7-97D8-1BFC962D6506}"/>
              </a:ext>
            </a:extLst>
          </p:cNvPr>
          <p:cNvSpPr>
            <a:spLocks xmlns:a="http://schemas.openxmlformats.org/drawingml/2006/main" noGrp="1"/>
          </p:cNvSpPr>
          <p:nvPr/>
        </p:nvSpPr>
        <p:spPr>
          <a:xfrm xmlns:a="http://schemas.openxmlformats.org/drawingml/2006/main">
            <a:off x="78105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57, down 15.8% YoY (−12 people)</a:t>
            </a:r>
          </a:p>
        </p:txBody>
      </p:sp>
      <p:sp>
        <p:nvSpPr>
          <p:cNvPr id="41" name="">
            <a:extLst xmlns:a="http://schemas.openxmlformats.org/drawingml/2006/main">
              <a:ext uri="{FF2B5EF4-FFF2-40B4-BE49-F238E27FC236}">
                <a16:creationId xmlns:a16="http://schemas.microsoft.com/office/drawing/2014/main" id="{0F6A20C3-D4DD-4C4C-8F67-5F7C4F1AA710}"/>
              </a:ext>
            </a:extLst>
          </p:cNvPr>
          <p:cNvSpPr>
            <a:spLocks xmlns:a="http://schemas.openxmlformats.org/drawingml/2006/main" noGrp="1"/>
          </p:cNvSpPr>
          <p:nvPr/>
        </p:nvSpPr>
        <p:spPr>
          <a:xfrm xmlns:a="http://schemas.openxmlformats.org/drawingml/2006/main">
            <a:off x="4572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762A78D1-F88C-4886-94DF-BF9496000C3D}"/>
              </a:ext>
            </a:extLst>
          </p:cNvPr>
          <p:cNvSpPr>
            <a:spLocks xmlns:a="http://schemas.openxmlformats.org/drawingml/2006/main" noGrp="1"/>
          </p:cNvSpPr>
          <p:nvPr/>
        </p:nvSpPr>
        <p:spPr>
          <a:xfrm xmlns:a="http://schemas.openxmlformats.org/drawingml/2006/main">
            <a:off x="5715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REVENUE</a:t>
            </a:r>
          </a:p>
        </p:txBody>
      </p:sp>
      <p:sp>
        <p:nvSpPr>
          <p:cNvPr id="43" name="">
            <a:extLst xmlns:a="http://schemas.openxmlformats.org/drawingml/2006/main">
              <a:ext uri="{FF2B5EF4-FFF2-40B4-BE49-F238E27FC236}">
                <a16:creationId xmlns:a16="http://schemas.microsoft.com/office/drawing/2014/main" id="{51F68C8D-2415-4486-8065-A67E2815AAEE}"/>
              </a:ext>
            </a:extLst>
          </p:cNvPr>
          <p:cNvSpPr>
            <a:spLocks xmlns:a="http://schemas.openxmlformats.org/drawingml/2006/main" noGrp="1"/>
          </p:cNvSpPr>
          <p:nvPr/>
        </p:nvSpPr>
        <p:spPr>
          <a:xfrm xmlns:a="http://schemas.openxmlformats.org/drawingml/2006/main">
            <a:off x="20574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₹5 Cr turnover; ₹2 Cr in each prior FY</a:t>
            </a:r>
          </a:p>
        </p:txBody>
      </p:sp>
      <p:sp>
        <p:nvSpPr>
          <p:cNvPr id="44" name="">
            <a:extLst xmlns:a="http://schemas.openxmlformats.org/drawingml/2006/main">
              <a:ext uri="{FF2B5EF4-FFF2-40B4-BE49-F238E27FC236}">
                <a16:creationId xmlns:a16="http://schemas.microsoft.com/office/drawing/2014/main" id="{697E7B32-673E-46BA-94FE-6A1DA6AEE579}"/>
              </a:ext>
            </a:extLst>
          </p:cNvPr>
          <p:cNvSpPr>
            <a:spLocks xmlns:a="http://schemas.openxmlformats.org/drawingml/2006/main" noGrp="1"/>
          </p:cNvSpPr>
          <p:nvPr/>
        </p:nvSpPr>
        <p:spPr>
          <a:xfrm xmlns:a="http://schemas.openxmlformats.org/drawingml/2006/main">
            <a:off x="62103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939D3ACF-627C-494C-889C-99EFB77D267F}"/>
              </a:ext>
            </a:extLst>
          </p:cNvPr>
          <p:cNvSpPr>
            <a:spLocks xmlns:a="http://schemas.openxmlformats.org/drawingml/2006/main" noGrp="1"/>
          </p:cNvSpPr>
          <p:nvPr/>
        </p:nvSpPr>
        <p:spPr>
          <a:xfrm xmlns:a="http://schemas.openxmlformats.org/drawingml/2006/main">
            <a:off x="63246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REVENUE MIX</a:t>
            </a:r>
          </a:p>
        </p:txBody>
      </p:sp>
      <p:sp>
        <p:nvSpPr>
          <p:cNvPr id="46" name="">
            <a:extLst xmlns:a="http://schemas.openxmlformats.org/drawingml/2006/main">
              <a:ext uri="{FF2B5EF4-FFF2-40B4-BE49-F238E27FC236}">
                <a16:creationId xmlns:a16="http://schemas.microsoft.com/office/drawing/2014/main" id="{C00C9BE0-32C9-46AF-99F3-CB98722D379C}"/>
              </a:ext>
            </a:extLst>
          </p:cNvPr>
          <p:cNvSpPr>
            <a:spLocks xmlns:a="http://schemas.openxmlformats.org/drawingml/2006/main" noGrp="1"/>
          </p:cNvSpPr>
          <p:nvPr/>
        </p:nvSpPr>
        <p:spPr>
          <a:xfrm xmlns:a="http://schemas.openxmlformats.org/drawingml/2006/main">
            <a:off x="78105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40% subscription · 30% govt · 20% B2C · 10% OEM</a:t>
            </a:r>
          </a:p>
        </p:txBody>
      </p:sp>
      <p:sp>
        <p:nvSpPr>
          <p:cNvPr id="47" name="">
            <a:extLst xmlns:a="http://schemas.openxmlformats.org/drawingml/2006/main">
              <a:ext uri="{FF2B5EF4-FFF2-40B4-BE49-F238E27FC236}">
                <a16:creationId xmlns:a16="http://schemas.microsoft.com/office/drawing/2014/main" id="{14809A60-30AB-43D5-A3A7-B394430F950E}"/>
              </a:ext>
            </a:extLst>
          </p:cNvPr>
          <p:cNvSpPr>
            <a:spLocks xmlns:a="http://schemas.openxmlformats.org/drawingml/2006/main" noGrp="1"/>
          </p:cNvSpPr>
          <p:nvPr/>
        </p:nvSpPr>
        <p:spPr>
          <a:xfrm xmlns:a="http://schemas.openxmlformats.org/drawingml/2006/main">
            <a:off x="4572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1D5FBDC0-C9A1-4910-BAF6-81BE1E643776}"/>
              </a:ext>
            </a:extLst>
          </p:cNvPr>
          <p:cNvSpPr>
            <a:spLocks xmlns:a="http://schemas.openxmlformats.org/drawingml/2006/main" noGrp="1"/>
          </p:cNvSpPr>
          <p:nvPr/>
        </p:nvSpPr>
        <p:spPr>
          <a:xfrm xmlns:a="http://schemas.openxmlformats.org/drawingml/2006/main">
            <a:off x="5715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SITES</a:t>
            </a:r>
          </a:p>
        </p:txBody>
      </p:sp>
      <p:sp>
        <p:nvSpPr>
          <p:cNvPr id="49" name="">
            <a:extLst xmlns:a="http://schemas.openxmlformats.org/drawingml/2006/main">
              <a:ext uri="{FF2B5EF4-FFF2-40B4-BE49-F238E27FC236}">
                <a16:creationId xmlns:a16="http://schemas.microsoft.com/office/drawing/2014/main" id="{4047EBD1-C80E-4CD9-8D01-908B169521BA}"/>
              </a:ext>
            </a:extLst>
          </p:cNvPr>
          <p:cNvSpPr>
            <a:spLocks xmlns:a="http://schemas.openxmlformats.org/drawingml/2006/main" noGrp="1"/>
          </p:cNvSpPr>
          <p:nvPr/>
        </p:nvSpPr>
        <p:spPr>
          <a:xfrm xmlns:a="http://schemas.openxmlformats.org/drawingml/2006/main">
            <a:off x="20574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Manufacturing Turbhe · assembly Aundh</a:t>
            </a:r>
          </a:p>
        </p:txBody>
      </p:sp>
      <p:sp>
        <p:nvSpPr>
          <p:cNvPr id="50" name="">
            <a:extLst xmlns:a="http://schemas.openxmlformats.org/drawingml/2006/main">
              <a:ext uri="{FF2B5EF4-FFF2-40B4-BE49-F238E27FC236}">
                <a16:creationId xmlns:a16="http://schemas.microsoft.com/office/drawing/2014/main" id="{B16D8F04-6017-49CA-8115-F2C535CC0566}"/>
              </a:ext>
            </a:extLst>
          </p:cNvPr>
          <p:cNvSpPr>
            <a:spLocks xmlns:a="http://schemas.openxmlformats.org/drawingml/2006/main" noGrp="1"/>
          </p:cNvSpPr>
          <p:nvPr/>
        </p:nvSpPr>
        <p:spPr>
          <a:xfrm xmlns:a="http://schemas.openxmlformats.org/drawingml/2006/main">
            <a:off x="62103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7A80102F-1217-407E-BE57-048FEED11213}"/>
              </a:ext>
            </a:extLst>
          </p:cNvPr>
          <p:cNvSpPr>
            <a:spLocks xmlns:a="http://schemas.openxmlformats.org/drawingml/2006/main" noGrp="1"/>
          </p:cNvSpPr>
          <p:nvPr/>
        </p:nvSpPr>
        <p:spPr>
          <a:xfrm xmlns:a="http://schemas.openxmlformats.org/drawingml/2006/main">
            <a:off x="63246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RECOGNITION</a:t>
            </a:r>
          </a:p>
        </p:txBody>
      </p:sp>
      <p:sp>
        <p:nvSpPr>
          <p:cNvPr id="52" name="">
            <a:extLst xmlns:a="http://schemas.openxmlformats.org/drawingml/2006/main">
              <a:ext uri="{FF2B5EF4-FFF2-40B4-BE49-F238E27FC236}">
                <a16:creationId xmlns:a16="http://schemas.microsoft.com/office/drawing/2014/main" id="{D2867191-C188-4BC6-B10A-33BF0C3266D5}"/>
              </a:ext>
            </a:extLst>
          </p:cNvPr>
          <p:cNvSpPr>
            <a:spLocks xmlns:a="http://schemas.openxmlformats.org/drawingml/2006/main" noGrp="1"/>
          </p:cNvSpPr>
          <p:nvPr/>
        </p:nvSpPr>
        <p:spPr>
          <a:xfrm xmlns:a="http://schemas.openxmlformats.org/drawingml/2006/main">
            <a:off x="78105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DPIIT-recognised under Startup India</a:t>
            </a:r>
          </a:p>
        </p:txBody>
      </p:sp>
      <p:sp>
        <p:nvSpPr>
          <p:cNvPr id="53" name="">
            <a:extLst xmlns:a="http://schemas.openxmlformats.org/drawingml/2006/main">
              <a:ext uri="{FF2B5EF4-FFF2-40B4-BE49-F238E27FC236}">
                <a16:creationId xmlns:a16="http://schemas.microsoft.com/office/drawing/2014/main" id="{7D67D3B0-3F56-4884-8783-9A1656B475AE}"/>
              </a:ext>
            </a:extLst>
          </p:cNvPr>
          <p:cNvSpPr>
            <a:spLocks xmlns:a="http://schemas.openxmlformats.org/drawingml/2006/main" noGrp="1"/>
          </p:cNvSpPr>
          <p:nvPr/>
        </p:nvSpPr>
        <p:spPr>
          <a:xfrm xmlns:a="http://schemas.openxmlformats.org/drawingml/2006/main">
            <a:off x="457200" y="41910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1B7CF7B8-53F4-4EC9-AFCD-14104FBE054D}"/>
              </a:ext>
            </a:extLst>
          </p:cNvPr>
          <p:cNvSpPr>
            <a:spLocks xmlns:a="http://schemas.openxmlformats.org/drawingml/2006/main" noGrp="1"/>
          </p:cNvSpPr>
          <p:nvPr/>
        </p:nvSpPr>
        <p:spPr>
          <a:xfrm xmlns:a="http://schemas.openxmlformats.org/drawingml/2006/main">
            <a:off x="457200" y="430530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OPEN ON THIS COMPANY</a:t>
            </a:r>
          </a:p>
        </p:txBody>
      </p:sp>
      <p:sp>
        <p:nvSpPr>
          <p:cNvPr id="55" name="">
            <a:extLst xmlns:a="http://schemas.openxmlformats.org/drawingml/2006/main">
              <a:ext uri="{FF2B5EF4-FFF2-40B4-BE49-F238E27FC236}">
                <a16:creationId xmlns:a16="http://schemas.microsoft.com/office/drawing/2014/main" id="{41F2C379-7972-45F7-BF19-1319BBFCA9C1}"/>
              </a:ext>
            </a:extLst>
          </p:cNvPr>
          <p:cNvSpPr>
            <a:spLocks xmlns:a="http://schemas.openxmlformats.org/drawingml/2006/main" noGrp="1"/>
          </p:cNvSpPr>
          <p:nvPr/>
        </p:nvSpPr>
        <p:spPr>
          <a:xfrm xmlns:a="http://schemas.openxmlformats.org/drawingml/2006/main">
            <a:off x="4572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4088282C-F399-411D-B53F-5BC7DF442DDE}"/>
              </a:ext>
            </a:extLst>
          </p:cNvPr>
          <p:cNvSpPr>
            <a:spLocks xmlns:a="http://schemas.openxmlformats.org/drawingml/2006/main" noGrp="1"/>
          </p:cNvSpPr>
          <p:nvPr/>
        </p:nvSpPr>
        <p:spPr>
          <a:xfrm xmlns:a="http://schemas.openxmlformats.org/drawingml/2006/main">
            <a:off x="4572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Deployment count cannot be stated — source self-contradicts</a:t>
            </a:r>
          </a:p>
        </p:txBody>
      </p:sp>
      <p:sp>
        <p:nvSpPr>
          <p:cNvPr id="57" name="">
            <a:extLst xmlns:a="http://schemas.openxmlformats.org/drawingml/2006/main">
              <a:ext uri="{FF2B5EF4-FFF2-40B4-BE49-F238E27FC236}">
                <a16:creationId xmlns:a16="http://schemas.microsoft.com/office/drawing/2014/main" id="{421A5AF2-B34D-4319-B274-372944405FE5}"/>
              </a:ext>
            </a:extLst>
          </p:cNvPr>
          <p:cNvSpPr>
            <a:spLocks xmlns:a="http://schemas.openxmlformats.org/drawingml/2006/main" noGrp="1"/>
          </p:cNvSpPr>
          <p:nvPr/>
        </p:nvSpPr>
        <p:spPr>
          <a:xfrm xmlns:a="http://schemas.openxmlformats.org/drawingml/2006/main">
            <a:off x="42545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E2DF9205-92D9-4936-8052-599766C8AE10}"/>
              </a:ext>
            </a:extLst>
          </p:cNvPr>
          <p:cNvSpPr>
            <a:spLocks xmlns:a="http://schemas.openxmlformats.org/drawingml/2006/main" noGrp="1"/>
          </p:cNvSpPr>
          <p:nvPr/>
        </p:nvSpPr>
        <p:spPr>
          <a:xfrm xmlns:a="http://schemas.openxmlformats.org/drawingml/2006/main">
            <a:off x="42545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Re-baseline turnover; figures are ~21 months old</a:t>
            </a:r>
          </a:p>
        </p:txBody>
      </p:sp>
      <p:sp>
        <p:nvSpPr>
          <p:cNvPr id="59" name="">
            <a:extLst xmlns:a="http://schemas.openxmlformats.org/drawingml/2006/main">
              <a:ext uri="{FF2B5EF4-FFF2-40B4-BE49-F238E27FC236}">
                <a16:creationId xmlns:a16="http://schemas.microsoft.com/office/drawing/2014/main" id="{E299ED5B-600C-4ECC-8F70-3B60321209AA}"/>
              </a:ext>
            </a:extLst>
          </p:cNvPr>
          <p:cNvSpPr>
            <a:spLocks xmlns:a="http://schemas.openxmlformats.org/drawingml/2006/main" noGrp="1"/>
          </p:cNvSpPr>
          <p:nvPr/>
        </p:nvSpPr>
        <p:spPr>
          <a:xfrm xmlns:a="http://schemas.openxmlformats.org/drawingml/2006/main">
            <a:off x="80518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69A1F08F-760E-49AA-98A4-E58E6A5085F2}"/>
              </a:ext>
            </a:extLst>
          </p:cNvPr>
          <p:cNvSpPr>
            <a:spLocks xmlns:a="http://schemas.openxmlformats.org/drawingml/2006/main" noGrp="1"/>
          </p:cNvSpPr>
          <p:nvPr/>
        </p:nvSpPr>
        <p:spPr>
          <a:xfrm xmlns:a="http://schemas.openxmlformats.org/drawingml/2006/main">
            <a:off x="80518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No certification evidence retrieved at all</a:t>
            </a:r>
          </a:p>
        </p:txBody>
      </p:sp>
      <p:sp>
        <p:nvSpPr>
          <p:cNvPr id="61" name="">
            <a:extLst xmlns:a="http://schemas.openxmlformats.org/drawingml/2006/main">
              <a:ext uri="{FF2B5EF4-FFF2-40B4-BE49-F238E27FC236}">
                <a16:creationId xmlns:a16="http://schemas.microsoft.com/office/drawing/2014/main" id="{6C7C36BD-4955-4522-917D-688B78136AFF}"/>
              </a:ext>
            </a:extLst>
          </p:cNvPr>
          <p:cNvSpPr>
            <a:spLocks xmlns:a="http://schemas.openxmlformats.org/drawingml/2006/main" noGrp="1"/>
          </p:cNvSpPr>
          <p:nvPr/>
        </p:nvSpPr>
        <p:spPr>
          <a:xfrm xmlns:a="http://schemas.openxmlformats.org/drawingml/2006/main">
            <a:off x="457200" y="5029200"/>
            <a:ext cx="11277600"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8AA7809E-D8F3-46FC-B647-3B5403F8D04B}"/>
              </a:ext>
            </a:extLst>
          </p:cNvPr>
          <p:cNvSpPr>
            <a:spLocks xmlns:a="http://schemas.openxmlformats.org/drawingml/2006/main" noGrp="1"/>
          </p:cNvSpPr>
          <p:nvPr/>
        </p:nvSpPr>
        <p:spPr>
          <a:xfrm xmlns:a="http://schemas.openxmlformats.org/drawingml/2006/main">
            <a:off x="457200" y="514350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EVIDENCE POSTURE · CONTESTED</a:t>
            </a:r>
          </a:p>
        </p:txBody>
      </p:sp>
      <p:sp>
        <p:nvSpPr>
          <p:cNvPr id="63" name="">
            <a:extLst xmlns:a="http://schemas.openxmlformats.org/drawingml/2006/main">
              <a:ext uri="{FF2B5EF4-FFF2-40B4-BE49-F238E27FC236}">
                <a16:creationId xmlns:a16="http://schemas.microsoft.com/office/drawing/2014/main" id="{D85AA60F-3B38-430D-9809-6BEB213C525A}"/>
              </a:ext>
            </a:extLst>
          </p:cNvPr>
          <p:cNvSpPr>
            <a:spLocks xmlns:a="http://schemas.openxmlformats.org/drawingml/2006/main" noGrp="1"/>
          </p:cNvSpPr>
          <p:nvPr/>
        </p:nvSpPr>
        <p:spPr>
          <a:xfrm xmlns:a="http://schemas.openxmlformats.org/drawingml/2006/main">
            <a:off x="9258300" y="5143500"/>
            <a:ext cx="2476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EV-STK-01 … EV-STK-07</a:t>
            </a:r>
          </a:p>
        </p:txBody>
      </p:sp>
      <p:sp>
        <p:nvSpPr>
          <p:cNvPr id="64" name="">
            <a:extLst xmlns:a="http://schemas.openxmlformats.org/drawingml/2006/main">
              <a:ext uri="{FF2B5EF4-FFF2-40B4-BE49-F238E27FC236}">
                <a16:creationId xmlns:a16="http://schemas.microsoft.com/office/drawing/2014/main" id="{44EEFDA0-6EF9-4310-ACEA-87FF8A74CD25}"/>
              </a:ext>
            </a:extLst>
          </p:cNvPr>
          <p:cNvSpPr>
            <a:spLocks xmlns:a="http://schemas.openxmlformats.org/drawingml/2006/main" noGrp="1"/>
          </p:cNvSpPr>
          <p:nvPr/>
        </p:nvSpPr>
        <p:spPr>
          <a:xfrm xmlns:a="http://schemas.openxmlformats.org/drawingml/2006/main">
            <a:off x="457200" y="5334000"/>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2,500+ vehicle number comes from one Nov 2024 interview that also says 700 units and 300+ vehicles. Unaudited, ~21 months old, internally contradicted. What is durable: 30% tender share and 40% recurring revenue.</a:t>
            </a:r>
          </a:p>
        </p:txBody>
      </p:sp>
      <p:sp>
        <p:nvSpPr>
          <p:cNvPr id="65" name="">
            <a:extLst xmlns:a="http://schemas.openxmlformats.org/drawingml/2006/main">
              <a:ext uri="{FF2B5EF4-FFF2-40B4-BE49-F238E27FC236}">
                <a16:creationId xmlns:a16="http://schemas.microsoft.com/office/drawing/2014/main" id="{CE95D7F5-08B2-4291-8D26-6A78646B2FF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B48F263B-CBA1-4700-9294-080C48F0D8A9}"/>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7" name="">
            <a:extLst xmlns:a="http://schemas.openxmlformats.org/drawingml/2006/main">
              <a:ext uri="{FF2B5EF4-FFF2-40B4-BE49-F238E27FC236}">
                <a16:creationId xmlns:a16="http://schemas.microsoft.com/office/drawing/2014/main" id="{DDEB72A3-645A-43B7-AFB3-21A2E02AC0B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52</a:t>
            </a:r>
          </a:p>
        </p:txBody>
      </p:sp>
    </p:spTree>
    <p:extLst>
      <p:ext uri="{BB962C8B-B14F-4D97-AF65-F5344CB8AC3E}">
        <p14:creationId xmlns:p14="http://schemas.microsoft.com/office/powerpoint/2010/main" val="702253426"/>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91DA555-1556-49E6-8338-8E5A834232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73BB87B-89EB-4F51-918A-74C20A65C02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9F62D6A-1BA1-4F54-B222-E60381108338}"/>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AI USE CASES · STARKENN</a:t>
            </a:r>
          </a:p>
        </p:txBody>
      </p:sp>
      <p:sp>
        <p:nvSpPr>
          <p:cNvPr id="4" name="">
            <a:extLst xmlns:a="http://schemas.openxmlformats.org/drawingml/2006/main">
              <a:ext uri="{FF2B5EF4-FFF2-40B4-BE49-F238E27FC236}">
                <a16:creationId xmlns:a16="http://schemas.microsoft.com/office/drawing/2014/main" id="{E4C7DA4C-78CD-47DF-B4B2-3113C1DBBBC0}"/>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What Starkenn's AI actually does</a:t>
            </a:r>
          </a:p>
        </p:txBody>
      </p:sp>
      <p:sp>
        <p:nvSpPr>
          <p:cNvPr id="5" name="">
            <a:extLst xmlns:a="http://schemas.openxmlformats.org/drawingml/2006/main">
              <a:ext uri="{FF2B5EF4-FFF2-40B4-BE49-F238E27FC236}">
                <a16:creationId xmlns:a16="http://schemas.microsoft.com/office/drawing/2014/main" id="{874D1B71-EA6E-49FE-AA4D-4B282146B86A}"/>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Threat ratings describe how worried to be. This describes what the system is — which is what decides whether DeepGrid displaces, attaches to, or ignores it.</a:t>
            </a:r>
          </a:p>
        </p:txBody>
      </p:sp>
      <p:sp>
        <p:nvSpPr>
          <p:cNvPr id="6" name="">
            <a:extLst xmlns:a="http://schemas.openxmlformats.org/drawingml/2006/main">
              <a:ext uri="{FF2B5EF4-FFF2-40B4-BE49-F238E27FC236}">
                <a16:creationId xmlns:a16="http://schemas.microsoft.com/office/drawing/2014/main" id="{E544DEF6-9584-4091-B360-D814355DF55C}"/>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FDDF8AF-BE3B-4432-B5F6-9F239AB243E7}"/>
              </a:ext>
            </a:extLst>
          </p:cNvPr>
          <p:cNvSpPr>
            <a:spLocks xmlns:a="http://schemas.openxmlformats.org/drawingml/2006/main" noGrp="1"/>
          </p:cNvSpPr>
          <p:nvPr/>
        </p:nvSpPr>
        <p:spPr>
          <a:xfrm xmlns:a="http://schemas.openxmlformats.org/drawingml/2006/main">
            <a:off x="457200" y="1123950"/>
            <a:ext cx="28575" cy="3238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344D7C0-9BF8-4F47-9BF8-FB40121760C4}"/>
              </a:ext>
            </a:extLst>
          </p:cNvPr>
          <p:cNvSpPr>
            <a:spLocks xmlns:a="http://schemas.openxmlformats.org/drawingml/2006/main" noGrp="1"/>
          </p:cNvSpPr>
          <p:nvPr/>
        </p:nvSpPr>
        <p:spPr>
          <a:xfrm xmlns:a="http://schemas.openxmlformats.org/drawingml/2006/main">
            <a:off x="609600" y="11620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D7720B"/>
                </a:solidFill>
                <a:latin typeface="Arial"/>
                <a:ea typeface="Arial"/>
                <a:cs typeface="Arial"/>
              </a:defRPr>
            </a:pPr>
            <a:r>
              <a:t>PATTERN</a:t>
            </a:r>
          </a:p>
        </p:txBody>
      </p:sp>
      <p:sp>
        <p:nvSpPr>
          <p:cNvPr id="9" name="">
            <a:extLst xmlns:a="http://schemas.openxmlformats.org/drawingml/2006/main">
              <a:ext uri="{FF2B5EF4-FFF2-40B4-BE49-F238E27FC236}">
                <a16:creationId xmlns:a16="http://schemas.microsoft.com/office/drawing/2014/main" id="{D5C6A906-86A2-473F-BA8D-B6066E66A559}"/>
              </a:ext>
            </a:extLst>
          </p:cNvPr>
          <p:cNvSpPr>
            <a:spLocks xmlns:a="http://schemas.openxmlformats.org/drawingml/2006/main" noGrp="1"/>
          </p:cNvSpPr>
          <p:nvPr/>
        </p:nvSpPr>
        <p:spPr>
          <a:xfrm xmlns:a="http://schemas.openxmlformats.org/drawingml/2006/main">
            <a:off x="2743200" y="11620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P-VIS + P-DMS + P-TEL — warning and monitoring</a:t>
            </a:r>
          </a:p>
        </p:txBody>
      </p:sp>
      <p:sp>
        <p:nvSpPr>
          <p:cNvPr id="10" name="">
            <a:extLst xmlns:a="http://schemas.openxmlformats.org/drawingml/2006/main">
              <a:ext uri="{FF2B5EF4-FFF2-40B4-BE49-F238E27FC236}">
                <a16:creationId xmlns:a16="http://schemas.microsoft.com/office/drawing/2014/main" id="{B842EE93-4742-401C-8CE6-2358840DF059}"/>
              </a:ext>
            </a:extLst>
          </p:cNvPr>
          <p:cNvSpPr>
            <a:spLocks xmlns:a="http://schemas.openxmlformats.org/drawingml/2006/main" noGrp="1"/>
          </p:cNvSpPr>
          <p:nvPr/>
        </p:nvSpPr>
        <p:spPr>
          <a:xfrm xmlns:a="http://schemas.openxmlformats.org/drawingml/2006/main">
            <a:off x="457200" y="15430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EAF827F-F0E2-47AF-B958-7EF4F7898DD7}"/>
              </a:ext>
            </a:extLst>
          </p:cNvPr>
          <p:cNvSpPr>
            <a:spLocks xmlns:a="http://schemas.openxmlformats.org/drawingml/2006/main" noGrp="1"/>
          </p:cNvSpPr>
          <p:nvPr/>
        </p:nvSpPr>
        <p:spPr>
          <a:xfrm xmlns:a="http://schemas.openxmlformats.org/drawingml/2006/main">
            <a:off x="609600" y="15811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DMS</a:t>
            </a:r>
          </a:p>
        </p:txBody>
      </p:sp>
      <p:sp>
        <p:nvSpPr>
          <p:cNvPr id="12" name="">
            <a:extLst xmlns:a="http://schemas.openxmlformats.org/drawingml/2006/main">
              <a:ext uri="{FF2B5EF4-FFF2-40B4-BE49-F238E27FC236}">
                <a16:creationId xmlns:a16="http://schemas.microsoft.com/office/drawing/2014/main" id="{E2F4AFD4-8282-4A0D-B2D7-6EDBEBA9A35A}"/>
              </a:ext>
            </a:extLst>
          </p:cNvPr>
          <p:cNvSpPr>
            <a:spLocks xmlns:a="http://schemas.openxmlformats.org/drawingml/2006/main" noGrp="1"/>
          </p:cNvSpPr>
          <p:nvPr/>
        </p:nvSpPr>
        <p:spPr>
          <a:xfrm xmlns:a="http://schemas.openxmlformats.org/drawingml/2006/main">
            <a:off x="2743200" y="15811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Driver monitoring incl. alcohol detection that prevents vehicle start</a:t>
            </a:r>
          </a:p>
        </p:txBody>
      </p:sp>
      <p:sp>
        <p:nvSpPr>
          <p:cNvPr id="13" name="">
            <a:extLst xmlns:a="http://schemas.openxmlformats.org/drawingml/2006/main">
              <a:ext uri="{FF2B5EF4-FFF2-40B4-BE49-F238E27FC236}">
                <a16:creationId xmlns:a16="http://schemas.microsoft.com/office/drawing/2014/main" id="{68590B18-FB65-4858-82E9-1CE6CC285541}"/>
              </a:ext>
            </a:extLst>
          </p:cNvPr>
          <p:cNvSpPr>
            <a:spLocks xmlns:a="http://schemas.openxmlformats.org/drawingml/2006/main" noGrp="1"/>
          </p:cNvSpPr>
          <p:nvPr/>
        </p:nvSpPr>
        <p:spPr>
          <a:xfrm xmlns:a="http://schemas.openxmlformats.org/drawingml/2006/main">
            <a:off x="457200" y="19621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D713C84-193E-4CF2-B36B-071B3F38CB1B}"/>
              </a:ext>
            </a:extLst>
          </p:cNvPr>
          <p:cNvSpPr>
            <a:spLocks xmlns:a="http://schemas.openxmlformats.org/drawingml/2006/main" noGrp="1"/>
          </p:cNvSpPr>
          <p:nvPr/>
        </p:nvSpPr>
        <p:spPr>
          <a:xfrm xmlns:a="http://schemas.openxmlformats.org/drawingml/2006/main">
            <a:off x="609600" y="20002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TELEMATICS</a:t>
            </a:r>
          </a:p>
        </p:txBody>
      </p:sp>
      <p:sp>
        <p:nvSpPr>
          <p:cNvPr id="15" name="">
            <a:extLst xmlns:a="http://schemas.openxmlformats.org/drawingml/2006/main">
              <a:ext uri="{FF2B5EF4-FFF2-40B4-BE49-F238E27FC236}">
                <a16:creationId xmlns:a16="http://schemas.microsoft.com/office/drawing/2014/main" id="{FE21EA3D-E9EE-4A18-B8AE-AD8B417F52FA}"/>
              </a:ext>
            </a:extLst>
          </p:cNvPr>
          <p:cNvSpPr>
            <a:spLocks xmlns:a="http://schemas.openxmlformats.org/drawingml/2006/main" noGrp="1"/>
          </p:cNvSpPr>
          <p:nvPr/>
        </p:nvSpPr>
        <p:spPr>
          <a:xfrm xmlns:a="http://schemas.openxmlformats.org/drawingml/2006/main">
            <a:off x="2743200" y="20002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Stark-I — tracking, driver behaviour, route and fuel analytics</a:t>
            </a:r>
          </a:p>
        </p:txBody>
      </p:sp>
      <p:sp>
        <p:nvSpPr>
          <p:cNvPr id="16" name="">
            <a:extLst xmlns:a="http://schemas.openxmlformats.org/drawingml/2006/main">
              <a:ext uri="{FF2B5EF4-FFF2-40B4-BE49-F238E27FC236}">
                <a16:creationId xmlns:a16="http://schemas.microsoft.com/office/drawing/2014/main" id="{9C538E6A-5EF7-429A-88F6-5C87657F4400}"/>
              </a:ext>
            </a:extLst>
          </p:cNvPr>
          <p:cNvSpPr>
            <a:spLocks xmlns:a="http://schemas.openxmlformats.org/drawingml/2006/main" noGrp="1"/>
          </p:cNvSpPr>
          <p:nvPr/>
        </p:nvSpPr>
        <p:spPr>
          <a:xfrm xmlns:a="http://schemas.openxmlformats.org/drawingml/2006/main">
            <a:off x="457200" y="23812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E37F849-CE1A-4366-A547-AB3539E1C680}"/>
              </a:ext>
            </a:extLst>
          </p:cNvPr>
          <p:cNvSpPr>
            <a:spLocks xmlns:a="http://schemas.openxmlformats.org/drawingml/2006/main" noGrp="1"/>
          </p:cNvSpPr>
          <p:nvPr/>
        </p:nvSpPr>
        <p:spPr>
          <a:xfrm xmlns:a="http://schemas.openxmlformats.org/drawingml/2006/main">
            <a:off x="609600" y="24193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REVENUE</a:t>
            </a:r>
          </a:p>
        </p:txBody>
      </p:sp>
      <p:sp>
        <p:nvSpPr>
          <p:cNvPr id="18" name="">
            <a:extLst xmlns:a="http://schemas.openxmlformats.org/drawingml/2006/main">
              <a:ext uri="{FF2B5EF4-FFF2-40B4-BE49-F238E27FC236}">
                <a16:creationId xmlns:a16="http://schemas.microsoft.com/office/drawing/2014/main" id="{BE2DFC29-3037-4814-9670-6D3ACD4306D6}"/>
              </a:ext>
            </a:extLst>
          </p:cNvPr>
          <p:cNvSpPr>
            <a:spLocks xmlns:a="http://schemas.openxmlformats.org/drawingml/2006/main" noGrp="1"/>
          </p:cNvSpPr>
          <p:nvPr/>
        </p:nvSpPr>
        <p:spPr>
          <a:xfrm xmlns:a="http://schemas.openxmlformats.org/drawingml/2006/main">
            <a:off x="2743200" y="24193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40% subscription · 30% government tenders · 20% B2C · 10% OEM</a:t>
            </a:r>
          </a:p>
        </p:txBody>
      </p:sp>
      <p:sp>
        <p:nvSpPr>
          <p:cNvPr id="19" name="">
            <a:extLst xmlns:a="http://schemas.openxmlformats.org/drawingml/2006/main">
              <a:ext uri="{FF2B5EF4-FFF2-40B4-BE49-F238E27FC236}">
                <a16:creationId xmlns:a16="http://schemas.microsoft.com/office/drawing/2014/main" id="{7CD547E0-30D6-4528-BF0A-B1CE96624021}"/>
              </a:ext>
            </a:extLst>
          </p:cNvPr>
          <p:cNvSpPr>
            <a:spLocks xmlns:a="http://schemas.openxmlformats.org/drawingml/2006/main" noGrp="1"/>
          </p:cNvSpPr>
          <p:nvPr/>
        </p:nvSpPr>
        <p:spPr>
          <a:xfrm xmlns:a="http://schemas.openxmlformats.org/drawingml/2006/main">
            <a:off x="457200" y="28003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F9A1D7C-A417-4C7F-8F2B-B2925F6E1B85}"/>
              </a:ext>
            </a:extLst>
          </p:cNvPr>
          <p:cNvSpPr>
            <a:spLocks xmlns:a="http://schemas.openxmlformats.org/drawingml/2006/main" noGrp="1"/>
          </p:cNvSpPr>
          <p:nvPr/>
        </p:nvSpPr>
        <p:spPr>
          <a:xfrm xmlns:a="http://schemas.openxmlformats.org/drawingml/2006/main">
            <a:off x="609600" y="28384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DEPLOYMENT</a:t>
            </a:r>
          </a:p>
        </p:txBody>
      </p:sp>
      <p:sp>
        <p:nvSpPr>
          <p:cNvPr id="21" name="">
            <a:extLst xmlns:a="http://schemas.openxmlformats.org/drawingml/2006/main">
              <a:ext uri="{FF2B5EF4-FFF2-40B4-BE49-F238E27FC236}">
                <a16:creationId xmlns:a16="http://schemas.microsoft.com/office/drawing/2014/main" id="{7103096F-2338-41C8-9F9A-0ABE029DC69E}"/>
              </a:ext>
            </a:extLst>
          </p:cNvPr>
          <p:cNvSpPr>
            <a:spLocks xmlns:a="http://schemas.openxmlformats.org/drawingml/2006/main" noGrp="1"/>
          </p:cNvSpPr>
          <p:nvPr/>
        </p:nvSpPr>
        <p:spPr>
          <a:xfrm xmlns:a="http://schemas.openxmlformats.org/drawingml/2006/main">
            <a:off x="2743200" y="28384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HEADLINE FIGURE FAILS — one source states 2,500 / 700 / 300+</a:t>
            </a:r>
          </a:p>
        </p:txBody>
      </p:sp>
      <p:sp>
        <p:nvSpPr>
          <p:cNvPr id="22" name="">
            <a:extLst xmlns:a="http://schemas.openxmlformats.org/drawingml/2006/main">
              <a:ext uri="{FF2B5EF4-FFF2-40B4-BE49-F238E27FC236}">
                <a16:creationId xmlns:a16="http://schemas.microsoft.com/office/drawing/2014/main" id="{3EE760C0-B799-44E7-AE6D-06EA65C108D4}"/>
              </a:ext>
            </a:extLst>
          </p:cNvPr>
          <p:cNvSpPr>
            <a:spLocks xmlns:a="http://schemas.openxmlformats.org/drawingml/2006/main" noGrp="1"/>
          </p:cNvSpPr>
          <p:nvPr/>
        </p:nvSpPr>
        <p:spPr>
          <a:xfrm xmlns:a="http://schemas.openxmlformats.org/drawingml/2006/main">
            <a:off x="457200" y="32575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853CA2F-B888-463D-81FC-90B01A9D9B5F}"/>
              </a:ext>
            </a:extLst>
          </p:cNvPr>
          <p:cNvSpPr>
            <a:spLocks xmlns:a="http://schemas.openxmlformats.org/drawingml/2006/main" noGrp="1"/>
          </p:cNvSpPr>
          <p:nvPr/>
        </p:nvSpPr>
        <p:spPr>
          <a:xfrm xmlns:a="http://schemas.openxmlformats.org/drawingml/2006/main">
            <a:off x="457200" y="33718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IMPLICATION FOR DEEPGRID</a:t>
            </a:r>
          </a:p>
        </p:txBody>
      </p:sp>
      <p:sp>
        <p:nvSpPr>
          <p:cNvPr id="24" name="">
            <a:extLst xmlns:a="http://schemas.openxmlformats.org/drawingml/2006/main">
              <a:ext uri="{FF2B5EF4-FFF2-40B4-BE49-F238E27FC236}">
                <a16:creationId xmlns:a16="http://schemas.microsoft.com/office/drawing/2014/main" id="{DD1EA4D4-7A11-4E92-9216-5D2338030FD5}"/>
              </a:ext>
            </a:extLst>
          </p:cNvPr>
          <p:cNvSpPr>
            <a:spLocks xmlns:a="http://schemas.openxmlformats.org/drawingml/2006/main" noGrp="1"/>
          </p:cNvSpPr>
          <p:nvPr/>
        </p:nvSpPr>
        <p:spPr>
          <a:xfrm xmlns:a="http://schemas.openxmlformats.org/drawingml/2006/main">
            <a:off x="457200" y="3562350"/>
            <a:ext cx="112776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2,500+ vehicle number comes from one Nov 2024 interview that also says 700 units and 300+ vehicles. Unaudited, ~21 months old, internally contradicted. What is durable: 30% tender share and 40% recurring revenue.</a:t>
            </a:r>
          </a:p>
        </p:txBody>
      </p:sp>
      <p:sp>
        <p:nvSpPr>
          <p:cNvPr id="25" name="">
            <a:extLst xmlns:a="http://schemas.openxmlformats.org/drawingml/2006/main">
              <a:ext uri="{FF2B5EF4-FFF2-40B4-BE49-F238E27FC236}">
                <a16:creationId xmlns:a16="http://schemas.microsoft.com/office/drawing/2014/main" id="{65CDA91F-B662-4192-B2B8-7302F272117E}"/>
              </a:ext>
            </a:extLst>
          </p:cNvPr>
          <p:cNvSpPr>
            <a:spLocks xmlns:a="http://schemas.openxmlformats.org/drawingml/2006/main" noGrp="1"/>
          </p:cNvSpPr>
          <p:nvPr/>
        </p:nvSpPr>
        <p:spPr>
          <a:xfrm xmlns:a="http://schemas.openxmlformats.org/drawingml/2006/main">
            <a:off x="457200" y="4248150"/>
            <a:ext cx="11277600" cy="7048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6" name="">
            <a:extLst xmlns:a="http://schemas.openxmlformats.org/drawingml/2006/main">
              <a:ext uri="{FF2B5EF4-FFF2-40B4-BE49-F238E27FC236}">
                <a16:creationId xmlns:a16="http://schemas.microsoft.com/office/drawing/2014/main" id="{8E6CA18A-20E5-4520-8FE3-D6DA1A2C30DC}"/>
              </a:ext>
            </a:extLst>
          </p:cNvPr>
          <p:cNvSpPr>
            <a:spLocks xmlns:a="http://schemas.openxmlformats.org/drawingml/2006/main" noGrp="1"/>
          </p:cNvSpPr>
          <p:nvPr/>
        </p:nvSpPr>
        <p:spPr>
          <a:xfrm xmlns:a="http://schemas.openxmlformats.org/drawingml/2006/main">
            <a:off x="457200" y="4248150"/>
            <a:ext cx="38100" cy="7048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FF466A6-6019-4CD8-B13A-E152A37A1A23}"/>
              </a:ext>
            </a:extLst>
          </p:cNvPr>
          <p:cNvSpPr>
            <a:spLocks xmlns:a="http://schemas.openxmlformats.org/drawingml/2006/main" noGrp="1"/>
          </p:cNvSpPr>
          <p:nvPr/>
        </p:nvSpPr>
        <p:spPr>
          <a:xfrm xmlns:a="http://schemas.openxmlformats.org/drawingml/2006/main">
            <a:off x="628650" y="4362450"/>
            <a:ext cx="8420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P-WARN · WARNING ONLY — NO BRAKE ACTUATION</a:t>
            </a:r>
          </a:p>
        </p:txBody>
      </p:sp>
      <p:sp>
        <p:nvSpPr>
          <p:cNvPr id="28" name="">
            <a:extLst xmlns:a="http://schemas.openxmlformats.org/drawingml/2006/main">
              <a:ext uri="{FF2B5EF4-FFF2-40B4-BE49-F238E27FC236}">
                <a16:creationId xmlns:a16="http://schemas.microsoft.com/office/drawing/2014/main" id="{74660745-AAA5-48CB-8AF3-E5674F17D0FD}"/>
              </a:ext>
            </a:extLst>
          </p:cNvPr>
          <p:cNvSpPr>
            <a:spLocks xmlns:a="http://schemas.openxmlformats.org/drawingml/2006/main" noGrp="1"/>
          </p:cNvSpPr>
          <p:nvPr/>
        </p:nvSpPr>
        <p:spPr>
          <a:xfrm xmlns:a="http://schemas.openxmlformats.org/drawingml/2006/main">
            <a:off x="628650" y="4552950"/>
            <a:ext cx="8420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Not a mandate competitor. It is winning retrofit fleet-safety budget on a different clock, against a different buyer.</a:t>
            </a:r>
          </a:p>
        </p:txBody>
      </p:sp>
      <p:sp>
        <p:nvSpPr>
          <p:cNvPr id="29" name="">
            <a:extLst xmlns:a="http://schemas.openxmlformats.org/drawingml/2006/main">
              <a:ext uri="{FF2B5EF4-FFF2-40B4-BE49-F238E27FC236}">
                <a16:creationId xmlns:a16="http://schemas.microsoft.com/office/drawing/2014/main" id="{D60CD95B-2A55-44FC-BB2F-7AAADB0A4943}"/>
              </a:ext>
            </a:extLst>
          </p:cNvPr>
          <p:cNvSpPr>
            <a:spLocks xmlns:a="http://schemas.openxmlformats.org/drawingml/2006/main" noGrp="1"/>
          </p:cNvSpPr>
          <p:nvPr/>
        </p:nvSpPr>
        <p:spPr>
          <a:xfrm xmlns:a="http://schemas.openxmlformats.org/drawingml/2006/main">
            <a:off x="9163050" y="436245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a:solidFill>
                  <a:srgbClr val="8EA0B2"/>
                </a:solidFill>
                <a:latin typeface="Arial"/>
                <a:ea typeface="Arial"/>
                <a:cs typeface="Arial"/>
              </a:defRPr>
            </a:pPr>
            <a:r>
              <a:t>Evidence · EV-STK-01 … EV-STK-07</a:t>
            </a:r>
          </a:p>
        </p:txBody>
      </p:sp>
      <p:sp>
        <p:nvSpPr>
          <p:cNvPr id="30" name="">
            <a:extLst xmlns:a="http://schemas.openxmlformats.org/drawingml/2006/main">
              <a:ext uri="{FF2B5EF4-FFF2-40B4-BE49-F238E27FC236}">
                <a16:creationId xmlns:a16="http://schemas.microsoft.com/office/drawing/2014/main" id="{3D3C5034-5543-4FB6-8FE1-323CD3C0E019}"/>
              </a:ext>
            </a:extLst>
          </p:cNvPr>
          <p:cNvSpPr>
            <a:spLocks xmlns:a="http://schemas.openxmlformats.org/drawingml/2006/main" noGrp="1"/>
          </p:cNvSpPr>
          <p:nvPr/>
        </p:nvSpPr>
        <p:spPr>
          <a:xfrm xmlns:a="http://schemas.openxmlformats.org/drawingml/2006/main">
            <a:off x="9163050" y="453390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E06767"/>
                </a:solidFill>
                <a:latin typeface="Arial"/>
                <a:ea typeface="Arial"/>
                <a:cs typeface="Arial"/>
              </a:defRPr>
            </a:pPr>
            <a:r>
              <a:t>Posture · CONTESTED</a:t>
            </a:r>
          </a:p>
        </p:txBody>
      </p:sp>
      <p:sp>
        <p:nvSpPr>
          <p:cNvPr id="31" name="">
            <a:extLst xmlns:a="http://schemas.openxmlformats.org/drawingml/2006/main">
              <a:ext uri="{FF2B5EF4-FFF2-40B4-BE49-F238E27FC236}">
                <a16:creationId xmlns:a16="http://schemas.microsoft.com/office/drawing/2014/main" id="{DD96BA73-AA94-4045-9B86-A1986B98C74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6DAF58E-C402-4ED7-84AC-3663BD4AE5DC}"/>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E7FB4092-B965-4964-8C46-287C2C5F75F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53</a:t>
            </a:r>
          </a:p>
        </p:txBody>
      </p:sp>
    </p:spTree>
    <p:extLst>
      <p:ext uri="{BB962C8B-B14F-4D97-AF65-F5344CB8AC3E}">
        <p14:creationId xmlns:p14="http://schemas.microsoft.com/office/powerpoint/2010/main" val="1391242137"/>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4BBF1BBB-B6EB-46B9-A713-F7C06EA3B0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0FA56B0-F9BC-4676-8A67-381C50A62022}"/>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28CEC79-2519-43AD-9799-4097FCD6000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C7BA3C4E-DF74-41A8-968C-26C1258E5FF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7DC8B20F-2EF5-4966-B416-5E22364D59A6}"/>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Starkenn appears ahead in field access, but evidence gaps remain</a:t>
            </a:r>
          </a:p>
        </p:txBody>
      </p:sp>
      <p:sp>
        <p:nvSpPr>
          <p:cNvPr id="6" name="">
            <a:extLst xmlns:a="http://schemas.openxmlformats.org/drawingml/2006/main">
              <a:ext uri="{FF2B5EF4-FFF2-40B4-BE49-F238E27FC236}">
                <a16:creationId xmlns:a16="http://schemas.microsoft.com/office/drawing/2014/main" id="{91130B76-F9D9-45F1-AB57-BB6F0777B920}"/>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FBAE87A-901B-490E-B3AB-4C4223CF76D4}"/>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evidence supports Starkenn's competitive rating, and which part remains company-reported?</a:t>
            </a:r>
          </a:p>
        </p:txBody>
      </p:sp>
      <p:sp>
        <p:nvSpPr>
          <p:cNvPr id="8" name="">
            <a:extLst xmlns:a="http://schemas.openxmlformats.org/drawingml/2006/main">
              <a:ext uri="{FF2B5EF4-FFF2-40B4-BE49-F238E27FC236}">
                <a16:creationId xmlns:a16="http://schemas.microsoft.com/office/drawing/2014/main" id="{101394A7-EDB2-4CDD-9D21-3C775A0851AB}"/>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6D6BED8E-B1BE-48CC-804C-8C569CD1C6D3}"/>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6E206E6-2BDB-40AD-9965-100F24F4DF62}"/>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DF9D606D-BAD9-4D16-ABF1-EE41F86ADF82}"/>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Assessment Treat Starkenn as a serious access-led competitor, not a proven scale leader, until customer, tender or approval artifacts corroborate its claims.</a:t>
            </a:r>
          </a:p>
        </p:txBody>
      </p:sp>
      <p:sp>
        <p:nvSpPr>
          <p:cNvPr id="12" name="">
            <a:extLst xmlns:a="http://schemas.openxmlformats.org/drawingml/2006/main">
              <a:ext uri="{FF2B5EF4-FFF2-40B4-BE49-F238E27FC236}">
                <a16:creationId xmlns:a16="http://schemas.microsoft.com/office/drawing/2014/main" id="{B02C864B-FC15-4107-AA34-F01D5996CFD9}"/>
              </a:ext>
            </a:extLst>
          </p:cNvPr>
          <p:cNvSpPr>
            <a:spLocks xmlns:a="http://schemas.openxmlformats.org/drawingml/2006/main" noGrp="1"/>
          </p:cNvSpPr>
          <p:nvPr/>
        </p:nvSpPr>
        <p:spPr>
          <a:xfrm xmlns:a="http://schemas.openxmlformats.org/drawingml/2006/main">
            <a:off x="4572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93E94DB4-3D55-43FA-8E34-3A41F71280F2}"/>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9A21DC5-59E0-47DE-A95A-EF7C46A9FA7A}"/>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86B35DC7-D620-4A85-85E5-15CA2ACB5188}"/>
              </a:ext>
            </a:extLst>
          </p:cNvPr>
          <p:cNvSpPr>
            <a:spLocks xmlns:a="http://schemas.openxmlformats.org/drawingml/2006/main" noGrp="1"/>
          </p:cNvSpPr>
          <p:nvPr/>
        </p:nvSpPr>
        <p:spPr>
          <a:xfrm xmlns:a="http://schemas.openxmlformats.org/drawingml/2006/main">
            <a:off x="5715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Assessment Treat Starkenn as a serious access-led competitor, not a proven scale leader, until customer, tender or approval artifacts corroborate its claims.</a:t>
            </a:r>
          </a:p>
        </p:txBody>
      </p:sp>
      <p:sp>
        <p:nvSpPr>
          <p:cNvPr id="16" name="">
            <a:extLst xmlns:a="http://schemas.openxmlformats.org/drawingml/2006/main">
              <a:ext uri="{FF2B5EF4-FFF2-40B4-BE49-F238E27FC236}">
                <a16:creationId xmlns:a16="http://schemas.microsoft.com/office/drawing/2014/main" id="{839062C4-CEE5-4B27-ACCC-3B6027FBE018}"/>
              </a:ext>
            </a:extLst>
          </p:cNvPr>
          <p:cNvSpPr>
            <a:spLocks xmlns:a="http://schemas.openxmlformats.org/drawingml/2006/main" noGrp="1"/>
          </p:cNvSpPr>
          <p:nvPr/>
        </p:nvSpPr>
        <p:spPr>
          <a:xfrm xmlns:a="http://schemas.openxmlformats.org/drawingml/2006/main">
            <a:off x="424815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BC762E7E-40C1-4C53-AC19-84C0BC5D0BBA}"/>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61ACDC9-7188-485B-B8B8-3F41EF522E62}"/>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A58F78A1-54D2-4AA2-BB45-57B27F795A66}"/>
              </a:ext>
            </a:extLst>
          </p:cNvPr>
          <p:cNvSpPr>
            <a:spLocks xmlns:a="http://schemas.openxmlformats.org/drawingml/2006/main" noGrp="1"/>
          </p:cNvSpPr>
          <p:nvPr/>
        </p:nvSpPr>
        <p:spPr>
          <a:xfrm xmlns:a="http://schemas.openxmlformats.org/drawingml/2006/main">
            <a:off x="436245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Field access may already be decisive. If the installed base and service coverage are real, DeepGrid arrives late to the one arena where proof is cheapest to obtain.</a:t>
            </a:r>
          </a:p>
        </p:txBody>
      </p:sp>
      <p:sp>
        <p:nvSpPr>
          <p:cNvPr id="20" name="">
            <a:extLst xmlns:a="http://schemas.openxmlformats.org/drawingml/2006/main">
              <a:ext uri="{FF2B5EF4-FFF2-40B4-BE49-F238E27FC236}">
                <a16:creationId xmlns:a16="http://schemas.microsoft.com/office/drawing/2014/main" id="{0F501798-F1CF-4325-AE39-AAADBFC0E6F0}"/>
              </a:ext>
            </a:extLst>
          </p:cNvPr>
          <p:cNvSpPr>
            <a:spLocks xmlns:a="http://schemas.openxmlformats.org/drawingml/2006/main" noGrp="1"/>
          </p:cNvSpPr>
          <p:nvPr/>
        </p:nvSpPr>
        <p:spPr>
          <a:xfrm xmlns:a="http://schemas.openxmlformats.org/drawingml/2006/main">
            <a:off x="80391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5CAE2968-C640-4358-BD35-4A38C8688AE2}"/>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C70F198-D5D5-41D2-A3A8-9D11B26D8A05}"/>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2F8112D5-96AB-4ABF-A314-64B3226045DF}"/>
              </a:ext>
            </a:extLst>
          </p:cNvPr>
          <p:cNvSpPr>
            <a:spLocks xmlns:a="http://schemas.openxmlformats.org/drawingml/2006/main" noGrp="1"/>
          </p:cNvSpPr>
          <p:nvPr/>
        </p:nvSpPr>
        <p:spPr>
          <a:xfrm xmlns:a="http://schemas.openxmlformats.org/drawingml/2006/main">
            <a:off x="81534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Treat Starkenn as an access-led competitor, not a proven scale leader, until a customer confirms the numbers.</a:t>
            </a:r>
          </a:p>
        </p:txBody>
      </p:sp>
      <p:sp>
        <p:nvSpPr>
          <p:cNvPr id="24" name="">
            <a:extLst xmlns:a="http://schemas.openxmlformats.org/drawingml/2006/main">
              <a:ext uri="{FF2B5EF4-FFF2-40B4-BE49-F238E27FC236}">
                <a16:creationId xmlns:a16="http://schemas.microsoft.com/office/drawing/2014/main" id="{8768BDC2-F701-49C5-A93F-30432ED5F0ED}"/>
              </a:ext>
            </a:extLst>
          </p:cNvPr>
          <p:cNvSpPr>
            <a:spLocks xmlns:a="http://schemas.openxmlformats.org/drawingml/2006/main" noGrp="1"/>
          </p:cNvSpPr>
          <p:nvPr/>
        </p:nvSpPr>
        <p:spPr>
          <a:xfrm xmlns:a="http://schemas.openxmlformats.org/drawingml/2006/main">
            <a:off x="457200" y="4641850"/>
            <a:ext cx="11277600" cy="673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CE792BA4-8DAA-4CF2-B447-C83B18BF4F63}"/>
              </a:ext>
            </a:extLst>
          </p:cNvPr>
          <p:cNvSpPr>
            <a:spLocks xmlns:a="http://schemas.openxmlformats.org/drawingml/2006/main" noGrp="1"/>
          </p:cNvSpPr>
          <p:nvPr/>
        </p:nvSpPr>
        <p:spPr>
          <a:xfrm xmlns:a="http://schemas.openxmlformats.org/drawingml/2006/main">
            <a:off x="457200" y="4641850"/>
            <a:ext cx="28575" cy="673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84FA19A-E46F-407B-8BE4-D5130AFA5833}"/>
              </a:ext>
            </a:extLst>
          </p:cNvPr>
          <p:cNvSpPr>
            <a:spLocks xmlns:a="http://schemas.openxmlformats.org/drawingml/2006/main" noGrp="1"/>
          </p:cNvSpPr>
          <p:nvPr/>
        </p:nvSpPr>
        <p:spPr>
          <a:xfrm xmlns:a="http://schemas.openxmlformats.org/drawingml/2006/main">
            <a:off x="581025" y="47085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ABC4785D-2691-4197-A94A-83E9CA3CD129}"/>
              </a:ext>
            </a:extLst>
          </p:cNvPr>
          <p:cNvSpPr>
            <a:spLocks xmlns:a="http://schemas.openxmlformats.org/drawingml/2006/main" noGrp="1"/>
          </p:cNvSpPr>
          <p:nvPr/>
        </p:nvSpPr>
        <p:spPr>
          <a:xfrm xmlns:a="http://schemas.openxmlformats.org/drawingml/2006/main">
            <a:off x="581025" y="4857750"/>
            <a:ext cx="1102995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any customer- or auditor-side deployment count appears. The company's own single source states 2,500 vehicles, 700 units and 300+ vehicles in one interview, so no count can be quoted from it.</a:t>
            </a:r>
          </a:p>
        </p:txBody>
      </p:sp>
      <p:sp>
        <p:nvSpPr>
          <p:cNvPr id="28" name="">
            <a:extLst xmlns:a="http://schemas.openxmlformats.org/drawingml/2006/main">
              <a:ext uri="{FF2B5EF4-FFF2-40B4-BE49-F238E27FC236}">
                <a16:creationId xmlns:a16="http://schemas.microsoft.com/office/drawing/2014/main" id="{E49AB6A1-3E38-4F70-82EA-60C6E9932A93}"/>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4FB0FD0-D5E6-43C8-88DB-DA75831E400B}"/>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AA685F1-4CAC-46DE-9CA6-0275F79901C3}"/>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D27EBA00-B036-426E-BB07-DF47CE4825A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Rate Starkenn HIGH on field access and INSUFFICIENT on scale until corroborated.</a:t>
            </a:r>
          </a:p>
        </p:txBody>
      </p:sp>
      <p:sp>
        <p:nvSpPr>
          <p:cNvPr id="32" name="">
            <a:extLst xmlns:a="http://schemas.openxmlformats.org/drawingml/2006/main">
              <a:ext uri="{FF2B5EF4-FFF2-40B4-BE49-F238E27FC236}">
                <a16:creationId xmlns:a16="http://schemas.microsoft.com/office/drawing/2014/main" id="{641ACB4B-DCA0-4044-ABD2-771A8B03C1C8}"/>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91CBABCD-B29E-42EA-9A78-AACA7795C882}"/>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customer-side or tender-record confirmation of deployment scale.</a:t>
            </a:r>
          </a:p>
        </p:txBody>
      </p:sp>
      <p:sp>
        <p:nvSpPr>
          <p:cNvPr id="34" name="">
            <a:extLst xmlns:a="http://schemas.openxmlformats.org/drawingml/2006/main">
              <a:ext uri="{FF2B5EF4-FFF2-40B4-BE49-F238E27FC236}">
                <a16:creationId xmlns:a16="http://schemas.microsoft.com/office/drawing/2014/main" id="{F8C8F5AD-DEC8-4E0E-9FB7-FD781DFC3AE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003019EC-4ECA-4FEC-A99A-DF7EFA06F66E}"/>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citing Starkenn's scale figures as fact in any internal plan.</a:t>
            </a:r>
          </a:p>
        </p:txBody>
      </p:sp>
      <p:sp>
        <p:nvSpPr>
          <p:cNvPr id="36" name="">
            <a:extLst xmlns:a="http://schemas.openxmlformats.org/drawingml/2006/main">
              <a:ext uri="{FF2B5EF4-FFF2-40B4-BE49-F238E27FC236}">
                <a16:creationId xmlns:a16="http://schemas.microsoft.com/office/drawing/2014/main" id="{83224505-0814-4A1E-AA42-56553EADA3D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7E976C7-CEC3-420C-A327-6ACDA7F7F98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209AF48A-4B46-484C-A8CB-EB581DE8E16F}"/>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54</a:t>
            </a:r>
          </a:p>
        </p:txBody>
      </p:sp>
    </p:spTree>
    <p:extLst>
      <p:ext uri="{BB962C8B-B14F-4D97-AF65-F5344CB8AC3E}">
        <p14:creationId xmlns:p14="http://schemas.microsoft.com/office/powerpoint/2010/main" val="1353710422"/>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77" name="">
            <a:extLst xmlns:a="http://schemas.openxmlformats.org/drawingml/2006/main">
              <a:ext uri="{FF2B5EF4-FFF2-40B4-BE49-F238E27FC236}">
                <a16:creationId xmlns:a16="http://schemas.microsoft.com/office/drawing/2014/main" id="{2320323F-17A4-4CFA-A894-EF66E3D14F3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3D991C9-54EB-4B00-81FC-CC1671C0FB59}"/>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81205C2-03A9-4885-AE58-6FCE134877A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5E03309E-687B-4CC5-9F0F-58ED64B145D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29183190-FD20-4323-BBF0-6D8499D03E8D}"/>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Starkenn threat: highest in mining retrofit; verify government/OEM evidence</a:t>
            </a:r>
          </a:p>
        </p:txBody>
      </p:sp>
      <p:sp>
        <p:nvSpPr>
          <p:cNvPr id="6" name="">
            <a:extLst xmlns:a="http://schemas.openxmlformats.org/drawingml/2006/main">
              <a:ext uri="{FF2B5EF4-FFF2-40B4-BE49-F238E27FC236}">
                <a16:creationId xmlns:a16="http://schemas.microsoft.com/office/drawing/2014/main" id="{B282F126-4444-4A61-9146-4722366CEE3D}"/>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96039AA-B220-4BE1-A981-AACF89F383A5}"/>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Starkenn's threat change by arena, and where should DeepGrid focus competitive response?</a:t>
            </a:r>
          </a:p>
        </p:txBody>
      </p:sp>
      <p:sp>
        <p:nvSpPr>
          <p:cNvPr id="8" name="">
            <a:extLst xmlns:a="http://schemas.openxmlformats.org/drawingml/2006/main">
              <a:ext uri="{FF2B5EF4-FFF2-40B4-BE49-F238E27FC236}">
                <a16:creationId xmlns:a16="http://schemas.microsoft.com/office/drawing/2014/main" id="{A210AA7C-8BB0-4A6E-B8AB-2BFDE91C9AD0}"/>
              </a:ext>
            </a:extLst>
          </p:cNvPr>
          <p:cNvSpPr>
            <a:spLocks xmlns:a="http://schemas.openxmlformats.org/drawingml/2006/main" noGrp="1"/>
          </p:cNvSpPr>
          <p:nvPr/>
        </p:nvSpPr>
        <p:spPr>
          <a:xfrm xmlns:a="http://schemas.openxmlformats.org/drawingml/2006/main">
            <a:off x="457200" y="1006475"/>
            <a:ext cx="11277600" cy="5207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D8EE1571-079E-49EB-9E78-71E48656E8AC}"/>
              </a:ext>
            </a:extLst>
          </p:cNvPr>
          <p:cNvSpPr>
            <a:spLocks xmlns:a="http://schemas.openxmlformats.org/drawingml/2006/main" noGrp="1"/>
          </p:cNvSpPr>
          <p:nvPr/>
        </p:nvSpPr>
        <p:spPr>
          <a:xfrm xmlns:a="http://schemas.openxmlformats.org/drawingml/2006/main">
            <a:off x="457200" y="1006475"/>
            <a:ext cx="28575" cy="5207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23AAEA3-9530-41FB-93B4-15BDCD427FF5}"/>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EC9D72AC-C482-4055-92F6-68C903A4ECA8}"/>
              </a:ext>
            </a:extLst>
          </p:cNvPr>
          <p:cNvSpPr>
            <a:spLocks xmlns:a="http://schemas.openxmlformats.org/drawingml/2006/main" noGrp="1"/>
          </p:cNvSpPr>
          <p:nvPr/>
        </p:nvSpPr>
        <p:spPr>
          <a:xfrm xmlns:a="http://schemas.openxmlformats.org/drawingml/2006/main">
            <a:off x="581025" y="1222375"/>
            <a:ext cx="1102995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Starkenn reports 30% of revenue from government tenders and 40% from subscriptions (Nov 2024, self-reported)</a:t>
            </a:r>
          </a:p>
        </p:txBody>
      </p:sp>
      <p:sp>
        <p:nvSpPr>
          <p:cNvPr id="12" name="">
            <a:extLst xmlns:a="http://schemas.openxmlformats.org/drawingml/2006/main">
              <a:ext uri="{FF2B5EF4-FFF2-40B4-BE49-F238E27FC236}">
                <a16:creationId xmlns:a16="http://schemas.microsoft.com/office/drawing/2014/main" id="{EB26747A-E594-48B6-9DF0-9ADCA8A4A68F}"/>
              </a:ext>
            </a:extLst>
          </p:cNvPr>
          <p:cNvSpPr>
            <a:spLocks xmlns:a="http://schemas.openxmlformats.org/drawingml/2006/main" noGrp="1"/>
          </p:cNvSpPr>
          <p:nvPr/>
        </p:nvSpPr>
        <p:spPr>
          <a:xfrm xmlns:a="http://schemas.openxmlformats.org/drawingml/2006/main">
            <a:off x="2712720" y="1641475"/>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27C3FC9-2FE2-4952-A337-332943B68086}"/>
              </a:ext>
            </a:extLst>
          </p:cNvPr>
          <p:cNvSpPr>
            <a:spLocks xmlns:a="http://schemas.openxmlformats.org/drawingml/2006/main" noGrp="1"/>
          </p:cNvSpPr>
          <p:nvPr/>
        </p:nvSpPr>
        <p:spPr>
          <a:xfrm xmlns:a="http://schemas.openxmlformats.org/drawingml/2006/main">
            <a:off x="2807970" y="1717675"/>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4E15F31F-B4F5-452B-BCC6-864BA3F01FEC}"/>
              </a:ext>
            </a:extLst>
          </p:cNvPr>
          <p:cNvSpPr>
            <a:spLocks xmlns:a="http://schemas.openxmlformats.org/drawingml/2006/main" noGrp="1"/>
          </p:cNvSpPr>
          <p:nvPr/>
        </p:nvSpPr>
        <p:spPr>
          <a:xfrm xmlns:a="http://schemas.openxmlformats.org/drawingml/2006/main">
            <a:off x="5815330" y="1717675"/>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0C4C1B42-2AEA-4A14-B4A5-BC29D0D8BCF0}"/>
              </a:ext>
            </a:extLst>
          </p:cNvPr>
          <p:cNvSpPr>
            <a:spLocks xmlns:a="http://schemas.openxmlformats.org/drawingml/2006/main" noGrp="1"/>
          </p:cNvSpPr>
          <p:nvPr/>
        </p:nvSpPr>
        <p:spPr>
          <a:xfrm xmlns:a="http://schemas.openxmlformats.org/drawingml/2006/main">
            <a:off x="8822690" y="1717675"/>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7BC747B9-8442-446A-8487-9E1AB84A1392}"/>
              </a:ext>
            </a:extLst>
          </p:cNvPr>
          <p:cNvSpPr>
            <a:spLocks xmlns:a="http://schemas.openxmlformats.org/drawingml/2006/main" noGrp="1"/>
          </p:cNvSpPr>
          <p:nvPr/>
        </p:nvSpPr>
        <p:spPr>
          <a:xfrm xmlns:a="http://schemas.openxmlformats.org/drawingml/2006/main">
            <a:off x="457200" y="1889125"/>
            <a:ext cx="2255520" cy="9048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B08FAC82-2162-4EC7-84CF-731C14DFEA65}"/>
              </a:ext>
            </a:extLst>
          </p:cNvPr>
          <p:cNvSpPr>
            <a:spLocks xmlns:a="http://schemas.openxmlformats.org/drawingml/2006/main" noGrp="1"/>
          </p:cNvSpPr>
          <p:nvPr/>
        </p:nvSpPr>
        <p:spPr>
          <a:xfrm xmlns:a="http://schemas.openxmlformats.org/drawingml/2006/main">
            <a:off x="552450" y="2003425"/>
            <a:ext cx="2103120" cy="7334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GOVERNMENT/PSU</a:t>
            </a:r>
          </a:p>
        </p:txBody>
      </p:sp>
      <p:sp>
        <p:nvSpPr>
          <p:cNvPr id="18" name="">
            <a:extLst xmlns:a="http://schemas.openxmlformats.org/drawingml/2006/main">
              <a:ext uri="{FF2B5EF4-FFF2-40B4-BE49-F238E27FC236}">
                <a16:creationId xmlns:a16="http://schemas.microsoft.com/office/drawing/2014/main" id="{AB4761F1-36CF-4FFA-BD04-0444331D58F6}"/>
              </a:ext>
            </a:extLst>
          </p:cNvPr>
          <p:cNvSpPr>
            <a:spLocks xmlns:a="http://schemas.openxmlformats.org/drawingml/2006/main" noGrp="1"/>
          </p:cNvSpPr>
          <p:nvPr/>
        </p:nvSpPr>
        <p:spPr>
          <a:xfrm xmlns:a="http://schemas.openxmlformats.org/drawingml/2006/main">
            <a:off x="2741295" y="1917700"/>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3071D8CE-8335-4667-93CB-3E82452A5BD2}"/>
              </a:ext>
            </a:extLst>
          </p:cNvPr>
          <p:cNvSpPr>
            <a:spLocks xmlns:a="http://schemas.openxmlformats.org/drawingml/2006/main" noGrp="1"/>
          </p:cNvSpPr>
          <p:nvPr/>
        </p:nvSpPr>
        <p:spPr>
          <a:xfrm xmlns:a="http://schemas.openxmlformats.org/drawingml/2006/main">
            <a:off x="2741295" y="1917700"/>
            <a:ext cx="2419172"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1D86A5B-5043-469B-B8F5-7A4A4A7F2AF4}"/>
              </a:ext>
            </a:extLst>
          </p:cNvPr>
          <p:cNvSpPr>
            <a:spLocks xmlns:a="http://schemas.openxmlformats.org/drawingml/2006/main" noGrp="1"/>
          </p:cNvSpPr>
          <p:nvPr/>
        </p:nvSpPr>
        <p:spPr>
          <a:xfrm xmlns:a="http://schemas.openxmlformats.org/drawingml/2006/main">
            <a:off x="2817495" y="2003425"/>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21" name="">
            <a:extLst xmlns:a="http://schemas.openxmlformats.org/drawingml/2006/main">
              <a:ext uri="{FF2B5EF4-FFF2-40B4-BE49-F238E27FC236}">
                <a16:creationId xmlns:a16="http://schemas.microsoft.com/office/drawing/2014/main" id="{9E9E2220-DF73-468E-94AD-E2E35F9745BE}"/>
              </a:ext>
            </a:extLst>
          </p:cNvPr>
          <p:cNvSpPr>
            <a:spLocks xmlns:a="http://schemas.openxmlformats.org/drawingml/2006/main" noGrp="1"/>
          </p:cNvSpPr>
          <p:nvPr/>
        </p:nvSpPr>
        <p:spPr>
          <a:xfrm xmlns:a="http://schemas.openxmlformats.org/drawingml/2006/main">
            <a:off x="2817495" y="2127250"/>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30% govt tenders · 40% subscription</a:t>
            </a:r>
          </a:p>
        </p:txBody>
      </p:sp>
      <p:sp>
        <p:nvSpPr>
          <p:cNvPr id="22" name="">
            <a:extLst xmlns:a="http://schemas.openxmlformats.org/drawingml/2006/main">
              <a:ext uri="{FF2B5EF4-FFF2-40B4-BE49-F238E27FC236}">
                <a16:creationId xmlns:a16="http://schemas.microsoft.com/office/drawing/2014/main" id="{C8EC1C87-697F-4F79-A2BB-E70F760BB0CD}"/>
              </a:ext>
            </a:extLst>
          </p:cNvPr>
          <p:cNvSpPr>
            <a:spLocks xmlns:a="http://schemas.openxmlformats.org/drawingml/2006/main" noGrp="1"/>
          </p:cNvSpPr>
          <p:nvPr/>
        </p:nvSpPr>
        <p:spPr>
          <a:xfrm xmlns:a="http://schemas.openxmlformats.org/drawingml/2006/main">
            <a:off x="5748655" y="1917700"/>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1677C54A-DEB7-4558-B0ED-EB9C1F7D3ACF}"/>
              </a:ext>
            </a:extLst>
          </p:cNvPr>
          <p:cNvSpPr>
            <a:spLocks xmlns:a="http://schemas.openxmlformats.org/drawingml/2006/main" noGrp="1"/>
          </p:cNvSpPr>
          <p:nvPr/>
        </p:nvSpPr>
        <p:spPr>
          <a:xfrm xmlns:a="http://schemas.openxmlformats.org/drawingml/2006/main">
            <a:off x="5748655" y="1917700"/>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3A40103-2762-4E48-8087-8423E7265621}"/>
              </a:ext>
            </a:extLst>
          </p:cNvPr>
          <p:cNvSpPr>
            <a:spLocks xmlns:a="http://schemas.openxmlformats.org/drawingml/2006/main" noGrp="1"/>
          </p:cNvSpPr>
          <p:nvPr/>
        </p:nvSpPr>
        <p:spPr>
          <a:xfrm xmlns:a="http://schemas.openxmlformats.org/drawingml/2006/main">
            <a:off x="5824855" y="2003425"/>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5" name="">
            <a:extLst xmlns:a="http://schemas.openxmlformats.org/drawingml/2006/main">
              <a:ext uri="{FF2B5EF4-FFF2-40B4-BE49-F238E27FC236}">
                <a16:creationId xmlns:a16="http://schemas.microsoft.com/office/drawing/2014/main" id="{FF63E463-9298-4FA7-AC85-011661B2EA04}"/>
              </a:ext>
            </a:extLst>
          </p:cNvPr>
          <p:cNvSpPr>
            <a:spLocks xmlns:a="http://schemas.openxmlformats.org/drawingml/2006/main" noGrp="1"/>
          </p:cNvSpPr>
          <p:nvPr/>
        </p:nvSpPr>
        <p:spPr>
          <a:xfrm xmlns:a="http://schemas.openxmlformats.org/drawingml/2006/main">
            <a:off x="5824855" y="2127250"/>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OEM presence Retrofit focus</a:t>
            </a:r>
          </a:p>
        </p:txBody>
      </p:sp>
      <p:sp>
        <p:nvSpPr>
          <p:cNvPr id="26" name="">
            <a:extLst xmlns:a="http://schemas.openxmlformats.org/drawingml/2006/main">
              <a:ext uri="{FF2B5EF4-FFF2-40B4-BE49-F238E27FC236}">
                <a16:creationId xmlns:a16="http://schemas.microsoft.com/office/drawing/2014/main" id="{CA744043-B367-40D4-9C52-A0D12ED050AC}"/>
              </a:ext>
            </a:extLst>
          </p:cNvPr>
          <p:cNvSpPr>
            <a:spLocks xmlns:a="http://schemas.openxmlformats.org/drawingml/2006/main" noGrp="1"/>
          </p:cNvSpPr>
          <p:nvPr/>
        </p:nvSpPr>
        <p:spPr>
          <a:xfrm xmlns:a="http://schemas.openxmlformats.org/drawingml/2006/main">
            <a:off x="8756015" y="1917700"/>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47500531-CDB4-4E76-8313-EC6F92AEE17D}"/>
              </a:ext>
            </a:extLst>
          </p:cNvPr>
          <p:cNvSpPr>
            <a:spLocks xmlns:a="http://schemas.openxmlformats.org/drawingml/2006/main" noGrp="1"/>
          </p:cNvSpPr>
          <p:nvPr/>
        </p:nvSpPr>
        <p:spPr>
          <a:xfrm xmlns:a="http://schemas.openxmlformats.org/drawingml/2006/main">
            <a:off x="8756015" y="1917700"/>
            <a:ext cx="2419172"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D6C207E-5CEC-4DAB-A437-F8D667DA36D7}"/>
              </a:ext>
            </a:extLst>
          </p:cNvPr>
          <p:cNvSpPr>
            <a:spLocks xmlns:a="http://schemas.openxmlformats.org/drawingml/2006/main" noGrp="1"/>
          </p:cNvSpPr>
          <p:nvPr/>
        </p:nvSpPr>
        <p:spPr>
          <a:xfrm xmlns:a="http://schemas.openxmlformats.org/drawingml/2006/main">
            <a:off x="8832215" y="2003425"/>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29" name="">
            <a:extLst xmlns:a="http://schemas.openxmlformats.org/drawingml/2006/main">
              <a:ext uri="{FF2B5EF4-FFF2-40B4-BE49-F238E27FC236}">
                <a16:creationId xmlns:a16="http://schemas.microsoft.com/office/drawing/2014/main" id="{D9E9A331-0AF1-4156-8155-DC8B7D974875}"/>
              </a:ext>
            </a:extLst>
          </p:cNvPr>
          <p:cNvSpPr>
            <a:spLocks xmlns:a="http://schemas.openxmlformats.org/drawingml/2006/main" noGrp="1"/>
          </p:cNvSpPr>
          <p:nvPr/>
        </p:nvSpPr>
        <p:spPr>
          <a:xfrm xmlns:a="http://schemas.openxmlformats.org/drawingml/2006/main">
            <a:off x="8832215" y="2127250"/>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Mining leader Service coverage</a:t>
            </a:r>
          </a:p>
        </p:txBody>
      </p:sp>
      <p:sp>
        <p:nvSpPr>
          <p:cNvPr id="30" name="">
            <a:extLst xmlns:a="http://schemas.openxmlformats.org/drawingml/2006/main">
              <a:ext uri="{FF2B5EF4-FFF2-40B4-BE49-F238E27FC236}">
                <a16:creationId xmlns:a16="http://schemas.microsoft.com/office/drawing/2014/main" id="{3E52118C-7FE0-41A1-851A-761AEE2547AE}"/>
              </a:ext>
            </a:extLst>
          </p:cNvPr>
          <p:cNvSpPr>
            <a:spLocks xmlns:a="http://schemas.openxmlformats.org/drawingml/2006/main" noGrp="1"/>
          </p:cNvSpPr>
          <p:nvPr/>
        </p:nvSpPr>
        <p:spPr>
          <a:xfrm xmlns:a="http://schemas.openxmlformats.org/drawingml/2006/main">
            <a:off x="457200" y="2794000"/>
            <a:ext cx="2255520" cy="9048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85A1083B-0373-4D16-B1DC-AEAB5CABE3F7}"/>
              </a:ext>
            </a:extLst>
          </p:cNvPr>
          <p:cNvSpPr>
            <a:spLocks xmlns:a="http://schemas.openxmlformats.org/drawingml/2006/main" noGrp="1"/>
          </p:cNvSpPr>
          <p:nvPr/>
        </p:nvSpPr>
        <p:spPr>
          <a:xfrm xmlns:a="http://schemas.openxmlformats.org/drawingml/2006/main">
            <a:off x="552450" y="2908300"/>
            <a:ext cx="2103120" cy="7334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N2/N3 OEM</a:t>
            </a:r>
          </a:p>
        </p:txBody>
      </p:sp>
      <p:sp>
        <p:nvSpPr>
          <p:cNvPr id="32" name="">
            <a:extLst xmlns:a="http://schemas.openxmlformats.org/drawingml/2006/main">
              <a:ext uri="{FF2B5EF4-FFF2-40B4-BE49-F238E27FC236}">
                <a16:creationId xmlns:a16="http://schemas.microsoft.com/office/drawing/2014/main" id="{CF356C91-1E10-459F-890E-01D5B0FB2A03}"/>
              </a:ext>
            </a:extLst>
          </p:cNvPr>
          <p:cNvSpPr>
            <a:spLocks xmlns:a="http://schemas.openxmlformats.org/drawingml/2006/main" noGrp="1"/>
          </p:cNvSpPr>
          <p:nvPr/>
        </p:nvSpPr>
        <p:spPr>
          <a:xfrm xmlns:a="http://schemas.openxmlformats.org/drawingml/2006/main">
            <a:off x="2741295" y="2822575"/>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3" name="">
            <a:extLst xmlns:a="http://schemas.openxmlformats.org/drawingml/2006/main">
              <a:ext uri="{FF2B5EF4-FFF2-40B4-BE49-F238E27FC236}">
                <a16:creationId xmlns:a16="http://schemas.microsoft.com/office/drawing/2014/main" id="{0BBCC2E3-A562-4318-8440-A4010D3D9558}"/>
              </a:ext>
            </a:extLst>
          </p:cNvPr>
          <p:cNvSpPr>
            <a:spLocks xmlns:a="http://schemas.openxmlformats.org/drawingml/2006/main" noGrp="1"/>
          </p:cNvSpPr>
          <p:nvPr/>
        </p:nvSpPr>
        <p:spPr>
          <a:xfrm xmlns:a="http://schemas.openxmlformats.org/drawingml/2006/main">
            <a:off x="2741295" y="282257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A81D1107-ADB2-4DCE-AE6C-02CC00D2A809}"/>
              </a:ext>
            </a:extLst>
          </p:cNvPr>
          <p:cNvSpPr>
            <a:spLocks xmlns:a="http://schemas.openxmlformats.org/drawingml/2006/main" noGrp="1"/>
          </p:cNvSpPr>
          <p:nvPr/>
        </p:nvSpPr>
        <p:spPr>
          <a:xfrm xmlns:a="http://schemas.openxmlformats.org/drawingml/2006/main">
            <a:off x="2817495" y="29083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35" name="">
            <a:extLst xmlns:a="http://schemas.openxmlformats.org/drawingml/2006/main">
              <a:ext uri="{FF2B5EF4-FFF2-40B4-BE49-F238E27FC236}">
                <a16:creationId xmlns:a16="http://schemas.microsoft.com/office/drawing/2014/main" id="{6EE98D6D-5E55-45BD-8811-2FCFE6E225D7}"/>
              </a:ext>
            </a:extLst>
          </p:cNvPr>
          <p:cNvSpPr>
            <a:spLocks xmlns:a="http://schemas.openxmlformats.org/drawingml/2006/main" noGrp="1"/>
          </p:cNvSpPr>
          <p:nvPr/>
        </p:nvSpPr>
        <p:spPr>
          <a:xfrm xmlns:a="http://schemas.openxmlformats.org/drawingml/2006/main">
            <a:off x="2817495" y="3032125"/>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integration Approval pending</a:t>
            </a:r>
          </a:p>
        </p:txBody>
      </p:sp>
      <p:sp>
        <p:nvSpPr>
          <p:cNvPr id="36" name="">
            <a:extLst xmlns:a="http://schemas.openxmlformats.org/drawingml/2006/main">
              <a:ext uri="{FF2B5EF4-FFF2-40B4-BE49-F238E27FC236}">
                <a16:creationId xmlns:a16="http://schemas.microsoft.com/office/drawing/2014/main" id="{0FEC00CD-5215-46EE-AFE0-32EEC297011B}"/>
              </a:ext>
            </a:extLst>
          </p:cNvPr>
          <p:cNvSpPr>
            <a:spLocks xmlns:a="http://schemas.openxmlformats.org/drawingml/2006/main" noGrp="1"/>
          </p:cNvSpPr>
          <p:nvPr/>
        </p:nvSpPr>
        <p:spPr>
          <a:xfrm xmlns:a="http://schemas.openxmlformats.org/drawingml/2006/main">
            <a:off x="5748655" y="2822575"/>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94A254D1-2623-4AA4-B168-47E5EFF144A5}"/>
              </a:ext>
            </a:extLst>
          </p:cNvPr>
          <p:cNvSpPr>
            <a:spLocks xmlns:a="http://schemas.openxmlformats.org/drawingml/2006/main" noGrp="1"/>
          </p:cNvSpPr>
          <p:nvPr/>
        </p:nvSpPr>
        <p:spPr>
          <a:xfrm xmlns:a="http://schemas.openxmlformats.org/drawingml/2006/main">
            <a:off x="5748655" y="282257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B325700E-789C-48BA-949D-B0AF3C1356D0}"/>
              </a:ext>
            </a:extLst>
          </p:cNvPr>
          <p:cNvSpPr>
            <a:spLocks xmlns:a="http://schemas.openxmlformats.org/drawingml/2006/main" noGrp="1"/>
          </p:cNvSpPr>
          <p:nvPr/>
        </p:nvSpPr>
        <p:spPr>
          <a:xfrm xmlns:a="http://schemas.openxmlformats.org/drawingml/2006/main">
            <a:off x="5824855" y="29083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39" name="">
            <a:extLst xmlns:a="http://schemas.openxmlformats.org/drawingml/2006/main">
              <a:ext uri="{FF2B5EF4-FFF2-40B4-BE49-F238E27FC236}">
                <a16:creationId xmlns:a16="http://schemas.microsoft.com/office/drawing/2014/main" id="{3DBA2C19-9722-4003-93FB-9A62F2DAB0A4}"/>
              </a:ext>
            </a:extLst>
          </p:cNvPr>
          <p:cNvSpPr>
            <a:spLocks xmlns:a="http://schemas.openxmlformats.org/drawingml/2006/main" noGrp="1"/>
          </p:cNvSpPr>
          <p:nvPr/>
        </p:nvSpPr>
        <p:spPr>
          <a:xfrm xmlns:a="http://schemas.openxmlformats.org/drawingml/2006/main">
            <a:off x="5824855" y="3032125"/>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BrakeSafe package AEB capability</a:t>
            </a:r>
          </a:p>
        </p:txBody>
      </p:sp>
      <p:sp>
        <p:nvSpPr>
          <p:cNvPr id="40" name="">
            <a:extLst xmlns:a="http://schemas.openxmlformats.org/drawingml/2006/main">
              <a:ext uri="{FF2B5EF4-FFF2-40B4-BE49-F238E27FC236}">
                <a16:creationId xmlns:a16="http://schemas.microsoft.com/office/drawing/2014/main" id="{DEB2A162-70AE-4F12-9A0D-41DF168E8796}"/>
              </a:ext>
            </a:extLst>
          </p:cNvPr>
          <p:cNvSpPr>
            <a:spLocks xmlns:a="http://schemas.openxmlformats.org/drawingml/2006/main" noGrp="1"/>
          </p:cNvSpPr>
          <p:nvPr/>
        </p:nvSpPr>
        <p:spPr>
          <a:xfrm xmlns:a="http://schemas.openxmlformats.org/drawingml/2006/main">
            <a:off x="8756015" y="2822575"/>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1" name="">
            <a:extLst xmlns:a="http://schemas.openxmlformats.org/drawingml/2006/main">
              <a:ext uri="{FF2B5EF4-FFF2-40B4-BE49-F238E27FC236}">
                <a16:creationId xmlns:a16="http://schemas.microsoft.com/office/drawing/2014/main" id="{32065B7E-20F8-408B-B523-413B9BA2F2A3}"/>
              </a:ext>
            </a:extLst>
          </p:cNvPr>
          <p:cNvSpPr>
            <a:spLocks xmlns:a="http://schemas.openxmlformats.org/drawingml/2006/main" noGrp="1"/>
          </p:cNvSpPr>
          <p:nvPr/>
        </p:nvSpPr>
        <p:spPr>
          <a:xfrm xmlns:a="http://schemas.openxmlformats.org/drawingml/2006/main">
            <a:off x="8756015" y="282257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FBBF5610-780A-43F2-A9D5-9D0E57FD4FDF}"/>
              </a:ext>
            </a:extLst>
          </p:cNvPr>
          <p:cNvSpPr>
            <a:spLocks xmlns:a="http://schemas.openxmlformats.org/drawingml/2006/main" noGrp="1"/>
          </p:cNvSpPr>
          <p:nvPr/>
        </p:nvSpPr>
        <p:spPr>
          <a:xfrm xmlns:a="http://schemas.openxmlformats.org/drawingml/2006/main">
            <a:off x="8832215" y="29083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43" name="">
            <a:extLst xmlns:a="http://schemas.openxmlformats.org/drawingml/2006/main">
              <a:ext uri="{FF2B5EF4-FFF2-40B4-BE49-F238E27FC236}">
                <a16:creationId xmlns:a16="http://schemas.microsoft.com/office/drawing/2014/main" id="{D2752874-FA76-491D-AEBD-A28AD99B958C}"/>
              </a:ext>
            </a:extLst>
          </p:cNvPr>
          <p:cNvSpPr>
            <a:spLocks xmlns:a="http://schemas.openxmlformats.org/drawingml/2006/main" noGrp="1"/>
          </p:cNvSpPr>
          <p:nvPr/>
        </p:nvSpPr>
        <p:spPr>
          <a:xfrm xmlns:a="http://schemas.openxmlformats.org/drawingml/2006/main">
            <a:off x="8832215" y="3032125"/>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presence Not primary focus</a:t>
            </a:r>
          </a:p>
        </p:txBody>
      </p:sp>
      <p:sp>
        <p:nvSpPr>
          <p:cNvPr id="44" name="">
            <a:extLst xmlns:a="http://schemas.openxmlformats.org/drawingml/2006/main">
              <a:ext uri="{FF2B5EF4-FFF2-40B4-BE49-F238E27FC236}">
                <a16:creationId xmlns:a16="http://schemas.microsoft.com/office/drawing/2014/main" id="{B7A445D6-8FD9-47EA-833E-E3B5155C9D85}"/>
              </a:ext>
            </a:extLst>
          </p:cNvPr>
          <p:cNvSpPr>
            <a:spLocks xmlns:a="http://schemas.openxmlformats.org/drawingml/2006/main" noGrp="1"/>
          </p:cNvSpPr>
          <p:nvPr/>
        </p:nvSpPr>
        <p:spPr>
          <a:xfrm xmlns:a="http://schemas.openxmlformats.org/drawingml/2006/main">
            <a:off x="457200" y="3698875"/>
            <a:ext cx="2255520" cy="9048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5" name="">
            <a:extLst xmlns:a="http://schemas.openxmlformats.org/drawingml/2006/main">
              <a:ext uri="{FF2B5EF4-FFF2-40B4-BE49-F238E27FC236}">
                <a16:creationId xmlns:a16="http://schemas.microsoft.com/office/drawing/2014/main" id="{66B7C1EF-FAF5-4C36-830A-631009CB0F3D}"/>
              </a:ext>
            </a:extLst>
          </p:cNvPr>
          <p:cNvSpPr>
            <a:spLocks xmlns:a="http://schemas.openxmlformats.org/drawingml/2006/main" noGrp="1"/>
          </p:cNvSpPr>
          <p:nvPr/>
        </p:nvSpPr>
        <p:spPr>
          <a:xfrm xmlns:a="http://schemas.openxmlformats.org/drawingml/2006/main">
            <a:off x="552450" y="3813175"/>
            <a:ext cx="2103120" cy="7334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MINING/YARD</a:t>
            </a:r>
          </a:p>
        </p:txBody>
      </p:sp>
      <p:sp>
        <p:nvSpPr>
          <p:cNvPr id="46" name="">
            <a:extLst xmlns:a="http://schemas.openxmlformats.org/drawingml/2006/main">
              <a:ext uri="{FF2B5EF4-FFF2-40B4-BE49-F238E27FC236}">
                <a16:creationId xmlns:a16="http://schemas.microsoft.com/office/drawing/2014/main" id="{A800F945-9E1A-4A9A-8C44-AD4FFB6DA479}"/>
              </a:ext>
            </a:extLst>
          </p:cNvPr>
          <p:cNvSpPr>
            <a:spLocks xmlns:a="http://schemas.openxmlformats.org/drawingml/2006/main" noGrp="1"/>
          </p:cNvSpPr>
          <p:nvPr/>
        </p:nvSpPr>
        <p:spPr>
          <a:xfrm xmlns:a="http://schemas.openxmlformats.org/drawingml/2006/main">
            <a:off x="2741295" y="3727450"/>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7" name="">
            <a:extLst xmlns:a="http://schemas.openxmlformats.org/drawingml/2006/main">
              <a:ext uri="{FF2B5EF4-FFF2-40B4-BE49-F238E27FC236}">
                <a16:creationId xmlns:a16="http://schemas.microsoft.com/office/drawing/2014/main" id="{75474A7F-F0B7-4F5E-984D-98DBBF160B3C}"/>
              </a:ext>
            </a:extLst>
          </p:cNvPr>
          <p:cNvSpPr>
            <a:spLocks xmlns:a="http://schemas.openxmlformats.org/drawingml/2006/main" noGrp="1"/>
          </p:cNvSpPr>
          <p:nvPr/>
        </p:nvSpPr>
        <p:spPr>
          <a:xfrm xmlns:a="http://schemas.openxmlformats.org/drawingml/2006/main">
            <a:off x="2741295" y="3727450"/>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8DD0DCF3-ACCD-4001-91E1-8FF18E7B5B75}"/>
              </a:ext>
            </a:extLst>
          </p:cNvPr>
          <p:cNvSpPr>
            <a:spLocks xmlns:a="http://schemas.openxmlformats.org/drawingml/2006/main" noGrp="1"/>
          </p:cNvSpPr>
          <p:nvPr/>
        </p:nvSpPr>
        <p:spPr>
          <a:xfrm xmlns:a="http://schemas.openxmlformats.org/drawingml/2006/main">
            <a:off x="2817495" y="3813175"/>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49" name="">
            <a:extLst xmlns:a="http://schemas.openxmlformats.org/drawingml/2006/main">
              <a:ext uri="{FF2B5EF4-FFF2-40B4-BE49-F238E27FC236}">
                <a16:creationId xmlns:a16="http://schemas.microsoft.com/office/drawing/2014/main" id="{30FBB28F-87EC-414A-A382-7A601C3631E2}"/>
              </a:ext>
            </a:extLst>
          </p:cNvPr>
          <p:cNvSpPr>
            <a:spLocks xmlns:a="http://schemas.openxmlformats.org/drawingml/2006/main" noGrp="1"/>
          </p:cNvSpPr>
          <p:nvPr/>
        </p:nvSpPr>
        <p:spPr>
          <a:xfrm xmlns:a="http://schemas.openxmlformats.org/drawingml/2006/main">
            <a:off x="2817495" y="3937000"/>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Government tenders 30% revenue</a:t>
            </a:r>
          </a:p>
        </p:txBody>
      </p:sp>
      <p:sp>
        <p:nvSpPr>
          <p:cNvPr id="50" name="">
            <a:extLst xmlns:a="http://schemas.openxmlformats.org/drawingml/2006/main">
              <a:ext uri="{FF2B5EF4-FFF2-40B4-BE49-F238E27FC236}">
                <a16:creationId xmlns:a16="http://schemas.microsoft.com/office/drawing/2014/main" id="{9A689C70-1F0C-4712-9D49-8EF5517A9108}"/>
              </a:ext>
            </a:extLst>
          </p:cNvPr>
          <p:cNvSpPr>
            <a:spLocks xmlns:a="http://schemas.openxmlformats.org/drawingml/2006/main" noGrp="1"/>
          </p:cNvSpPr>
          <p:nvPr/>
        </p:nvSpPr>
        <p:spPr>
          <a:xfrm xmlns:a="http://schemas.openxmlformats.org/drawingml/2006/main">
            <a:off x="5748655" y="3727450"/>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1" name="">
            <a:extLst xmlns:a="http://schemas.openxmlformats.org/drawingml/2006/main">
              <a:ext uri="{FF2B5EF4-FFF2-40B4-BE49-F238E27FC236}">
                <a16:creationId xmlns:a16="http://schemas.microsoft.com/office/drawing/2014/main" id="{F8960FE4-451F-4964-A4CD-EECD32B3F3EF}"/>
              </a:ext>
            </a:extLst>
          </p:cNvPr>
          <p:cNvSpPr>
            <a:spLocks xmlns:a="http://schemas.openxmlformats.org/drawingml/2006/main" noGrp="1"/>
          </p:cNvSpPr>
          <p:nvPr/>
        </p:nvSpPr>
        <p:spPr>
          <a:xfrm xmlns:a="http://schemas.openxmlformats.org/drawingml/2006/main">
            <a:off x="5748655" y="3727450"/>
            <a:ext cx="2419172"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F1DCCE8E-FF74-45FC-AF4B-09AE91D8DEF9}"/>
              </a:ext>
            </a:extLst>
          </p:cNvPr>
          <p:cNvSpPr>
            <a:spLocks xmlns:a="http://schemas.openxmlformats.org/drawingml/2006/main" noGrp="1"/>
          </p:cNvSpPr>
          <p:nvPr/>
        </p:nvSpPr>
        <p:spPr>
          <a:xfrm xmlns:a="http://schemas.openxmlformats.org/drawingml/2006/main">
            <a:off x="5824855" y="3813175"/>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53" name="">
            <a:extLst xmlns:a="http://schemas.openxmlformats.org/drawingml/2006/main">
              <a:ext uri="{FF2B5EF4-FFF2-40B4-BE49-F238E27FC236}">
                <a16:creationId xmlns:a16="http://schemas.microsoft.com/office/drawing/2014/main" id="{FB3AB625-9016-45A2-821C-E28E218186D0}"/>
              </a:ext>
            </a:extLst>
          </p:cNvPr>
          <p:cNvSpPr>
            <a:spLocks xmlns:a="http://schemas.openxmlformats.org/drawingml/2006/main" noGrp="1"/>
          </p:cNvSpPr>
          <p:nvPr/>
        </p:nvSpPr>
        <p:spPr>
          <a:xfrm xmlns:a="http://schemas.openxmlformats.org/drawingml/2006/main">
            <a:off x="5824855" y="3937000"/>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Mining retrofit Brake intervention</a:t>
            </a:r>
          </a:p>
        </p:txBody>
      </p:sp>
      <p:sp>
        <p:nvSpPr>
          <p:cNvPr id="54" name="">
            <a:extLst xmlns:a="http://schemas.openxmlformats.org/drawingml/2006/main">
              <a:ext uri="{FF2B5EF4-FFF2-40B4-BE49-F238E27FC236}">
                <a16:creationId xmlns:a16="http://schemas.microsoft.com/office/drawing/2014/main" id="{2BDD0972-1D28-439D-909F-D4C7D5E6159A}"/>
              </a:ext>
            </a:extLst>
          </p:cNvPr>
          <p:cNvSpPr>
            <a:spLocks xmlns:a="http://schemas.openxmlformats.org/drawingml/2006/main" noGrp="1"/>
          </p:cNvSpPr>
          <p:nvPr/>
        </p:nvSpPr>
        <p:spPr>
          <a:xfrm xmlns:a="http://schemas.openxmlformats.org/drawingml/2006/main">
            <a:off x="8756015" y="3727450"/>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5" name="">
            <a:extLst xmlns:a="http://schemas.openxmlformats.org/drawingml/2006/main">
              <a:ext uri="{FF2B5EF4-FFF2-40B4-BE49-F238E27FC236}">
                <a16:creationId xmlns:a16="http://schemas.microsoft.com/office/drawing/2014/main" id="{BBF9F2E3-0F89-4276-9E22-12A1012FDA6C}"/>
              </a:ext>
            </a:extLst>
          </p:cNvPr>
          <p:cNvSpPr>
            <a:spLocks xmlns:a="http://schemas.openxmlformats.org/drawingml/2006/main" noGrp="1"/>
          </p:cNvSpPr>
          <p:nvPr/>
        </p:nvSpPr>
        <p:spPr>
          <a:xfrm xmlns:a="http://schemas.openxmlformats.org/drawingml/2006/main">
            <a:off x="8756015" y="3727450"/>
            <a:ext cx="295021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EBD886C7-E93B-40EC-B56D-E4BDA22591FF}"/>
              </a:ext>
            </a:extLst>
          </p:cNvPr>
          <p:cNvSpPr>
            <a:spLocks xmlns:a="http://schemas.openxmlformats.org/drawingml/2006/main" noGrp="1"/>
          </p:cNvSpPr>
          <p:nvPr/>
        </p:nvSpPr>
        <p:spPr>
          <a:xfrm xmlns:a="http://schemas.openxmlformats.org/drawingml/2006/main">
            <a:off x="8832215" y="3813175"/>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HIGHEST</a:t>
            </a:r>
          </a:p>
        </p:txBody>
      </p:sp>
      <p:sp>
        <p:nvSpPr>
          <p:cNvPr id="57" name="">
            <a:extLst xmlns:a="http://schemas.openxmlformats.org/drawingml/2006/main">
              <a:ext uri="{FF2B5EF4-FFF2-40B4-BE49-F238E27FC236}">
                <a16:creationId xmlns:a16="http://schemas.microsoft.com/office/drawing/2014/main" id="{90E56C92-3BD6-4A4A-816E-597151A95E5B}"/>
              </a:ext>
            </a:extLst>
          </p:cNvPr>
          <p:cNvSpPr>
            <a:spLocks xmlns:a="http://schemas.openxmlformats.org/drawingml/2006/main" noGrp="1"/>
          </p:cNvSpPr>
          <p:nvPr/>
        </p:nvSpPr>
        <p:spPr>
          <a:xfrm xmlns:a="http://schemas.openxmlformats.org/drawingml/2006/main">
            <a:off x="8832215" y="3937000"/>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Primary arena Service coverage</a:t>
            </a:r>
          </a:p>
        </p:txBody>
      </p:sp>
      <p:sp>
        <p:nvSpPr>
          <p:cNvPr id="58" name="">
            <a:extLst xmlns:a="http://schemas.openxmlformats.org/drawingml/2006/main">
              <a:ext uri="{FF2B5EF4-FFF2-40B4-BE49-F238E27FC236}">
                <a16:creationId xmlns:a16="http://schemas.microsoft.com/office/drawing/2014/main" id="{31AE6742-85D5-4E66-A6E5-CD02C000617C}"/>
              </a:ext>
            </a:extLst>
          </p:cNvPr>
          <p:cNvSpPr>
            <a:spLocks xmlns:a="http://schemas.openxmlformats.org/drawingml/2006/main" noGrp="1"/>
          </p:cNvSpPr>
          <p:nvPr/>
        </p:nvSpPr>
        <p:spPr>
          <a:xfrm xmlns:a="http://schemas.openxmlformats.org/drawingml/2006/main">
            <a:off x="457200" y="47180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9" name="">
            <a:extLst xmlns:a="http://schemas.openxmlformats.org/drawingml/2006/main">
              <a:ext uri="{FF2B5EF4-FFF2-40B4-BE49-F238E27FC236}">
                <a16:creationId xmlns:a16="http://schemas.microsoft.com/office/drawing/2014/main" id="{214BB332-5B82-4C90-8F15-D890CECE9CEC}"/>
              </a:ext>
            </a:extLst>
          </p:cNvPr>
          <p:cNvSpPr>
            <a:spLocks xmlns:a="http://schemas.openxmlformats.org/drawingml/2006/main" noGrp="1"/>
          </p:cNvSpPr>
          <p:nvPr/>
        </p:nvSpPr>
        <p:spPr>
          <a:xfrm xmlns:a="http://schemas.openxmlformats.org/drawingml/2006/main">
            <a:off x="457200" y="47180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6346EBA8-44B3-4478-8C38-04DF343D566B}"/>
              </a:ext>
            </a:extLst>
          </p:cNvPr>
          <p:cNvSpPr>
            <a:spLocks xmlns:a="http://schemas.openxmlformats.org/drawingml/2006/main" noGrp="1"/>
          </p:cNvSpPr>
          <p:nvPr/>
        </p:nvSpPr>
        <p:spPr>
          <a:xfrm xmlns:a="http://schemas.openxmlformats.org/drawingml/2006/main">
            <a:off x="58102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61" name="">
            <a:extLst xmlns:a="http://schemas.openxmlformats.org/drawingml/2006/main">
              <a:ext uri="{FF2B5EF4-FFF2-40B4-BE49-F238E27FC236}">
                <a16:creationId xmlns:a16="http://schemas.microsoft.com/office/drawing/2014/main" id="{89231ADA-7DC1-494C-9368-DA6434344A40}"/>
              </a:ext>
            </a:extLst>
          </p:cNvPr>
          <p:cNvSpPr>
            <a:spLocks xmlns:a="http://schemas.openxmlformats.org/drawingml/2006/main" noGrp="1"/>
          </p:cNvSpPr>
          <p:nvPr/>
        </p:nvSpPr>
        <p:spPr>
          <a:xfrm xmlns:a="http://schemas.openxmlformats.org/drawingml/2006/main">
            <a:off x="581025" y="49339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Starkenn's advantage is installation and service reach, which converts directly into mining retrofit wins but not into OEM nomination, where qualification and interfaces decide.</a:t>
            </a:r>
          </a:p>
        </p:txBody>
      </p:sp>
      <p:sp>
        <p:nvSpPr>
          <p:cNvPr id="62" name="">
            <a:extLst xmlns:a="http://schemas.openxmlformats.org/drawingml/2006/main">
              <a:ext uri="{FF2B5EF4-FFF2-40B4-BE49-F238E27FC236}">
                <a16:creationId xmlns:a16="http://schemas.microsoft.com/office/drawing/2014/main" id="{745C3501-74E4-4B04-B5AB-4C97B9B43C1D}"/>
              </a:ext>
            </a:extLst>
          </p:cNvPr>
          <p:cNvSpPr>
            <a:spLocks xmlns:a="http://schemas.openxmlformats.org/drawingml/2006/main" noGrp="1"/>
          </p:cNvSpPr>
          <p:nvPr/>
        </p:nvSpPr>
        <p:spPr>
          <a:xfrm xmlns:a="http://schemas.openxmlformats.org/drawingml/2006/main">
            <a:off x="6153150" y="47180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63" name="">
            <a:extLst xmlns:a="http://schemas.openxmlformats.org/drawingml/2006/main">
              <a:ext uri="{FF2B5EF4-FFF2-40B4-BE49-F238E27FC236}">
                <a16:creationId xmlns:a16="http://schemas.microsoft.com/office/drawing/2014/main" id="{D4C6FA8D-653B-41AD-B534-A88C2CAEE196}"/>
              </a:ext>
            </a:extLst>
          </p:cNvPr>
          <p:cNvSpPr>
            <a:spLocks xmlns:a="http://schemas.openxmlformats.org/drawingml/2006/main" noGrp="1"/>
          </p:cNvSpPr>
          <p:nvPr/>
        </p:nvSpPr>
        <p:spPr>
          <a:xfrm xmlns:a="http://schemas.openxmlformats.org/drawingml/2006/main">
            <a:off x="6153150" y="47180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199C73D1-8ED8-49D9-A584-F36CA1FB45FD}"/>
              </a:ext>
            </a:extLst>
          </p:cNvPr>
          <p:cNvSpPr>
            <a:spLocks xmlns:a="http://schemas.openxmlformats.org/drawingml/2006/main" noGrp="1"/>
          </p:cNvSpPr>
          <p:nvPr/>
        </p:nvSpPr>
        <p:spPr>
          <a:xfrm xmlns:a="http://schemas.openxmlformats.org/drawingml/2006/main">
            <a:off x="627697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65" name="">
            <a:extLst xmlns:a="http://schemas.openxmlformats.org/drawingml/2006/main">
              <a:ext uri="{FF2B5EF4-FFF2-40B4-BE49-F238E27FC236}">
                <a16:creationId xmlns:a16="http://schemas.microsoft.com/office/drawing/2014/main" id="{5538866F-1B39-481F-9BEC-6B6E8292EFB5}"/>
              </a:ext>
            </a:extLst>
          </p:cNvPr>
          <p:cNvSpPr>
            <a:spLocks xmlns:a="http://schemas.openxmlformats.org/drawingml/2006/main" noGrp="1"/>
          </p:cNvSpPr>
          <p:nvPr/>
        </p:nvSpPr>
        <p:spPr>
          <a:xfrm xmlns:a="http://schemas.openxmlformats.org/drawingml/2006/main">
            <a:off x="6276975" y="49339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Any Starkenn OEM nomination or tender award outside mining.</a:t>
            </a:r>
          </a:p>
        </p:txBody>
      </p:sp>
      <p:sp>
        <p:nvSpPr>
          <p:cNvPr id="66" name="">
            <a:extLst xmlns:a="http://schemas.openxmlformats.org/drawingml/2006/main">
              <a:ext uri="{FF2B5EF4-FFF2-40B4-BE49-F238E27FC236}">
                <a16:creationId xmlns:a16="http://schemas.microsoft.com/office/drawing/2014/main" id="{24878EC1-D281-4C9F-8520-C395F0DF3D1C}"/>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0D4E15A1-777F-45A1-AC8F-381FCE87039F}"/>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16E54A23-4421-4935-AE18-FACFB212B76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69" name="">
            <a:extLst xmlns:a="http://schemas.openxmlformats.org/drawingml/2006/main">
              <a:ext uri="{FF2B5EF4-FFF2-40B4-BE49-F238E27FC236}">
                <a16:creationId xmlns:a16="http://schemas.microsoft.com/office/drawing/2014/main" id="{7526A9B0-8DFA-4F7F-B6AF-FE278C1F01F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Make documented Starkenn counterstrategy mandatory for every mining opportunity</a:t>
            </a:r>
          </a:p>
        </p:txBody>
      </p:sp>
      <p:sp>
        <p:nvSpPr>
          <p:cNvPr id="70" name="">
            <a:extLst xmlns:a="http://schemas.openxmlformats.org/drawingml/2006/main">
              <a:ext uri="{FF2B5EF4-FFF2-40B4-BE49-F238E27FC236}">
                <a16:creationId xmlns:a16="http://schemas.microsoft.com/office/drawing/2014/main" id="{01303E2A-4824-4894-BEFE-C87DAD24BE0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71" name="">
            <a:extLst xmlns:a="http://schemas.openxmlformats.org/drawingml/2006/main">
              <a:ext uri="{FF2B5EF4-FFF2-40B4-BE49-F238E27FC236}">
                <a16:creationId xmlns:a16="http://schemas.microsoft.com/office/drawing/2014/main" id="{66B6A28C-5FFB-4AB1-B99B-DB4DDDFDA2C8}"/>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Starkenn OEM nomination or tender award outside mining.</a:t>
            </a:r>
          </a:p>
        </p:txBody>
      </p:sp>
      <p:sp>
        <p:nvSpPr>
          <p:cNvPr id="72" name="">
            <a:extLst xmlns:a="http://schemas.openxmlformats.org/drawingml/2006/main">
              <a:ext uri="{FF2B5EF4-FFF2-40B4-BE49-F238E27FC236}">
                <a16:creationId xmlns:a16="http://schemas.microsoft.com/office/drawing/2014/main" id="{B31F29C5-42B5-488A-805B-A9E5080B9D8F}"/>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73" name="">
            <a:extLst xmlns:a="http://schemas.openxmlformats.org/drawingml/2006/main">
              <a:ext uri="{FF2B5EF4-FFF2-40B4-BE49-F238E27FC236}">
                <a16:creationId xmlns:a16="http://schemas.microsoft.com/office/drawing/2014/main" id="{CD25BA82-F599-452E-905D-9BD3318850BC}"/>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Starkenn's government revenue share rises above its reported 30%.</a:t>
            </a:r>
          </a:p>
        </p:txBody>
      </p:sp>
      <p:sp>
        <p:nvSpPr>
          <p:cNvPr id="74" name="">
            <a:extLst xmlns:a="http://schemas.openxmlformats.org/drawingml/2006/main">
              <a:ext uri="{FF2B5EF4-FFF2-40B4-BE49-F238E27FC236}">
                <a16:creationId xmlns:a16="http://schemas.microsoft.com/office/drawing/2014/main" id="{7BF7D838-2D7D-4A82-9459-24C3456B6AA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6E75E101-DA39-4A5E-B497-677EBB87E647}"/>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76" name="">
            <a:extLst xmlns:a="http://schemas.openxmlformats.org/drawingml/2006/main">
              <a:ext uri="{FF2B5EF4-FFF2-40B4-BE49-F238E27FC236}">
                <a16:creationId xmlns:a16="http://schemas.microsoft.com/office/drawing/2014/main" id="{06D6884D-A7B0-42DB-B4AD-C4B6855C81B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55</a:t>
            </a:r>
          </a:p>
        </p:txBody>
      </p:sp>
    </p:spTree>
    <p:extLst>
      <p:ext uri="{BB962C8B-B14F-4D97-AF65-F5344CB8AC3E}">
        <p14:creationId xmlns:p14="http://schemas.microsoft.com/office/powerpoint/2010/main" val="90404878"/>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FF97119C-9E5F-436E-9337-EBAB184B5D2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0FE78A1-7D5F-4019-84BE-304810F71DB5}"/>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E16A93E-76E9-4DA7-9B3A-D5B16BED0F1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A1D1BC80-E2D0-4ED8-99B0-71BEA6CA0DA1}"/>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11B56AA2-1D85-4BEA-950F-3BC6338448F0}"/>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Test module supply with Starkenn while bidding only where VRU advantage matters</a:t>
            </a:r>
          </a:p>
        </p:txBody>
      </p:sp>
      <p:sp>
        <p:nvSpPr>
          <p:cNvPr id="6" name="">
            <a:extLst xmlns:a="http://schemas.openxmlformats.org/drawingml/2006/main">
              <a:ext uri="{FF2B5EF4-FFF2-40B4-BE49-F238E27FC236}">
                <a16:creationId xmlns:a16="http://schemas.microsoft.com/office/drawing/2014/main" id="{ED907213-E23C-4BBB-A8AF-D5A3E8A6C860}"/>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26ACC10-1BFB-486D-821B-F832813740EF}"/>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bounded move should DeepGrid fund now, and what signal should escalate?</a:t>
            </a:r>
          </a:p>
        </p:txBody>
      </p:sp>
      <p:sp>
        <p:nvSpPr>
          <p:cNvPr id="8" name="">
            <a:extLst xmlns:a="http://schemas.openxmlformats.org/drawingml/2006/main">
              <a:ext uri="{FF2B5EF4-FFF2-40B4-BE49-F238E27FC236}">
                <a16:creationId xmlns:a16="http://schemas.microsoft.com/office/drawing/2014/main" id="{C92FC0D9-369F-448B-87CB-1384676A96BF}"/>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DB45348F-6578-436C-8003-564C99C74397}"/>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C707540-A623-42CC-91D1-10785510D73D}"/>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6B440F45-2031-498A-8F0B-3ACD0033324C}"/>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Fund one bounded technical exchange to test whether Starkenn will take DeepGrid's camera perception as a module, and bid competitively only where a VRU advantage is the deciding criterion.</a:t>
            </a:r>
          </a:p>
        </p:txBody>
      </p:sp>
      <p:sp>
        <p:nvSpPr>
          <p:cNvPr id="12" name="">
            <a:extLst xmlns:a="http://schemas.openxmlformats.org/drawingml/2006/main">
              <a:ext uri="{FF2B5EF4-FFF2-40B4-BE49-F238E27FC236}">
                <a16:creationId xmlns:a16="http://schemas.microsoft.com/office/drawing/2014/main" id="{6C81D56C-DC81-4693-9A7F-393F9F6CB9D9}"/>
              </a:ext>
            </a:extLst>
          </p:cNvPr>
          <p:cNvSpPr>
            <a:spLocks xmlns:a="http://schemas.openxmlformats.org/drawingml/2006/main" noGrp="1"/>
          </p:cNvSpPr>
          <p:nvPr/>
        </p:nvSpPr>
        <p:spPr>
          <a:xfrm xmlns:a="http://schemas.openxmlformats.org/drawingml/2006/main">
            <a:off x="457200"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8A287035-EB99-4DF7-AEC9-C25F70414B27}"/>
              </a:ext>
            </a:extLst>
          </p:cNvPr>
          <p:cNvSpPr>
            <a:spLocks xmlns:a="http://schemas.openxmlformats.org/drawingml/2006/main" noGrp="1"/>
          </p:cNvSpPr>
          <p:nvPr/>
        </p:nvSpPr>
        <p:spPr>
          <a:xfrm xmlns:a="http://schemas.openxmlformats.org/drawingml/2006/main">
            <a:off x="457200"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B0DC8C6-704F-4151-B8D2-46C7E429D0F2}"/>
              </a:ext>
            </a:extLst>
          </p:cNvPr>
          <p:cNvSpPr>
            <a:spLocks xmlns:a="http://schemas.openxmlformats.org/drawingml/2006/main" noGrp="1"/>
          </p:cNvSpPr>
          <p:nvPr/>
        </p:nvSpPr>
        <p:spPr>
          <a:xfrm xmlns:a="http://schemas.openxmlformats.org/drawingml/2006/main">
            <a:off x="571500"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423AB536-0B01-44A0-9551-7A4E481C28F1}"/>
              </a:ext>
            </a:extLst>
          </p:cNvPr>
          <p:cNvSpPr>
            <a:spLocks xmlns:a="http://schemas.openxmlformats.org/drawingml/2006/main" noGrp="1"/>
          </p:cNvSpPr>
          <p:nvPr/>
        </p:nvSpPr>
        <p:spPr>
          <a:xfrm xmlns:a="http://schemas.openxmlformats.org/drawingml/2006/main">
            <a:off x="819150"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STAGE 1 - PROPOSED</a:t>
            </a:r>
          </a:p>
        </p:txBody>
      </p:sp>
      <p:sp>
        <p:nvSpPr>
          <p:cNvPr id="16" name="">
            <a:extLst xmlns:a="http://schemas.openxmlformats.org/drawingml/2006/main">
              <a:ext uri="{FF2B5EF4-FFF2-40B4-BE49-F238E27FC236}">
                <a16:creationId xmlns:a16="http://schemas.microsoft.com/office/drawing/2014/main" id="{AFDC1F5C-7C50-4E53-99F3-4EC7F9DF1E5F}"/>
              </a:ext>
            </a:extLst>
          </p:cNvPr>
          <p:cNvSpPr>
            <a:spLocks xmlns:a="http://schemas.openxmlformats.org/drawingml/2006/main" noGrp="1"/>
          </p:cNvSpPr>
          <p:nvPr/>
        </p:nvSpPr>
        <p:spPr>
          <a:xfrm xmlns:a="http://schemas.openxmlformats.org/drawingml/2006/main">
            <a:off x="571500"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BrakeSafe is described as combining radar, warning, brake intervention, local installation and service. This represents a complete retrofit solution. Radar-based collision warning AEB and m…</a:t>
            </a:r>
          </a:p>
        </p:txBody>
      </p:sp>
      <p:sp>
        <p:nvSpPr>
          <p:cNvPr id="17" name="">
            <a:extLst xmlns:a="http://schemas.openxmlformats.org/drawingml/2006/main">
              <a:ext uri="{FF2B5EF4-FFF2-40B4-BE49-F238E27FC236}">
                <a16:creationId xmlns:a16="http://schemas.microsoft.com/office/drawing/2014/main" id="{2BB525DE-3CC1-4287-A1A1-AE25AA69B806}"/>
              </a:ext>
            </a:extLst>
          </p:cNvPr>
          <p:cNvSpPr>
            <a:spLocks xmlns:a="http://schemas.openxmlformats.org/drawingml/2006/main" noGrp="1"/>
          </p:cNvSpPr>
          <p:nvPr/>
        </p:nvSpPr>
        <p:spPr>
          <a:xfrm xmlns:a="http://schemas.openxmlformats.org/drawingml/2006/main">
            <a:off x="3119438"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6286E05-13A6-438F-B473-F3259E413E3E}"/>
              </a:ext>
            </a:extLst>
          </p:cNvPr>
          <p:cNvSpPr>
            <a:spLocks xmlns:a="http://schemas.openxmlformats.org/drawingml/2006/main" noGrp="1"/>
          </p:cNvSpPr>
          <p:nvPr/>
        </p:nvSpPr>
        <p:spPr>
          <a:xfrm xmlns:a="http://schemas.openxmlformats.org/drawingml/2006/main">
            <a:off x="3348038"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9860E606-D4E2-43BF-9AF0-6CA2057CD212}"/>
              </a:ext>
            </a:extLst>
          </p:cNvPr>
          <p:cNvSpPr>
            <a:spLocks xmlns:a="http://schemas.openxmlformats.org/drawingml/2006/main" noGrp="1"/>
          </p:cNvSpPr>
          <p:nvPr/>
        </p:nvSpPr>
        <p:spPr>
          <a:xfrm xmlns:a="http://schemas.openxmlformats.org/drawingml/2006/main">
            <a:off x="3348038"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BB49BCB-159A-44ED-9998-B6FEDC139901}"/>
              </a:ext>
            </a:extLst>
          </p:cNvPr>
          <p:cNvSpPr>
            <a:spLocks xmlns:a="http://schemas.openxmlformats.org/drawingml/2006/main" noGrp="1"/>
          </p:cNvSpPr>
          <p:nvPr/>
        </p:nvSpPr>
        <p:spPr>
          <a:xfrm xmlns:a="http://schemas.openxmlformats.org/drawingml/2006/main">
            <a:off x="3462338"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1C3744B4-1AF4-4EB1-ACDF-772CFE6C201C}"/>
              </a:ext>
            </a:extLst>
          </p:cNvPr>
          <p:cNvSpPr>
            <a:spLocks xmlns:a="http://schemas.openxmlformats.org/drawingml/2006/main" noGrp="1"/>
          </p:cNvSpPr>
          <p:nvPr/>
        </p:nvSpPr>
        <p:spPr>
          <a:xfrm xmlns:a="http://schemas.openxmlformats.org/drawingml/2006/main">
            <a:off x="3709988"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STAGE 2 - CAUSAL</a:t>
            </a:r>
          </a:p>
        </p:txBody>
      </p:sp>
      <p:sp>
        <p:nvSpPr>
          <p:cNvPr id="22" name="">
            <a:extLst xmlns:a="http://schemas.openxmlformats.org/drawingml/2006/main">
              <a:ext uri="{FF2B5EF4-FFF2-40B4-BE49-F238E27FC236}">
                <a16:creationId xmlns:a16="http://schemas.microsoft.com/office/drawing/2014/main" id="{F24FB61D-3257-48C6-9822-C29E63B8991A}"/>
              </a:ext>
            </a:extLst>
          </p:cNvPr>
          <p:cNvSpPr>
            <a:spLocks xmlns:a="http://schemas.openxmlformats.org/drawingml/2006/main" noGrp="1"/>
          </p:cNvSpPr>
          <p:nvPr/>
        </p:nvSpPr>
        <p:spPr>
          <a:xfrm xmlns:a="http://schemas.openxmlformats.org/drawingml/2006/main">
            <a:off x="3462338"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Vehicle access, installation and service may address mine managers' uptime priorities and create channel leverage. Vehicle access strategy Installation efficiency Service coverage</a:t>
            </a:r>
          </a:p>
        </p:txBody>
      </p:sp>
      <p:sp>
        <p:nvSpPr>
          <p:cNvPr id="23" name="">
            <a:extLst xmlns:a="http://schemas.openxmlformats.org/drawingml/2006/main">
              <a:ext uri="{FF2B5EF4-FFF2-40B4-BE49-F238E27FC236}">
                <a16:creationId xmlns:a16="http://schemas.microsoft.com/office/drawing/2014/main" id="{2B4AD471-97FF-4757-A471-993549153EF1}"/>
              </a:ext>
            </a:extLst>
          </p:cNvPr>
          <p:cNvSpPr>
            <a:spLocks xmlns:a="http://schemas.openxmlformats.org/drawingml/2006/main" noGrp="1"/>
          </p:cNvSpPr>
          <p:nvPr/>
        </p:nvSpPr>
        <p:spPr>
          <a:xfrm xmlns:a="http://schemas.openxmlformats.org/drawingml/2006/main">
            <a:off x="6010275"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EA973D0-7A8E-4DD5-B83A-24A9DF71E536}"/>
              </a:ext>
            </a:extLst>
          </p:cNvPr>
          <p:cNvSpPr>
            <a:spLocks xmlns:a="http://schemas.openxmlformats.org/drawingml/2006/main" noGrp="1"/>
          </p:cNvSpPr>
          <p:nvPr/>
        </p:nvSpPr>
        <p:spPr>
          <a:xfrm xmlns:a="http://schemas.openxmlformats.org/drawingml/2006/main">
            <a:off x="6238875"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40FBEC7B-4FF2-4531-A60F-91E3EA2B015C}"/>
              </a:ext>
            </a:extLst>
          </p:cNvPr>
          <p:cNvSpPr>
            <a:spLocks xmlns:a="http://schemas.openxmlformats.org/drawingml/2006/main" noGrp="1"/>
          </p:cNvSpPr>
          <p:nvPr/>
        </p:nvSpPr>
        <p:spPr>
          <a:xfrm xmlns:a="http://schemas.openxmlformats.org/drawingml/2006/main">
            <a:off x="6238875"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414A1B0-4837-4D09-B795-48849A46B103}"/>
              </a:ext>
            </a:extLst>
          </p:cNvPr>
          <p:cNvSpPr>
            <a:spLocks xmlns:a="http://schemas.openxmlformats.org/drawingml/2006/main" noGrp="1"/>
          </p:cNvSpPr>
          <p:nvPr/>
        </p:nvSpPr>
        <p:spPr>
          <a:xfrm xmlns:a="http://schemas.openxmlformats.org/drawingml/2006/main">
            <a:off x="6353175"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F6F1D69D-A5FE-4EDA-8443-8B92C83753FE}"/>
              </a:ext>
            </a:extLst>
          </p:cNvPr>
          <p:cNvSpPr>
            <a:spLocks xmlns:a="http://schemas.openxmlformats.org/drawingml/2006/main" noGrp="1"/>
          </p:cNvSpPr>
          <p:nvPr/>
        </p:nvSpPr>
        <p:spPr>
          <a:xfrm xmlns:a="http://schemas.openxmlformats.org/drawingml/2006/main">
            <a:off x="6600825"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STAGE 3 - BOUNDED</a:t>
            </a:r>
          </a:p>
        </p:txBody>
      </p:sp>
      <p:sp>
        <p:nvSpPr>
          <p:cNvPr id="28" name="">
            <a:extLst xmlns:a="http://schemas.openxmlformats.org/drawingml/2006/main">
              <a:ext uri="{FF2B5EF4-FFF2-40B4-BE49-F238E27FC236}">
                <a16:creationId xmlns:a16="http://schemas.microsoft.com/office/drawing/2014/main" id="{258B344A-C152-41BE-9F2D-D4826D3C8336}"/>
              </a:ext>
            </a:extLst>
          </p:cNvPr>
          <p:cNvSpPr>
            <a:spLocks xmlns:a="http://schemas.openxmlformats.org/drawingml/2006/main" noGrp="1"/>
          </p:cNvSpPr>
          <p:nvPr/>
        </p:nvSpPr>
        <p:spPr>
          <a:xfrm xmlns:a="http://schemas.openxmlformats.org/drawingml/2006/main">
            <a:off x="6353175"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Test a camera-perception partnership and compete only where measured vulnerable-road-user value exists. Camera perception IP VRU value validation Limited competition scope</a:t>
            </a:r>
          </a:p>
        </p:txBody>
      </p:sp>
      <p:sp>
        <p:nvSpPr>
          <p:cNvPr id="29" name="">
            <a:extLst xmlns:a="http://schemas.openxmlformats.org/drawingml/2006/main">
              <a:ext uri="{FF2B5EF4-FFF2-40B4-BE49-F238E27FC236}">
                <a16:creationId xmlns:a16="http://schemas.microsoft.com/office/drawing/2014/main" id="{47554F01-64F0-45FF-9F78-39903BAEF1C0}"/>
              </a:ext>
            </a:extLst>
          </p:cNvPr>
          <p:cNvSpPr>
            <a:spLocks xmlns:a="http://schemas.openxmlformats.org/drawingml/2006/main" noGrp="1"/>
          </p:cNvSpPr>
          <p:nvPr/>
        </p:nvSpPr>
        <p:spPr>
          <a:xfrm xmlns:a="http://schemas.openxmlformats.org/drawingml/2006/main">
            <a:off x="8901113"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DEE9C42-ED5C-4E2C-90EF-CA7F7DCA889A}"/>
              </a:ext>
            </a:extLst>
          </p:cNvPr>
          <p:cNvSpPr>
            <a:spLocks xmlns:a="http://schemas.openxmlformats.org/drawingml/2006/main" noGrp="1"/>
          </p:cNvSpPr>
          <p:nvPr/>
        </p:nvSpPr>
        <p:spPr>
          <a:xfrm xmlns:a="http://schemas.openxmlformats.org/drawingml/2006/main">
            <a:off x="9129713"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F8A40D04-EEAF-4E9B-8798-E630A05477E2}"/>
              </a:ext>
            </a:extLst>
          </p:cNvPr>
          <p:cNvSpPr>
            <a:spLocks xmlns:a="http://schemas.openxmlformats.org/drawingml/2006/main" noGrp="1"/>
          </p:cNvSpPr>
          <p:nvPr/>
        </p:nvSpPr>
        <p:spPr>
          <a:xfrm xmlns:a="http://schemas.openxmlformats.org/drawingml/2006/main">
            <a:off x="9129713" y="21526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C6717AE-00D6-4B44-B211-E8A402F3B519}"/>
              </a:ext>
            </a:extLst>
          </p:cNvPr>
          <p:cNvSpPr>
            <a:spLocks xmlns:a="http://schemas.openxmlformats.org/drawingml/2006/main" noGrp="1"/>
          </p:cNvSpPr>
          <p:nvPr/>
        </p:nvSpPr>
        <p:spPr>
          <a:xfrm xmlns:a="http://schemas.openxmlformats.org/drawingml/2006/main">
            <a:off x="9244013"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5D3F1684-1DB2-4A0E-9971-1A54C6FF90BA}"/>
              </a:ext>
            </a:extLst>
          </p:cNvPr>
          <p:cNvSpPr>
            <a:spLocks xmlns:a="http://schemas.openxmlformats.org/drawingml/2006/main" noGrp="1"/>
          </p:cNvSpPr>
          <p:nvPr/>
        </p:nvSpPr>
        <p:spPr>
          <a:xfrm xmlns:a="http://schemas.openxmlformats.org/drawingml/2006/main">
            <a:off x="9491663"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1F4FDF33-E0DB-41A8-9DD3-7C721DE8B652}"/>
              </a:ext>
            </a:extLst>
          </p:cNvPr>
          <p:cNvSpPr>
            <a:spLocks xmlns:a="http://schemas.openxmlformats.org/drawingml/2006/main" noGrp="1"/>
          </p:cNvSpPr>
          <p:nvPr/>
        </p:nvSpPr>
        <p:spPr>
          <a:xfrm xmlns:a="http://schemas.openxmlformats.org/drawingml/2006/main">
            <a:off x="9244013"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when Starkenn accepts a vehicle/scenario workshop and one live bid. Workshop acceptance Live bid opportunity Evidence validation</a:t>
            </a:r>
          </a:p>
        </p:txBody>
      </p:sp>
      <p:sp>
        <p:nvSpPr>
          <p:cNvPr id="35" name="">
            <a:extLst xmlns:a="http://schemas.openxmlformats.org/drawingml/2006/main">
              <a:ext uri="{FF2B5EF4-FFF2-40B4-BE49-F238E27FC236}">
                <a16:creationId xmlns:a16="http://schemas.microsoft.com/office/drawing/2014/main" id="{1A3409FE-A5B5-47EB-8064-23426CA848B6}"/>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11DDBEE7-0CE0-47A6-9AFC-7BE10D7FE249}"/>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37BEDA68-EB18-4F66-B793-705F233620ED}"/>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B459CFB7-19E9-4D4D-ABDE-C2020B590CF8}"/>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module-supply test costs one workshop and reveals whether Starkenn values perception enough to buy it. Bidding head-to-head everywhere costs the pipeline and reveals nothing Starkenn's access advantage does not already decide.</a:t>
            </a:r>
          </a:p>
        </p:txBody>
      </p:sp>
      <p:sp>
        <p:nvSpPr>
          <p:cNvPr id="39" name="">
            <a:extLst xmlns:a="http://schemas.openxmlformats.org/drawingml/2006/main">
              <a:ext uri="{FF2B5EF4-FFF2-40B4-BE49-F238E27FC236}">
                <a16:creationId xmlns:a16="http://schemas.microsoft.com/office/drawing/2014/main" id="{964B583D-8885-4264-8394-AC2388982D29}"/>
              </a:ext>
            </a:extLst>
          </p:cNvPr>
          <p:cNvSpPr>
            <a:spLocks xmlns:a="http://schemas.openxmlformats.org/drawingml/2006/main" noGrp="1"/>
          </p:cNvSpPr>
          <p:nvPr/>
        </p:nvSpPr>
        <p:spPr>
          <a:xfrm xmlns:a="http://schemas.openxmlformats.org/drawingml/2006/main">
            <a:off x="6153150" y="472440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64C1AC80-9644-4C4D-A35D-E91783D8ED28}"/>
              </a:ext>
            </a:extLst>
          </p:cNvPr>
          <p:cNvSpPr>
            <a:spLocks xmlns:a="http://schemas.openxmlformats.org/drawingml/2006/main" noGrp="1"/>
          </p:cNvSpPr>
          <p:nvPr/>
        </p:nvSpPr>
        <p:spPr>
          <a:xfrm xmlns:a="http://schemas.openxmlformats.org/drawingml/2006/main">
            <a:off x="6153150" y="47244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261E5BC7-8987-487E-BC75-3CA5050E8B29}"/>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29E751B0-5B28-46A3-AC38-B40995A49367}"/>
              </a:ext>
            </a:extLst>
          </p:cNvPr>
          <p:cNvSpPr>
            <a:spLocks xmlns:a="http://schemas.openxmlformats.org/drawingml/2006/main" noGrp="1"/>
          </p:cNvSpPr>
          <p:nvPr/>
        </p:nvSpPr>
        <p:spPr>
          <a:xfrm xmlns:a="http://schemas.openxmlformats.org/drawingml/2006/main">
            <a:off x="6276975" y="49403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if Starkenn rejects IP terms or declines the vehicle/scenario workshop.</a:t>
            </a:r>
          </a:p>
        </p:txBody>
      </p:sp>
      <p:sp>
        <p:nvSpPr>
          <p:cNvPr id="43" name="">
            <a:extLst xmlns:a="http://schemas.openxmlformats.org/drawingml/2006/main">
              <a:ext uri="{FF2B5EF4-FFF2-40B4-BE49-F238E27FC236}">
                <a16:creationId xmlns:a16="http://schemas.microsoft.com/office/drawing/2014/main" id="{1360BFB6-0CEC-4FEC-8D48-02C01C0E8C3E}"/>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580E722F-3A91-4CDB-90F9-9A18952B15C6}"/>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F3121AF2-C247-4047-8B94-5FAC35C58285}"/>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ADDBE054-51BF-4B27-BEB0-46DAD711610C}"/>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Send bounded technical-exchange proposal and adopt tender bid/no-bid criteria</a:t>
            </a:r>
          </a:p>
        </p:txBody>
      </p:sp>
      <p:sp>
        <p:nvSpPr>
          <p:cNvPr id="47" name="">
            <a:extLst xmlns:a="http://schemas.openxmlformats.org/drawingml/2006/main">
              <a:ext uri="{FF2B5EF4-FFF2-40B4-BE49-F238E27FC236}">
                <a16:creationId xmlns:a16="http://schemas.microsoft.com/office/drawing/2014/main" id="{1BB4B633-EE64-4B99-8E49-B2FB400C22CC}"/>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1EED5C6E-AD0D-4001-A8D9-9495CA86B2FD}"/>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Escalate when Starkenn accepts vehicle/scenario workshop + live bid</a:t>
            </a:r>
          </a:p>
        </p:txBody>
      </p:sp>
      <p:sp>
        <p:nvSpPr>
          <p:cNvPr id="49" name="">
            <a:extLst xmlns:a="http://schemas.openxmlformats.org/drawingml/2006/main">
              <a:ext uri="{FF2B5EF4-FFF2-40B4-BE49-F238E27FC236}">
                <a16:creationId xmlns:a16="http://schemas.microsoft.com/office/drawing/2014/main" id="{F0821DDB-3D8B-4F23-B0B9-DA1EE33178D1}"/>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A2860AFE-EC7A-4052-A8C1-AE52D5336594}"/>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if Starkenn rejects IP terms or declines the vehicle/scenario workshop.</a:t>
            </a:r>
          </a:p>
        </p:txBody>
      </p:sp>
      <p:sp>
        <p:nvSpPr>
          <p:cNvPr id="51" name="">
            <a:extLst xmlns:a="http://schemas.openxmlformats.org/drawingml/2006/main">
              <a:ext uri="{FF2B5EF4-FFF2-40B4-BE49-F238E27FC236}">
                <a16:creationId xmlns:a16="http://schemas.microsoft.com/office/drawing/2014/main" id="{CAB675E1-0E47-4823-B04F-AE5DFDB81BFD}"/>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441A3DA3-3CF7-46B9-AE0F-480B54C7271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FA1F5C42-3AFA-456C-8DB9-4CB9562780C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56</a:t>
            </a:r>
          </a:p>
        </p:txBody>
      </p:sp>
    </p:spTree>
    <p:extLst>
      <p:ext uri="{BB962C8B-B14F-4D97-AF65-F5344CB8AC3E}">
        <p14:creationId xmlns:p14="http://schemas.microsoft.com/office/powerpoint/2010/main" val="648037606"/>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C757874A-F23D-4822-AC5E-323C344350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F9E3962-105B-4DE8-A944-49F1F4DF4FDB}"/>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5A976C6-C2B9-454A-A76D-3D42D314202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AD4F082D-01B6-484C-A25C-66FF7466F6D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90AA27E6-A20D-419A-BC04-FFC6032316E1}"/>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Treat Starkenn as potential channel—only with tight IP and safety boundaries</a:t>
            </a:r>
          </a:p>
        </p:txBody>
      </p:sp>
      <p:sp>
        <p:nvSpPr>
          <p:cNvPr id="6" name="">
            <a:extLst xmlns:a="http://schemas.openxmlformats.org/drawingml/2006/main">
              <a:ext uri="{FF2B5EF4-FFF2-40B4-BE49-F238E27FC236}">
                <a16:creationId xmlns:a16="http://schemas.microsoft.com/office/drawing/2014/main" id="{6AA2EBF1-A089-450D-981C-F9DD0A045C06}"/>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04E4B53-05E4-4586-AB27-4FC58A094505}"/>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Should DeepGrid treat Starkenn primarily as a rival or test channel partnership?</a:t>
            </a:r>
          </a:p>
        </p:txBody>
      </p:sp>
      <p:sp>
        <p:nvSpPr>
          <p:cNvPr id="8" name="">
            <a:extLst xmlns:a="http://schemas.openxmlformats.org/drawingml/2006/main">
              <a:ext uri="{FF2B5EF4-FFF2-40B4-BE49-F238E27FC236}">
                <a16:creationId xmlns:a16="http://schemas.microsoft.com/office/drawing/2014/main" id="{71C14B9D-4E47-4305-A5E2-7C8896F40F2D}"/>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DEB1E912-20CE-42BE-B1AA-F3E123CC0D40}"/>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EAFA96F-20FF-40A4-9302-CC8C8ECA13FA}"/>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CFB4CA8B-B972-42D3-BECE-2AB1888F4659}"/>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Test Starkenn as a channel, not as an ally: a time-boxed technical exchange with written IP, data-rights and safety boundaries, closing on a written go/no-go.</a:t>
            </a:r>
          </a:p>
        </p:txBody>
      </p:sp>
      <p:sp>
        <p:nvSpPr>
          <p:cNvPr id="12" name="">
            <a:extLst xmlns:a="http://schemas.openxmlformats.org/drawingml/2006/main">
              <a:ext uri="{FF2B5EF4-FFF2-40B4-BE49-F238E27FC236}">
                <a16:creationId xmlns:a16="http://schemas.microsoft.com/office/drawing/2014/main" id="{FE1D2F7A-8414-4CF4-B376-4C33F9CB91D4}"/>
              </a:ext>
            </a:extLst>
          </p:cNvPr>
          <p:cNvSpPr>
            <a:spLocks xmlns:a="http://schemas.openxmlformats.org/drawingml/2006/main" noGrp="1"/>
          </p:cNvSpPr>
          <p:nvPr/>
        </p:nvSpPr>
        <p:spPr>
          <a:xfrm xmlns:a="http://schemas.openxmlformats.org/drawingml/2006/main">
            <a:off x="457200"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02A75DF8-A2C4-4DD8-8032-5AEAB63ADED9}"/>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865AC76-E105-49E6-AE5E-62331C438C37}"/>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D41C7AA6-7C2A-4E46-8DDD-6D7641365F3E}"/>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COMPLEMENTARITY</a:t>
            </a:r>
          </a:p>
        </p:txBody>
      </p:sp>
      <p:sp>
        <p:nvSpPr>
          <p:cNvPr id="16" name="">
            <a:extLst xmlns:a="http://schemas.openxmlformats.org/drawingml/2006/main">
              <a:ext uri="{FF2B5EF4-FFF2-40B4-BE49-F238E27FC236}">
                <a16:creationId xmlns:a16="http://schemas.microsoft.com/office/drawing/2014/main" id="{5C03E3F1-8784-4DA3-80D2-478C96CC0AA1}"/>
              </a:ext>
            </a:extLst>
          </p:cNvPr>
          <p:cNvSpPr>
            <a:spLocks xmlns:a="http://schemas.openxmlformats.org/drawingml/2006/main" noGrp="1"/>
          </p:cNvSpPr>
          <p:nvPr/>
        </p:nvSpPr>
        <p:spPr>
          <a:xfrm xmlns:a="http://schemas.openxmlformats.org/drawingml/2006/main">
            <a:off x="571500"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BrakeSafe brings radar, brake intervention, install/service. DeepGrid brings perception. Test for integration value. Radar Integration</a:t>
            </a:r>
          </a:p>
        </p:txBody>
      </p:sp>
      <p:sp>
        <p:nvSpPr>
          <p:cNvPr id="17" name="">
            <a:extLst xmlns:a="http://schemas.openxmlformats.org/drawingml/2006/main">
              <a:ext uri="{FF2B5EF4-FFF2-40B4-BE49-F238E27FC236}">
                <a16:creationId xmlns:a16="http://schemas.microsoft.com/office/drawing/2014/main" id="{CA60DEC1-AA40-452A-88E2-A9E2E1645060}"/>
              </a:ext>
            </a:extLst>
          </p:cNvPr>
          <p:cNvSpPr>
            <a:spLocks xmlns:a="http://schemas.openxmlformats.org/drawingml/2006/main" noGrp="1"/>
          </p:cNvSpPr>
          <p:nvPr/>
        </p:nvSpPr>
        <p:spPr>
          <a:xfrm xmlns:a="http://schemas.openxmlformats.org/drawingml/2006/main">
            <a:off x="3119438" y="3136900"/>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86AB26F-FF22-4748-8FC1-98324950E542}"/>
              </a:ext>
            </a:extLst>
          </p:cNvPr>
          <p:cNvSpPr>
            <a:spLocks xmlns:a="http://schemas.openxmlformats.org/drawingml/2006/main" noGrp="1"/>
          </p:cNvSpPr>
          <p:nvPr/>
        </p:nvSpPr>
        <p:spPr>
          <a:xfrm xmlns:a="http://schemas.openxmlformats.org/drawingml/2006/main">
            <a:off x="3348038"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7482804A-3668-4207-A4BF-1B5DF4D65FFA}"/>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4726FF4-42C1-40F4-82AA-A2174809648E}"/>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3032E1E5-20AF-4400-8626-BAFD952A474A}"/>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COMPLEMENTARITY</a:t>
            </a:r>
          </a:p>
        </p:txBody>
      </p:sp>
      <p:sp>
        <p:nvSpPr>
          <p:cNvPr id="22" name="">
            <a:extLst xmlns:a="http://schemas.openxmlformats.org/drawingml/2006/main">
              <a:ext uri="{FF2B5EF4-FFF2-40B4-BE49-F238E27FC236}">
                <a16:creationId xmlns:a16="http://schemas.microsoft.com/office/drawing/2014/main" id="{F325A512-0826-419C-94CD-67110AC80B23}"/>
              </a:ext>
            </a:extLst>
          </p:cNvPr>
          <p:cNvSpPr>
            <a:spLocks xmlns:a="http://schemas.openxmlformats.org/drawingml/2006/main" noGrp="1"/>
          </p:cNvSpPr>
          <p:nvPr/>
        </p:nvSpPr>
        <p:spPr>
          <a:xfrm xmlns:a="http://schemas.openxmlformats.org/drawingml/2006/main">
            <a:off x="3462338"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Test where DeepGrid perception adds value to Starkenn's radar/brake stack</a:t>
            </a:r>
          </a:p>
        </p:txBody>
      </p:sp>
      <p:sp>
        <p:nvSpPr>
          <p:cNvPr id="23" name="">
            <a:extLst xmlns:a="http://schemas.openxmlformats.org/drawingml/2006/main">
              <a:ext uri="{FF2B5EF4-FFF2-40B4-BE49-F238E27FC236}">
                <a16:creationId xmlns:a16="http://schemas.microsoft.com/office/drawing/2014/main" id="{49200A60-3A5C-47D6-82C7-E79CD6B673A1}"/>
              </a:ext>
            </a:extLst>
          </p:cNvPr>
          <p:cNvSpPr>
            <a:spLocks xmlns:a="http://schemas.openxmlformats.org/drawingml/2006/main" noGrp="1"/>
          </p:cNvSpPr>
          <p:nvPr/>
        </p:nvSpPr>
        <p:spPr>
          <a:xfrm xmlns:a="http://schemas.openxmlformats.org/drawingml/2006/main">
            <a:off x="6010275" y="3136900"/>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01F3BD0-1C07-48A6-A8EA-C167145220E4}"/>
              </a:ext>
            </a:extLst>
          </p:cNvPr>
          <p:cNvSpPr>
            <a:spLocks xmlns:a="http://schemas.openxmlformats.org/drawingml/2006/main" noGrp="1"/>
          </p:cNvSpPr>
          <p:nvPr/>
        </p:nvSpPr>
        <p:spPr>
          <a:xfrm xmlns:a="http://schemas.openxmlformats.org/drawingml/2006/main">
            <a:off x="6238875"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7090CFCA-1F8A-4279-B1F0-3D7D4A25476C}"/>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27414BC-DD39-4C64-A6F7-F7D25EB9188E}"/>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32C1B4E9-380F-479C-A7B2-FE1B5655DE3E}"/>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COLLISION RISK</a:t>
            </a:r>
          </a:p>
        </p:txBody>
      </p:sp>
      <p:sp>
        <p:nvSpPr>
          <p:cNvPr id="28" name="">
            <a:extLst xmlns:a="http://schemas.openxmlformats.org/drawingml/2006/main">
              <a:ext uri="{FF2B5EF4-FFF2-40B4-BE49-F238E27FC236}">
                <a16:creationId xmlns:a16="http://schemas.microsoft.com/office/drawing/2014/main" id="{D5F18A42-C6AD-4F66-8A9A-0A2B3CAFDAF4}"/>
              </a:ext>
            </a:extLst>
          </p:cNvPr>
          <p:cNvSpPr>
            <a:spLocks xmlns:a="http://schemas.openxmlformats.org/drawingml/2006/main" noGrp="1"/>
          </p:cNvSpPr>
          <p:nvPr/>
        </p:nvSpPr>
        <p:spPr>
          <a:xfrm xmlns:a="http://schemas.openxmlformats.org/drawingml/2006/main">
            <a:off x="6353175"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Perception ownership and customer control may overlap; risk of IP leakage and ambiguous safety accountability. IP Protection</a:t>
            </a:r>
          </a:p>
        </p:txBody>
      </p:sp>
      <p:sp>
        <p:nvSpPr>
          <p:cNvPr id="29" name="">
            <a:extLst xmlns:a="http://schemas.openxmlformats.org/drawingml/2006/main">
              <a:ext uri="{FF2B5EF4-FFF2-40B4-BE49-F238E27FC236}">
                <a16:creationId xmlns:a16="http://schemas.microsoft.com/office/drawing/2014/main" id="{1C2CC737-01CA-45AC-AE8F-3FB6B2D1AB45}"/>
              </a:ext>
            </a:extLst>
          </p:cNvPr>
          <p:cNvSpPr>
            <a:spLocks xmlns:a="http://schemas.openxmlformats.org/drawingml/2006/main" noGrp="1"/>
          </p:cNvSpPr>
          <p:nvPr/>
        </p:nvSpPr>
        <p:spPr>
          <a:xfrm xmlns:a="http://schemas.openxmlformats.org/drawingml/2006/main">
            <a:off x="8901113" y="3136900"/>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7D91254-EBE2-4339-B92E-FBB00019ABDE}"/>
              </a:ext>
            </a:extLst>
          </p:cNvPr>
          <p:cNvSpPr>
            <a:spLocks xmlns:a="http://schemas.openxmlformats.org/drawingml/2006/main" noGrp="1"/>
          </p:cNvSpPr>
          <p:nvPr/>
        </p:nvSpPr>
        <p:spPr>
          <a:xfrm xmlns:a="http://schemas.openxmlformats.org/drawingml/2006/main">
            <a:off x="9129713"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0F781DE5-7D06-4A8B-8B2D-C6ABE89715F3}"/>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70E6906-C306-4A30-A2A8-2C8DF88CC4CF}"/>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4B0D99BE-E1ED-4F11-8122-E3A70E7F3428}"/>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COLLISION RISK · DECISION GATE</a:t>
            </a:r>
          </a:p>
        </p:txBody>
      </p:sp>
      <p:sp>
        <p:nvSpPr>
          <p:cNvPr id="34" name="">
            <a:extLst xmlns:a="http://schemas.openxmlformats.org/drawingml/2006/main">
              <a:ext uri="{FF2B5EF4-FFF2-40B4-BE49-F238E27FC236}">
                <a16:creationId xmlns:a16="http://schemas.microsoft.com/office/drawing/2014/main" id="{97FA8849-CD9F-461F-A842-B0646637247C}"/>
              </a:ext>
            </a:extLst>
          </p:cNvPr>
          <p:cNvSpPr>
            <a:spLocks xmlns:a="http://schemas.openxmlformats.org/drawingml/2006/main" noGrp="1"/>
          </p:cNvSpPr>
          <p:nvPr/>
        </p:nvSpPr>
        <p:spPr>
          <a:xfrm xmlns:a="http://schemas.openxmlformats.org/drawingml/2006/main">
            <a:off x="9244013"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Protect IP and safety boundaries before integration</a:t>
            </a:r>
          </a:p>
        </p:txBody>
      </p:sp>
      <p:sp>
        <p:nvSpPr>
          <p:cNvPr id="35" name="">
            <a:extLst xmlns:a="http://schemas.openxmlformats.org/drawingml/2006/main">
              <a:ext uri="{FF2B5EF4-FFF2-40B4-BE49-F238E27FC236}">
                <a16:creationId xmlns:a16="http://schemas.microsoft.com/office/drawing/2014/main" id="{1C3FBC42-3A9C-4DD8-B49A-9FE3F826E8F0}"/>
              </a:ext>
            </a:extLst>
          </p:cNvPr>
          <p:cNvSpPr>
            <a:spLocks xmlns:a="http://schemas.openxmlformats.org/drawingml/2006/main" noGrp="1"/>
          </p:cNvSpPr>
          <p:nvPr/>
        </p:nvSpPr>
        <p:spPr>
          <a:xfrm xmlns:a="http://schemas.openxmlformats.org/drawingml/2006/main">
            <a:off x="457200" y="46990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5485876F-771E-4159-8F07-1C371E76F768}"/>
              </a:ext>
            </a:extLst>
          </p:cNvPr>
          <p:cNvSpPr>
            <a:spLocks xmlns:a="http://schemas.openxmlformats.org/drawingml/2006/main" noGrp="1"/>
          </p:cNvSpPr>
          <p:nvPr/>
        </p:nvSpPr>
        <p:spPr>
          <a:xfrm xmlns:a="http://schemas.openxmlformats.org/drawingml/2006/main">
            <a:off x="457200" y="46990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65A91FC-D318-42A0-888E-4F73DA166989}"/>
              </a:ext>
            </a:extLst>
          </p:cNvPr>
          <p:cNvSpPr>
            <a:spLocks xmlns:a="http://schemas.openxmlformats.org/drawingml/2006/main" noGrp="1"/>
          </p:cNvSpPr>
          <p:nvPr/>
        </p:nvSpPr>
        <p:spPr>
          <a:xfrm xmlns:a="http://schemas.openxmlformats.org/drawingml/2006/main">
            <a:off x="581025" y="47656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3F54AF3B-0348-40A5-9168-0D189CD2A6E4}"/>
              </a:ext>
            </a:extLst>
          </p:cNvPr>
          <p:cNvSpPr>
            <a:spLocks xmlns:a="http://schemas.openxmlformats.org/drawingml/2006/main" noGrp="1"/>
          </p:cNvSpPr>
          <p:nvPr/>
        </p:nvSpPr>
        <p:spPr>
          <a:xfrm xmlns:a="http://schemas.openxmlformats.org/drawingml/2006/main">
            <a:off x="581025" y="49149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Starkenn holds installation and service reach DeepGrid cannot build quickly. A bounded exchange prices that access without transferring the perception IP that is DeepGrid's only durable asset.</a:t>
            </a:r>
          </a:p>
        </p:txBody>
      </p:sp>
      <p:sp>
        <p:nvSpPr>
          <p:cNvPr id="39" name="">
            <a:extLst xmlns:a="http://schemas.openxmlformats.org/drawingml/2006/main">
              <a:ext uri="{FF2B5EF4-FFF2-40B4-BE49-F238E27FC236}">
                <a16:creationId xmlns:a16="http://schemas.microsoft.com/office/drawing/2014/main" id="{C614FF8B-68C8-4DED-B5A3-3076DB005A1D}"/>
              </a:ext>
            </a:extLst>
          </p:cNvPr>
          <p:cNvSpPr>
            <a:spLocks xmlns:a="http://schemas.openxmlformats.org/drawingml/2006/main" noGrp="1"/>
          </p:cNvSpPr>
          <p:nvPr/>
        </p:nvSpPr>
        <p:spPr>
          <a:xfrm xmlns:a="http://schemas.openxmlformats.org/drawingml/2006/main">
            <a:off x="6153150" y="4699000"/>
            <a:ext cx="558165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662C205B-36A7-438E-80B8-BA9043A5E238}"/>
              </a:ext>
            </a:extLst>
          </p:cNvPr>
          <p:cNvSpPr>
            <a:spLocks xmlns:a="http://schemas.openxmlformats.org/drawingml/2006/main" noGrp="1"/>
          </p:cNvSpPr>
          <p:nvPr/>
        </p:nvSpPr>
        <p:spPr>
          <a:xfrm xmlns:a="http://schemas.openxmlformats.org/drawingml/2006/main">
            <a:off x="6153150" y="4699000"/>
            <a:ext cx="28575" cy="673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AAB9026E-16CB-4F96-B8FC-487DD58CD3AB}"/>
              </a:ext>
            </a:extLst>
          </p:cNvPr>
          <p:cNvSpPr>
            <a:spLocks xmlns:a="http://schemas.openxmlformats.org/drawingml/2006/main" noGrp="1"/>
          </p:cNvSpPr>
          <p:nvPr/>
        </p:nvSpPr>
        <p:spPr>
          <a:xfrm xmlns:a="http://schemas.openxmlformats.org/drawingml/2006/main">
            <a:off x="6276975" y="47656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A92CADC4-AF66-4311-8A90-F93B505EFDC1}"/>
              </a:ext>
            </a:extLst>
          </p:cNvPr>
          <p:cNvSpPr>
            <a:spLocks xmlns:a="http://schemas.openxmlformats.org/drawingml/2006/main" noGrp="1"/>
          </p:cNvSpPr>
          <p:nvPr/>
        </p:nvSpPr>
        <p:spPr>
          <a:xfrm xmlns:a="http://schemas.openxmlformats.org/drawingml/2006/main">
            <a:off x="6276975" y="4914900"/>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the exchange if the written record cannot cover latency, interfaces, data rights and safety boundaries.</a:t>
            </a:r>
          </a:p>
        </p:txBody>
      </p:sp>
      <p:sp>
        <p:nvSpPr>
          <p:cNvPr id="43" name="">
            <a:extLst xmlns:a="http://schemas.openxmlformats.org/drawingml/2006/main">
              <a:ext uri="{FF2B5EF4-FFF2-40B4-BE49-F238E27FC236}">
                <a16:creationId xmlns:a16="http://schemas.microsoft.com/office/drawing/2014/main" id="{F22507D2-10FB-41B2-9F12-85A101BCF65F}"/>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FDF5D447-B903-4AAA-A285-742825BB58EF}"/>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75FD2BDE-F23B-48BB-B6C1-8462EBA44214}"/>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3EC12218-07CD-4A5E-995C-92147EE39974}"/>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Authorise a time-boxed technical exchange and require a written go/no-go.</a:t>
            </a:r>
          </a:p>
        </p:txBody>
      </p:sp>
      <p:sp>
        <p:nvSpPr>
          <p:cNvPr id="47" name="">
            <a:extLst xmlns:a="http://schemas.openxmlformats.org/drawingml/2006/main">
              <a:ext uri="{FF2B5EF4-FFF2-40B4-BE49-F238E27FC236}">
                <a16:creationId xmlns:a16="http://schemas.microsoft.com/office/drawing/2014/main" id="{D48B1670-CDED-460E-A1FA-466A0878AFFD}"/>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1D71F9F0-CFBB-49A9-B39A-6C088E0381A0}"/>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Decide only when the record covers latency, interfaces, data rights, safety boundary.</a:t>
            </a:r>
          </a:p>
        </p:txBody>
      </p:sp>
      <p:sp>
        <p:nvSpPr>
          <p:cNvPr id="49" name="">
            <a:extLst xmlns:a="http://schemas.openxmlformats.org/drawingml/2006/main">
              <a:ext uri="{FF2B5EF4-FFF2-40B4-BE49-F238E27FC236}">
                <a16:creationId xmlns:a16="http://schemas.microsoft.com/office/drawing/2014/main" id="{BC725C82-6EAA-4543-9975-6F46D963CA63}"/>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1AFD747B-BD9D-4C59-9A22-A5CB26DAEA9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the exchange if the written record cannot cover latency, interfaces, data rights and safety boundaries.</a:t>
            </a:r>
          </a:p>
        </p:txBody>
      </p:sp>
      <p:sp>
        <p:nvSpPr>
          <p:cNvPr id="51" name="">
            <a:extLst xmlns:a="http://schemas.openxmlformats.org/drawingml/2006/main">
              <a:ext uri="{FF2B5EF4-FFF2-40B4-BE49-F238E27FC236}">
                <a16:creationId xmlns:a16="http://schemas.microsoft.com/office/drawing/2014/main" id="{C12C738D-D341-48A2-8ECF-3C07E08971ED}"/>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C4E78021-C260-4F4E-B823-33F3C5C63FDF}"/>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586103A2-D844-4F8E-9517-A3DC6C4A028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57</a:t>
            </a:r>
          </a:p>
        </p:txBody>
      </p:sp>
    </p:spTree>
    <p:extLst>
      <p:ext uri="{BB962C8B-B14F-4D97-AF65-F5344CB8AC3E}">
        <p14:creationId xmlns:p14="http://schemas.microsoft.com/office/powerpoint/2010/main" val="772456731"/>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B806CCE7-EABA-4003-90CB-330C1616543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74F550-4F9F-4A79-83DA-160A494F54A5}"/>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C9C8764-1DB6-4C00-87AB-CB62E82FEAD1}"/>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F40304AE-A5C5-4041-B81E-60C86BE667A8}"/>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42A09CA0-C726-45F1-A379-EFFA9AC80692}"/>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Starkenn Falsifier - Evidence Assessment</a:t>
            </a:r>
          </a:p>
        </p:txBody>
      </p:sp>
      <p:sp>
        <p:nvSpPr>
          <p:cNvPr id="6" name="">
            <a:extLst xmlns:a="http://schemas.openxmlformats.org/drawingml/2006/main">
              <a:ext uri="{FF2B5EF4-FFF2-40B4-BE49-F238E27FC236}">
                <a16:creationId xmlns:a16="http://schemas.microsoft.com/office/drawing/2014/main" id="{8A405DA0-D3CA-4EAC-AAFE-8455925491B5}"/>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60F4CC0-693B-4CD7-8037-8D26BA7C0DDD}"/>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falsify the current view of Starkenn rather than confirm it?</a:t>
            </a:r>
          </a:p>
        </p:txBody>
      </p:sp>
      <p:sp>
        <p:nvSpPr>
          <p:cNvPr id="8" name="">
            <a:extLst xmlns:a="http://schemas.openxmlformats.org/drawingml/2006/main">
              <a:ext uri="{FF2B5EF4-FFF2-40B4-BE49-F238E27FC236}">
                <a16:creationId xmlns:a16="http://schemas.microsoft.com/office/drawing/2014/main" id="{6F1D1EE2-3DD9-44DC-A30E-28504205CEE8}"/>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47B319FE-2EAB-438F-B89A-8B505F3F7305}"/>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3A5FF79-3EC2-44BB-A692-1951ACF106BF}"/>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5BF73839-CD32-4878-A71A-DF96E649F64B}"/>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The current Starkenn view is falsified either by independent corroboration of its scale, or by proof that vehicle access and service — not perception quality — are what actually win its deals.</a:t>
            </a:r>
          </a:p>
        </p:txBody>
      </p:sp>
      <p:sp>
        <p:nvSpPr>
          <p:cNvPr id="12" name="">
            <a:extLst xmlns:a="http://schemas.openxmlformats.org/drawingml/2006/main">
              <a:ext uri="{FF2B5EF4-FFF2-40B4-BE49-F238E27FC236}">
                <a16:creationId xmlns:a16="http://schemas.microsoft.com/office/drawing/2014/main" id="{3D5F6487-1CAE-45AA-A34E-82ED87D65D8E}"/>
              </a:ext>
            </a:extLst>
          </p:cNvPr>
          <p:cNvSpPr>
            <a:spLocks xmlns:a="http://schemas.openxmlformats.org/drawingml/2006/main" noGrp="1"/>
          </p:cNvSpPr>
          <p:nvPr/>
        </p:nvSpPr>
        <p:spPr>
          <a:xfrm xmlns:a="http://schemas.openxmlformats.org/drawingml/2006/main">
            <a:off x="457200" y="1841500"/>
            <a:ext cx="11277600" cy="6381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6FBA8E05-CE0D-475B-AC03-AB2E51DEE277}"/>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4BE1FD4-9EDD-4462-98CD-3BA1A594918F}"/>
              </a:ext>
            </a:extLst>
          </p:cNvPr>
          <p:cNvSpPr>
            <a:spLocks xmlns:a="http://schemas.openxmlformats.org/drawingml/2006/main" noGrp="1"/>
          </p:cNvSpPr>
          <p:nvPr/>
        </p:nvSpPr>
        <p:spPr>
          <a:xfrm xmlns:a="http://schemas.openxmlformats.org/drawingml/2006/main">
            <a:off x="457200" y="1841500"/>
            <a:ext cx="28575" cy="6381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7B773D5-81AF-42EE-B4F3-DCAB6B5A8F59}"/>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REQUIRE CERTIFICATE OWNER</a:t>
            </a:r>
          </a:p>
        </p:txBody>
      </p:sp>
      <p:sp>
        <p:nvSpPr>
          <p:cNvPr id="16" name="">
            <a:extLst xmlns:a="http://schemas.openxmlformats.org/drawingml/2006/main">
              <a:ext uri="{FF2B5EF4-FFF2-40B4-BE49-F238E27FC236}">
                <a16:creationId xmlns:a16="http://schemas.microsoft.com/office/drawing/2014/main" id="{EF8838B0-EA3D-45F2-893A-E8538A97EB51}"/>
              </a:ext>
            </a:extLst>
          </p:cNvPr>
          <p:cNvSpPr>
            <a:spLocks xmlns:a="http://schemas.openxmlformats.org/drawingml/2006/main" noGrp="1"/>
          </p:cNvSpPr>
          <p:nvPr/>
        </p:nvSpPr>
        <p:spPr>
          <a:xfrm xmlns:a="http://schemas.openxmlformats.org/drawingml/2006/main">
            <a:off x="4067556" y="1917700"/>
            <a:ext cx="5638800" cy="504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Require certificate owner, scope, report number, tested configuration and validity date in every battlecard.</a:t>
            </a:r>
          </a:p>
        </p:txBody>
      </p:sp>
      <p:sp>
        <p:nvSpPr>
          <p:cNvPr id="17" name="">
            <a:extLst xmlns:a="http://schemas.openxmlformats.org/drawingml/2006/main">
              <a:ext uri="{FF2B5EF4-FFF2-40B4-BE49-F238E27FC236}">
                <a16:creationId xmlns:a16="http://schemas.microsoft.com/office/drawing/2014/main" id="{2C6E926F-95F0-487C-8F95-CB15A25CD367}"/>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C89B9DD8-D6BF-4A8A-8655-2B90FC5C6AEC}"/>
              </a:ext>
            </a:extLst>
          </p:cNvPr>
          <p:cNvSpPr>
            <a:spLocks xmlns:a="http://schemas.openxmlformats.org/drawingml/2006/main" noGrp="1"/>
          </p:cNvSpPr>
          <p:nvPr/>
        </p:nvSpPr>
        <p:spPr>
          <a:xfrm xmlns:a="http://schemas.openxmlformats.org/drawingml/2006/main">
            <a:off x="457200" y="2546350"/>
            <a:ext cx="11277600" cy="6381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4970ED4E-1468-4980-A227-6F36AE5B1C76}"/>
              </a:ext>
            </a:extLst>
          </p:cNvPr>
          <p:cNvSpPr>
            <a:spLocks xmlns:a="http://schemas.openxmlformats.org/drawingml/2006/main" noGrp="1"/>
          </p:cNvSpPr>
          <p:nvPr/>
        </p:nvSpPr>
        <p:spPr>
          <a:xfrm xmlns:a="http://schemas.openxmlformats.org/drawingml/2006/main">
            <a:off x="457200" y="2546350"/>
            <a:ext cx="4962144"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CF58397-1915-423B-BC38-AE9B6492DA96}"/>
              </a:ext>
            </a:extLst>
          </p:cNvPr>
          <p:cNvSpPr>
            <a:spLocks xmlns:a="http://schemas.openxmlformats.org/drawingml/2006/main" noGrp="1"/>
          </p:cNvSpPr>
          <p:nvPr/>
        </p:nvSpPr>
        <p:spPr>
          <a:xfrm xmlns:a="http://schemas.openxmlformats.org/drawingml/2006/main">
            <a:off x="457200" y="2546350"/>
            <a:ext cx="28575" cy="6381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05E4AF9-DF11-402F-B272-7DA7E6C27287}"/>
              </a:ext>
            </a:extLst>
          </p:cNvPr>
          <p:cNvSpPr>
            <a:spLocks xmlns:a="http://schemas.openxmlformats.org/drawingml/2006/main" noGrp="1"/>
          </p:cNvSpPr>
          <p:nvPr/>
        </p:nvSpPr>
        <p:spPr>
          <a:xfrm xmlns:a="http://schemas.openxmlformats.org/drawingml/2006/main">
            <a:off x="571500" y="26320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CERTIFICATION LANGUAGE MUST</a:t>
            </a:r>
          </a:p>
        </p:txBody>
      </p:sp>
      <p:sp>
        <p:nvSpPr>
          <p:cNvPr id="22" name="">
            <a:extLst xmlns:a="http://schemas.openxmlformats.org/drawingml/2006/main">
              <a:ext uri="{FF2B5EF4-FFF2-40B4-BE49-F238E27FC236}">
                <a16:creationId xmlns:a16="http://schemas.microsoft.com/office/drawing/2014/main" id="{389F877F-AC28-4C20-9815-A1DBFC23EC60}"/>
              </a:ext>
            </a:extLst>
          </p:cNvPr>
          <p:cNvSpPr>
            <a:spLocks xmlns:a="http://schemas.openxmlformats.org/drawingml/2006/main" noGrp="1"/>
          </p:cNvSpPr>
          <p:nvPr/>
        </p:nvSpPr>
        <p:spPr>
          <a:xfrm xmlns:a="http://schemas.openxmlformats.org/drawingml/2006/main">
            <a:off x="4067556" y="2622550"/>
            <a:ext cx="5638800" cy="504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Certification language must distinguish component, system and vehicle approval</a:t>
            </a:r>
          </a:p>
        </p:txBody>
      </p:sp>
      <p:sp>
        <p:nvSpPr>
          <p:cNvPr id="23" name="">
            <a:extLst xmlns:a="http://schemas.openxmlformats.org/drawingml/2006/main">
              <a:ext uri="{FF2B5EF4-FFF2-40B4-BE49-F238E27FC236}">
                <a16:creationId xmlns:a16="http://schemas.microsoft.com/office/drawing/2014/main" id="{576BD88B-CCEF-4A40-8487-13AB29FF9E62}"/>
              </a:ext>
            </a:extLst>
          </p:cNvPr>
          <p:cNvSpPr>
            <a:spLocks xmlns:a="http://schemas.openxmlformats.org/drawingml/2006/main" noGrp="1"/>
          </p:cNvSpPr>
          <p:nvPr/>
        </p:nvSpPr>
        <p:spPr>
          <a:xfrm xmlns:a="http://schemas.openxmlformats.org/drawingml/2006/main">
            <a:off x="9816084" y="26320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CC55CB5B-1BA7-4B5E-88F5-2167C7532B0E}"/>
              </a:ext>
            </a:extLst>
          </p:cNvPr>
          <p:cNvSpPr>
            <a:spLocks xmlns:a="http://schemas.openxmlformats.org/drawingml/2006/main" noGrp="1"/>
          </p:cNvSpPr>
          <p:nvPr/>
        </p:nvSpPr>
        <p:spPr>
          <a:xfrm xmlns:a="http://schemas.openxmlformats.org/drawingml/2006/main">
            <a:off x="457200" y="3251200"/>
            <a:ext cx="11277600" cy="6381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CF31AB5E-0F04-42A3-BB90-811CBE45C876}"/>
              </a:ext>
            </a:extLst>
          </p:cNvPr>
          <p:cNvSpPr>
            <a:spLocks xmlns:a="http://schemas.openxmlformats.org/drawingml/2006/main" noGrp="1"/>
          </p:cNvSpPr>
          <p:nvPr/>
        </p:nvSpPr>
        <p:spPr>
          <a:xfrm xmlns:a="http://schemas.openxmlformats.org/drawingml/2006/main">
            <a:off x="457200" y="3251200"/>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1986A7F-A901-4A58-9D07-CA52D8413BAE}"/>
              </a:ext>
            </a:extLst>
          </p:cNvPr>
          <p:cNvSpPr>
            <a:spLocks xmlns:a="http://schemas.openxmlformats.org/drawingml/2006/main" noGrp="1"/>
          </p:cNvSpPr>
          <p:nvPr/>
        </p:nvSpPr>
        <p:spPr>
          <a:xfrm xmlns:a="http://schemas.openxmlformats.org/drawingml/2006/main">
            <a:off x="457200" y="3251200"/>
            <a:ext cx="28575" cy="6381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F5D804A-9EA3-4E4A-8BAE-56D680420633}"/>
              </a:ext>
            </a:extLst>
          </p:cNvPr>
          <p:cNvSpPr>
            <a:spLocks xmlns:a="http://schemas.openxmlformats.org/drawingml/2006/main" noGrp="1"/>
          </p:cNvSpPr>
          <p:nvPr/>
        </p:nvSpPr>
        <p:spPr>
          <a:xfrm xmlns:a="http://schemas.openxmlformats.org/drawingml/2006/main">
            <a:off x="571500" y="3336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ISO 26262 GOVERNS</a:t>
            </a:r>
          </a:p>
        </p:txBody>
      </p:sp>
      <p:sp>
        <p:nvSpPr>
          <p:cNvPr id="28" name="">
            <a:extLst xmlns:a="http://schemas.openxmlformats.org/drawingml/2006/main">
              <a:ext uri="{FF2B5EF4-FFF2-40B4-BE49-F238E27FC236}">
                <a16:creationId xmlns:a16="http://schemas.microsoft.com/office/drawing/2014/main" id="{83D429E4-0255-4AFE-A1EF-F06E66EF3F2B}"/>
              </a:ext>
            </a:extLst>
          </p:cNvPr>
          <p:cNvSpPr>
            <a:spLocks xmlns:a="http://schemas.openxmlformats.org/drawingml/2006/main" noGrp="1"/>
          </p:cNvSpPr>
          <p:nvPr/>
        </p:nvSpPr>
        <p:spPr>
          <a:xfrm xmlns:a="http://schemas.openxmlformats.org/drawingml/2006/main">
            <a:off x="4067556" y="3327400"/>
            <a:ext cx="5638800" cy="504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ISO 26262 governs safety-related E/E development and malfunctioning behaviour; state scope, edition, ASIL and assessor rather than saying “certified…</a:t>
            </a:r>
          </a:p>
        </p:txBody>
      </p:sp>
      <p:sp>
        <p:nvSpPr>
          <p:cNvPr id="29" name="">
            <a:extLst xmlns:a="http://schemas.openxmlformats.org/drawingml/2006/main">
              <a:ext uri="{FF2B5EF4-FFF2-40B4-BE49-F238E27FC236}">
                <a16:creationId xmlns:a16="http://schemas.microsoft.com/office/drawing/2014/main" id="{B821B71C-9211-4CA9-8FDC-8ECCB52543C2}"/>
              </a:ext>
            </a:extLst>
          </p:cNvPr>
          <p:cNvSpPr>
            <a:spLocks xmlns:a="http://schemas.openxmlformats.org/drawingml/2006/main" noGrp="1"/>
          </p:cNvSpPr>
          <p:nvPr/>
        </p:nvSpPr>
        <p:spPr>
          <a:xfrm xmlns:a="http://schemas.openxmlformats.org/drawingml/2006/main">
            <a:off x="9816084" y="3336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0" name="">
            <a:extLst xmlns:a="http://schemas.openxmlformats.org/drawingml/2006/main">
              <a:ext uri="{FF2B5EF4-FFF2-40B4-BE49-F238E27FC236}">
                <a16:creationId xmlns:a16="http://schemas.microsoft.com/office/drawing/2014/main" id="{5B7E5769-79F0-48D5-87BC-15DF8A527EE7}"/>
              </a:ext>
            </a:extLst>
          </p:cNvPr>
          <p:cNvSpPr>
            <a:spLocks xmlns:a="http://schemas.openxmlformats.org/drawingml/2006/main" noGrp="1"/>
          </p:cNvSpPr>
          <p:nvPr/>
        </p:nvSpPr>
        <p:spPr>
          <a:xfrm xmlns:a="http://schemas.openxmlformats.org/drawingml/2006/main">
            <a:off x="457200" y="3956050"/>
            <a:ext cx="11277600" cy="6381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1AC65AC3-FE14-4D47-A70B-305D3578D464}"/>
              </a:ext>
            </a:extLst>
          </p:cNvPr>
          <p:cNvSpPr>
            <a:spLocks xmlns:a="http://schemas.openxmlformats.org/drawingml/2006/main" noGrp="1"/>
          </p:cNvSpPr>
          <p:nvPr/>
        </p:nvSpPr>
        <p:spPr>
          <a:xfrm xmlns:a="http://schemas.openxmlformats.org/drawingml/2006/main">
            <a:off x="457200" y="3956050"/>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6CA0829-85DE-4D46-BF12-352848538DD8}"/>
              </a:ext>
            </a:extLst>
          </p:cNvPr>
          <p:cNvSpPr>
            <a:spLocks xmlns:a="http://schemas.openxmlformats.org/drawingml/2006/main" noGrp="1"/>
          </p:cNvSpPr>
          <p:nvPr/>
        </p:nvSpPr>
        <p:spPr>
          <a:xfrm xmlns:a="http://schemas.openxmlformats.org/drawingml/2006/main">
            <a:off x="457200" y="3956050"/>
            <a:ext cx="28575" cy="6381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C820E86-8A68-4136-9B81-9EB1580D7AE3}"/>
              </a:ext>
            </a:extLst>
          </p:cNvPr>
          <p:cNvSpPr>
            <a:spLocks xmlns:a="http://schemas.openxmlformats.org/drawingml/2006/main" noGrp="1"/>
          </p:cNvSpPr>
          <p:nvPr/>
        </p:nvSpPr>
        <p:spPr>
          <a:xfrm xmlns:a="http://schemas.openxmlformats.org/drawingml/2006/main">
            <a:off x="571500" y="40417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AIS-162/CMVR TYPE APPROVAL</a:t>
            </a:r>
          </a:p>
        </p:txBody>
      </p:sp>
      <p:sp>
        <p:nvSpPr>
          <p:cNvPr id="34" name="">
            <a:extLst xmlns:a="http://schemas.openxmlformats.org/drawingml/2006/main">
              <a:ext uri="{FF2B5EF4-FFF2-40B4-BE49-F238E27FC236}">
                <a16:creationId xmlns:a16="http://schemas.microsoft.com/office/drawing/2014/main" id="{22AAE4B4-484F-4F38-B72F-37EA97D2065D}"/>
              </a:ext>
            </a:extLst>
          </p:cNvPr>
          <p:cNvSpPr>
            <a:spLocks xmlns:a="http://schemas.openxmlformats.org/drawingml/2006/main" noGrp="1"/>
          </p:cNvSpPr>
          <p:nvPr/>
        </p:nvSpPr>
        <p:spPr>
          <a:xfrm xmlns:a="http://schemas.openxmlformats.org/drawingml/2006/main">
            <a:off x="4067556" y="4032250"/>
            <a:ext cx="5638800" cy="504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AIS-162/CMVR type approval belongs to a tested vehicle/system configuration and applicant; require report number, variants and conformity responsibil…</a:t>
            </a:r>
          </a:p>
        </p:txBody>
      </p:sp>
      <p:sp>
        <p:nvSpPr>
          <p:cNvPr id="35" name="">
            <a:extLst xmlns:a="http://schemas.openxmlformats.org/drawingml/2006/main">
              <a:ext uri="{FF2B5EF4-FFF2-40B4-BE49-F238E27FC236}">
                <a16:creationId xmlns:a16="http://schemas.microsoft.com/office/drawing/2014/main" id="{4C2E23D0-3C71-40BD-B534-2FB526462854}"/>
              </a:ext>
            </a:extLst>
          </p:cNvPr>
          <p:cNvSpPr>
            <a:spLocks xmlns:a="http://schemas.openxmlformats.org/drawingml/2006/main" noGrp="1"/>
          </p:cNvSpPr>
          <p:nvPr/>
        </p:nvSpPr>
        <p:spPr>
          <a:xfrm xmlns:a="http://schemas.openxmlformats.org/drawingml/2006/main">
            <a:off x="9816084" y="40417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31D0F9B6-AEE9-4B02-B54C-B1EE94984497}"/>
              </a:ext>
            </a:extLst>
          </p:cNvPr>
          <p:cNvSpPr>
            <a:spLocks xmlns:a="http://schemas.openxmlformats.org/drawingml/2006/main" noGrp="1"/>
          </p:cNvSpPr>
          <p:nvPr/>
        </p:nvSpPr>
        <p:spPr>
          <a:xfrm xmlns:a="http://schemas.openxmlformats.org/drawingml/2006/main">
            <a:off x="457200" y="4708525"/>
            <a:ext cx="1127760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632AA982-7B49-4B94-A4CF-303BC23A0AB2}"/>
              </a:ext>
            </a:extLst>
          </p:cNvPr>
          <p:cNvSpPr>
            <a:spLocks xmlns:a="http://schemas.openxmlformats.org/drawingml/2006/main" noGrp="1"/>
          </p:cNvSpPr>
          <p:nvPr/>
        </p:nvSpPr>
        <p:spPr>
          <a:xfrm xmlns:a="http://schemas.openxmlformats.org/drawingml/2006/main">
            <a:off x="457200" y="4708525"/>
            <a:ext cx="28575" cy="8540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443BFCA-102C-45D8-B644-E6D2C40342A5}"/>
              </a:ext>
            </a:extLst>
          </p:cNvPr>
          <p:cNvSpPr>
            <a:spLocks xmlns:a="http://schemas.openxmlformats.org/drawingml/2006/main" noGrp="1"/>
          </p:cNvSpPr>
          <p:nvPr/>
        </p:nvSpPr>
        <p:spPr>
          <a:xfrm xmlns:a="http://schemas.openxmlformats.org/drawingml/2006/main">
            <a:off x="581025" y="4775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FE2D5A0B-39B0-44DA-B84C-8A7E58987AE6}"/>
              </a:ext>
            </a:extLst>
          </p:cNvPr>
          <p:cNvSpPr>
            <a:spLocks xmlns:a="http://schemas.openxmlformats.org/drawingml/2006/main" noGrp="1"/>
          </p:cNvSpPr>
          <p:nvPr/>
        </p:nvSpPr>
        <p:spPr>
          <a:xfrm xmlns:a="http://schemas.openxmlformats.org/drawingml/2006/main">
            <a:off x="581025" y="4924425"/>
            <a:ext cx="110299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Starkenn may decline cooperation despite having real deployments. Falsify the current cautious view with independent award or operator attestation, or confirm with customer-side proof of live deployment and service quality. Falsification Criteria Falsify downward if corroboration fails, or upward if independent evidence confirms scale claims.</a:t>
            </a:r>
          </a:p>
        </p:txBody>
      </p:sp>
      <p:sp>
        <p:nvSpPr>
          <p:cNvPr id="40" name="">
            <a:extLst xmlns:a="http://schemas.openxmlformats.org/drawingml/2006/main">
              <a:ext uri="{FF2B5EF4-FFF2-40B4-BE49-F238E27FC236}">
                <a16:creationId xmlns:a16="http://schemas.microsoft.com/office/drawing/2014/main" id="{D676AE86-7606-4393-B0B8-FA1F233F791C}"/>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EECDA127-B14F-4288-8FBE-4CA8919FEFC2}"/>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D25D7681-1D69-46B6-925D-3720403C5306}"/>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1A722221-2CCD-4A3D-9208-D474CE225B09}"/>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Escalate when Starkenn accepts vehicle/scenario workshop</a:t>
            </a:r>
          </a:p>
        </p:txBody>
      </p:sp>
      <p:sp>
        <p:nvSpPr>
          <p:cNvPr id="44" name="">
            <a:extLst xmlns:a="http://schemas.openxmlformats.org/drawingml/2006/main">
              <a:ext uri="{FF2B5EF4-FFF2-40B4-BE49-F238E27FC236}">
                <a16:creationId xmlns:a16="http://schemas.microsoft.com/office/drawing/2014/main" id="{D1923BDB-38C0-4CAF-88DB-687240A26DF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524DE580-DC4E-40AB-94A2-890A58FD33C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Starkenn accepts a vehicle and scenario workshop.</a:t>
            </a:r>
          </a:p>
        </p:txBody>
      </p:sp>
      <p:sp>
        <p:nvSpPr>
          <p:cNvPr id="46" name="">
            <a:extLst xmlns:a="http://schemas.openxmlformats.org/drawingml/2006/main">
              <a:ext uri="{FF2B5EF4-FFF2-40B4-BE49-F238E27FC236}">
                <a16:creationId xmlns:a16="http://schemas.microsoft.com/office/drawing/2014/main" id="{9463AADB-2D75-4EA9-B0BD-BFB3B2E26FA3}"/>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39A78D79-DE8E-4D3B-A125-8146A34E554A}"/>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the partnership track if Starkenn declines written IP terms.</a:t>
            </a:r>
          </a:p>
        </p:txBody>
      </p:sp>
      <p:sp>
        <p:nvSpPr>
          <p:cNvPr id="48" name="">
            <a:extLst xmlns:a="http://schemas.openxmlformats.org/drawingml/2006/main">
              <a:ext uri="{FF2B5EF4-FFF2-40B4-BE49-F238E27FC236}">
                <a16:creationId xmlns:a16="http://schemas.microsoft.com/office/drawing/2014/main" id="{461BBA0B-0067-454D-B345-26EE7C7D2AC3}"/>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6D4682B6-91FE-4A04-A684-1C94156B33C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928EDBFF-4FD5-41A1-906E-A51A9364D14F}"/>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58</a:t>
            </a:r>
          </a:p>
        </p:txBody>
      </p:sp>
    </p:spTree>
    <p:extLst>
      <p:ext uri="{BB962C8B-B14F-4D97-AF65-F5344CB8AC3E}">
        <p14:creationId xmlns:p14="http://schemas.microsoft.com/office/powerpoint/2010/main" val="403943457"/>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0C369DFD-4A76-409F-8B7C-DE091935C8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BAA237B-5BAE-4204-B00E-BF5424AF8708}"/>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1E2930A-8EF8-445C-B1F3-54D6DA904335}"/>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COMPANY PROFILE · P-WARN</a:t>
            </a:r>
          </a:p>
        </p:txBody>
      </p:sp>
      <p:sp>
        <p:nvSpPr>
          <p:cNvPr id="4" name="">
            <a:extLst xmlns:a="http://schemas.openxmlformats.org/drawingml/2006/main">
              <a:ext uri="{FF2B5EF4-FFF2-40B4-BE49-F238E27FC236}">
                <a16:creationId xmlns:a16="http://schemas.microsoft.com/office/drawing/2014/main" id="{EE9DFECA-B8FC-47A2-A989-3DBBCE68D328}"/>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Sterling Tools × MINIEYE</a:t>
            </a:r>
          </a:p>
        </p:txBody>
      </p:sp>
      <p:sp>
        <p:nvSpPr>
          <p:cNvPr id="5" name="">
            <a:extLst xmlns:a="http://schemas.openxmlformats.org/drawingml/2006/main">
              <a:ext uri="{FF2B5EF4-FFF2-40B4-BE49-F238E27FC236}">
                <a16:creationId xmlns:a16="http://schemas.microsoft.com/office/drawing/2014/main" id="{C9F4C41A-2688-4A51-9355-4369FDA2E2E9}"/>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Sterling Tools Limited</a:t>
            </a:r>
          </a:p>
        </p:txBody>
      </p:sp>
      <p:sp>
        <p:nvSpPr>
          <p:cNvPr id="6" name="">
            <a:extLst xmlns:a="http://schemas.openxmlformats.org/drawingml/2006/main">
              <a:ext uri="{FF2B5EF4-FFF2-40B4-BE49-F238E27FC236}">
                <a16:creationId xmlns:a16="http://schemas.microsoft.com/office/drawing/2014/main" id="{2A9F4F68-F94A-4ACF-83ED-FEDE8B30F3F6}"/>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CD0A590-3925-4A38-BCE0-0997ACC527E0}"/>
              </a:ext>
            </a:extLst>
          </p:cNvPr>
          <p:cNvSpPr>
            <a:spLocks xmlns:a="http://schemas.openxmlformats.org/drawingml/2006/main" noGrp="1"/>
          </p:cNvSpPr>
          <p:nvPr/>
        </p:nvSpPr>
        <p:spPr>
          <a:xfrm xmlns:a="http://schemas.openxmlformats.org/drawingml/2006/main">
            <a:off x="45720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BA47BE01-6545-44CC-AACF-C63670FC7F57}"/>
              </a:ext>
            </a:extLst>
          </p:cNvPr>
          <p:cNvSpPr>
            <a:spLocks xmlns:a="http://schemas.openxmlformats.org/drawingml/2006/main" noGrp="1"/>
          </p:cNvSpPr>
          <p:nvPr/>
        </p:nvSpPr>
        <p:spPr>
          <a:xfrm xmlns:a="http://schemas.openxmlformats.org/drawingml/2006/main">
            <a:off x="45720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0FBA1A8-7EB5-42BB-9D5E-FAE01CBA5CA4}"/>
              </a:ext>
            </a:extLst>
          </p:cNvPr>
          <p:cNvSpPr>
            <a:spLocks xmlns:a="http://schemas.openxmlformats.org/drawingml/2006/main" noGrp="1"/>
          </p:cNvSpPr>
          <p:nvPr/>
        </p:nvSpPr>
        <p:spPr>
          <a:xfrm xmlns:a="http://schemas.openxmlformats.org/drawingml/2006/main">
            <a:off x="57150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FOUNDED</a:t>
            </a:r>
          </a:p>
        </p:txBody>
      </p:sp>
      <p:sp>
        <p:nvSpPr>
          <p:cNvPr id="10" name="">
            <a:extLst xmlns:a="http://schemas.openxmlformats.org/drawingml/2006/main">
              <a:ext uri="{FF2B5EF4-FFF2-40B4-BE49-F238E27FC236}">
                <a16:creationId xmlns:a16="http://schemas.microsoft.com/office/drawing/2014/main" id="{7C798D58-8EF2-4E58-8D57-28CBA1D9B708}"/>
              </a:ext>
            </a:extLst>
          </p:cNvPr>
          <p:cNvSpPr>
            <a:spLocks xmlns:a="http://schemas.openxmlformats.org/drawingml/2006/main" noGrp="1"/>
          </p:cNvSpPr>
          <p:nvPr/>
        </p:nvSpPr>
        <p:spPr>
          <a:xfrm xmlns:a="http://schemas.openxmlformats.org/drawingml/2006/main">
            <a:off x="57150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1979</a:t>
            </a:r>
          </a:p>
        </p:txBody>
      </p:sp>
      <p:sp>
        <p:nvSpPr>
          <p:cNvPr id="11" name="">
            <a:extLst xmlns:a="http://schemas.openxmlformats.org/drawingml/2006/main">
              <a:ext uri="{FF2B5EF4-FFF2-40B4-BE49-F238E27FC236}">
                <a16:creationId xmlns:a16="http://schemas.microsoft.com/office/drawing/2014/main" id="{EA15833C-29A8-47B2-A2DA-30EB5947365A}"/>
              </a:ext>
            </a:extLst>
          </p:cNvPr>
          <p:cNvSpPr>
            <a:spLocks xmlns:a="http://schemas.openxmlformats.org/drawingml/2006/main" noGrp="1"/>
          </p:cNvSpPr>
          <p:nvPr/>
        </p:nvSpPr>
        <p:spPr>
          <a:xfrm xmlns:a="http://schemas.openxmlformats.org/drawingml/2006/main">
            <a:off x="57150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India's fastener major</a:t>
            </a:r>
          </a:p>
        </p:txBody>
      </p:sp>
      <p:sp>
        <p:nvSpPr>
          <p:cNvPr id="12" name="">
            <a:extLst xmlns:a="http://schemas.openxmlformats.org/drawingml/2006/main">
              <a:ext uri="{FF2B5EF4-FFF2-40B4-BE49-F238E27FC236}">
                <a16:creationId xmlns:a16="http://schemas.microsoft.com/office/drawing/2014/main" id="{FF3265A1-0929-4347-9179-9DB8D30C2045}"/>
              </a:ext>
            </a:extLst>
          </p:cNvPr>
          <p:cNvSpPr>
            <a:spLocks xmlns:a="http://schemas.openxmlformats.org/drawingml/2006/main" noGrp="1"/>
          </p:cNvSpPr>
          <p:nvPr/>
        </p:nvSpPr>
        <p:spPr>
          <a:xfrm xmlns:a="http://schemas.openxmlformats.org/drawingml/2006/main">
            <a:off x="3305175"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59F8E79E-7203-4105-9C73-905A9C72772A}"/>
              </a:ext>
            </a:extLst>
          </p:cNvPr>
          <p:cNvSpPr>
            <a:spLocks xmlns:a="http://schemas.openxmlformats.org/drawingml/2006/main" noGrp="1"/>
          </p:cNvSpPr>
          <p:nvPr/>
        </p:nvSpPr>
        <p:spPr>
          <a:xfrm xmlns:a="http://schemas.openxmlformats.org/drawingml/2006/main">
            <a:off x="3305175"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5722040-03DB-4B18-AB59-4E82493B9222}"/>
              </a:ext>
            </a:extLst>
          </p:cNvPr>
          <p:cNvSpPr>
            <a:spLocks xmlns:a="http://schemas.openxmlformats.org/drawingml/2006/main" noGrp="1"/>
          </p:cNvSpPr>
          <p:nvPr/>
        </p:nvSpPr>
        <p:spPr>
          <a:xfrm xmlns:a="http://schemas.openxmlformats.org/drawingml/2006/main">
            <a:off x="341947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HEADQUARTERS</a:t>
            </a:r>
          </a:p>
        </p:txBody>
      </p:sp>
      <p:sp>
        <p:nvSpPr>
          <p:cNvPr id="15" name="">
            <a:extLst xmlns:a="http://schemas.openxmlformats.org/drawingml/2006/main">
              <a:ext uri="{FF2B5EF4-FFF2-40B4-BE49-F238E27FC236}">
                <a16:creationId xmlns:a16="http://schemas.microsoft.com/office/drawing/2014/main" id="{5DC254F3-D139-4F13-AC60-87CC53A92B0E}"/>
              </a:ext>
            </a:extLst>
          </p:cNvPr>
          <p:cNvSpPr>
            <a:spLocks xmlns:a="http://schemas.openxmlformats.org/drawingml/2006/main" noGrp="1"/>
          </p:cNvSpPr>
          <p:nvPr/>
        </p:nvSpPr>
        <p:spPr>
          <a:xfrm xmlns:a="http://schemas.openxmlformats.org/drawingml/2006/main">
            <a:off x="341947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New Delhi, India</a:t>
            </a:r>
          </a:p>
        </p:txBody>
      </p:sp>
      <p:sp>
        <p:nvSpPr>
          <p:cNvPr id="16" name="">
            <a:extLst xmlns:a="http://schemas.openxmlformats.org/drawingml/2006/main">
              <a:ext uri="{FF2B5EF4-FFF2-40B4-BE49-F238E27FC236}">
                <a16:creationId xmlns:a16="http://schemas.microsoft.com/office/drawing/2014/main" id="{944948C4-04D8-42A0-8430-F95D97FD8927}"/>
              </a:ext>
            </a:extLst>
          </p:cNvPr>
          <p:cNvSpPr>
            <a:spLocks xmlns:a="http://schemas.openxmlformats.org/drawingml/2006/main" noGrp="1"/>
          </p:cNvSpPr>
          <p:nvPr/>
        </p:nvSpPr>
        <p:spPr>
          <a:xfrm xmlns:a="http://schemas.openxmlformats.org/drawingml/2006/main">
            <a:off x="615315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DFD66807-2F18-4ED8-9A70-6F074DF5D3C2}"/>
              </a:ext>
            </a:extLst>
          </p:cNvPr>
          <p:cNvSpPr>
            <a:spLocks xmlns:a="http://schemas.openxmlformats.org/drawingml/2006/main" noGrp="1"/>
          </p:cNvSpPr>
          <p:nvPr/>
        </p:nvSpPr>
        <p:spPr>
          <a:xfrm xmlns:a="http://schemas.openxmlformats.org/drawingml/2006/main">
            <a:off x="615315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C429C91-94F1-4A9D-95D1-A6625EA19A60}"/>
              </a:ext>
            </a:extLst>
          </p:cNvPr>
          <p:cNvSpPr>
            <a:spLocks xmlns:a="http://schemas.openxmlformats.org/drawingml/2006/main" noGrp="1"/>
          </p:cNvSpPr>
          <p:nvPr/>
        </p:nvSpPr>
        <p:spPr>
          <a:xfrm xmlns:a="http://schemas.openxmlformats.org/drawingml/2006/main">
            <a:off x="626745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19" name="">
            <a:extLst xmlns:a="http://schemas.openxmlformats.org/drawingml/2006/main">
              <a:ext uri="{FF2B5EF4-FFF2-40B4-BE49-F238E27FC236}">
                <a16:creationId xmlns:a16="http://schemas.microsoft.com/office/drawing/2014/main" id="{4776F4DA-680F-41C6-B7FD-7F6172C6050B}"/>
              </a:ext>
            </a:extLst>
          </p:cNvPr>
          <p:cNvSpPr>
            <a:spLocks xmlns:a="http://schemas.openxmlformats.org/drawingml/2006/main" noGrp="1"/>
          </p:cNvSpPr>
          <p:nvPr/>
        </p:nvSpPr>
        <p:spPr>
          <a:xfrm xmlns:a="http://schemas.openxmlformats.org/drawingml/2006/main">
            <a:off x="6267450" y="1352550"/>
            <a:ext cx="2505075" cy="228600"/>
          </a:xfrm>
          <a:prstGeom xmlns:a="http://schemas.openxmlformats.org/drawingml/2006/main" prst="rect">
            <a:avLst/>
          </a:prstGeom>
        </p:spPr>
        <p:txBody>
          <a:bodyPr xmlns:a="http://schemas.openxmlformats.org/drawingml/2006/main" lIns="0" tIns="0" rIns="0" bIns="0" anchor="t">
            <a:normAutofit fontScale="99216"/>
          </a:bodyPr>
          <a:lstStyle xmlns:a="http://schemas.openxmlformats.org/drawingml/2006/main"/>
          <a:p xmlns:a="http://schemas.openxmlformats.org/drawingml/2006/main">
            <a:pPr algn="l">
              <a:defRPr sz="1200" b="1">
                <a:solidFill>
                  <a:srgbClr val="FFFFFF"/>
                </a:solidFill>
                <a:latin typeface="Arial"/>
                <a:ea typeface="Arial"/>
                <a:cs typeface="Arial"/>
              </a:defRPr>
            </a:pPr>
            <a:r>
              <a:t>NSE: STERTOOLS · BSE SmallCap</a:t>
            </a:r>
          </a:p>
        </p:txBody>
      </p:sp>
      <p:sp>
        <p:nvSpPr>
          <p:cNvPr id="20" name="">
            <a:extLst xmlns:a="http://schemas.openxmlformats.org/drawingml/2006/main">
              <a:ext uri="{FF2B5EF4-FFF2-40B4-BE49-F238E27FC236}">
                <a16:creationId xmlns:a16="http://schemas.microsoft.com/office/drawing/2014/main" id="{B2AD8B5E-8DF9-4E8A-8851-67247EDD302D}"/>
              </a:ext>
            </a:extLst>
          </p:cNvPr>
          <p:cNvSpPr>
            <a:spLocks xmlns:a="http://schemas.openxmlformats.org/drawingml/2006/main" noGrp="1"/>
          </p:cNvSpPr>
          <p:nvPr/>
        </p:nvSpPr>
        <p:spPr>
          <a:xfrm xmlns:a="http://schemas.openxmlformats.org/drawingml/2006/main">
            <a:off x="626745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Publicly listed</a:t>
            </a:r>
          </a:p>
        </p:txBody>
      </p:sp>
      <p:sp>
        <p:nvSpPr>
          <p:cNvPr id="21" name="">
            <a:extLst xmlns:a="http://schemas.openxmlformats.org/drawingml/2006/main">
              <a:ext uri="{FF2B5EF4-FFF2-40B4-BE49-F238E27FC236}">
                <a16:creationId xmlns:a16="http://schemas.microsoft.com/office/drawing/2014/main" id="{EED2C9AF-538C-4142-A0D4-3EED0BED9EC3}"/>
              </a:ext>
            </a:extLst>
          </p:cNvPr>
          <p:cNvSpPr>
            <a:spLocks xmlns:a="http://schemas.openxmlformats.org/drawingml/2006/main" noGrp="1"/>
          </p:cNvSpPr>
          <p:nvPr/>
        </p:nvSpPr>
        <p:spPr>
          <a:xfrm xmlns:a="http://schemas.openxmlformats.org/drawingml/2006/main">
            <a:off x="9001125" y="1085850"/>
            <a:ext cx="2733675" cy="800100"/>
          </a:xfrm>
          <a:prstGeom xmlns:a="http://schemas.openxmlformats.org/drawingml/2006/main" prst="rect">
            <a:avLst/>
          </a:prstGeom>
          <a:solidFill xmlns:a="http://schemas.openxmlformats.org/drawingml/2006/main">
            <a:srgbClr val="16243A"/>
          </a:solidFill>
          <a:ln xmlns:a="http://schemas.openxmlformats.org/drawingml/2006/main" w="9525">
            <a:solidFill>
              <a:srgbClr val="1A2F45"/>
            </a:solidFill>
            <a:prstDash val="solid"/>
          </a:ln>
        </p:spPr>
      </p:sp>
      <p:sp>
        <p:nvSpPr>
          <p:cNvPr id="22" name="">
            <a:extLst xmlns:a="http://schemas.openxmlformats.org/drawingml/2006/main">
              <a:ext uri="{FF2B5EF4-FFF2-40B4-BE49-F238E27FC236}">
                <a16:creationId xmlns:a16="http://schemas.microsoft.com/office/drawing/2014/main" id="{E576B80D-423A-40D0-AA5F-83E44D765659}"/>
              </a:ext>
            </a:extLst>
          </p:cNvPr>
          <p:cNvSpPr>
            <a:spLocks xmlns:a="http://schemas.openxmlformats.org/drawingml/2006/main" noGrp="1"/>
          </p:cNvSpPr>
          <p:nvPr/>
        </p:nvSpPr>
        <p:spPr>
          <a:xfrm xmlns:a="http://schemas.openxmlformats.org/drawingml/2006/main">
            <a:off x="9001125" y="1085850"/>
            <a:ext cx="2733675"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6D5BAF0-728B-467C-A802-1722A8C7C979}"/>
              </a:ext>
            </a:extLst>
          </p:cNvPr>
          <p:cNvSpPr>
            <a:spLocks xmlns:a="http://schemas.openxmlformats.org/drawingml/2006/main" noGrp="1"/>
          </p:cNvSpPr>
          <p:nvPr/>
        </p:nvSpPr>
        <p:spPr>
          <a:xfrm xmlns:a="http://schemas.openxmlformats.org/drawingml/2006/main">
            <a:off x="911542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MARKET CAP</a:t>
            </a:r>
          </a:p>
        </p:txBody>
      </p:sp>
      <p:sp>
        <p:nvSpPr>
          <p:cNvPr id="24" name="">
            <a:extLst xmlns:a="http://schemas.openxmlformats.org/drawingml/2006/main">
              <a:ext uri="{FF2B5EF4-FFF2-40B4-BE49-F238E27FC236}">
                <a16:creationId xmlns:a16="http://schemas.microsoft.com/office/drawing/2014/main" id="{4C9C5802-3E45-4745-A558-5D273E446A16}"/>
              </a:ext>
            </a:extLst>
          </p:cNvPr>
          <p:cNvSpPr>
            <a:spLocks xmlns:a="http://schemas.openxmlformats.org/drawingml/2006/main" noGrp="1"/>
          </p:cNvSpPr>
          <p:nvPr/>
        </p:nvSpPr>
        <p:spPr>
          <a:xfrm xmlns:a="http://schemas.openxmlformats.org/drawingml/2006/main">
            <a:off x="911542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D7720B"/>
                </a:solidFill>
                <a:latin typeface="Arial"/>
                <a:ea typeface="Arial"/>
                <a:cs typeface="Arial"/>
              </a:defRPr>
            </a:pPr>
            <a:r>
              <a:t>₹806 Cr</a:t>
            </a:r>
          </a:p>
        </p:txBody>
      </p:sp>
      <p:sp>
        <p:nvSpPr>
          <p:cNvPr id="25" name="">
            <a:extLst xmlns:a="http://schemas.openxmlformats.org/drawingml/2006/main">
              <a:ext uri="{FF2B5EF4-FFF2-40B4-BE49-F238E27FC236}">
                <a16:creationId xmlns:a16="http://schemas.microsoft.com/office/drawing/2014/main" id="{69E32B3D-EFBA-4F91-96DF-92F655CC5383}"/>
              </a:ext>
            </a:extLst>
          </p:cNvPr>
          <p:cNvSpPr>
            <a:spLocks xmlns:a="http://schemas.openxmlformats.org/drawingml/2006/main" noGrp="1"/>
          </p:cNvSpPr>
          <p:nvPr/>
        </p:nvSpPr>
        <p:spPr>
          <a:xfrm xmlns:a="http://schemas.openxmlformats.org/drawingml/2006/main">
            <a:off x="9115425"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as of 13 Aug 2026</a:t>
            </a:r>
          </a:p>
        </p:txBody>
      </p:sp>
      <p:sp>
        <p:nvSpPr>
          <p:cNvPr id="26" name="">
            <a:extLst xmlns:a="http://schemas.openxmlformats.org/drawingml/2006/main">
              <a:ext uri="{FF2B5EF4-FFF2-40B4-BE49-F238E27FC236}">
                <a16:creationId xmlns:a16="http://schemas.microsoft.com/office/drawing/2014/main" id="{DE780A07-C787-4762-B93B-FDBCC0BB2ED2}"/>
              </a:ext>
            </a:extLst>
          </p:cNvPr>
          <p:cNvSpPr>
            <a:spLocks xmlns:a="http://schemas.openxmlformats.org/drawingml/2006/main" noGrp="1"/>
          </p:cNvSpPr>
          <p:nvPr/>
        </p:nvSpPr>
        <p:spPr>
          <a:xfrm xmlns:a="http://schemas.openxmlformats.org/drawingml/2006/main">
            <a:off x="4572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PEOPLE</a:t>
            </a:r>
          </a:p>
        </p:txBody>
      </p:sp>
      <p:sp>
        <p:nvSpPr>
          <p:cNvPr id="27" name="">
            <a:extLst xmlns:a="http://schemas.openxmlformats.org/drawingml/2006/main">
              <a:ext uri="{FF2B5EF4-FFF2-40B4-BE49-F238E27FC236}">
                <a16:creationId xmlns:a16="http://schemas.microsoft.com/office/drawing/2014/main" id="{F313492F-43AB-4D48-8BFB-FB13EC98A448}"/>
              </a:ext>
            </a:extLst>
          </p:cNvPr>
          <p:cNvSpPr>
            <a:spLocks xmlns:a="http://schemas.openxmlformats.org/drawingml/2006/main" noGrp="1"/>
          </p:cNvSpPr>
          <p:nvPr/>
        </p:nvSpPr>
        <p:spPr>
          <a:xfrm xmlns:a="http://schemas.openxmlformats.org/drawingml/2006/main">
            <a:off x="4572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28" name="">
            <a:extLst xmlns:a="http://schemas.openxmlformats.org/drawingml/2006/main">
              <a:ext uri="{FF2B5EF4-FFF2-40B4-BE49-F238E27FC236}">
                <a16:creationId xmlns:a16="http://schemas.microsoft.com/office/drawing/2014/main" id="{E7D6FA98-5AAE-4791-9AFB-793C34FCC4CF}"/>
              </a:ext>
            </a:extLst>
          </p:cNvPr>
          <p:cNvSpPr>
            <a:spLocks xmlns:a="http://schemas.openxmlformats.org/drawingml/2006/main" noGrp="1"/>
          </p:cNvSpPr>
          <p:nvPr/>
        </p:nvSpPr>
        <p:spPr>
          <a:xfrm xmlns:a="http://schemas.openxmlformats.org/drawingml/2006/main">
            <a:off x="42545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VALUE MOVE</a:t>
            </a:r>
          </a:p>
        </p:txBody>
      </p:sp>
      <p:sp>
        <p:nvSpPr>
          <p:cNvPr id="29" name="">
            <a:extLst xmlns:a="http://schemas.openxmlformats.org/drawingml/2006/main">
              <a:ext uri="{FF2B5EF4-FFF2-40B4-BE49-F238E27FC236}">
                <a16:creationId xmlns:a16="http://schemas.microsoft.com/office/drawing/2014/main" id="{8832F376-4F99-476A-A7C4-B244C6736251}"/>
              </a:ext>
            </a:extLst>
          </p:cNvPr>
          <p:cNvSpPr>
            <a:spLocks xmlns:a="http://schemas.openxmlformats.org/drawingml/2006/main" noGrp="1"/>
          </p:cNvSpPr>
          <p:nvPr/>
        </p:nvSpPr>
        <p:spPr>
          <a:xfrm xmlns:a="http://schemas.openxmlformats.org/drawingml/2006/main">
            <a:off x="42545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₹888 Cr Jul → ₹806 Cr Aug</a:t>
            </a:r>
          </a:p>
        </p:txBody>
      </p:sp>
      <p:sp>
        <p:nvSpPr>
          <p:cNvPr id="30" name="">
            <a:extLst xmlns:a="http://schemas.openxmlformats.org/drawingml/2006/main">
              <a:ext uri="{FF2B5EF4-FFF2-40B4-BE49-F238E27FC236}">
                <a16:creationId xmlns:a16="http://schemas.microsoft.com/office/drawing/2014/main" id="{180AB950-4A48-4D54-A8B1-503E2789F2D8}"/>
              </a:ext>
            </a:extLst>
          </p:cNvPr>
          <p:cNvSpPr>
            <a:spLocks xmlns:a="http://schemas.openxmlformats.org/drawingml/2006/main" noGrp="1"/>
          </p:cNvSpPr>
          <p:nvPr/>
        </p:nvSpPr>
        <p:spPr>
          <a:xfrm xmlns:a="http://schemas.openxmlformats.org/drawingml/2006/main">
            <a:off x="80518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PARENT / BACKING</a:t>
            </a:r>
          </a:p>
        </p:txBody>
      </p:sp>
      <p:sp>
        <p:nvSpPr>
          <p:cNvPr id="31" name="">
            <a:extLst xmlns:a="http://schemas.openxmlformats.org/drawingml/2006/main">
              <a:ext uri="{FF2B5EF4-FFF2-40B4-BE49-F238E27FC236}">
                <a16:creationId xmlns:a16="http://schemas.microsoft.com/office/drawing/2014/main" id="{2428B37C-A9A1-4631-AFCA-115809718F1E}"/>
              </a:ext>
            </a:extLst>
          </p:cNvPr>
          <p:cNvSpPr>
            <a:spLocks xmlns:a="http://schemas.openxmlformats.org/drawingml/2006/main" noGrp="1"/>
          </p:cNvSpPr>
          <p:nvPr/>
        </p:nvSpPr>
        <p:spPr>
          <a:xfrm xmlns:a="http://schemas.openxmlformats.org/drawingml/2006/main">
            <a:off x="80518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32" name="">
            <a:extLst xmlns:a="http://schemas.openxmlformats.org/drawingml/2006/main">
              <a:ext uri="{FF2B5EF4-FFF2-40B4-BE49-F238E27FC236}">
                <a16:creationId xmlns:a16="http://schemas.microsoft.com/office/drawing/2014/main" id="{DE38B3AE-DA87-4E98-9A62-B1E182228985}"/>
              </a:ext>
            </a:extLst>
          </p:cNvPr>
          <p:cNvSpPr>
            <a:spLocks xmlns:a="http://schemas.openxmlformats.org/drawingml/2006/main" noGrp="1"/>
          </p:cNvSpPr>
          <p:nvPr/>
        </p:nvSpPr>
        <p:spPr>
          <a:xfrm xmlns:a="http://schemas.openxmlformats.org/drawingml/2006/main">
            <a:off x="457200" y="24574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09715D0-D2A4-4261-87B5-F038F03BA815}"/>
              </a:ext>
            </a:extLst>
          </p:cNvPr>
          <p:cNvSpPr>
            <a:spLocks xmlns:a="http://schemas.openxmlformats.org/drawingml/2006/main" noGrp="1"/>
          </p:cNvSpPr>
          <p:nvPr/>
        </p:nvSpPr>
        <p:spPr>
          <a:xfrm xmlns:a="http://schemas.openxmlformats.org/drawingml/2006/main">
            <a:off x="457200" y="257175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WHAT IT SELLS</a:t>
            </a:r>
          </a:p>
        </p:txBody>
      </p:sp>
      <p:sp>
        <p:nvSpPr>
          <p:cNvPr id="34" name="">
            <a:extLst xmlns:a="http://schemas.openxmlformats.org/drawingml/2006/main">
              <a:ext uri="{FF2B5EF4-FFF2-40B4-BE49-F238E27FC236}">
                <a16:creationId xmlns:a16="http://schemas.microsoft.com/office/drawing/2014/main" id="{7E6CF7B2-8E88-4CB5-8C85-E0057F71BCC2}"/>
              </a:ext>
            </a:extLst>
          </p:cNvPr>
          <p:cNvSpPr>
            <a:spLocks xmlns:a="http://schemas.openxmlformats.org/drawingml/2006/main" noGrp="1"/>
          </p:cNvSpPr>
          <p:nvPr/>
        </p:nvSpPr>
        <p:spPr>
          <a:xfrm xmlns:a="http://schemas.openxmlformats.org/drawingml/2006/main">
            <a:off x="457200" y="2733675"/>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Fasteners; ADAS and driver monitoring for India via the MINIEYE partnership</a:t>
            </a:r>
          </a:p>
        </p:txBody>
      </p:sp>
      <p:sp>
        <p:nvSpPr>
          <p:cNvPr id="35" name="">
            <a:extLst xmlns:a="http://schemas.openxmlformats.org/drawingml/2006/main">
              <a:ext uri="{FF2B5EF4-FFF2-40B4-BE49-F238E27FC236}">
                <a16:creationId xmlns:a16="http://schemas.microsoft.com/office/drawing/2014/main" id="{FFCA7CA4-4E3C-4520-8624-1E423E1B20D6}"/>
              </a:ext>
            </a:extLst>
          </p:cNvPr>
          <p:cNvSpPr>
            <a:spLocks xmlns:a="http://schemas.openxmlformats.org/drawingml/2006/main" noGrp="1"/>
          </p:cNvSpPr>
          <p:nvPr/>
        </p:nvSpPr>
        <p:spPr>
          <a:xfrm xmlns:a="http://schemas.openxmlformats.org/drawingml/2006/main">
            <a:off x="4572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82CB841-2F90-4874-9717-D954134C165E}"/>
              </a:ext>
            </a:extLst>
          </p:cNvPr>
          <p:cNvSpPr>
            <a:spLocks xmlns:a="http://schemas.openxmlformats.org/drawingml/2006/main" noGrp="1"/>
          </p:cNvSpPr>
          <p:nvPr/>
        </p:nvSpPr>
        <p:spPr>
          <a:xfrm xmlns:a="http://schemas.openxmlformats.org/drawingml/2006/main">
            <a:off x="5715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MARKET CAP TREND</a:t>
            </a:r>
          </a:p>
        </p:txBody>
      </p:sp>
      <p:sp>
        <p:nvSpPr>
          <p:cNvPr id="37" name="">
            <a:extLst xmlns:a="http://schemas.openxmlformats.org/drawingml/2006/main">
              <a:ext uri="{FF2B5EF4-FFF2-40B4-BE49-F238E27FC236}">
                <a16:creationId xmlns:a16="http://schemas.microsoft.com/office/drawing/2014/main" id="{3A4E78F8-875A-4827-A33C-A7355A8BCC7D}"/>
              </a:ext>
            </a:extLst>
          </p:cNvPr>
          <p:cNvSpPr>
            <a:spLocks xmlns:a="http://schemas.openxmlformats.org/drawingml/2006/main" noGrp="1"/>
          </p:cNvSpPr>
          <p:nvPr/>
        </p:nvSpPr>
        <p:spPr>
          <a:xfrm xmlns:a="http://schemas.openxmlformats.org/drawingml/2006/main">
            <a:off x="20574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₹758 Cr (Jun) → ₹888 Cr (Jul) → ₹806 Cr (Aug)</a:t>
            </a:r>
          </a:p>
        </p:txBody>
      </p:sp>
      <p:sp>
        <p:nvSpPr>
          <p:cNvPr id="38" name="">
            <a:extLst xmlns:a="http://schemas.openxmlformats.org/drawingml/2006/main">
              <a:ext uri="{FF2B5EF4-FFF2-40B4-BE49-F238E27FC236}">
                <a16:creationId xmlns:a16="http://schemas.microsoft.com/office/drawing/2014/main" id="{545D0235-6738-422D-A7BE-2B41AD26342A}"/>
              </a:ext>
            </a:extLst>
          </p:cNvPr>
          <p:cNvSpPr>
            <a:spLocks xmlns:a="http://schemas.openxmlformats.org/drawingml/2006/main" noGrp="1"/>
          </p:cNvSpPr>
          <p:nvPr/>
        </p:nvSpPr>
        <p:spPr>
          <a:xfrm xmlns:a="http://schemas.openxmlformats.org/drawingml/2006/main">
            <a:off x="62103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0F6A3519-4B37-4551-AD6C-FF2500BFDB37}"/>
              </a:ext>
            </a:extLst>
          </p:cNvPr>
          <p:cNvSpPr>
            <a:spLocks xmlns:a="http://schemas.openxmlformats.org/drawingml/2006/main" noGrp="1"/>
          </p:cNvSpPr>
          <p:nvPr/>
        </p:nvSpPr>
        <p:spPr>
          <a:xfrm xmlns:a="http://schemas.openxmlformats.org/drawingml/2006/main">
            <a:off x="63246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SHARE PRICE</a:t>
            </a:r>
          </a:p>
        </p:txBody>
      </p:sp>
      <p:sp>
        <p:nvSpPr>
          <p:cNvPr id="40" name="">
            <a:extLst xmlns:a="http://schemas.openxmlformats.org/drawingml/2006/main">
              <a:ext uri="{FF2B5EF4-FFF2-40B4-BE49-F238E27FC236}">
                <a16:creationId xmlns:a16="http://schemas.microsoft.com/office/drawing/2014/main" id="{24EB077C-2C2B-493D-9705-9ED56EAFAD56}"/>
              </a:ext>
            </a:extLst>
          </p:cNvPr>
          <p:cNvSpPr>
            <a:spLocks xmlns:a="http://schemas.openxmlformats.org/drawingml/2006/main" noGrp="1"/>
          </p:cNvSpPr>
          <p:nvPr/>
        </p:nvSpPr>
        <p:spPr>
          <a:xfrm xmlns:a="http://schemas.openxmlformats.org/drawingml/2006/main">
            <a:off x="78105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₹221.80 — down 11.95% over five sessions</a:t>
            </a:r>
          </a:p>
        </p:txBody>
      </p:sp>
      <p:sp>
        <p:nvSpPr>
          <p:cNvPr id="41" name="">
            <a:extLst xmlns:a="http://schemas.openxmlformats.org/drawingml/2006/main">
              <a:ext uri="{FF2B5EF4-FFF2-40B4-BE49-F238E27FC236}">
                <a16:creationId xmlns:a16="http://schemas.microsoft.com/office/drawing/2014/main" id="{3026092F-690C-48D8-9973-45B70497C674}"/>
              </a:ext>
            </a:extLst>
          </p:cNvPr>
          <p:cNvSpPr>
            <a:spLocks xmlns:a="http://schemas.openxmlformats.org/drawingml/2006/main" noGrp="1"/>
          </p:cNvSpPr>
          <p:nvPr/>
        </p:nvSpPr>
        <p:spPr>
          <a:xfrm xmlns:a="http://schemas.openxmlformats.org/drawingml/2006/main">
            <a:off x="4572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1E8B0D0-6805-4881-B0C3-69D7B1213201}"/>
              </a:ext>
            </a:extLst>
          </p:cNvPr>
          <p:cNvSpPr>
            <a:spLocks xmlns:a="http://schemas.openxmlformats.org/drawingml/2006/main" noGrp="1"/>
          </p:cNvSpPr>
          <p:nvPr/>
        </p:nvSpPr>
        <p:spPr>
          <a:xfrm xmlns:a="http://schemas.openxmlformats.org/drawingml/2006/main">
            <a:off x="5715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CORE BUSINESS</a:t>
            </a:r>
          </a:p>
        </p:txBody>
      </p:sp>
      <p:sp>
        <p:nvSpPr>
          <p:cNvPr id="43" name="">
            <a:extLst xmlns:a="http://schemas.openxmlformats.org/drawingml/2006/main">
              <a:ext uri="{FF2B5EF4-FFF2-40B4-BE49-F238E27FC236}">
                <a16:creationId xmlns:a16="http://schemas.microsoft.com/office/drawing/2014/main" id="{46276B12-1C97-4D0A-9261-7EE8DED6BDD0}"/>
              </a:ext>
            </a:extLst>
          </p:cNvPr>
          <p:cNvSpPr>
            <a:spLocks xmlns:a="http://schemas.openxmlformats.org/drawingml/2006/main" noGrp="1"/>
          </p:cNvSpPr>
          <p:nvPr/>
        </p:nvSpPr>
        <p:spPr>
          <a:xfrm xmlns:a="http://schemas.openxmlformats.org/drawingml/2006/main">
            <a:off x="20574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Fasteners — India major since 1979</a:t>
            </a:r>
          </a:p>
        </p:txBody>
      </p:sp>
      <p:sp>
        <p:nvSpPr>
          <p:cNvPr id="44" name="">
            <a:extLst xmlns:a="http://schemas.openxmlformats.org/drawingml/2006/main">
              <a:ext uri="{FF2B5EF4-FFF2-40B4-BE49-F238E27FC236}">
                <a16:creationId xmlns:a16="http://schemas.microsoft.com/office/drawing/2014/main" id="{06F36340-8BE9-4FA9-9D90-2D2EA8DFD6FE}"/>
              </a:ext>
            </a:extLst>
          </p:cNvPr>
          <p:cNvSpPr>
            <a:spLocks xmlns:a="http://schemas.openxmlformats.org/drawingml/2006/main" noGrp="1"/>
          </p:cNvSpPr>
          <p:nvPr/>
        </p:nvSpPr>
        <p:spPr>
          <a:xfrm xmlns:a="http://schemas.openxmlformats.org/drawingml/2006/main">
            <a:off x="62103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24749159-317C-4641-9772-B9172B981AFB}"/>
              </a:ext>
            </a:extLst>
          </p:cNvPr>
          <p:cNvSpPr>
            <a:spLocks xmlns:a="http://schemas.openxmlformats.org/drawingml/2006/main" noGrp="1"/>
          </p:cNvSpPr>
          <p:nvPr/>
        </p:nvSpPr>
        <p:spPr>
          <a:xfrm xmlns:a="http://schemas.openxmlformats.org/drawingml/2006/main">
            <a:off x="63246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PARTNER</a:t>
            </a:r>
          </a:p>
        </p:txBody>
      </p:sp>
      <p:sp>
        <p:nvSpPr>
          <p:cNvPr id="46" name="">
            <a:extLst xmlns:a="http://schemas.openxmlformats.org/drawingml/2006/main">
              <a:ext uri="{FF2B5EF4-FFF2-40B4-BE49-F238E27FC236}">
                <a16:creationId xmlns:a16="http://schemas.microsoft.com/office/drawing/2014/main" id="{9967B562-2745-4511-A2B8-6CAD4E5A79F3}"/>
              </a:ext>
            </a:extLst>
          </p:cNvPr>
          <p:cNvSpPr>
            <a:spLocks xmlns:a="http://schemas.openxmlformats.org/drawingml/2006/main" noGrp="1"/>
          </p:cNvSpPr>
          <p:nvPr/>
        </p:nvSpPr>
        <p:spPr>
          <a:xfrm xmlns:a="http://schemas.openxmlformats.org/drawingml/2006/main">
            <a:off x="78105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MINIEYE — HK-listed, China-based</a:t>
            </a:r>
          </a:p>
        </p:txBody>
      </p:sp>
      <p:sp>
        <p:nvSpPr>
          <p:cNvPr id="47" name="">
            <a:extLst xmlns:a="http://schemas.openxmlformats.org/drawingml/2006/main">
              <a:ext uri="{FF2B5EF4-FFF2-40B4-BE49-F238E27FC236}">
                <a16:creationId xmlns:a16="http://schemas.microsoft.com/office/drawing/2014/main" id="{8AB6C630-D6FF-4ECA-8D0F-DE8D94F47182}"/>
              </a:ext>
            </a:extLst>
          </p:cNvPr>
          <p:cNvSpPr>
            <a:spLocks xmlns:a="http://schemas.openxmlformats.org/drawingml/2006/main" noGrp="1"/>
          </p:cNvSpPr>
          <p:nvPr/>
        </p:nvSpPr>
        <p:spPr>
          <a:xfrm xmlns:a="http://schemas.openxmlformats.org/drawingml/2006/main">
            <a:off x="4572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49538146-B077-4789-8B07-9C3584748EF7}"/>
              </a:ext>
            </a:extLst>
          </p:cNvPr>
          <p:cNvSpPr>
            <a:spLocks xmlns:a="http://schemas.openxmlformats.org/drawingml/2006/main" noGrp="1"/>
          </p:cNvSpPr>
          <p:nvPr/>
        </p:nvSpPr>
        <p:spPr>
          <a:xfrm xmlns:a="http://schemas.openxmlformats.org/drawingml/2006/main">
            <a:off x="5715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DIVISION OF LABOUR</a:t>
            </a:r>
          </a:p>
        </p:txBody>
      </p:sp>
      <p:sp>
        <p:nvSpPr>
          <p:cNvPr id="49" name="">
            <a:extLst xmlns:a="http://schemas.openxmlformats.org/drawingml/2006/main">
              <a:ext uri="{FF2B5EF4-FFF2-40B4-BE49-F238E27FC236}">
                <a16:creationId xmlns:a16="http://schemas.microsoft.com/office/drawing/2014/main" id="{1A44EFAE-BB63-4D04-8D8B-0B3C451886D8}"/>
              </a:ext>
            </a:extLst>
          </p:cNvPr>
          <p:cNvSpPr>
            <a:spLocks xmlns:a="http://schemas.openxmlformats.org/drawingml/2006/main" noGrp="1"/>
          </p:cNvSpPr>
          <p:nvPr/>
        </p:nvSpPr>
        <p:spPr>
          <a:xfrm xmlns:a="http://schemas.openxmlformats.org/drawingml/2006/main">
            <a:off x="20574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Sterling: manufacturing, channel, compliance</a:t>
            </a:r>
          </a:p>
        </p:txBody>
      </p:sp>
      <p:sp>
        <p:nvSpPr>
          <p:cNvPr id="50" name="">
            <a:extLst xmlns:a="http://schemas.openxmlformats.org/drawingml/2006/main">
              <a:ext uri="{FF2B5EF4-FFF2-40B4-BE49-F238E27FC236}">
                <a16:creationId xmlns:a16="http://schemas.microsoft.com/office/drawing/2014/main" id="{B973B43F-0945-4A14-AA38-569A8EB23E4C}"/>
              </a:ext>
            </a:extLst>
          </p:cNvPr>
          <p:cNvSpPr>
            <a:spLocks xmlns:a="http://schemas.openxmlformats.org/drawingml/2006/main" noGrp="1"/>
          </p:cNvSpPr>
          <p:nvPr/>
        </p:nvSpPr>
        <p:spPr>
          <a:xfrm xmlns:a="http://schemas.openxmlformats.org/drawingml/2006/main">
            <a:off x="62103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7C1A6020-174A-40C5-8124-15A51BD8AEC7}"/>
              </a:ext>
            </a:extLst>
          </p:cNvPr>
          <p:cNvSpPr>
            <a:spLocks xmlns:a="http://schemas.openxmlformats.org/drawingml/2006/main" noGrp="1"/>
          </p:cNvSpPr>
          <p:nvPr/>
        </p:nvSpPr>
        <p:spPr>
          <a:xfrm xmlns:a="http://schemas.openxmlformats.org/drawingml/2006/main">
            <a:off x="63246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STALE-DATA WARNING</a:t>
            </a:r>
          </a:p>
        </p:txBody>
      </p:sp>
      <p:sp>
        <p:nvSpPr>
          <p:cNvPr id="52" name="">
            <a:extLst xmlns:a="http://schemas.openxmlformats.org/drawingml/2006/main">
              <a:ext uri="{FF2B5EF4-FFF2-40B4-BE49-F238E27FC236}">
                <a16:creationId xmlns:a16="http://schemas.microsoft.com/office/drawing/2014/main" id="{E70BB568-1D97-4138-85C8-5E095EDBB5E3}"/>
              </a:ext>
            </a:extLst>
          </p:cNvPr>
          <p:cNvSpPr>
            <a:spLocks xmlns:a="http://schemas.openxmlformats.org/drawingml/2006/main" noGrp="1"/>
          </p:cNvSpPr>
          <p:nvPr/>
        </p:nvSpPr>
        <p:spPr>
          <a:xfrm xmlns:a="http://schemas.openxmlformats.org/drawingml/2006/main">
            <a:off x="78105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Yahoo still shows a Feb 2025 quote — do not use</a:t>
            </a:r>
          </a:p>
        </p:txBody>
      </p:sp>
      <p:sp>
        <p:nvSpPr>
          <p:cNvPr id="53" name="">
            <a:extLst xmlns:a="http://schemas.openxmlformats.org/drawingml/2006/main">
              <a:ext uri="{FF2B5EF4-FFF2-40B4-BE49-F238E27FC236}">
                <a16:creationId xmlns:a16="http://schemas.microsoft.com/office/drawing/2014/main" id="{335693E3-9791-44BB-9E18-A564441584FF}"/>
              </a:ext>
            </a:extLst>
          </p:cNvPr>
          <p:cNvSpPr>
            <a:spLocks xmlns:a="http://schemas.openxmlformats.org/drawingml/2006/main" noGrp="1"/>
          </p:cNvSpPr>
          <p:nvPr/>
        </p:nvSpPr>
        <p:spPr>
          <a:xfrm xmlns:a="http://schemas.openxmlformats.org/drawingml/2006/main">
            <a:off x="457200" y="41910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FAF6BEC1-0B1D-4EA9-9330-D6C47B59166C}"/>
              </a:ext>
            </a:extLst>
          </p:cNvPr>
          <p:cNvSpPr>
            <a:spLocks xmlns:a="http://schemas.openxmlformats.org/drawingml/2006/main" noGrp="1"/>
          </p:cNvSpPr>
          <p:nvPr/>
        </p:nvSpPr>
        <p:spPr>
          <a:xfrm xmlns:a="http://schemas.openxmlformats.org/drawingml/2006/main">
            <a:off x="457200" y="430530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OPEN ON THIS COMPANY</a:t>
            </a:r>
          </a:p>
        </p:txBody>
      </p:sp>
      <p:sp>
        <p:nvSpPr>
          <p:cNvPr id="55" name="">
            <a:extLst xmlns:a="http://schemas.openxmlformats.org/drawingml/2006/main">
              <a:ext uri="{FF2B5EF4-FFF2-40B4-BE49-F238E27FC236}">
                <a16:creationId xmlns:a16="http://schemas.microsoft.com/office/drawing/2014/main" id="{2A5A8A43-B910-47EC-983E-5F48FE9A8FDF}"/>
              </a:ext>
            </a:extLst>
          </p:cNvPr>
          <p:cNvSpPr>
            <a:spLocks xmlns:a="http://schemas.openxmlformats.org/drawingml/2006/main" noGrp="1"/>
          </p:cNvSpPr>
          <p:nvPr/>
        </p:nvSpPr>
        <p:spPr>
          <a:xfrm xmlns:a="http://schemas.openxmlformats.org/drawingml/2006/main">
            <a:off x="4572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0D2F029F-114D-434A-81CA-45CD0443C705}"/>
              </a:ext>
            </a:extLst>
          </p:cNvPr>
          <p:cNvSpPr>
            <a:spLocks xmlns:a="http://schemas.openxmlformats.org/drawingml/2006/main" noGrp="1"/>
          </p:cNvSpPr>
          <p:nvPr/>
        </p:nvSpPr>
        <p:spPr>
          <a:xfrm xmlns:a="http://schemas.openxmlformats.org/drawingml/2006/main">
            <a:off x="4572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Named Indian OEM nomination — falsifier still unfired</a:t>
            </a:r>
          </a:p>
        </p:txBody>
      </p:sp>
      <p:sp>
        <p:nvSpPr>
          <p:cNvPr id="57" name="">
            <a:extLst xmlns:a="http://schemas.openxmlformats.org/drawingml/2006/main">
              <a:ext uri="{FF2B5EF4-FFF2-40B4-BE49-F238E27FC236}">
                <a16:creationId xmlns:a16="http://schemas.microsoft.com/office/drawing/2014/main" id="{06D4A4E5-E222-47BA-8ECE-D2ECEB216096}"/>
              </a:ext>
            </a:extLst>
          </p:cNvPr>
          <p:cNvSpPr>
            <a:spLocks xmlns:a="http://schemas.openxmlformats.org/drawingml/2006/main" noGrp="1"/>
          </p:cNvSpPr>
          <p:nvPr/>
        </p:nvSpPr>
        <p:spPr>
          <a:xfrm xmlns:a="http://schemas.openxmlformats.org/drawingml/2006/main">
            <a:off x="42545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1D10CA13-6013-4903-B297-832997F05303}"/>
              </a:ext>
            </a:extLst>
          </p:cNvPr>
          <p:cNvSpPr>
            <a:spLocks xmlns:a="http://schemas.openxmlformats.org/drawingml/2006/main" noGrp="1"/>
          </p:cNvSpPr>
          <p:nvPr/>
        </p:nvSpPr>
        <p:spPr>
          <a:xfrm xmlns:a="http://schemas.openxmlformats.org/drawingml/2006/main">
            <a:off x="42545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MINIEYE China sourcing may carry procurement exposure</a:t>
            </a:r>
          </a:p>
        </p:txBody>
      </p:sp>
      <p:sp>
        <p:nvSpPr>
          <p:cNvPr id="59" name="">
            <a:extLst xmlns:a="http://schemas.openxmlformats.org/drawingml/2006/main">
              <a:ext uri="{FF2B5EF4-FFF2-40B4-BE49-F238E27FC236}">
                <a16:creationId xmlns:a16="http://schemas.microsoft.com/office/drawing/2014/main" id="{16508E94-E721-4442-B267-667AB1F36862}"/>
              </a:ext>
            </a:extLst>
          </p:cNvPr>
          <p:cNvSpPr>
            <a:spLocks xmlns:a="http://schemas.openxmlformats.org/drawingml/2006/main" noGrp="1"/>
          </p:cNvSpPr>
          <p:nvPr/>
        </p:nvSpPr>
        <p:spPr>
          <a:xfrm xmlns:a="http://schemas.openxmlformats.org/drawingml/2006/main">
            <a:off x="80518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E9696695-BF8A-4FF4-9833-1BBBFEE48C0E}"/>
              </a:ext>
            </a:extLst>
          </p:cNvPr>
          <p:cNvSpPr>
            <a:spLocks xmlns:a="http://schemas.openxmlformats.org/drawingml/2006/main" noGrp="1"/>
          </p:cNvSpPr>
          <p:nvPr/>
        </p:nvSpPr>
        <p:spPr>
          <a:xfrm xmlns:a="http://schemas.openxmlformats.org/drawingml/2006/main">
            <a:off x="80518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Partnership scope and economics not disclosed</a:t>
            </a:r>
          </a:p>
        </p:txBody>
      </p:sp>
      <p:sp>
        <p:nvSpPr>
          <p:cNvPr id="61" name="">
            <a:extLst xmlns:a="http://schemas.openxmlformats.org/drawingml/2006/main">
              <a:ext uri="{FF2B5EF4-FFF2-40B4-BE49-F238E27FC236}">
                <a16:creationId xmlns:a16="http://schemas.microsoft.com/office/drawing/2014/main" id="{74195C49-BE66-4DE5-8398-BBFA53671BFD}"/>
              </a:ext>
            </a:extLst>
          </p:cNvPr>
          <p:cNvSpPr>
            <a:spLocks xmlns:a="http://schemas.openxmlformats.org/drawingml/2006/main" noGrp="1"/>
          </p:cNvSpPr>
          <p:nvPr/>
        </p:nvSpPr>
        <p:spPr>
          <a:xfrm xmlns:a="http://schemas.openxmlformats.org/drawingml/2006/main">
            <a:off x="457200" y="5029200"/>
            <a:ext cx="1127760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D5C7CC2C-113A-4239-AD17-50CD7183CA38}"/>
              </a:ext>
            </a:extLst>
          </p:cNvPr>
          <p:cNvSpPr>
            <a:spLocks xmlns:a="http://schemas.openxmlformats.org/drawingml/2006/main" noGrp="1"/>
          </p:cNvSpPr>
          <p:nvPr/>
        </p:nvSpPr>
        <p:spPr>
          <a:xfrm xmlns:a="http://schemas.openxmlformats.org/drawingml/2006/main">
            <a:off x="457200" y="514350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EVIDENCE POSTURE · ATTRIBUTED</a:t>
            </a:r>
          </a:p>
        </p:txBody>
      </p:sp>
      <p:sp>
        <p:nvSpPr>
          <p:cNvPr id="63" name="">
            <a:extLst xmlns:a="http://schemas.openxmlformats.org/drawingml/2006/main">
              <a:ext uri="{FF2B5EF4-FFF2-40B4-BE49-F238E27FC236}">
                <a16:creationId xmlns:a16="http://schemas.microsoft.com/office/drawing/2014/main" id="{9C2486A0-36D1-4A58-B23F-FE3F33B30621}"/>
              </a:ext>
            </a:extLst>
          </p:cNvPr>
          <p:cNvSpPr>
            <a:spLocks xmlns:a="http://schemas.openxmlformats.org/drawingml/2006/main" noGrp="1"/>
          </p:cNvSpPr>
          <p:nvPr/>
        </p:nvSpPr>
        <p:spPr>
          <a:xfrm xmlns:a="http://schemas.openxmlformats.org/drawingml/2006/main">
            <a:off x="9258300" y="5143500"/>
            <a:ext cx="2476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EV-STL-01, EV-STL-02</a:t>
            </a:r>
          </a:p>
        </p:txBody>
      </p:sp>
      <p:sp>
        <p:nvSpPr>
          <p:cNvPr id="64" name="">
            <a:extLst xmlns:a="http://schemas.openxmlformats.org/drawingml/2006/main">
              <a:ext uri="{FF2B5EF4-FFF2-40B4-BE49-F238E27FC236}">
                <a16:creationId xmlns:a16="http://schemas.microsoft.com/office/drawing/2014/main" id="{E15F7655-26E9-41F8-B4EB-71F68B4FDAF1}"/>
              </a:ext>
            </a:extLst>
          </p:cNvPr>
          <p:cNvSpPr>
            <a:spLocks xmlns:a="http://schemas.openxmlformats.org/drawingml/2006/main" noGrp="1"/>
          </p:cNvSpPr>
          <p:nvPr/>
        </p:nvSpPr>
        <p:spPr>
          <a:xfrm xmlns:a="http://schemas.openxmlformats.org/drawingml/2006/main">
            <a:off x="457200" y="5334000"/>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template, not the threat. An Indian component maker attached a foreign perception stack and took the local role — the mirror image of the move DeepGrid needs. At ₹806 Cr, a realistic partner rather than an adversary.</a:t>
            </a:r>
          </a:p>
        </p:txBody>
      </p:sp>
      <p:sp>
        <p:nvSpPr>
          <p:cNvPr id="65" name="">
            <a:extLst xmlns:a="http://schemas.openxmlformats.org/drawingml/2006/main">
              <a:ext uri="{FF2B5EF4-FFF2-40B4-BE49-F238E27FC236}">
                <a16:creationId xmlns:a16="http://schemas.microsoft.com/office/drawing/2014/main" id="{3359AC4C-AA09-4104-838D-953F230EE879}"/>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1A4C14D2-CAEA-49D1-AA0A-434DED8EFB42}"/>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7" name="">
            <a:extLst xmlns:a="http://schemas.openxmlformats.org/drawingml/2006/main">
              <a:ext uri="{FF2B5EF4-FFF2-40B4-BE49-F238E27FC236}">
                <a16:creationId xmlns:a16="http://schemas.microsoft.com/office/drawing/2014/main" id="{4DF077CA-200D-44C2-A264-7CBF50548647}"/>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59</a:t>
            </a:r>
          </a:p>
        </p:txBody>
      </p:sp>
    </p:spTree>
    <p:extLst>
      <p:ext uri="{BB962C8B-B14F-4D97-AF65-F5344CB8AC3E}">
        <p14:creationId xmlns:p14="http://schemas.microsoft.com/office/powerpoint/2010/main" val="1791552952"/>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7838E3C-0474-4327-9814-AA9188FDDD2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0C60143-1718-41C4-AF88-45D8B85105C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BBD6BE7-3951-4A1E-8C9E-BF037B7D7EAE}"/>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AI USE CASES · STERLING TOOLS × MINIEYE</a:t>
            </a:r>
          </a:p>
        </p:txBody>
      </p:sp>
      <p:sp>
        <p:nvSpPr>
          <p:cNvPr id="4" name="">
            <a:extLst xmlns:a="http://schemas.openxmlformats.org/drawingml/2006/main">
              <a:ext uri="{FF2B5EF4-FFF2-40B4-BE49-F238E27FC236}">
                <a16:creationId xmlns:a16="http://schemas.microsoft.com/office/drawing/2014/main" id="{7349C4B0-47C7-49FA-BA67-CAA805F424B8}"/>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What Sterling Tools × MINIEYE's AI actually does</a:t>
            </a:r>
          </a:p>
        </p:txBody>
      </p:sp>
      <p:sp>
        <p:nvSpPr>
          <p:cNvPr id="5" name="">
            <a:extLst xmlns:a="http://schemas.openxmlformats.org/drawingml/2006/main">
              <a:ext uri="{FF2B5EF4-FFF2-40B4-BE49-F238E27FC236}">
                <a16:creationId xmlns:a16="http://schemas.microsoft.com/office/drawing/2014/main" id="{8A7F95BE-91C0-4DB0-B3C1-2BEA3AEEF17D}"/>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Threat ratings describe how worried to be. This describes what the system is — which is what decides whether DeepGrid displaces, attaches to, or ignores it.</a:t>
            </a:r>
          </a:p>
        </p:txBody>
      </p:sp>
      <p:sp>
        <p:nvSpPr>
          <p:cNvPr id="6" name="">
            <a:extLst xmlns:a="http://schemas.openxmlformats.org/drawingml/2006/main">
              <a:ext uri="{FF2B5EF4-FFF2-40B4-BE49-F238E27FC236}">
                <a16:creationId xmlns:a16="http://schemas.microsoft.com/office/drawing/2014/main" id="{1725DC09-DC30-40ED-8B27-BA46CA819106}"/>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F437A32-6344-41D2-A57B-05BBD57390F3}"/>
              </a:ext>
            </a:extLst>
          </p:cNvPr>
          <p:cNvSpPr>
            <a:spLocks xmlns:a="http://schemas.openxmlformats.org/drawingml/2006/main" noGrp="1"/>
          </p:cNvSpPr>
          <p:nvPr/>
        </p:nvSpPr>
        <p:spPr>
          <a:xfrm xmlns:a="http://schemas.openxmlformats.org/drawingml/2006/main">
            <a:off x="457200" y="1123950"/>
            <a:ext cx="28575" cy="3238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0BA5FC3-15AF-4AE8-A4AB-60FEE4A2371E}"/>
              </a:ext>
            </a:extLst>
          </p:cNvPr>
          <p:cNvSpPr>
            <a:spLocks xmlns:a="http://schemas.openxmlformats.org/drawingml/2006/main" noGrp="1"/>
          </p:cNvSpPr>
          <p:nvPr/>
        </p:nvSpPr>
        <p:spPr>
          <a:xfrm xmlns:a="http://schemas.openxmlformats.org/drawingml/2006/main">
            <a:off x="609600" y="11620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D7720B"/>
                </a:solidFill>
                <a:latin typeface="Arial"/>
                <a:ea typeface="Arial"/>
                <a:cs typeface="Arial"/>
              </a:defRPr>
            </a:pPr>
            <a:r>
              <a:t>PATTERN</a:t>
            </a:r>
          </a:p>
        </p:txBody>
      </p:sp>
      <p:sp>
        <p:nvSpPr>
          <p:cNvPr id="9" name="">
            <a:extLst xmlns:a="http://schemas.openxmlformats.org/drawingml/2006/main">
              <a:ext uri="{FF2B5EF4-FFF2-40B4-BE49-F238E27FC236}">
                <a16:creationId xmlns:a16="http://schemas.microsoft.com/office/drawing/2014/main" id="{3178E780-798F-47E3-B95D-13A8B27E8A97}"/>
              </a:ext>
            </a:extLst>
          </p:cNvPr>
          <p:cNvSpPr>
            <a:spLocks xmlns:a="http://schemas.openxmlformats.org/drawingml/2006/main" noGrp="1"/>
          </p:cNvSpPr>
          <p:nvPr/>
        </p:nvSpPr>
        <p:spPr>
          <a:xfrm xmlns:a="http://schemas.openxmlformats.org/drawingml/2006/main">
            <a:off x="2743200" y="11620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Localisation of a foreign P-VIS + P-DMS stack</a:t>
            </a:r>
          </a:p>
        </p:txBody>
      </p:sp>
      <p:sp>
        <p:nvSpPr>
          <p:cNvPr id="10" name="">
            <a:extLst xmlns:a="http://schemas.openxmlformats.org/drawingml/2006/main">
              <a:ext uri="{FF2B5EF4-FFF2-40B4-BE49-F238E27FC236}">
                <a16:creationId xmlns:a16="http://schemas.microsoft.com/office/drawing/2014/main" id="{ABAF44C9-ABDF-4126-B4DA-75F4F9C0147F}"/>
              </a:ext>
            </a:extLst>
          </p:cNvPr>
          <p:cNvSpPr>
            <a:spLocks xmlns:a="http://schemas.openxmlformats.org/drawingml/2006/main" noGrp="1"/>
          </p:cNvSpPr>
          <p:nvPr/>
        </p:nvSpPr>
        <p:spPr>
          <a:xfrm xmlns:a="http://schemas.openxmlformats.org/drawingml/2006/main">
            <a:off x="457200" y="15430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D387C92-DBF0-4B84-AAB4-7FBA7F34C65F}"/>
              </a:ext>
            </a:extLst>
          </p:cNvPr>
          <p:cNvSpPr>
            <a:spLocks xmlns:a="http://schemas.openxmlformats.org/drawingml/2006/main" noGrp="1"/>
          </p:cNvSpPr>
          <p:nvPr/>
        </p:nvSpPr>
        <p:spPr>
          <a:xfrm xmlns:a="http://schemas.openxmlformats.org/drawingml/2006/main">
            <a:off x="609600" y="15811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PARTNER</a:t>
            </a:r>
          </a:p>
        </p:txBody>
      </p:sp>
      <p:sp>
        <p:nvSpPr>
          <p:cNvPr id="12" name="">
            <a:extLst xmlns:a="http://schemas.openxmlformats.org/drawingml/2006/main">
              <a:ext uri="{FF2B5EF4-FFF2-40B4-BE49-F238E27FC236}">
                <a16:creationId xmlns:a16="http://schemas.microsoft.com/office/drawing/2014/main" id="{914E62DA-37AD-4979-AF1F-E06C1A610416}"/>
              </a:ext>
            </a:extLst>
          </p:cNvPr>
          <p:cNvSpPr>
            <a:spLocks xmlns:a="http://schemas.openxmlformats.org/drawingml/2006/main" noGrp="1"/>
          </p:cNvSpPr>
          <p:nvPr/>
        </p:nvSpPr>
        <p:spPr>
          <a:xfrm xmlns:a="http://schemas.openxmlformats.org/drawingml/2006/main">
            <a:off x="2743200" y="15811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MINIEYE — Hong-Kong-listed, China-based</a:t>
            </a:r>
          </a:p>
        </p:txBody>
      </p:sp>
      <p:sp>
        <p:nvSpPr>
          <p:cNvPr id="13" name="">
            <a:extLst xmlns:a="http://schemas.openxmlformats.org/drawingml/2006/main">
              <a:ext uri="{FF2B5EF4-FFF2-40B4-BE49-F238E27FC236}">
                <a16:creationId xmlns:a16="http://schemas.microsoft.com/office/drawing/2014/main" id="{FD177F84-9D81-4A06-82A7-3C99B4B42D69}"/>
              </a:ext>
            </a:extLst>
          </p:cNvPr>
          <p:cNvSpPr>
            <a:spLocks xmlns:a="http://schemas.openxmlformats.org/drawingml/2006/main" noGrp="1"/>
          </p:cNvSpPr>
          <p:nvPr/>
        </p:nvSpPr>
        <p:spPr>
          <a:xfrm xmlns:a="http://schemas.openxmlformats.org/drawingml/2006/main">
            <a:off x="457200" y="19621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30F8278-57CB-457D-98AD-81123FA1200F}"/>
              </a:ext>
            </a:extLst>
          </p:cNvPr>
          <p:cNvSpPr>
            <a:spLocks xmlns:a="http://schemas.openxmlformats.org/drawingml/2006/main" noGrp="1"/>
          </p:cNvSpPr>
          <p:nvPr/>
        </p:nvSpPr>
        <p:spPr>
          <a:xfrm xmlns:a="http://schemas.openxmlformats.org/drawingml/2006/main">
            <a:off x="609600" y="20002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DIVISION OF LABOUR</a:t>
            </a:r>
          </a:p>
        </p:txBody>
      </p:sp>
      <p:sp>
        <p:nvSpPr>
          <p:cNvPr id="15" name="">
            <a:extLst xmlns:a="http://schemas.openxmlformats.org/drawingml/2006/main">
              <a:ext uri="{FF2B5EF4-FFF2-40B4-BE49-F238E27FC236}">
                <a16:creationId xmlns:a16="http://schemas.microsoft.com/office/drawing/2014/main" id="{5BB99569-5809-42FF-8ED2-EC1DAFCB285C}"/>
              </a:ext>
            </a:extLst>
          </p:cNvPr>
          <p:cNvSpPr>
            <a:spLocks xmlns:a="http://schemas.openxmlformats.org/drawingml/2006/main" noGrp="1"/>
          </p:cNvSpPr>
          <p:nvPr/>
        </p:nvSpPr>
        <p:spPr>
          <a:xfrm xmlns:a="http://schemas.openxmlformats.org/drawingml/2006/main">
            <a:off x="2743200" y="20002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Sterling takes manufacturing, channel and compliance</a:t>
            </a:r>
          </a:p>
        </p:txBody>
      </p:sp>
      <p:sp>
        <p:nvSpPr>
          <p:cNvPr id="16" name="">
            <a:extLst xmlns:a="http://schemas.openxmlformats.org/drawingml/2006/main">
              <a:ext uri="{FF2B5EF4-FFF2-40B4-BE49-F238E27FC236}">
                <a16:creationId xmlns:a16="http://schemas.microsoft.com/office/drawing/2014/main" id="{0C32D706-A299-4B88-B8A0-132315B28748}"/>
              </a:ext>
            </a:extLst>
          </p:cNvPr>
          <p:cNvSpPr>
            <a:spLocks xmlns:a="http://schemas.openxmlformats.org/drawingml/2006/main" noGrp="1"/>
          </p:cNvSpPr>
          <p:nvPr/>
        </p:nvSpPr>
        <p:spPr>
          <a:xfrm xmlns:a="http://schemas.openxmlformats.org/drawingml/2006/main">
            <a:off x="457200" y="23812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7FCA850-AC38-4C89-8941-67C1D46983C8}"/>
              </a:ext>
            </a:extLst>
          </p:cNvPr>
          <p:cNvSpPr>
            <a:spLocks xmlns:a="http://schemas.openxmlformats.org/drawingml/2006/main" noGrp="1"/>
          </p:cNvSpPr>
          <p:nvPr/>
        </p:nvSpPr>
        <p:spPr>
          <a:xfrm xmlns:a="http://schemas.openxmlformats.org/drawingml/2006/main">
            <a:off x="609600" y="24193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STATUS</a:t>
            </a:r>
          </a:p>
        </p:txBody>
      </p:sp>
      <p:sp>
        <p:nvSpPr>
          <p:cNvPr id="18" name="">
            <a:extLst xmlns:a="http://schemas.openxmlformats.org/drawingml/2006/main">
              <a:ext uri="{FF2B5EF4-FFF2-40B4-BE49-F238E27FC236}">
                <a16:creationId xmlns:a16="http://schemas.microsoft.com/office/drawing/2014/main" id="{F7F767C8-A6DB-420D-8E46-EAF56C08ABAC}"/>
              </a:ext>
            </a:extLst>
          </p:cNvPr>
          <p:cNvSpPr>
            <a:spLocks xmlns:a="http://schemas.openxmlformats.org/drawingml/2006/main" noGrp="1"/>
          </p:cNvSpPr>
          <p:nvPr/>
        </p:nvSpPr>
        <p:spPr>
          <a:xfrm xmlns:a="http://schemas.openxmlformats.org/drawingml/2006/main">
            <a:off x="2743200" y="24193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Exchange-filed Jan 2026, corroborated across four outlets</a:t>
            </a:r>
          </a:p>
        </p:txBody>
      </p:sp>
      <p:sp>
        <p:nvSpPr>
          <p:cNvPr id="19" name="">
            <a:extLst xmlns:a="http://schemas.openxmlformats.org/drawingml/2006/main">
              <a:ext uri="{FF2B5EF4-FFF2-40B4-BE49-F238E27FC236}">
                <a16:creationId xmlns:a16="http://schemas.microsoft.com/office/drawing/2014/main" id="{F6429844-41ED-46F6-9455-D94A5B838518}"/>
              </a:ext>
            </a:extLst>
          </p:cNvPr>
          <p:cNvSpPr>
            <a:spLocks xmlns:a="http://schemas.openxmlformats.org/drawingml/2006/main" noGrp="1"/>
          </p:cNvSpPr>
          <p:nvPr/>
        </p:nvSpPr>
        <p:spPr>
          <a:xfrm xmlns:a="http://schemas.openxmlformats.org/drawingml/2006/main">
            <a:off x="457200" y="28003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60436DA-6607-4502-BA12-79053953CE3F}"/>
              </a:ext>
            </a:extLst>
          </p:cNvPr>
          <p:cNvSpPr>
            <a:spLocks xmlns:a="http://schemas.openxmlformats.org/drawingml/2006/main" noGrp="1"/>
          </p:cNvSpPr>
          <p:nvPr/>
        </p:nvSpPr>
        <p:spPr>
          <a:xfrm xmlns:a="http://schemas.openxmlformats.org/drawingml/2006/main">
            <a:off x="609600" y="28384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FALSIFIER</a:t>
            </a:r>
          </a:p>
        </p:txBody>
      </p:sp>
      <p:sp>
        <p:nvSpPr>
          <p:cNvPr id="21" name="">
            <a:extLst xmlns:a="http://schemas.openxmlformats.org/drawingml/2006/main">
              <a:ext uri="{FF2B5EF4-FFF2-40B4-BE49-F238E27FC236}">
                <a16:creationId xmlns:a16="http://schemas.microsoft.com/office/drawing/2014/main" id="{081E48C3-237E-4581-805A-7D41E2D6CCC7}"/>
              </a:ext>
            </a:extLst>
          </p:cNvPr>
          <p:cNvSpPr>
            <a:spLocks xmlns:a="http://schemas.openxmlformats.org/drawingml/2006/main" noGrp="1"/>
          </p:cNvSpPr>
          <p:nvPr/>
        </p:nvSpPr>
        <p:spPr>
          <a:xfrm xmlns:a="http://schemas.openxmlformats.org/drawingml/2006/main">
            <a:off x="2743200" y="28384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No named Indian OEM nomination — UNFIRED</a:t>
            </a:r>
          </a:p>
        </p:txBody>
      </p:sp>
      <p:sp>
        <p:nvSpPr>
          <p:cNvPr id="22" name="">
            <a:extLst xmlns:a="http://schemas.openxmlformats.org/drawingml/2006/main">
              <a:ext uri="{FF2B5EF4-FFF2-40B4-BE49-F238E27FC236}">
                <a16:creationId xmlns:a16="http://schemas.microsoft.com/office/drawing/2014/main" id="{B0488189-8346-4415-9063-ED45BA772CBE}"/>
              </a:ext>
            </a:extLst>
          </p:cNvPr>
          <p:cNvSpPr>
            <a:spLocks xmlns:a="http://schemas.openxmlformats.org/drawingml/2006/main" noGrp="1"/>
          </p:cNvSpPr>
          <p:nvPr/>
        </p:nvSpPr>
        <p:spPr>
          <a:xfrm xmlns:a="http://schemas.openxmlformats.org/drawingml/2006/main">
            <a:off x="457200" y="32575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10C6328-5651-40F8-8EDD-3A5358D7BB51}"/>
              </a:ext>
            </a:extLst>
          </p:cNvPr>
          <p:cNvSpPr>
            <a:spLocks xmlns:a="http://schemas.openxmlformats.org/drawingml/2006/main" noGrp="1"/>
          </p:cNvSpPr>
          <p:nvPr/>
        </p:nvSpPr>
        <p:spPr>
          <a:xfrm xmlns:a="http://schemas.openxmlformats.org/drawingml/2006/main">
            <a:off x="457200" y="33718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IMPLICATION FOR DEEPGRID</a:t>
            </a:r>
          </a:p>
        </p:txBody>
      </p:sp>
      <p:sp>
        <p:nvSpPr>
          <p:cNvPr id="24" name="">
            <a:extLst xmlns:a="http://schemas.openxmlformats.org/drawingml/2006/main">
              <a:ext uri="{FF2B5EF4-FFF2-40B4-BE49-F238E27FC236}">
                <a16:creationId xmlns:a16="http://schemas.microsoft.com/office/drawing/2014/main" id="{8CC07340-0623-4D47-8052-6D1E75AF5A58}"/>
              </a:ext>
            </a:extLst>
          </p:cNvPr>
          <p:cNvSpPr>
            <a:spLocks xmlns:a="http://schemas.openxmlformats.org/drawingml/2006/main" noGrp="1"/>
          </p:cNvSpPr>
          <p:nvPr/>
        </p:nvSpPr>
        <p:spPr>
          <a:xfrm xmlns:a="http://schemas.openxmlformats.org/drawingml/2006/main">
            <a:off x="457200" y="3562350"/>
            <a:ext cx="112776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template, not the threat. An Indian component maker attached a foreign perception stack and took the local role — the mirror image of the move DeepGrid needs. At ₹806 Cr, a realistic partner rather than an adversary.</a:t>
            </a:r>
          </a:p>
        </p:txBody>
      </p:sp>
      <p:sp>
        <p:nvSpPr>
          <p:cNvPr id="25" name="">
            <a:extLst xmlns:a="http://schemas.openxmlformats.org/drawingml/2006/main">
              <a:ext uri="{FF2B5EF4-FFF2-40B4-BE49-F238E27FC236}">
                <a16:creationId xmlns:a16="http://schemas.microsoft.com/office/drawing/2014/main" id="{7032CEAF-379C-4E14-BE81-40480EB127F6}"/>
              </a:ext>
            </a:extLst>
          </p:cNvPr>
          <p:cNvSpPr>
            <a:spLocks xmlns:a="http://schemas.openxmlformats.org/drawingml/2006/main" noGrp="1"/>
          </p:cNvSpPr>
          <p:nvPr/>
        </p:nvSpPr>
        <p:spPr>
          <a:xfrm xmlns:a="http://schemas.openxmlformats.org/drawingml/2006/main">
            <a:off x="457200" y="4248150"/>
            <a:ext cx="11277600" cy="7048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6" name="">
            <a:extLst xmlns:a="http://schemas.openxmlformats.org/drawingml/2006/main">
              <a:ext uri="{FF2B5EF4-FFF2-40B4-BE49-F238E27FC236}">
                <a16:creationId xmlns:a16="http://schemas.microsoft.com/office/drawing/2014/main" id="{6965964F-E6F5-4D01-B8F9-00756AEAEE4A}"/>
              </a:ext>
            </a:extLst>
          </p:cNvPr>
          <p:cNvSpPr>
            <a:spLocks xmlns:a="http://schemas.openxmlformats.org/drawingml/2006/main" noGrp="1"/>
          </p:cNvSpPr>
          <p:nvPr/>
        </p:nvSpPr>
        <p:spPr>
          <a:xfrm xmlns:a="http://schemas.openxmlformats.org/drawingml/2006/main">
            <a:off x="457200" y="4248150"/>
            <a:ext cx="38100" cy="7048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FDB68E3-12E2-4A0C-9F31-13C9F1E4A7FD}"/>
              </a:ext>
            </a:extLst>
          </p:cNvPr>
          <p:cNvSpPr>
            <a:spLocks xmlns:a="http://schemas.openxmlformats.org/drawingml/2006/main" noGrp="1"/>
          </p:cNvSpPr>
          <p:nvPr/>
        </p:nvSpPr>
        <p:spPr>
          <a:xfrm xmlns:a="http://schemas.openxmlformats.org/drawingml/2006/main">
            <a:off x="628650" y="4362450"/>
            <a:ext cx="8420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P-WARN · WARNING ONLY — NO BRAKE ACTUATION</a:t>
            </a:r>
          </a:p>
        </p:txBody>
      </p:sp>
      <p:sp>
        <p:nvSpPr>
          <p:cNvPr id="28" name="">
            <a:extLst xmlns:a="http://schemas.openxmlformats.org/drawingml/2006/main">
              <a:ext uri="{FF2B5EF4-FFF2-40B4-BE49-F238E27FC236}">
                <a16:creationId xmlns:a16="http://schemas.microsoft.com/office/drawing/2014/main" id="{C9FA91BC-D13E-467C-91E3-652C4FF04303}"/>
              </a:ext>
            </a:extLst>
          </p:cNvPr>
          <p:cNvSpPr>
            <a:spLocks xmlns:a="http://schemas.openxmlformats.org/drawingml/2006/main" noGrp="1"/>
          </p:cNvSpPr>
          <p:nvPr/>
        </p:nvSpPr>
        <p:spPr>
          <a:xfrm xmlns:a="http://schemas.openxmlformats.org/drawingml/2006/main">
            <a:off x="628650" y="4552950"/>
            <a:ext cx="8420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Not a mandate competitor. It is winning retrofit fleet-safety budget on a different clock, against a different buyer.</a:t>
            </a:r>
          </a:p>
        </p:txBody>
      </p:sp>
      <p:sp>
        <p:nvSpPr>
          <p:cNvPr id="29" name="">
            <a:extLst xmlns:a="http://schemas.openxmlformats.org/drawingml/2006/main">
              <a:ext uri="{FF2B5EF4-FFF2-40B4-BE49-F238E27FC236}">
                <a16:creationId xmlns:a16="http://schemas.microsoft.com/office/drawing/2014/main" id="{BAC142E5-4048-465D-A916-EADC034BF436}"/>
              </a:ext>
            </a:extLst>
          </p:cNvPr>
          <p:cNvSpPr>
            <a:spLocks xmlns:a="http://schemas.openxmlformats.org/drawingml/2006/main" noGrp="1"/>
          </p:cNvSpPr>
          <p:nvPr/>
        </p:nvSpPr>
        <p:spPr>
          <a:xfrm xmlns:a="http://schemas.openxmlformats.org/drawingml/2006/main">
            <a:off x="9163050" y="436245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a:solidFill>
                  <a:srgbClr val="8EA0B2"/>
                </a:solidFill>
                <a:latin typeface="Arial"/>
                <a:ea typeface="Arial"/>
                <a:cs typeface="Arial"/>
              </a:defRPr>
            </a:pPr>
            <a:r>
              <a:t>Evidence · EV-STL-01, EV-STL-02</a:t>
            </a:r>
          </a:p>
        </p:txBody>
      </p:sp>
      <p:sp>
        <p:nvSpPr>
          <p:cNvPr id="30" name="">
            <a:extLst xmlns:a="http://schemas.openxmlformats.org/drawingml/2006/main">
              <a:ext uri="{FF2B5EF4-FFF2-40B4-BE49-F238E27FC236}">
                <a16:creationId xmlns:a16="http://schemas.microsoft.com/office/drawing/2014/main" id="{4180E833-21DD-43DA-AA9C-ACAD80826EB3}"/>
              </a:ext>
            </a:extLst>
          </p:cNvPr>
          <p:cNvSpPr>
            <a:spLocks xmlns:a="http://schemas.openxmlformats.org/drawingml/2006/main" noGrp="1"/>
          </p:cNvSpPr>
          <p:nvPr/>
        </p:nvSpPr>
        <p:spPr>
          <a:xfrm xmlns:a="http://schemas.openxmlformats.org/drawingml/2006/main">
            <a:off x="9163050" y="453390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D7720B"/>
                </a:solidFill>
                <a:latin typeface="Arial"/>
                <a:ea typeface="Arial"/>
                <a:cs typeface="Arial"/>
              </a:defRPr>
            </a:pPr>
            <a:r>
              <a:t>Posture · ATTRIBUTED</a:t>
            </a:r>
          </a:p>
        </p:txBody>
      </p:sp>
      <p:sp>
        <p:nvSpPr>
          <p:cNvPr id="31" name="">
            <a:extLst xmlns:a="http://schemas.openxmlformats.org/drawingml/2006/main">
              <a:ext uri="{FF2B5EF4-FFF2-40B4-BE49-F238E27FC236}">
                <a16:creationId xmlns:a16="http://schemas.microsoft.com/office/drawing/2014/main" id="{7C4442EF-99EC-461C-8E15-3DD4084CE4D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439FB43-314E-42A9-9068-3F758CDFCE0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8EFEFEDC-F66F-4CAC-B958-98ED6AE310DD}"/>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60</a:t>
            </a:r>
          </a:p>
        </p:txBody>
      </p:sp>
    </p:spTree>
    <p:extLst>
      <p:ext uri="{BB962C8B-B14F-4D97-AF65-F5344CB8AC3E}">
        <p14:creationId xmlns:p14="http://schemas.microsoft.com/office/powerpoint/2010/main" val="554267815"/>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1247C2A4-BB76-4F2A-AD95-B188527C79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036BFE3-D668-4DF2-BFEC-C88640674E40}"/>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92C801E-7D1C-41B1-AEB2-A8D291FC60F5}"/>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4A69B9CA-58E2-43C4-BF23-9CD2BD2AB662}"/>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71BB83D9-7DB4-4FF9-A573-BA877B4618DA}"/>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Sterling×MINIEYE: Credible Channel Acceleration Signal; Programme Proof Pending</a:t>
            </a:r>
          </a:p>
        </p:txBody>
      </p:sp>
      <p:sp>
        <p:nvSpPr>
          <p:cNvPr id="6" name="">
            <a:extLst xmlns:a="http://schemas.openxmlformats.org/drawingml/2006/main">
              <a:ext uri="{FF2B5EF4-FFF2-40B4-BE49-F238E27FC236}">
                <a16:creationId xmlns:a16="http://schemas.microsoft.com/office/drawing/2014/main" id="{C313DEC9-7864-4EAD-B05A-4C1F11EA06A9}"/>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25D0060-7DE3-4F2C-8CAC-C901E16622A0}"/>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evidence supports the fleet-workflow signal, and what remains company-reported?</a:t>
            </a:r>
          </a:p>
        </p:txBody>
      </p:sp>
      <p:sp>
        <p:nvSpPr>
          <p:cNvPr id="8" name="">
            <a:extLst xmlns:a="http://schemas.openxmlformats.org/drawingml/2006/main">
              <a:ext uri="{FF2B5EF4-FFF2-40B4-BE49-F238E27FC236}">
                <a16:creationId xmlns:a16="http://schemas.microsoft.com/office/drawing/2014/main" id="{3E15660A-E902-4598-B1CC-6EFA596CD485}"/>
              </a:ext>
            </a:extLst>
          </p:cNvPr>
          <p:cNvSpPr>
            <a:spLocks xmlns:a="http://schemas.openxmlformats.org/drawingml/2006/main" noGrp="1"/>
          </p:cNvSpPr>
          <p:nvPr/>
        </p:nvSpPr>
        <p:spPr>
          <a:xfrm xmlns:a="http://schemas.openxmlformats.org/drawingml/2006/main">
            <a:off x="457200" y="1317625"/>
            <a:ext cx="11277600" cy="520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8296B8AB-E9E6-4664-9398-7C276401C649}"/>
              </a:ext>
            </a:extLst>
          </p:cNvPr>
          <p:cNvSpPr>
            <a:spLocks xmlns:a="http://schemas.openxmlformats.org/drawingml/2006/main" noGrp="1"/>
          </p:cNvSpPr>
          <p:nvPr/>
        </p:nvSpPr>
        <p:spPr>
          <a:xfrm xmlns:a="http://schemas.openxmlformats.org/drawingml/2006/main">
            <a:off x="457200" y="1317625"/>
            <a:ext cx="28575" cy="5207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A532FCC-0F4D-467A-8198-B672DFC2BCBB}"/>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59934F88-2E17-4F05-8BAA-1D03EAC03049}"/>
              </a:ext>
            </a:extLst>
          </p:cNvPr>
          <p:cNvSpPr>
            <a:spLocks xmlns:a="http://schemas.openxmlformats.org/drawingml/2006/main" noGrp="1"/>
          </p:cNvSpPr>
          <p:nvPr/>
        </p:nvSpPr>
        <p:spPr>
          <a:xfrm xmlns:a="http://schemas.openxmlformats.org/drawingml/2006/main">
            <a:off x="581025" y="1533525"/>
            <a:ext cx="1102995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Treat as route-to-market threat with acceleration potential, but require programme proof before repositioning strategy.</a:t>
            </a:r>
          </a:p>
        </p:txBody>
      </p:sp>
      <p:sp>
        <p:nvSpPr>
          <p:cNvPr id="12" name="">
            <a:extLst xmlns:a="http://schemas.openxmlformats.org/drawingml/2006/main">
              <a:ext uri="{FF2B5EF4-FFF2-40B4-BE49-F238E27FC236}">
                <a16:creationId xmlns:a16="http://schemas.microsoft.com/office/drawing/2014/main" id="{6F4FFE0A-0626-42E3-BFBE-DE74F7A8845E}"/>
              </a:ext>
            </a:extLst>
          </p:cNvPr>
          <p:cNvSpPr>
            <a:spLocks xmlns:a="http://schemas.openxmlformats.org/drawingml/2006/main" noGrp="1"/>
          </p:cNvSpPr>
          <p:nvPr/>
        </p:nvSpPr>
        <p:spPr>
          <a:xfrm xmlns:a="http://schemas.openxmlformats.org/drawingml/2006/main">
            <a:off x="457200" y="1952625"/>
            <a:ext cx="3695700" cy="2505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F1C67B24-2A83-4B95-9F21-A34B0C90D0FF}"/>
              </a:ext>
            </a:extLst>
          </p:cNvPr>
          <p:cNvSpPr>
            <a:spLocks xmlns:a="http://schemas.openxmlformats.org/drawingml/2006/main" noGrp="1"/>
          </p:cNvSpPr>
          <p:nvPr/>
        </p:nvSpPr>
        <p:spPr>
          <a:xfrm xmlns:a="http://schemas.openxmlformats.org/drawingml/2006/main">
            <a:off x="457200" y="1952625"/>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4F365F8-5829-42E0-A443-9D361E662E6E}"/>
              </a:ext>
            </a:extLst>
          </p:cNvPr>
          <p:cNvSpPr>
            <a:spLocks xmlns:a="http://schemas.openxmlformats.org/drawingml/2006/main" noGrp="1"/>
          </p:cNvSpPr>
          <p:nvPr/>
        </p:nvSpPr>
        <p:spPr>
          <a:xfrm xmlns:a="http://schemas.openxmlformats.org/drawingml/2006/main">
            <a:off x="571500" y="2066925"/>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4C573F57-1043-49D1-BA33-8642C7A96733}"/>
              </a:ext>
            </a:extLst>
          </p:cNvPr>
          <p:cNvSpPr>
            <a:spLocks xmlns:a="http://schemas.openxmlformats.org/drawingml/2006/main" noGrp="1"/>
          </p:cNvSpPr>
          <p:nvPr/>
        </p:nvSpPr>
        <p:spPr>
          <a:xfrm xmlns:a="http://schemas.openxmlformats.org/drawingml/2006/main">
            <a:off x="571500" y="2219325"/>
            <a:ext cx="3448050"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Treat as route-to-market threat with acceleration potential, but require programme proof before repositioning strategy.</a:t>
            </a:r>
          </a:p>
        </p:txBody>
      </p:sp>
      <p:sp>
        <p:nvSpPr>
          <p:cNvPr id="16" name="">
            <a:extLst xmlns:a="http://schemas.openxmlformats.org/drawingml/2006/main">
              <a:ext uri="{FF2B5EF4-FFF2-40B4-BE49-F238E27FC236}">
                <a16:creationId xmlns:a16="http://schemas.microsoft.com/office/drawing/2014/main" id="{D4D16135-F44C-428A-8543-27983BC98E89}"/>
              </a:ext>
            </a:extLst>
          </p:cNvPr>
          <p:cNvSpPr>
            <a:spLocks xmlns:a="http://schemas.openxmlformats.org/drawingml/2006/main" noGrp="1"/>
          </p:cNvSpPr>
          <p:nvPr/>
        </p:nvSpPr>
        <p:spPr>
          <a:xfrm xmlns:a="http://schemas.openxmlformats.org/drawingml/2006/main">
            <a:off x="4248150" y="1952625"/>
            <a:ext cx="3695700" cy="2505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BD4D0FED-E9DD-484A-AFA1-E4CF4653D34D}"/>
              </a:ext>
            </a:extLst>
          </p:cNvPr>
          <p:cNvSpPr>
            <a:spLocks xmlns:a="http://schemas.openxmlformats.org/drawingml/2006/main" noGrp="1"/>
          </p:cNvSpPr>
          <p:nvPr/>
        </p:nvSpPr>
        <p:spPr>
          <a:xfrm xmlns:a="http://schemas.openxmlformats.org/drawingml/2006/main">
            <a:off x="4248150" y="1952625"/>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B1DF207-1120-43A7-A0CE-359BD779D50C}"/>
              </a:ext>
            </a:extLst>
          </p:cNvPr>
          <p:cNvSpPr>
            <a:spLocks xmlns:a="http://schemas.openxmlformats.org/drawingml/2006/main" noGrp="1"/>
          </p:cNvSpPr>
          <p:nvPr/>
        </p:nvSpPr>
        <p:spPr>
          <a:xfrm xmlns:a="http://schemas.openxmlformats.org/drawingml/2006/main">
            <a:off x="4362450" y="2066925"/>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631A02D4-4930-49CE-8FD8-D9B92D587025}"/>
              </a:ext>
            </a:extLst>
          </p:cNvPr>
          <p:cNvSpPr>
            <a:spLocks xmlns:a="http://schemas.openxmlformats.org/drawingml/2006/main" noGrp="1"/>
          </p:cNvSpPr>
          <p:nvPr/>
        </p:nvSpPr>
        <p:spPr>
          <a:xfrm xmlns:a="http://schemas.openxmlformats.org/drawingml/2006/main">
            <a:off x="4362450" y="2219325"/>
            <a:ext cx="3448050"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There is no supplied evidence of a named Indian OEM nomination, SOP, deployment or homologation for the Sterling×MINIEYE partnership.</a:t>
            </a:r>
          </a:p>
        </p:txBody>
      </p:sp>
      <p:sp>
        <p:nvSpPr>
          <p:cNvPr id="20" name="">
            <a:extLst xmlns:a="http://schemas.openxmlformats.org/drawingml/2006/main">
              <a:ext uri="{FF2B5EF4-FFF2-40B4-BE49-F238E27FC236}">
                <a16:creationId xmlns:a16="http://schemas.microsoft.com/office/drawing/2014/main" id="{D647FD17-B097-49D8-9107-BECA274847C0}"/>
              </a:ext>
            </a:extLst>
          </p:cNvPr>
          <p:cNvSpPr>
            <a:spLocks xmlns:a="http://schemas.openxmlformats.org/drawingml/2006/main" noGrp="1"/>
          </p:cNvSpPr>
          <p:nvPr/>
        </p:nvSpPr>
        <p:spPr>
          <a:xfrm xmlns:a="http://schemas.openxmlformats.org/drawingml/2006/main">
            <a:off x="8039100" y="1952625"/>
            <a:ext cx="3695700" cy="2505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468084A6-7993-49F1-A37A-5DA0342A5F2F}"/>
              </a:ext>
            </a:extLst>
          </p:cNvPr>
          <p:cNvSpPr>
            <a:spLocks xmlns:a="http://schemas.openxmlformats.org/drawingml/2006/main" noGrp="1"/>
          </p:cNvSpPr>
          <p:nvPr/>
        </p:nvSpPr>
        <p:spPr>
          <a:xfrm xmlns:a="http://schemas.openxmlformats.org/drawingml/2006/main">
            <a:off x="8039100" y="1952625"/>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4462D68-05ED-44E6-99D2-5A79DCB9CB98}"/>
              </a:ext>
            </a:extLst>
          </p:cNvPr>
          <p:cNvSpPr>
            <a:spLocks xmlns:a="http://schemas.openxmlformats.org/drawingml/2006/main" noGrp="1"/>
          </p:cNvSpPr>
          <p:nvPr/>
        </p:nvSpPr>
        <p:spPr>
          <a:xfrm xmlns:a="http://schemas.openxmlformats.org/drawingml/2006/main">
            <a:off x="8153400" y="2066925"/>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02AA7782-399E-4D97-953C-5A25BA19ECEE}"/>
              </a:ext>
            </a:extLst>
          </p:cNvPr>
          <p:cNvSpPr>
            <a:spLocks xmlns:a="http://schemas.openxmlformats.org/drawingml/2006/main" noGrp="1"/>
          </p:cNvSpPr>
          <p:nvPr/>
        </p:nvSpPr>
        <p:spPr>
          <a:xfrm xmlns:a="http://schemas.openxmlformats.org/drawingml/2006/main">
            <a:off x="8153400" y="2219325"/>
            <a:ext cx="3448050"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Channel Acceleration Complementary channel and technology capabilities could shorten localisation relative to building every capability internally</a:t>
            </a:r>
          </a:p>
        </p:txBody>
      </p:sp>
      <p:sp>
        <p:nvSpPr>
          <p:cNvPr id="24" name="">
            <a:extLst xmlns:a="http://schemas.openxmlformats.org/drawingml/2006/main">
              <a:ext uri="{FF2B5EF4-FFF2-40B4-BE49-F238E27FC236}">
                <a16:creationId xmlns:a16="http://schemas.microsoft.com/office/drawing/2014/main" id="{BA9FF4DF-1196-419C-A27D-FEE1463B16E3}"/>
              </a:ext>
            </a:extLst>
          </p:cNvPr>
          <p:cNvSpPr>
            <a:spLocks xmlns:a="http://schemas.openxmlformats.org/drawingml/2006/main" noGrp="1"/>
          </p:cNvSpPr>
          <p:nvPr/>
        </p:nvSpPr>
        <p:spPr>
          <a:xfrm xmlns:a="http://schemas.openxmlformats.org/drawingml/2006/main">
            <a:off x="457200" y="457200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6E8615A4-D99D-4392-AA45-DCDA00F5B8EF}"/>
              </a:ext>
            </a:extLst>
          </p:cNvPr>
          <p:cNvSpPr>
            <a:spLocks xmlns:a="http://schemas.openxmlformats.org/drawingml/2006/main" noGrp="1"/>
          </p:cNvSpPr>
          <p:nvPr/>
        </p:nvSpPr>
        <p:spPr>
          <a:xfrm xmlns:a="http://schemas.openxmlformats.org/drawingml/2006/main">
            <a:off x="457200" y="457200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60C9027-E28A-4260-B5A2-811F779D22F7}"/>
              </a:ext>
            </a:extLst>
          </p:cNvPr>
          <p:cNvSpPr>
            <a:spLocks xmlns:a="http://schemas.openxmlformats.org/drawingml/2006/main" noGrp="1"/>
          </p:cNvSpPr>
          <p:nvPr/>
        </p:nvSpPr>
        <p:spPr>
          <a:xfrm xmlns:a="http://schemas.openxmlformats.org/drawingml/2006/main">
            <a:off x="581025" y="46386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73D17085-37D8-4F87-B6FC-7034BC8DE473}"/>
              </a:ext>
            </a:extLst>
          </p:cNvPr>
          <p:cNvSpPr>
            <a:spLocks xmlns:a="http://schemas.openxmlformats.org/drawingml/2006/main" noGrp="1"/>
          </p:cNvSpPr>
          <p:nvPr/>
        </p:nvSpPr>
        <p:spPr>
          <a:xfrm xmlns:a="http://schemas.openxmlformats.org/drawingml/2006/main">
            <a:off x="581025" y="47879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by a named OEM nomination or SOP, which would convert the channel signal into programme proof.</a:t>
            </a:r>
          </a:p>
        </p:txBody>
      </p:sp>
      <p:sp>
        <p:nvSpPr>
          <p:cNvPr id="28" name="">
            <a:extLst xmlns:a="http://schemas.openxmlformats.org/drawingml/2006/main">
              <a:ext uri="{FF2B5EF4-FFF2-40B4-BE49-F238E27FC236}">
                <a16:creationId xmlns:a16="http://schemas.microsoft.com/office/drawing/2014/main" id="{FB1B08C1-A720-4A20-9EF7-4A793ABD843C}"/>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9597625-B426-4EF5-8744-5B9324B11C4D}"/>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B2F34D1-1E0C-4B86-8AFC-3266B39E0E2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0F75CD0A-060C-4979-BED6-C7835627328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Treat as a route-to-market threat with acceleration potential; require programme proof before raising the rating.</a:t>
            </a:r>
          </a:p>
        </p:txBody>
      </p:sp>
      <p:sp>
        <p:nvSpPr>
          <p:cNvPr id="32" name="">
            <a:extLst xmlns:a="http://schemas.openxmlformats.org/drawingml/2006/main">
              <a:ext uri="{FF2B5EF4-FFF2-40B4-BE49-F238E27FC236}">
                <a16:creationId xmlns:a16="http://schemas.microsoft.com/office/drawing/2014/main" id="{817CDAD5-D4C8-4E66-A2FF-24D70F22CCC4}"/>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656321B7-837C-475C-BF16-DFD20E1766DF}"/>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Track RFQs, nominations and production-location milestones.</a:t>
            </a:r>
          </a:p>
        </p:txBody>
      </p:sp>
      <p:sp>
        <p:nvSpPr>
          <p:cNvPr id="34" name="">
            <a:extLst xmlns:a="http://schemas.openxmlformats.org/drawingml/2006/main">
              <a:ext uri="{FF2B5EF4-FFF2-40B4-BE49-F238E27FC236}">
                <a16:creationId xmlns:a16="http://schemas.microsoft.com/office/drawing/2014/main" id="{A67F6275-CE00-42EA-A847-0E4985673EF2}"/>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75B4DD3C-A771-44EE-8352-68065969D399}"/>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rating the partnership as a programme threat until a nomination is named.</a:t>
            </a:r>
          </a:p>
        </p:txBody>
      </p:sp>
      <p:sp>
        <p:nvSpPr>
          <p:cNvPr id="36" name="">
            <a:extLst xmlns:a="http://schemas.openxmlformats.org/drawingml/2006/main">
              <a:ext uri="{FF2B5EF4-FFF2-40B4-BE49-F238E27FC236}">
                <a16:creationId xmlns:a16="http://schemas.microsoft.com/office/drawing/2014/main" id="{29B22EE5-92A9-423E-8255-0B03D239BF45}"/>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12A6AF5-D3C9-4E51-9F51-9564576E5C01}"/>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610E9737-0534-446C-89DC-D25600D95B1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61</a:t>
            </a:r>
          </a:p>
        </p:txBody>
      </p:sp>
    </p:spTree>
    <p:extLst>
      <p:ext uri="{BB962C8B-B14F-4D97-AF65-F5344CB8AC3E}">
        <p14:creationId xmlns:p14="http://schemas.microsoft.com/office/powerpoint/2010/main" val="1230272516"/>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C6612460-48D5-457D-8207-CF1F928E532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ADE63A-DD7A-4C5C-B848-5119527A40AE}"/>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39B2D34-1AEB-4ABE-9458-D288F6518CFF}"/>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92CB5DE5-ECDB-46CA-A6DA-327D6DFD6FFD}"/>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1B9D4D49-C8EC-4517-86B5-1B409DDC676B}"/>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Sterling–MINIEYE is most consequential in N2/N3 OEMs; government and mining watch</a:t>
            </a:r>
          </a:p>
        </p:txBody>
      </p:sp>
      <p:sp>
        <p:nvSpPr>
          <p:cNvPr id="6" name="">
            <a:extLst xmlns:a="http://schemas.openxmlformats.org/drawingml/2006/main">
              <a:ext uri="{FF2B5EF4-FFF2-40B4-BE49-F238E27FC236}">
                <a16:creationId xmlns:a16="http://schemas.microsoft.com/office/drawing/2014/main" id="{2ADE4E45-040F-4799-B411-B565AEA7FB73}"/>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F7734C5-FD4E-421E-8CAE-C8C991F69444}"/>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Why does the partnership's threat vary by buying arena, and where should DeepGrid focus?</a:t>
            </a:r>
          </a:p>
        </p:txBody>
      </p:sp>
      <p:sp>
        <p:nvSpPr>
          <p:cNvPr id="8" name="">
            <a:extLst xmlns:a="http://schemas.openxmlformats.org/drawingml/2006/main">
              <a:ext uri="{FF2B5EF4-FFF2-40B4-BE49-F238E27FC236}">
                <a16:creationId xmlns:a16="http://schemas.microsoft.com/office/drawing/2014/main" id="{D5A68E1C-EE50-470B-8F89-25E6184AC8DF}"/>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762199D0-CF48-4669-A981-5813F337D62A}"/>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0E112DD-C115-4D4F-8403-955045363EB5}"/>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5F1BD114-8217-406F-BC39-4336F39D4EE7}"/>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partnership matters most in N2/N3 OEM programmes, where nomination and integration decide, and less in government and mining where local access and retrofit decide.</a:t>
            </a:r>
          </a:p>
        </p:txBody>
      </p:sp>
      <p:sp>
        <p:nvSpPr>
          <p:cNvPr id="12" name="">
            <a:extLst xmlns:a="http://schemas.openxmlformats.org/drawingml/2006/main">
              <a:ext uri="{FF2B5EF4-FFF2-40B4-BE49-F238E27FC236}">
                <a16:creationId xmlns:a16="http://schemas.microsoft.com/office/drawing/2014/main" id="{4D6AC8B9-218D-4AEB-9FA8-CC37903B5E1B}"/>
              </a:ext>
            </a:extLst>
          </p:cNvPr>
          <p:cNvSpPr>
            <a:spLocks xmlns:a="http://schemas.openxmlformats.org/drawingml/2006/main" noGrp="1"/>
          </p:cNvSpPr>
          <p:nvPr/>
        </p:nvSpPr>
        <p:spPr>
          <a:xfrm xmlns:a="http://schemas.openxmlformats.org/drawingml/2006/main">
            <a:off x="2712720" y="2152650"/>
            <a:ext cx="9022080" cy="247650"/>
          </a:xfrm>
          <a:prstGeom xmlns:a="http://schemas.openxmlformats.org/drawingml/2006/main" prst="rect">
            <a:avLst/>
          </a:prstGeom>
          <a:solidFill xmlns:a="http://schemas.openxmlformats.org/drawingml/2006/main">
            <a:srgbClr val="E8F0F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D8F6033-8177-4BE8-8620-2E3700E220E9}"/>
              </a:ext>
            </a:extLst>
          </p:cNvPr>
          <p:cNvSpPr>
            <a:spLocks xmlns:a="http://schemas.openxmlformats.org/drawingml/2006/main" noGrp="1"/>
          </p:cNvSpPr>
          <p:nvPr/>
        </p:nvSpPr>
        <p:spPr>
          <a:xfrm xmlns:a="http://schemas.openxmlformats.org/drawingml/2006/main">
            <a:off x="2807970" y="22288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586270"/>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6B49FE45-A2E9-48A8-B798-98E3C6AE0014}"/>
              </a:ext>
            </a:extLst>
          </p:cNvPr>
          <p:cNvSpPr>
            <a:spLocks xmlns:a="http://schemas.openxmlformats.org/drawingml/2006/main" noGrp="1"/>
          </p:cNvSpPr>
          <p:nvPr/>
        </p:nvSpPr>
        <p:spPr>
          <a:xfrm xmlns:a="http://schemas.openxmlformats.org/drawingml/2006/main">
            <a:off x="5815330" y="22288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586270"/>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2C744344-85FD-4F5E-8907-8D834F011B1B}"/>
              </a:ext>
            </a:extLst>
          </p:cNvPr>
          <p:cNvSpPr>
            <a:spLocks xmlns:a="http://schemas.openxmlformats.org/drawingml/2006/main" noGrp="1"/>
          </p:cNvSpPr>
          <p:nvPr/>
        </p:nvSpPr>
        <p:spPr>
          <a:xfrm xmlns:a="http://schemas.openxmlformats.org/drawingml/2006/main">
            <a:off x="8822690" y="22288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586270"/>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C8A229FA-B058-4036-8462-B699C5368150}"/>
              </a:ext>
            </a:extLst>
          </p:cNvPr>
          <p:cNvSpPr>
            <a:spLocks xmlns:a="http://schemas.openxmlformats.org/drawingml/2006/main" noGrp="1"/>
          </p:cNvSpPr>
          <p:nvPr/>
        </p:nvSpPr>
        <p:spPr>
          <a:xfrm xmlns:a="http://schemas.openxmlformats.org/drawingml/2006/main">
            <a:off x="457200" y="2400300"/>
            <a:ext cx="2255520" cy="11049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E6AC01F3-138E-4286-8135-FE7779CF737C}"/>
              </a:ext>
            </a:extLst>
          </p:cNvPr>
          <p:cNvSpPr>
            <a:spLocks xmlns:a="http://schemas.openxmlformats.org/drawingml/2006/main" noGrp="1"/>
          </p:cNvSpPr>
          <p:nvPr/>
        </p:nvSpPr>
        <p:spPr>
          <a:xfrm xmlns:a="http://schemas.openxmlformats.org/drawingml/2006/main">
            <a:off x="552450" y="2514600"/>
            <a:ext cx="2103120" cy="933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01827"/>
                </a:solidFill>
                <a:latin typeface="Arial"/>
                <a:ea typeface="Arial"/>
                <a:cs typeface="Arial"/>
              </a:defRPr>
            </a:pPr>
            <a:r>
              <a:t>STERLING×MINIEYE</a:t>
            </a:r>
          </a:p>
        </p:txBody>
      </p:sp>
      <p:sp>
        <p:nvSpPr>
          <p:cNvPr id="18" name="">
            <a:extLst xmlns:a="http://schemas.openxmlformats.org/drawingml/2006/main">
              <a:ext uri="{FF2B5EF4-FFF2-40B4-BE49-F238E27FC236}">
                <a16:creationId xmlns:a16="http://schemas.microsoft.com/office/drawing/2014/main" id="{68C8DD6C-35BB-4F85-ABDB-C404A1D9F796}"/>
              </a:ext>
            </a:extLst>
          </p:cNvPr>
          <p:cNvSpPr>
            <a:spLocks xmlns:a="http://schemas.openxmlformats.org/drawingml/2006/main" noGrp="1"/>
          </p:cNvSpPr>
          <p:nvPr/>
        </p:nvSpPr>
        <p:spPr>
          <a:xfrm xmlns:a="http://schemas.openxmlformats.org/drawingml/2006/main">
            <a:off x="2741295" y="2428875"/>
            <a:ext cx="2950210" cy="10477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672E0EAD-61CF-4EDA-B8D0-E17297AF3E4D}"/>
              </a:ext>
            </a:extLst>
          </p:cNvPr>
          <p:cNvSpPr>
            <a:spLocks xmlns:a="http://schemas.openxmlformats.org/drawingml/2006/main" noGrp="1"/>
          </p:cNvSpPr>
          <p:nvPr/>
        </p:nvSpPr>
        <p:spPr>
          <a:xfrm xmlns:a="http://schemas.openxmlformats.org/drawingml/2006/main">
            <a:off x="2741295" y="2428875"/>
            <a:ext cx="1475105"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199E964-D96A-4C4C-B836-B25CE5665A46}"/>
              </a:ext>
            </a:extLst>
          </p:cNvPr>
          <p:cNvSpPr>
            <a:spLocks xmlns:a="http://schemas.openxmlformats.org/drawingml/2006/main" noGrp="1"/>
          </p:cNvSpPr>
          <p:nvPr/>
        </p:nvSpPr>
        <p:spPr>
          <a:xfrm xmlns:a="http://schemas.openxmlformats.org/drawingml/2006/main">
            <a:off x="2817495" y="25146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37A87"/>
                </a:solidFill>
                <a:latin typeface="Arial"/>
                <a:ea typeface="Arial"/>
                <a:cs typeface="Arial"/>
              </a:defRPr>
            </a:pPr>
            <a:r>
              <a:t>MEDIUM</a:t>
            </a:r>
          </a:p>
        </p:txBody>
      </p:sp>
      <p:sp>
        <p:nvSpPr>
          <p:cNvPr id="21" name="">
            <a:extLst xmlns:a="http://schemas.openxmlformats.org/drawingml/2006/main">
              <a:ext uri="{FF2B5EF4-FFF2-40B4-BE49-F238E27FC236}">
                <a16:creationId xmlns:a16="http://schemas.microsoft.com/office/drawing/2014/main" id="{F179FFB1-2F9D-4853-8B2A-149FD2683B54}"/>
              </a:ext>
            </a:extLst>
          </p:cNvPr>
          <p:cNvSpPr>
            <a:spLocks xmlns:a="http://schemas.openxmlformats.org/drawingml/2006/main" noGrp="1"/>
          </p:cNvSpPr>
          <p:nvPr/>
        </p:nvSpPr>
        <p:spPr>
          <a:xfrm xmlns:a="http://schemas.openxmlformats.org/drawingml/2006/main">
            <a:off x="2817495" y="2638425"/>
            <a:ext cx="2797810" cy="819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Local partner access</a:t>
            </a:r>
          </a:p>
        </p:txBody>
      </p:sp>
      <p:sp>
        <p:nvSpPr>
          <p:cNvPr id="22" name="">
            <a:extLst xmlns:a="http://schemas.openxmlformats.org/drawingml/2006/main">
              <a:ext uri="{FF2B5EF4-FFF2-40B4-BE49-F238E27FC236}">
                <a16:creationId xmlns:a16="http://schemas.microsoft.com/office/drawing/2014/main" id="{5B7ADD45-0FA8-4BE0-B3DB-3A170B73562D}"/>
              </a:ext>
            </a:extLst>
          </p:cNvPr>
          <p:cNvSpPr>
            <a:spLocks xmlns:a="http://schemas.openxmlformats.org/drawingml/2006/main" noGrp="1"/>
          </p:cNvSpPr>
          <p:nvPr/>
        </p:nvSpPr>
        <p:spPr>
          <a:xfrm xmlns:a="http://schemas.openxmlformats.org/drawingml/2006/main">
            <a:off x="5748655" y="2428875"/>
            <a:ext cx="2950210" cy="10477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3" name="">
            <a:extLst xmlns:a="http://schemas.openxmlformats.org/drawingml/2006/main">
              <a:ext uri="{FF2B5EF4-FFF2-40B4-BE49-F238E27FC236}">
                <a16:creationId xmlns:a16="http://schemas.microsoft.com/office/drawing/2014/main" id="{A3B70B07-94BB-41F6-97F3-A5AA9E469D5E}"/>
              </a:ext>
            </a:extLst>
          </p:cNvPr>
          <p:cNvSpPr>
            <a:spLocks xmlns:a="http://schemas.openxmlformats.org/drawingml/2006/main" noGrp="1"/>
          </p:cNvSpPr>
          <p:nvPr/>
        </p:nvSpPr>
        <p:spPr>
          <a:xfrm xmlns:a="http://schemas.openxmlformats.org/drawingml/2006/main">
            <a:off x="5748655" y="2428875"/>
            <a:ext cx="1947139" cy="38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B90BA21-41A5-4D29-A3D6-4CDF442436E3}"/>
              </a:ext>
            </a:extLst>
          </p:cNvPr>
          <p:cNvSpPr>
            <a:spLocks xmlns:a="http://schemas.openxmlformats.org/drawingml/2006/main" noGrp="1"/>
          </p:cNvSpPr>
          <p:nvPr/>
        </p:nvSpPr>
        <p:spPr>
          <a:xfrm xmlns:a="http://schemas.openxmlformats.org/drawingml/2006/main">
            <a:off x="5824855" y="25146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AB5A08"/>
                </a:solidFill>
                <a:latin typeface="Arial"/>
                <a:ea typeface="Arial"/>
                <a:cs typeface="Arial"/>
              </a:defRPr>
            </a:pPr>
            <a:r>
              <a:t>MEDIUM-HIGH</a:t>
            </a:r>
          </a:p>
        </p:txBody>
      </p:sp>
      <p:sp>
        <p:nvSpPr>
          <p:cNvPr id="25" name="">
            <a:extLst xmlns:a="http://schemas.openxmlformats.org/drawingml/2006/main">
              <a:ext uri="{FF2B5EF4-FFF2-40B4-BE49-F238E27FC236}">
                <a16:creationId xmlns:a16="http://schemas.microsoft.com/office/drawing/2014/main" id="{A1207539-154F-4B87-B584-FAA94F659E33}"/>
              </a:ext>
            </a:extLst>
          </p:cNvPr>
          <p:cNvSpPr>
            <a:spLocks xmlns:a="http://schemas.openxmlformats.org/drawingml/2006/main" noGrp="1"/>
          </p:cNvSpPr>
          <p:nvPr/>
        </p:nvSpPr>
        <p:spPr>
          <a:xfrm xmlns:a="http://schemas.openxmlformats.org/drawingml/2006/main">
            <a:off x="5824855" y="2638425"/>
            <a:ext cx="2797810" cy="819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OEM integration focus</a:t>
            </a:r>
          </a:p>
        </p:txBody>
      </p:sp>
      <p:sp>
        <p:nvSpPr>
          <p:cNvPr id="26" name="">
            <a:extLst xmlns:a="http://schemas.openxmlformats.org/drawingml/2006/main">
              <a:ext uri="{FF2B5EF4-FFF2-40B4-BE49-F238E27FC236}">
                <a16:creationId xmlns:a16="http://schemas.microsoft.com/office/drawing/2014/main" id="{C0E70B28-4962-4F99-86D6-DBA1F0B62DFE}"/>
              </a:ext>
            </a:extLst>
          </p:cNvPr>
          <p:cNvSpPr>
            <a:spLocks xmlns:a="http://schemas.openxmlformats.org/drawingml/2006/main" noGrp="1"/>
          </p:cNvSpPr>
          <p:nvPr/>
        </p:nvSpPr>
        <p:spPr>
          <a:xfrm xmlns:a="http://schemas.openxmlformats.org/drawingml/2006/main">
            <a:off x="8756015" y="2428875"/>
            <a:ext cx="2950210" cy="10477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7" name="">
            <a:extLst xmlns:a="http://schemas.openxmlformats.org/drawingml/2006/main">
              <a:ext uri="{FF2B5EF4-FFF2-40B4-BE49-F238E27FC236}">
                <a16:creationId xmlns:a16="http://schemas.microsoft.com/office/drawing/2014/main" id="{2DC48681-D37D-4B49-A880-37043345B4A9}"/>
              </a:ext>
            </a:extLst>
          </p:cNvPr>
          <p:cNvSpPr>
            <a:spLocks xmlns:a="http://schemas.openxmlformats.org/drawingml/2006/main" noGrp="1"/>
          </p:cNvSpPr>
          <p:nvPr/>
        </p:nvSpPr>
        <p:spPr>
          <a:xfrm xmlns:a="http://schemas.openxmlformats.org/drawingml/2006/main">
            <a:off x="8756015" y="2428875"/>
            <a:ext cx="1475105"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CD4E6C6-0E66-48BC-AA66-279134EE96F9}"/>
              </a:ext>
            </a:extLst>
          </p:cNvPr>
          <p:cNvSpPr>
            <a:spLocks xmlns:a="http://schemas.openxmlformats.org/drawingml/2006/main" noGrp="1"/>
          </p:cNvSpPr>
          <p:nvPr/>
        </p:nvSpPr>
        <p:spPr>
          <a:xfrm xmlns:a="http://schemas.openxmlformats.org/drawingml/2006/main">
            <a:off x="8832215" y="25146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37A87"/>
                </a:solidFill>
                <a:latin typeface="Arial"/>
                <a:ea typeface="Arial"/>
                <a:cs typeface="Arial"/>
              </a:defRPr>
            </a:pPr>
            <a:r>
              <a:t>MEDIUM</a:t>
            </a:r>
          </a:p>
        </p:txBody>
      </p:sp>
      <p:sp>
        <p:nvSpPr>
          <p:cNvPr id="29" name="">
            <a:extLst xmlns:a="http://schemas.openxmlformats.org/drawingml/2006/main">
              <a:ext uri="{FF2B5EF4-FFF2-40B4-BE49-F238E27FC236}">
                <a16:creationId xmlns:a16="http://schemas.microsoft.com/office/drawing/2014/main" id="{E21C475C-AAF6-4F8C-8D52-0BF84D97C308}"/>
              </a:ext>
            </a:extLst>
          </p:cNvPr>
          <p:cNvSpPr>
            <a:spLocks xmlns:a="http://schemas.openxmlformats.org/drawingml/2006/main" noGrp="1"/>
          </p:cNvSpPr>
          <p:nvPr/>
        </p:nvSpPr>
        <p:spPr>
          <a:xfrm xmlns:a="http://schemas.openxmlformats.org/drawingml/2006/main">
            <a:off x="8832215" y="2638425"/>
            <a:ext cx="2797810" cy="819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Retrofit potential</a:t>
            </a:r>
          </a:p>
        </p:txBody>
      </p:sp>
      <p:sp>
        <p:nvSpPr>
          <p:cNvPr id="30" name="">
            <a:extLst xmlns:a="http://schemas.openxmlformats.org/drawingml/2006/main">
              <a:ext uri="{FF2B5EF4-FFF2-40B4-BE49-F238E27FC236}">
                <a16:creationId xmlns:a16="http://schemas.microsoft.com/office/drawing/2014/main" id="{C6DAACF3-92F0-40DE-AD49-6B850A6EE2E3}"/>
              </a:ext>
            </a:extLst>
          </p:cNvPr>
          <p:cNvSpPr>
            <a:spLocks xmlns:a="http://schemas.openxmlformats.org/drawingml/2006/main" noGrp="1"/>
          </p:cNvSpPr>
          <p:nvPr/>
        </p:nvSpPr>
        <p:spPr>
          <a:xfrm xmlns:a="http://schemas.openxmlformats.org/drawingml/2006/main">
            <a:off x="457200" y="3505200"/>
            <a:ext cx="2255520" cy="11049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1593A33B-C533-49E5-AFD9-F03C25A55187}"/>
              </a:ext>
            </a:extLst>
          </p:cNvPr>
          <p:cNvSpPr>
            <a:spLocks xmlns:a="http://schemas.openxmlformats.org/drawingml/2006/main" noGrp="1"/>
          </p:cNvSpPr>
          <p:nvPr/>
        </p:nvSpPr>
        <p:spPr>
          <a:xfrm xmlns:a="http://schemas.openxmlformats.org/drawingml/2006/main">
            <a:off x="552450" y="3619500"/>
            <a:ext cx="2103120" cy="933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01827"/>
                </a:solidFill>
                <a:latin typeface="Arial"/>
                <a:ea typeface="Arial"/>
                <a:cs typeface="Arial"/>
              </a:defRPr>
            </a:pPr>
            <a:r>
              <a:t>DEEPGRID POSITION</a:t>
            </a:r>
          </a:p>
        </p:txBody>
      </p:sp>
      <p:sp>
        <p:nvSpPr>
          <p:cNvPr id="32" name="">
            <a:extLst xmlns:a="http://schemas.openxmlformats.org/drawingml/2006/main">
              <a:ext uri="{FF2B5EF4-FFF2-40B4-BE49-F238E27FC236}">
                <a16:creationId xmlns:a16="http://schemas.microsoft.com/office/drawing/2014/main" id="{E5F04A76-29CB-4263-B60C-304F18920CFF}"/>
              </a:ext>
            </a:extLst>
          </p:cNvPr>
          <p:cNvSpPr>
            <a:spLocks xmlns:a="http://schemas.openxmlformats.org/drawingml/2006/main" noGrp="1"/>
          </p:cNvSpPr>
          <p:nvPr/>
        </p:nvSpPr>
        <p:spPr>
          <a:xfrm xmlns:a="http://schemas.openxmlformats.org/drawingml/2006/main">
            <a:off x="2741295" y="3533775"/>
            <a:ext cx="2950210" cy="10477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3" name="">
            <a:extLst xmlns:a="http://schemas.openxmlformats.org/drawingml/2006/main">
              <a:ext uri="{FF2B5EF4-FFF2-40B4-BE49-F238E27FC236}">
                <a16:creationId xmlns:a16="http://schemas.microsoft.com/office/drawing/2014/main" id="{B9DDD93F-AD61-44EF-94A0-8757FB6D2317}"/>
              </a:ext>
            </a:extLst>
          </p:cNvPr>
          <p:cNvSpPr>
            <a:spLocks xmlns:a="http://schemas.openxmlformats.org/drawingml/2006/main" noGrp="1"/>
          </p:cNvSpPr>
          <p:nvPr/>
        </p:nvSpPr>
        <p:spPr>
          <a:xfrm xmlns:a="http://schemas.openxmlformats.org/drawingml/2006/main">
            <a:off x="2741295" y="35337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81CF414A-B8B8-4290-A765-3877DB2A77AD}"/>
              </a:ext>
            </a:extLst>
          </p:cNvPr>
          <p:cNvSpPr>
            <a:spLocks xmlns:a="http://schemas.openxmlformats.org/drawingml/2006/main" noGrp="1"/>
          </p:cNvSpPr>
          <p:nvPr/>
        </p:nvSpPr>
        <p:spPr>
          <a:xfrm xmlns:a="http://schemas.openxmlformats.org/drawingml/2006/main">
            <a:off x="2817495" y="3619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35" name="">
            <a:extLst xmlns:a="http://schemas.openxmlformats.org/drawingml/2006/main">
              <a:ext uri="{FF2B5EF4-FFF2-40B4-BE49-F238E27FC236}">
                <a16:creationId xmlns:a16="http://schemas.microsoft.com/office/drawing/2014/main" id="{6AEAD816-553B-4373-8E80-2189049FF8D0}"/>
              </a:ext>
            </a:extLst>
          </p:cNvPr>
          <p:cNvSpPr>
            <a:spLocks xmlns:a="http://schemas.openxmlformats.org/drawingml/2006/main" noGrp="1"/>
          </p:cNvSpPr>
          <p:nvPr/>
        </p:nvSpPr>
        <p:spPr>
          <a:xfrm xmlns:a="http://schemas.openxmlformats.org/drawingml/2006/main">
            <a:off x="2817495" y="3743325"/>
            <a:ext cx="2797810" cy="819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Adjacent compute</a:t>
            </a:r>
          </a:p>
        </p:txBody>
      </p:sp>
      <p:sp>
        <p:nvSpPr>
          <p:cNvPr id="36" name="">
            <a:extLst xmlns:a="http://schemas.openxmlformats.org/drawingml/2006/main">
              <a:ext uri="{FF2B5EF4-FFF2-40B4-BE49-F238E27FC236}">
                <a16:creationId xmlns:a16="http://schemas.microsoft.com/office/drawing/2014/main" id="{0307A92C-E7E6-4739-8EEE-8FF1EE7485A6}"/>
              </a:ext>
            </a:extLst>
          </p:cNvPr>
          <p:cNvSpPr>
            <a:spLocks xmlns:a="http://schemas.openxmlformats.org/drawingml/2006/main" noGrp="1"/>
          </p:cNvSpPr>
          <p:nvPr/>
        </p:nvSpPr>
        <p:spPr>
          <a:xfrm xmlns:a="http://schemas.openxmlformats.org/drawingml/2006/main">
            <a:off x="5748655" y="3533775"/>
            <a:ext cx="2950210" cy="10477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72094AA5-EF08-4D7D-A7A7-CCAB8ACE0DAF}"/>
              </a:ext>
            </a:extLst>
          </p:cNvPr>
          <p:cNvSpPr>
            <a:spLocks xmlns:a="http://schemas.openxmlformats.org/drawingml/2006/main" noGrp="1"/>
          </p:cNvSpPr>
          <p:nvPr/>
        </p:nvSpPr>
        <p:spPr>
          <a:xfrm xmlns:a="http://schemas.openxmlformats.org/drawingml/2006/main">
            <a:off x="5748655" y="35337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A263FA6-6050-4A7F-8051-FD70866893B8}"/>
              </a:ext>
            </a:extLst>
          </p:cNvPr>
          <p:cNvSpPr>
            <a:spLocks xmlns:a="http://schemas.openxmlformats.org/drawingml/2006/main" noGrp="1"/>
          </p:cNvSpPr>
          <p:nvPr/>
        </p:nvSpPr>
        <p:spPr>
          <a:xfrm xmlns:a="http://schemas.openxmlformats.org/drawingml/2006/main">
            <a:off x="5824855" y="3619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39" name="">
            <a:extLst xmlns:a="http://schemas.openxmlformats.org/drawingml/2006/main">
              <a:ext uri="{FF2B5EF4-FFF2-40B4-BE49-F238E27FC236}">
                <a16:creationId xmlns:a16="http://schemas.microsoft.com/office/drawing/2014/main" id="{D1B0ADAC-A838-4FAB-9363-52232CD83F91}"/>
              </a:ext>
            </a:extLst>
          </p:cNvPr>
          <p:cNvSpPr>
            <a:spLocks xmlns:a="http://schemas.openxmlformats.org/drawingml/2006/main" noGrp="1"/>
          </p:cNvSpPr>
          <p:nvPr/>
        </p:nvSpPr>
        <p:spPr>
          <a:xfrm xmlns:a="http://schemas.openxmlformats.org/drawingml/2006/main">
            <a:off x="5824855" y="3743325"/>
            <a:ext cx="2797810" cy="819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Differentiated perception</a:t>
            </a:r>
          </a:p>
        </p:txBody>
      </p:sp>
      <p:sp>
        <p:nvSpPr>
          <p:cNvPr id="40" name="">
            <a:extLst xmlns:a="http://schemas.openxmlformats.org/drawingml/2006/main">
              <a:ext uri="{FF2B5EF4-FFF2-40B4-BE49-F238E27FC236}">
                <a16:creationId xmlns:a16="http://schemas.microsoft.com/office/drawing/2014/main" id="{01BD8433-7FC1-4E03-A10E-EE375B81E9C1}"/>
              </a:ext>
            </a:extLst>
          </p:cNvPr>
          <p:cNvSpPr>
            <a:spLocks xmlns:a="http://schemas.openxmlformats.org/drawingml/2006/main" noGrp="1"/>
          </p:cNvSpPr>
          <p:nvPr/>
        </p:nvSpPr>
        <p:spPr>
          <a:xfrm xmlns:a="http://schemas.openxmlformats.org/drawingml/2006/main">
            <a:off x="8756015" y="3533775"/>
            <a:ext cx="2950210" cy="10477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1" name="">
            <a:extLst xmlns:a="http://schemas.openxmlformats.org/drawingml/2006/main">
              <a:ext uri="{FF2B5EF4-FFF2-40B4-BE49-F238E27FC236}">
                <a16:creationId xmlns:a16="http://schemas.microsoft.com/office/drawing/2014/main" id="{26775999-31DD-4252-9987-C0B25F0F9CB2}"/>
              </a:ext>
            </a:extLst>
          </p:cNvPr>
          <p:cNvSpPr>
            <a:spLocks xmlns:a="http://schemas.openxmlformats.org/drawingml/2006/main" noGrp="1"/>
          </p:cNvSpPr>
          <p:nvPr/>
        </p:nvSpPr>
        <p:spPr>
          <a:xfrm xmlns:a="http://schemas.openxmlformats.org/drawingml/2006/main">
            <a:off x="8756015" y="35337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1C2790D1-053D-4B97-A150-D7FE5982A364}"/>
              </a:ext>
            </a:extLst>
          </p:cNvPr>
          <p:cNvSpPr>
            <a:spLocks xmlns:a="http://schemas.openxmlformats.org/drawingml/2006/main" noGrp="1"/>
          </p:cNvSpPr>
          <p:nvPr/>
        </p:nvSpPr>
        <p:spPr>
          <a:xfrm xmlns:a="http://schemas.openxmlformats.org/drawingml/2006/main">
            <a:off x="8832215" y="3619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43" name="">
            <a:extLst xmlns:a="http://schemas.openxmlformats.org/drawingml/2006/main">
              <a:ext uri="{FF2B5EF4-FFF2-40B4-BE49-F238E27FC236}">
                <a16:creationId xmlns:a16="http://schemas.microsoft.com/office/drawing/2014/main" id="{23E805E0-D9D4-4775-974F-75A4B4E02AB0}"/>
              </a:ext>
            </a:extLst>
          </p:cNvPr>
          <p:cNvSpPr>
            <a:spLocks xmlns:a="http://schemas.openxmlformats.org/drawingml/2006/main" noGrp="1"/>
          </p:cNvSpPr>
          <p:nvPr/>
        </p:nvSpPr>
        <p:spPr>
          <a:xfrm xmlns:a="http://schemas.openxmlformats.org/drawingml/2006/main">
            <a:off x="8832215" y="3743325"/>
            <a:ext cx="2797810" cy="819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India-specific VRU</a:t>
            </a:r>
          </a:p>
        </p:txBody>
      </p:sp>
      <p:sp>
        <p:nvSpPr>
          <p:cNvPr id="44" name="">
            <a:extLst xmlns:a="http://schemas.openxmlformats.org/drawingml/2006/main">
              <a:ext uri="{FF2B5EF4-FFF2-40B4-BE49-F238E27FC236}">
                <a16:creationId xmlns:a16="http://schemas.microsoft.com/office/drawing/2014/main" id="{1465F49E-4B9D-4C80-AB41-9F9A88F3FC70}"/>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5" name="">
            <a:extLst xmlns:a="http://schemas.openxmlformats.org/drawingml/2006/main">
              <a:ext uri="{FF2B5EF4-FFF2-40B4-BE49-F238E27FC236}">
                <a16:creationId xmlns:a16="http://schemas.microsoft.com/office/drawing/2014/main" id="{26FF1EAE-B8DE-46C2-A895-792F2BAB2E30}"/>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4321CA07-7E95-4C77-BFD0-6AF64FEE397F}"/>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WHY THE RATING MOVES BETWEEN ARENAS</a:t>
            </a:r>
          </a:p>
        </p:txBody>
      </p:sp>
      <p:sp>
        <p:nvSpPr>
          <p:cNvPr id="47" name="">
            <a:extLst xmlns:a="http://schemas.openxmlformats.org/drawingml/2006/main">
              <a:ext uri="{FF2B5EF4-FFF2-40B4-BE49-F238E27FC236}">
                <a16:creationId xmlns:a16="http://schemas.microsoft.com/office/drawing/2014/main" id="{62117B04-DAE6-456A-AB47-188E4D29F48B}"/>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Sterling contributes Indian channel and manufacturing, MINIEYE the perception stack. That combination is only decisive where a buyer needs both local production and an integrated stack — which is the OEM programme.</a:t>
            </a:r>
          </a:p>
        </p:txBody>
      </p:sp>
      <p:sp>
        <p:nvSpPr>
          <p:cNvPr id="48" name="">
            <a:extLst xmlns:a="http://schemas.openxmlformats.org/drawingml/2006/main">
              <a:ext uri="{FF2B5EF4-FFF2-40B4-BE49-F238E27FC236}">
                <a16:creationId xmlns:a16="http://schemas.microsoft.com/office/drawing/2014/main" id="{960F5E63-6A54-4DCF-B789-A047346BCD1F}"/>
              </a:ext>
            </a:extLst>
          </p:cNvPr>
          <p:cNvSpPr>
            <a:spLocks xmlns:a="http://schemas.openxmlformats.org/drawingml/2006/main" noGrp="1"/>
          </p:cNvSpPr>
          <p:nvPr/>
        </p:nvSpPr>
        <p:spPr>
          <a:xfrm xmlns:a="http://schemas.openxmlformats.org/drawingml/2006/main">
            <a:off x="6153150" y="4724400"/>
            <a:ext cx="5581650" cy="492125"/>
          </a:xfrm>
          <a:prstGeom xmlns:a="http://schemas.openxmlformats.org/drawingml/2006/main" prst="rect">
            <a:avLst/>
          </a:prstGeom>
          <a:solidFill xmlns:a="http://schemas.openxmlformats.org/drawingml/2006/main">
            <a:srgbClr val="FFF7EC"/>
          </a:solidFill>
          <a:ln xmlns:a="http://schemas.openxmlformats.org/drawingml/2006/main" w="9525">
            <a:solidFill>
              <a:srgbClr val="D8E2E7"/>
            </a:solidFill>
            <a:prstDash val="solid"/>
          </a:ln>
        </p:spPr>
      </p:sp>
      <p:sp>
        <p:nvSpPr>
          <p:cNvPr id="49" name="">
            <a:extLst xmlns:a="http://schemas.openxmlformats.org/drawingml/2006/main">
              <a:ext uri="{FF2B5EF4-FFF2-40B4-BE49-F238E27FC236}">
                <a16:creationId xmlns:a16="http://schemas.microsoft.com/office/drawing/2014/main" id="{690ECD2D-646C-47D0-BA8D-E308B4F92C28}"/>
              </a:ext>
            </a:extLst>
          </p:cNvPr>
          <p:cNvSpPr>
            <a:spLocks xmlns:a="http://schemas.openxmlformats.org/drawingml/2006/main" noGrp="1"/>
          </p:cNvSpPr>
          <p:nvPr/>
        </p:nvSpPr>
        <p:spPr>
          <a:xfrm xmlns:a="http://schemas.openxmlformats.org/drawingml/2006/main">
            <a:off x="6153150" y="4724400"/>
            <a:ext cx="28575" cy="4921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64824B89-D8F7-452C-9844-60D30C27905D}"/>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SIGNAL THAT WOULD INVERT THE RANKING</a:t>
            </a:r>
          </a:p>
        </p:txBody>
      </p:sp>
      <p:sp>
        <p:nvSpPr>
          <p:cNvPr id="51" name="">
            <a:extLst xmlns:a="http://schemas.openxmlformats.org/drawingml/2006/main">
              <a:ext uri="{FF2B5EF4-FFF2-40B4-BE49-F238E27FC236}">
                <a16:creationId xmlns:a16="http://schemas.microsoft.com/office/drawing/2014/main" id="{824B60D6-3EB6-441C-95C6-CACB8505F5DC}"/>
              </a:ext>
            </a:extLst>
          </p:cNvPr>
          <p:cNvSpPr>
            <a:spLocks xmlns:a="http://schemas.openxmlformats.org/drawingml/2006/main" noGrp="1"/>
          </p:cNvSpPr>
          <p:nvPr/>
        </p:nvSpPr>
        <p:spPr>
          <a:xfrm xmlns:a="http://schemas.openxmlformats.org/drawingml/2006/main">
            <a:off x="6276975" y="49403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Alerts on named nominations and local-production milestones.</a:t>
            </a:r>
          </a:p>
        </p:txBody>
      </p:sp>
      <p:sp>
        <p:nvSpPr>
          <p:cNvPr id="52" name="">
            <a:extLst xmlns:a="http://schemas.openxmlformats.org/drawingml/2006/main">
              <a:ext uri="{FF2B5EF4-FFF2-40B4-BE49-F238E27FC236}">
                <a16:creationId xmlns:a16="http://schemas.microsoft.com/office/drawing/2014/main" id="{50F61542-D7BD-4DC2-A77F-04F7167F17E3}"/>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88B49CD4-594E-4EB0-9C88-1F49BC68C53F}"/>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8572C1BA-FAA9-423A-B245-08DF9E8294B6}"/>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55" name="">
            <a:extLst xmlns:a="http://schemas.openxmlformats.org/drawingml/2006/main">
              <a:ext uri="{FF2B5EF4-FFF2-40B4-BE49-F238E27FC236}">
                <a16:creationId xmlns:a16="http://schemas.microsoft.com/office/drawing/2014/main" id="{E632E06C-194F-4282-BA92-BCFE8E54E17E}"/>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Create alerts for named nominations and local-production milestones</a:t>
            </a:r>
          </a:p>
        </p:txBody>
      </p:sp>
      <p:sp>
        <p:nvSpPr>
          <p:cNvPr id="56" name="">
            <a:extLst xmlns:a="http://schemas.openxmlformats.org/drawingml/2006/main">
              <a:ext uri="{FF2B5EF4-FFF2-40B4-BE49-F238E27FC236}">
                <a16:creationId xmlns:a16="http://schemas.microsoft.com/office/drawing/2014/main" id="{3A5827DB-BCC4-419E-B2F7-580CF95D1657}"/>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57" name="">
            <a:extLst xmlns:a="http://schemas.openxmlformats.org/drawingml/2006/main">
              <a:ext uri="{FF2B5EF4-FFF2-40B4-BE49-F238E27FC236}">
                <a16:creationId xmlns:a16="http://schemas.microsoft.com/office/drawing/2014/main" id="{8A110D43-E099-42AB-A74D-47EDB4A6706B}"/>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Alerts on named nominations and local-production milestones.</a:t>
            </a:r>
          </a:p>
        </p:txBody>
      </p:sp>
      <p:sp>
        <p:nvSpPr>
          <p:cNvPr id="58" name="">
            <a:extLst xmlns:a="http://schemas.openxmlformats.org/drawingml/2006/main">
              <a:ext uri="{FF2B5EF4-FFF2-40B4-BE49-F238E27FC236}">
                <a16:creationId xmlns:a16="http://schemas.microsoft.com/office/drawing/2014/main" id="{68E49DE2-83BB-4DC9-BE7E-1156CD4146EF}"/>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9" name="">
            <a:extLst xmlns:a="http://schemas.openxmlformats.org/drawingml/2006/main">
              <a:ext uri="{FF2B5EF4-FFF2-40B4-BE49-F238E27FC236}">
                <a16:creationId xmlns:a16="http://schemas.microsoft.com/office/drawing/2014/main" id="{8498E8B7-D923-40A4-BF7F-A2A82FFA3976}"/>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any named OEM nomination.</a:t>
            </a:r>
          </a:p>
        </p:txBody>
      </p:sp>
      <p:sp>
        <p:nvSpPr>
          <p:cNvPr id="60" name="">
            <a:extLst xmlns:a="http://schemas.openxmlformats.org/drawingml/2006/main">
              <a:ext uri="{FF2B5EF4-FFF2-40B4-BE49-F238E27FC236}">
                <a16:creationId xmlns:a16="http://schemas.microsoft.com/office/drawing/2014/main" id="{65FE2AB2-B21E-4CEF-A796-92FA594D22EC}"/>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84AEC733-E892-4C8E-95D3-164F0E2CB63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62" name="">
            <a:extLst xmlns:a="http://schemas.openxmlformats.org/drawingml/2006/main">
              <a:ext uri="{FF2B5EF4-FFF2-40B4-BE49-F238E27FC236}">
                <a16:creationId xmlns:a16="http://schemas.microsoft.com/office/drawing/2014/main" id="{AECDD57F-32B8-4BF9-88B9-6981CEBB9E7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62</a:t>
            </a:r>
          </a:p>
        </p:txBody>
      </p:sp>
    </p:spTree>
    <p:extLst>
      <p:ext uri="{BB962C8B-B14F-4D97-AF65-F5344CB8AC3E}">
        <p14:creationId xmlns:p14="http://schemas.microsoft.com/office/powerpoint/2010/main" val="839984308"/>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7742DB32-3D42-4DC6-8BA0-58A23411EB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0A1CF4D-7268-40F5-AF39-FB8F95A1BE93}"/>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527A1B0-48B7-4477-BCD5-28981E023BA1}"/>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A046F06E-6318-4751-A00D-B0665AA9100E}"/>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976DD149-05FF-4F3B-9D95-2819D8158715}"/>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Counter Sterling×MINIEYE with a Tier-1 channel test for DeepGrid package fit</a:t>
            </a:r>
          </a:p>
        </p:txBody>
      </p:sp>
      <p:sp>
        <p:nvSpPr>
          <p:cNvPr id="6" name="">
            <a:extLst xmlns:a="http://schemas.openxmlformats.org/drawingml/2006/main">
              <a:ext uri="{FF2B5EF4-FFF2-40B4-BE49-F238E27FC236}">
                <a16:creationId xmlns:a16="http://schemas.microsoft.com/office/drawing/2014/main" id="{5326F88D-121F-4FE8-8128-6D5D57A95106}"/>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06B4ACB-8B29-4080-B95F-4E69ADB1658C}"/>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should DeepGrid fund now, and which observable signal should escalate?</a:t>
            </a:r>
          </a:p>
        </p:txBody>
      </p:sp>
      <p:sp>
        <p:nvSpPr>
          <p:cNvPr id="8" name="">
            <a:extLst xmlns:a="http://schemas.openxmlformats.org/drawingml/2006/main">
              <a:ext uri="{FF2B5EF4-FFF2-40B4-BE49-F238E27FC236}">
                <a16:creationId xmlns:a16="http://schemas.microsoft.com/office/drawing/2014/main" id="{92A1FFCA-7213-43F4-A718-E58A454CB07B}"/>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8D9DFCAB-8907-4538-B40B-53846ED29C77}"/>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BD3127E-7498-4CBE-A4FE-62C1D03628B6}"/>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372CE59D-B609-44DC-A76C-6C1EB3A43AD2}"/>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Run a Tier-1 channel test: approach three candidates screened for OEM access and find out whether DeepGrid's package fits a channel that already has one. Sterling×MINIEYE's advantage is channel, so the counter is a channel of DeepGrid's own.</a:t>
            </a:r>
          </a:p>
        </p:txBody>
      </p:sp>
      <p:sp>
        <p:nvSpPr>
          <p:cNvPr id="12" name="">
            <a:extLst xmlns:a="http://schemas.openxmlformats.org/drawingml/2006/main">
              <a:ext uri="{FF2B5EF4-FFF2-40B4-BE49-F238E27FC236}">
                <a16:creationId xmlns:a16="http://schemas.microsoft.com/office/drawing/2014/main" id="{9973D0AA-4B05-4FEC-A7AC-6F86F1A0BD33}"/>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BCEB9280-2FA4-41C8-846D-1FF415BCD706}"/>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603FCB4-111C-4B19-B09E-E57F7F50D695}"/>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AEEA6993-08C7-4D95-ABCB-C81A70C77247}"/>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PROPOSED</a:t>
            </a:r>
          </a:p>
        </p:txBody>
      </p:sp>
      <p:sp>
        <p:nvSpPr>
          <p:cNvPr id="16" name="">
            <a:extLst xmlns:a="http://schemas.openxmlformats.org/drawingml/2006/main">
              <a:ext uri="{FF2B5EF4-FFF2-40B4-BE49-F238E27FC236}">
                <a16:creationId xmlns:a16="http://schemas.microsoft.com/office/drawing/2014/main" id="{05F5E54F-0D72-4545-8ED6-C495E329A1FD}"/>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Sterling is described as contributing Indian OEM access, manufacturing and application engineering; MINIEYE brings L0–L2 perception functions. OEM access &amp; manufacturing Application enginee…</a:t>
            </a:r>
          </a:p>
        </p:txBody>
      </p:sp>
      <p:sp>
        <p:nvSpPr>
          <p:cNvPr id="17" name="">
            <a:extLst xmlns:a="http://schemas.openxmlformats.org/drawingml/2006/main">
              <a:ext uri="{FF2B5EF4-FFF2-40B4-BE49-F238E27FC236}">
                <a16:creationId xmlns:a16="http://schemas.microsoft.com/office/drawing/2014/main" id="{6A7EDCA6-2C97-4B92-9A09-29234E4E689B}"/>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65BDE1F-7A38-4CF5-99B9-4D4E18FCF247}"/>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5A3463E0-46E8-44B4-99E9-BBDCAF5F56CA}"/>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E60B6B1-75F7-419E-8479-9DFE0BCE6F6B}"/>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A8A9D651-B526-41B1-AC2F-CA35868D44AD}"/>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CAUSAL</a:t>
            </a:r>
          </a:p>
        </p:txBody>
      </p:sp>
      <p:sp>
        <p:nvSpPr>
          <p:cNvPr id="22" name="">
            <a:extLst xmlns:a="http://schemas.openxmlformats.org/drawingml/2006/main">
              <a:ext uri="{FF2B5EF4-FFF2-40B4-BE49-F238E27FC236}">
                <a16:creationId xmlns:a16="http://schemas.microsoft.com/office/drawing/2014/main" id="{75A38D09-8C1E-43A3-B0A9-683BF1408CFD}"/>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Combining local channel capabilities with perception functions could localise faster than building every capability internally. Channel capabilities Perception functions Localisation speed</a:t>
            </a:r>
          </a:p>
        </p:txBody>
      </p:sp>
      <p:sp>
        <p:nvSpPr>
          <p:cNvPr id="23" name="">
            <a:extLst xmlns:a="http://schemas.openxmlformats.org/drawingml/2006/main">
              <a:ext uri="{FF2B5EF4-FFF2-40B4-BE49-F238E27FC236}">
                <a16:creationId xmlns:a16="http://schemas.microsoft.com/office/drawing/2014/main" id="{E6E77F37-3E85-440B-9A60-0F658EC2390E}"/>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480234B-F8F8-429E-9A28-52ED3272C1F5}"/>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F3FE2054-1605-4818-BDA7-ED5C1E7434CD}"/>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4359FFB-E597-44D8-AF2C-81A8FB6AA232}"/>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6C7795BD-7615-4361-8661-9CC0C4AEA602}"/>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DEEPGRID</a:t>
            </a:r>
          </a:p>
        </p:txBody>
      </p:sp>
      <p:sp>
        <p:nvSpPr>
          <p:cNvPr id="28" name="">
            <a:extLst xmlns:a="http://schemas.openxmlformats.org/drawingml/2006/main">
              <a:ext uri="{FF2B5EF4-FFF2-40B4-BE49-F238E27FC236}">
                <a16:creationId xmlns:a16="http://schemas.microsoft.com/office/drawing/2014/main" id="{FD4CF2F7-4A0E-422B-92F2-8AB181597269}"/>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Tier-1 channel is valuable only if DeepGrid's silicon/perception package is attractive and integration-ready. Silicon/package fit Integration readiness Channel economics</a:t>
            </a:r>
          </a:p>
        </p:txBody>
      </p:sp>
      <p:sp>
        <p:nvSpPr>
          <p:cNvPr id="29" name="">
            <a:extLst xmlns:a="http://schemas.openxmlformats.org/drawingml/2006/main">
              <a:ext uri="{FF2B5EF4-FFF2-40B4-BE49-F238E27FC236}">
                <a16:creationId xmlns:a16="http://schemas.microsoft.com/office/drawing/2014/main" id="{7EEFC459-F6E5-4D09-BDF7-302B788A20B4}"/>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DF8405D-81C1-4564-B53C-51C1E6464D02}"/>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F1339AF0-0F6A-47B0-9D27-6386A4F7A200}"/>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7F94FBE-A819-47F2-B3E4-46E8252F9B62}"/>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5E0FFF29-6B0B-482C-849F-B4C1AE7BD187}"/>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07BEA187-3A3D-4993-9622-7F4920B98B0D}"/>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Within 30 days, one candidate signs a technical evaluation or joint RFQ demonstrating market appetite. Technical evaluation Joint RFQ Market appetite signal</a:t>
            </a:r>
          </a:p>
        </p:txBody>
      </p:sp>
      <p:sp>
        <p:nvSpPr>
          <p:cNvPr id="35" name="">
            <a:extLst xmlns:a="http://schemas.openxmlformats.org/drawingml/2006/main">
              <a:ext uri="{FF2B5EF4-FFF2-40B4-BE49-F238E27FC236}">
                <a16:creationId xmlns:a16="http://schemas.microsoft.com/office/drawing/2014/main" id="{06AB9C3A-EA12-40C2-8642-81AE23658DC6}"/>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2D467C7C-ACDC-4CD0-A175-CC32B26DA5C9}"/>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6A8A0728-2C4B-472A-AE39-0E299DE8C821}"/>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36233BC1-6D1B-48E4-A4AC-3DDC8ABCE4BD}"/>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channel partner's willingness to evaluate is itself the market test. It costs three conversations and returns a direct read on whether DeepGrid's integration readiness is real to someone who sells into OEMs.</a:t>
            </a:r>
          </a:p>
        </p:txBody>
      </p:sp>
      <p:sp>
        <p:nvSpPr>
          <p:cNvPr id="39" name="">
            <a:extLst xmlns:a="http://schemas.openxmlformats.org/drawingml/2006/main">
              <a:ext uri="{FF2B5EF4-FFF2-40B4-BE49-F238E27FC236}">
                <a16:creationId xmlns:a16="http://schemas.microsoft.com/office/drawing/2014/main" id="{BB0A5A69-F766-49D1-AB4D-248ADB2E0FE1}"/>
              </a:ext>
            </a:extLst>
          </p:cNvPr>
          <p:cNvSpPr>
            <a:spLocks xmlns:a="http://schemas.openxmlformats.org/drawingml/2006/main" noGrp="1"/>
          </p:cNvSpPr>
          <p:nvPr/>
        </p:nvSpPr>
        <p:spPr>
          <a:xfrm xmlns:a="http://schemas.openxmlformats.org/drawingml/2006/main">
            <a:off x="6153150" y="472757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62AAF727-39E0-4046-AD97-43576A5A2AB2}"/>
              </a:ext>
            </a:extLst>
          </p:cNvPr>
          <p:cNvSpPr>
            <a:spLocks xmlns:a="http://schemas.openxmlformats.org/drawingml/2006/main" noGrp="1"/>
          </p:cNvSpPr>
          <p:nvPr/>
        </p:nvSpPr>
        <p:spPr>
          <a:xfrm xmlns:a="http://schemas.openxmlformats.org/drawingml/2006/main">
            <a:off x="6153150" y="472757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D6BC48B-B3B3-43EF-95A5-8483197DCD97}"/>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2877FADD-3B7E-4DD4-99D4-E89788288456}"/>
              </a:ext>
            </a:extLst>
          </p:cNvPr>
          <p:cNvSpPr>
            <a:spLocks xmlns:a="http://schemas.openxmlformats.org/drawingml/2006/main" noGrp="1"/>
          </p:cNvSpPr>
          <p:nvPr/>
        </p:nvSpPr>
        <p:spPr>
          <a:xfrm xmlns:a="http://schemas.openxmlformats.org/drawingml/2006/main">
            <a:off x="6276975" y="494347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if no candidate signs a technical evaluation or joint RFQ within 30 days.</a:t>
            </a:r>
          </a:p>
        </p:txBody>
      </p:sp>
      <p:sp>
        <p:nvSpPr>
          <p:cNvPr id="43" name="">
            <a:extLst xmlns:a="http://schemas.openxmlformats.org/drawingml/2006/main">
              <a:ext uri="{FF2B5EF4-FFF2-40B4-BE49-F238E27FC236}">
                <a16:creationId xmlns:a16="http://schemas.microsoft.com/office/drawing/2014/main" id="{918AD144-C3B0-42C1-B38A-8814C649BA1B}"/>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A8F2C72B-D754-4488-A859-35B70DE88992}"/>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863D6817-8BCB-4000-971D-A3A00EB9AFC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DC22F833-81D7-41B5-BE56-C5F5D25E1E24}"/>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BD to contact three Tier-1 candidates Monday, screened for OEM access</a:t>
            </a:r>
          </a:p>
        </p:txBody>
      </p:sp>
      <p:sp>
        <p:nvSpPr>
          <p:cNvPr id="47" name="">
            <a:extLst xmlns:a="http://schemas.openxmlformats.org/drawingml/2006/main">
              <a:ext uri="{FF2B5EF4-FFF2-40B4-BE49-F238E27FC236}">
                <a16:creationId xmlns:a16="http://schemas.microsoft.com/office/drawing/2014/main" id="{02EBEF9E-E2EA-496A-B968-BC3731FC205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6622E3AF-31A9-4CB7-A408-F02229EADCFD}"/>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Within 30 days, one candidate signs technical evaluation or joint RFQ</a:t>
            </a:r>
          </a:p>
        </p:txBody>
      </p:sp>
      <p:sp>
        <p:nvSpPr>
          <p:cNvPr id="49" name="">
            <a:extLst xmlns:a="http://schemas.openxmlformats.org/drawingml/2006/main">
              <a:ext uri="{FF2B5EF4-FFF2-40B4-BE49-F238E27FC236}">
                <a16:creationId xmlns:a16="http://schemas.microsoft.com/office/drawing/2014/main" id="{C741B45D-C58A-4012-84E6-8CA6D9CB979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E34583E4-ABDB-498F-B76A-8F5C9A44367D}"/>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if no candidate signs a technical evaluation or joint RFQ within 30 days.</a:t>
            </a:r>
          </a:p>
        </p:txBody>
      </p:sp>
      <p:sp>
        <p:nvSpPr>
          <p:cNvPr id="51" name="">
            <a:extLst xmlns:a="http://schemas.openxmlformats.org/drawingml/2006/main">
              <a:ext uri="{FF2B5EF4-FFF2-40B4-BE49-F238E27FC236}">
                <a16:creationId xmlns:a16="http://schemas.microsoft.com/office/drawing/2014/main" id="{3CBB9098-635D-4C7F-BB85-D7A4BF4EF13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948D5831-A7E7-4FE8-9B0F-F1925B85B6C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CE205F72-8C3B-4532-B10C-AD341C5C539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63</a:t>
            </a:r>
          </a:p>
        </p:txBody>
      </p:sp>
    </p:spTree>
    <p:extLst>
      <p:ext uri="{BB962C8B-B14F-4D97-AF65-F5344CB8AC3E}">
        <p14:creationId xmlns:p14="http://schemas.microsoft.com/office/powerpoint/2010/main" val="597072561"/>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CC443759-6CED-4247-9AB1-ACE19094960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2E7B70D-F04D-451F-91CF-E4B651DE2D61}"/>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BB17030-0253-40B6-B778-5300596EA48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B0BA4BAA-386E-42FE-AB0A-B8DF464A3324}"/>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56309C9A-F4A0-4483-8F21-EAB63E63DBA4}"/>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Sterling×MINIEYE Partnership - Evidence Falsifier</a:t>
            </a:r>
          </a:p>
        </p:txBody>
      </p:sp>
      <p:sp>
        <p:nvSpPr>
          <p:cNvPr id="6" name="">
            <a:extLst xmlns:a="http://schemas.openxmlformats.org/drawingml/2006/main">
              <a:ext uri="{FF2B5EF4-FFF2-40B4-BE49-F238E27FC236}">
                <a16:creationId xmlns:a16="http://schemas.microsoft.com/office/drawing/2014/main" id="{B8249AF8-A548-4111-B4A3-DAB135C3AEDF}"/>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7306D7C-A64B-423A-ABEB-5C375DF6B3CE}"/>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materially raise or lower their threat rating in India ADAS market?</a:t>
            </a:r>
          </a:p>
        </p:txBody>
      </p:sp>
      <p:sp>
        <p:nvSpPr>
          <p:cNvPr id="8" name="">
            <a:extLst xmlns:a="http://schemas.openxmlformats.org/drawingml/2006/main">
              <a:ext uri="{FF2B5EF4-FFF2-40B4-BE49-F238E27FC236}">
                <a16:creationId xmlns:a16="http://schemas.microsoft.com/office/drawing/2014/main" id="{0A98ED09-EC05-4746-8BD3-7A3BB51AFABB}"/>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1583BC37-9A20-406F-A6DB-342F73CBE26B}"/>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2F3ED20-1F9D-44C1-94F6-19DD2ABA969B}"/>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4AE11737-BCAA-4BBD-ABCB-A7CE45D012BF}"/>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The rating turns on production integration: a partnership announcement is not a programme. OEM contracts, deployment data and service-capability proof would raise it; their continued absence lowers it.</a:t>
            </a:r>
          </a:p>
        </p:txBody>
      </p:sp>
      <p:sp>
        <p:nvSpPr>
          <p:cNvPr id="12" name="">
            <a:extLst xmlns:a="http://schemas.openxmlformats.org/drawingml/2006/main">
              <a:ext uri="{FF2B5EF4-FFF2-40B4-BE49-F238E27FC236}">
                <a16:creationId xmlns:a16="http://schemas.microsoft.com/office/drawing/2014/main" id="{621435A1-31AB-4F6F-928A-F5246EBD3BC5}"/>
              </a:ext>
            </a:extLst>
          </p:cNvPr>
          <p:cNvSpPr>
            <a:spLocks xmlns:a="http://schemas.openxmlformats.org/drawingml/2006/main" noGrp="1"/>
          </p:cNvSpPr>
          <p:nvPr/>
        </p:nvSpPr>
        <p:spPr>
          <a:xfrm xmlns:a="http://schemas.openxmlformats.org/drawingml/2006/main">
            <a:off x="457200" y="1841500"/>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859363B9-7ABE-44FE-8C35-D9EEC8A44582}"/>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B61E453-1E0D-415A-A875-0729E251EE70}"/>
              </a:ext>
            </a:extLst>
          </p:cNvPr>
          <p:cNvSpPr>
            <a:spLocks xmlns:a="http://schemas.openxmlformats.org/drawingml/2006/main" noGrp="1"/>
          </p:cNvSpPr>
          <p:nvPr/>
        </p:nvSpPr>
        <p:spPr>
          <a:xfrm xmlns:a="http://schemas.openxmlformats.org/drawingml/2006/main">
            <a:off x="457200" y="1841500"/>
            <a:ext cx="28575" cy="8763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D0792CA-4381-4D4D-8A58-96EA3BCC0146}"/>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AUTOMOTIVE-QUALITY/SAFETY</a:t>
            </a:r>
          </a:p>
        </p:txBody>
      </p:sp>
      <p:sp>
        <p:nvSpPr>
          <p:cNvPr id="16" name="">
            <a:extLst xmlns:a="http://schemas.openxmlformats.org/drawingml/2006/main">
              <a:ext uri="{FF2B5EF4-FFF2-40B4-BE49-F238E27FC236}">
                <a16:creationId xmlns:a16="http://schemas.microsoft.com/office/drawing/2014/main" id="{D6754088-D707-4690-BB95-DA8E8140BA97}"/>
              </a:ext>
            </a:extLst>
          </p:cNvPr>
          <p:cNvSpPr>
            <a:spLocks xmlns:a="http://schemas.openxmlformats.org/drawingml/2006/main" noGrp="1"/>
          </p:cNvSpPr>
          <p:nvPr/>
        </p:nvSpPr>
        <p:spPr>
          <a:xfrm xmlns:a="http://schemas.openxmlformats.org/drawingml/2006/main">
            <a:off x="4067556" y="191770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Automotive-quality/safety work products, partner vehicle validation and a named RFQ/nomination/SOP milestone; gate ASIC spend on programme pull.</a:t>
            </a:r>
          </a:p>
        </p:txBody>
      </p:sp>
      <p:sp>
        <p:nvSpPr>
          <p:cNvPr id="17" name="">
            <a:extLst xmlns:a="http://schemas.openxmlformats.org/drawingml/2006/main">
              <a:ext uri="{FF2B5EF4-FFF2-40B4-BE49-F238E27FC236}">
                <a16:creationId xmlns:a16="http://schemas.microsoft.com/office/drawing/2014/main" id="{B350BD66-A3B0-4251-93F8-41B78E508F98}"/>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DAF03138-D2BE-4C04-A02D-63FC25F0BC5B}"/>
              </a:ext>
            </a:extLst>
          </p:cNvPr>
          <p:cNvSpPr>
            <a:spLocks xmlns:a="http://schemas.openxmlformats.org/drawingml/2006/main" noGrp="1"/>
          </p:cNvSpPr>
          <p:nvPr/>
        </p:nvSpPr>
        <p:spPr>
          <a:xfrm xmlns:a="http://schemas.openxmlformats.org/drawingml/2006/main">
            <a:off x="457200" y="2784475"/>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18AEDF4F-F0EB-4907-9640-EEA3B345BB88}"/>
              </a:ext>
            </a:extLst>
          </p:cNvPr>
          <p:cNvSpPr>
            <a:spLocks xmlns:a="http://schemas.openxmlformats.org/drawingml/2006/main" noGrp="1"/>
          </p:cNvSpPr>
          <p:nvPr/>
        </p:nvSpPr>
        <p:spPr>
          <a:xfrm xmlns:a="http://schemas.openxmlformats.org/drawingml/2006/main">
            <a:off x="457200" y="2784475"/>
            <a:ext cx="4962144"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2D3A3F5-73F9-401E-97EA-CA2DE5726DA3}"/>
              </a:ext>
            </a:extLst>
          </p:cNvPr>
          <p:cNvSpPr>
            <a:spLocks xmlns:a="http://schemas.openxmlformats.org/drawingml/2006/main" noGrp="1"/>
          </p:cNvSpPr>
          <p:nvPr/>
        </p:nvSpPr>
        <p:spPr>
          <a:xfrm xmlns:a="http://schemas.openxmlformats.org/drawingml/2006/main">
            <a:off x="457200" y="2784475"/>
            <a:ext cx="28575" cy="8763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AD72EF1-ECB9-47AC-9583-AEADAECCE04F}"/>
              </a:ext>
            </a:extLst>
          </p:cNvPr>
          <p:cNvSpPr>
            <a:spLocks xmlns:a="http://schemas.openxmlformats.org/drawingml/2006/main" noGrp="1"/>
          </p:cNvSpPr>
          <p:nvPr/>
        </p:nvSpPr>
        <p:spPr>
          <a:xfrm xmlns:a="http://schemas.openxmlformats.org/drawingml/2006/main">
            <a:off x="571500" y="28702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ARAI/ICAT TRACK WORK</a:t>
            </a:r>
          </a:p>
        </p:txBody>
      </p:sp>
      <p:sp>
        <p:nvSpPr>
          <p:cNvPr id="22" name="">
            <a:extLst xmlns:a="http://schemas.openxmlformats.org/drawingml/2006/main">
              <a:ext uri="{FF2B5EF4-FFF2-40B4-BE49-F238E27FC236}">
                <a16:creationId xmlns:a16="http://schemas.microsoft.com/office/drawing/2014/main" id="{92575FEF-FFF3-445D-A6C7-F1410DC7C0E4}"/>
              </a:ext>
            </a:extLst>
          </p:cNvPr>
          <p:cNvSpPr>
            <a:spLocks xmlns:a="http://schemas.openxmlformats.org/drawingml/2006/main" noGrp="1"/>
          </p:cNvSpPr>
          <p:nvPr/>
        </p:nvSpPr>
        <p:spPr>
          <a:xfrm xmlns:a="http://schemas.openxmlformats.org/drawingml/2006/main">
            <a:off x="4067556" y="286067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ARAI/ICAT track work, scenario coverage, nuisance-event corpus, DGS001 interface/diagnostic freeze and loaded-cost baseline.</a:t>
            </a:r>
          </a:p>
        </p:txBody>
      </p:sp>
      <p:sp>
        <p:nvSpPr>
          <p:cNvPr id="23" name="">
            <a:extLst xmlns:a="http://schemas.openxmlformats.org/drawingml/2006/main">
              <a:ext uri="{FF2B5EF4-FFF2-40B4-BE49-F238E27FC236}">
                <a16:creationId xmlns:a16="http://schemas.microsoft.com/office/drawing/2014/main" id="{2B6CBC9A-85A6-47A6-8EE3-55DBF403F4FF}"/>
              </a:ext>
            </a:extLst>
          </p:cNvPr>
          <p:cNvSpPr>
            <a:spLocks xmlns:a="http://schemas.openxmlformats.org/drawingml/2006/main" noGrp="1"/>
          </p:cNvSpPr>
          <p:nvPr/>
        </p:nvSpPr>
        <p:spPr>
          <a:xfrm xmlns:a="http://schemas.openxmlformats.org/drawingml/2006/main">
            <a:off x="9816084" y="28702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B50D7DA0-6D70-4754-A7E3-82D445BDE523}"/>
              </a:ext>
            </a:extLst>
          </p:cNvPr>
          <p:cNvSpPr>
            <a:spLocks xmlns:a="http://schemas.openxmlformats.org/drawingml/2006/main" noGrp="1"/>
          </p:cNvSpPr>
          <p:nvPr/>
        </p:nvSpPr>
        <p:spPr>
          <a:xfrm xmlns:a="http://schemas.openxmlformats.org/drawingml/2006/main">
            <a:off x="457200" y="3727450"/>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4350168F-3CB0-4F9D-9CA2-4D854C89C6D8}"/>
              </a:ext>
            </a:extLst>
          </p:cNvPr>
          <p:cNvSpPr>
            <a:spLocks xmlns:a="http://schemas.openxmlformats.org/drawingml/2006/main" noGrp="1"/>
          </p:cNvSpPr>
          <p:nvPr/>
        </p:nvSpPr>
        <p:spPr>
          <a:xfrm xmlns:a="http://schemas.openxmlformats.org/drawingml/2006/main">
            <a:off x="457200" y="3727450"/>
            <a:ext cx="4736592"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54ECC61-6649-4367-8F3D-A3F7FDEBACC6}"/>
              </a:ext>
            </a:extLst>
          </p:cNvPr>
          <p:cNvSpPr>
            <a:spLocks xmlns:a="http://schemas.openxmlformats.org/drawingml/2006/main" noGrp="1"/>
          </p:cNvSpPr>
          <p:nvPr/>
        </p:nvSpPr>
        <p:spPr>
          <a:xfrm xmlns:a="http://schemas.openxmlformats.org/drawingml/2006/main">
            <a:off x="457200" y="3727450"/>
            <a:ext cx="28575" cy="8763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1720470-0661-41FC-B8F5-7F00E940A7CF}"/>
              </a:ext>
            </a:extLst>
          </p:cNvPr>
          <p:cNvSpPr>
            <a:spLocks xmlns:a="http://schemas.openxmlformats.org/drawingml/2006/main" noGrp="1"/>
          </p:cNvSpPr>
          <p:nvPr/>
        </p:nvSpPr>
        <p:spPr>
          <a:xfrm xmlns:a="http://schemas.openxmlformats.org/drawingml/2006/main">
            <a:off x="571500" y="38131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SIGNED PILOTS, VEHICLE</a:t>
            </a:r>
          </a:p>
        </p:txBody>
      </p:sp>
      <p:sp>
        <p:nvSpPr>
          <p:cNvPr id="28" name="">
            <a:extLst xmlns:a="http://schemas.openxmlformats.org/drawingml/2006/main">
              <a:ext uri="{FF2B5EF4-FFF2-40B4-BE49-F238E27FC236}">
                <a16:creationId xmlns:a16="http://schemas.microsoft.com/office/drawing/2014/main" id="{ACE165F0-6F2A-46BE-85BB-8A7FAFA67C50}"/>
              </a:ext>
            </a:extLst>
          </p:cNvPr>
          <p:cNvSpPr>
            <a:spLocks xmlns:a="http://schemas.openxmlformats.org/drawingml/2006/main" noGrp="1"/>
          </p:cNvSpPr>
          <p:nvPr/>
        </p:nvSpPr>
        <p:spPr>
          <a:xfrm xmlns:a="http://schemas.openxmlformats.org/drawingml/2006/main">
            <a:off x="4067556" y="380365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Signed pilots, vehicle matrix, telemetry rights, integration partner and baseline protocol.</a:t>
            </a:r>
          </a:p>
        </p:txBody>
      </p:sp>
      <p:sp>
        <p:nvSpPr>
          <p:cNvPr id="29" name="">
            <a:extLst xmlns:a="http://schemas.openxmlformats.org/drawingml/2006/main">
              <a:ext uri="{FF2B5EF4-FFF2-40B4-BE49-F238E27FC236}">
                <a16:creationId xmlns:a16="http://schemas.microsoft.com/office/drawing/2014/main" id="{A34F2166-E2E9-4589-AADB-7C1749E021AD}"/>
              </a:ext>
            </a:extLst>
          </p:cNvPr>
          <p:cNvSpPr>
            <a:spLocks xmlns:a="http://schemas.openxmlformats.org/drawingml/2006/main" noGrp="1"/>
          </p:cNvSpPr>
          <p:nvPr/>
        </p:nvSpPr>
        <p:spPr>
          <a:xfrm xmlns:a="http://schemas.openxmlformats.org/drawingml/2006/main">
            <a:off x="9816084" y="38131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13F73E47-C59D-4E93-A93A-3164017D6808}"/>
              </a:ext>
            </a:extLst>
          </p:cNvPr>
          <p:cNvSpPr>
            <a:spLocks xmlns:a="http://schemas.openxmlformats.org/drawingml/2006/main" noGrp="1"/>
          </p:cNvSpPr>
          <p:nvPr/>
        </p:nvSpPr>
        <p:spPr>
          <a:xfrm xmlns:a="http://schemas.openxmlformats.org/drawingml/2006/main">
            <a:off x="457200" y="4670425"/>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E831C567-2178-476A-A46A-ADE51549AF0C}"/>
              </a:ext>
            </a:extLst>
          </p:cNvPr>
          <p:cNvSpPr>
            <a:spLocks xmlns:a="http://schemas.openxmlformats.org/drawingml/2006/main" noGrp="1"/>
          </p:cNvSpPr>
          <p:nvPr/>
        </p:nvSpPr>
        <p:spPr>
          <a:xfrm xmlns:a="http://schemas.openxmlformats.org/drawingml/2006/main">
            <a:off x="457200" y="4670425"/>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BFAAD13-D691-483F-AB0E-6145C099FB46}"/>
              </a:ext>
            </a:extLst>
          </p:cNvPr>
          <p:cNvSpPr>
            <a:spLocks xmlns:a="http://schemas.openxmlformats.org/drawingml/2006/main" noGrp="1"/>
          </p:cNvSpPr>
          <p:nvPr/>
        </p:nvSpPr>
        <p:spPr>
          <a:xfrm xmlns:a="http://schemas.openxmlformats.org/drawingml/2006/main">
            <a:off x="457200" y="4670425"/>
            <a:ext cx="28575" cy="8763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24A9F21-919D-4E54-9560-277D122A3D17}"/>
              </a:ext>
            </a:extLst>
          </p:cNvPr>
          <p:cNvSpPr>
            <a:spLocks xmlns:a="http://schemas.openxmlformats.org/drawingml/2006/main" noGrp="1"/>
          </p:cNvSpPr>
          <p:nvPr/>
        </p:nvSpPr>
        <p:spPr>
          <a:xfrm xmlns:a="http://schemas.openxmlformats.org/drawingml/2006/main">
            <a:off x="571500" y="47561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17E75114-E675-46BC-8BD7-76D47F4E78F0}"/>
              </a:ext>
            </a:extLst>
          </p:cNvPr>
          <p:cNvSpPr>
            <a:spLocks xmlns:a="http://schemas.openxmlformats.org/drawingml/2006/main" noGrp="1"/>
          </p:cNvSpPr>
          <p:nvPr/>
        </p:nvSpPr>
        <p:spPr>
          <a:xfrm xmlns:a="http://schemas.openxmlformats.org/drawingml/2006/main">
            <a:off x="4067556" y="474662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No production integration by Q2 2027</a:t>
            </a:r>
          </a:p>
        </p:txBody>
      </p:sp>
      <p:sp>
        <p:nvSpPr>
          <p:cNvPr id="35" name="">
            <a:extLst xmlns:a="http://schemas.openxmlformats.org/drawingml/2006/main">
              <a:ext uri="{FF2B5EF4-FFF2-40B4-BE49-F238E27FC236}">
                <a16:creationId xmlns:a16="http://schemas.microsoft.com/office/drawing/2014/main" id="{19DC258E-59B1-4CBB-9DDC-A326819473C5}"/>
              </a:ext>
            </a:extLst>
          </p:cNvPr>
          <p:cNvSpPr>
            <a:spLocks xmlns:a="http://schemas.openxmlformats.org/drawingml/2006/main" noGrp="1"/>
          </p:cNvSpPr>
          <p:nvPr/>
        </p:nvSpPr>
        <p:spPr>
          <a:xfrm xmlns:a="http://schemas.openxmlformats.org/drawingml/2006/main">
            <a:off x="9816084" y="47561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056CBB53-6EC9-4309-B0F8-F6146FC31AFD}"/>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8223756-70F2-4C92-8496-99F292E00CD0}"/>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7B9EC98-75CE-4517-99C3-8C041DC1AB7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4B582127-F3FA-415F-AB44-72878624389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Hold at monitor; require OEM contracts, deployment data and service-capability proof before raising the rating.</a:t>
            </a:r>
          </a:p>
        </p:txBody>
      </p:sp>
      <p:sp>
        <p:nvSpPr>
          <p:cNvPr id="40" name="">
            <a:extLst xmlns:a="http://schemas.openxmlformats.org/drawingml/2006/main">
              <a:ext uri="{FF2B5EF4-FFF2-40B4-BE49-F238E27FC236}">
                <a16:creationId xmlns:a16="http://schemas.microsoft.com/office/drawing/2014/main" id="{D70B07A6-387D-4767-B262-0D87A7B669FD}"/>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082561E8-7439-470C-ADF7-782AA6BCA4E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named OEM contract or deployment record.</a:t>
            </a:r>
          </a:p>
        </p:txBody>
      </p:sp>
      <p:sp>
        <p:nvSpPr>
          <p:cNvPr id="42" name="">
            <a:extLst xmlns:a="http://schemas.openxmlformats.org/drawingml/2006/main">
              <a:ext uri="{FF2B5EF4-FFF2-40B4-BE49-F238E27FC236}">
                <a16:creationId xmlns:a16="http://schemas.microsoft.com/office/drawing/2014/main" id="{954B4B3A-6B97-4D97-B5D8-798DB87AFFF7}"/>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E0DAD5D6-0A10-455D-828D-4EBFBF8FAFE7}"/>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no production integration is evidenced by Q2 2027.</a:t>
            </a:r>
          </a:p>
        </p:txBody>
      </p:sp>
      <p:sp>
        <p:nvSpPr>
          <p:cNvPr id="44" name="">
            <a:extLst xmlns:a="http://schemas.openxmlformats.org/drawingml/2006/main">
              <a:ext uri="{FF2B5EF4-FFF2-40B4-BE49-F238E27FC236}">
                <a16:creationId xmlns:a16="http://schemas.microsoft.com/office/drawing/2014/main" id="{9E0C52DA-2588-44E4-872E-036947F999A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82A7882A-3482-4321-A5CD-EF75B6A11B27}"/>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3BA6C9DA-F54C-4DF3-B970-70404FE9FCC6}"/>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64</a:t>
            </a:r>
          </a:p>
        </p:txBody>
      </p:sp>
    </p:spTree>
    <p:extLst>
      <p:ext uri="{BB962C8B-B14F-4D97-AF65-F5344CB8AC3E}">
        <p14:creationId xmlns:p14="http://schemas.microsoft.com/office/powerpoint/2010/main" val="1606660507"/>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AF55FE87-7E10-4C8A-AE44-5B7D23883A9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CDAC071-83DB-4052-8064-D8E95FAC1BD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65978AE-4D5A-4B8B-A78B-DFA9C0E0D281}"/>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COMPANY PROFILE · P-WARN</a:t>
            </a:r>
          </a:p>
        </p:txBody>
      </p:sp>
      <p:sp>
        <p:nvSpPr>
          <p:cNvPr id="4" name="">
            <a:extLst xmlns:a="http://schemas.openxmlformats.org/drawingml/2006/main">
              <a:ext uri="{FF2B5EF4-FFF2-40B4-BE49-F238E27FC236}">
                <a16:creationId xmlns:a16="http://schemas.microsoft.com/office/drawing/2014/main" id="{E92CB4D4-8D75-4485-B66B-AEDBF250C2AD}"/>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bitsensing</a:t>
            </a:r>
          </a:p>
        </p:txBody>
      </p:sp>
      <p:sp>
        <p:nvSpPr>
          <p:cNvPr id="5" name="">
            <a:extLst xmlns:a="http://schemas.openxmlformats.org/drawingml/2006/main">
              <a:ext uri="{FF2B5EF4-FFF2-40B4-BE49-F238E27FC236}">
                <a16:creationId xmlns:a16="http://schemas.microsoft.com/office/drawing/2014/main" id="{75317FB5-D577-4875-99A4-5B838BD67F2B}"/>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bitsensing Inc.</a:t>
            </a:r>
          </a:p>
        </p:txBody>
      </p:sp>
      <p:sp>
        <p:nvSpPr>
          <p:cNvPr id="6" name="">
            <a:extLst xmlns:a="http://schemas.openxmlformats.org/drawingml/2006/main">
              <a:ext uri="{FF2B5EF4-FFF2-40B4-BE49-F238E27FC236}">
                <a16:creationId xmlns:a16="http://schemas.microsoft.com/office/drawing/2014/main" id="{8CABBCF2-58E5-40EA-B97B-A8BBA51C0150}"/>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903C2F1-062F-4D4C-94A3-4BCF911AAA51}"/>
              </a:ext>
            </a:extLst>
          </p:cNvPr>
          <p:cNvSpPr>
            <a:spLocks xmlns:a="http://schemas.openxmlformats.org/drawingml/2006/main" noGrp="1"/>
          </p:cNvSpPr>
          <p:nvPr/>
        </p:nvSpPr>
        <p:spPr>
          <a:xfrm xmlns:a="http://schemas.openxmlformats.org/drawingml/2006/main">
            <a:off x="45720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508905DF-A4AA-443C-82AF-F527CA0C4DCB}"/>
              </a:ext>
            </a:extLst>
          </p:cNvPr>
          <p:cNvSpPr>
            <a:spLocks xmlns:a="http://schemas.openxmlformats.org/drawingml/2006/main" noGrp="1"/>
          </p:cNvSpPr>
          <p:nvPr/>
        </p:nvSpPr>
        <p:spPr>
          <a:xfrm xmlns:a="http://schemas.openxmlformats.org/drawingml/2006/main">
            <a:off x="45720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2ABCF6D-F2DD-400C-851B-8C3742334BAE}"/>
              </a:ext>
            </a:extLst>
          </p:cNvPr>
          <p:cNvSpPr>
            <a:spLocks xmlns:a="http://schemas.openxmlformats.org/drawingml/2006/main" noGrp="1"/>
          </p:cNvSpPr>
          <p:nvPr/>
        </p:nvSpPr>
        <p:spPr>
          <a:xfrm xmlns:a="http://schemas.openxmlformats.org/drawingml/2006/main">
            <a:off x="57150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FOUNDED</a:t>
            </a:r>
          </a:p>
        </p:txBody>
      </p:sp>
      <p:sp>
        <p:nvSpPr>
          <p:cNvPr id="10" name="">
            <a:extLst xmlns:a="http://schemas.openxmlformats.org/drawingml/2006/main">
              <a:ext uri="{FF2B5EF4-FFF2-40B4-BE49-F238E27FC236}">
                <a16:creationId xmlns:a16="http://schemas.microsoft.com/office/drawing/2014/main" id="{4E834909-CE0D-4346-9D1B-000B6285990A}"/>
              </a:ext>
            </a:extLst>
          </p:cNvPr>
          <p:cNvSpPr>
            <a:spLocks xmlns:a="http://schemas.openxmlformats.org/drawingml/2006/main" noGrp="1"/>
          </p:cNvSpPr>
          <p:nvPr/>
        </p:nvSpPr>
        <p:spPr>
          <a:xfrm xmlns:a="http://schemas.openxmlformats.org/drawingml/2006/main">
            <a:off x="57150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2018</a:t>
            </a:r>
          </a:p>
        </p:txBody>
      </p:sp>
      <p:sp>
        <p:nvSpPr>
          <p:cNvPr id="11" name="">
            <a:extLst xmlns:a="http://schemas.openxmlformats.org/drawingml/2006/main">
              <a:ext uri="{FF2B5EF4-FFF2-40B4-BE49-F238E27FC236}">
                <a16:creationId xmlns:a16="http://schemas.microsoft.com/office/drawing/2014/main" id="{B85555AC-CBD4-4CD7-BE0C-0B67D6DF9DF4}"/>
              </a:ext>
            </a:extLst>
          </p:cNvPr>
          <p:cNvSpPr>
            <a:spLocks xmlns:a="http://schemas.openxmlformats.org/drawingml/2006/main" noGrp="1"/>
          </p:cNvSpPr>
          <p:nvPr/>
        </p:nvSpPr>
        <p:spPr>
          <a:xfrm xmlns:a="http://schemas.openxmlformats.org/drawingml/2006/main">
            <a:off x="57150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CEO Jae-Eun Lee</a:t>
            </a:r>
          </a:p>
        </p:txBody>
      </p:sp>
      <p:sp>
        <p:nvSpPr>
          <p:cNvPr id="12" name="">
            <a:extLst xmlns:a="http://schemas.openxmlformats.org/drawingml/2006/main">
              <a:ext uri="{FF2B5EF4-FFF2-40B4-BE49-F238E27FC236}">
                <a16:creationId xmlns:a16="http://schemas.microsoft.com/office/drawing/2014/main" id="{94395B87-FF0D-44CF-BC08-692D0ABE48BB}"/>
              </a:ext>
            </a:extLst>
          </p:cNvPr>
          <p:cNvSpPr>
            <a:spLocks xmlns:a="http://schemas.openxmlformats.org/drawingml/2006/main" noGrp="1"/>
          </p:cNvSpPr>
          <p:nvPr/>
        </p:nvSpPr>
        <p:spPr>
          <a:xfrm xmlns:a="http://schemas.openxmlformats.org/drawingml/2006/main">
            <a:off x="3305175"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36AF7BE4-C350-48B9-A24C-7FCEB691FA10}"/>
              </a:ext>
            </a:extLst>
          </p:cNvPr>
          <p:cNvSpPr>
            <a:spLocks xmlns:a="http://schemas.openxmlformats.org/drawingml/2006/main" noGrp="1"/>
          </p:cNvSpPr>
          <p:nvPr/>
        </p:nvSpPr>
        <p:spPr>
          <a:xfrm xmlns:a="http://schemas.openxmlformats.org/drawingml/2006/main">
            <a:off x="3305175"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3BBF635-46BC-444A-B620-569E50089B7E}"/>
              </a:ext>
            </a:extLst>
          </p:cNvPr>
          <p:cNvSpPr>
            <a:spLocks xmlns:a="http://schemas.openxmlformats.org/drawingml/2006/main" noGrp="1"/>
          </p:cNvSpPr>
          <p:nvPr/>
        </p:nvSpPr>
        <p:spPr>
          <a:xfrm xmlns:a="http://schemas.openxmlformats.org/drawingml/2006/main">
            <a:off x="341947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HEADQUARTERS</a:t>
            </a:r>
          </a:p>
        </p:txBody>
      </p:sp>
      <p:sp>
        <p:nvSpPr>
          <p:cNvPr id="15" name="">
            <a:extLst xmlns:a="http://schemas.openxmlformats.org/drawingml/2006/main">
              <a:ext uri="{FF2B5EF4-FFF2-40B4-BE49-F238E27FC236}">
                <a16:creationId xmlns:a16="http://schemas.microsoft.com/office/drawing/2014/main" id="{B29E348A-05D2-402D-81F8-1D064D0FDF82}"/>
              </a:ext>
            </a:extLst>
          </p:cNvPr>
          <p:cNvSpPr>
            <a:spLocks xmlns:a="http://schemas.openxmlformats.org/drawingml/2006/main" noGrp="1"/>
          </p:cNvSpPr>
          <p:nvPr/>
        </p:nvSpPr>
        <p:spPr>
          <a:xfrm xmlns:a="http://schemas.openxmlformats.org/drawingml/2006/main">
            <a:off x="341947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Seongnam, South Korea</a:t>
            </a:r>
          </a:p>
        </p:txBody>
      </p:sp>
      <p:sp>
        <p:nvSpPr>
          <p:cNvPr id="16" name="">
            <a:extLst xmlns:a="http://schemas.openxmlformats.org/drawingml/2006/main">
              <a:ext uri="{FF2B5EF4-FFF2-40B4-BE49-F238E27FC236}">
                <a16:creationId xmlns:a16="http://schemas.microsoft.com/office/drawing/2014/main" id="{69E9C55C-5E92-41C9-82B2-D4BDF125BF00}"/>
              </a:ext>
            </a:extLst>
          </p:cNvPr>
          <p:cNvSpPr>
            <a:spLocks xmlns:a="http://schemas.openxmlformats.org/drawingml/2006/main" noGrp="1"/>
          </p:cNvSpPr>
          <p:nvPr/>
        </p:nvSpPr>
        <p:spPr>
          <a:xfrm xmlns:a="http://schemas.openxmlformats.org/drawingml/2006/main">
            <a:off x="615315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AC2B97D5-DAA8-42E7-A939-80B9CE43157C}"/>
              </a:ext>
            </a:extLst>
          </p:cNvPr>
          <p:cNvSpPr>
            <a:spLocks xmlns:a="http://schemas.openxmlformats.org/drawingml/2006/main" noGrp="1"/>
          </p:cNvSpPr>
          <p:nvPr/>
        </p:nvSpPr>
        <p:spPr>
          <a:xfrm xmlns:a="http://schemas.openxmlformats.org/drawingml/2006/main">
            <a:off x="615315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B436EED-AD98-4087-B364-B42E4A6DAD1A}"/>
              </a:ext>
            </a:extLst>
          </p:cNvPr>
          <p:cNvSpPr>
            <a:spLocks xmlns:a="http://schemas.openxmlformats.org/drawingml/2006/main" noGrp="1"/>
          </p:cNvSpPr>
          <p:nvPr/>
        </p:nvSpPr>
        <p:spPr>
          <a:xfrm xmlns:a="http://schemas.openxmlformats.org/drawingml/2006/main">
            <a:off x="626745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19" name="">
            <a:extLst xmlns:a="http://schemas.openxmlformats.org/drawingml/2006/main">
              <a:ext uri="{FF2B5EF4-FFF2-40B4-BE49-F238E27FC236}">
                <a16:creationId xmlns:a16="http://schemas.microsoft.com/office/drawing/2014/main" id="{931BB00D-72F1-499B-8FC2-905DB705578A}"/>
              </a:ext>
            </a:extLst>
          </p:cNvPr>
          <p:cNvSpPr>
            <a:spLocks xmlns:a="http://schemas.openxmlformats.org/drawingml/2006/main" noGrp="1"/>
          </p:cNvSpPr>
          <p:nvPr/>
        </p:nvSpPr>
        <p:spPr>
          <a:xfrm xmlns:a="http://schemas.openxmlformats.org/drawingml/2006/main">
            <a:off x="626745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PRIVATE</a:t>
            </a:r>
          </a:p>
        </p:txBody>
      </p:sp>
      <p:sp>
        <p:nvSpPr>
          <p:cNvPr id="20" name="">
            <a:extLst xmlns:a="http://schemas.openxmlformats.org/drawingml/2006/main">
              <a:ext uri="{FF2B5EF4-FFF2-40B4-BE49-F238E27FC236}">
                <a16:creationId xmlns:a16="http://schemas.microsoft.com/office/drawing/2014/main" id="{38CAFBE0-C9DF-475D-987D-C72A31813ABA}"/>
              </a:ext>
            </a:extLst>
          </p:cNvPr>
          <p:cNvSpPr>
            <a:spLocks xmlns:a="http://schemas.openxmlformats.org/drawingml/2006/main" noGrp="1"/>
          </p:cNvSpPr>
          <p:nvPr/>
        </p:nvSpPr>
        <p:spPr>
          <a:xfrm xmlns:a="http://schemas.openxmlformats.org/drawingml/2006/main">
            <a:off x="626745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NXP radar partnership since Dec 2024</a:t>
            </a:r>
          </a:p>
        </p:txBody>
      </p:sp>
      <p:sp>
        <p:nvSpPr>
          <p:cNvPr id="21" name="">
            <a:extLst xmlns:a="http://schemas.openxmlformats.org/drawingml/2006/main">
              <a:ext uri="{FF2B5EF4-FFF2-40B4-BE49-F238E27FC236}">
                <a16:creationId xmlns:a16="http://schemas.microsoft.com/office/drawing/2014/main" id="{844AC925-6CDA-4705-9083-9807111BF609}"/>
              </a:ext>
            </a:extLst>
          </p:cNvPr>
          <p:cNvSpPr>
            <a:spLocks xmlns:a="http://schemas.openxmlformats.org/drawingml/2006/main" noGrp="1"/>
          </p:cNvSpPr>
          <p:nvPr/>
        </p:nvSpPr>
        <p:spPr>
          <a:xfrm xmlns:a="http://schemas.openxmlformats.org/drawingml/2006/main">
            <a:off x="9001125" y="1085850"/>
            <a:ext cx="2733675" cy="800100"/>
          </a:xfrm>
          <a:prstGeom xmlns:a="http://schemas.openxmlformats.org/drawingml/2006/main" prst="rect">
            <a:avLst/>
          </a:prstGeom>
          <a:solidFill xmlns:a="http://schemas.openxmlformats.org/drawingml/2006/main">
            <a:srgbClr val="16243A"/>
          </a:solidFill>
          <a:ln xmlns:a="http://schemas.openxmlformats.org/drawingml/2006/main" w="9525">
            <a:solidFill>
              <a:srgbClr val="1A2F45"/>
            </a:solidFill>
            <a:prstDash val="solid"/>
          </a:ln>
        </p:spPr>
      </p:sp>
      <p:sp>
        <p:nvSpPr>
          <p:cNvPr id="22" name="">
            <a:extLst xmlns:a="http://schemas.openxmlformats.org/drawingml/2006/main">
              <a:ext uri="{FF2B5EF4-FFF2-40B4-BE49-F238E27FC236}">
                <a16:creationId xmlns:a16="http://schemas.microsoft.com/office/drawing/2014/main" id="{1D4C04D3-2C3F-4649-952B-70DFABB913CE}"/>
              </a:ext>
            </a:extLst>
          </p:cNvPr>
          <p:cNvSpPr>
            <a:spLocks xmlns:a="http://schemas.openxmlformats.org/drawingml/2006/main" noGrp="1"/>
          </p:cNvSpPr>
          <p:nvPr/>
        </p:nvSpPr>
        <p:spPr>
          <a:xfrm xmlns:a="http://schemas.openxmlformats.org/drawingml/2006/main">
            <a:off x="9001125" y="1085850"/>
            <a:ext cx="2733675"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41FF23D-3E69-439B-B13E-C0A2BDA4741F}"/>
              </a:ext>
            </a:extLst>
          </p:cNvPr>
          <p:cNvSpPr>
            <a:spLocks xmlns:a="http://schemas.openxmlformats.org/drawingml/2006/main" noGrp="1"/>
          </p:cNvSpPr>
          <p:nvPr/>
        </p:nvSpPr>
        <p:spPr>
          <a:xfrm xmlns:a="http://schemas.openxmlformats.org/drawingml/2006/main">
            <a:off x="911542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CAPITAL</a:t>
            </a:r>
          </a:p>
        </p:txBody>
      </p:sp>
      <p:sp>
        <p:nvSpPr>
          <p:cNvPr id="24" name="">
            <a:extLst xmlns:a="http://schemas.openxmlformats.org/drawingml/2006/main">
              <a:ext uri="{FF2B5EF4-FFF2-40B4-BE49-F238E27FC236}">
                <a16:creationId xmlns:a16="http://schemas.microsoft.com/office/drawing/2014/main" id="{9BE477BB-813E-4562-9A9E-B14C9FE874C0}"/>
              </a:ext>
            </a:extLst>
          </p:cNvPr>
          <p:cNvSpPr>
            <a:spLocks xmlns:a="http://schemas.openxmlformats.org/drawingml/2006/main" noGrp="1"/>
          </p:cNvSpPr>
          <p:nvPr/>
        </p:nvSpPr>
        <p:spPr>
          <a:xfrm xmlns:a="http://schemas.openxmlformats.org/drawingml/2006/main">
            <a:off x="911542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D7720B"/>
                </a:solidFill>
                <a:latin typeface="Arial"/>
                <a:ea typeface="Arial"/>
                <a:cs typeface="Arial"/>
              </a:defRPr>
            </a:pPr>
            <a:r>
              <a:t>$42m raised</a:t>
            </a:r>
          </a:p>
        </p:txBody>
      </p:sp>
      <p:sp>
        <p:nvSpPr>
          <p:cNvPr id="25" name="">
            <a:extLst xmlns:a="http://schemas.openxmlformats.org/drawingml/2006/main">
              <a:ext uri="{FF2B5EF4-FFF2-40B4-BE49-F238E27FC236}">
                <a16:creationId xmlns:a16="http://schemas.microsoft.com/office/drawing/2014/main" id="{8C587201-E10C-4316-9244-28E8AF44CE06}"/>
              </a:ext>
            </a:extLst>
          </p:cNvPr>
          <p:cNvSpPr>
            <a:spLocks xmlns:a="http://schemas.openxmlformats.org/drawingml/2006/main" noGrp="1"/>
          </p:cNvSpPr>
          <p:nvPr/>
        </p:nvSpPr>
        <p:spPr>
          <a:xfrm xmlns:a="http://schemas.openxmlformats.org/drawingml/2006/main">
            <a:off x="9115425"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as of 5 rounds, 18 investors</a:t>
            </a:r>
          </a:p>
        </p:txBody>
      </p:sp>
      <p:sp>
        <p:nvSpPr>
          <p:cNvPr id="26" name="">
            <a:extLst xmlns:a="http://schemas.openxmlformats.org/drawingml/2006/main">
              <a:ext uri="{FF2B5EF4-FFF2-40B4-BE49-F238E27FC236}">
                <a16:creationId xmlns:a16="http://schemas.microsoft.com/office/drawing/2014/main" id="{E54E4DB6-2E3E-46E7-A306-8FF3109D385C}"/>
              </a:ext>
            </a:extLst>
          </p:cNvPr>
          <p:cNvSpPr>
            <a:spLocks xmlns:a="http://schemas.openxmlformats.org/drawingml/2006/main" noGrp="1"/>
          </p:cNvSpPr>
          <p:nvPr/>
        </p:nvSpPr>
        <p:spPr>
          <a:xfrm xmlns:a="http://schemas.openxmlformats.org/drawingml/2006/main">
            <a:off x="4572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PEOPLE</a:t>
            </a:r>
          </a:p>
        </p:txBody>
      </p:sp>
      <p:sp>
        <p:nvSpPr>
          <p:cNvPr id="27" name="">
            <a:extLst xmlns:a="http://schemas.openxmlformats.org/drawingml/2006/main">
              <a:ext uri="{FF2B5EF4-FFF2-40B4-BE49-F238E27FC236}">
                <a16:creationId xmlns:a16="http://schemas.microsoft.com/office/drawing/2014/main" id="{07260CF1-B484-46A2-9075-16C216F1D040}"/>
              </a:ext>
            </a:extLst>
          </p:cNvPr>
          <p:cNvSpPr>
            <a:spLocks xmlns:a="http://schemas.openxmlformats.org/drawingml/2006/main" noGrp="1"/>
          </p:cNvSpPr>
          <p:nvPr/>
        </p:nvSpPr>
        <p:spPr>
          <a:xfrm xmlns:a="http://schemas.openxmlformats.org/drawingml/2006/main">
            <a:off x="4572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28" name="">
            <a:extLst xmlns:a="http://schemas.openxmlformats.org/drawingml/2006/main">
              <a:ext uri="{FF2B5EF4-FFF2-40B4-BE49-F238E27FC236}">
                <a16:creationId xmlns:a16="http://schemas.microsoft.com/office/drawing/2014/main" id="{DD9FC2BF-B9E8-4558-A311-6C72C612C62B}"/>
              </a:ext>
            </a:extLst>
          </p:cNvPr>
          <p:cNvSpPr>
            <a:spLocks xmlns:a="http://schemas.openxmlformats.org/drawingml/2006/main" noGrp="1"/>
          </p:cNvSpPr>
          <p:nvPr/>
        </p:nvSpPr>
        <p:spPr>
          <a:xfrm xmlns:a="http://schemas.openxmlformats.org/drawingml/2006/main">
            <a:off x="42545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VALUE MOVE</a:t>
            </a:r>
          </a:p>
        </p:txBody>
      </p:sp>
      <p:sp>
        <p:nvSpPr>
          <p:cNvPr id="29" name="">
            <a:extLst xmlns:a="http://schemas.openxmlformats.org/drawingml/2006/main">
              <a:ext uri="{FF2B5EF4-FFF2-40B4-BE49-F238E27FC236}">
                <a16:creationId xmlns:a16="http://schemas.microsoft.com/office/drawing/2014/main" id="{4BCCD6CF-2188-42B6-BDB5-F5206C10A00F}"/>
              </a:ext>
            </a:extLst>
          </p:cNvPr>
          <p:cNvSpPr>
            <a:spLocks xmlns:a="http://schemas.openxmlformats.org/drawingml/2006/main" noGrp="1"/>
          </p:cNvSpPr>
          <p:nvPr/>
        </p:nvSpPr>
        <p:spPr>
          <a:xfrm xmlns:a="http://schemas.openxmlformats.org/drawingml/2006/main">
            <a:off x="42545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led by HL Mando</a:t>
            </a:r>
          </a:p>
        </p:txBody>
      </p:sp>
      <p:sp>
        <p:nvSpPr>
          <p:cNvPr id="30" name="">
            <a:extLst xmlns:a="http://schemas.openxmlformats.org/drawingml/2006/main">
              <a:ext uri="{FF2B5EF4-FFF2-40B4-BE49-F238E27FC236}">
                <a16:creationId xmlns:a16="http://schemas.microsoft.com/office/drawing/2014/main" id="{5F09B497-EC47-4B13-94B2-81943BFD98C9}"/>
              </a:ext>
            </a:extLst>
          </p:cNvPr>
          <p:cNvSpPr>
            <a:spLocks xmlns:a="http://schemas.openxmlformats.org/drawingml/2006/main" noGrp="1"/>
          </p:cNvSpPr>
          <p:nvPr/>
        </p:nvSpPr>
        <p:spPr>
          <a:xfrm xmlns:a="http://schemas.openxmlformats.org/drawingml/2006/main">
            <a:off x="80518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PARENT / BACKING</a:t>
            </a:r>
          </a:p>
        </p:txBody>
      </p:sp>
      <p:sp>
        <p:nvSpPr>
          <p:cNvPr id="31" name="">
            <a:extLst xmlns:a="http://schemas.openxmlformats.org/drawingml/2006/main">
              <a:ext uri="{FF2B5EF4-FFF2-40B4-BE49-F238E27FC236}">
                <a16:creationId xmlns:a16="http://schemas.microsoft.com/office/drawing/2014/main" id="{EF4658D9-8E52-4A8E-8A90-647607C8646C}"/>
              </a:ext>
            </a:extLst>
          </p:cNvPr>
          <p:cNvSpPr>
            <a:spLocks xmlns:a="http://schemas.openxmlformats.org/drawingml/2006/main" noGrp="1"/>
          </p:cNvSpPr>
          <p:nvPr/>
        </p:nvSpPr>
        <p:spPr>
          <a:xfrm xmlns:a="http://schemas.openxmlformats.org/drawingml/2006/main">
            <a:off x="80518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32" name="">
            <a:extLst xmlns:a="http://schemas.openxmlformats.org/drawingml/2006/main">
              <a:ext uri="{FF2B5EF4-FFF2-40B4-BE49-F238E27FC236}">
                <a16:creationId xmlns:a16="http://schemas.microsoft.com/office/drawing/2014/main" id="{5F95E777-C7C2-49DC-886C-677F5DC27C82}"/>
              </a:ext>
            </a:extLst>
          </p:cNvPr>
          <p:cNvSpPr>
            <a:spLocks xmlns:a="http://schemas.openxmlformats.org/drawingml/2006/main" noGrp="1"/>
          </p:cNvSpPr>
          <p:nvPr/>
        </p:nvSpPr>
        <p:spPr>
          <a:xfrm xmlns:a="http://schemas.openxmlformats.org/drawingml/2006/main">
            <a:off x="457200" y="24574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93CA3FC-805F-4CB0-94BB-DEE131EE5E8E}"/>
              </a:ext>
            </a:extLst>
          </p:cNvPr>
          <p:cNvSpPr>
            <a:spLocks xmlns:a="http://schemas.openxmlformats.org/drawingml/2006/main" noGrp="1"/>
          </p:cNvSpPr>
          <p:nvPr/>
        </p:nvSpPr>
        <p:spPr>
          <a:xfrm xmlns:a="http://schemas.openxmlformats.org/drawingml/2006/main">
            <a:off x="457200" y="257175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WHAT IT SELLS</a:t>
            </a:r>
          </a:p>
        </p:txBody>
      </p:sp>
      <p:sp>
        <p:nvSpPr>
          <p:cNvPr id="34" name="">
            <a:extLst xmlns:a="http://schemas.openxmlformats.org/drawingml/2006/main">
              <a:ext uri="{FF2B5EF4-FFF2-40B4-BE49-F238E27FC236}">
                <a16:creationId xmlns:a16="http://schemas.microsoft.com/office/drawing/2014/main" id="{32821A96-B290-4D4B-A1DA-85723566FB78}"/>
              </a:ext>
            </a:extLst>
          </p:cNvPr>
          <p:cNvSpPr>
            <a:spLocks xmlns:a="http://schemas.openxmlformats.org/drawingml/2006/main" noGrp="1"/>
          </p:cNvSpPr>
          <p:nvPr/>
        </p:nvSpPr>
        <p:spPr>
          <a:xfrm xmlns:a="http://schemas.openxmlformats.org/drawingml/2006/main">
            <a:off x="457200" y="2733675"/>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Imaging radar and sensor fusion; India retrofit ADAS kit (Feb 2026) via IKIO channel MoU</a:t>
            </a:r>
          </a:p>
        </p:txBody>
      </p:sp>
      <p:sp>
        <p:nvSpPr>
          <p:cNvPr id="35" name="">
            <a:extLst xmlns:a="http://schemas.openxmlformats.org/drawingml/2006/main">
              <a:ext uri="{FF2B5EF4-FFF2-40B4-BE49-F238E27FC236}">
                <a16:creationId xmlns:a16="http://schemas.microsoft.com/office/drawing/2014/main" id="{78B5153E-42BA-4C2B-AFAF-5F22F7078228}"/>
              </a:ext>
            </a:extLst>
          </p:cNvPr>
          <p:cNvSpPr>
            <a:spLocks xmlns:a="http://schemas.openxmlformats.org/drawingml/2006/main" noGrp="1"/>
          </p:cNvSpPr>
          <p:nvPr/>
        </p:nvSpPr>
        <p:spPr>
          <a:xfrm xmlns:a="http://schemas.openxmlformats.org/drawingml/2006/main">
            <a:off x="4572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3FBD16B-C8B8-4612-BBFE-E59ED3CAF240}"/>
              </a:ext>
            </a:extLst>
          </p:cNvPr>
          <p:cNvSpPr>
            <a:spLocks xmlns:a="http://schemas.openxmlformats.org/drawingml/2006/main" noGrp="1"/>
          </p:cNvSpPr>
          <p:nvPr/>
        </p:nvSpPr>
        <p:spPr>
          <a:xfrm xmlns:a="http://schemas.openxmlformats.org/drawingml/2006/main">
            <a:off x="5715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SERIES B</a:t>
            </a:r>
          </a:p>
        </p:txBody>
      </p:sp>
      <p:sp>
        <p:nvSpPr>
          <p:cNvPr id="37" name="">
            <a:extLst xmlns:a="http://schemas.openxmlformats.org/drawingml/2006/main">
              <a:ext uri="{FF2B5EF4-FFF2-40B4-BE49-F238E27FC236}">
                <a16:creationId xmlns:a16="http://schemas.microsoft.com/office/drawing/2014/main" id="{7B705F3D-2B29-4098-90FD-AAC08685800A}"/>
              </a:ext>
            </a:extLst>
          </p:cNvPr>
          <p:cNvSpPr>
            <a:spLocks xmlns:a="http://schemas.openxmlformats.org/drawingml/2006/main" noGrp="1"/>
          </p:cNvSpPr>
          <p:nvPr/>
        </p:nvSpPr>
        <p:spPr>
          <a:xfrm xmlns:a="http://schemas.openxmlformats.org/drawingml/2006/main">
            <a:off x="20574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$25m (KRW 35bn), April 2026, led by HL Mando</a:t>
            </a:r>
          </a:p>
        </p:txBody>
      </p:sp>
      <p:sp>
        <p:nvSpPr>
          <p:cNvPr id="38" name="">
            <a:extLst xmlns:a="http://schemas.openxmlformats.org/drawingml/2006/main">
              <a:ext uri="{FF2B5EF4-FFF2-40B4-BE49-F238E27FC236}">
                <a16:creationId xmlns:a16="http://schemas.microsoft.com/office/drawing/2014/main" id="{53B98353-2AA0-4F49-BC18-2ECD7270CD9F}"/>
              </a:ext>
            </a:extLst>
          </p:cNvPr>
          <p:cNvSpPr>
            <a:spLocks xmlns:a="http://schemas.openxmlformats.org/drawingml/2006/main" noGrp="1"/>
          </p:cNvSpPr>
          <p:nvPr/>
        </p:nvSpPr>
        <p:spPr>
          <a:xfrm xmlns:a="http://schemas.openxmlformats.org/drawingml/2006/main">
            <a:off x="62103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46BC2AAB-4B2A-4DCF-B7AD-4FFE530ECDA8}"/>
              </a:ext>
            </a:extLst>
          </p:cNvPr>
          <p:cNvSpPr>
            <a:spLocks xmlns:a="http://schemas.openxmlformats.org/drawingml/2006/main" noGrp="1"/>
          </p:cNvSpPr>
          <p:nvPr/>
        </p:nvSpPr>
        <p:spPr>
          <a:xfrm xmlns:a="http://schemas.openxmlformats.org/drawingml/2006/main">
            <a:off x="63246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TOTAL RAISED</a:t>
            </a:r>
          </a:p>
        </p:txBody>
      </p:sp>
      <p:sp>
        <p:nvSpPr>
          <p:cNvPr id="40" name="">
            <a:extLst xmlns:a="http://schemas.openxmlformats.org/drawingml/2006/main">
              <a:ext uri="{FF2B5EF4-FFF2-40B4-BE49-F238E27FC236}">
                <a16:creationId xmlns:a16="http://schemas.microsoft.com/office/drawing/2014/main" id="{866AC22E-1E68-400F-91C6-F6A40DBAD005}"/>
              </a:ext>
            </a:extLst>
          </p:cNvPr>
          <p:cNvSpPr>
            <a:spLocks xmlns:a="http://schemas.openxmlformats.org/drawingml/2006/main" noGrp="1"/>
          </p:cNvSpPr>
          <p:nvPr/>
        </p:nvSpPr>
        <p:spPr>
          <a:xfrm xmlns:a="http://schemas.openxmlformats.org/drawingml/2006/main">
            <a:off x="78105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~$42m across 5 rounds from 18 investors</a:t>
            </a:r>
          </a:p>
        </p:txBody>
      </p:sp>
      <p:sp>
        <p:nvSpPr>
          <p:cNvPr id="41" name="">
            <a:extLst xmlns:a="http://schemas.openxmlformats.org/drawingml/2006/main">
              <a:ext uri="{FF2B5EF4-FFF2-40B4-BE49-F238E27FC236}">
                <a16:creationId xmlns:a16="http://schemas.microsoft.com/office/drawing/2014/main" id="{42BDB3B4-CD3B-4A9F-B050-C351195ED770}"/>
              </a:ext>
            </a:extLst>
          </p:cNvPr>
          <p:cNvSpPr>
            <a:spLocks xmlns:a="http://schemas.openxmlformats.org/drawingml/2006/main" noGrp="1"/>
          </p:cNvSpPr>
          <p:nvPr/>
        </p:nvSpPr>
        <p:spPr>
          <a:xfrm xmlns:a="http://schemas.openxmlformats.org/drawingml/2006/main">
            <a:off x="4572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1C4B0008-70FC-490A-9CA2-E81917B91F9B}"/>
              </a:ext>
            </a:extLst>
          </p:cNvPr>
          <p:cNvSpPr>
            <a:spLocks xmlns:a="http://schemas.openxmlformats.org/drawingml/2006/main" noGrp="1"/>
          </p:cNvSpPr>
          <p:nvPr/>
        </p:nvSpPr>
        <p:spPr>
          <a:xfrm xmlns:a="http://schemas.openxmlformats.org/drawingml/2006/main">
            <a:off x="5715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SILICON PARTNER</a:t>
            </a:r>
          </a:p>
        </p:txBody>
      </p:sp>
      <p:sp>
        <p:nvSpPr>
          <p:cNvPr id="43" name="">
            <a:extLst xmlns:a="http://schemas.openxmlformats.org/drawingml/2006/main">
              <a:ext uri="{FF2B5EF4-FFF2-40B4-BE49-F238E27FC236}">
                <a16:creationId xmlns:a16="http://schemas.microsoft.com/office/drawing/2014/main" id="{7F8375B5-5972-4D10-AFEA-1EDECBCB96F1}"/>
              </a:ext>
            </a:extLst>
          </p:cNvPr>
          <p:cNvSpPr>
            <a:spLocks xmlns:a="http://schemas.openxmlformats.org/drawingml/2006/main" noGrp="1"/>
          </p:cNvSpPr>
          <p:nvPr/>
        </p:nvSpPr>
        <p:spPr>
          <a:xfrm xmlns:a="http://schemas.openxmlformats.org/drawingml/2006/main">
            <a:off x="20574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NXP — scalable radar across industries</a:t>
            </a:r>
          </a:p>
        </p:txBody>
      </p:sp>
      <p:sp>
        <p:nvSpPr>
          <p:cNvPr id="44" name="">
            <a:extLst xmlns:a="http://schemas.openxmlformats.org/drawingml/2006/main">
              <a:ext uri="{FF2B5EF4-FFF2-40B4-BE49-F238E27FC236}">
                <a16:creationId xmlns:a16="http://schemas.microsoft.com/office/drawing/2014/main" id="{04B39F38-2C9E-42F0-BC59-D60A40A1E545}"/>
              </a:ext>
            </a:extLst>
          </p:cNvPr>
          <p:cNvSpPr>
            <a:spLocks xmlns:a="http://schemas.openxmlformats.org/drawingml/2006/main" noGrp="1"/>
          </p:cNvSpPr>
          <p:nvPr/>
        </p:nvSpPr>
        <p:spPr>
          <a:xfrm xmlns:a="http://schemas.openxmlformats.org/drawingml/2006/main">
            <a:off x="62103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14892AAB-30AD-472D-AAD2-7FAABCD2444C}"/>
              </a:ext>
            </a:extLst>
          </p:cNvPr>
          <p:cNvSpPr>
            <a:spLocks xmlns:a="http://schemas.openxmlformats.org/drawingml/2006/main" noGrp="1"/>
          </p:cNvSpPr>
          <p:nvPr/>
        </p:nvSpPr>
        <p:spPr>
          <a:xfrm xmlns:a="http://schemas.openxmlformats.org/drawingml/2006/main">
            <a:off x="63246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INDIA ROUTE</a:t>
            </a:r>
          </a:p>
        </p:txBody>
      </p:sp>
      <p:sp>
        <p:nvSpPr>
          <p:cNvPr id="46" name="">
            <a:extLst xmlns:a="http://schemas.openxmlformats.org/drawingml/2006/main">
              <a:ext uri="{FF2B5EF4-FFF2-40B4-BE49-F238E27FC236}">
                <a16:creationId xmlns:a16="http://schemas.microsoft.com/office/drawing/2014/main" id="{C5B51D6C-CFB8-46D8-9D98-B300EEAF12BA}"/>
              </a:ext>
            </a:extLst>
          </p:cNvPr>
          <p:cNvSpPr>
            <a:spLocks xmlns:a="http://schemas.openxmlformats.org/drawingml/2006/main" noGrp="1"/>
          </p:cNvSpPr>
          <p:nvPr/>
        </p:nvSpPr>
        <p:spPr>
          <a:xfrm xmlns:a="http://schemas.openxmlformats.org/drawingml/2006/main">
            <a:off x="78105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Retrofit kit Feb 2026 · IKIO channel MoU</a:t>
            </a:r>
          </a:p>
        </p:txBody>
      </p:sp>
      <p:sp>
        <p:nvSpPr>
          <p:cNvPr id="47" name="">
            <a:extLst xmlns:a="http://schemas.openxmlformats.org/drawingml/2006/main">
              <a:ext uri="{FF2B5EF4-FFF2-40B4-BE49-F238E27FC236}">
                <a16:creationId xmlns:a16="http://schemas.microsoft.com/office/drawing/2014/main" id="{BA33E315-BB77-4B09-9160-68AAB881B923}"/>
              </a:ext>
            </a:extLst>
          </p:cNvPr>
          <p:cNvSpPr>
            <a:spLocks xmlns:a="http://schemas.openxmlformats.org/drawingml/2006/main" noGrp="1"/>
          </p:cNvSpPr>
          <p:nvPr/>
        </p:nvSpPr>
        <p:spPr>
          <a:xfrm xmlns:a="http://schemas.openxmlformats.org/drawingml/2006/main">
            <a:off x="4572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27AD58F9-2B1D-4DA3-939F-2C8FF54384FB}"/>
              </a:ext>
            </a:extLst>
          </p:cNvPr>
          <p:cNvSpPr>
            <a:spLocks xmlns:a="http://schemas.openxmlformats.org/drawingml/2006/main" noGrp="1"/>
          </p:cNvSpPr>
          <p:nvPr/>
        </p:nvSpPr>
        <p:spPr>
          <a:xfrm xmlns:a="http://schemas.openxmlformats.org/drawingml/2006/main">
            <a:off x="5715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INSTALL TIME</a:t>
            </a:r>
          </a:p>
        </p:txBody>
      </p:sp>
      <p:sp>
        <p:nvSpPr>
          <p:cNvPr id="49" name="">
            <a:extLst xmlns:a="http://schemas.openxmlformats.org/drawingml/2006/main">
              <a:ext uri="{FF2B5EF4-FFF2-40B4-BE49-F238E27FC236}">
                <a16:creationId xmlns:a16="http://schemas.microsoft.com/office/drawing/2014/main" id="{8CE53DCB-190F-4550-A615-BF361E785657}"/>
              </a:ext>
            </a:extLst>
          </p:cNvPr>
          <p:cNvSpPr>
            <a:spLocks xmlns:a="http://schemas.openxmlformats.org/drawingml/2006/main" noGrp="1"/>
          </p:cNvSpPr>
          <p:nvPr/>
        </p:nvSpPr>
        <p:spPr>
          <a:xfrm xmlns:a="http://schemas.openxmlformats.org/drawingml/2006/main">
            <a:off x="20574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~4 hours · pricing agreed case by case</a:t>
            </a:r>
          </a:p>
        </p:txBody>
      </p:sp>
      <p:sp>
        <p:nvSpPr>
          <p:cNvPr id="50" name="">
            <a:extLst xmlns:a="http://schemas.openxmlformats.org/drawingml/2006/main">
              <a:ext uri="{FF2B5EF4-FFF2-40B4-BE49-F238E27FC236}">
                <a16:creationId xmlns:a16="http://schemas.microsoft.com/office/drawing/2014/main" id="{92609168-0C35-43B9-AAF1-0BE898CA5CE8}"/>
              </a:ext>
            </a:extLst>
          </p:cNvPr>
          <p:cNvSpPr>
            <a:spLocks xmlns:a="http://schemas.openxmlformats.org/drawingml/2006/main" noGrp="1"/>
          </p:cNvSpPr>
          <p:nvPr/>
        </p:nvSpPr>
        <p:spPr>
          <a:xfrm xmlns:a="http://schemas.openxmlformats.org/drawingml/2006/main">
            <a:off x="62103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8B3FD5FF-1767-450D-A23E-39DC264D9FA5}"/>
              </a:ext>
            </a:extLst>
          </p:cNvPr>
          <p:cNvSpPr>
            <a:spLocks xmlns:a="http://schemas.openxmlformats.org/drawingml/2006/main" noGrp="1"/>
          </p:cNvSpPr>
          <p:nvPr/>
        </p:nvSpPr>
        <p:spPr>
          <a:xfrm xmlns:a="http://schemas.openxmlformats.org/drawingml/2006/main">
            <a:off x="63246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HARD CEILING</a:t>
            </a:r>
          </a:p>
        </p:txBody>
      </p:sp>
      <p:sp>
        <p:nvSpPr>
          <p:cNvPr id="52" name="">
            <a:extLst xmlns:a="http://schemas.openxmlformats.org/drawingml/2006/main">
              <a:ext uri="{FF2B5EF4-FFF2-40B4-BE49-F238E27FC236}">
                <a16:creationId xmlns:a16="http://schemas.microsoft.com/office/drawing/2014/main" id="{37838C04-FE4E-4FAF-B044-DDAF3A51239F}"/>
              </a:ext>
            </a:extLst>
          </p:cNvPr>
          <p:cNvSpPr>
            <a:spLocks xmlns:a="http://schemas.openxmlformats.org/drawingml/2006/main" noGrp="1"/>
          </p:cNvSpPr>
          <p:nvPr/>
        </p:nvSpPr>
        <p:spPr>
          <a:xfrm xmlns:a="http://schemas.openxmlformats.org/drawingml/2006/main">
            <a:off x="78105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Warning-only — no AEB at any price</a:t>
            </a:r>
          </a:p>
        </p:txBody>
      </p:sp>
      <p:sp>
        <p:nvSpPr>
          <p:cNvPr id="53" name="">
            <a:extLst xmlns:a="http://schemas.openxmlformats.org/drawingml/2006/main">
              <a:ext uri="{FF2B5EF4-FFF2-40B4-BE49-F238E27FC236}">
                <a16:creationId xmlns:a16="http://schemas.microsoft.com/office/drawing/2014/main" id="{105EB91D-F844-4BE5-8EA3-6DA2AE51695E}"/>
              </a:ext>
            </a:extLst>
          </p:cNvPr>
          <p:cNvSpPr>
            <a:spLocks xmlns:a="http://schemas.openxmlformats.org/drawingml/2006/main" noGrp="1"/>
          </p:cNvSpPr>
          <p:nvPr/>
        </p:nvSpPr>
        <p:spPr>
          <a:xfrm xmlns:a="http://schemas.openxmlformats.org/drawingml/2006/main">
            <a:off x="457200" y="41910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5B18EB6A-2B0D-4729-A2BE-F8C59FCC9E79}"/>
              </a:ext>
            </a:extLst>
          </p:cNvPr>
          <p:cNvSpPr>
            <a:spLocks xmlns:a="http://schemas.openxmlformats.org/drawingml/2006/main" noGrp="1"/>
          </p:cNvSpPr>
          <p:nvPr/>
        </p:nvSpPr>
        <p:spPr>
          <a:xfrm xmlns:a="http://schemas.openxmlformats.org/drawingml/2006/main">
            <a:off x="457200" y="430530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OPEN ON THIS COMPANY</a:t>
            </a:r>
          </a:p>
        </p:txBody>
      </p:sp>
      <p:sp>
        <p:nvSpPr>
          <p:cNvPr id="55" name="">
            <a:extLst xmlns:a="http://schemas.openxmlformats.org/drawingml/2006/main">
              <a:ext uri="{FF2B5EF4-FFF2-40B4-BE49-F238E27FC236}">
                <a16:creationId xmlns:a16="http://schemas.microsoft.com/office/drawing/2014/main" id="{57E76A57-C5EA-41CB-834A-1F2B6919AAA2}"/>
              </a:ext>
            </a:extLst>
          </p:cNvPr>
          <p:cNvSpPr>
            <a:spLocks xmlns:a="http://schemas.openxmlformats.org/drawingml/2006/main" noGrp="1"/>
          </p:cNvSpPr>
          <p:nvPr/>
        </p:nvSpPr>
        <p:spPr>
          <a:xfrm xmlns:a="http://schemas.openxmlformats.org/drawingml/2006/main">
            <a:off x="4572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510B4EC7-F62D-4C27-B264-21164F28DAF2}"/>
              </a:ext>
            </a:extLst>
          </p:cNvPr>
          <p:cNvSpPr>
            <a:spLocks xmlns:a="http://schemas.openxmlformats.org/drawingml/2006/main" noGrp="1"/>
          </p:cNvSpPr>
          <p:nvPr/>
        </p:nvSpPr>
        <p:spPr>
          <a:xfrm xmlns:a="http://schemas.openxmlformats.org/drawingml/2006/main">
            <a:off x="4572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India deployment volume not established</a:t>
            </a:r>
          </a:p>
        </p:txBody>
      </p:sp>
      <p:sp>
        <p:nvSpPr>
          <p:cNvPr id="57" name="">
            <a:extLst xmlns:a="http://schemas.openxmlformats.org/drawingml/2006/main">
              <a:ext uri="{FF2B5EF4-FFF2-40B4-BE49-F238E27FC236}">
                <a16:creationId xmlns:a16="http://schemas.microsoft.com/office/drawing/2014/main" id="{C2422BA5-E0B6-43EF-A602-DD56B81EB152}"/>
              </a:ext>
            </a:extLst>
          </p:cNvPr>
          <p:cNvSpPr>
            <a:spLocks xmlns:a="http://schemas.openxmlformats.org/drawingml/2006/main" noGrp="1"/>
          </p:cNvSpPr>
          <p:nvPr/>
        </p:nvSpPr>
        <p:spPr>
          <a:xfrm xmlns:a="http://schemas.openxmlformats.org/drawingml/2006/main">
            <a:off x="42545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355C96EC-4FF6-4132-8940-8FD99DFB932F}"/>
              </a:ext>
            </a:extLst>
          </p:cNvPr>
          <p:cNvSpPr>
            <a:spLocks xmlns:a="http://schemas.openxmlformats.org/drawingml/2006/main" noGrp="1"/>
          </p:cNvSpPr>
          <p:nvPr/>
        </p:nvSpPr>
        <p:spPr>
          <a:xfrm xmlns:a="http://schemas.openxmlformats.org/drawingml/2006/main">
            <a:off x="42545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No AEB — cannot enter the mandate market</a:t>
            </a:r>
          </a:p>
        </p:txBody>
      </p:sp>
      <p:sp>
        <p:nvSpPr>
          <p:cNvPr id="59" name="">
            <a:extLst xmlns:a="http://schemas.openxmlformats.org/drawingml/2006/main">
              <a:ext uri="{FF2B5EF4-FFF2-40B4-BE49-F238E27FC236}">
                <a16:creationId xmlns:a16="http://schemas.microsoft.com/office/drawing/2014/main" id="{275EF2F1-3392-43AB-BC39-316F7C459349}"/>
              </a:ext>
            </a:extLst>
          </p:cNvPr>
          <p:cNvSpPr>
            <a:spLocks xmlns:a="http://schemas.openxmlformats.org/drawingml/2006/main" noGrp="1"/>
          </p:cNvSpPr>
          <p:nvPr/>
        </p:nvSpPr>
        <p:spPr>
          <a:xfrm xmlns:a="http://schemas.openxmlformats.org/drawingml/2006/main">
            <a:off x="80518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6FB05750-B06B-4940-B914-9205367256B6}"/>
              </a:ext>
            </a:extLst>
          </p:cNvPr>
          <p:cNvSpPr>
            <a:spLocks xmlns:a="http://schemas.openxmlformats.org/drawingml/2006/main" noGrp="1"/>
          </p:cNvSpPr>
          <p:nvPr/>
        </p:nvSpPr>
        <p:spPr>
          <a:xfrm xmlns:a="http://schemas.openxmlformats.org/drawingml/2006/main">
            <a:off x="80518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Pricing not public</a:t>
            </a:r>
          </a:p>
        </p:txBody>
      </p:sp>
      <p:sp>
        <p:nvSpPr>
          <p:cNvPr id="61" name="">
            <a:extLst xmlns:a="http://schemas.openxmlformats.org/drawingml/2006/main">
              <a:ext uri="{FF2B5EF4-FFF2-40B4-BE49-F238E27FC236}">
                <a16:creationId xmlns:a16="http://schemas.microsoft.com/office/drawing/2014/main" id="{BFA6F197-EC6C-4C83-8BD1-21CF5E88C89F}"/>
              </a:ext>
            </a:extLst>
          </p:cNvPr>
          <p:cNvSpPr>
            <a:spLocks xmlns:a="http://schemas.openxmlformats.org/drawingml/2006/main" noGrp="1"/>
          </p:cNvSpPr>
          <p:nvPr/>
        </p:nvSpPr>
        <p:spPr>
          <a:xfrm xmlns:a="http://schemas.openxmlformats.org/drawingml/2006/main">
            <a:off x="457200" y="5029200"/>
            <a:ext cx="11277600"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32533F2D-CF6F-4420-9EE9-07AAC0C86AAE}"/>
              </a:ext>
            </a:extLst>
          </p:cNvPr>
          <p:cNvSpPr>
            <a:spLocks xmlns:a="http://schemas.openxmlformats.org/drawingml/2006/main" noGrp="1"/>
          </p:cNvSpPr>
          <p:nvPr/>
        </p:nvSpPr>
        <p:spPr>
          <a:xfrm xmlns:a="http://schemas.openxmlformats.org/drawingml/2006/main">
            <a:off x="457200" y="514350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EVIDENCE POSTURE · VERIFIED</a:t>
            </a:r>
          </a:p>
        </p:txBody>
      </p:sp>
      <p:sp>
        <p:nvSpPr>
          <p:cNvPr id="63" name="">
            <a:extLst xmlns:a="http://schemas.openxmlformats.org/drawingml/2006/main">
              <a:ext uri="{FF2B5EF4-FFF2-40B4-BE49-F238E27FC236}">
                <a16:creationId xmlns:a16="http://schemas.microsoft.com/office/drawing/2014/main" id="{78C8FDFD-7462-4BE7-B482-492050366EED}"/>
              </a:ext>
            </a:extLst>
          </p:cNvPr>
          <p:cNvSpPr>
            <a:spLocks xmlns:a="http://schemas.openxmlformats.org/drawingml/2006/main" noGrp="1"/>
          </p:cNvSpPr>
          <p:nvPr/>
        </p:nvSpPr>
        <p:spPr>
          <a:xfrm xmlns:a="http://schemas.openxmlformats.org/drawingml/2006/main">
            <a:off x="9258300" y="5143500"/>
            <a:ext cx="2476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EV-BIT-01 … EV-BIT-03</a:t>
            </a:r>
          </a:p>
        </p:txBody>
      </p:sp>
      <p:sp>
        <p:nvSpPr>
          <p:cNvPr id="64" name="">
            <a:extLst xmlns:a="http://schemas.openxmlformats.org/drawingml/2006/main">
              <a:ext uri="{FF2B5EF4-FFF2-40B4-BE49-F238E27FC236}">
                <a16:creationId xmlns:a16="http://schemas.microsoft.com/office/drawing/2014/main" id="{D90AA13B-7E31-46C5-BE52-35B3D9C6CDAA}"/>
              </a:ext>
            </a:extLst>
          </p:cNvPr>
          <p:cNvSpPr>
            <a:spLocks xmlns:a="http://schemas.openxmlformats.org/drawingml/2006/main" noGrp="1"/>
          </p:cNvSpPr>
          <p:nvPr/>
        </p:nvSpPr>
        <p:spPr>
          <a:xfrm xmlns:a="http://schemas.openxmlformats.org/drawingml/2006/main">
            <a:off x="457200" y="5334000"/>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Well funded but structurally capped. Evidence that retrofit demand is real — not a line-fit threat.</a:t>
            </a:r>
          </a:p>
        </p:txBody>
      </p:sp>
      <p:sp>
        <p:nvSpPr>
          <p:cNvPr id="65" name="">
            <a:extLst xmlns:a="http://schemas.openxmlformats.org/drawingml/2006/main">
              <a:ext uri="{FF2B5EF4-FFF2-40B4-BE49-F238E27FC236}">
                <a16:creationId xmlns:a16="http://schemas.microsoft.com/office/drawing/2014/main" id="{BA53FBF5-A8AC-4818-8A1C-9A971E0E436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C1B00580-E2EA-489C-93AA-C865D47676B4}"/>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7" name="">
            <a:extLst xmlns:a="http://schemas.openxmlformats.org/drawingml/2006/main">
              <a:ext uri="{FF2B5EF4-FFF2-40B4-BE49-F238E27FC236}">
                <a16:creationId xmlns:a16="http://schemas.microsoft.com/office/drawing/2014/main" id="{327E89E8-5196-4846-9BC5-BFB9442E91EF}"/>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65</a:t>
            </a:r>
          </a:p>
        </p:txBody>
      </p:sp>
    </p:spTree>
    <p:extLst>
      <p:ext uri="{BB962C8B-B14F-4D97-AF65-F5344CB8AC3E}">
        <p14:creationId xmlns:p14="http://schemas.microsoft.com/office/powerpoint/2010/main" val="424688585"/>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1878249-2F41-4BE0-B5AA-73DFA96BD1F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3F7EA8C-D366-44C5-B0F9-FE02B5508F5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0A84E03-6975-4AF2-ACE6-5F4A05C9E593}"/>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AI USE CASES · BITSENSING</a:t>
            </a:r>
          </a:p>
        </p:txBody>
      </p:sp>
      <p:sp>
        <p:nvSpPr>
          <p:cNvPr id="4" name="">
            <a:extLst xmlns:a="http://schemas.openxmlformats.org/drawingml/2006/main">
              <a:ext uri="{FF2B5EF4-FFF2-40B4-BE49-F238E27FC236}">
                <a16:creationId xmlns:a16="http://schemas.microsoft.com/office/drawing/2014/main" id="{D5A50CE2-A997-447C-A863-DBAECB9D471F}"/>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What bitsensing's AI actually does</a:t>
            </a:r>
          </a:p>
        </p:txBody>
      </p:sp>
      <p:sp>
        <p:nvSpPr>
          <p:cNvPr id="5" name="">
            <a:extLst xmlns:a="http://schemas.openxmlformats.org/drawingml/2006/main">
              <a:ext uri="{FF2B5EF4-FFF2-40B4-BE49-F238E27FC236}">
                <a16:creationId xmlns:a16="http://schemas.microsoft.com/office/drawing/2014/main" id="{9F934C25-D06D-4599-A84F-465471BE2BC6}"/>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Threat ratings describe how worried to be. This describes what the system is — which is what decides whether DeepGrid displaces, attaches to, or ignores it.</a:t>
            </a:r>
          </a:p>
        </p:txBody>
      </p:sp>
      <p:sp>
        <p:nvSpPr>
          <p:cNvPr id="6" name="">
            <a:extLst xmlns:a="http://schemas.openxmlformats.org/drawingml/2006/main">
              <a:ext uri="{FF2B5EF4-FFF2-40B4-BE49-F238E27FC236}">
                <a16:creationId xmlns:a16="http://schemas.microsoft.com/office/drawing/2014/main" id="{56BFEDB2-1E5A-4F54-A6D2-77A3BF223920}"/>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BDF0814-6048-4638-B276-4B5C098817C6}"/>
              </a:ext>
            </a:extLst>
          </p:cNvPr>
          <p:cNvSpPr>
            <a:spLocks xmlns:a="http://schemas.openxmlformats.org/drawingml/2006/main" noGrp="1"/>
          </p:cNvSpPr>
          <p:nvPr/>
        </p:nvSpPr>
        <p:spPr>
          <a:xfrm xmlns:a="http://schemas.openxmlformats.org/drawingml/2006/main">
            <a:off x="457200" y="1123950"/>
            <a:ext cx="28575" cy="3238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B1ADFB7-F834-4BDB-B23C-3C0B670F0FDF}"/>
              </a:ext>
            </a:extLst>
          </p:cNvPr>
          <p:cNvSpPr>
            <a:spLocks xmlns:a="http://schemas.openxmlformats.org/drawingml/2006/main" noGrp="1"/>
          </p:cNvSpPr>
          <p:nvPr/>
        </p:nvSpPr>
        <p:spPr>
          <a:xfrm xmlns:a="http://schemas.openxmlformats.org/drawingml/2006/main">
            <a:off x="609600" y="11620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D7720B"/>
                </a:solidFill>
                <a:latin typeface="Arial"/>
                <a:ea typeface="Arial"/>
                <a:cs typeface="Arial"/>
              </a:defRPr>
            </a:pPr>
            <a:r>
              <a:t>PATTERN</a:t>
            </a:r>
          </a:p>
        </p:txBody>
      </p:sp>
      <p:sp>
        <p:nvSpPr>
          <p:cNvPr id="9" name="">
            <a:extLst xmlns:a="http://schemas.openxmlformats.org/drawingml/2006/main">
              <a:ext uri="{FF2B5EF4-FFF2-40B4-BE49-F238E27FC236}">
                <a16:creationId xmlns:a16="http://schemas.microsoft.com/office/drawing/2014/main" id="{FB8B19E8-C8AC-453D-BF94-F8BB078DBD12}"/>
              </a:ext>
            </a:extLst>
          </p:cNvPr>
          <p:cNvSpPr>
            <a:spLocks xmlns:a="http://schemas.openxmlformats.org/drawingml/2006/main" noGrp="1"/>
          </p:cNvSpPr>
          <p:nvPr/>
        </p:nvSpPr>
        <p:spPr>
          <a:xfrm xmlns:a="http://schemas.openxmlformats.org/drawingml/2006/main">
            <a:off x="2743200" y="11620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P-RAD / P-FUSE — stops short of P-ACT</a:t>
            </a:r>
          </a:p>
        </p:txBody>
      </p:sp>
      <p:sp>
        <p:nvSpPr>
          <p:cNvPr id="10" name="">
            <a:extLst xmlns:a="http://schemas.openxmlformats.org/drawingml/2006/main">
              <a:ext uri="{FF2B5EF4-FFF2-40B4-BE49-F238E27FC236}">
                <a16:creationId xmlns:a16="http://schemas.microsoft.com/office/drawing/2014/main" id="{123E9ADB-6E12-438E-BFB7-085B765AA060}"/>
              </a:ext>
            </a:extLst>
          </p:cNvPr>
          <p:cNvSpPr>
            <a:spLocks xmlns:a="http://schemas.openxmlformats.org/drawingml/2006/main" noGrp="1"/>
          </p:cNvSpPr>
          <p:nvPr/>
        </p:nvSpPr>
        <p:spPr>
          <a:xfrm xmlns:a="http://schemas.openxmlformats.org/drawingml/2006/main">
            <a:off x="457200" y="15430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AF774EA-EE60-4A25-81B9-8F341BDE8EF3}"/>
              </a:ext>
            </a:extLst>
          </p:cNvPr>
          <p:cNvSpPr>
            <a:spLocks xmlns:a="http://schemas.openxmlformats.org/drawingml/2006/main" noGrp="1"/>
          </p:cNvSpPr>
          <p:nvPr/>
        </p:nvSpPr>
        <p:spPr>
          <a:xfrm xmlns:a="http://schemas.openxmlformats.org/drawingml/2006/main">
            <a:off x="609600" y="15811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FUNCTIONS</a:t>
            </a:r>
          </a:p>
        </p:txBody>
      </p:sp>
      <p:sp>
        <p:nvSpPr>
          <p:cNvPr id="12" name="">
            <a:extLst xmlns:a="http://schemas.openxmlformats.org/drawingml/2006/main">
              <a:ext uri="{FF2B5EF4-FFF2-40B4-BE49-F238E27FC236}">
                <a16:creationId xmlns:a16="http://schemas.microsoft.com/office/drawing/2014/main" id="{B80E810B-686E-49AD-960A-DFB085098675}"/>
              </a:ext>
            </a:extLst>
          </p:cNvPr>
          <p:cNvSpPr>
            <a:spLocks xmlns:a="http://schemas.openxmlformats.org/drawingml/2006/main" noGrp="1"/>
          </p:cNvSpPr>
          <p:nvPr/>
        </p:nvSpPr>
        <p:spPr>
          <a:xfrm xmlns:a="http://schemas.openxmlformats.org/drawingml/2006/main">
            <a:off x="2743200" y="15811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BSIS, SVM, RCW, FVSA, FCW, MOIS — warning-only, NO AEB</a:t>
            </a:r>
          </a:p>
        </p:txBody>
      </p:sp>
      <p:sp>
        <p:nvSpPr>
          <p:cNvPr id="13" name="">
            <a:extLst xmlns:a="http://schemas.openxmlformats.org/drawingml/2006/main">
              <a:ext uri="{FF2B5EF4-FFF2-40B4-BE49-F238E27FC236}">
                <a16:creationId xmlns:a16="http://schemas.microsoft.com/office/drawing/2014/main" id="{20B9A272-22A9-418A-971D-A777701D188E}"/>
              </a:ext>
            </a:extLst>
          </p:cNvPr>
          <p:cNvSpPr>
            <a:spLocks xmlns:a="http://schemas.openxmlformats.org/drawingml/2006/main" noGrp="1"/>
          </p:cNvSpPr>
          <p:nvPr/>
        </p:nvSpPr>
        <p:spPr>
          <a:xfrm xmlns:a="http://schemas.openxmlformats.org/drawingml/2006/main">
            <a:off x="457200" y="19621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E4C165D-744D-4EA5-98EC-FD2B2D7908C8}"/>
              </a:ext>
            </a:extLst>
          </p:cNvPr>
          <p:cNvSpPr>
            <a:spLocks xmlns:a="http://schemas.openxmlformats.org/drawingml/2006/main" noGrp="1"/>
          </p:cNvSpPr>
          <p:nvPr/>
        </p:nvSpPr>
        <p:spPr>
          <a:xfrm xmlns:a="http://schemas.openxmlformats.org/drawingml/2006/main">
            <a:off x="609600" y="20002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SILICON</a:t>
            </a:r>
          </a:p>
        </p:txBody>
      </p:sp>
      <p:sp>
        <p:nvSpPr>
          <p:cNvPr id="15" name="">
            <a:extLst xmlns:a="http://schemas.openxmlformats.org/drawingml/2006/main">
              <a:ext uri="{FF2B5EF4-FFF2-40B4-BE49-F238E27FC236}">
                <a16:creationId xmlns:a16="http://schemas.microsoft.com/office/drawing/2014/main" id="{1359D682-2113-468A-8FB4-F8055F95C707}"/>
              </a:ext>
            </a:extLst>
          </p:cNvPr>
          <p:cNvSpPr>
            <a:spLocks xmlns:a="http://schemas.openxmlformats.org/drawingml/2006/main" noGrp="1"/>
          </p:cNvSpPr>
          <p:nvPr/>
        </p:nvSpPr>
        <p:spPr>
          <a:xfrm xmlns:a="http://schemas.openxmlformats.org/drawingml/2006/main">
            <a:off x="2743200" y="20002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NXP partnership for scalable radar across industries</a:t>
            </a:r>
          </a:p>
        </p:txBody>
      </p:sp>
      <p:sp>
        <p:nvSpPr>
          <p:cNvPr id="16" name="">
            <a:extLst xmlns:a="http://schemas.openxmlformats.org/drawingml/2006/main">
              <a:ext uri="{FF2B5EF4-FFF2-40B4-BE49-F238E27FC236}">
                <a16:creationId xmlns:a16="http://schemas.microsoft.com/office/drawing/2014/main" id="{27D805DE-FAC7-40D0-9A08-1EA41E148AA3}"/>
              </a:ext>
            </a:extLst>
          </p:cNvPr>
          <p:cNvSpPr>
            <a:spLocks xmlns:a="http://schemas.openxmlformats.org/drawingml/2006/main" noGrp="1"/>
          </p:cNvSpPr>
          <p:nvPr/>
        </p:nvSpPr>
        <p:spPr>
          <a:xfrm xmlns:a="http://schemas.openxmlformats.org/drawingml/2006/main">
            <a:off x="457200" y="23812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F2427C6-8C33-444C-ABC0-C456316FBA78}"/>
              </a:ext>
            </a:extLst>
          </p:cNvPr>
          <p:cNvSpPr>
            <a:spLocks xmlns:a="http://schemas.openxmlformats.org/drawingml/2006/main" noGrp="1"/>
          </p:cNvSpPr>
          <p:nvPr/>
        </p:nvSpPr>
        <p:spPr>
          <a:xfrm xmlns:a="http://schemas.openxmlformats.org/drawingml/2006/main">
            <a:off x="609600" y="24193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ADJACENT</a:t>
            </a:r>
          </a:p>
        </p:txBody>
      </p:sp>
      <p:sp>
        <p:nvSpPr>
          <p:cNvPr id="18" name="">
            <a:extLst xmlns:a="http://schemas.openxmlformats.org/drawingml/2006/main">
              <a:ext uri="{FF2B5EF4-FFF2-40B4-BE49-F238E27FC236}">
                <a16:creationId xmlns:a16="http://schemas.microsoft.com/office/drawing/2014/main" id="{CA95DDD3-1512-40F4-844B-0D45F8C9CB23}"/>
              </a:ext>
            </a:extLst>
          </p:cNvPr>
          <p:cNvSpPr>
            <a:spLocks xmlns:a="http://schemas.openxmlformats.org/drawingml/2006/main" noGrp="1"/>
          </p:cNvSpPr>
          <p:nvPr/>
        </p:nvSpPr>
        <p:spPr>
          <a:xfrm xmlns:a="http://schemas.openxmlformats.org/drawingml/2006/main">
            <a:off x="2743200" y="24193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Radar sleep-care for hospitals — a non-automotive revenue line</a:t>
            </a:r>
          </a:p>
        </p:txBody>
      </p:sp>
      <p:sp>
        <p:nvSpPr>
          <p:cNvPr id="19" name="">
            <a:extLst xmlns:a="http://schemas.openxmlformats.org/drawingml/2006/main">
              <a:ext uri="{FF2B5EF4-FFF2-40B4-BE49-F238E27FC236}">
                <a16:creationId xmlns:a16="http://schemas.microsoft.com/office/drawing/2014/main" id="{F87DB4C0-6D12-4706-B5C2-D5181890DAA1}"/>
              </a:ext>
            </a:extLst>
          </p:cNvPr>
          <p:cNvSpPr>
            <a:spLocks xmlns:a="http://schemas.openxmlformats.org/drawingml/2006/main" noGrp="1"/>
          </p:cNvSpPr>
          <p:nvPr/>
        </p:nvSpPr>
        <p:spPr>
          <a:xfrm xmlns:a="http://schemas.openxmlformats.org/drawingml/2006/main">
            <a:off x="457200" y="28003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E9719AB-D0DB-48EB-9CEF-78EB3DBD85CE}"/>
              </a:ext>
            </a:extLst>
          </p:cNvPr>
          <p:cNvSpPr>
            <a:spLocks xmlns:a="http://schemas.openxmlformats.org/drawingml/2006/main" noGrp="1"/>
          </p:cNvSpPr>
          <p:nvPr/>
        </p:nvSpPr>
        <p:spPr>
          <a:xfrm xmlns:a="http://schemas.openxmlformats.org/drawingml/2006/main">
            <a:off x="609600" y="28384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CEILING</a:t>
            </a:r>
          </a:p>
        </p:txBody>
      </p:sp>
      <p:sp>
        <p:nvSpPr>
          <p:cNvPr id="21" name="">
            <a:extLst xmlns:a="http://schemas.openxmlformats.org/drawingml/2006/main">
              <a:ext uri="{FF2B5EF4-FFF2-40B4-BE49-F238E27FC236}">
                <a16:creationId xmlns:a16="http://schemas.microsoft.com/office/drawing/2014/main" id="{620A9577-BA17-4B8B-A85A-43BAF6EFCC8E}"/>
              </a:ext>
            </a:extLst>
          </p:cNvPr>
          <p:cNvSpPr>
            <a:spLocks xmlns:a="http://schemas.openxmlformats.org/drawingml/2006/main" noGrp="1"/>
          </p:cNvSpPr>
          <p:nvPr/>
        </p:nvSpPr>
        <p:spPr>
          <a:xfrm xmlns:a="http://schemas.openxmlformats.org/drawingml/2006/main">
            <a:off x="2743200" y="28384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Cannot reach certified AEBS at any price</a:t>
            </a:r>
          </a:p>
        </p:txBody>
      </p:sp>
      <p:sp>
        <p:nvSpPr>
          <p:cNvPr id="22" name="">
            <a:extLst xmlns:a="http://schemas.openxmlformats.org/drawingml/2006/main">
              <a:ext uri="{FF2B5EF4-FFF2-40B4-BE49-F238E27FC236}">
                <a16:creationId xmlns:a16="http://schemas.microsoft.com/office/drawing/2014/main" id="{7A12F138-016D-485A-892A-0A09A897B4AB}"/>
              </a:ext>
            </a:extLst>
          </p:cNvPr>
          <p:cNvSpPr>
            <a:spLocks xmlns:a="http://schemas.openxmlformats.org/drawingml/2006/main" noGrp="1"/>
          </p:cNvSpPr>
          <p:nvPr/>
        </p:nvSpPr>
        <p:spPr>
          <a:xfrm xmlns:a="http://schemas.openxmlformats.org/drawingml/2006/main">
            <a:off x="457200" y="32575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FECE568-6EC3-4E69-B736-B8ED6A98F618}"/>
              </a:ext>
            </a:extLst>
          </p:cNvPr>
          <p:cNvSpPr>
            <a:spLocks xmlns:a="http://schemas.openxmlformats.org/drawingml/2006/main" noGrp="1"/>
          </p:cNvSpPr>
          <p:nvPr/>
        </p:nvSpPr>
        <p:spPr>
          <a:xfrm xmlns:a="http://schemas.openxmlformats.org/drawingml/2006/main">
            <a:off x="457200" y="33718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IMPLICATION FOR DEEPGRID</a:t>
            </a:r>
          </a:p>
        </p:txBody>
      </p:sp>
      <p:sp>
        <p:nvSpPr>
          <p:cNvPr id="24" name="">
            <a:extLst xmlns:a="http://schemas.openxmlformats.org/drawingml/2006/main">
              <a:ext uri="{FF2B5EF4-FFF2-40B4-BE49-F238E27FC236}">
                <a16:creationId xmlns:a16="http://schemas.microsoft.com/office/drawing/2014/main" id="{D459ED3A-4CC1-4CC7-94A1-AA7A5E83695D}"/>
              </a:ext>
            </a:extLst>
          </p:cNvPr>
          <p:cNvSpPr>
            <a:spLocks xmlns:a="http://schemas.openxmlformats.org/drawingml/2006/main" noGrp="1"/>
          </p:cNvSpPr>
          <p:nvPr/>
        </p:nvSpPr>
        <p:spPr>
          <a:xfrm xmlns:a="http://schemas.openxmlformats.org/drawingml/2006/main">
            <a:off x="457200" y="3562350"/>
            <a:ext cx="112776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Well funded but structurally capped. Evidence that retrofit demand is real — not a line-fit threat.</a:t>
            </a:r>
          </a:p>
        </p:txBody>
      </p:sp>
      <p:sp>
        <p:nvSpPr>
          <p:cNvPr id="25" name="">
            <a:extLst xmlns:a="http://schemas.openxmlformats.org/drawingml/2006/main">
              <a:ext uri="{FF2B5EF4-FFF2-40B4-BE49-F238E27FC236}">
                <a16:creationId xmlns:a16="http://schemas.microsoft.com/office/drawing/2014/main" id="{BFFC3371-1707-4A7B-90E0-32C3A5EAFDF9}"/>
              </a:ext>
            </a:extLst>
          </p:cNvPr>
          <p:cNvSpPr>
            <a:spLocks xmlns:a="http://schemas.openxmlformats.org/drawingml/2006/main" noGrp="1"/>
          </p:cNvSpPr>
          <p:nvPr/>
        </p:nvSpPr>
        <p:spPr>
          <a:xfrm xmlns:a="http://schemas.openxmlformats.org/drawingml/2006/main">
            <a:off x="457200" y="4248150"/>
            <a:ext cx="11277600" cy="7048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6" name="">
            <a:extLst xmlns:a="http://schemas.openxmlformats.org/drawingml/2006/main">
              <a:ext uri="{FF2B5EF4-FFF2-40B4-BE49-F238E27FC236}">
                <a16:creationId xmlns:a16="http://schemas.microsoft.com/office/drawing/2014/main" id="{D4B9686D-4FD3-4F2C-B1CF-B8ACB945C466}"/>
              </a:ext>
            </a:extLst>
          </p:cNvPr>
          <p:cNvSpPr>
            <a:spLocks xmlns:a="http://schemas.openxmlformats.org/drawingml/2006/main" noGrp="1"/>
          </p:cNvSpPr>
          <p:nvPr/>
        </p:nvSpPr>
        <p:spPr>
          <a:xfrm xmlns:a="http://schemas.openxmlformats.org/drawingml/2006/main">
            <a:off x="457200" y="4248150"/>
            <a:ext cx="38100" cy="7048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AD2893B-D2B9-434D-B2B5-F9E034096448}"/>
              </a:ext>
            </a:extLst>
          </p:cNvPr>
          <p:cNvSpPr>
            <a:spLocks xmlns:a="http://schemas.openxmlformats.org/drawingml/2006/main" noGrp="1"/>
          </p:cNvSpPr>
          <p:nvPr/>
        </p:nvSpPr>
        <p:spPr>
          <a:xfrm xmlns:a="http://schemas.openxmlformats.org/drawingml/2006/main">
            <a:off x="628650" y="4362450"/>
            <a:ext cx="8420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P-WARN · WARNING ONLY — NO BRAKE ACTUATION</a:t>
            </a:r>
          </a:p>
        </p:txBody>
      </p:sp>
      <p:sp>
        <p:nvSpPr>
          <p:cNvPr id="28" name="">
            <a:extLst xmlns:a="http://schemas.openxmlformats.org/drawingml/2006/main">
              <a:ext uri="{FF2B5EF4-FFF2-40B4-BE49-F238E27FC236}">
                <a16:creationId xmlns:a16="http://schemas.microsoft.com/office/drawing/2014/main" id="{37DEC36A-65C7-4155-9DC2-1650744B587B}"/>
              </a:ext>
            </a:extLst>
          </p:cNvPr>
          <p:cNvSpPr>
            <a:spLocks xmlns:a="http://schemas.openxmlformats.org/drawingml/2006/main" noGrp="1"/>
          </p:cNvSpPr>
          <p:nvPr/>
        </p:nvSpPr>
        <p:spPr>
          <a:xfrm xmlns:a="http://schemas.openxmlformats.org/drawingml/2006/main">
            <a:off x="628650" y="4552950"/>
            <a:ext cx="8420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Not a mandate competitor. It is winning retrofit fleet-safety budget on a different clock, against a different buyer.</a:t>
            </a:r>
          </a:p>
        </p:txBody>
      </p:sp>
      <p:sp>
        <p:nvSpPr>
          <p:cNvPr id="29" name="">
            <a:extLst xmlns:a="http://schemas.openxmlformats.org/drawingml/2006/main">
              <a:ext uri="{FF2B5EF4-FFF2-40B4-BE49-F238E27FC236}">
                <a16:creationId xmlns:a16="http://schemas.microsoft.com/office/drawing/2014/main" id="{A33EAAC4-3677-4FF7-A3D7-799AFBD41E14}"/>
              </a:ext>
            </a:extLst>
          </p:cNvPr>
          <p:cNvSpPr>
            <a:spLocks xmlns:a="http://schemas.openxmlformats.org/drawingml/2006/main" noGrp="1"/>
          </p:cNvSpPr>
          <p:nvPr/>
        </p:nvSpPr>
        <p:spPr>
          <a:xfrm xmlns:a="http://schemas.openxmlformats.org/drawingml/2006/main">
            <a:off x="9163050" y="436245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a:solidFill>
                  <a:srgbClr val="8EA0B2"/>
                </a:solidFill>
                <a:latin typeface="Arial"/>
                <a:ea typeface="Arial"/>
                <a:cs typeface="Arial"/>
              </a:defRPr>
            </a:pPr>
            <a:r>
              <a:t>Evidence · EV-BIT-01 … EV-BIT-03</a:t>
            </a:r>
          </a:p>
        </p:txBody>
      </p:sp>
      <p:sp>
        <p:nvSpPr>
          <p:cNvPr id="30" name="">
            <a:extLst xmlns:a="http://schemas.openxmlformats.org/drawingml/2006/main">
              <a:ext uri="{FF2B5EF4-FFF2-40B4-BE49-F238E27FC236}">
                <a16:creationId xmlns:a16="http://schemas.microsoft.com/office/drawing/2014/main" id="{AAD99F81-1148-44D9-B6CA-644E37407831}"/>
              </a:ext>
            </a:extLst>
          </p:cNvPr>
          <p:cNvSpPr>
            <a:spLocks xmlns:a="http://schemas.openxmlformats.org/drawingml/2006/main" noGrp="1"/>
          </p:cNvSpPr>
          <p:nvPr/>
        </p:nvSpPr>
        <p:spPr>
          <a:xfrm xmlns:a="http://schemas.openxmlformats.org/drawingml/2006/main">
            <a:off x="9163050" y="453390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1BA271"/>
                </a:solidFill>
                <a:latin typeface="Arial"/>
                <a:ea typeface="Arial"/>
                <a:cs typeface="Arial"/>
              </a:defRPr>
            </a:pPr>
            <a:r>
              <a:t>Posture · VERIFIED</a:t>
            </a:r>
          </a:p>
        </p:txBody>
      </p:sp>
      <p:sp>
        <p:nvSpPr>
          <p:cNvPr id="31" name="">
            <a:extLst xmlns:a="http://schemas.openxmlformats.org/drawingml/2006/main">
              <a:ext uri="{FF2B5EF4-FFF2-40B4-BE49-F238E27FC236}">
                <a16:creationId xmlns:a16="http://schemas.microsoft.com/office/drawing/2014/main" id="{F95735AC-A3FB-4357-8A27-6EFDD9BFA3B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22F1B65-BBCB-4915-BAA3-A160A4D1CAC7}"/>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9A7FA1FE-61DC-4B0E-BCFD-7315E7719C94}"/>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66</a:t>
            </a:r>
          </a:p>
        </p:txBody>
      </p:sp>
    </p:spTree>
    <p:extLst>
      <p:ext uri="{BB962C8B-B14F-4D97-AF65-F5344CB8AC3E}">
        <p14:creationId xmlns:p14="http://schemas.microsoft.com/office/powerpoint/2010/main" val="310583719"/>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302C12C7-9AEC-4804-B2DF-9523A595C0A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DAA17E2-01A0-4473-A7B0-FD620F6256F2}"/>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3C0341F-5CF7-4416-9BA2-047A8CCDB9BF}"/>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D57A2CA2-A322-412D-8B86-27596785D57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23A1328A-FA82-4F6E-82D6-EC3814CB120A}"/>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bitsensing is a credible adjacent radar player, but retrofit proof is missing</a:t>
            </a:r>
          </a:p>
        </p:txBody>
      </p:sp>
      <p:sp>
        <p:nvSpPr>
          <p:cNvPr id="6" name="">
            <a:extLst xmlns:a="http://schemas.openxmlformats.org/drawingml/2006/main">
              <a:ext uri="{FF2B5EF4-FFF2-40B4-BE49-F238E27FC236}">
                <a16:creationId xmlns:a16="http://schemas.microsoft.com/office/drawing/2014/main" id="{8B2F0000-7A1B-4A7D-84D8-38D90F17245F}"/>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9338967-9381-4E52-9860-2FA8F8FEFCDC}"/>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facts support bitsensing's relevance, and which parts of the proposition remain unproven?</a:t>
            </a:r>
          </a:p>
        </p:txBody>
      </p:sp>
      <p:sp>
        <p:nvSpPr>
          <p:cNvPr id="8" name="">
            <a:extLst xmlns:a="http://schemas.openxmlformats.org/drawingml/2006/main">
              <a:ext uri="{FF2B5EF4-FFF2-40B4-BE49-F238E27FC236}">
                <a16:creationId xmlns:a16="http://schemas.microsoft.com/office/drawing/2014/main" id="{9AAE1288-5BEA-492A-BC72-8404808EFE73}"/>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268EB300-6DA6-4FFD-9F83-7956F9D0C050}"/>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EEF33F4-2D52-49B4-8627-0FE8E270E2CD}"/>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E9868144-46D3-4D83-A57E-A428BD3F9A5B}"/>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bitsensing reports funding and automotive development partnerships, supporting a case for technical adjacency. The supplied record does not independently establish an automotive-qualified product, programme or brake-integration capability.</a:t>
            </a:r>
          </a:p>
        </p:txBody>
      </p:sp>
      <p:sp>
        <p:nvSpPr>
          <p:cNvPr id="12" name="">
            <a:extLst xmlns:a="http://schemas.openxmlformats.org/drawingml/2006/main">
              <a:ext uri="{FF2B5EF4-FFF2-40B4-BE49-F238E27FC236}">
                <a16:creationId xmlns:a16="http://schemas.microsoft.com/office/drawing/2014/main" id="{CAC83323-C113-4D89-B201-C7F6CE14E9D2}"/>
              </a:ext>
            </a:extLst>
          </p:cNvPr>
          <p:cNvSpPr>
            <a:spLocks xmlns:a="http://schemas.openxmlformats.org/drawingml/2006/main" noGrp="1"/>
          </p:cNvSpPr>
          <p:nvPr/>
        </p:nvSpPr>
        <p:spPr>
          <a:xfrm xmlns:a="http://schemas.openxmlformats.org/drawingml/2006/main">
            <a:off x="457200" y="2152650"/>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FA4E6EBD-D47E-45FB-BB62-B8F176FDBE09}"/>
              </a:ext>
            </a:extLst>
          </p:cNvPr>
          <p:cNvSpPr>
            <a:spLocks xmlns:a="http://schemas.openxmlformats.org/drawingml/2006/main" noGrp="1"/>
          </p:cNvSpPr>
          <p:nvPr/>
        </p:nvSpPr>
        <p:spPr>
          <a:xfrm xmlns:a="http://schemas.openxmlformats.org/drawingml/2006/main">
            <a:off x="457200" y="215265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BBB0A04-BE1D-4268-9D3A-E7A251ABF881}"/>
              </a:ext>
            </a:extLst>
          </p:cNvPr>
          <p:cNvSpPr>
            <a:spLocks xmlns:a="http://schemas.openxmlformats.org/drawingml/2006/main" noGrp="1"/>
          </p:cNvSpPr>
          <p:nvPr/>
        </p:nvSpPr>
        <p:spPr>
          <a:xfrm xmlns:a="http://schemas.openxmlformats.org/drawingml/2006/main">
            <a:off x="457200" y="2152650"/>
            <a:ext cx="28575" cy="6477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09D7502-AA9E-466A-A5C4-A19D6A277350}"/>
              </a:ext>
            </a:extLst>
          </p:cNvPr>
          <p:cNvSpPr>
            <a:spLocks xmlns:a="http://schemas.openxmlformats.org/drawingml/2006/main" noGrp="1"/>
          </p:cNvSpPr>
          <p:nvPr/>
        </p:nvSpPr>
        <p:spPr>
          <a:xfrm xmlns:a="http://schemas.openxmlformats.org/drawingml/2006/main">
            <a:off x="571500" y="2238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DEEPGRID WINS ONLY THROUGH A</a:t>
            </a:r>
          </a:p>
        </p:txBody>
      </p:sp>
      <p:sp>
        <p:nvSpPr>
          <p:cNvPr id="16" name="">
            <a:extLst xmlns:a="http://schemas.openxmlformats.org/drawingml/2006/main">
              <a:ext uri="{FF2B5EF4-FFF2-40B4-BE49-F238E27FC236}">
                <a16:creationId xmlns:a16="http://schemas.microsoft.com/office/drawing/2014/main" id="{BD15478F-091C-4033-BE33-77B4C7491E22}"/>
              </a:ext>
            </a:extLst>
          </p:cNvPr>
          <p:cNvSpPr>
            <a:spLocks xmlns:a="http://schemas.openxmlformats.org/drawingml/2006/main" noGrp="1"/>
          </p:cNvSpPr>
          <p:nvPr/>
        </p:nvSpPr>
        <p:spPr>
          <a:xfrm xmlns:a="http://schemas.openxmlformats.org/drawingml/2006/main">
            <a:off x="4067556" y="2228850"/>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DeepGrid wins only through a narrow subsystem wedge, faster India adaptation or a loaded-cost advantage that includes integration, qualification, war…</a:t>
            </a:r>
          </a:p>
        </p:txBody>
      </p:sp>
      <p:sp>
        <p:nvSpPr>
          <p:cNvPr id="17" name="">
            <a:extLst xmlns:a="http://schemas.openxmlformats.org/drawingml/2006/main">
              <a:ext uri="{FF2B5EF4-FFF2-40B4-BE49-F238E27FC236}">
                <a16:creationId xmlns:a16="http://schemas.microsoft.com/office/drawing/2014/main" id="{6B46C32A-DB7B-488F-881B-03A3C9F42A4A}"/>
              </a:ext>
            </a:extLst>
          </p:cNvPr>
          <p:cNvSpPr>
            <a:spLocks xmlns:a="http://schemas.openxmlformats.org/drawingml/2006/main" noGrp="1"/>
          </p:cNvSpPr>
          <p:nvPr/>
        </p:nvSpPr>
        <p:spPr>
          <a:xfrm xmlns:a="http://schemas.openxmlformats.org/drawingml/2006/main">
            <a:off x="9816084" y="2238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AAC475F3-E6B7-42B9-A2CA-380A6F23C25B}"/>
              </a:ext>
            </a:extLst>
          </p:cNvPr>
          <p:cNvSpPr>
            <a:spLocks xmlns:a="http://schemas.openxmlformats.org/drawingml/2006/main" noGrp="1"/>
          </p:cNvSpPr>
          <p:nvPr/>
        </p:nvSpPr>
        <p:spPr>
          <a:xfrm xmlns:a="http://schemas.openxmlformats.org/drawingml/2006/main">
            <a:off x="457200" y="2867025"/>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A2409691-909B-4CFA-A2AB-C901132D55E1}"/>
              </a:ext>
            </a:extLst>
          </p:cNvPr>
          <p:cNvSpPr>
            <a:spLocks xmlns:a="http://schemas.openxmlformats.org/drawingml/2006/main" noGrp="1"/>
          </p:cNvSpPr>
          <p:nvPr/>
        </p:nvSpPr>
        <p:spPr>
          <a:xfrm xmlns:a="http://schemas.openxmlformats.org/drawingml/2006/main">
            <a:off x="457200" y="2867025"/>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98CF805-61BC-4690-A288-73DAF7937910}"/>
              </a:ext>
            </a:extLst>
          </p:cNvPr>
          <p:cNvSpPr>
            <a:spLocks xmlns:a="http://schemas.openxmlformats.org/drawingml/2006/main" noGrp="1"/>
          </p:cNvSpPr>
          <p:nvPr/>
        </p:nvSpPr>
        <p:spPr>
          <a:xfrm xmlns:a="http://schemas.openxmlformats.org/drawingml/2006/main">
            <a:off x="457200" y="2867025"/>
            <a:ext cx="28575" cy="6477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9B6ED7D-94CD-4046-A234-F0573F0BB112}"/>
              </a:ext>
            </a:extLst>
          </p:cNvPr>
          <p:cNvSpPr>
            <a:spLocks xmlns:a="http://schemas.openxmlformats.org/drawingml/2006/main" noGrp="1"/>
          </p:cNvSpPr>
          <p:nvPr/>
        </p:nvSpPr>
        <p:spPr>
          <a:xfrm xmlns:a="http://schemas.openxmlformats.org/drawingml/2006/main">
            <a:off x="571500" y="29527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TRACK SUPPLIER-SPECIFIC</a:t>
            </a:r>
          </a:p>
        </p:txBody>
      </p:sp>
      <p:sp>
        <p:nvSpPr>
          <p:cNvPr id="22" name="">
            <a:extLst xmlns:a="http://schemas.openxmlformats.org/drawingml/2006/main">
              <a:ext uri="{FF2B5EF4-FFF2-40B4-BE49-F238E27FC236}">
                <a16:creationId xmlns:a16="http://schemas.microsoft.com/office/drawing/2014/main" id="{03F00809-E4B3-4998-8EBB-DFC8DE19AD72}"/>
              </a:ext>
            </a:extLst>
          </p:cNvPr>
          <p:cNvSpPr>
            <a:spLocks xmlns:a="http://schemas.openxmlformats.org/drawingml/2006/main" noGrp="1"/>
          </p:cNvSpPr>
          <p:nvPr/>
        </p:nvSpPr>
        <p:spPr>
          <a:xfrm xmlns:a="http://schemas.openxmlformats.org/drawingml/2006/main">
            <a:off x="4067556" y="2943225"/>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Track supplier-specific India nominations, exact functions, platform generations, local content, SOP and variant coverage.</a:t>
            </a:r>
          </a:p>
        </p:txBody>
      </p:sp>
      <p:sp>
        <p:nvSpPr>
          <p:cNvPr id="23" name="">
            <a:extLst xmlns:a="http://schemas.openxmlformats.org/drawingml/2006/main">
              <a:ext uri="{FF2B5EF4-FFF2-40B4-BE49-F238E27FC236}">
                <a16:creationId xmlns:a16="http://schemas.microsoft.com/office/drawing/2014/main" id="{9BA9B957-AEB1-4C8A-A313-41278B60A6AA}"/>
              </a:ext>
            </a:extLst>
          </p:cNvPr>
          <p:cNvSpPr>
            <a:spLocks xmlns:a="http://schemas.openxmlformats.org/drawingml/2006/main" noGrp="1"/>
          </p:cNvSpPr>
          <p:nvPr/>
        </p:nvSpPr>
        <p:spPr>
          <a:xfrm xmlns:a="http://schemas.openxmlformats.org/drawingml/2006/main">
            <a:off x="9816084" y="29527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B007F1E7-2FB3-4C0D-BAA6-0BDA1EB508E4}"/>
              </a:ext>
            </a:extLst>
          </p:cNvPr>
          <p:cNvSpPr>
            <a:spLocks xmlns:a="http://schemas.openxmlformats.org/drawingml/2006/main" noGrp="1"/>
          </p:cNvSpPr>
          <p:nvPr/>
        </p:nvSpPr>
        <p:spPr>
          <a:xfrm xmlns:a="http://schemas.openxmlformats.org/drawingml/2006/main">
            <a:off x="457200" y="3581400"/>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112833F3-A973-4A4B-BACB-BB4BC7E19C0A}"/>
              </a:ext>
            </a:extLst>
          </p:cNvPr>
          <p:cNvSpPr>
            <a:spLocks xmlns:a="http://schemas.openxmlformats.org/drawingml/2006/main" noGrp="1"/>
          </p:cNvSpPr>
          <p:nvPr/>
        </p:nvSpPr>
        <p:spPr>
          <a:xfrm xmlns:a="http://schemas.openxmlformats.org/drawingml/2006/main">
            <a:off x="457200" y="35814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277824E-737E-46A7-A0BE-FEF7F3C0C0E7}"/>
              </a:ext>
            </a:extLst>
          </p:cNvPr>
          <p:cNvSpPr>
            <a:spLocks xmlns:a="http://schemas.openxmlformats.org/drawingml/2006/main" noGrp="1"/>
          </p:cNvSpPr>
          <p:nvPr/>
        </p:nvSpPr>
        <p:spPr>
          <a:xfrm xmlns:a="http://schemas.openxmlformats.org/drawingml/2006/main">
            <a:off x="457200" y="3581400"/>
            <a:ext cx="28575" cy="6477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BF9C887-F392-4A42-97A6-0012AA412C33}"/>
              </a:ext>
            </a:extLst>
          </p:cNvPr>
          <p:cNvSpPr>
            <a:spLocks xmlns:a="http://schemas.openxmlformats.org/drawingml/2006/main" noGrp="1"/>
          </p:cNvSpPr>
          <p:nvPr/>
        </p:nvSpPr>
        <p:spPr>
          <a:xfrm xmlns:a="http://schemas.openxmlformats.org/drawingml/2006/main">
            <a:off x="571500" y="36671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OBTAIN COMPARABLE RFQS</a:t>
            </a:r>
          </a:p>
        </p:txBody>
      </p:sp>
      <p:sp>
        <p:nvSpPr>
          <p:cNvPr id="28" name="">
            <a:extLst xmlns:a="http://schemas.openxmlformats.org/drawingml/2006/main">
              <a:ext uri="{FF2B5EF4-FFF2-40B4-BE49-F238E27FC236}">
                <a16:creationId xmlns:a16="http://schemas.microsoft.com/office/drawing/2014/main" id="{44BD2D27-B75F-4881-9C73-C450063CE1DA}"/>
              </a:ext>
            </a:extLst>
          </p:cNvPr>
          <p:cNvSpPr>
            <a:spLocks xmlns:a="http://schemas.openxmlformats.org/drawingml/2006/main" noGrp="1"/>
          </p:cNvSpPr>
          <p:nvPr/>
        </p:nvSpPr>
        <p:spPr>
          <a:xfrm xmlns:a="http://schemas.openxmlformats.org/drawingml/2006/main">
            <a:off x="4067556" y="3657600"/>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Obtain comparable RFQs; public catalogue pages cannot establish delivered price or programme status.</a:t>
            </a:r>
          </a:p>
        </p:txBody>
      </p:sp>
      <p:sp>
        <p:nvSpPr>
          <p:cNvPr id="29" name="">
            <a:extLst xmlns:a="http://schemas.openxmlformats.org/drawingml/2006/main">
              <a:ext uri="{FF2B5EF4-FFF2-40B4-BE49-F238E27FC236}">
                <a16:creationId xmlns:a16="http://schemas.microsoft.com/office/drawing/2014/main" id="{B3E113C4-9835-4581-B7A1-C2B416ED9D1F}"/>
              </a:ext>
            </a:extLst>
          </p:cNvPr>
          <p:cNvSpPr>
            <a:spLocks xmlns:a="http://schemas.openxmlformats.org/drawingml/2006/main" noGrp="1"/>
          </p:cNvSpPr>
          <p:nvPr/>
        </p:nvSpPr>
        <p:spPr>
          <a:xfrm xmlns:a="http://schemas.openxmlformats.org/drawingml/2006/main">
            <a:off x="9816084" y="36671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BA818CCB-A43F-42F8-A400-D3D7A9D3A94E}"/>
              </a:ext>
            </a:extLst>
          </p:cNvPr>
          <p:cNvSpPr>
            <a:spLocks xmlns:a="http://schemas.openxmlformats.org/drawingml/2006/main" noGrp="1"/>
          </p:cNvSpPr>
          <p:nvPr/>
        </p:nvSpPr>
        <p:spPr>
          <a:xfrm xmlns:a="http://schemas.openxmlformats.org/drawingml/2006/main">
            <a:off x="457200" y="4295775"/>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D7299012-3279-45C0-87F3-A14AED753C36}"/>
              </a:ext>
            </a:extLst>
          </p:cNvPr>
          <p:cNvSpPr>
            <a:spLocks xmlns:a="http://schemas.openxmlformats.org/drawingml/2006/main" noGrp="1"/>
          </p:cNvSpPr>
          <p:nvPr/>
        </p:nvSpPr>
        <p:spPr>
          <a:xfrm xmlns:a="http://schemas.openxmlformats.org/drawingml/2006/main">
            <a:off x="457200" y="429577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F85F446-70F7-4AE9-B3B4-D21EFB1A248E}"/>
              </a:ext>
            </a:extLst>
          </p:cNvPr>
          <p:cNvSpPr>
            <a:spLocks xmlns:a="http://schemas.openxmlformats.org/drawingml/2006/main" noGrp="1"/>
          </p:cNvSpPr>
          <p:nvPr/>
        </p:nvSpPr>
        <p:spPr>
          <a:xfrm xmlns:a="http://schemas.openxmlformats.org/drawingml/2006/main">
            <a:off x="457200" y="4295775"/>
            <a:ext cx="28575" cy="6477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9A5E5CA-46BA-4819-98C1-C3E192D381F9}"/>
              </a:ext>
            </a:extLst>
          </p:cNvPr>
          <p:cNvSpPr>
            <a:spLocks xmlns:a="http://schemas.openxmlformats.org/drawingml/2006/main" noGrp="1"/>
          </p:cNvSpPr>
          <p:nvPr/>
        </p:nvSpPr>
        <p:spPr>
          <a:xfrm xmlns:a="http://schemas.openxmlformats.org/drawingml/2006/main">
            <a:off x="571500" y="43815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THEIR STRUCTURAL ADVANTAGE</a:t>
            </a:r>
          </a:p>
        </p:txBody>
      </p:sp>
      <p:sp>
        <p:nvSpPr>
          <p:cNvPr id="34" name="">
            <a:extLst xmlns:a="http://schemas.openxmlformats.org/drawingml/2006/main">
              <a:ext uri="{FF2B5EF4-FFF2-40B4-BE49-F238E27FC236}">
                <a16:creationId xmlns:a16="http://schemas.microsoft.com/office/drawing/2014/main" id="{E2C107ED-62C1-4C7C-8980-60DCB5D54656}"/>
              </a:ext>
            </a:extLst>
          </p:cNvPr>
          <p:cNvSpPr>
            <a:spLocks xmlns:a="http://schemas.openxmlformats.org/drawingml/2006/main" noGrp="1"/>
          </p:cNvSpPr>
          <p:nvPr/>
        </p:nvSpPr>
        <p:spPr>
          <a:xfrm xmlns:a="http://schemas.openxmlformats.org/drawingml/2006/main">
            <a:off x="4067556" y="4371975"/>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Their structural advantage is established automotive scale and local engineering; public India CV programme detail differs by supplier and should not…</a:t>
            </a:r>
          </a:p>
        </p:txBody>
      </p:sp>
      <p:sp>
        <p:nvSpPr>
          <p:cNvPr id="35" name="">
            <a:extLst xmlns:a="http://schemas.openxmlformats.org/drawingml/2006/main">
              <a:ext uri="{FF2B5EF4-FFF2-40B4-BE49-F238E27FC236}">
                <a16:creationId xmlns:a16="http://schemas.microsoft.com/office/drawing/2014/main" id="{2FF8BFB1-F153-48C7-AEEB-9B815A869C07}"/>
              </a:ext>
            </a:extLst>
          </p:cNvPr>
          <p:cNvSpPr>
            <a:spLocks xmlns:a="http://schemas.openxmlformats.org/drawingml/2006/main" noGrp="1"/>
          </p:cNvSpPr>
          <p:nvPr/>
        </p:nvSpPr>
        <p:spPr>
          <a:xfrm xmlns:a="http://schemas.openxmlformats.org/drawingml/2006/main">
            <a:off x="9816084" y="43815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639431E5-B547-4E77-84FC-77AE0CA95336}"/>
              </a:ext>
            </a:extLst>
          </p:cNvPr>
          <p:cNvSpPr>
            <a:spLocks xmlns:a="http://schemas.openxmlformats.org/drawingml/2006/main" noGrp="1"/>
          </p:cNvSpPr>
          <p:nvPr/>
        </p:nvSpPr>
        <p:spPr>
          <a:xfrm xmlns:a="http://schemas.openxmlformats.org/drawingml/2006/main">
            <a:off x="457200" y="505777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FEB2C7D8-E8EA-49F4-97D4-9F6850C15C75}"/>
              </a:ext>
            </a:extLst>
          </p:cNvPr>
          <p:cNvSpPr>
            <a:spLocks xmlns:a="http://schemas.openxmlformats.org/drawingml/2006/main" noGrp="1"/>
          </p:cNvSpPr>
          <p:nvPr/>
        </p:nvSpPr>
        <p:spPr>
          <a:xfrm xmlns:a="http://schemas.openxmlformats.org/drawingml/2006/main">
            <a:off x="457200" y="505777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A3FD2A1B-E9A0-4884-BA82-A3AB1546A7B1}"/>
              </a:ext>
            </a:extLst>
          </p:cNvPr>
          <p:cNvSpPr>
            <a:spLocks xmlns:a="http://schemas.openxmlformats.org/drawingml/2006/main" noGrp="1"/>
          </p:cNvSpPr>
          <p:nvPr/>
        </p:nvSpPr>
        <p:spPr>
          <a:xfrm xmlns:a="http://schemas.openxmlformats.org/drawingml/2006/main">
            <a:off x="581025" y="51244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C8F3FA73-0394-4A40-92E2-22875BF16FF0}"/>
              </a:ext>
            </a:extLst>
          </p:cNvPr>
          <p:cNvSpPr>
            <a:spLocks xmlns:a="http://schemas.openxmlformats.org/drawingml/2006/main" noGrp="1"/>
          </p:cNvSpPr>
          <p:nvPr/>
        </p:nvSpPr>
        <p:spPr>
          <a:xfrm xmlns:a="http://schemas.openxmlformats.org/drawingml/2006/main">
            <a:off x="581025" y="527367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by a named Indian Tier-1 programme, sensor qualification evidence, or a retrofit deployment record.</a:t>
            </a:r>
          </a:p>
        </p:txBody>
      </p:sp>
      <p:sp>
        <p:nvSpPr>
          <p:cNvPr id="40" name="">
            <a:extLst xmlns:a="http://schemas.openxmlformats.org/drawingml/2006/main">
              <a:ext uri="{FF2B5EF4-FFF2-40B4-BE49-F238E27FC236}">
                <a16:creationId xmlns:a16="http://schemas.microsoft.com/office/drawing/2014/main" id="{25D62973-CE47-4CA8-B2CE-442C8D6FDDAE}"/>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72BC0849-3F49-4503-AAC8-8108CD120555}"/>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34395ABE-7DC8-4E17-BFA6-6F0F60BEFEB2}"/>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F9303CDA-48E3-44B6-97D6-931D5DDF024E}"/>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Escalate on named programme evidence; Owner: CI</a:t>
            </a:r>
          </a:p>
        </p:txBody>
      </p:sp>
      <p:sp>
        <p:nvSpPr>
          <p:cNvPr id="44" name="">
            <a:extLst xmlns:a="http://schemas.openxmlformats.org/drawingml/2006/main">
              <a:ext uri="{FF2B5EF4-FFF2-40B4-BE49-F238E27FC236}">
                <a16:creationId xmlns:a16="http://schemas.microsoft.com/office/drawing/2014/main" id="{0DF803B7-11CD-4D62-B2F2-57CDFF7BF949}"/>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A5162070-42AF-49ED-A927-A7D070166211}"/>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named programme evidence.</a:t>
            </a:r>
          </a:p>
        </p:txBody>
      </p:sp>
      <p:sp>
        <p:nvSpPr>
          <p:cNvPr id="46" name="">
            <a:extLst xmlns:a="http://schemas.openxmlformats.org/drawingml/2006/main">
              <a:ext uri="{FF2B5EF4-FFF2-40B4-BE49-F238E27FC236}">
                <a16:creationId xmlns:a16="http://schemas.microsoft.com/office/drawing/2014/main" id="{1AFBF28B-9BEC-4916-B38B-8B9FC0056C25}"/>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53D9E58D-C118-4D88-A53C-5BBEDDA52708}"/>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treating 'automotive-grade' supplier wording as qualification evidence.</a:t>
            </a:r>
          </a:p>
        </p:txBody>
      </p:sp>
      <p:sp>
        <p:nvSpPr>
          <p:cNvPr id="48" name="">
            <a:extLst xmlns:a="http://schemas.openxmlformats.org/drawingml/2006/main">
              <a:ext uri="{FF2B5EF4-FFF2-40B4-BE49-F238E27FC236}">
                <a16:creationId xmlns:a16="http://schemas.microsoft.com/office/drawing/2014/main" id="{82CC135A-77B2-4C8C-913E-2FF943CCE26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3783E312-EF28-49F3-8134-F790642F103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348049AB-14BE-4B17-8A86-E5B65789E1B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67</a:t>
            </a:r>
          </a:p>
        </p:txBody>
      </p:sp>
    </p:spTree>
    <p:extLst>
      <p:ext uri="{BB962C8B-B14F-4D97-AF65-F5344CB8AC3E}">
        <p14:creationId xmlns:p14="http://schemas.microsoft.com/office/powerpoint/2010/main" val="65363472"/>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36C5C5AE-5BF2-4807-8354-02132B1ADBD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F434331-5A14-4F61-A729-9055FB9526E4}"/>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4B2AE52-B8DA-421C-8DD7-B92345A214CF}"/>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F777F37D-EDA2-43F3-8CB5-FDAEF3490049}"/>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67906BA9-0D6B-466F-8112-C159235867E1}"/>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bitsensing threat: highest in visibility-constrained private sites, but low in government</a:t>
            </a:r>
          </a:p>
        </p:txBody>
      </p:sp>
      <p:sp>
        <p:nvSpPr>
          <p:cNvPr id="6" name="">
            <a:extLst xmlns:a="http://schemas.openxmlformats.org/drawingml/2006/main">
              <a:ext uri="{FF2B5EF4-FFF2-40B4-BE49-F238E27FC236}">
                <a16:creationId xmlns:a16="http://schemas.microsoft.com/office/drawing/2014/main" id="{505EE882-7DAD-4144-B37F-1F227B84A698}"/>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94EAB12-9BB8-46BC-9F2B-4B84C2121D31}"/>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bitsensing's competitive power change by buying arena?</a:t>
            </a:r>
          </a:p>
        </p:txBody>
      </p:sp>
      <p:sp>
        <p:nvSpPr>
          <p:cNvPr id="8" name="">
            <a:extLst xmlns:a="http://schemas.openxmlformats.org/drawingml/2006/main">
              <a:ext uri="{FF2B5EF4-FFF2-40B4-BE49-F238E27FC236}">
                <a16:creationId xmlns:a16="http://schemas.microsoft.com/office/drawing/2014/main" id="{89469E3C-076B-4898-BE7C-CFEDF442DB05}"/>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34E413C4-35B1-4D3F-91E4-1562F61716AF}"/>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A03FF59-B1E9-49E4-A7A4-241DE01BDEB3}"/>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56A679F0-70AC-4D59-BAAF-0E9CA9334BDE}"/>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bitsensing is strongest in visibility-constrained private sites, where dust and weather resilience decide, and weak in government where approval and eligibility decide.</a:t>
            </a:r>
          </a:p>
        </p:txBody>
      </p:sp>
      <p:sp>
        <p:nvSpPr>
          <p:cNvPr id="12" name="">
            <a:extLst xmlns:a="http://schemas.openxmlformats.org/drawingml/2006/main">
              <a:ext uri="{FF2B5EF4-FFF2-40B4-BE49-F238E27FC236}">
                <a16:creationId xmlns:a16="http://schemas.microsoft.com/office/drawing/2014/main" id="{0C963B3C-8F5F-4C15-A99E-6C2BE9540B18}"/>
              </a:ext>
            </a:extLst>
          </p:cNvPr>
          <p:cNvSpPr>
            <a:spLocks xmlns:a="http://schemas.openxmlformats.org/drawingml/2006/main" noGrp="1"/>
          </p:cNvSpPr>
          <p:nvPr/>
        </p:nvSpPr>
        <p:spPr>
          <a:xfrm xmlns:a="http://schemas.openxmlformats.org/drawingml/2006/main">
            <a:off x="2712720" y="215265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5DC6918-2737-4F71-98DD-B005F0B43A55}"/>
              </a:ext>
            </a:extLst>
          </p:cNvPr>
          <p:cNvSpPr>
            <a:spLocks xmlns:a="http://schemas.openxmlformats.org/drawingml/2006/main" noGrp="1"/>
          </p:cNvSpPr>
          <p:nvPr/>
        </p:nvSpPr>
        <p:spPr>
          <a:xfrm xmlns:a="http://schemas.openxmlformats.org/drawingml/2006/main">
            <a:off x="2807970" y="22288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7BF48F77-254B-4CC3-A763-0258C36A2D07}"/>
              </a:ext>
            </a:extLst>
          </p:cNvPr>
          <p:cNvSpPr>
            <a:spLocks xmlns:a="http://schemas.openxmlformats.org/drawingml/2006/main" noGrp="1"/>
          </p:cNvSpPr>
          <p:nvPr/>
        </p:nvSpPr>
        <p:spPr>
          <a:xfrm xmlns:a="http://schemas.openxmlformats.org/drawingml/2006/main">
            <a:off x="5815330" y="22288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CB16BE5D-234B-4C6D-99B7-8B6808DD6BA4}"/>
              </a:ext>
            </a:extLst>
          </p:cNvPr>
          <p:cNvSpPr>
            <a:spLocks xmlns:a="http://schemas.openxmlformats.org/drawingml/2006/main" noGrp="1"/>
          </p:cNvSpPr>
          <p:nvPr/>
        </p:nvSpPr>
        <p:spPr>
          <a:xfrm xmlns:a="http://schemas.openxmlformats.org/drawingml/2006/main">
            <a:off x="8822690" y="22288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3AC45FBA-1913-42D2-BEB1-3D4C000A16ED}"/>
              </a:ext>
            </a:extLst>
          </p:cNvPr>
          <p:cNvSpPr>
            <a:spLocks xmlns:a="http://schemas.openxmlformats.org/drawingml/2006/main" noGrp="1"/>
          </p:cNvSpPr>
          <p:nvPr/>
        </p:nvSpPr>
        <p:spPr>
          <a:xfrm xmlns:a="http://schemas.openxmlformats.org/drawingml/2006/main">
            <a:off x="457200" y="2400300"/>
            <a:ext cx="2255520" cy="194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2DF2FB39-6D80-4B60-AEBD-82F9B34990D0}"/>
              </a:ext>
            </a:extLst>
          </p:cNvPr>
          <p:cNvSpPr>
            <a:spLocks xmlns:a="http://schemas.openxmlformats.org/drawingml/2006/main" noGrp="1"/>
          </p:cNvSpPr>
          <p:nvPr/>
        </p:nvSpPr>
        <p:spPr>
          <a:xfrm xmlns:a="http://schemas.openxmlformats.org/drawingml/2006/main">
            <a:off x="552450" y="2514600"/>
            <a:ext cx="2103120" cy="1771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BITSENSING</a:t>
            </a:r>
          </a:p>
        </p:txBody>
      </p:sp>
      <p:sp>
        <p:nvSpPr>
          <p:cNvPr id="18" name="">
            <a:extLst xmlns:a="http://schemas.openxmlformats.org/drawingml/2006/main">
              <a:ext uri="{FF2B5EF4-FFF2-40B4-BE49-F238E27FC236}">
                <a16:creationId xmlns:a16="http://schemas.microsoft.com/office/drawing/2014/main" id="{2C8EC975-27AB-4368-B8DA-B7D4DA71BC92}"/>
              </a:ext>
            </a:extLst>
          </p:cNvPr>
          <p:cNvSpPr>
            <a:spLocks xmlns:a="http://schemas.openxmlformats.org/drawingml/2006/main" noGrp="1"/>
          </p:cNvSpPr>
          <p:nvPr/>
        </p:nvSpPr>
        <p:spPr>
          <a:xfrm xmlns:a="http://schemas.openxmlformats.org/drawingml/2006/main">
            <a:off x="2741295" y="242887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F6D42E61-1160-4A08-8BFE-93AE3E60A2FD}"/>
              </a:ext>
            </a:extLst>
          </p:cNvPr>
          <p:cNvSpPr>
            <a:spLocks xmlns:a="http://schemas.openxmlformats.org/drawingml/2006/main" noGrp="1"/>
          </p:cNvSpPr>
          <p:nvPr/>
        </p:nvSpPr>
        <p:spPr>
          <a:xfrm xmlns:a="http://schemas.openxmlformats.org/drawingml/2006/main">
            <a:off x="2741295" y="2428875"/>
            <a:ext cx="1003071"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40F9B5C-BD43-4D9B-A57E-24F9EB76427F}"/>
              </a:ext>
            </a:extLst>
          </p:cNvPr>
          <p:cNvSpPr>
            <a:spLocks xmlns:a="http://schemas.openxmlformats.org/drawingml/2006/main" noGrp="1"/>
          </p:cNvSpPr>
          <p:nvPr/>
        </p:nvSpPr>
        <p:spPr>
          <a:xfrm xmlns:a="http://schemas.openxmlformats.org/drawingml/2006/main">
            <a:off x="2817495" y="25146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LOW-MEDIUM</a:t>
            </a:r>
          </a:p>
        </p:txBody>
      </p:sp>
      <p:sp>
        <p:nvSpPr>
          <p:cNvPr id="21" name="">
            <a:extLst xmlns:a="http://schemas.openxmlformats.org/drawingml/2006/main">
              <a:ext uri="{FF2B5EF4-FFF2-40B4-BE49-F238E27FC236}">
                <a16:creationId xmlns:a16="http://schemas.microsoft.com/office/drawing/2014/main" id="{301521AE-7934-449B-92C2-2C3E15CACED5}"/>
              </a:ext>
            </a:extLst>
          </p:cNvPr>
          <p:cNvSpPr>
            <a:spLocks xmlns:a="http://schemas.openxmlformats.org/drawingml/2006/main" noGrp="1"/>
          </p:cNvSpPr>
          <p:nvPr/>
        </p:nvSpPr>
        <p:spPr>
          <a:xfrm xmlns:a="http://schemas.openxmlformats.org/drawingml/2006/main">
            <a:off x="2817495" y="263842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Approval/process</a:t>
            </a:r>
          </a:p>
        </p:txBody>
      </p:sp>
      <p:sp>
        <p:nvSpPr>
          <p:cNvPr id="22" name="">
            <a:extLst xmlns:a="http://schemas.openxmlformats.org/drawingml/2006/main">
              <a:ext uri="{FF2B5EF4-FFF2-40B4-BE49-F238E27FC236}">
                <a16:creationId xmlns:a16="http://schemas.microsoft.com/office/drawing/2014/main" id="{4C9B4221-ADC1-499C-978C-C0F2B20E1C43}"/>
              </a:ext>
            </a:extLst>
          </p:cNvPr>
          <p:cNvSpPr>
            <a:spLocks xmlns:a="http://schemas.openxmlformats.org/drawingml/2006/main" noGrp="1"/>
          </p:cNvSpPr>
          <p:nvPr/>
        </p:nvSpPr>
        <p:spPr>
          <a:xfrm xmlns:a="http://schemas.openxmlformats.org/drawingml/2006/main">
            <a:off x="5748655" y="242887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81E17864-E3E3-4DCE-9818-8FE80980EFD1}"/>
              </a:ext>
            </a:extLst>
          </p:cNvPr>
          <p:cNvSpPr>
            <a:spLocks xmlns:a="http://schemas.openxmlformats.org/drawingml/2006/main" noGrp="1"/>
          </p:cNvSpPr>
          <p:nvPr/>
        </p:nvSpPr>
        <p:spPr>
          <a:xfrm xmlns:a="http://schemas.openxmlformats.org/drawingml/2006/main">
            <a:off x="5748655" y="242887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BD1D455-97C2-46DA-A88E-8E19CA1305F1}"/>
              </a:ext>
            </a:extLst>
          </p:cNvPr>
          <p:cNvSpPr>
            <a:spLocks xmlns:a="http://schemas.openxmlformats.org/drawingml/2006/main" noGrp="1"/>
          </p:cNvSpPr>
          <p:nvPr/>
        </p:nvSpPr>
        <p:spPr>
          <a:xfrm xmlns:a="http://schemas.openxmlformats.org/drawingml/2006/main">
            <a:off x="5824855" y="25146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5" name="">
            <a:extLst xmlns:a="http://schemas.openxmlformats.org/drawingml/2006/main">
              <a:ext uri="{FF2B5EF4-FFF2-40B4-BE49-F238E27FC236}">
                <a16:creationId xmlns:a16="http://schemas.microsoft.com/office/drawing/2014/main" id="{BF01913D-19B7-48CE-89BB-BFF4949887E0}"/>
              </a:ext>
            </a:extLst>
          </p:cNvPr>
          <p:cNvSpPr>
            <a:spLocks xmlns:a="http://schemas.openxmlformats.org/drawingml/2006/main" noGrp="1"/>
          </p:cNvSpPr>
          <p:nvPr/>
        </p:nvSpPr>
        <p:spPr>
          <a:xfrm xmlns:a="http://schemas.openxmlformats.org/drawingml/2006/main">
            <a:off x="5824855" y="263842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Sensor supplier in stacks</a:t>
            </a:r>
          </a:p>
        </p:txBody>
      </p:sp>
      <p:sp>
        <p:nvSpPr>
          <p:cNvPr id="26" name="">
            <a:extLst xmlns:a="http://schemas.openxmlformats.org/drawingml/2006/main">
              <a:ext uri="{FF2B5EF4-FFF2-40B4-BE49-F238E27FC236}">
                <a16:creationId xmlns:a16="http://schemas.microsoft.com/office/drawing/2014/main" id="{0BE913DB-3A7D-4161-9205-C6F816225352}"/>
              </a:ext>
            </a:extLst>
          </p:cNvPr>
          <p:cNvSpPr>
            <a:spLocks xmlns:a="http://schemas.openxmlformats.org/drawingml/2006/main" noGrp="1"/>
          </p:cNvSpPr>
          <p:nvPr/>
        </p:nvSpPr>
        <p:spPr>
          <a:xfrm xmlns:a="http://schemas.openxmlformats.org/drawingml/2006/main">
            <a:off x="8756015" y="242887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C788BB61-ADC3-4588-8926-66672F6F01EB}"/>
              </a:ext>
            </a:extLst>
          </p:cNvPr>
          <p:cNvSpPr>
            <a:spLocks xmlns:a="http://schemas.openxmlformats.org/drawingml/2006/main" noGrp="1"/>
          </p:cNvSpPr>
          <p:nvPr/>
        </p:nvSpPr>
        <p:spPr>
          <a:xfrm xmlns:a="http://schemas.openxmlformats.org/drawingml/2006/main">
            <a:off x="8756015" y="242887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CF8E40A-D875-45A2-A289-7D84BE74D66D}"/>
              </a:ext>
            </a:extLst>
          </p:cNvPr>
          <p:cNvSpPr>
            <a:spLocks xmlns:a="http://schemas.openxmlformats.org/drawingml/2006/main" noGrp="1"/>
          </p:cNvSpPr>
          <p:nvPr/>
        </p:nvSpPr>
        <p:spPr>
          <a:xfrm xmlns:a="http://schemas.openxmlformats.org/drawingml/2006/main">
            <a:off x="8832215" y="25146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29" name="">
            <a:extLst xmlns:a="http://schemas.openxmlformats.org/drawingml/2006/main">
              <a:ext uri="{FF2B5EF4-FFF2-40B4-BE49-F238E27FC236}">
                <a16:creationId xmlns:a16="http://schemas.microsoft.com/office/drawing/2014/main" id="{B9954193-CE7F-4882-ACA0-9D456BCA13DF}"/>
              </a:ext>
            </a:extLst>
          </p:cNvPr>
          <p:cNvSpPr>
            <a:spLocks xmlns:a="http://schemas.openxmlformats.org/drawingml/2006/main" noGrp="1"/>
          </p:cNvSpPr>
          <p:nvPr/>
        </p:nvSpPr>
        <p:spPr>
          <a:xfrm xmlns:a="http://schemas.openxmlformats.org/drawingml/2006/main">
            <a:off x="8832215" y="263842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Resilient sensing valued</a:t>
            </a:r>
          </a:p>
        </p:txBody>
      </p:sp>
      <p:sp>
        <p:nvSpPr>
          <p:cNvPr id="30" name="">
            <a:extLst xmlns:a="http://schemas.openxmlformats.org/drawingml/2006/main">
              <a:ext uri="{FF2B5EF4-FFF2-40B4-BE49-F238E27FC236}">
                <a16:creationId xmlns:a16="http://schemas.microsoft.com/office/drawing/2014/main" id="{BB054665-E1C3-4103-A1C8-A067D036063E}"/>
              </a:ext>
            </a:extLst>
          </p:cNvPr>
          <p:cNvSpPr>
            <a:spLocks xmlns:a="http://schemas.openxmlformats.org/drawingml/2006/main" noGrp="1"/>
          </p:cNvSpPr>
          <p:nvPr/>
        </p:nvSpPr>
        <p:spPr>
          <a:xfrm xmlns:a="http://schemas.openxmlformats.org/drawingml/2006/main">
            <a:off x="457200" y="44577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1FE1B1FA-11AD-4EF5-AD70-766D907A883D}"/>
              </a:ext>
            </a:extLst>
          </p:cNvPr>
          <p:cNvSpPr>
            <a:spLocks xmlns:a="http://schemas.openxmlformats.org/drawingml/2006/main" noGrp="1"/>
          </p:cNvSpPr>
          <p:nvPr/>
        </p:nvSpPr>
        <p:spPr>
          <a:xfrm xmlns:a="http://schemas.openxmlformats.org/drawingml/2006/main">
            <a:off x="457200" y="44577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96F1881-0FBF-41CA-BC5D-2766CC94394A}"/>
              </a:ext>
            </a:extLst>
          </p:cNvPr>
          <p:cNvSpPr>
            <a:spLocks xmlns:a="http://schemas.openxmlformats.org/drawingml/2006/main" noGrp="1"/>
          </p:cNvSpPr>
          <p:nvPr/>
        </p:nvSpPr>
        <p:spPr>
          <a:xfrm xmlns:a="http://schemas.openxmlformats.org/drawingml/2006/main">
            <a:off x="581025" y="45243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33" name="">
            <a:extLst xmlns:a="http://schemas.openxmlformats.org/drawingml/2006/main">
              <a:ext uri="{FF2B5EF4-FFF2-40B4-BE49-F238E27FC236}">
                <a16:creationId xmlns:a16="http://schemas.microsoft.com/office/drawing/2014/main" id="{47802F77-3E9C-48E6-875D-63C5E05CCF89}"/>
              </a:ext>
            </a:extLst>
          </p:cNvPr>
          <p:cNvSpPr>
            <a:spLocks xmlns:a="http://schemas.openxmlformats.org/drawingml/2006/main" noGrp="1"/>
          </p:cNvSpPr>
          <p:nvPr/>
        </p:nvSpPr>
        <p:spPr>
          <a:xfrm xmlns:a="http://schemas.openxmlformats.org/drawingml/2006/main">
            <a:off x="581025" y="46736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Radar's advantage is physical, not commercial. It converts into wins only where the operating environment defeats cameras and the buyer controls its own approval.</a:t>
            </a:r>
          </a:p>
        </p:txBody>
      </p:sp>
      <p:sp>
        <p:nvSpPr>
          <p:cNvPr id="34" name="">
            <a:extLst xmlns:a="http://schemas.openxmlformats.org/drawingml/2006/main">
              <a:ext uri="{FF2B5EF4-FFF2-40B4-BE49-F238E27FC236}">
                <a16:creationId xmlns:a16="http://schemas.microsoft.com/office/drawing/2014/main" id="{C8B502E9-7FB3-4A35-9D17-BE4C624E208C}"/>
              </a:ext>
            </a:extLst>
          </p:cNvPr>
          <p:cNvSpPr>
            <a:spLocks xmlns:a="http://schemas.openxmlformats.org/drawingml/2006/main" noGrp="1"/>
          </p:cNvSpPr>
          <p:nvPr/>
        </p:nvSpPr>
        <p:spPr>
          <a:xfrm xmlns:a="http://schemas.openxmlformats.org/drawingml/2006/main">
            <a:off x="6153150" y="4457700"/>
            <a:ext cx="558165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5" name="">
            <a:extLst xmlns:a="http://schemas.openxmlformats.org/drawingml/2006/main">
              <a:ext uri="{FF2B5EF4-FFF2-40B4-BE49-F238E27FC236}">
                <a16:creationId xmlns:a16="http://schemas.microsoft.com/office/drawing/2014/main" id="{2A81C935-7B36-47F0-BBA7-D8853EECCD9C}"/>
              </a:ext>
            </a:extLst>
          </p:cNvPr>
          <p:cNvSpPr>
            <a:spLocks xmlns:a="http://schemas.openxmlformats.org/drawingml/2006/main" noGrp="1"/>
          </p:cNvSpPr>
          <p:nvPr/>
        </p:nvSpPr>
        <p:spPr>
          <a:xfrm xmlns:a="http://schemas.openxmlformats.org/drawingml/2006/main">
            <a:off x="6153150" y="4457700"/>
            <a:ext cx="28575" cy="673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F29F9C8B-2CFC-45A0-9AD1-A8A9A244A66E}"/>
              </a:ext>
            </a:extLst>
          </p:cNvPr>
          <p:cNvSpPr>
            <a:spLocks xmlns:a="http://schemas.openxmlformats.org/drawingml/2006/main" noGrp="1"/>
          </p:cNvSpPr>
          <p:nvPr/>
        </p:nvSpPr>
        <p:spPr>
          <a:xfrm xmlns:a="http://schemas.openxmlformats.org/drawingml/2006/main">
            <a:off x="6276975" y="45243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37" name="">
            <a:extLst xmlns:a="http://schemas.openxmlformats.org/drawingml/2006/main">
              <a:ext uri="{FF2B5EF4-FFF2-40B4-BE49-F238E27FC236}">
                <a16:creationId xmlns:a16="http://schemas.microsoft.com/office/drawing/2014/main" id="{54DF3FE4-3911-4A5B-912E-E6C109E3D2D4}"/>
              </a:ext>
            </a:extLst>
          </p:cNvPr>
          <p:cNvSpPr>
            <a:spLocks xmlns:a="http://schemas.openxmlformats.org/drawingml/2006/main" noGrp="1"/>
          </p:cNvSpPr>
          <p:nvPr/>
        </p:nvSpPr>
        <p:spPr>
          <a:xfrm xmlns:a="http://schemas.openxmlformats.org/drawingml/2006/main">
            <a:off x="6276975" y="4673600"/>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Add dust, visibility and serviceability scenarios to the next partner evaluation.</a:t>
            </a:r>
          </a:p>
        </p:txBody>
      </p:sp>
      <p:sp>
        <p:nvSpPr>
          <p:cNvPr id="38" name="">
            <a:extLst xmlns:a="http://schemas.openxmlformats.org/drawingml/2006/main">
              <a:ext uri="{FF2B5EF4-FFF2-40B4-BE49-F238E27FC236}">
                <a16:creationId xmlns:a16="http://schemas.microsoft.com/office/drawing/2014/main" id="{290187C9-7081-4D3D-9EF4-BE8F6B274023}"/>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A4AFAB79-7A57-4496-993B-E3C592F55D6A}"/>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8DF83F12-C108-42C5-AE36-083FA55F064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1" name="">
            <a:extLst xmlns:a="http://schemas.openxmlformats.org/drawingml/2006/main">
              <a:ext uri="{FF2B5EF4-FFF2-40B4-BE49-F238E27FC236}">
                <a16:creationId xmlns:a16="http://schemas.microsoft.com/office/drawing/2014/main" id="{7E28B361-732D-4AC1-91B7-06EA9F983E37}"/>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Add dust, visibility and serviceability scenarios to partner evaluation</a:t>
            </a:r>
          </a:p>
        </p:txBody>
      </p:sp>
      <p:sp>
        <p:nvSpPr>
          <p:cNvPr id="42" name="">
            <a:extLst xmlns:a="http://schemas.openxmlformats.org/drawingml/2006/main">
              <a:ext uri="{FF2B5EF4-FFF2-40B4-BE49-F238E27FC236}">
                <a16:creationId xmlns:a16="http://schemas.microsoft.com/office/drawing/2014/main" id="{C1E9D125-8933-484E-8747-649D7987BD5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3" name="">
            <a:extLst xmlns:a="http://schemas.openxmlformats.org/drawingml/2006/main">
              <a:ext uri="{FF2B5EF4-FFF2-40B4-BE49-F238E27FC236}">
                <a16:creationId xmlns:a16="http://schemas.microsoft.com/office/drawing/2014/main" id="{B90F0E8C-1F5C-4C9A-8184-0901FD940DEA}"/>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Add dust, visibility and serviceability scenarios to the next partner evaluation.</a:t>
            </a:r>
          </a:p>
        </p:txBody>
      </p:sp>
      <p:sp>
        <p:nvSpPr>
          <p:cNvPr id="44" name="">
            <a:extLst xmlns:a="http://schemas.openxmlformats.org/drawingml/2006/main">
              <a:ext uri="{FF2B5EF4-FFF2-40B4-BE49-F238E27FC236}">
                <a16:creationId xmlns:a16="http://schemas.microsoft.com/office/drawing/2014/main" id="{14E17868-E9F6-4F2E-9CDF-7872BE3D8FAE}"/>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5" name="">
            <a:extLst xmlns:a="http://schemas.openxmlformats.org/drawingml/2006/main">
              <a:ext uri="{FF2B5EF4-FFF2-40B4-BE49-F238E27FC236}">
                <a16:creationId xmlns:a16="http://schemas.microsoft.com/office/drawing/2014/main" id="{08B166EA-8BC7-43B5-A691-66767677BF60}"/>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radar resilience appears as a scored tender criterion.</a:t>
            </a:r>
          </a:p>
        </p:txBody>
      </p:sp>
      <p:sp>
        <p:nvSpPr>
          <p:cNvPr id="46" name="">
            <a:extLst xmlns:a="http://schemas.openxmlformats.org/drawingml/2006/main">
              <a:ext uri="{FF2B5EF4-FFF2-40B4-BE49-F238E27FC236}">
                <a16:creationId xmlns:a16="http://schemas.microsoft.com/office/drawing/2014/main" id="{98BD9F2D-3A18-4671-963C-3DC08C3746B5}"/>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4346753C-3A6E-48CC-9A90-F311C96656C2}"/>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8" name="">
            <a:extLst xmlns:a="http://schemas.openxmlformats.org/drawingml/2006/main">
              <a:ext uri="{FF2B5EF4-FFF2-40B4-BE49-F238E27FC236}">
                <a16:creationId xmlns:a16="http://schemas.microsoft.com/office/drawing/2014/main" id="{D1713DC5-58BA-4822-9DE6-A0388C6AD5A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68</a:t>
            </a:r>
          </a:p>
        </p:txBody>
      </p:sp>
    </p:spTree>
    <p:extLst>
      <p:ext uri="{BB962C8B-B14F-4D97-AF65-F5344CB8AC3E}">
        <p14:creationId xmlns:p14="http://schemas.microsoft.com/office/powerpoint/2010/main" val="325752579"/>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DD011AF4-2166-40F1-BF93-9CF9E06305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04FD9C2-EA01-48BB-A58F-9293A10B8244}"/>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614AF9C-4CE3-48B3-874C-BDE7DA2EBB3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0D351C41-E68E-4443-BC50-BCD3101336D1}"/>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84BF3654-06BB-4DF3-BC30-2FFE2CB73B45}"/>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Run a reversible bitsensing partner test inside mining pilots</a:t>
            </a:r>
          </a:p>
        </p:txBody>
      </p:sp>
      <p:sp>
        <p:nvSpPr>
          <p:cNvPr id="6" name="">
            <a:extLst xmlns:a="http://schemas.openxmlformats.org/drawingml/2006/main">
              <a:ext uri="{FF2B5EF4-FFF2-40B4-BE49-F238E27FC236}">
                <a16:creationId xmlns:a16="http://schemas.microsoft.com/office/drawing/2014/main" id="{A0A67D4C-236A-4D78-913A-CD451F7D8F80}"/>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BE13A6E-3184-43EC-A352-FF3E47F7804A}"/>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response should DeepGrid fund now, and which observable signal should escalate investment?</a:t>
            </a:r>
          </a:p>
        </p:txBody>
      </p:sp>
      <p:sp>
        <p:nvSpPr>
          <p:cNvPr id="8" name="">
            <a:extLst xmlns:a="http://schemas.openxmlformats.org/drawingml/2006/main">
              <a:ext uri="{FF2B5EF4-FFF2-40B4-BE49-F238E27FC236}">
                <a16:creationId xmlns:a16="http://schemas.microsoft.com/office/drawing/2014/main" id="{8781F6DE-8910-4356-8B5C-E49630F49B0D}"/>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61F21BBC-0FDD-4B78-85D3-8B08DAEA32D8}"/>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904D69D-D9D6-4047-8DF8-2446DFA40455}"/>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C3E57FC6-187F-46D4-BEB2-3418DEBD2EA5}"/>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Fund one reversible technical-commercial call with bitsensing inside the mining pilots, and withhold any broader partnership until qualified sensor evidence exists.</a:t>
            </a:r>
          </a:p>
        </p:txBody>
      </p:sp>
      <p:sp>
        <p:nvSpPr>
          <p:cNvPr id="12" name="">
            <a:extLst xmlns:a="http://schemas.openxmlformats.org/drawingml/2006/main">
              <a:ext uri="{FF2B5EF4-FFF2-40B4-BE49-F238E27FC236}">
                <a16:creationId xmlns:a16="http://schemas.microsoft.com/office/drawing/2014/main" id="{E43C44C5-16D1-498B-9807-D7687EA7A452}"/>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19F51D63-2A2D-4107-BB9D-8DCCCE9DDF30}"/>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674162D-4C6C-49AF-88C9-4D49C8BC8913}"/>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20EB5E94-509F-4E34-8D2E-260044DF7E5D}"/>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PROPOSED ADJACENCY</a:t>
            </a:r>
          </a:p>
        </p:txBody>
      </p:sp>
      <p:sp>
        <p:nvSpPr>
          <p:cNvPr id="16" name="">
            <a:extLst xmlns:a="http://schemas.openxmlformats.org/drawingml/2006/main">
              <a:ext uri="{FF2B5EF4-FFF2-40B4-BE49-F238E27FC236}">
                <a16:creationId xmlns:a16="http://schemas.microsoft.com/office/drawing/2014/main" id="{6D89D4F7-EC8E-4E92-AE0C-C1598CF84C84}"/>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bitsensing announced $25m Series B, NXP collaboration, automotive development partnerships, and India-related activity mentions. Radar adjacency capability NXP development partnership India…</a:t>
            </a:r>
          </a:p>
        </p:txBody>
      </p:sp>
      <p:sp>
        <p:nvSpPr>
          <p:cNvPr id="17" name="">
            <a:extLst xmlns:a="http://schemas.openxmlformats.org/drawingml/2006/main">
              <a:ext uri="{FF2B5EF4-FFF2-40B4-BE49-F238E27FC236}">
                <a16:creationId xmlns:a16="http://schemas.microsoft.com/office/drawing/2014/main" id="{3B6155AB-EDB8-41A9-9960-4D7BD92122E4}"/>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ACC985E-DA90-4552-A5F7-1CB8E62270F9}"/>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234E1FB9-4FFF-423A-A476-DD7129C51682}"/>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196C69A-459C-4787-830C-C1880A79D765}"/>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E9C94141-B701-4DF1-AD64-8E0CF0965EC6}"/>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STRATEGIC COMPLEMENT</a:t>
            </a:r>
          </a:p>
        </p:txBody>
      </p:sp>
      <p:sp>
        <p:nvSpPr>
          <p:cNvPr id="22" name="">
            <a:extLst xmlns:a="http://schemas.openxmlformats.org/drawingml/2006/main">
              <a:ext uri="{FF2B5EF4-FFF2-40B4-BE49-F238E27FC236}">
                <a16:creationId xmlns:a16="http://schemas.microsoft.com/office/drawing/2014/main" id="{F3D289C7-6AD7-4D2E-9D75-AF38A5B27C56}"/>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Radar could address range-rate and visibility objections while DeepGrid contributes semantic camera classification. Range-rate sensing Visibility resilience Fusion architecture</a:t>
            </a:r>
          </a:p>
        </p:txBody>
      </p:sp>
      <p:sp>
        <p:nvSpPr>
          <p:cNvPr id="23" name="">
            <a:extLst xmlns:a="http://schemas.openxmlformats.org/drawingml/2006/main">
              <a:ext uri="{FF2B5EF4-FFF2-40B4-BE49-F238E27FC236}">
                <a16:creationId xmlns:a16="http://schemas.microsoft.com/office/drawing/2014/main" id="{988BCAC8-A40B-4888-807E-A47556FF1EE1}"/>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ADE817F-C427-45BE-928A-3C0524A6BD87}"/>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77DADE03-601A-4F57-B3BD-624E5F60E4E7}"/>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CD06407-8FA3-4D2A-8CFB-C63C4BAC9A3D}"/>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A2A37BFA-3255-4F96-B80C-AFF3FFA419A8}"/>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EVIDENCE CONTROL</a:t>
            </a:r>
          </a:p>
        </p:txBody>
      </p:sp>
      <p:sp>
        <p:nvSpPr>
          <p:cNvPr id="28" name="">
            <a:extLst xmlns:a="http://schemas.openxmlformats.org/drawingml/2006/main">
              <a:ext uri="{FF2B5EF4-FFF2-40B4-BE49-F238E27FC236}">
                <a16:creationId xmlns:a16="http://schemas.microsoft.com/office/drawing/2014/main" id="{FDFEC2E8-D9CE-41FB-9D80-99E92886DE63}"/>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Retrofit activity may be used as market evidence only after customer/approval artifacts are validated. Customer validation Approval verification Performance metrics</a:t>
            </a:r>
          </a:p>
        </p:txBody>
      </p:sp>
      <p:sp>
        <p:nvSpPr>
          <p:cNvPr id="29" name="">
            <a:extLst xmlns:a="http://schemas.openxmlformats.org/drawingml/2006/main">
              <a:ext uri="{FF2B5EF4-FFF2-40B4-BE49-F238E27FC236}">
                <a16:creationId xmlns:a16="http://schemas.microsoft.com/office/drawing/2014/main" id="{28B0BB18-262E-44D8-A6FF-27A8B9DFC794}"/>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840DCFA-0869-4A5A-9713-C37B605C092E}"/>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FD5EACA8-F4A6-42F8-B293-67A282A5C6A3}"/>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BFD40CB-9D0C-4023-9917-02DB759BE060}"/>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3ADADD38-7EA2-46D0-A6CD-A0B780A1B186}"/>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FDFAADF2-1623-42D9-8F9E-B8117D412A38}"/>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when the call confirms qualified sensor scope, India support, and integration fit. Sensor scope verified India support confirmed Integration fit validated</a:t>
            </a:r>
          </a:p>
        </p:txBody>
      </p:sp>
      <p:sp>
        <p:nvSpPr>
          <p:cNvPr id="35" name="">
            <a:extLst xmlns:a="http://schemas.openxmlformats.org/drawingml/2006/main">
              <a:ext uri="{FF2B5EF4-FFF2-40B4-BE49-F238E27FC236}">
                <a16:creationId xmlns:a16="http://schemas.microsoft.com/office/drawing/2014/main" id="{685F0705-FC4B-46E0-988A-5C5E8BAFE84D}"/>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574694B7-992F-4FC9-96E9-893D0985F256}"/>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043EACD-40B7-4912-A58A-09599F05AE33}"/>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B25C57E3-BAF7-4CC4-8B5E-7447A240DCEB}"/>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Mining is already the fastest proof arena, so a radar option can be tested there at no additional access cost. Making the call reversible is what keeps a partner test from becoming a commitment.</a:t>
            </a:r>
          </a:p>
        </p:txBody>
      </p:sp>
      <p:sp>
        <p:nvSpPr>
          <p:cNvPr id="39" name="">
            <a:extLst xmlns:a="http://schemas.openxmlformats.org/drawingml/2006/main">
              <a:ext uri="{FF2B5EF4-FFF2-40B4-BE49-F238E27FC236}">
                <a16:creationId xmlns:a16="http://schemas.microsoft.com/office/drawing/2014/main" id="{6C7A3751-0F92-417E-BD03-D197A66381E0}"/>
              </a:ext>
            </a:extLst>
          </p:cNvPr>
          <p:cNvSpPr>
            <a:spLocks xmlns:a="http://schemas.openxmlformats.org/drawingml/2006/main" noGrp="1"/>
          </p:cNvSpPr>
          <p:nvPr/>
        </p:nvSpPr>
        <p:spPr>
          <a:xfrm xmlns:a="http://schemas.openxmlformats.org/drawingml/2006/main">
            <a:off x="6153150" y="472757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11C35643-8252-4AFA-B4BF-DE27E80DB20E}"/>
              </a:ext>
            </a:extLst>
          </p:cNvPr>
          <p:cNvSpPr>
            <a:spLocks xmlns:a="http://schemas.openxmlformats.org/drawingml/2006/main" noGrp="1"/>
          </p:cNvSpPr>
          <p:nvPr/>
        </p:nvSpPr>
        <p:spPr>
          <a:xfrm xmlns:a="http://schemas.openxmlformats.org/drawingml/2006/main">
            <a:off x="6153150" y="472757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5AD7BB0-AEEE-4F17-8D72-43E1AD917699}"/>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966861D9-7FDB-425C-9F81-FE4D431E0192}"/>
              </a:ext>
            </a:extLst>
          </p:cNvPr>
          <p:cNvSpPr>
            <a:spLocks xmlns:a="http://schemas.openxmlformats.org/drawingml/2006/main" noGrp="1"/>
          </p:cNvSpPr>
          <p:nvPr/>
        </p:nvSpPr>
        <p:spPr>
          <a:xfrm xmlns:a="http://schemas.openxmlformats.org/drawingml/2006/main">
            <a:off x="6276975" y="494347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at the call if qualified sensor evidence is not confirmed.</a:t>
            </a:r>
          </a:p>
        </p:txBody>
      </p:sp>
      <p:sp>
        <p:nvSpPr>
          <p:cNvPr id="43" name="">
            <a:extLst xmlns:a="http://schemas.openxmlformats.org/drawingml/2006/main">
              <a:ext uri="{FF2B5EF4-FFF2-40B4-BE49-F238E27FC236}">
                <a16:creationId xmlns:a16="http://schemas.microsoft.com/office/drawing/2014/main" id="{81D875FA-9660-4BC5-8ADB-38C9B8A519F2}"/>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DB7B49F4-D7B7-4254-8DB8-7628A839FBDF}"/>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3C5B627-CE17-4794-B8CD-9E808114D382}"/>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41C722EC-280B-487A-ADCD-AE6708D3A45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one reversible technical-commercial call and withhold broader partnership</a:t>
            </a:r>
          </a:p>
        </p:txBody>
      </p:sp>
      <p:sp>
        <p:nvSpPr>
          <p:cNvPr id="47" name="">
            <a:extLst xmlns:a="http://schemas.openxmlformats.org/drawingml/2006/main">
              <a:ext uri="{FF2B5EF4-FFF2-40B4-BE49-F238E27FC236}">
                <a16:creationId xmlns:a16="http://schemas.microsoft.com/office/drawing/2014/main" id="{DA7D15D4-CDFC-4D17-B077-13EE23F52E51}"/>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893E5287-4BFD-4B11-B239-58C86C83E36B}"/>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Escalate when the call confirms qualified sensor scope, India support, and integration fit</a:t>
            </a:r>
          </a:p>
        </p:txBody>
      </p:sp>
      <p:sp>
        <p:nvSpPr>
          <p:cNvPr id="49" name="">
            <a:extLst xmlns:a="http://schemas.openxmlformats.org/drawingml/2006/main">
              <a:ext uri="{FF2B5EF4-FFF2-40B4-BE49-F238E27FC236}">
                <a16:creationId xmlns:a16="http://schemas.microsoft.com/office/drawing/2014/main" id="{5BAEBF5D-EFC3-47B3-AF45-AF522A8120AD}"/>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8F834D47-0EE8-4087-A715-1ABEC520E633}"/>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at the call if qualified sensor evidence is not confirmed.</a:t>
            </a:r>
          </a:p>
        </p:txBody>
      </p:sp>
      <p:sp>
        <p:nvSpPr>
          <p:cNvPr id="51" name="">
            <a:extLst xmlns:a="http://schemas.openxmlformats.org/drawingml/2006/main">
              <a:ext uri="{FF2B5EF4-FFF2-40B4-BE49-F238E27FC236}">
                <a16:creationId xmlns:a16="http://schemas.microsoft.com/office/drawing/2014/main" id="{8313B48E-9E78-4A04-A2A0-72684D45C6DC}"/>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77126C1F-84C9-46C2-B130-D9055E8AEFE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72C20A53-A11E-4AE3-89EE-37AA02417AE7}"/>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69</a:t>
            </a:r>
          </a:p>
        </p:txBody>
      </p:sp>
    </p:spTree>
    <p:extLst>
      <p:ext uri="{BB962C8B-B14F-4D97-AF65-F5344CB8AC3E}">
        <p14:creationId xmlns:p14="http://schemas.microsoft.com/office/powerpoint/2010/main" val="1795123188"/>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688C1F67-B9B9-436A-A61D-2F411C3B51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7A1A0A0-EB5D-4046-91C9-69DE64C99D04}"/>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67F7721-7B14-46DB-85A4-C018CBD19FBB}"/>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330D3FE0-57AB-413D-9C39-BA7D87CD7B44}"/>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1E2C2C01-C2E0-441E-946F-F07DE81DB5E7}"/>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bitsensing: Keep as conditional radar partner; low direct AEBS threat today</a:t>
            </a:r>
          </a:p>
        </p:txBody>
      </p:sp>
      <p:sp>
        <p:nvSpPr>
          <p:cNvPr id="6" name="">
            <a:extLst xmlns:a="http://schemas.openxmlformats.org/drawingml/2006/main">
              <a:ext uri="{FF2B5EF4-FFF2-40B4-BE49-F238E27FC236}">
                <a16:creationId xmlns:a16="http://schemas.microsoft.com/office/drawing/2014/main" id="{9B272A41-FDEA-401A-83B8-AEE7B1E37617}"/>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ACBDA15-D4E8-4802-B1EB-5129105A58D9}"/>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materially raise or lower bitsensing's threat rating?</a:t>
            </a:r>
          </a:p>
        </p:txBody>
      </p:sp>
      <p:sp>
        <p:nvSpPr>
          <p:cNvPr id="8" name="">
            <a:extLst xmlns:a="http://schemas.openxmlformats.org/drawingml/2006/main">
              <a:ext uri="{FF2B5EF4-FFF2-40B4-BE49-F238E27FC236}">
                <a16:creationId xmlns:a16="http://schemas.microsoft.com/office/drawing/2014/main" id="{B5A88429-D899-41A1-8057-94AE7946AC53}"/>
              </a:ext>
            </a:extLst>
          </p:cNvPr>
          <p:cNvSpPr>
            <a:spLocks xmlns:a="http://schemas.openxmlformats.org/drawingml/2006/main" noGrp="1"/>
          </p:cNvSpPr>
          <p:nvPr/>
        </p:nvSpPr>
        <p:spPr>
          <a:xfrm xmlns:a="http://schemas.openxmlformats.org/drawingml/2006/main">
            <a:off x="457200" y="1006475"/>
            <a:ext cx="11277600" cy="9302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DE2DAA5F-6258-4D58-BE00-38267E9802D9}"/>
              </a:ext>
            </a:extLst>
          </p:cNvPr>
          <p:cNvSpPr>
            <a:spLocks xmlns:a="http://schemas.openxmlformats.org/drawingml/2006/main" noGrp="1"/>
          </p:cNvSpPr>
          <p:nvPr/>
        </p:nvSpPr>
        <p:spPr>
          <a:xfrm xmlns:a="http://schemas.openxmlformats.org/drawingml/2006/main">
            <a:off x="457200" y="1006475"/>
            <a:ext cx="28575" cy="9302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9BE845C-636D-4335-83FC-C567FD05012B}"/>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FCCA205C-C46C-4207-A514-5F2869F45BBD}"/>
              </a:ext>
            </a:extLst>
          </p:cNvPr>
          <p:cNvSpPr>
            <a:spLocks xmlns:a="http://schemas.openxmlformats.org/drawingml/2006/main" noGrp="1"/>
          </p:cNvSpPr>
          <p:nvPr/>
        </p:nvSpPr>
        <p:spPr>
          <a:xfrm xmlns:a="http://schemas.openxmlformats.org/drawingml/2006/main">
            <a:off x="581025" y="122237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The credible operating hypothesis is radar partnership, not proven India full-AEBS competition: technical and funding signals exist, but vehicle qualification, homologation, and commercial traction remain unverified. The view is falsified by a named Tier-1 programme or ARAI-approved deployment.</a:t>
            </a:r>
          </a:p>
        </p:txBody>
      </p:sp>
      <p:sp>
        <p:nvSpPr>
          <p:cNvPr id="12" name="">
            <a:extLst xmlns:a="http://schemas.openxmlformats.org/drawingml/2006/main">
              <a:ext uri="{FF2B5EF4-FFF2-40B4-BE49-F238E27FC236}">
                <a16:creationId xmlns:a16="http://schemas.microsoft.com/office/drawing/2014/main" id="{3B58E446-193E-4BB9-9AFF-4624646C638D}"/>
              </a:ext>
            </a:extLst>
          </p:cNvPr>
          <p:cNvSpPr>
            <a:spLocks xmlns:a="http://schemas.openxmlformats.org/drawingml/2006/main" noGrp="1"/>
          </p:cNvSpPr>
          <p:nvPr/>
        </p:nvSpPr>
        <p:spPr>
          <a:xfrm xmlns:a="http://schemas.openxmlformats.org/drawingml/2006/main">
            <a:off x="457200" y="2051050"/>
            <a:ext cx="11277600" cy="8286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A6EB8961-10BE-41AB-97D2-610ADFB7FA3B}"/>
              </a:ext>
            </a:extLst>
          </p:cNvPr>
          <p:cNvSpPr>
            <a:spLocks xmlns:a="http://schemas.openxmlformats.org/drawingml/2006/main" noGrp="1"/>
          </p:cNvSpPr>
          <p:nvPr/>
        </p:nvSpPr>
        <p:spPr>
          <a:xfrm xmlns:a="http://schemas.openxmlformats.org/drawingml/2006/main">
            <a:off x="457200" y="2051050"/>
            <a:ext cx="5187696"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2A79B20-CEC4-434C-BBB3-FB54281F10C0}"/>
              </a:ext>
            </a:extLst>
          </p:cNvPr>
          <p:cNvSpPr>
            <a:spLocks xmlns:a="http://schemas.openxmlformats.org/drawingml/2006/main" noGrp="1"/>
          </p:cNvSpPr>
          <p:nvPr/>
        </p:nvSpPr>
        <p:spPr>
          <a:xfrm xmlns:a="http://schemas.openxmlformats.org/drawingml/2006/main">
            <a:off x="457200" y="2051050"/>
            <a:ext cx="28575" cy="8286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7E58C71-DA01-49A0-938E-7811B8FBC64C}"/>
              </a:ext>
            </a:extLst>
          </p:cNvPr>
          <p:cNvSpPr>
            <a:spLocks xmlns:a="http://schemas.openxmlformats.org/drawingml/2006/main" noGrp="1"/>
          </p:cNvSpPr>
          <p:nvPr/>
        </p:nvSpPr>
        <p:spPr>
          <a:xfrm xmlns:a="http://schemas.openxmlformats.org/drawingml/2006/main">
            <a:off x="571500" y="21367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MISSED SOP, FAILED</a:t>
            </a:r>
          </a:p>
        </p:txBody>
      </p:sp>
      <p:sp>
        <p:nvSpPr>
          <p:cNvPr id="16" name="">
            <a:extLst xmlns:a="http://schemas.openxmlformats.org/drawingml/2006/main">
              <a:ext uri="{FF2B5EF4-FFF2-40B4-BE49-F238E27FC236}">
                <a16:creationId xmlns:a16="http://schemas.microsoft.com/office/drawing/2014/main" id="{AE802161-5274-4982-BA54-FFB4F8D65191}"/>
              </a:ext>
            </a:extLst>
          </p:cNvPr>
          <p:cNvSpPr>
            <a:spLocks xmlns:a="http://schemas.openxmlformats.org/drawingml/2006/main" noGrp="1"/>
          </p:cNvSpPr>
          <p:nvPr/>
        </p:nvSpPr>
        <p:spPr>
          <a:xfrm xmlns:a="http://schemas.openxmlformats.org/drawingml/2006/main">
            <a:off x="4067556" y="2127250"/>
            <a:ext cx="5638800" cy="6953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Missed SOP, failed qualification, absent contracted function, customer cancellation or inability to support vehicle integration; never average unknow…</a:t>
            </a:r>
          </a:p>
        </p:txBody>
      </p:sp>
      <p:sp>
        <p:nvSpPr>
          <p:cNvPr id="17" name="">
            <a:extLst xmlns:a="http://schemas.openxmlformats.org/drawingml/2006/main">
              <a:ext uri="{FF2B5EF4-FFF2-40B4-BE49-F238E27FC236}">
                <a16:creationId xmlns:a16="http://schemas.microsoft.com/office/drawing/2014/main" id="{02FC5333-C210-4F7C-9D6F-6970895B3FF4}"/>
              </a:ext>
            </a:extLst>
          </p:cNvPr>
          <p:cNvSpPr>
            <a:spLocks xmlns:a="http://schemas.openxmlformats.org/drawingml/2006/main" noGrp="1"/>
          </p:cNvSpPr>
          <p:nvPr/>
        </p:nvSpPr>
        <p:spPr>
          <a:xfrm xmlns:a="http://schemas.openxmlformats.org/drawingml/2006/main">
            <a:off x="9816084" y="21367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DD3C534C-9B0D-4AF8-A249-835F1572F5BA}"/>
              </a:ext>
            </a:extLst>
          </p:cNvPr>
          <p:cNvSpPr>
            <a:spLocks xmlns:a="http://schemas.openxmlformats.org/drawingml/2006/main" noGrp="1"/>
          </p:cNvSpPr>
          <p:nvPr/>
        </p:nvSpPr>
        <p:spPr>
          <a:xfrm xmlns:a="http://schemas.openxmlformats.org/drawingml/2006/main">
            <a:off x="457200" y="2946400"/>
            <a:ext cx="11277600" cy="8286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07096211-BC89-484B-B79C-BE24055404B7}"/>
              </a:ext>
            </a:extLst>
          </p:cNvPr>
          <p:cNvSpPr>
            <a:spLocks xmlns:a="http://schemas.openxmlformats.org/drawingml/2006/main" noGrp="1"/>
          </p:cNvSpPr>
          <p:nvPr/>
        </p:nvSpPr>
        <p:spPr>
          <a:xfrm xmlns:a="http://schemas.openxmlformats.org/drawingml/2006/main">
            <a:off x="457200" y="2946400"/>
            <a:ext cx="4962144"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53F90B3-002E-4E33-A79B-65E0583FB38B}"/>
              </a:ext>
            </a:extLst>
          </p:cNvPr>
          <p:cNvSpPr>
            <a:spLocks xmlns:a="http://schemas.openxmlformats.org/drawingml/2006/main" noGrp="1"/>
          </p:cNvSpPr>
          <p:nvPr/>
        </p:nvSpPr>
        <p:spPr>
          <a:xfrm xmlns:a="http://schemas.openxmlformats.org/drawingml/2006/main">
            <a:off x="457200" y="2946400"/>
            <a:ext cx="28575" cy="8286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2423CEA-5BEA-4C0E-844E-ECBA76BE80FB}"/>
              </a:ext>
            </a:extLst>
          </p:cNvPr>
          <p:cNvSpPr>
            <a:spLocks xmlns:a="http://schemas.openxmlformats.org/drawingml/2006/main" noGrp="1"/>
          </p:cNvSpPr>
          <p:nvPr/>
        </p:nvSpPr>
        <p:spPr>
          <a:xfrm xmlns:a="http://schemas.openxmlformats.org/drawingml/2006/main">
            <a:off x="571500" y="30321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NAMED CUSTOMER-SIDE</a:t>
            </a:r>
          </a:p>
        </p:txBody>
      </p:sp>
      <p:sp>
        <p:nvSpPr>
          <p:cNvPr id="22" name="">
            <a:extLst xmlns:a="http://schemas.openxmlformats.org/drawingml/2006/main">
              <a:ext uri="{FF2B5EF4-FFF2-40B4-BE49-F238E27FC236}">
                <a16:creationId xmlns:a16="http://schemas.microsoft.com/office/drawing/2014/main" id="{C49CF5D3-8B91-470F-86CB-BFB286FC7FF6}"/>
              </a:ext>
            </a:extLst>
          </p:cNvPr>
          <p:cNvSpPr>
            <a:spLocks xmlns:a="http://schemas.openxmlformats.org/drawingml/2006/main" noGrp="1"/>
          </p:cNvSpPr>
          <p:nvPr/>
        </p:nvSpPr>
        <p:spPr>
          <a:xfrm xmlns:a="http://schemas.openxmlformats.org/drawingml/2006/main">
            <a:off x="4067556" y="3022600"/>
            <a:ext cx="5638800" cy="6953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Named customer-side production award, primary certificate, scaled live deployment, disclosed validation denominator or accountable Tier-1 integration.</a:t>
            </a:r>
          </a:p>
        </p:txBody>
      </p:sp>
      <p:sp>
        <p:nvSpPr>
          <p:cNvPr id="23" name="">
            <a:extLst xmlns:a="http://schemas.openxmlformats.org/drawingml/2006/main">
              <a:ext uri="{FF2B5EF4-FFF2-40B4-BE49-F238E27FC236}">
                <a16:creationId xmlns:a16="http://schemas.microsoft.com/office/drawing/2014/main" id="{98BDA4FE-2CE9-4605-AB6F-C8CDA8B2D6F8}"/>
              </a:ext>
            </a:extLst>
          </p:cNvPr>
          <p:cNvSpPr>
            <a:spLocks xmlns:a="http://schemas.openxmlformats.org/drawingml/2006/main" noGrp="1"/>
          </p:cNvSpPr>
          <p:nvPr/>
        </p:nvSpPr>
        <p:spPr>
          <a:xfrm xmlns:a="http://schemas.openxmlformats.org/drawingml/2006/main">
            <a:off x="9816084" y="30321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26789FFE-CD0B-47EA-87BD-ED0CDC4BD6EB}"/>
              </a:ext>
            </a:extLst>
          </p:cNvPr>
          <p:cNvSpPr>
            <a:spLocks xmlns:a="http://schemas.openxmlformats.org/drawingml/2006/main" noGrp="1"/>
          </p:cNvSpPr>
          <p:nvPr/>
        </p:nvSpPr>
        <p:spPr>
          <a:xfrm xmlns:a="http://schemas.openxmlformats.org/drawingml/2006/main">
            <a:off x="457200" y="3841750"/>
            <a:ext cx="11277600" cy="8286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9E542E93-6209-49A7-9389-E9491A77B990}"/>
              </a:ext>
            </a:extLst>
          </p:cNvPr>
          <p:cNvSpPr>
            <a:spLocks xmlns:a="http://schemas.openxmlformats.org/drawingml/2006/main" noGrp="1"/>
          </p:cNvSpPr>
          <p:nvPr/>
        </p:nvSpPr>
        <p:spPr>
          <a:xfrm xmlns:a="http://schemas.openxmlformats.org/drawingml/2006/main">
            <a:off x="457200" y="3841750"/>
            <a:ext cx="4736592"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013F373-E25A-48EB-973C-5598838A1465}"/>
              </a:ext>
            </a:extLst>
          </p:cNvPr>
          <p:cNvSpPr>
            <a:spLocks xmlns:a="http://schemas.openxmlformats.org/drawingml/2006/main" noGrp="1"/>
          </p:cNvSpPr>
          <p:nvPr/>
        </p:nvSpPr>
        <p:spPr>
          <a:xfrm xmlns:a="http://schemas.openxmlformats.org/drawingml/2006/main">
            <a:off x="457200" y="3841750"/>
            <a:ext cx="28575" cy="8286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1AE18B9-0F88-4828-A000-864962A4A36F}"/>
              </a:ext>
            </a:extLst>
          </p:cNvPr>
          <p:cNvSpPr>
            <a:spLocks xmlns:a="http://schemas.openxmlformats.org/drawingml/2006/main" noGrp="1"/>
          </p:cNvSpPr>
          <p:nvPr/>
        </p:nvSpPr>
        <p:spPr>
          <a:xfrm xmlns:a="http://schemas.openxmlformats.org/drawingml/2006/main">
            <a:off x="571500" y="39274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SUPPLIER WEBSITE CLAIM</a:t>
            </a:r>
          </a:p>
        </p:txBody>
      </p:sp>
      <p:sp>
        <p:nvSpPr>
          <p:cNvPr id="28" name="">
            <a:extLst xmlns:a="http://schemas.openxmlformats.org/drawingml/2006/main">
              <a:ext uri="{FF2B5EF4-FFF2-40B4-BE49-F238E27FC236}">
                <a16:creationId xmlns:a16="http://schemas.microsoft.com/office/drawing/2014/main" id="{97C72EDA-0EA8-4949-B968-E7BE53D6F2A0}"/>
              </a:ext>
            </a:extLst>
          </p:cNvPr>
          <p:cNvSpPr>
            <a:spLocks xmlns:a="http://schemas.openxmlformats.org/drawingml/2006/main" noGrp="1"/>
          </p:cNvSpPr>
          <p:nvPr/>
        </p:nvSpPr>
        <p:spPr>
          <a:xfrm xmlns:a="http://schemas.openxmlformats.org/drawingml/2006/main">
            <a:off x="4067556" y="3917950"/>
            <a:ext cx="5638800" cy="6953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Supplier website claim, unnamed-customer release, demonstration, partnership MoU or qualification “underway.”</a:t>
            </a:r>
          </a:p>
        </p:txBody>
      </p:sp>
      <p:sp>
        <p:nvSpPr>
          <p:cNvPr id="29" name="">
            <a:extLst xmlns:a="http://schemas.openxmlformats.org/drawingml/2006/main">
              <a:ext uri="{FF2B5EF4-FFF2-40B4-BE49-F238E27FC236}">
                <a16:creationId xmlns:a16="http://schemas.microsoft.com/office/drawing/2014/main" id="{E9280048-35A4-4B20-BBF0-A21A1892E7A0}"/>
              </a:ext>
            </a:extLst>
          </p:cNvPr>
          <p:cNvSpPr>
            <a:spLocks xmlns:a="http://schemas.openxmlformats.org/drawingml/2006/main" noGrp="1"/>
          </p:cNvSpPr>
          <p:nvPr/>
        </p:nvSpPr>
        <p:spPr>
          <a:xfrm xmlns:a="http://schemas.openxmlformats.org/drawingml/2006/main">
            <a:off x="9816084" y="39274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FC25F8D2-5FE9-46CB-9D96-9743183159A5}"/>
              </a:ext>
            </a:extLst>
          </p:cNvPr>
          <p:cNvSpPr>
            <a:spLocks xmlns:a="http://schemas.openxmlformats.org/drawingml/2006/main" noGrp="1"/>
          </p:cNvSpPr>
          <p:nvPr/>
        </p:nvSpPr>
        <p:spPr>
          <a:xfrm xmlns:a="http://schemas.openxmlformats.org/drawingml/2006/main">
            <a:off x="457200" y="4737100"/>
            <a:ext cx="11277600" cy="8286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07346253-2ABF-42C0-BE10-8BDCD283A853}"/>
              </a:ext>
            </a:extLst>
          </p:cNvPr>
          <p:cNvSpPr>
            <a:spLocks xmlns:a="http://schemas.openxmlformats.org/drawingml/2006/main" noGrp="1"/>
          </p:cNvSpPr>
          <p:nvPr/>
        </p:nvSpPr>
        <p:spPr>
          <a:xfrm xmlns:a="http://schemas.openxmlformats.org/drawingml/2006/main">
            <a:off x="457200" y="4737100"/>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C130D6F-6111-4454-9864-A355AD8D7681}"/>
              </a:ext>
            </a:extLst>
          </p:cNvPr>
          <p:cNvSpPr>
            <a:spLocks xmlns:a="http://schemas.openxmlformats.org/drawingml/2006/main" noGrp="1"/>
          </p:cNvSpPr>
          <p:nvPr/>
        </p:nvSpPr>
        <p:spPr>
          <a:xfrm xmlns:a="http://schemas.openxmlformats.org/drawingml/2006/main">
            <a:off x="457200" y="4737100"/>
            <a:ext cx="28575" cy="8286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06EF60A-56F8-4169-9D96-CDDD38E53D84}"/>
              </a:ext>
            </a:extLst>
          </p:cNvPr>
          <p:cNvSpPr>
            <a:spLocks xmlns:a="http://schemas.openxmlformats.org/drawingml/2006/main" noGrp="1"/>
          </p:cNvSpPr>
          <p:nvPr/>
        </p:nvSpPr>
        <p:spPr>
          <a:xfrm xmlns:a="http://schemas.openxmlformats.org/drawingml/2006/main">
            <a:off x="571500" y="48228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9F68D860-7D06-45F9-8FF6-45C1FD0EFBEF}"/>
              </a:ext>
            </a:extLst>
          </p:cNvPr>
          <p:cNvSpPr>
            <a:spLocks xmlns:a="http://schemas.openxmlformats.org/drawingml/2006/main" noGrp="1"/>
          </p:cNvSpPr>
          <p:nvPr/>
        </p:nvSpPr>
        <p:spPr>
          <a:xfrm xmlns:a="http://schemas.openxmlformats.org/drawingml/2006/main">
            <a:off x="4067556" y="4813300"/>
            <a:ext cx="5638800" cy="6953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Complementary technology may still lack viable economics or market access. Falsify the low-threat view with a named Tier-1 programme or ARAI-approved…</a:t>
            </a:r>
          </a:p>
        </p:txBody>
      </p:sp>
      <p:sp>
        <p:nvSpPr>
          <p:cNvPr id="35" name="">
            <a:extLst xmlns:a="http://schemas.openxmlformats.org/drawingml/2006/main">
              <a:ext uri="{FF2B5EF4-FFF2-40B4-BE49-F238E27FC236}">
                <a16:creationId xmlns:a16="http://schemas.microsoft.com/office/drawing/2014/main" id="{0C0EF535-472F-4B5A-985A-4190460A6F15}"/>
              </a:ext>
            </a:extLst>
          </p:cNvPr>
          <p:cNvSpPr>
            <a:spLocks xmlns:a="http://schemas.openxmlformats.org/drawingml/2006/main" noGrp="1"/>
          </p:cNvSpPr>
          <p:nvPr/>
        </p:nvSpPr>
        <p:spPr>
          <a:xfrm xmlns:a="http://schemas.openxmlformats.org/drawingml/2006/main">
            <a:off x="9816084" y="48228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2492E7A9-AE7B-43CF-AA9D-4EA99FE74487}"/>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DCF2B22-33F5-470D-A291-FF39A7F2087F}"/>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7B882321-3283-42B6-AAD5-8100D6A63357}"/>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9256E081-7A69-45C2-8F14-86F01254BAAB}"/>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Hold bitsensing as a conditional radar partner with low direct AEBS threat.</a:t>
            </a:r>
          </a:p>
        </p:txBody>
      </p:sp>
      <p:sp>
        <p:nvSpPr>
          <p:cNvPr id="40" name="">
            <a:extLst xmlns:a="http://schemas.openxmlformats.org/drawingml/2006/main">
              <a:ext uri="{FF2B5EF4-FFF2-40B4-BE49-F238E27FC236}">
                <a16:creationId xmlns:a16="http://schemas.microsoft.com/office/drawing/2014/main" id="{0BB9DC81-2A7C-43B1-8D22-6E87EE115111}"/>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593A0460-A01E-45A1-96E7-01B907219E8D}"/>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A named Tier-1 programme or an ARAI-approved deployment.</a:t>
            </a:r>
          </a:p>
        </p:txBody>
      </p:sp>
      <p:sp>
        <p:nvSpPr>
          <p:cNvPr id="42" name="">
            <a:extLst xmlns:a="http://schemas.openxmlformats.org/drawingml/2006/main">
              <a:ext uri="{FF2B5EF4-FFF2-40B4-BE49-F238E27FC236}">
                <a16:creationId xmlns:a16="http://schemas.microsoft.com/office/drawing/2014/main" id="{8DB9B7BC-4C6D-4BAF-B203-2E5D20A7C51C}"/>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EB1F9C41-0D43-4874-B754-BF77F126BD64}"/>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bitsensing announces an Indian Tier-1 programme.</a:t>
            </a:r>
          </a:p>
        </p:txBody>
      </p:sp>
      <p:sp>
        <p:nvSpPr>
          <p:cNvPr id="44" name="">
            <a:extLst xmlns:a="http://schemas.openxmlformats.org/drawingml/2006/main">
              <a:ext uri="{FF2B5EF4-FFF2-40B4-BE49-F238E27FC236}">
                <a16:creationId xmlns:a16="http://schemas.microsoft.com/office/drawing/2014/main" id="{EC12446B-3813-4AB9-B1D6-DD0EA4ADBBCF}"/>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6B099D22-A50F-4A33-96A1-974DD1C1DDD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4DA0AB83-9D15-4743-9578-41496EB67D4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70</a:t>
            </a:r>
          </a:p>
        </p:txBody>
      </p:sp>
    </p:spTree>
    <p:extLst>
      <p:ext uri="{BB962C8B-B14F-4D97-AF65-F5344CB8AC3E}">
        <p14:creationId xmlns:p14="http://schemas.microsoft.com/office/powerpoint/2010/main" val="1421848153"/>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31456673-3368-4908-A3F6-792342B3BA6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50BA1E6-5AD8-4ABC-8171-4DADC712305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5A21651-474C-4311-8E65-D71D505043EB}"/>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COMPANY PROFILE · P-ADJ</a:t>
            </a:r>
          </a:p>
        </p:txBody>
      </p:sp>
      <p:sp>
        <p:nvSpPr>
          <p:cNvPr id="4" name="">
            <a:extLst xmlns:a="http://schemas.openxmlformats.org/drawingml/2006/main">
              <a:ext uri="{FF2B5EF4-FFF2-40B4-BE49-F238E27FC236}">
                <a16:creationId xmlns:a16="http://schemas.microsoft.com/office/drawing/2014/main" id="{839D11FE-6A28-4072-A55E-EF3759DF87C4}"/>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Netrasemi</a:t>
            </a:r>
          </a:p>
        </p:txBody>
      </p:sp>
      <p:sp>
        <p:nvSpPr>
          <p:cNvPr id="5" name="">
            <a:extLst xmlns:a="http://schemas.openxmlformats.org/drawingml/2006/main">
              <a:ext uri="{FF2B5EF4-FFF2-40B4-BE49-F238E27FC236}">
                <a16:creationId xmlns:a16="http://schemas.microsoft.com/office/drawing/2014/main" id="{22D9EBFB-41E9-4354-98AA-24F705035F7E}"/>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Netrasemi Private Limited</a:t>
            </a:r>
          </a:p>
        </p:txBody>
      </p:sp>
      <p:sp>
        <p:nvSpPr>
          <p:cNvPr id="6" name="">
            <a:extLst xmlns:a="http://schemas.openxmlformats.org/drawingml/2006/main">
              <a:ext uri="{FF2B5EF4-FFF2-40B4-BE49-F238E27FC236}">
                <a16:creationId xmlns:a16="http://schemas.microsoft.com/office/drawing/2014/main" id="{EFFA9267-F1CE-4D6B-95EB-18EA6DD685DD}"/>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AB60252-5056-42A8-9A95-0E8DC3018FE4}"/>
              </a:ext>
            </a:extLst>
          </p:cNvPr>
          <p:cNvSpPr>
            <a:spLocks xmlns:a="http://schemas.openxmlformats.org/drawingml/2006/main" noGrp="1"/>
          </p:cNvSpPr>
          <p:nvPr/>
        </p:nvSpPr>
        <p:spPr>
          <a:xfrm xmlns:a="http://schemas.openxmlformats.org/drawingml/2006/main">
            <a:off x="45720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6A832A57-FE84-485B-9448-922CB3D748C1}"/>
              </a:ext>
            </a:extLst>
          </p:cNvPr>
          <p:cNvSpPr>
            <a:spLocks xmlns:a="http://schemas.openxmlformats.org/drawingml/2006/main" noGrp="1"/>
          </p:cNvSpPr>
          <p:nvPr/>
        </p:nvSpPr>
        <p:spPr>
          <a:xfrm xmlns:a="http://schemas.openxmlformats.org/drawingml/2006/main">
            <a:off x="45720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E712528-F597-4EC6-90FD-C1951668ABEF}"/>
              </a:ext>
            </a:extLst>
          </p:cNvPr>
          <p:cNvSpPr>
            <a:spLocks xmlns:a="http://schemas.openxmlformats.org/drawingml/2006/main" noGrp="1"/>
          </p:cNvSpPr>
          <p:nvPr/>
        </p:nvSpPr>
        <p:spPr>
          <a:xfrm xmlns:a="http://schemas.openxmlformats.org/drawingml/2006/main">
            <a:off x="57150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FOUNDED</a:t>
            </a:r>
          </a:p>
        </p:txBody>
      </p:sp>
      <p:sp>
        <p:nvSpPr>
          <p:cNvPr id="10" name="">
            <a:extLst xmlns:a="http://schemas.openxmlformats.org/drawingml/2006/main">
              <a:ext uri="{FF2B5EF4-FFF2-40B4-BE49-F238E27FC236}">
                <a16:creationId xmlns:a16="http://schemas.microsoft.com/office/drawing/2014/main" id="{2DA90015-C265-4546-A679-07E0FB7514C1}"/>
              </a:ext>
            </a:extLst>
          </p:cNvPr>
          <p:cNvSpPr>
            <a:spLocks xmlns:a="http://schemas.openxmlformats.org/drawingml/2006/main" noGrp="1"/>
          </p:cNvSpPr>
          <p:nvPr/>
        </p:nvSpPr>
        <p:spPr>
          <a:xfrm xmlns:a="http://schemas.openxmlformats.org/drawingml/2006/main">
            <a:off x="57150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2020</a:t>
            </a:r>
          </a:p>
        </p:txBody>
      </p:sp>
      <p:sp>
        <p:nvSpPr>
          <p:cNvPr id="11" name="">
            <a:extLst xmlns:a="http://schemas.openxmlformats.org/drawingml/2006/main">
              <a:ext uri="{FF2B5EF4-FFF2-40B4-BE49-F238E27FC236}">
                <a16:creationId xmlns:a16="http://schemas.microsoft.com/office/drawing/2014/main" id="{503D5BD3-C05A-4400-B249-D22826C9C5B5}"/>
              </a:ext>
            </a:extLst>
          </p:cNvPr>
          <p:cNvSpPr>
            <a:spLocks xmlns:a="http://schemas.openxmlformats.org/drawingml/2006/main" noGrp="1"/>
          </p:cNvSpPr>
          <p:nvPr/>
        </p:nvSpPr>
        <p:spPr>
          <a:xfrm xmlns:a="http://schemas.openxmlformats.org/drawingml/2006/main">
            <a:off x="57150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Fabless · Design Linked Incentive support</a:t>
            </a:r>
          </a:p>
        </p:txBody>
      </p:sp>
      <p:sp>
        <p:nvSpPr>
          <p:cNvPr id="12" name="">
            <a:extLst xmlns:a="http://schemas.openxmlformats.org/drawingml/2006/main">
              <a:ext uri="{FF2B5EF4-FFF2-40B4-BE49-F238E27FC236}">
                <a16:creationId xmlns:a16="http://schemas.microsoft.com/office/drawing/2014/main" id="{432168A1-2929-4529-A41E-FA4F73ABEB37}"/>
              </a:ext>
            </a:extLst>
          </p:cNvPr>
          <p:cNvSpPr>
            <a:spLocks xmlns:a="http://schemas.openxmlformats.org/drawingml/2006/main" noGrp="1"/>
          </p:cNvSpPr>
          <p:nvPr/>
        </p:nvSpPr>
        <p:spPr>
          <a:xfrm xmlns:a="http://schemas.openxmlformats.org/drawingml/2006/main">
            <a:off x="3305175"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6B32F88A-FEDB-471A-ABA7-061875A35B95}"/>
              </a:ext>
            </a:extLst>
          </p:cNvPr>
          <p:cNvSpPr>
            <a:spLocks xmlns:a="http://schemas.openxmlformats.org/drawingml/2006/main" noGrp="1"/>
          </p:cNvSpPr>
          <p:nvPr/>
        </p:nvSpPr>
        <p:spPr>
          <a:xfrm xmlns:a="http://schemas.openxmlformats.org/drawingml/2006/main">
            <a:off x="3305175"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5A4A6E4-7890-4872-96AA-171AB85AE9A8}"/>
              </a:ext>
            </a:extLst>
          </p:cNvPr>
          <p:cNvSpPr>
            <a:spLocks xmlns:a="http://schemas.openxmlformats.org/drawingml/2006/main" noGrp="1"/>
          </p:cNvSpPr>
          <p:nvPr/>
        </p:nvSpPr>
        <p:spPr>
          <a:xfrm xmlns:a="http://schemas.openxmlformats.org/drawingml/2006/main">
            <a:off x="341947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HEADQUARTERS</a:t>
            </a:r>
          </a:p>
        </p:txBody>
      </p:sp>
      <p:sp>
        <p:nvSpPr>
          <p:cNvPr id="15" name="">
            <a:extLst xmlns:a="http://schemas.openxmlformats.org/drawingml/2006/main">
              <a:ext uri="{FF2B5EF4-FFF2-40B4-BE49-F238E27FC236}">
                <a16:creationId xmlns:a16="http://schemas.microsoft.com/office/drawing/2014/main" id="{AFCCA4FC-74FE-4182-AA00-5A4D47ABA20D}"/>
              </a:ext>
            </a:extLst>
          </p:cNvPr>
          <p:cNvSpPr>
            <a:spLocks xmlns:a="http://schemas.openxmlformats.org/drawingml/2006/main" noGrp="1"/>
          </p:cNvSpPr>
          <p:nvPr/>
        </p:nvSpPr>
        <p:spPr>
          <a:xfrm xmlns:a="http://schemas.openxmlformats.org/drawingml/2006/main">
            <a:off x="3419475" y="1352550"/>
            <a:ext cx="2505075" cy="228600"/>
          </a:xfrm>
          <a:prstGeom xmlns:a="http://schemas.openxmlformats.org/drawingml/2006/main" prst="rect">
            <a:avLst/>
          </a:prstGeom>
        </p:spPr>
        <p:txBody>
          <a:bodyPr xmlns:a="http://schemas.openxmlformats.org/drawingml/2006/main" lIns="0" tIns="0" rIns="0" bIns="0" anchor="t">
            <a:normAutofit fontScale="99709"/>
          </a:bodyPr>
          <a:lstStyle xmlns:a="http://schemas.openxmlformats.org/drawingml/2006/main"/>
          <a:p xmlns:a="http://schemas.openxmlformats.org/drawingml/2006/main">
            <a:pPr algn="l">
              <a:defRPr sz="1200" b="1">
                <a:solidFill>
                  <a:srgbClr val="FFFFFF"/>
                </a:solidFill>
                <a:latin typeface="Arial"/>
                <a:ea typeface="Arial"/>
                <a:cs typeface="Arial"/>
              </a:defRPr>
            </a:pPr>
            <a:r>
              <a:t>Thiruvananthapuram, Kerala, India</a:t>
            </a:r>
          </a:p>
        </p:txBody>
      </p:sp>
      <p:sp>
        <p:nvSpPr>
          <p:cNvPr id="16" name="">
            <a:extLst xmlns:a="http://schemas.openxmlformats.org/drawingml/2006/main">
              <a:ext uri="{FF2B5EF4-FFF2-40B4-BE49-F238E27FC236}">
                <a16:creationId xmlns:a16="http://schemas.microsoft.com/office/drawing/2014/main" id="{12BE3D08-317E-4C96-AE6F-F455708542C2}"/>
              </a:ext>
            </a:extLst>
          </p:cNvPr>
          <p:cNvSpPr>
            <a:spLocks xmlns:a="http://schemas.openxmlformats.org/drawingml/2006/main" noGrp="1"/>
          </p:cNvSpPr>
          <p:nvPr/>
        </p:nvSpPr>
        <p:spPr>
          <a:xfrm xmlns:a="http://schemas.openxmlformats.org/drawingml/2006/main">
            <a:off x="6153150" y="108585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2F43460D-4338-4933-B595-A3658DA22CAF}"/>
              </a:ext>
            </a:extLst>
          </p:cNvPr>
          <p:cNvSpPr>
            <a:spLocks xmlns:a="http://schemas.openxmlformats.org/drawingml/2006/main" noGrp="1"/>
          </p:cNvSpPr>
          <p:nvPr/>
        </p:nvSpPr>
        <p:spPr>
          <a:xfrm xmlns:a="http://schemas.openxmlformats.org/drawingml/2006/main">
            <a:off x="6153150"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EB42A2F-3ADC-484E-9540-BA3ECC6772F6}"/>
              </a:ext>
            </a:extLst>
          </p:cNvPr>
          <p:cNvSpPr>
            <a:spLocks xmlns:a="http://schemas.openxmlformats.org/drawingml/2006/main" noGrp="1"/>
          </p:cNvSpPr>
          <p:nvPr/>
        </p:nvSpPr>
        <p:spPr>
          <a:xfrm xmlns:a="http://schemas.openxmlformats.org/drawingml/2006/main">
            <a:off x="6267450"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19" name="">
            <a:extLst xmlns:a="http://schemas.openxmlformats.org/drawingml/2006/main">
              <a:ext uri="{FF2B5EF4-FFF2-40B4-BE49-F238E27FC236}">
                <a16:creationId xmlns:a16="http://schemas.microsoft.com/office/drawing/2014/main" id="{D1449547-8B62-499F-8B46-1D6E1D0BCAEC}"/>
              </a:ext>
            </a:extLst>
          </p:cNvPr>
          <p:cNvSpPr>
            <a:spLocks xmlns:a="http://schemas.openxmlformats.org/drawingml/2006/main" noGrp="1"/>
          </p:cNvSpPr>
          <p:nvPr/>
        </p:nvSpPr>
        <p:spPr>
          <a:xfrm xmlns:a="http://schemas.openxmlformats.org/drawingml/2006/main">
            <a:off x="6267450"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PRIVATE</a:t>
            </a:r>
          </a:p>
        </p:txBody>
      </p:sp>
      <p:sp>
        <p:nvSpPr>
          <p:cNvPr id="20" name="">
            <a:extLst xmlns:a="http://schemas.openxmlformats.org/drawingml/2006/main">
              <a:ext uri="{FF2B5EF4-FFF2-40B4-BE49-F238E27FC236}">
                <a16:creationId xmlns:a16="http://schemas.microsoft.com/office/drawing/2014/main" id="{F7755C35-B0DE-4120-B4F7-0B1BFC1950F5}"/>
              </a:ext>
            </a:extLst>
          </p:cNvPr>
          <p:cNvSpPr>
            <a:spLocks xmlns:a="http://schemas.openxmlformats.org/drawingml/2006/main" noGrp="1"/>
          </p:cNvSpPr>
          <p:nvPr/>
        </p:nvSpPr>
        <p:spPr>
          <a:xfrm xmlns:a="http://schemas.openxmlformats.org/drawingml/2006/main">
            <a:off x="6267450"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Zoho-backed</a:t>
            </a:r>
          </a:p>
        </p:txBody>
      </p:sp>
      <p:sp>
        <p:nvSpPr>
          <p:cNvPr id="21" name="">
            <a:extLst xmlns:a="http://schemas.openxmlformats.org/drawingml/2006/main">
              <a:ext uri="{FF2B5EF4-FFF2-40B4-BE49-F238E27FC236}">
                <a16:creationId xmlns:a16="http://schemas.microsoft.com/office/drawing/2014/main" id="{10D03B3A-72EC-42A5-A453-B7305EF1BD93}"/>
              </a:ext>
            </a:extLst>
          </p:cNvPr>
          <p:cNvSpPr>
            <a:spLocks xmlns:a="http://schemas.openxmlformats.org/drawingml/2006/main" noGrp="1"/>
          </p:cNvSpPr>
          <p:nvPr/>
        </p:nvSpPr>
        <p:spPr>
          <a:xfrm xmlns:a="http://schemas.openxmlformats.org/drawingml/2006/main">
            <a:off x="9001125" y="1085850"/>
            <a:ext cx="2733675" cy="800100"/>
          </a:xfrm>
          <a:prstGeom xmlns:a="http://schemas.openxmlformats.org/drawingml/2006/main" prst="rect">
            <a:avLst/>
          </a:prstGeom>
          <a:solidFill xmlns:a="http://schemas.openxmlformats.org/drawingml/2006/main">
            <a:srgbClr val="16243A"/>
          </a:solidFill>
          <a:ln xmlns:a="http://schemas.openxmlformats.org/drawingml/2006/main" w="9525">
            <a:solidFill>
              <a:srgbClr val="1A2F45"/>
            </a:solidFill>
            <a:prstDash val="solid"/>
          </a:ln>
        </p:spPr>
      </p:sp>
      <p:sp>
        <p:nvSpPr>
          <p:cNvPr id="22" name="">
            <a:extLst xmlns:a="http://schemas.openxmlformats.org/drawingml/2006/main">
              <a:ext uri="{FF2B5EF4-FFF2-40B4-BE49-F238E27FC236}">
                <a16:creationId xmlns:a16="http://schemas.microsoft.com/office/drawing/2014/main" id="{C8FF880C-9974-49E2-BCC3-7F39A4115116}"/>
              </a:ext>
            </a:extLst>
          </p:cNvPr>
          <p:cNvSpPr>
            <a:spLocks xmlns:a="http://schemas.openxmlformats.org/drawingml/2006/main" noGrp="1"/>
          </p:cNvSpPr>
          <p:nvPr/>
        </p:nvSpPr>
        <p:spPr>
          <a:xfrm xmlns:a="http://schemas.openxmlformats.org/drawingml/2006/main">
            <a:off x="9001125" y="108585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BDC4E4F-2FBC-454E-B325-7FA76E5974DB}"/>
              </a:ext>
            </a:extLst>
          </p:cNvPr>
          <p:cNvSpPr>
            <a:spLocks xmlns:a="http://schemas.openxmlformats.org/drawingml/2006/main" noGrp="1"/>
          </p:cNvSpPr>
          <p:nvPr/>
        </p:nvSpPr>
        <p:spPr>
          <a:xfrm xmlns:a="http://schemas.openxmlformats.org/drawingml/2006/main">
            <a:off x="9115425" y="120015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CAPITAL</a:t>
            </a:r>
          </a:p>
        </p:txBody>
      </p:sp>
      <p:sp>
        <p:nvSpPr>
          <p:cNvPr id="24" name="">
            <a:extLst xmlns:a="http://schemas.openxmlformats.org/drawingml/2006/main">
              <a:ext uri="{FF2B5EF4-FFF2-40B4-BE49-F238E27FC236}">
                <a16:creationId xmlns:a16="http://schemas.microsoft.com/office/drawing/2014/main" id="{89EB8455-DAE4-47D3-B68D-B1C14B46E644}"/>
              </a:ext>
            </a:extLst>
          </p:cNvPr>
          <p:cNvSpPr>
            <a:spLocks xmlns:a="http://schemas.openxmlformats.org/drawingml/2006/main" noGrp="1"/>
          </p:cNvSpPr>
          <p:nvPr/>
        </p:nvSpPr>
        <p:spPr>
          <a:xfrm xmlns:a="http://schemas.openxmlformats.org/drawingml/2006/main">
            <a:off x="9115425" y="13525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04B3C7"/>
                </a:solidFill>
                <a:latin typeface="Arial"/>
                <a:ea typeface="Arial"/>
                <a:cs typeface="Arial"/>
              </a:defRPr>
            </a:pPr>
            <a:r>
              <a:t>₹107 Cr</a:t>
            </a:r>
          </a:p>
        </p:txBody>
      </p:sp>
      <p:sp>
        <p:nvSpPr>
          <p:cNvPr id="25" name="">
            <a:extLst xmlns:a="http://schemas.openxmlformats.org/drawingml/2006/main">
              <a:ext uri="{FF2B5EF4-FFF2-40B4-BE49-F238E27FC236}">
                <a16:creationId xmlns:a16="http://schemas.microsoft.com/office/drawing/2014/main" id="{FBA3B272-93F0-46DA-AE1D-2C428E0A0619}"/>
              </a:ext>
            </a:extLst>
          </p:cNvPr>
          <p:cNvSpPr>
            <a:spLocks xmlns:a="http://schemas.openxmlformats.org/drawingml/2006/main" noGrp="1"/>
          </p:cNvSpPr>
          <p:nvPr/>
        </p:nvSpPr>
        <p:spPr>
          <a:xfrm xmlns:a="http://schemas.openxmlformats.org/drawingml/2006/main">
            <a:off x="9115425" y="161925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as of Zoho ₹87 Cr + UIV ₹16.5 Cr</a:t>
            </a:r>
          </a:p>
        </p:txBody>
      </p:sp>
      <p:sp>
        <p:nvSpPr>
          <p:cNvPr id="26" name="">
            <a:extLst xmlns:a="http://schemas.openxmlformats.org/drawingml/2006/main">
              <a:ext uri="{FF2B5EF4-FFF2-40B4-BE49-F238E27FC236}">
                <a16:creationId xmlns:a16="http://schemas.microsoft.com/office/drawing/2014/main" id="{A955B074-4669-40ED-937F-306CD1293CD9}"/>
              </a:ext>
            </a:extLst>
          </p:cNvPr>
          <p:cNvSpPr>
            <a:spLocks xmlns:a="http://schemas.openxmlformats.org/drawingml/2006/main" noGrp="1"/>
          </p:cNvSpPr>
          <p:nvPr/>
        </p:nvSpPr>
        <p:spPr>
          <a:xfrm xmlns:a="http://schemas.openxmlformats.org/drawingml/2006/main">
            <a:off x="4572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PEOPLE</a:t>
            </a:r>
          </a:p>
        </p:txBody>
      </p:sp>
      <p:sp>
        <p:nvSpPr>
          <p:cNvPr id="27" name="">
            <a:extLst xmlns:a="http://schemas.openxmlformats.org/drawingml/2006/main">
              <a:ext uri="{FF2B5EF4-FFF2-40B4-BE49-F238E27FC236}">
                <a16:creationId xmlns:a16="http://schemas.microsoft.com/office/drawing/2014/main" id="{FC566E4C-6458-43DE-B185-218D45128F53}"/>
              </a:ext>
            </a:extLst>
          </p:cNvPr>
          <p:cNvSpPr>
            <a:spLocks xmlns:a="http://schemas.openxmlformats.org/drawingml/2006/main" noGrp="1"/>
          </p:cNvSpPr>
          <p:nvPr/>
        </p:nvSpPr>
        <p:spPr>
          <a:xfrm xmlns:a="http://schemas.openxmlformats.org/drawingml/2006/main">
            <a:off x="4572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28" name="">
            <a:extLst xmlns:a="http://schemas.openxmlformats.org/drawingml/2006/main">
              <a:ext uri="{FF2B5EF4-FFF2-40B4-BE49-F238E27FC236}">
                <a16:creationId xmlns:a16="http://schemas.microsoft.com/office/drawing/2014/main" id="{F0A4ED84-0262-44C8-BBFD-72C03ACF2118}"/>
              </a:ext>
            </a:extLst>
          </p:cNvPr>
          <p:cNvSpPr>
            <a:spLocks xmlns:a="http://schemas.openxmlformats.org/drawingml/2006/main" noGrp="1"/>
          </p:cNvSpPr>
          <p:nvPr/>
        </p:nvSpPr>
        <p:spPr>
          <a:xfrm xmlns:a="http://schemas.openxmlformats.org/drawingml/2006/main">
            <a:off x="42545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VALUE MOVE</a:t>
            </a:r>
          </a:p>
        </p:txBody>
      </p:sp>
      <p:sp>
        <p:nvSpPr>
          <p:cNvPr id="29" name="">
            <a:extLst xmlns:a="http://schemas.openxmlformats.org/drawingml/2006/main">
              <a:ext uri="{FF2B5EF4-FFF2-40B4-BE49-F238E27FC236}">
                <a16:creationId xmlns:a16="http://schemas.microsoft.com/office/drawing/2014/main" id="{9271B98D-0E6E-4B51-A811-7056D66A4590}"/>
              </a:ext>
            </a:extLst>
          </p:cNvPr>
          <p:cNvSpPr>
            <a:spLocks xmlns:a="http://schemas.openxmlformats.org/drawingml/2006/main" noGrp="1"/>
          </p:cNvSpPr>
          <p:nvPr/>
        </p:nvSpPr>
        <p:spPr>
          <a:xfrm xmlns:a="http://schemas.openxmlformats.org/drawingml/2006/main">
            <a:off x="42545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commercial mid-2027</a:t>
            </a:r>
          </a:p>
        </p:txBody>
      </p:sp>
      <p:sp>
        <p:nvSpPr>
          <p:cNvPr id="30" name="">
            <a:extLst xmlns:a="http://schemas.openxmlformats.org/drawingml/2006/main">
              <a:ext uri="{FF2B5EF4-FFF2-40B4-BE49-F238E27FC236}">
                <a16:creationId xmlns:a16="http://schemas.microsoft.com/office/drawing/2014/main" id="{2D413631-D80F-4066-8A5E-C9EB1D8970A6}"/>
              </a:ext>
            </a:extLst>
          </p:cNvPr>
          <p:cNvSpPr>
            <a:spLocks xmlns:a="http://schemas.openxmlformats.org/drawingml/2006/main" noGrp="1"/>
          </p:cNvSpPr>
          <p:nvPr/>
        </p:nvSpPr>
        <p:spPr>
          <a:xfrm xmlns:a="http://schemas.openxmlformats.org/drawingml/2006/main">
            <a:off x="8051800" y="200025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PARENT / BACKING</a:t>
            </a:r>
          </a:p>
        </p:txBody>
      </p:sp>
      <p:sp>
        <p:nvSpPr>
          <p:cNvPr id="31" name="">
            <a:extLst xmlns:a="http://schemas.openxmlformats.org/drawingml/2006/main">
              <a:ext uri="{FF2B5EF4-FFF2-40B4-BE49-F238E27FC236}">
                <a16:creationId xmlns:a16="http://schemas.microsoft.com/office/drawing/2014/main" id="{C47EC79E-D79D-49B3-9A26-AA2A129F3E66}"/>
              </a:ext>
            </a:extLst>
          </p:cNvPr>
          <p:cNvSpPr>
            <a:spLocks xmlns:a="http://schemas.openxmlformats.org/drawingml/2006/main" noGrp="1"/>
          </p:cNvSpPr>
          <p:nvPr/>
        </p:nvSpPr>
        <p:spPr>
          <a:xfrm xmlns:a="http://schemas.openxmlformats.org/drawingml/2006/main">
            <a:off x="8051800" y="214312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32" name="">
            <a:extLst xmlns:a="http://schemas.openxmlformats.org/drawingml/2006/main">
              <a:ext uri="{FF2B5EF4-FFF2-40B4-BE49-F238E27FC236}">
                <a16:creationId xmlns:a16="http://schemas.microsoft.com/office/drawing/2014/main" id="{06B4A302-516D-474E-9CB6-01AF08B31987}"/>
              </a:ext>
            </a:extLst>
          </p:cNvPr>
          <p:cNvSpPr>
            <a:spLocks xmlns:a="http://schemas.openxmlformats.org/drawingml/2006/main" noGrp="1"/>
          </p:cNvSpPr>
          <p:nvPr/>
        </p:nvSpPr>
        <p:spPr>
          <a:xfrm xmlns:a="http://schemas.openxmlformats.org/drawingml/2006/main">
            <a:off x="457200" y="24574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A71129D-D7C3-4AED-BBBD-A7D4839A400A}"/>
              </a:ext>
            </a:extLst>
          </p:cNvPr>
          <p:cNvSpPr>
            <a:spLocks xmlns:a="http://schemas.openxmlformats.org/drawingml/2006/main" noGrp="1"/>
          </p:cNvSpPr>
          <p:nvPr/>
        </p:nvSpPr>
        <p:spPr>
          <a:xfrm xmlns:a="http://schemas.openxmlformats.org/drawingml/2006/main">
            <a:off x="457200" y="257175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WHAT IT SELLS</a:t>
            </a:r>
          </a:p>
        </p:txBody>
      </p:sp>
      <p:sp>
        <p:nvSpPr>
          <p:cNvPr id="34" name="">
            <a:extLst xmlns:a="http://schemas.openxmlformats.org/drawingml/2006/main">
              <a:ext uri="{FF2B5EF4-FFF2-40B4-BE49-F238E27FC236}">
                <a16:creationId xmlns:a16="http://schemas.microsoft.com/office/drawing/2014/main" id="{8AC5628E-824D-4BFF-8D42-D3C29D103A8A}"/>
              </a:ext>
            </a:extLst>
          </p:cNvPr>
          <p:cNvSpPr>
            <a:spLocks xmlns:a="http://schemas.openxmlformats.org/drawingml/2006/main" noGrp="1"/>
          </p:cNvSpPr>
          <p:nvPr/>
        </p:nvSpPr>
        <p:spPr>
          <a:xfrm xmlns:a="http://schemas.openxmlformats.org/drawingml/2006/main">
            <a:off x="457200" y="2733675"/>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A2000 edge-AI SoC and chiplet-based architectures for edge computing</a:t>
            </a:r>
          </a:p>
        </p:txBody>
      </p:sp>
      <p:sp>
        <p:nvSpPr>
          <p:cNvPr id="35" name="">
            <a:extLst xmlns:a="http://schemas.openxmlformats.org/drawingml/2006/main">
              <a:ext uri="{FF2B5EF4-FFF2-40B4-BE49-F238E27FC236}">
                <a16:creationId xmlns:a16="http://schemas.microsoft.com/office/drawing/2014/main" id="{B182D911-6EA2-4BAB-98E3-EE0B961C0FF3}"/>
              </a:ext>
            </a:extLst>
          </p:cNvPr>
          <p:cNvSpPr>
            <a:spLocks xmlns:a="http://schemas.openxmlformats.org/drawingml/2006/main" noGrp="1"/>
          </p:cNvSpPr>
          <p:nvPr/>
        </p:nvSpPr>
        <p:spPr>
          <a:xfrm xmlns:a="http://schemas.openxmlformats.org/drawingml/2006/main">
            <a:off x="4572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F3610EF4-CC30-4CBC-910B-63E132E60B6E}"/>
              </a:ext>
            </a:extLst>
          </p:cNvPr>
          <p:cNvSpPr>
            <a:spLocks xmlns:a="http://schemas.openxmlformats.org/drawingml/2006/main" noGrp="1"/>
          </p:cNvSpPr>
          <p:nvPr/>
        </p:nvSpPr>
        <p:spPr>
          <a:xfrm xmlns:a="http://schemas.openxmlformats.org/drawingml/2006/main">
            <a:off x="5715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SERIES A</a:t>
            </a:r>
          </a:p>
        </p:txBody>
      </p:sp>
      <p:sp>
        <p:nvSpPr>
          <p:cNvPr id="37" name="">
            <a:extLst xmlns:a="http://schemas.openxmlformats.org/drawingml/2006/main">
              <a:ext uri="{FF2B5EF4-FFF2-40B4-BE49-F238E27FC236}">
                <a16:creationId xmlns:a16="http://schemas.microsoft.com/office/drawing/2014/main" id="{C64ED9A6-90AC-4840-A450-58B2B50B44E4}"/>
              </a:ext>
            </a:extLst>
          </p:cNvPr>
          <p:cNvSpPr>
            <a:spLocks xmlns:a="http://schemas.openxmlformats.org/drawingml/2006/main" noGrp="1"/>
          </p:cNvSpPr>
          <p:nvPr/>
        </p:nvSpPr>
        <p:spPr>
          <a:xfrm xmlns:a="http://schemas.openxmlformats.org/drawingml/2006/main">
            <a:off x="20574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₹107 Cr — Zoho ₹87 Cr + UIV ₹16.5 Cr (Jul 2025)</a:t>
            </a:r>
          </a:p>
        </p:txBody>
      </p:sp>
      <p:sp>
        <p:nvSpPr>
          <p:cNvPr id="38" name="">
            <a:extLst xmlns:a="http://schemas.openxmlformats.org/drawingml/2006/main">
              <a:ext uri="{FF2B5EF4-FFF2-40B4-BE49-F238E27FC236}">
                <a16:creationId xmlns:a16="http://schemas.microsoft.com/office/drawing/2014/main" id="{82CF8766-6E37-46FF-B978-D82810F568E0}"/>
              </a:ext>
            </a:extLst>
          </p:cNvPr>
          <p:cNvSpPr>
            <a:spLocks xmlns:a="http://schemas.openxmlformats.org/drawingml/2006/main" noGrp="1"/>
          </p:cNvSpPr>
          <p:nvPr/>
        </p:nvSpPr>
        <p:spPr>
          <a:xfrm xmlns:a="http://schemas.openxmlformats.org/drawingml/2006/main">
            <a:off x="6210300" y="31718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0EADFDE8-A428-44D4-9CD1-8F2DB0C517A3}"/>
              </a:ext>
            </a:extLst>
          </p:cNvPr>
          <p:cNvSpPr>
            <a:spLocks xmlns:a="http://schemas.openxmlformats.org/drawingml/2006/main" noGrp="1"/>
          </p:cNvSpPr>
          <p:nvPr/>
        </p:nvSpPr>
        <p:spPr>
          <a:xfrm xmlns:a="http://schemas.openxmlformats.org/drawingml/2006/main">
            <a:off x="6324600" y="31242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PROCESS</a:t>
            </a:r>
          </a:p>
        </p:txBody>
      </p:sp>
      <p:sp>
        <p:nvSpPr>
          <p:cNvPr id="40" name="">
            <a:extLst xmlns:a="http://schemas.openxmlformats.org/drawingml/2006/main">
              <a:ext uri="{FF2B5EF4-FFF2-40B4-BE49-F238E27FC236}">
                <a16:creationId xmlns:a16="http://schemas.microsoft.com/office/drawing/2014/main" id="{68D5B1AC-091F-4359-B194-25DF66F7BAC0}"/>
              </a:ext>
            </a:extLst>
          </p:cNvPr>
          <p:cNvSpPr>
            <a:spLocks xmlns:a="http://schemas.openxmlformats.org/drawingml/2006/main" noGrp="1"/>
          </p:cNvSpPr>
          <p:nvPr/>
        </p:nvSpPr>
        <p:spPr>
          <a:xfrm xmlns:a="http://schemas.openxmlformats.org/drawingml/2006/main">
            <a:off x="7810500" y="31242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TSMC 12nm</a:t>
            </a:r>
          </a:p>
        </p:txBody>
      </p:sp>
      <p:sp>
        <p:nvSpPr>
          <p:cNvPr id="41" name="">
            <a:extLst xmlns:a="http://schemas.openxmlformats.org/drawingml/2006/main">
              <a:ext uri="{FF2B5EF4-FFF2-40B4-BE49-F238E27FC236}">
                <a16:creationId xmlns:a16="http://schemas.microsoft.com/office/drawing/2014/main" id="{66007D35-7E89-4B2F-B42D-94CD16903A64}"/>
              </a:ext>
            </a:extLst>
          </p:cNvPr>
          <p:cNvSpPr>
            <a:spLocks xmlns:a="http://schemas.openxmlformats.org/drawingml/2006/main" noGrp="1"/>
          </p:cNvSpPr>
          <p:nvPr/>
        </p:nvSpPr>
        <p:spPr>
          <a:xfrm xmlns:a="http://schemas.openxmlformats.org/drawingml/2006/main">
            <a:off x="4572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EEF576F8-45BB-46EB-A5D7-5D5EEF8A935D}"/>
              </a:ext>
            </a:extLst>
          </p:cNvPr>
          <p:cNvSpPr>
            <a:spLocks xmlns:a="http://schemas.openxmlformats.org/drawingml/2006/main" noGrp="1"/>
          </p:cNvSpPr>
          <p:nvPr/>
        </p:nvSpPr>
        <p:spPr>
          <a:xfrm xmlns:a="http://schemas.openxmlformats.org/drawingml/2006/main">
            <a:off x="5715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A2000 BLOCKS</a:t>
            </a:r>
          </a:p>
        </p:txBody>
      </p:sp>
      <p:sp>
        <p:nvSpPr>
          <p:cNvPr id="43" name="">
            <a:extLst xmlns:a="http://schemas.openxmlformats.org/drawingml/2006/main">
              <a:ext uri="{FF2B5EF4-FFF2-40B4-BE49-F238E27FC236}">
                <a16:creationId xmlns:a16="http://schemas.microsoft.com/office/drawing/2014/main" id="{47FCBDDE-F3D8-4106-905F-5C8F4F8445B5}"/>
              </a:ext>
            </a:extLst>
          </p:cNvPr>
          <p:cNvSpPr>
            <a:spLocks xmlns:a="http://schemas.openxmlformats.org/drawingml/2006/main" noGrp="1"/>
          </p:cNvSpPr>
          <p:nvPr/>
        </p:nvSpPr>
        <p:spPr>
          <a:xfrm xmlns:a="http://schemas.openxmlformats.org/drawingml/2006/main">
            <a:off x="20574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In-house NPU + VPU + ISP + crypto engines</a:t>
            </a:r>
          </a:p>
        </p:txBody>
      </p:sp>
      <p:sp>
        <p:nvSpPr>
          <p:cNvPr id="44" name="">
            <a:extLst xmlns:a="http://schemas.openxmlformats.org/drawingml/2006/main">
              <a:ext uri="{FF2B5EF4-FFF2-40B4-BE49-F238E27FC236}">
                <a16:creationId xmlns:a16="http://schemas.microsoft.com/office/drawing/2014/main" id="{225EB702-E341-47CB-B6E4-B55C87E21D8C}"/>
              </a:ext>
            </a:extLst>
          </p:cNvPr>
          <p:cNvSpPr>
            <a:spLocks xmlns:a="http://schemas.openxmlformats.org/drawingml/2006/main" noGrp="1"/>
          </p:cNvSpPr>
          <p:nvPr/>
        </p:nvSpPr>
        <p:spPr>
          <a:xfrm xmlns:a="http://schemas.openxmlformats.org/drawingml/2006/main">
            <a:off x="6210300" y="34956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09EA29B-D164-4249-B976-8BDA2B80F204}"/>
              </a:ext>
            </a:extLst>
          </p:cNvPr>
          <p:cNvSpPr>
            <a:spLocks xmlns:a="http://schemas.openxmlformats.org/drawingml/2006/main" noGrp="1"/>
          </p:cNvSpPr>
          <p:nvPr/>
        </p:nvSpPr>
        <p:spPr>
          <a:xfrm xmlns:a="http://schemas.openxmlformats.org/drawingml/2006/main">
            <a:off x="6324600" y="34480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46" name="">
            <a:extLst xmlns:a="http://schemas.openxmlformats.org/drawingml/2006/main">
              <a:ext uri="{FF2B5EF4-FFF2-40B4-BE49-F238E27FC236}">
                <a16:creationId xmlns:a16="http://schemas.microsoft.com/office/drawing/2014/main" id="{5B550D28-1275-40AA-8C2E-7875A8D82CB5}"/>
              </a:ext>
            </a:extLst>
          </p:cNvPr>
          <p:cNvSpPr>
            <a:spLocks xmlns:a="http://schemas.openxmlformats.org/drawingml/2006/main" noGrp="1"/>
          </p:cNvSpPr>
          <p:nvPr/>
        </p:nvSpPr>
        <p:spPr>
          <a:xfrm xmlns:a="http://schemas.openxmlformats.org/drawingml/2006/main">
            <a:off x="7810500" y="34480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Production-ready May 2026; trials underway</a:t>
            </a:r>
          </a:p>
        </p:txBody>
      </p:sp>
      <p:sp>
        <p:nvSpPr>
          <p:cNvPr id="47" name="">
            <a:extLst xmlns:a="http://schemas.openxmlformats.org/drawingml/2006/main">
              <a:ext uri="{FF2B5EF4-FFF2-40B4-BE49-F238E27FC236}">
                <a16:creationId xmlns:a16="http://schemas.microsoft.com/office/drawing/2014/main" id="{91D5484E-22B6-4101-970B-81C9AA2EA2BA}"/>
              </a:ext>
            </a:extLst>
          </p:cNvPr>
          <p:cNvSpPr>
            <a:spLocks xmlns:a="http://schemas.openxmlformats.org/drawingml/2006/main" noGrp="1"/>
          </p:cNvSpPr>
          <p:nvPr/>
        </p:nvSpPr>
        <p:spPr>
          <a:xfrm xmlns:a="http://schemas.openxmlformats.org/drawingml/2006/main">
            <a:off x="4572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2C111332-7F75-41F5-A9D7-7D506159BBBB}"/>
              </a:ext>
            </a:extLst>
          </p:cNvPr>
          <p:cNvSpPr>
            <a:spLocks xmlns:a="http://schemas.openxmlformats.org/drawingml/2006/main" noGrp="1"/>
          </p:cNvSpPr>
          <p:nvPr/>
        </p:nvSpPr>
        <p:spPr>
          <a:xfrm xmlns:a="http://schemas.openxmlformats.org/drawingml/2006/main">
            <a:off x="5715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COMMERCIAL</a:t>
            </a:r>
          </a:p>
        </p:txBody>
      </p:sp>
      <p:sp>
        <p:nvSpPr>
          <p:cNvPr id="49" name="">
            <a:extLst xmlns:a="http://schemas.openxmlformats.org/drawingml/2006/main">
              <a:ext uri="{FF2B5EF4-FFF2-40B4-BE49-F238E27FC236}">
                <a16:creationId xmlns:a16="http://schemas.microsoft.com/office/drawing/2014/main" id="{04A4AA01-3960-4FD5-99CF-1A96027E0D66}"/>
              </a:ext>
            </a:extLst>
          </p:cNvPr>
          <p:cNvSpPr>
            <a:spLocks xmlns:a="http://schemas.openxmlformats.org/drawingml/2006/main" noGrp="1"/>
          </p:cNvSpPr>
          <p:nvPr/>
        </p:nvSpPr>
        <p:spPr>
          <a:xfrm xmlns:a="http://schemas.openxmlformats.org/drawingml/2006/main">
            <a:off x="20574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Mid-2027 — inside the AEBS all-models window</a:t>
            </a:r>
          </a:p>
        </p:txBody>
      </p:sp>
      <p:sp>
        <p:nvSpPr>
          <p:cNvPr id="50" name="">
            <a:extLst xmlns:a="http://schemas.openxmlformats.org/drawingml/2006/main">
              <a:ext uri="{FF2B5EF4-FFF2-40B4-BE49-F238E27FC236}">
                <a16:creationId xmlns:a16="http://schemas.microsoft.com/office/drawing/2014/main" id="{50C92F71-1061-46FF-94F8-B65A37CB338C}"/>
              </a:ext>
            </a:extLst>
          </p:cNvPr>
          <p:cNvSpPr>
            <a:spLocks xmlns:a="http://schemas.openxmlformats.org/drawingml/2006/main" noGrp="1"/>
          </p:cNvSpPr>
          <p:nvPr/>
        </p:nvSpPr>
        <p:spPr>
          <a:xfrm xmlns:a="http://schemas.openxmlformats.org/drawingml/2006/main">
            <a:off x="6210300" y="38195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E77CD91B-EC87-456F-A1AD-B4EA12B38370}"/>
              </a:ext>
            </a:extLst>
          </p:cNvPr>
          <p:cNvSpPr>
            <a:spLocks xmlns:a="http://schemas.openxmlformats.org/drawingml/2006/main" noGrp="1"/>
          </p:cNvSpPr>
          <p:nvPr/>
        </p:nvSpPr>
        <p:spPr>
          <a:xfrm xmlns:a="http://schemas.openxmlformats.org/drawingml/2006/main">
            <a:off x="6324600" y="37719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CERTIFICATION</a:t>
            </a:r>
          </a:p>
        </p:txBody>
      </p:sp>
      <p:sp>
        <p:nvSpPr>
          <p:cNvPr id="52" name="">
            <a:extLst xmlns:a="http://schemas.openxmlformats.org/drawingml/2006/main">
              <a:ext uri="{FF2B5EF4-FFF2-40B4-BE49-F238E27FC236}">
                <a16:creationId xmlns:a16="http://schemas.microsoft.com/office/drawing/2014/main" id="{9121F9B8-8368-4C04-AD03-1E16EE8BD679}"/>
              </a:ext>
            </a:extLst>
          </p:cNvPr>
          <p:cNvSpPr>
            <a:spLocks xmlns:a="http://schemas.openxmlformats.org/drawingml/2006/main" noGrp="1"/>
          </p:cNvSpPr>
          <p:nvPr/>
        </p:nvSpPr>
        <p:spPr>
          <a:xfrm xmlns:a="http://schemas.openxmlformats.org/drawingml/2006/main">
            <a:off x="7810500" y="37719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None — no AIS, AEC-Q100 or ISO 26262</a:t>
            </a:r>
          </a:p>
        </p:txBody>
      </p:sp>
      <p:sp>
        <p:nvSpPr>
          <p:cNvPr id="53" name="">
            <a:extLst xmlns:a="http://schemas.openxmlformats.org/drawingml/2006/main">
              <a:ext uri="{FF2B5EF4-FFF2-40B4-BE49-F238E27FC236}">
                <a16:creationId xmlns:a16="http://schemas.microsoft.com/office/drawing/2014/main" id="{59E3813A-E3F4-4239-8545-B66468225F0B}"/>
              </a:ext>
            </a:extLst>
          </p:cNvPr>
          <p:cNvSpPr>
            <a:spLocks xmlns:a="http://schemas.openxmlformats.org/drawingml/2006/main" noGrp="1"/>
          </p:cNvSpPr>
          <p:nvPr/>
        </p:nvSpPr>
        <p:spPr>
          <a:xfrm xmlns:a="http://schemas.openxmlformats.org/drawingml/2006/main">
            <a:off x="457200" y="41910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20276A5B-2478-4709-B343-A9EA0EB3911D}"/>
              </a:ext>
            </a:extLst>
          </p:cNvPr>
          <p:cNvSpPr>
            <a:spLocks xmlns:a="http://schemas.openxmlformats.org/drawingml/2006/main" noGrp="1"/>
          </p:cNvSpPr>
          <p:nvPr/>
        </p:nvSpPr>
        <p:spPr>
          <a:xfrm xmlns:a="http://schemas.openxmlformats.org/drawingml/2006/main">
            <a:off x="457200" y="430530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OPEN ON THIS COMPANY</a:t>
            </a:r>
          </a:p>
        </p:txBody>
      </p:sp>
      <p:sp>
        <p:nvSpPr>
          <p:cNvPr id="55" name="">
            <a:extLst xmlns:a="http://schemas.openxmlformats.org/drawingml/2006/main">
              <a:ext uri="{FF2B5EF4-FFF2-40B4-BE49-F238E27FC236}">
                <a16:creationId xmlns:a16="http://schemas.microsoft.com/office/drawing/2014/main" id="{589B6126-6709-4AF7-B863-D52F17B48D6C}"/>
              </a:ext>
            </a:extLst>
          </p:cNvPr>
          <p:cNvSpPr>
            <a:spLocks xmlns:a="http://schemas.openxmlformats.org/drawingml/2006/main" noGrp="1"/>
          </p:cNvSpPr>
          <p:nvPr/>
        </p:nvSpPr>
        <p:spPr>
          <a:xfrm xmlns:a="http://schemas.openxmlformats.org/drawingml/2006/main">
            <a:off x="4572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50B416BD-5AE7-478D-BEAC-7C080CAA4006}"/>
              </a:ext>
            </a:extLst>
          </p:cNvPr>
          <p:cNvSpPr>
            <a:spLocks xmlns:a="http://schemas.openxmlformats.org/drawingml/2006/main" noGrp="1"/>
          </p:cNvSpPr>
          <p:nvPr/>
        </p:nvSpPr>
        <p:spPr>
          <a:xfrm xmlns:a="http://schemas.openxmlformats.org/drawingml/2006/main">
            <a:off x="4572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Re-verify the ₹107 Cr Series A against a primary filing</a:t>
            </a:r>
          </a:p>
        </p:txBody>
      </p:sp>
      <p:sp>
        <p:nvSpPr>
          <p:cNvPr id="57" name="">
            <a:extLst xmlns:a="http://schemas.openxmlformats.org/drawingml/2006/main">
              <a:ext uri="{FF2B5EF4-FFF2-40B4-BE49-F238E27FC236}">
                <a16:creationId xmlns:a16="http://schemas.microsoft.com/office/drawing/2014/main" id="{9E7F4946-B2A3-4C96-A834-94D262D425F1}"/>
              </a:ext>
            </a:extLst>
          </p:cNvPr>
          <p:cNvSpPr>
            <a:spLocks xmlns:a="http://schemas.openxmlformats.org/drawingml/2006/main" noGrp="1"/>
          </p:cNvSpPr>
          <p:nvPr/>
        </p:nvSpPr>
        <p:spPr>
          <a:xfrm xmlns:a="http://schemas.openxmlformats.org/drawingml/2006/main">
            <a:off x="42545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483AB669-DE2E-4592-84AB-1C4E822C3D92}"/>
              </a:ext>
            </a:extLst>
          </p:cNvPr>
          <p:cNvSpPr>
            <a:spLocks xmlns:a="http://schemas.openxmlformats.org/drawingml/2006/main" noGrp="1"/>
          </p:cNvSpPr>
          <p:nvPr/>
        </p:nvSpPr>
        <p:spPr>
          <a:xfrm xmlns:a="http://schemas.openxmlformats.org/drawingml/2006/main">
            <a:off x="42545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No automotive certification pathway published</a:t>
            </a:r>
          </a:p>
        </p:txBody>
      </p:sp>
      <p:sp>
        <p:nvSpPr>
          <p:cNvPr id="59" name="">
            <a:extLst xmlns:a="http://schemas.openxmlformats.org/drawingml/2006/main">
              <a:ext uri="{FF2B5EF4-FFF2-40B4-BE49-F238E27FC236}">
                <a16:creationId xmlns:a16="http://schemas.microsoft.com/office/drawing/2014/main" id="{54002119-3A3F-469C-8705-62FFCC2427C4}"/>
              </a:ext>
            </a:extLst>
          </p:cNvPr>
          <p:cNvSpPr>
            <a:spLocks xmlns:a="http://schemas.openxmlformats.org/drawingml/2006/main" noGrp="1"/>
          </p:cNvSpPr>
          <p:nvPr/>
        </p:nvSpPr>
        <p:spPr>
          <a:xfrm xmlns:a="http://schemas.openxmlformats.org/drawingml/2006/main">
            <a:off x="8051800" y="449580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5647C3E3-E7CA-4394-90E5-0247DB5F1B73}"/>
              </a:ext>
            </a:extLst>
          </p:cNvPr>
          <p:cNvSpPr>
            <a:spLocks xmlns:a="http://schemas.openxmlformats.org/drawingml/2006/main" noGrp="1"/>
          </p:cNvSpPr>
          <p:nvPr/>
        </p:nvSpPr>
        <p:spPr>
          <a:xfrm xmlns:a="http://schemas.openxmlformats.org/drawingml/2006/main">
            <a:off x="8051800" y="458152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Re-test coexistence before mid-2027</a:t>
            </a:r>
          </a:p>
        </p:txBody>
      </p:sp>
      <p:sp>
        <p:nvSpPr>
          <p:cNvPr id="61" name="">
            <a:extLst xmlns:a="http://schemas.openxmlformats.org/drawingml/2006/main">
              <a:ext uri="{FF2B5EF4-FFF2-40B4-BE49-F238E27FC236}">
                <a16:creationId xmlns:a16="http://schemas.microsoft.com/office/drawing/2014/main" id="{61510FA0-AF55-4B4E-BB0A-EA6A840C9544}"/>
              </a:ext>
            </a:extLst>
          </p:cNvPr>
          <p:cNvSpPr>
            <a:spLocks xmlns:a="http://schemas.openxmlformats.org/drawingml/2006/main" noGrp="1"/>
          </p:cNvSpPr>
          <p:nvPr/>
        </p:nvSpPr>
        <p:spPr>
          <a:xfrm xmlns:a="http://schemas.openxmlformats.org/drawingml/2006/main">
            <a:off x="457200" y="5029200"/>
            <a:ext cx="1127760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FAA47B38-2DF1-4A0B-9350-784EA5CCC5A1}"/>
              </a:ext>
            </a:extLst>
          </p:cNvPr>
          <p:cNvSpPr>
            <a:spLocks xmlns:a="http://schemas.openxmlformats.org/drawingml/2006/main" noGrp="1"/>
          </p:cNvSpPr>
          <p:nvPr/>
        </p:nvSpPr>
        <p:spPr>
          <a:xfrm xmlns:a="http://schemas.openxmlformats.org/drawingml/2006/main">
            <a:off x="457200" y="514350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EVIDENCE POSTURE · ATTRIBUTED</a:t>
            </a:r>
          </a:p>
        </p:txBody>
      </p:sp>
      <p:sp>
        <p:nvSpPr>
          <p:cNvPr id="63" name="">
            <a:extLst xmlns:a="http://schemas.openxmlformats.org/drawingml/2006/main">
              <a:ext uri="{FF2B5EF4-FFF2-40B4-BE49-F238E27FC236}">
                <a16:creationId xmlns:a16="http://schemas.microsoft.com/office/drawing/2014/main" id="{CEBBC9B9-678F-480F-9C49-26933C625589}"/>
              </a:ext>
            </a:extLst>
          </p:cNvPr>
          <p:cNvSpPr>
            <a:spLocks xmlns:a="http://schemas.openxmlformats.org/drawingml/2006/main" noGrp="1"/>
          </p:cNvSpPr>
          <p:nvPr/>
        </p:nvSpPr>
        <p:spPr>
          <a:xfrm xmlns:a="http://schemas.openxmlformats.org/drawingml/2006/main">
            <a:off x="9258300" y="5143500"/>
            <a:ext cx="2476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EV-NTR-01 … EV-NTR-03</a:t>
            </a:r>
          </a:p>
        </p:txBody>
      </p:sp>
      <p:sp>
        <p:nvSpPr>
          <p:cNvPr id="64" name="">
            <a:extLst xmlns:a="http://schemas.openxmlformats.org/drawingml/2006/main">
              <a:ext uri="{FF2B5EF4-FFF2-40B4-BE49-F238E27FC236}">
                <a16:creationId xmlns:a16="http://schemas.microsoft.com/office/drawing/2014/main" id="{5BAB5764-257A-4B0D-8BE6-B213DB33CD87}"/>
              </a:ext>
            </a:extLst>
          </p:cNvPr>
          <p:cNvSpPr>
            <a:spLocks xmlns:a="http://schemas.openxmlformats.org/drawingml/2006/main" noGrp="1"/>
          </p:cNvSpPr>
          <p:nvPr/>
        </p:nvSpPr>
        <p:spPr>
          <a:xfrm xmlns:a="http://schemas.openxmlformats.org/drawingml/2006/main">
            <a:off x="457200" y="5334000"/>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Adjacent with an expiry date. It demotes 'India-native' as a differentiator on its own, and its mid-2027 window lands inside the all-models deadline. Re-test before mid-2027.</a:t>
            </a:r>
          </a:p>
        </p:txBody>
      </p:sp>
      <p:sp>
        <p:nvSpPr>
          <p:cNvPr id="65" name="">
            <a:extLst xmlns:a="http://schemas.openxmlformats.org/drawingml/2006/main">
              <a:ext uri="{FF2B5EF4-FFF2-40B4-BE49-F238E27FC236}">
                <a16:creationId xmlns:a16="http://schemas.microsoft.com/office/drawing/2014/main" id="{82B666DB-FD84-41BB-857C-C5B53C74FEDE}"/>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6E60D1F9-6A9B-40C7-ADD5-C188EF8F9C96}"/>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7" name="">
            <a:extLst xmlns:a="http://schemas.openxmlformats.org/drawingml/2006/main">
              <a:ext uri="{FF2B5EF4-FFF2-40B4-BE49-F238E27FC236}">
                <a16:creationId xmlns:a16="http://schemas.microsoft.com/office/drawing/2014/main" id="{22973820-F6C8-45DF-A4B0-C7D70DC218C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71</a:t>
            </a:r>
          </a:p>
        </p:txBody>
      </p:sp>
    </p:spTree>
    <p:extLst>
      <p:ext uri="{BB962C8B-B14F-4D97-AF65-F5344CB8AC3E}">
        <p14:creationId xmlns:p14="http://schemas.microsoft.com/office/powerpoint/2010/main" val="76882293"/>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FD5EFCF-731C-4CB1-B902-C3D42FA85AC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D0012BE-9774-4AC8-8A44-BFBBC926C3F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0A87F17-F0CB-4612-A991-6DCF6A8BC5CB}"/>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AI USE CASES · NETRASEMI</a:t>
            </a:r>
          </a:p>
        </p:txBody>
      </p:sp>
      <p:sp>
        <p:nvSpPr>
          <p:cNvPr id="4" name="">
            <a:extLst xmlns:a="http://schemas.openxmlformats.org/drawingml/2006/main">
              <a:ext uri="{FF2B5EF4-FFF2-40B4-BE49-F238E27FC236}">
                <a16:creationId xmlns:a16="http://schemas.microsoft.com/office/drawing/2014/main" id="{0A344D8C-F0F9-4FFA-8E4A-2228C3086882}"/>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What Netrasemi's AI actually does</a:t>
            </a:r>
          </a:p>
        </p:txBody>
      </p:sp>
      <p:sp>
        <p:nvSpPr>
          <p:cNvPr id="5" name="">
            <a:extLst xmlns:a="http://schemas.openxmlformats.org/drawingml/2006/main">
              <a:ext uri="{FF2B5EF4-FFF2-40B4-BE49-F238E27FC236}">
                <a16:creationId xmlns:a16="http://schemas.microsoft.com/office/drawing/2014/main" id="{A28E1D86-C5AA-4973-9BCA-43A2739C409E}"/>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Threat ratings describe how worried to be. This describes what the system is — which is what decides whether DeepGrid displaces, attaches to, or ignores it.</a:t>
            </a:r>
          </a:p>
        </p:txBody>
      </p:sp>
      <p:sp>
        <p:nvSpPr>
          <p:cNvPr id="6" name="">
            <a:extLst xmlns:a="http://schemas.openxmlformats.org/drawingml/2006/main">
              <a:ext uri="{FF2B5EF4-FFF2-40B4-BE49-F238E27FC236}">
                <a16:creationId xmlns:a16="http://schemas.microsoft.com/office/drawing/2014/main" id="{F7BB958B-965B-45EF-A854-B2E9648E518B}"/>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51065A6-19C2-4FE6-A0E8-0B34C71B495F}"/>
              </a:ext>
            </a:extLst>
          </p:cNvPr>
          <p:cNvSpPr>
            <a:spLocks xmlns:a="http://schemas.openxmlformats.org/drawingml/2006/main" noGrp="1"/>
          </p:cNvSpPr>
          <p:nvPr/>
        </p:nvSpPr>
        <p:spPr>
          <a:xfrm xmlns:a="http://schemas.openxmlformats.org/drawingml/2006/main">
            <a:off x="457200" y="11239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14C8D4B-5916-45A6-A621-C5003E876775}"/>
              </a:ext>
            </a:extLst>
          </p:cNvPr>
          <p:cNvSpPr>
            <a:spLocks xmlns:a="http://schemas.openxmlformats.org/drawingml/2006/main" noGrp="1"/>
          </p:cNvSpPr>
          <p:nvPr/>
        </p:nvSpPr>
        <p:spPr>
          <a:xfrm xmlns:a="http://schemas.openxmlformats.org/drawingml/2006/main">
            <a:off x="609600" y="11620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PATTERN</a:t>
            </a:r>
          </a:p>
        </p:txBody>
      </p:sp>
      <p:sp>
        <p:nvSpPr>
          <p:cNvPr id="9" name="">
            <a:extLst xmlns:a="http://schemas.openxmlformats.org/drawingml/2006/main">
              <a:ext uri="{FF2B5EF4-FFF2-40B4-BE49-F238E27FC236}">
                <a16:creationId xmlns:a16="http://schemas.microsoft.com/office/drawing/2014/main" id="{1719F956-32E1-4D5D-B3F3-C94CB4BFE36E}"/>
              </a:ext>
            </a:extLst>
          </p:cNvPr>
          <p:cNvSpPr>
            <a:spLocks xmlns:a="http://schemas.openxmlformats.org/drawingml/2006/main" noGrp="1"/>
          </p:cNvSpPr>
          <p:nvPr/>
        </p:nvSpPr>
        <p:spPr>
          <a:xfrm xmlns:a="http://schemas.openxmlformats.org/drawingml/2006/main">
            <a:off x="2743200" y="11620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Silicon substrate for P-VIS — not a perception product</a:t>
            </a:r>
          </a:p>
        </p:txBody>
      </p:sp>
      <p:sp>
        <p:nvSpPr>
          <p:cNvPr id="10" name="">
            <a:extLst xmlns:a="http://schemas.openxmlformats.org/drawingml/2006/main">
              <a:ext uri="{FF2B5EF4-FFF2-40B4-BE49-F238E27FC236}">
                <a16:creationId xmlns:a16="http://schemas.microsoft.com/office/drawing/2014/main" id="{FEDE6052-D9A9-4358-9A48-050058EEDF98}"/>
              </a:ext>
            </a:extLst>
          </p:cNvPr>
          <p:cNvSpPr>
            <a:spLocks xmlns:a="http://schemas.openxmlformats.org/drawingml/2006/main" noGrp="1"/>
          </p:cNvSpPr>
          <p:nvPr/>
        </p:nvSpPr>
        <p:spPr>
          <a:xfrm xmlns:a="http://schemas.openxmlformats.org/drawingml/2006/main">
            <a:off x="457200" y="15430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A9BE7DE-9B11-4912-8821-198408277E91}"/>
              </a:ext>
            </a:extLst>
          </p:cNvPr>
          <p:cNvSpPr>
            <a:spLocks xmlns:a="http://schemas.openxmlformats.org/drawingml/2006/main" noGrp="1"/>
          </p:cNvSpPr>
          <p:nvPr/>
        </p:nvSpPr>
        <p:spPr>
          <a:xfrm xmlns:a="http://schemas.openxmlformats.org/drawingml/2006/main">
            <a:off x="609600" y="15811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A2000</a:t>
            </a:r>
          </a:p>
        </p:txBody>
      </p:sp>
      <p:sp>
        <p:nvSpPr>
          <p:cNvPr id="12" name="">
            <a:extLst xmlns:a="http://schemas.openxmlformats.org/drawingml/2006/main">
              <a:ext uri="{FF2B5EF4-FFF2-40B4-BE49-F238E27FC236}">
                <a16:creationId xmlns:a16="http://schemas.microsoft.com/office/drawing/2014/main" id="{A56BB88E-8E0E-4E94-9247-8376FD48A81E}"/>
              </a:ext>
            </a:extLst>
          </p:cNvPr>
          <p:cNvSpPr>
            <a:spLocks xmlns:a="http://schemas.openxmlformats.org/drawingml/2006/main" noGrp="1"/>
          </p:cNvSpPr>
          <p:nvPr/>
        </p:nvSpPr>
        <p:spPr>
          <a:xfrm xmlns:a="http://schemas.openxmlformats.org/drawingml/2006/main">
            <a:off x="2743200" y="15811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In-house NPU + VPU + ISP + crypto engines on TSMC 12nm</a:t>
            </a:r>
          </a:p>
        </p:txBody>
      </p:sp>
      <p:sp>
        <p:nvSpPr>
          <p:cNvPr id="13" name="">
            <a:extLst xmlns:a="http://schemas.openxmlformats.org/drawingml/2006/main">
              <a:ext uri="{FF2B5EF4-FFF2-40B4-BE49-F238E27FC236}">
                <a16:creationId xmlns:a16="http://schemas.microsoft.com/office/drawing/2014/main" id="{FD4067E7-25CA-4085-A5A7-0A5C4C34F1DC}"/>
              </a:ext>
            </a:extLst>
          </p:cNvPr>
          <p:cNvSpPr>
            <a:spLocks xmlns:a="http://schemas.openxmlformats.org/drawingml/2006/main" noGrp="1"/>
          </p:cNvSpPr>
          <p:nvPr/>
        </p:nvSpPr>
        <p:spPr>
          <a:xfrm xmlns:a="http://schemas.openxmlformats.org/drawingml/2006/main">
            <a:off x="457200" y="19621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D0B1605-0175-420E-9046-444935DEE246}"/>
              </a:ext>
            </a:extLst>
          </p:cNvPr>
          <p:cNvSpPr>
            <a:spLocks xmlns:a="http://schemas.openxmlformats.org/drawingml/2006/main" noGrp="1"/>
          </p:cNvSpPr>
          <p:nvPr/>
        </p:nvSpPr>
        <p:spPr>
          <a:xfrm xmlns:a="http://schemas.openxmlformats.org/drawingml/2006/main">
            <a:off x="609600" y="20002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STATUS</a:t>
            </a:r>
          </a:p>
        </p:txBody>
      </p:sp>
      <p:sp>
        <p:nvSpPr>
          <p:cNvPr id="15" name="">
            <a:extLst xmlns:a="http://schemas.openxmlformats.org/drawingml/2006/main">
              <a:ext uri="{FF2B5EF4-FFF2-40B4-BE49-F238E27FC236}">
                <a16:creationId xmlns:a16="http://schemas.microsoft.com/office/drawing/2014/main" id="{31EE9B66-7F9A-47CB-AE03-B86FCD72B7EB}"/>
              </a:ext>
            </a:extLst>
          </p:cNvPr>
          <p:cNvSpPr>
            <a:spLocks xmlns:a="http://schemas.openxmlformats.org/drawingml/2006/main" noGrp="1"/>
          </p:cNvSpPr>
          <p:nvPr/>
        </p:nvSpPr>
        <p:spPr>
          <a:xfrm xmlns:a="http://schemas.openxmlformats.org/drawingml/2006/main">
            <a:off x="2743200" y="20002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Production-ready May 2026; trials in surveillance and automotive</a:t>
            </a:r>
          </a:p>
        </p:txBody>
      </p:sp>
      <p:sp>
        <p:nvSpPr>
          <p:cNvPr id="16" name="">
            <a:extLst xmlns:a="http://schemas.openxmlformats.org/drawingml/2006/main">
              <a:ext uri="{FF2B5EF4-FFF2-40B4-BE49-F238E27FC236}">
                <a16:creationId xmlns:a16="http://schemas.microsoft.com/office/drawing/2014/main" id="{783726FB-31FD-4CD3-A357-9DD0D431C478}"/>
              </a:ext>
            </a:extLst>
          </p:cNvPr>
          <p:cNvSpPr>
            <a:spLocks xmlns:a="http://schemas.openxmlformats.org/drawingml/2006/main" noGrp="1"/>
          </p:cNvSpPr>
          <p:nvPr/>
        </p:nvSpPr>
        <p:spPr>
          <a:xfrm xmlns:a="http://schemas.openxmlformats.org/drawingml/2006/main">
            <a:off x="457200" y="23812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8771C37-D6BA-414F-A5FC-AAF357333432}"/>
              </a:ext>
            </a:extLst>
          </p:cNvPr>
          <p:cNvSpPr>
            <a:spLocks xmlns:a="http://schemas.openxmlformats.org/drawingml/2006/main" noGrp="1"/>
          </p:cNvSpPr>
          <p:nvPr/>
        </p:nvSpPr>
        <p:spPr>
          <a:xfrm xmlns:a="http://schemas.openxmlformats.org/drawingml/2006/main">
            <a:off x="609600" y="24193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TIMING</a:t>
            </a:r>
          </a:p>
        </p:txBody>
      </p:sp>
      <p:sp>
        <p:nvSpPr>
          <p:cNvPr id="18" name="">
            <a:extLst xmlns:a="http://schemas.openxmlformats.org/drawingml/2006/main">
              <a:ext uri="{FF2B5EF4-FFF2-40B4-BE49-F238E27FC236}">
                <a16:creationId xmlns:a16="http://schemas.microsoft.com/office/drawing/2014/main" id="{01F3EEB8-8E62-4BD4-8DF0-F0A63D234C1F}"/>
              </a:ext>
            </a:extLst>
          </p:cNvPr>
          <p:cNvSpPr>
            <a:spLocks xmlns:a="http://schemas.openxmlformats.org/drawingml/2006/main" noGrp="1"/>
          </p:cNvSpPr>
          <p:nvPr/>
        </p:nvSpPr>
        <p:spPr>
          <a:xfrm xmlns:a="http://schemas.openxmlformats.org/drawingml/2006/main">
            <a:off x="2743200" y="24193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Commercial mid-2027 — inside the AEBS all-models window</a:t>
            </a:r>
          </a:p>
        </p:txBody>
      </p:sp>
      <p:sp>
        <p:nvSpPr>
          <p:cNvPr id="19" name="">
            <a:extLst xmlns:a="http://schemas.openxmlformats.org/drawingml/2006/main">
              <a:ext uri="{FF2B5EF4-FFF2-40B4-BE49-F238E27FC236}">
                <a16:creationId xmlns:a16="http://schemas.microsoft.com/office/drawing/2014/main" id="{B6A5D947-413F-4E23-B6E3-E36C2EEBEC78}"/>
              </a:ext>
            </a:extLst>
          </p:cNvPr>
          <p:cNvSpPr>
            <a:spLocks xmlns:a="http://schemas.openxmlformats.org/drawingml/2006/main" noGrp="1"/>
          </p:cNvSpPr>
          <p:nvPr/>
        </p:nvSpPr>
        <p:spPr>
          <a:xfrm xmlns:a="http://schemas.openxmlformats.org/drawingml/2006/main">
            <a:off x="457200" y="28003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EC414E6-D759-4E20-8F2E-592CC1C8E9E0}"/>
              </a:ext>
            </a:extLst>
          </p:cNvPr>
          <p:cNvSpPr>
            <a:spLocks xmlns:a="http://schemas.openxmlformats.org/drawingml/2006/main" noGrp="1"/>
          </p:cNvSpPr>
          <p:nvPr/>
        </p:nvSpPr>
        <p:spPr>
          <a:xfrm xmlns:a="http://schemas.openxmlformats.org/drawingml/2006/main">
            <a:off x="609600" y="28384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GAP</a:t>
            </a:r>
          </a:p>
        </p:txBody>
      </p:sp>
      <p:sp>
        <p:nvSpPr>
          <p:cNvPr id="21" name="">
            <a:extLst xmlns:a="http://schemas.openxmlformats.org/drawingml/2006/main">
              <a:ext uri="{FF2B5EF4-FFF2-40B4-BE49-F238E27FC236}">
                <a16:creationId xmlns:a16="http://schemas.microsoft.com/office/drawing/2014/main" id="{185D5C08-4C84-4A6C-8BA8-9BE307CFEB4E}"/>
              </a:ext>
            </a:extLst>
          </p:cNvPr>
          <p:cNvSpPr>
            <a:spLocks xmlns:a="http://schemas.openxmlformats.org/drawingml/2006/main" noGrp="1"/>
          </p:cNvSpPr>
          <p:nvPr/>
        </p:nvSpPr>
        <p:spPr>
          <a:xfrm xmlns:a="http://schemas.openxmlformats.org/drawingml/2006/main">
            <a:off x="2743200" y="28384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NO AIS, AEC-Q100 or ISO 26262 claim — not a certified ADAS part</a:t>
            </a:r>
          </a:p>
        </p:txBody>
      </p:sp>
      <p:sp>
        <p:nvSpPr>
          <p:cNvPr id="22" name="">
            <a:extLst xmlns:a="http://schemas.openxmlformats.org/drawingml/2006/main">
              <a:ext uri="{FF2B5EF4-FFF2-40B4-BE49-F238E27FC236}">
                <a16:creationId xmlns:a16="http://schemas.microsoft.com/office/drawing/2014/main" id="{3B1E5AF8-6005-4742-B9CE-BAA0F2CB64E5}"/>
              </a:ext>
            </a:extLst>
          </p:cNvPr>
          <p:cNvSpPr>
            <a:spLocks xmlns:a="http://schemas.openxmlformats.org/drawingml/2006/main" noGrp="1"/>
          </p:cNvSpPr>
          <p:nvPr/>
        </p:nvSpPr>
        <p:spPr>
          <a:xfrm xmlns:a="http://schemas.openxmlformats.org/drawingml/2006/main">
            <a:off x="457200" y="32575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38FA1E0-ABB9-4D8E-A729-03C22A5907E1}"/>
              </a:ext>
            </a:extLst>
          </p:cNvPr>
          <p:cNvSpPr>
            <a:spLocks xmlns:a="http://schemas.openxmlformats.org/drawingml/2006/main" noGrp="1"/>
          </p:cNvSpPr>
          <p:nvPr/>
        </p:nvSpPr>
        <p:spPr>
          <a:xfrm xmlns:a="http://schemas.openxmlformats.org/drawingml/2006/main">
            <a:off x="457200" y="33718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IMPLICATION FOR DEEPGRID</a:t>
            </a:r>
          </a:p>
        </p:txBody>
      </p:sp>
      <p:sp>
        <p:nvSpPr>
          <p:cNvPr id="24" name="">
            <a:extLst xmlns:a="http://schemas.openxmlformats.org/drawingml/2006/main">
              <a:ext uri="{FF2B5EF4-FFF2-40B4-BE49-F238E27FC236}">
                <a16:creationId xmlns:a16="http://schemas.microsoft.com/office/drawing/2014/main" id="{9CC26FF4-C976-44BD-901C-CBC15C1B7008}"/>
              </a:ext>
            </a:extLst>
          </p:cNvPr>
          <p:cNvSpPr>
            <a:spLocks xmlns:a="http://schemas.openxmlformats.org/drawingml/2006/main" noGrp="1"/>
          </p:cNvSpPr>
          <p:nvPr/>
        </p:nvSpPr>
        <p:spPr>
          <a:xfrm xmlns:a="http://schemas.openxmlformats.org/drawingml/2006/main">
            <a:off x="457200" y="3562350"/>
            <a:ext cx="112776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Adjacent with an expiry date. It demotes 'India-native' as a differentiator on its own, and its mid-2027 window lands inside the all-models deadline. Re-test before mid-2027.</a:t>
            </a:r>
          </a:p>
        </p:txBody>
      </p:sp>
      <p:sp>
        <p:nvSpPr>
          <p:cNvPr id="25" name="">
            <a:extLst xmlns:a="http://schemas.openxmlformats.org/drawingml/2006/main">
              <a:ext uri="{FF2B5EF4-FFF2-40B4-BE49-F238E27FC236}">
                <a16:creationId xmlns:a16="http://schemas.microsoft.com/office/drawing/2014/main" id="{8864B22B-2F37-4EF1-A60F-0EAA5FCFF3BF}"/>
              </a:ext>
            </a:extLst>
          </p:cNvPr>
          <p:cNvSpPr>
            <a:spLocks xmlns:a="http://schemas.openxmlformats.org/drawingml/2006/main" noGrp="1"/>
          </p:cNvSpPr>
          <p:nvPr/>
        </p:nvSpPr>
        <p:spPr>
          <a:xfrm xmlns:a="http://schemas.openxmlformats.org/drawingml/2006/main">
            <a:off x="457200" y="4248150"/>
            <a:ext cx="11277600" cy="7048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6" name="">
            <a:extLst xmlns:a="http://schemas.openxmlformats.org/drawingml/2006/main">
              <a:ext uri="{FF2B5EF4-FFF2-40B4-BE49-F238E27FC236}">
                <a16:creationId xmlns:a16="http://schemas.microsoft.com/office/drawing/2014/main" id="{D9DD0C5B-CEF6-42D0-8208-76F2120BDC86}"/>
              </a:ext>
            </a:extLst>
          </p:cNvPr>
          <p:cNvSpPr>
            <a:spLocks xmlns:a="http://schemas.openxmlformats.org/drawingml/2006/main" noGrp="1"/>
          </p:cNvSpPr>
          <p:nvPr/>
        </p:nvSpPr>
        <p:spPr>
          <a:xfrm xmlns:a="http://schemas.openxmlformats.org/drawingml/2006/main">
            <a:off x="457200" y="4248150"/>
            <a:ext cx="38100" cy="704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0734A90-E216-4A23-801E-3E1D4D2E69C5}"/>
              </a:ext>
            </a:extLst>
          </p:cNvPr>
          <p:cNvSpPr>
            <a:spLocks xmlns:a="http://schemas.openxmlformats.org/drawingml/2006/main" noGrp="1"/>
          </p:cNvSpPr>
          <p:nvPr/>
        </p:nvSpPr>
        <p:spPr>
          <a:xfrm xmlns:a="http://schemas.openxmlformats.org/drawingml/2006/main">
            <a:off x="628650" y="4362450"/>
            <a:ext cx="8420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P-ADJ · ADJACENT — NOT COMPETING TODAY</a:t>
            </a:r>
          </a:p>
        </p:txBody>
      </p:sp>
      <p:sp>
        <p:nvSpPr>
          <p:cNvPr id="28" name="">
            <a:extLst xmlns:a="http://schemas.openxmlformats.org/drawingml/2006/main">
              <a:ext uri="{FF2B5EF4-FFF2-40B4-BE49-F238E27FC236}">
                <a16:creationId xmlns:a16="http://schemas.microsoft.com/office/drawing/2014/main" id="{FA8E8DF7-D49A-4A15-ADC0-9353B617288F}"/>
              </a:ext>
            </a:extLst>
          </p:cNvPr>
          <p:cNvSpPr>
            <a:spLocks xmlns:a="http://schemas.openxmlformats.org/drawingml/2006/main" noGrp="1"/>
          </p:cNvSpPr>
          <p:nvPr/>
        </p:nvSpPr>
        <p:spPr>
          <a:xfrm xmlns:a="http://schemas.openxmlformats.org/drawingml/2006/main">
            <a:off x="628650" y="4552950"/>
            <a:ext cx="8420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Watch the date. Adjacency here has an expiry, and the re-test must be calendared rather than assumed.</a:t>
            </a:r>
          </a:p>
        </p:txBody>
      </p:sp>
      <p:sp>
        <p:nvSpPr>
          <p:cNvPr id="29" name="">
            <a:extLst xmlns:a="http://schemas.openxmlformats.org/drawingml/2006/main">
              <a:ext uri="{FF2B5EF4-FFF2-40B4-BE49-F238E27FC236}">
                <a16:creationId xmlns:a16="http://schemas.microsoft.com/office/drawing/2014/main" id="{B9481427-1B3A-435B-A8DC-3B2253008DE9}"/>
              </a:ext>
            </a:extLst>
          </p:cNvPr>
          <p:cNvSpPr>
            <a:spLocks xmlns:a="http://schemas.openxmlformats.org/drawingml/2006/main" noGrp="1"/>
          </p:cNvSpPr>
          <p:nvPr/>
        </p:nvSpPr>
        <p:spPr>
          <a:xfrm xmlns:a="http://schemas.openxmlformats.org/drawingml/2006/main">
            <a:off x="9163050" y="436245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a:solidFill>
                  <a:srgbClr val="8EA0B2"/>
                </a:solidFill>
                <a:latin typeface="Arial"/>
                <a:ea typeface="Arial"/>
                <a:cs typeface="Arial"/>
              </a:defRPr>
            </a:pPr>
            <a:r>
              <a:t>Evidence · EV-NTR-01 … EV-NTR-03</a:t>
            </a:r>
          </a:p>
        </p:txBody>
      </p:sp>
      <p:sp>
        <p:nvSpPr>
          <p:cNvPr id="30" name="">
            <a:extLst xmlns:a="http://schemas.openxmlformats.org/drawingml/2006/main">
              <a:ext uri="{FF2B5EF4-FFF2-40B4-BE49-F238E27FC236}">
                <a16:creationId xmlns:a16="http://schemas.microsoft.com/office/drawing/2014/main" id="{E2FB3326-6483-4FBD-9831-A9413DC4C53C}"/>
              </a:ext>
            </a:extLst>
          </p:cNvPr>
          <p:cNvSpPr>
            <a:spLocks xmlns:a="http://schemas.openxmlformats.org/drawingml/2006/main" noGrp="1"/>
          </p:cNvSpPr>
          <p:nvPr/>
        </p:nvSpPr>
        <p:spPr>
          <a:xfrm xmlns:a="http://schemas.openxmlformats.org/drawingml/2006/main">
            <a:off x="9163050" y="453390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D7720B"/>
                </a:solidFill>
                <a:latin typeface="Arial"/>
                <a:ea typeface="Arial"/>
                <a:cs typeface="Arial"/>
              </a:defRPr>
            </a:pPr>
            <a:r>
              <a:t>Posture · ATTRIBUTED</a:t>
            </a:r>
          </a:p>
        </p:txBody>
      </p:sp>
      <p:sp>
        <p:nvSpPr>
          <p:cNvPr id="31" name="">
            <a:extLst xmlns:a="http://schemas.openxmlformats.org/drawingml/2006/main">
              <a:ext uri="{FF2B5EF4-FFF2-40B4-BE49-F238E27FC236}">
                <a16:creationId xmlns:a16="http://schemas.microsoft.com/office/drawing/2014/main" id="{F80DE33A-8545-4B52-9831-2C8566C7B2BF}"/>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43ED692-7E38-4DB7-B7E8-8E2AB6D9A349}"/>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CDC46A3C-B108-48E9-9A1E-74370B9129E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72</a:t>
            </a:r>
          </a:p>
        </p:txBody>
      </p:sp>
    </p:spTree>
    <p:extLst>
      <p:ext uri="{BB962C8B-B14F-4D97-AF65-F5344CB8AC3E}">
        <p14:creationId xmlns:p14="http://schemas.microsoft.com/office/powerpoint/2010/main" val="1641846883"/>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C5934949-7C37-4881-8986-E465D00EDFE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A9DFC14-28A7-4C48-9775-283A2AD31F57}"/>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D2D188F-22DE-49F9-B820-D6AAC5829AD3}"/>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4C6007FE-C27E-4E63-BDA7-E82E7E95CDD6}"/>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0128EB66-68B9-44E4-B152-EED9413F7BE6}"/>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Netrasemi: Adjacent compute option, not direct ADAS competitor</a:t>
            </a:r>
          </a:p>
        </p:txBody>
      </p:sp>
      <p:sp>
        <p:nvSpPr>
          <p:cNvPr id="6" name="">
            <a:extLst xmlns:a="http://schemas.openxmlformats.org/drawingml/2006/main">
              <a:ext uri="{FF2B5EF4-FFF2-40B4-BE49-F238E27FC236}">
                <a16:creationId xmlns:a16="http://schemas.microsoft.com/office/drawing/2014/main" id="{260A6F6A-E494-4399-A18D-C4132A8B78D3}"/>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7023669-8BFB-4A12-AD99-637D8BE3FFE8}"/>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does Netrasemi's evidence profile prove—and what remains unproven for automotive?</a:t>
            </a:r>
          </a:p>
        </p:txBody>
      </p:sp>
      <p:sp>
        <p:nvSpPr>
          <p:cNvPr id="8" name="">
            <a:extLst xmlns:a="http://schemas.openxmlformats.org/drawingml/2006/main">
              <a:ext uri="{FF2B5EF4-FFF2-40B4-BE49-F238E27FC236}">
                <a16:creationId xmlns:a16="http://schemas.microsoft.com/office/drawing/2014/main" id="{5C8E2436-3AD9-44A8-9E84-017277AC5A24}"/>
              </a:ext>
            </a:extLst>
          </p:cNvPr>
          <p:cNvSpPr>
            <a:spLocks xmlns:a="http://schemas.openxmlformats.org/drawingml/2006/main" noGrp="1"/>
          </p:cNvSpPr>
          <p:nvPr/>
        </p:nvSpPr>
        <p:spPr>
          <a:xfrm xmlns:a="http://schemas.openxmlformats.org/drawingml/2006/main">
            <a:off x="457200" y="1006475"/>
            <a:ext cx="11277600" cy="520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96541D2D-7B28-4238-8BEE-ECF8E2E49EF4}"/>
              </a:ext>
            </a:extLst>
          </p:cNvPr>
          <p:cNvSpPr>
            <a:spLocks xmlns:a="http://schemas.openxmlformats.org/drawingml/2006/main" noGrp="1"/>
          </p:cNvSpPr>
          <p:nvPr/>
        </p:nvSpPr>
        <p:spPr>
          <a:xfrm xmlns:a="http://schemas.openxmlformats.org/drawingml/2006/main">
            <a:off x="457200" y="1006475"/>
            <a:ext cx="28575" cy="5207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8CE321B-0666-4F75-A7D7-E62808AE9676}"/>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0F5E793B-1A92-4DF6-9D50-1864AF197217}"/>
              </a:ext>
            </a:extLst>
          </p:cNvPr>
          <p:cNvSpPr>
            <a:spLocks xmlns:a="http://schemas.openxmlformats.org/drawingml/2006/main" noGrp="1"/>
          </p:cNvSpPr>
          <p:nvPr/>
        </p:nvSpPr>
        <p:spPr>
          <a:xfrm xmlns:a="http://schemas.openxmlformats.org/drawingml/2006/main">
            <a:off x="581025" y="1222375"/>
            <a:ext cx="1102995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Treat as adjacent compute option; not ADAS competitor. DeepGrid should anchor on application evidence and automotive work products.</a:t>
            </a:r>
          </a:p>
        </p:txBody>
      </p:sp>
      <p:sp>
        <p:nvSpPr>
          <p:cNvPr id="12" name="">
            <a:extLst xmlns:a="http://schemas.openxmlformats.org/drawingml/2006/main">
              <a:ext uri="{FF2B5EF4-FFF2-40B4-BE49-F238E27FC236}">
                <a16:creationId xmlns:a16="http://schemas.microsoft.com/office/drawing/2014/main" id="{74710252-EC84-4A4E-981C-AFF29F82B67A}"/>
              </a:ext>
            </a:extLst>
          </p:cNvPr>
          <p:cNvSpPr>
            <a:spLocks xmlns:a="http://schemas.openxmlformats.org/drawingml/2006/main" noGrp="1"/>
          </p:cNvSpPr>
          <p:nvPr/>
        </p:nvSpPr>
        <p:spPr>
          <a:xfrm xmlns:a="http://schemas.openxmlformats.org/drawingml/2006/main">
            <a:off x="457200" y="1641475"/>
            <a:ext cx="11277600" cy="781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E5BDCCEB-D2E6-4161-898E-58F02C5FB9B2}"/>
              </a:ext>
            </a:extLst>
          </p:cNvPr>
          <p:cNvSpPr>
            <a:spLocks xmlns:a="http://schemas.openxmlformats.org/drawingml/2006/main" noGrp="1"/>
          </p:cNvSpPr>
          <p:nvPr/>
        </p:nvSpPr>
        <p:spPr>
          <a:xfrm xmlns:a="http://schemas.openxmlformats.org/drawingml/2006/main">
            <a:off x="457200" y="1641475"/>
            <a:ext cx="7668768"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6CDB207-4A70-4E74-81A8-ECB84772168A}"/>
              </a:ext>
            </a:extLst>
          </p:cNvPr>
          <p:cNvSpPr>
            <a:spLocks xmlns:a="http://schemas.openxmlformats.org/drawingml/2006/main" noGrp="1"/>
          </p:cNvSpPr>
          <p:nvPr/>
        </p:nvSpPr>
        <p:spPr>
          <a:xfrm xmlns:a="http://schemas.openxmlformats.org/drawingml/2006/main">
            <a:off x="457200" y="1641475"/>
            <a:ext cx="28575" cy="7810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B2C15F6-68CC-4FAF-83D5-AE66B52638C8}"/>
              </a:ext>
            </a:extLst>
          </p:cNvPr>
          <p:cNvSpPr>
            <a:spLocks xmlns:a="http://schemas.openxmlformats.org/drawingml/2006/main" noGrp="1"/>
          </p:cNvSpPr>
          <p:nvPr/>
        </p:nvSpPr>
        <p:spPr>
          <a:xfrm xmlns:a="http://schemas.openxmlformats.org/drawingml/2006/main">
            <a:off x="571500" y="17272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STARKENN IS</a:t>
            </a:r>
          </a:p>
        </p:txBody>
      </p:sp>
      <p:sp>
        <p:nvSpPr>
          <p:cNvPr id="16" name="">
            <a:extLst xmlns:a="http://schemas.openxmlformats.org/drawingml/2006/main">
              <a:ext uri="{FF2B5EF4-FFF2-40B4-BE49-F238E27FC236}">
                <a16:creationId xmlns:a16="http://schemas.microsoft.com/office/drawing/2014/main" id="{F4EA0E91-C5AE-4B1B-8DAC-7DA62D9479FE}"/>
              </a:ext>
            </a:extLst>
          </p:cNvPr>
          <p:cNvSpPr>
            <a:spLocks xmlns:a="http://schemas.openxmlformats.org/drawingml/2006/main" noGrp="1"/>
          </p:cNvSpPr>
          <p:nvPr/>
        </p:nvSpPr>
        <p:spPr>
          <a:xfrm xmlns:a="http://schemas.openxmlformats.org/drawingml/2006/main">
            <a:off x="4067556" y="1717675"/>
            <a:ext cx="56388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Starkenn is India-incorporated and company-reports government-tender revenue, so it neutralises DeepGrid’s foreign-dependency opener even before its…</a:t>
            </a:r>
          </a:p>
        </p:txBody>
      </p:sp>
      <p:sp>
        <p:nvSpPr>
          <p:cNvPr id="17" name="">
            <a:extLst xmlns:a="http://schemas.openxmlformats.org/drawingml/2006/main">
              <a:ext uri="{FF2B5EF4-FFF2-40B4-BE49-F238E27FC236}">
                <a16:creationId xmlns:a16="http://schemas.microsoft.com/office/drawing/2014/main" id="{0CD846F9-83BB-4C49-A39B-A6898223F1F3}"/>
              </a:ext>
            </a:extLst>
          </p:cNvPr>
          <p:cNvSpPr>
            <a:spLocks xmlns:a="http://schemas.openxmlformats.org/drawingml/2006/main" noGrp="1"/>
          </p:cNvSpPr>
          <p:nvPr/>
        </p:nvSpPr>
        <p:spPr>
          <a:xfrm xmlns:a="http://schemas.openxmlformats.org/drawingml/2006/main">
            <a:off x="9816084" y="17272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ATTRIBUTED CLAIM</a:t>
            </a:r>
          </a:p>
        </p:txBody>
      </p:sp>
      <p:sp>
        <p:nvSpPr>
          <p:cNvPr id="18" name="">
            <a:extLst xmlns:a="http://schemas.openxmlformats.org/drawingml/2006/main">
              <a:ext uri="{FF2B5EF4-FFF2-40B4-BE49-F238E27FC236}">
                <a16:creationId xmlns:a16="http://schemas.microsoft.com/office/drawing/2014/main" id="{23B499FD-433E-40B6-838B-6E98FA260A00}"/>
              </a:ext>
            </a:extLst>
          </p:cNvPr>
          <p:cNvSpPr>
            <a:spLocks xmlns:a="http://schemas.openxmlformats.org/drawingml/2006/main" noGrp="1"/>
          </p:cNvSpPr>
          <p:nvPr/>
        </p:nvSpPr>
        <p:spPr>
          <a:xfrm xmlns:a="http://schemas.openxmlformats.org/drawingml/2006/main">
            <a:off x="457200" y="2489200"/>
            <a:ext cx="11277600" cy="781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D80BBB33-7E42-46C0-B065-C35A7250EA6F}"/>
              </a:ext>
            </a:extLst>
          </p:cNvPr>
          <p:cNvSpPr>
            <a:spLocks xmlns:a="http://schemas.openxmlformats.org/drawingml/2006/main" noGrp="1"/>
          </p:cNvSpPr>
          <p:nvPr/>
        </p:nvSpPr>
        <p:spPr>
          <a:xfrm xmlns:a="http://schemas.openxmlformats.org/drawingml/2006/main">
            <a:off x="457200" y="248920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DA7C4E2-81FE-4630-A26B-66C5C0655C6A}"/>
              </a:ext>
            </a:extLst>
          </p:cNvPr>
          <p:cNvSpPr>
            <a:spLocks xmlns:a="http://schemas.openxmlformats.org/drawingml/2006/main" noGrp="1"/>
          </p:cNvSpPr>
          <p:nvPr/>
        </p:nvSpPr>
        <p:spPr>
          <a:xfrm xmlns:a="http://schemas.openxmlformats.org/drawingml/2006/main">
            <a:off x="457200" y="2489200"/>
            <a:ext cx="28575" cy="7810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B3C7422-9406-40FE-9376-2BD0BABAE84E}"/>
              </a:ext>
            </a:extLst>
          </p:cNvPr>
          <p:cNvSpPr>
            <a:spLocks xmlns:a="http://schemas.openxmlformats.org/drawingml/2006/main" noGrp="1"/>
          </p:cNvSpPr>
          <p:nvPr/>
        </p:nvSpPr>
        <p:spPr>
          <a:xfrm xmlns:a="http://schemas.openxmlformats.org/drawingml/2006/main">
            <a:off x="571500" y="2574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TRANSLATE OWNED SILICON INTO</a:t>
            </a:r>
          </a:p>
        </p:txBody>
      </p:sp>
      <p:sp>
        <p:nvSpPr>
          <p:cNvPr id="22" name="">
            <a:extLst xmlns:a="http://schemas.openxmlformats.org/drawingml/2006/main">
              <a:ext uri="{FF2B5EF4-FFF2-40B4-BE49-F238E27FC236}">
                <a16:creationId xmlns:a16="http://schemas.microsoft.com/office/drawing/2014/main" id="{1890F16F-B37B-4B78-B81F-FB0487537404}"/>
              </a:ext>
            </a:extLst>
          </p:cNvPr>
          <p:cNvSpPr>
            <a:spLocks xmlns:a="http://schemas.openxmlformats.org/drawingml/2006/main" noGrp="1"/>
          </p:cNvSpPr>
          <p:nvPr/>
        </p:nvSpPr>
        <p:spPr>
          <a:xfrm xmlns:a="http://schemas.openxmlformats.org/drawingml/2006/main">
            <a:off x="4067556" y="2565400"/>
            <a:ext cx="56388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Translate owned silicon into procurable advantages—escrow, repairability, supply continuity and delivered-system cost—supported by a named tender res…</a:t>
            </a:r>
          </a:p>
        </p:txBody>
      </p:sp>
      <p:sp>
        <p:nvSpPr>
          <p:cNvPr id="23" name="">
            <a:extLst xmlns:a="http://schemas.openxmlformats.org/drawingml/2006/main">
              <a:ext uri="{FF2B5EF4-FFF2-40B4-BE49-F238E27FC236}">
                <a16:creationId xmlns:a16="http://schemas.microsoft.com/office/drawing/2014/main" id="{9F09F4DE-ABD8-4C69-A80D-8FD9A326C895}"/>
              </a:ext>
            </a:extLst>
          </p:cNvPr>
          <p:cNvSpPr>
            <a:spLocks xmlns:a="http://schemas.openxmlformats.org/drawingml/2006/main" noGrp="1"/>
          </p:cNvSpPr>
          <p:nvPr/>
        </p:nvSpPr>
        <p:spPr>
          <a:xfrm xmlns:a="http://schemas.openxmlformats.org/drawingml/2006/main">
            <a:off x="9816084" y="2574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65A4B536-16AD-4D3D-9A1C-CF9FDF202CDA}"/>
              </a:ext>
            </a:extLst>
          </p:cNvPr>
          <p:cNvSpPr>
            <a:spLocks xmlns:a="http://schemas.openxmlformats.org/drawingml/2006/main" noGrp="1"/>
          </p:cNvSpPr>
          <p:nvPr/>
        </p:nvSpPr>
        <p:spPr>
          <a:xfrm xmlns:a="http://schemas.openxmlformats.org/drawingml/2006/main">
            <a:off x="457200" y="3336925"/>
            <a:ext cx="11277600" cy="781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03E3B8BB-63CD-44C1-80BF-05E8403D4E9E}"/>
              </a:ext>
            </a:extLst>
          </p:cNvPr>
          <p:cNvSpPr>
            <a:spLocks xmlns:a="http://schemas.openxmlformats.org/drawingml/2006/main" noGrp="1"/>
          </p:cNvSpPr>
          <p:nvPr/>
        </p:nvSpPr>
        <p:spPr>
          <a:xfrm xmlns:a="http://schemas.openxmlformats.org/drawingml/2006/main">
            <a:off x="457200" y="3336925"/>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A6EEE93-A6AD-4E35-9750-F502964F1303}"/>
              </a:ext>
            </a:extLst>
          </p:cNvPr>
          <p:cNvSpPr>
            <a:spLocks xmlns:a="http://schemas.openxmlformats.org/drawingml/2006/main" noGrp="1"/>
          </p:cNvSpPr>
          <p:nvPr/>
        </p:nvSpPr>
        <p:spPr>
          <a:xfrm xmlns:a="http://schemas.openxmlformats.org/drawingml/2006/main">
            <a:off x="457200" y="3336925"/>
            <a:ext cx="28575" cy="7810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0B453ED-7439-4C55-B089-9A7FF02CA80A}"/>
              </a:ext>
            </a:extLst>
          </p:cNvPr>
          <p:cNvSpPr>
            <a:spLocks xmlns:a="http://schemas.openxmlformats.org/drawingml/2006/main" noGrp="1"/>
          </p:cNvSpPr>
          <p:nvPr/>
        </p:nvSpPr>
        <p:spPr>
          <a:xfrm xmlns:a="http://schemas.openxmlformats.org/drawingml/2006/main">
            <a:off x="571500" y="34226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IMPLICATION FOR DEEPGRID</a:t>
            </a:r>
          </a:p>
        </p:txBody>
      </p:sp>
      <p:sp>
        <p:nvSpPr>
          <p:cNvPr id="28" name="">
            <a:extLst xmlns:a="http://schemas.openxmlformats.org/drawingml/2006/main">
              <a:ext uri="{FF2B5EF4-FFF2-40B4-BE49-F238E27FC236}">
                <a16:creationId xmlns:a16="http://schemas.microsoft.com/office/drawing/2014/main" id="{F7F320BB-1E76-4F19-8DB8-8E90FC294407}"/>
              </a:ext>
            </a:extLst>
          </p:cNvPr>
          <p:cNvSpPr>
            <a:spLocks xmlns:a="http://schemas.openxmlformats.org/drawingml/2006/main" noGrp="1"/>
          </p:cNvSpPr>
          <p:nvPr/>
        </p:nvSpPr>
        <p:spPr>
          <a:xfrm xmlns:a="http://schemas.openxmlformats.org/drawingml/2006/main">
            <a:off x="4067556" y="3413125"/>
            <a:ext cx="56388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IMPLICATION FOR DEEPGRID · Lead with procurable performance, design escrow, serviceability and a documented compute-cost trajectory.</a:t>
            </a:r>
          </a:p>
        </p:txBody>
      </p:sp>
      <p:sp>
        <p:nvSpPr>
          <p:cNvPr id="29" name="">
            <a:extLst xmlns:a="http://schemas.openxmlformats.org/drawingml/2006/main">
              <a:ext uri="{FF2B5EF4-FFF2-40B4-BE49-F238E27FC236}">
                <a16:creationId xmlns:a16="http://schemas.microsoft.com/office/drawing/2014/main" id="{E9D350DF-1B2F-4D98-AFF0-66FA73A5350E}"/>
              </a:ext>
            </a:extLst>
          </p:cNvPr>
          <p:cNvSpPr>
            <a:spLocks xmlns:a="http://schemas.openxmlformats.org/drawingml/2006/main" noGrp="1"/>
          </p:cNvSpPr>
          <p:nvPr/>
        </p:nvSpPr>
        <p:spPr>
          <a:xfrm xmlns:a="http://schemas.openxmlformats.org/drawingml/2006/main">
            <a:off x="9816084" y="34226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6F9EDFF8-99C7-40F7-BB6F-C891CF3F9FA8}"/>
              </a:ext>
            </a:extLst>
          </p:cNvPr>
          <p:cNvSpPr>
            <a:spLocks xmlns:a="http://schemas.openxmlformats.org/drawingml/2006/main" noGrp="1"/>
          </p:cNvSpPr>
          <p:nvPr/>
        </p:nvSpPr>
        <p:spPr>
          <a:xfrm xmlns:a="http://schemas.openxmlformats.org/drawingml/2006/main">
            <a:off x="457200" y="4184650"/>
            <a:ext cx="11277600" cy="781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BFBD4D16-2B78-4F83-B0C3-F4DFF97F6C32}"/>
              </a:ext>
            </a:extLst>
          </p:cNvPr>
          <p:cNvSpPr>
            <a:spLocks xmlns:a="http://schemas.openxmlformats.org/drawingml/2006/main" noGrp="1"/>
          </p:cNvSpPr>
          <p:nvPr/>
        </p:nvSpPr>
        <p:spPr>
          <a:xfrm xmlns:a="http://schemas.openxmlformats.org/drawingml/2006/main">
            <a:off x="457200" y="418465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A05006D-7B9F-4DCE-83CE-93E8B39B1B9E}"/>
              </a:ext>
            </a:extLst>
          </p:cNvPr>
          <p:cNvSpPr>
            <a:spLocks xmlns:a="http://schemas.openxmlformats.org/drawingml/2006/main" noGrp="1"/>
          </p:cNvSpPr>
          <p:nvPr/>
        </p:nvSpPr>
        <p:spPr>
          <a:xfrm xmlns:a="http://schemas.openxmlformats.org/drawingml/2006/main">
            <a:off x="457200" y="4184650"/>
            <a:ext cx="28575" cy="78105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56C84CF-7818-47F4-8924-C0A374A6AB60}"/>
              </a:ext>
            </a:extLst>
          </p:cNvPr>
          <p:cNvSpPr>
            <a:spLocks xmlns:a="http://schemas.openxmlformats.org/drawingml/2006/main" noGrp="1"/>
          </p:cNvSpPr>
          <p:nvPr/>
        </p:nvSpPr>
        <p:spPr>
          <a:xfrm xmlns:a="http://schemas.openxmlformats.org/drawingml/2006/main">
            <a:off x="571500" y="4270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ELIGIBILITY, NAMED TENDER</a:t>
            </a:r>
          </a:p>
        </p:txBody>
      </p:sp>
      <p:sp>
        <p:nvSpPr>
          <p:cNvPr id="34" name="">
            <a:extLst xmlns:a="http://schemas.openxmlformats.org/drawingml/2006/main">
              <a:ext uri="{FF2B5EF4-FFF2-40B4-BE49-F238E27FC236}">
                <a16:creationId xmlns:a16="http://schemas.microsoft.com/office/drawing/2014/main" id="{FB0AC15E-BC58-4956-BD32-6F8403EA1D2E}"/>
              </a:ext>
            </a:extLst>
          </p:cNvPr>
          <p:cNvSpPr>
            <a:spLocks xmlns:a="http://schemas.openxmlformats.org/drawingml/2006/main" noGrp="1"/>
          </p:cNvSpPr>
          <p:nvPr/>
        </p:nvSpPr>
        <p:spPr>
          <a:xfrm xmlns:a="http://schemas.openxmlformats.org/drawingml/2006/main">
            <a:off x="4067556" y="4260850"/>
            <a:ext cx="56388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Eligibility, named tender references, vehicle compatibility, local service, spares and auditable acceptance determine awardability; “Indian” is only…</a:t>
            </a:r>
          </a:p>
        </p:txBody>
      </p:sp>
      <p:sp>
        <p:nvSpPr>
          <p:cNvPr id="35" name="">
            <a:extLst xmlns:a="http://schemas.openxmlformats.org/drawingml/2006/main">
              <a:ext uri="{FF2B5EF4-FFF2-40B4-BE49-F238E27FC236}">
                <a16:creationId xmlns:a16="http://schemas.microsoft.com/office/drawing/2014/main" id="{77803B4F-E603-4ECC-9B60-5BCFE49F4B4B}"/>
              </a:ext>
            </a:extLst>
          </p:cNvPr>
          <p:cNvSpPr>
            <a:spLocks xmlns:a="http://schemas.openxmlformats.org/drawingml/2006/main" noGrp="1"/>
          </p:cNvSpPr>
          <p:nvPr/>
        </p:nvSpPr>
        <p:spPr>
          <a:xfrm xmlns:a="http://schemas.openxmlformats.org/drawingml/2006/main">
            <a:off x="9816084" y="4270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AB8D41C2-41F8-417E-BBE0-AF1D88671463}"/>
              </a:ext>
            </a:extLst>
          </p:cNvPr>
          <p:cNvSpPr>
            <a:spLocks xmlns:a="http://schemas.openxmlformats.org/drawingml/2006/main" noGrp="1"/>
          </p:cNvSpPr>
          <p:nvPr/>
        </p:nvSpPr>
        <p:spPr>
          <a:xfrm xmlns:a="http://schemas.openxmlformats.org/drawingml/2006/main">
            <a:off x="457200" y="508000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D67AC639-B961-49D9-8573-A39AB30DC4CB}"/>
              </a:ext>
            </a:extLst>
          </p:cNvPr>
          <p:cNvSpPr>
            <a:spLocks xmlns:a="http://schemas.openxmlformats.org/drawingml/2006/main" noGrp="1"/>
          </p:cNvSpPr>
          <p:nvPr/>
        </p:nvSpPr>
        <p:spPr>
          <a:xfrm xmlns:a="http://schemas.openxmlformats.org/drawingml/2006/main">
            <a:off x="457200" y="508000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DFF409D-FEE6-4E8D-A4C4-5C5E7100915E}"/>
              </a:ext>
            </a:extLst>
          </p:cNvPr>
          <p:cNvSpPr>
            <a:spLocks xmlns:a="http://schemas.openxmlformats.org/drawingml/2006/main" noGrp="1"/>
          </p:cNvSpPr>
          <p:nvPr/>
        </p:nvSpPr>
        <p:spPr>
          <a:xfrm xmlns:a="http://schemas.openxmlformats.org/drawingml/2006/main">
            <a:off x="581025" y="51466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F69E4F11-309F-440A-B20B-D7723A2F90B6}"/>
              </a:ext>
            </a:extLst>
          </p:cNvPr>
          <p:cNvSpPr>
            <a:spLocks xmlns:a="http://schemas.openxmlformats.org/drawingml/2006/main" noGrp="1"/>
          </p:cNvSpPr>
          <p:nvPr/>
        </p:nvSpPr>
        <p:spPr>
          <a:xfrm xmlns:a="http://schemas.openxmlformats.org/drawingml/2006/main">
            <a:off x="581025" y="52959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by an OEM nomination, an on-road deployment, or ARAI/AIS-162 qualification for Netrasemi.</a:t>
            </a:r>
          </a:p>
        </p:txBody>
      </p:sp>
      <p:sp>
        <p:nvSpPr>
          <p:cNvPr id="40" name="">
            <a:extLst xmlns:a="http://schemas.openxmlformats.org/drawingml/2006/main">
              <a:ext uri="{FF2B5EF4-FFF2-40B4-BE49-F238E27FC236}">
                <a16:creationId xmlns:a16="http://schemas.microsoft.com/office/drawing/2014/main" id="{2085C4AC-4450-4EC6-8F5E-DFF4EC90381D}"/>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08B2AB80-DABE-4504-9BC8-4AFE8095397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FCAFB087-F44E-4889-9992-3CBFC9D2C577}"/>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6555BC1D-94E9-480D-B985-118C39B31B93}"/>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Classify Netrasemi as an adjacent compute option, not an ADAS competitor; anchor differentiation on application evidence.</a:t>
            </a:r>
          </a:p>
        </p:txBody>
      </p:sp>
      <p:sp>
        <p:nvSpPr>
          <p:cNvPr id="44" name="">
            <a:extLst xmlns:a="http://schemas.openxmlformats.org/drawingml/2006/main">
              <a:ext uri="{FF2B5EF4-FFF2-40B4-BE49-F238E27FC236}">
                <a16:creationId xmlns:a16="http://schemas.microsoft.com/office/drawing/2014/main" id="{F11AD687-601E-4CD4-BEC2-184386F0F6F4}"/>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95D5127A-D806-4F42-8D6E-87ED456CDA5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Netrasemi automotive qualification or nomination.</a:t>
            </a:r>
          </a:p>
        </p:txBody>
      </p:sp>
      <p:sp>
        <p:nvSpPr>
          <p:cNvPr id="46" name="">
            <a:extLst xmlns:a="http://schemas.openxmlformats.org/drawingml/2006/main">
              <a:ext uri="{FF2B5EF4-FFF2-40B4-BE49-F238E27FC236}">
                <a16:creationId xmlns:a16="http://schemas.microsoft.com/office/drawing/2014/main" id="{00C88455-29FD-4E4A-88B9-6828E99E66A6}"/>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22A12E7B-BC6E-4B61-8AD1-EC22854A272E}"/>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using sovereignty as a standalone government-pitch differentiator.</a:t>
            </a:r>
          </a:p>
        </p:txBody>
      </p:sp>
      <p:sp>
        <p:nvSpPr>
          <p:cNvPr id="48" name="">
            <a:extLst xmlns:a="http://schemas.openxmlformats.org/drawingml/2006/main">
              <a:ext uri="{FF2B5EF4-FFF2-40B4-BE49-F238E27FC236}">
                <a16:creationId xmlns:a16="http://schemas.microsoft.com/office/drawing/2014/main" id="{8E27DA91-6F6E-4E6C-9482-6561E7ECD08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BAA82DF2-7195-486E-B8DB-875708E3EAC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265F993D-682E-4C36-80F6-99433BE53F62}"/>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73</a:t>
            </a:r>
          </a:p>
        </p:txBody>
      </p:sp>
    </p:spTree>
    <p:extLst>
      <p:ext uri="{BB962C8B-B14F-4D97-AF65-F5344CB8AC3E}">
        <p14:creationId xmlns:p14="http://schemas.microsoft.com/office/powerpoint/2010/main" val="868096685"/>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2ACD2124-B20E-44B4-B05B-D64AE483B1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12AA294-B1BB-4DB3-BE72-71A7FCF621AF}"/>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3D0A272-CAE1-470F-9B2B-30A7D951B10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22FA3C23-7637-4138-A96F-83B94A4E1F36}"/>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A4362F76-925B-4A9A-BCE1-50A6DBBD739F}"/>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Netrasemi threat: highest in government positioning, low-medium elsewhere</a:t>
            </a:r>
          </a:p>
        </p:txBody>
      </p:sp>
      <p:sp>
        <p:nvSpPr>
          <p:cNvPr id="6" name="">
            <a:extLst xmlns:a="http://schemas.openxmlformats.org/drawingml/2006/main">
              <a:ext uri="{FF2B5EF4-FFF2-40B4-BE49-F238E27FC236}">
                <a16:creationId xmlns:a16="http://schemas.microsoft.com/office/drawing/2014/main" id="{420F169B-B703-4095-8257-F5D96673230F}"/>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2B87385-A0DD-4D17-A552-67D242E58B73}"/>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Netrasemi's threat change by buying arena, and where should DeepGrid focus?</a:t>
            </a:r>
          </a:p>
        </p:txBody>
      </p:sp>
      <p:sp>
        <p:nvSpPr>
          <p:cNvPr id="8" name="">
            <a:extLst xmlns:a="http://schemas.openxmlformats.org/drawingml/2006/main">
              <a:ext uri="{FF2B5EF4-FFF2-40B4-BE49-F238E27FC236}">
                <a16:creationId xmlns:a16="http://schemas.microsoft.com/office/drawing/2014/main" id="{2D0B9166-333A-49D0-9414-C7115B67AA16}"/>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45A050F0-22EB-4254-9C24-0E0F014C8903}"/>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D23610E-B75C-4FFB-8365-B465DDC669B0}"/>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87107206-4C74-40A6-A29B-6A34C022A706}"/>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Netrasemi's threat sits in government positioning, where DLI support and indigenous compute carry weight, and stays low-medium elsewhere where automotive qualification decides.</a:t>
            </a:r>
          </a:p>
        </p:txBody>
      </p:sp>
      <p:sp>
        <p:nvSpPr>
          <p:cNvPr id="12" name="">
            <a:extLst xmlns:a="http://schemas.openxmlformats.org/drawingml/2006/main">
              <a:ext uri="{FF2B5EF4-FFF2-40B4-BE49-F238E27FC236}">
                <a16:creationId xmlns:a16="http://schemas.microsoft.com/office/drawing/2014/main" id="{F3774343-6B28-4B07-B01A-599ED9EF9226}"/>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BA6501B-2972-4065-BF23-75C0BFDD4AF9}"/>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6959C68F-AA1E-4E67-9358-C911A0768C66}"/>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9A77E295-E40B-4CDC-B0E8-294FE6C4FF92}"/>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BC6AAAC8-D6D6-42DC-BA16-0DD66B768176}"/>
              </a:ext>
            </a:extLst>
          </p:cNvPr>
          <p:cNvSpPr>
            <a:spLocks xmlns:a="http://schemas.openxmlformats.org/drawingml/2006/main" noGrp="1"/>
          </p:cNvSpPr>
          <p:nvPr/>
        </p:nvSpPr>
        <p:spPr>
          <a:xfrm xmlns:a="http://schemas.openxmlformats.org/drawingml/2006/main">
            <a:off x="457200" y="2089150"/>
            <a:ext cx="2255520" cy="194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20A9652D-B614-4D2F-960D-EC4CE1BF9C01}"/>
              </a:ext>
            </a:extLst>
          </p:cNvPr>
          <p:cNvSpPr>
            <a:spLocks xmlns:a="http://schemas.openxmlformats.org/drawingml/2006/main" noGrp="1"/>
          </p:cNvSpPr>
          <p:nvPr/>
        </p:nvSpPr>
        <p:spPr>
          <a:xfrm xmlns:a="http://schemas.openxmlformats.org/drawingml/2006/main">
            <a:off x="552450" y="2203450"/>
            <a:ext cx="2103120" cy="1771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NETRASEMI</a:t>
            </a:r>
          </a:p>
        </p:txBody>
      </p:sp>
      <p:sp>
        <p:nvSpPr>
          <p:cNvPr id="18" name="">
            <a:extLst xmlns:a="http://schemas.openxmlformats.org/drawingml/2006/main">
              <a:ext uri="{FF2B5EF4-FFF2-40B4-BE49-F238E27FC236}">
                <a16:creationId xmlns:a16="http://schemas.microsoft.com/office/drawing/2014/main" id="{BC01EDD4-515C-416D-8333-1BE108A4EFF5}"/>
              </a:ext>
            </a:extLst>
          </p:cNvPr>
          <p:cNvSpPr>
            <a:spLocks xmlns:a="http://schemas.openxmlformats.org/drawingml/2006/main" noGrp="1"/>
          </p:cNvSpPr>
          <p:nvPr/>
        </p:nvSpPr>
        <p:spPr>
          <a:xfrm xmlns:a="http://schemas.openxmlformats.org/drawingml/2006/main">
            <a:off x="274129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C81C0308-FA22-434A-9E25-2CFB830B5C22}"/>
              </a:ext>
            </a:extLst>
          </p:cNvPr>
          <p:cNvSpPr>
            <a:spLocks xmlns:a="http://schemas.openxmlformats.org/drawingml/2006/main" noGrp="1"/>
          </p:cNvSpPr>
          <p:nvPr/>
        </p:nvSpPr>
        <p:spPr>
          <a:xfrm xmlns:a="http://schemas.openxmlformats.org/drawingml/2006/main">
            <a:off x="2741295" y="21177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9109901-021C-45B5-88DA-7B6CD3353AEB}"/>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1" name="">
            <a:extLst xmlns:a="http://schemas.openxmlformats.org/drawingml/2006/main">
              <a:ext uri="{FF2B5EF4-FFF2-40B4-BE49-F238E27FC236}">
                <a16:creationId xmlns:a16="http://schemas.microsoft.com/office/drawing/2014/main" id="{D18409D8-4F78-4FE6-86D3-A169B3453F57}"/>
              </a:ext>
            </a:extLst>
          </p:cNvPr>
          <p:cNvSpPr>
            <a:spLocks xmlns:a="http://schemas.openxmlformats.org/drawingml/2006/main" noGrp="1"/>
          </p:cNvSpPr>
          <p:nvPr/>
        </p:nvSpPr>
        <p:spPr>
          <a:xfrm xmlns:a="http://schemas.openxmlformats.org/drawingml/2006/main">
            <a:off x="281749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Political value</a:t>
            </a:r>
          </a:p>
        </p:txBody>
      </p:sp>
      <p:sp>
        <p:nvSpPr>
          <p:cNvPr id="22" name="">
            <a:extLst xmlns:a="http://schemas.openxmlformats.org/drawingml/2006/main">
              <a:ext uri="{FF2B5EF4-FFF2-40B4-BE49-F238E27FC236}">
                <a16:creationId xmlns:a16="http://schemas.microsoft.com/office/drawing/2014/main" id="{F6EDA2C2-B80C-4643-9627-2B7B992AC137}"/>
              </a:ext>
            </a:extLst>
          </p:cNvPr>
          <p:cNvSpPr>
            <a:spLocks xmlns:a="http://schemas.openxmlformats.org/drawingml/2006/main" noGrp="1"/>
          </p:cNvSpPr>
          <p:nvPr/>
        </p:nvSpPr>
        <p:spPr>
          <a:xfrm xmlns:a="http://schemas.openxmlformats.org/drawingml/2006/main">
            <a:off x="574865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722C5964-0C8A-4DCC-B1E0-6B45CBB848F1}"/>
              </a:ext>
            </a:extLst>
          </p:cNvPr>
          <p:cNvSpPr>
            <a:spLocks xmlns:a="http://schemas.openxmlformats.org/drawingml/2006/main" noGrp="1"/>
          </p:cNvSpPr>
          <p:nvPr/>
        </p:nvSpPr>
        <p:spPr>
          <a:xfrm xmlns:a="http://schemas.openxmlformats.org/drawingml/2006/main">
            <a:off x="5748655" y="2117725"/>
            <a:ext cx="1003071"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780C28A-AA78-4597-82DF-EB9B5FD0C3FD}"/>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LOW-MEDIUM</a:t>
            </a:r>
          </a:p>
        </p:txBody>
      </p:sp>
      <p:sp>
        <p:nvSpPr>
          <p:cNvPr id="25" name="">
            <a:extLst xmlns:a="http://schemas.openxmlformats.org/drawingml/2006/main">
              <a:ext uri="{FF2B5EF4-FFF2-40B4-BE49-F238E27FC236}">
                <a16:creationId xmlns:a16="http://schemas.microsoft.com/office/drawing/2014/main" id="{D97E1D36-3671-405C-9786-645532238E27}"/>
              </a:ext>
            </a:extLst>
          </p:cNvPr>
          <p:cNvSpPr>
            <a:spLocks xmlns:a="http://schemas.openxmlformats.org/drawingml/2006/main" noGrp="1"/>
          </p:cNvSpPr>
          <p:nvPr/>
        </p:nvSpPr>
        <p:spPr>
          <a:xfrm xmlns:a="http://schemas.openxmlformats.org/drawingml/2006/main">
            <a:off x="582485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Needs qualification</a:t>
            </a:r>
          </a:p>
        </p:txBody>
      </p:sp>
      <p:sp>
        <p:nvSpPr>
          <p:cNvPr id="26" name="">
            <a:extLst xmlns:a="http://schemas.openxmlformats.org/drawingml/2006/main">
              <a:ext uri="{FF2B5EF4-FFF2-40B4-BE49-F238E27FC236}">
                <a16:creationId xmlns:a16="http://schemas.microsoft.com/office/drawing/2014/main" id="{A11124B1-FA09-483A-AC6C-38D9B7454B3F}"/>
              </a:ext>
            </a:extLst>
          </p:cNvPr>
          <p:cNvSpPr>
            <a:spLocks xmlns:a="http://schemas.openxmlformats.org/drawingml/2006/main" noGrp="1"/>
          </p:cNvSpPr>
          <p:nvPr/>
        </p:nvSpPr>
        <p:spPr>
          <a:xfrm xmlns:a="http://schemas.openxmlformats.org/drawingml/2006/main">
            <a:off x="875601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B9F78B93-D20A-4979-A07D-95234C736CBF}"/>
              </a:ext>
            </a:extLst>
          </p:cNvPr>
          <p:cNvSpPr>
            <a:spLocks xmlns:a="http://schemas.openxmlformats.org/drawingml/2006/main" noGrp="1"/>
          </p:cNvSpPr>
          <p:nvPr/>
        </p:nvSpPr>
        <p:spPr>
          <a:xfrm xmlns:a="http://schemas.openxmlformats.org/drawingml/2006/main">
            <a:off x="8756015" y="2117725"/>
            <a:ext cx="1003071"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53D391D-B8FB-4C65-969F-EBA1657D4190}"/>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LOW-MEDIUM</a:t>
            </a:r>
          </a:p>
        </p:txBody>
      </p:sp>
      <p:sp>
        <p:nvSpPr>
          <p:cNvPr id="29" name="">
            <a:extLst xmlns:a="http://schemas.openxmlformats.org/drawingml/2006/main">
              <a:ext uri="{FF2B5EF4-FFF2-40B4-BE49-F238E27FC236}">
                <a16:creationId xmlns:a16="http://schemas.microsoft.com/office/drawing/2014/main" id="{7918E184-629A-487D-A7F3-8989DAF80344}"/>
              </a:ext>
            </a:extLst>
          </p:cNvPr>
          <p:cNvSpPr>
            <a:spLocks xmlns:a="http://schemas.openxmlformats.org/drawingml/2006/main" noGrp="1"/>
          </p:cNvSpPr>
          <p:nvPr/>
        </p:nvSpPr>
        <p:spPr>
          <a:xfrm xmlns:a="http://schemas.openxmlformats.org/drawingml/2006/main">
            <a:off x="883221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Adjacent compute</a:t>
            </a:r>
          </a:p>
        </p:txBody>
      </p:sp>
      <p:sp>
        <p:nvSpPr>
          <p:cNvPr id="30" name="">
            <a:extLst xmlns:a="http://schemas.openxmlformats.org/drawingml/2006/main">
              <a:ext uri="{FF2B5EF4-FFF2-40B4-BE49-F238E27FC236}">
                <a16:creationId xmlns:a16="http://schemas.microsoft.com/office/drawing/2014/main" id="{2D606FE6-4853-4B7B-93A0-5C87BE29FEEC}"/>
              </a:ext>
            </a:extLst>
          </p:cNvPr>
          <p:cNvSpPr>
            <a:spLocks xmlns:a="http://schemas.openxmlformats.org/drawingml/2006/main" noGrp="1"/>
          </p:cNvSpPr>
          <p:nvPr/>
        </p:nvSpPr>
        <p:spPr>
          <a:xfrm xmlns:a="http://schemas.openxmlformats.org/drawingml/2006/main">
            <a:off x="457200" y="41465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EA849264-7E06-4C8B-BA5A-190E501D092B}"/>
              </a:ext>
            </a:extLst>
          </p:cNvPr>
          <p:cNvSpPr>
            <a:spLocks xmlns:a="http://schemas.openxmlformats.org/drawingml/2006/main" noGrp="1"/>
          </p:cNvSpPr>
          <p:nvPr/>
        </p:nvSpPr>
        <p:spPr>
          <a:xfrm xmlns:a="http://schemas.openxmlformats.org/drawingml/2006/main">
            <a:off x="457200" y="41465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FFBDCC0-27EE-499F-8555-CA6452F6F8F2}"/>
              </a:ext>
            </a:extLst>
          </p:cNvPr>
          <p:cNvSpPr>
            <a:spLocks xmlns:a="http://schemas.openxmlformats.org/drawingml/2006/main" noGrp="1"/>
          </p:cNvSpPr>
          <p:nvPr/>
        </p:nvSpPr>
        <p:spPr>
          <a:xfrm xmlns:a="http://schemas.openxmlformats.org/drawingml/2006/main">
            <a:off x="581025" y="4213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33" name="">
            <a:extLst xmlns:a="http://schemas.openxmlformats.org/drawingml/2006/main">
              <a:ext uri="{FF2B5EF4-FFF2-40B4-BE49-F238E27FC236}">
                <a16:creationId xmlns:a16="http://schemas.microsoft.com/office/drawing/2014/main" id="{DFFD8DF5-FB6C-4D73-B372-C7695FC6C7F4}"/>
              </a:ext>
            </a:extLst>
          </p:cNvPr>
          <p:cNvSpPr>
            <a:spLocks xmlns:a="http://schemas.openxmlformats.org/drawingml/2006/main" noGrp="1"/>
          </p:cNvSpPr>
          <p:nvPr/>
        </p:nvSpPr>
        <p:spPr>
          <a:xfrm xmlns:a="http://schemas.openxmlformats.org/drawingml/2006/main">
            <a:off x="581025" y="43624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Indigenous-compute credentials are currency only in the arena that scores them. In OEM and fleet buying the same credentials buy nothing without qualification evidence.</a:t>
            </a:r>
          </a:p>
        </p:txBody>
      </p:sp>
      <p:sp>
        <p:nvSpPr>
          <p:cNvPr id="34" name="">
            <a:extLst xmlns:a="http://schemas.openxmlformats.org/drawingml/2006/main">
              <a:ext uri="{FF2B5EF4-FFF2-40B4-BE49-F238E27FC236}">
                <a16:creationId xmlns:a16="http://schemas.microsoft.com/office/drawing/2014/main" id="{B95C4D83-575B-40C8-80FC-995C4FA53223}"/>
              </a:ext>
            </a:extLst>
          </p:cNvPr>
          <p:cNvSpPr>
            <a:spLocks xmlns:a="http://schemas.openxmlformats.org/drawingml/2006/main" noGrp="1"/>
          </p:cNvSpPr>
          <p:nvPr/>
        </p:nvSpPr>
        <p:spPr>
          <a:xfrm xmlns:a="http://schemas.openxmlformats.org/drawingml/2006/main">
            <a:off x="6153150" y="41465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5" name="">
            <a:extLst xmlns:a="http://schemas.openxmlformats.org/drawingml/2006/main">
              <a:ext uri="{FF2B5EF4-FFF2-40B4-BE49-F238E27FC236}">
                <a16:creationId xmlns:a16="http://schemas.microsoft.com/office/drawing/2014/main" id="{42DCEB26-FB60-4674-A112-D7C6291225A8}"/>
              </a:ext>
            </a:extLst>
          </p:cNvPr>
          <p:cNvSpPr>
            <a:spLocks xmlns:a="http://schemas.openxmlformats.org/drawingml/2006/main" noGrp="1"/>
          </p:cNvSpPr>
          <p:nvPr/>
        </p:nvSpPr>
        <p:spPr>
          <a:xfrm xmlns:a="http://schemas.openxmlformats.org/drawingml/2006/main">
            <a:off x="6153150" y="41465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333DD08F-6AF1-439A-8966-425098175EE6}"/>
              </a:ext>
            </a:extLst>
          </p:cNvPr>
          <p:cNvSpPr>
            <a:spLocks xmlns:a="http://schemas.openxmlformats.org/drawingml/2006/main" noGrp="1"/>
          </p:cNvSpPr>
          <p:nvPr/>
        </p:nvSpPr>
        <p:spPr>
          <a:xfrm xmlns:a="http://schemas.openxmlformats.org/drawingml/2006/main">
            <a:off x="6276975" y="4213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37" name="">
            <a:extLst xmlns:a="http://schemas.openxmlformats.org/drawingml/2006/main">
              <a:ext uri="{FF2B5EF4-FFF2-40B4-BE49-F238E27FC236}">
                <a16:creationId xmlns:a16="http://schemas.microsoft.com/office/drawing/2014/main" id="{B55B9333-A159-407F-B71B-2F9AB71F2026}"/>
              </a:ext>
            </a:extLst>
          </p:cNvPr>
          <p:cNvSpPr>
            <a:spLocks xmlns:a="http://schemas.openxmlformats.org/drawingml/2006/main" noGrp="1"/>
          </p:cNvSpPr>
          <p:nvPr/>
        </p:nvSpPr>
        <p:spPr>
          <a:xfrm xmlns:a="http://schemas.openxmlformats.org/drawingml/2006/main">
            <a:off x="6276975" y="43624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Monitor government tender specifications for indigenous-compute clauses.</a:t>
            </a:r>
          </a:p>
        </p:txBody>
      </p:sp>
      <p:sp>
        <p:nvSpPr>
          <p:cNvPr id="38" name="">
            <a:extLst xmlns:a="http://schemas.openxmlformats.org/drawingml/2006/main">
              <a:ext uri="{FF2B5EF4-FFF2-40B4-BE49-F238E27FC236}">
                <a16:creationId xmlns:a16="http://schemas.microsoft.com/office/drawing/2014/main" id="{C53B1979-B276-473E-970A-4B0DD79D7D3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FBF6BE8F-9024-49D9-BAD7-5767EAE6810D}"/>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019FAC71-D447-4227-831E-D3B1D243E4D3}"/>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1" name="">
            <a:extLst xmlns:a="http://schemas.openxmlformats.org/drawingml/2006/main">
              <a:ext uri="{FF2B5EF4-FFF2-40B4-BE49-F238E27FC236}">
                <a16:creationId xmlns:a16="http://schemas.microsoft.com/office/drawing/2014/main" id="{1E02A228-A3A7-4E6B-A070-8B2FAED2886B}"/>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Remove sovereignty as standalone government-pitch differentiator</a:t>
            </a:r>
          </a:p>
        </p:txBody>
      </p:sp>
      <p:sp>
        <p:nvSpPr>
          <p:cNvPr id="42" name="">
            <a:extLst xmlns:a="http://schemas.openxmlformats.org/drawingml/2006/main">
              <a:ext uri="{FF2B5EF4-FFF2-40B4-BE49-F238E27FC236}">
                <a16:creationId xmlns:a16="http://schemas.microsoft.com/office/drawing/2014/main" id="{4CADBE1D-EB37-4422-BC43-5EA56E7B61B8}"/>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3" name="">
            <a:extLst xmlns:a="http://schemas.openxmlformats.org/drawingml/2006/main">
              <a:ext uri="{FF2B5EF4-FFF2-40B4-BE49-F238E27FC236}">
                <a16:creationId xmlns:a16="http://schemas.microsoft.com/office/drawing/2014/main" id="{FA83B340-905E-4ED8-8AD3-2AA235DB2725}"/>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Government Sales</a:t>
            </a:r>
          </a:p>
          <a:p xmlns:a="http://schemas.openxmlformats.org/drawingml/2006/main">
            <a:pPr algn="l">
              <a:defRPr sz="800">
                <a:solidFill>
                  <a:srgbClr val="8EA0B2"/>
                </a:solidFill>
                <a:latin typeface="Arial"/>
                <a:ea typeface="Arial"/>
                <a:cs typeface="Arial"/>
              </a:defRPr>
            </a:pPr>
            <a:r>
              <a:t>Trigger · Monitor government tender specifications for indigenous-compute clauses.</a:t>
            </a:r>
          </a:p>
        </p:txBody>
      </p:sp>
      <p:sp>
        <p:nvSpPr>
          <p:cNvPr id="44" name="">
            <a:extLst xmlns:a="http://schemas.openxmlformats.org/drawingml/2006/main">
              <a:ext uri="{FF2B5EF4-FFF2-40B4-BE49-F238E27FC236}">
                <a16:creationId xmlns:a16="http://schemas.microsoft.com/office/drawing/2014/main" id="{29A0FF20-B661-47C7-971E-EA52A9EE197C}"/>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5" name="">
            <a:extLst xmlns:a="http://schemas.openxmlformats.org/drawingml/2006/main">
              <a:ext uri="{FF2B5EF4-FFF2-40B4-BE49-F238E27FC236}">
                <a16:creationId xmlns:a16="http://schemas.microsoft.com/office/drawing/2014/main" id="{169D0B68-38FB-41DD-BC0B-ACB251833506}"/>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 tender specifies indigenous compute as a scored criterion.</a:t>
            </a:r>
          </a:p>
        </p:txBody>
      </p:sp>
      <p:sp>
        <p:nvSpPr>
          <p:cNvPr id="46" name="">
            <a:extLst xmlns:a="http://schemas.openxmlformats.org/drawingml/2006/main">
              <a:ext uri="{FF2B5EF4-FFF2-40B4-BE49-F238E27FC236}">
                <a16:creationId xmlns:a16="http://schemas.microsoft.com/office/drawing/2014/main" id="{FA786FDE-9409-45F4-B926-101E3E676EA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4D9FF844-72D1-4A57-8705-FE79BEF1C2D2}"/>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8" name="">
            <a:extLst xmlns:a="http://schemas.openxmlformats.org/drawingml/2006/main">
              <a:ext uri="{FF2B5EF4-FFF2-40B4-BE49-F238E27FC236}">
                <a16:creationId xmlns:a16="http://schemas.microsoft.com/office/drawing/2014/main" id="{FC979848-EAF7-4754-8F4D-03A7861D1476}"/>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74</a:t>
            </a:r>
          </a:p>
        </p:txBody>
      </p:sp>
    </p:spTree>
    <p:extLst>
      <p:ext uri="{BB962C8B-B14F-4D97-AF65-F5344CB8AC3E}">
        <p14:creationId xmlns:p14="http://schemas.microsoft.com/office/powerpoint/2010/main" val="1509644822"/>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DC883BC2-D26F-473A-BCDF-D7457B31FA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284DC20-DEAD-49AD-90FA-A8B63E638E1F}"/>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55EF82E-EDD2-474B-8D70-20AF1187452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605ED5AC-1155-4B45-965E-8D6A4477115B}"/>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21948412-A0A2-4FCD-BEF7-625BC5CDB6F7}"/>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Fund only a non-exclusive coexistence test with Netrasemi</a:t>
            </a:r>
          </a:p>
        </p:txBody>
      </p:sp>
      <p:sp>
        <p:nvSpPr>
          <p:cNvPr id="6" name="">
            <a:extLst xmlns:a="http://schemas.openxmlformats.org/drawingml/2006/main">
              <a:ext uri="{FF2B5EF4-FFF2-40B4-BE49-F238E27FC236}">
                <a16:creationId xmlns:a16="http://schemas.microsoft.com/office/drawing/2014/main" id="{1B78B12B-3026-4BCB-938C-86A1809AEE8E}"/>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1625586-29FE-460C-BFB5-14C0C82E7BD3}"/>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response should DeepGrid fund now, and what signal should escalate commitment?</a:t>
            </a:r>
          </a:p>
        </p:txBody>
      </p:sp>
      <p:sp>
        <p:nvSpPr>
          <p:cNvPr id="8" name="">
            <a:extLst xmlns:a="http://schemas.openxmlformats.org/drawingml/2006/main">
              <a:ext uri="{FF2B5EF4-FFF2-40B4-BE49-F238E27FC236}">
                <a16:creationId xmlns:a16="http://schemas.microsoft.com/office/drawing/2014/main" id="{E3DD8355-9AB7-4897-89C8-825C582DFB15}"/>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8BCC0E00-30C3-4476-A93E-BB9E70E20C1D}"/>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A48E7CB-6FB6-4A33-961E-33B85B1C10D6}"/>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52F635F8-EE54-4DBC-8094-9D687AAB90B4}"/>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Fund one non-exclusive technical scoping call and make no partnership commitment. Coexistence is plausible only if Netrasemi supplies compute while DeepGrid retains the perception layer.</a:t>
            </a:r>
          </a:p>
        </p:txBody>
      </p:sp>
      <p:sp>
        <p:nvSpPr>
          <p:cNvPr id="12" name="">
            <a:extLst xmlns:a="http://schemas.openxmlformats.org/drawingml/2006/main">
              <a:ext uri="{FF2B5EF4-FFF2-40B4-BE49-F238E27FC236}">
                <a16:creationId xmlns:a16="http://schemas.microsoft.com/office/drawing/2014/main" id="{8B38DF7E-2E58-4844-A096-E384C317DAC5}"/>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D39D1F0C-9137-43DF-8A69-D6D5021FD572}"/>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F762CC4-BBF4-4043-B198-7D0C31DFD1C0}"/>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E55CC47D-7BF6-4692-B76D-AD43F686A884}"/>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WIN RISK</a:t>
            </a:r>
          </a:p>
        </p:txBody>
      </p:sp>
      <p:sp>
        <p:nvSpPr>
          <p:cNvPr id="16" name="">
            <a:extLst xmlns:a="http://schemas.openxmlformats.org/drawingml/2006/main">
              <a:ext uri="{FF2B5EF4-FFF2-40B4-BE49-F238E27FC236}">
                <a16:creationId xmlns:a16="http://schemas.microsoft.com/office/drawing/2014/main" id="{596AB467-BCE8-4274-B2FA-546DA3A56EC4}"/>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Government support and funding could weaken any claim that DeepGrid is the only India-native solution. Assess Netrasemi positioning Identify overlap areas Evaluate competitive pressure</a:t>
            </a:r>
          </a:p>
        </p:txBody>
      </p:sp>
      <p:sp>
        <p:nvSpPr>
          <p:cNvPr id="17" name="">
            <a:extLst xmlns:a="http://schemas.openxmlformats.org/drawingml/2006/main">
              <a:ext uri="{FF2B5EF4-FFF2-40B4-BE49-F238E27FC236}">
                <a16:creationId xmlns:a16="http://schemas.microsoft.com/office/drawing/2014/main" id="{3215FD71-4A2E-4052-A924-BFD101ADC03D}"/>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EBF2FB9-88E8-480A-841D-3DA9C8C5B3A8}"/>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0DA01728-877B-4BC6-BEB2-A5D37A590B6C}"/>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52DDCB7-763E-4C4F-AE9C-779886D754E7}"/>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B10FC8BE-94EF-4B64-B9E2-171F0820D1A7}"/>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COEXISTENCE HYPOTHESIS</a:t>
            </a:r>
          </a:p>
        </p:txBody>
      </p:sp>
      <p:sp>
        <p:nvSpPr>
          <p:cNvPr id="22" name="">
            <a:extLst xmlns:a="http://schemas.openxmlformats.org/drawingml/2006/main">
              <a:ext uri="{FF2B5EF4-FFF2-40B4-BE49-F238E27FC236}">
                <a16:creationId xmlns:a16="http://schemas.microsoft.com/office/drawing/2014/main" id="{5A24CF65-FA51-4927-BA9A-372AFE989DE8}"/>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Coexistence is plausible if Netrasemi supplies general compute and DeepGrid provides perception layer. Define role boundaries Assess complementarity Test technical integration</a:t>
            </a:r>
          </a:p>
        </p:txBody>
      </p:sp>
      <p:sp>
        <p:nvSpPr>
          <p:cNvPr id="23" name="">
            <a:extLst xmlns:a="http://schemas.openxmlformats.org/drawingml/2006/main">
              <a:ext uri="{FF2B5EF4-FFF2-40B4-BE49-F238E27FC236}">
                <a16:creationId xmlns:a16="http://schemas.microsoft.com/office/drawing/2014/main" id="{F2074A98-90DB-4C30-8A64-43C0433F3302}"/>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392EB02-AE9B-496D-861D-A4EDE69D8B4C}"/>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1F5D5AB7-9D2D-405F-A614-97789005F207}"/>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3BB60A8-AE54-4734-BE50-94083BC0E1B6}"/>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03C4C446-999A-4E35-AC31-E1FB9153606E}"/>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EVIDENCE GAP</a:t>
            </a:r>
          </a:p>
        </p:txBody>
      </p:sp>
      <p:sp>
        <p:nvSpPr>
          <p:cNvPr id="28" name="">
            <a:extLst xmlns:a="http://schemas.openxmlformats.org/drawingml/2006/main">
              <a:ext uri="{FF2B5EF4-FFF2-40B4-BE49-F238E27FC236}">
                <a16:creationId xmlns:a16="http://schemas.microsoft.com/office/drawing/2014/main" id="{F4B9CF2C-A6DC-4BB4-BCEC-335E9FFB47F8}"/>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Automotive part, package, qualification, safety collateral, samples, customer evaluation needed. Request technical specs Evaluate automotive feasibility Assess qualification status</a:t>
            </a:r>
          </a:p>
        </p:txBody>
      </p:sp>
      <p:sp>
        <p:nvSpPr>
          <p:cNvPr id="29" name="">
            <a:extLst xmlns:a="http://schemas.openxmlformats.org/drawingml/2006/main">
              <a:ext uri="{FF2B5EF4-FFF2-40B4-BE49-F238E27FC236}">
                <a16:creationId xmlns:a16="http://schemas.microsoft.com/office/drawing/2014/main" id="{AB0F7165-DC10-4144-B89B-5DB437D1FFF9}"/>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B4C5BDD-6601-4650-BA8F-26332FE1850B}"/>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BE6B8335-59DC-46C2-AD8F-46C8F56D040B}"/>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115B589-6A7F-42CA-965A-44F5D13F9C2B}"/>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8099CD5F-0DBB-4AB2-8F4F-C585D02388C4}"/>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2A866B2A-E09E-4C9B-A4B8-463C4E8688F8}"/>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only if the call identifies complementary roles, automotive feasibility, and clear boundaries. Technical scoping call Role clarification Go/no-go decision</a:t>
            </a:r>
          </a:p>
        </p:txBody>
      </p:sp>
      <p:sp>
        <p:nvSpPr>
          <p:cNvPr id="35" name="">
            <a:extLst xmlns:a="http://schemas.openxmlformats.org/drawingml/2006/main">
              <a:ext uri="{FF2B5EF4-FFF2-40B4-BE49-F238E27FC236}">
                <a16:creationId xmlns:a16="http://schemas.microsoft.com/office/drawing/2014/main" id="{66C8CE85-247B-4B07-9C96-3A56F9F1C910}"/>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2561E3FE-FAEE-4E6A-8A72-C9BBEFD22865}"/>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64D44D26-AA2E-41C2-AC43-5484F5A1F952}"/>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B102CDF0-D385-412D-B1F0-DE19E7E1AB6B}"/>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two companies occupy different layers, so complementarity is possible in principle. A non-exclusive call tests that at the cost of one meeting and without conceding the perception IP.</a:t>
            </a:r>
          </a:p>
        </p:txBody>
      </p:sp>
      <p:sp>
        <p:nvSpPr>
          <p:cNvPr id="39" name="">
            <a:extLst xmlns:a="http://schemas.openxmlformats.org/drawingml/2006/main">
              <a:ext uri="{FF2B5EF4-FFF2-40B4-BE49-F238E27FC236}">
                <a16:creationId xmlns:a16="http://schemas.microsoft.com/office/drawing/2014/main" id="{55D14928-7DA8-4BA6-8891-CBC74D192AFF}"/>
              </a:ext>
            </a:extLst>
          </p:cNvPr>
          <p:cNvSpPr>
            <a:spLocks xmlns:a="http://schemas.openxmlformats.org/drawingml/2006/main" noGrp="1"/>
          </p:cNvSpPr>
          <p:nvPr/>
        </p:nvSpPr>
        <p:spPr>
          <a:xfrm xmlns:a="http://schemas.openxmlformats.org/drawingml/2006/main">
            <a:off x="6153150" y="4727575"/>
            <a:ext cx="558165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11FFC828-519F-4973-B7F1-E78982ED56C6}"/>
              </a:ext>
            </a:extLst>
          </p:cNvPr>
          <p:cNvSpPr>
            <a:spLocks xmlns:a="http://schemas.openxmlformats.org/drawingml/2006/main" noGrp="1"/>
          </p:cNvSpPr>
          <p:nvPr/>
        </p:nvSpPr>
        <p:spPr>
          <a:xfrm xmlns:a="http://schemas.openxmlformats.org/drawingml/2006/main">
            <a:off x="6153150" y="4727575"/>
            <a:ext cx="28575" cy="673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DBFF66E-C64E-4DCB-B2A3-E2CE5F0BE4AA}"/>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271BD636-BAC1-49EB-8138-2391F0403032}"/>
              </a:ext>
            </a:extLst>
          </p:cNvPr>
          <p:cNvSpPr>
            <a:spLocks xmlns:a="http://schemas.openxmlformats.org/drawingml/2006/main" noGrp="1"/>
          </p:cNvSpPr>
          <p:nvPr/>
        </p:nvSpPr>
        <p:spPr>
          <a:xfrm xmlns:a="http://schemas.openxmlformats.org/drawingml/2006/main">
            <a:off x="6276975" y="4943475"/>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Make no partnership commitment at the scoping call; escalate only on identified complementarity.</a:t>
            </a:r>
          </a:p>
        </p:txBody>
      </p:sp>
      <p:sp>
        <p:nvSpPr>
          <p:cNvPr id="43" name="">
            <a:extLst xmlns:a="http://schemas.openxmlformats.org/drawingml/2006/main">
              <a:ext uri="{FF2B5EF4-FFF2-40B4-BE49-F238E27FC236}">
                <a16:creationId xmlns:a16="http://schemas.microsoft.com/office/drawing/2014/main" id="{CDCB96D0-DB32-4512-83A5-7C4C585D4D85}"/>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8F60AED3-8E2E-4581-9F14-D0228E08338E}"/>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37DE724F-189D-4BD0-B8BC-DC71700191A6}"/>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096BEBA9-802C-4ADF-ABDA-7638548A049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one non-exclusive technical scoping call; make no partnership commitment</a:t>
            </a:r>
          </a:p>
        </p:txBody>
      </p:sp>
      <p:sp>
        <p:nvSpPr>
          <p:cNvPr id="47" name="">
            <a:extLst xmlns:a="http://schemas.openxmlformats.org/drawingml/2006/main">
              <a:ext uri="{FF2B5EF4-FFF2-40B4-BE49-F238E27FC236}">
                <a16:creationId xmlns:a16="http://schemas.microsoft.com/office/drawing/2014/main" id="{E7196277-D869-4CE6-840A-7672D7DDF9B5}"/>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77EABD32-E1D1-4527-BDF1-BDF6BFD94CE7}"/>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Escalate only if the call identifies complementary roles, automotive feasibility</a:t>
            </a:r>
          </a:p>
        </p:txBody>
      </p:sp>
      <p:sp>
        <p:nvSpPr>
          <p:cNvPr id="49" name="">
            <a:extLst xmlns:a="http://schemas.openxmlformats.org/drawingml/2006/main">
              <a:ext uri="{FF2B5EF4-FFF2-40B4-BE49-F238E27FC236}">
                <a16:creationId xmlns:a16="http://schemas.microsoft.com/office/drawing/2014/main" id="{CA81EFAF-B5CF-4147-93AD-C980359632B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894DD8C2-D134-4F97-8C8F-50F5B8E6F1F7}"/>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Make no partnership commitment at the scoping call; escalate only on identified complementarity.</a:t>
            </a:r>
          </a:p>
        </p:txBody>
      </p:sp>
      <p:sp>
        <p:nvSpPr>
          <p:cNvPr id="51" name="">
            <a:extLst xmlns:a="http://schemas.openxmlformats.org/drawingml/2006/main">
              <a:ext uri="{FF2B5EF4-FFF2-40B4-BE49-F238E27FC236}">
                <a16:creationId xmlns:a16="http://schemas.microsoft.com/office/drawing/2014/main" id="{08638F59-C811-43FA-8C0B-34211E5644F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A84BA7B1-ACCF-41E9-9275-B60608666F1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CAAF59DE-FBBE-4D24-B4F2-69CA60ADF9A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75</a:t>
            </a:r>
          </a:p>
        </p:txBody>
      </p:sp>
    </p:spTree>
    <p:extLst>
      <p:ext uri="{BB962C8B-B14F-4D97-AF65-F5344CB8AC3E}">
        <p14:creationId xmlns:p14="http://schemas.microsoft.com/office/powerpoint/2010/main" val="1055423912"/>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4D85820F-9A7F-4291-8942-1D6032A82FC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B4100C3-2819-4564-9FB3-B5B54CFF6367}"/>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859C6F6-BA79-434B-BB2C-9D4473817A22}"/>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05F43AEF-286E-449E-A646-29D0973EC4B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E394C270-A85D-402C-91AD-F8C543D943C0}"/>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Netrasemi remains adjacent until automotive artifacts demonstrate direct competitive relevance</a:t>
            </a:r>
          </a:p>
        </p:txBody>
      </p:sp>
      <p:sp>
        <p:nvSpPr>
          <p:cNvPr id="6" name="">
            <a:extLst xmlns:a="http://schemas.openxmlformats.org/drawingml/2006/main">
              <a:ext uri="{FF2B5EF4-FFF2-40B4-BE49-F238E27FC236}">
                <a16:creationId xmlns:a16="http://schemas.microsoft.com/office/drawing/2014/main" id="{996966A2-D7C2-4DCE-9430-F7C7DAF3FCC4}"/>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8360466-1745-4199-877C-EE6DD7E2A7A8}"/>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evidence would falsify the current adjacent-competitor view rather than confirm it?</a:t>
            </a:r>
          </a:p>
        </p:txBody>
      </p:sp>
      <p:sp>
        <p:nvSpPr>
          <p:cNvPr id="8" name="">
            <a:extLst xmlns:a="http://schemas.openxmlformats.org/drawingml/2006/main">
              <a:ext uri="{FF2B5EF4-FFF2-40B4-BE49-F238E27FC236}">
                <a16:creationId xmlns:a16="http://schemas.microsoft.com/office/drawing/2014/main" id="{210306C2-AB78-46B4-8341-28F120FB603C}"/>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D384A761-8EB4-46B4-87E6-0E3842105DF2}"/>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99A3CAF-29E3-4E6F-9AEB-ABC1DFDDFC09}"/>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9D583A20-C657-467E-B782-E6377FE06294}"/>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Netrasemi stays adjacent until a named automotive part, process, qualification or OEM nomination appears. Identification in a government programme is not automotive relevance.</a:t>
            </a:r>
          </a:p>
        </p:txBody>
      </p:sp>
      <p:sp>
        <p:nvSpPr>
          <p:cNvPr id="12" name="">
            <a:extLst xmlns:a="http://schemas.openxmlformats.org/drawingml/2006/main">
              <a:ext uri="{FF2B5EF4-FFF2-40B4-BE49-F238E27FC236}">
                <a16:creationId xmlns:a16="http://schemas.microsoft.com/office/drawing/2014/main" id="{AEAE5472-24E9-4F90-84CC-8E0E023B38C9}"/>
              </a:ext>
            </a:extLst>
          </p:cNvPr>
          <p:cNvSpPr>
            <a:spLocks xmlns:a="http://schemas.openxmlformats.org/drawingml/2006/main" noGrp="1"/>
          </p:cNvSpPr>
          <p:nvPr/>
        </p:nvSpPr>
        <p:spPr>
          <a:xfrm xmlns:a="http://schemas.openxmlformats.org/drawingml/2006/main">
            <a:off x="457200" y="2152650"/>
            <a:ext cx="11277600" cy="6096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936294B3-55FE-41C2-9736-3B443462919F}"/>
              </a:ext>
            </a:extLst>
          </p:cNvPr>
          <p:cNvSpPr>
            <a:spLocks xmlns:a="http://schemas.openxmlformats.org/drawingml/2006/main" noGrp="1"/>
          </p:cNvSpPr>
          <p:nvPr/>
        </p:nvSpPr>
        <p:spPr>
          <a:xfrm xmlns:a="http://schemas.openxmlformats.org/drawingml/2006/main">
            <a:off x="457200" y="215265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2ED049B-F493-45EB-9E91-7D6150DD489D}"/>
              </a:ext>
            </a:extLst>
          </p:cNvPr>
          <p:cNvSpPr>
            <a:spLocks xmlns:a="http://schemas.openxmlformats.org/drawingml/2006/main" noGrp="1"/>
          </p:cNvSpPr>
          <p:nvPr/>
        </p:nvSpPr>
        <p:spPr>
          <a:xfrm xmlns:a="http://schemas.openxmlformats.org/drawingml/2006/main">
            <a:off x="457200" y="2152650"/>
            <a:ext cx="28575" cy="6096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167385E-F4F5-485F-AA95-DCC5B3E499A0}"/>
              </a:ext>
            </a:extLst>
          </p:cNvPr>
          <p:cNvSpPr>
            <a:spLocks xmlns:a="http://schemas.openxmlformats.org/drawingml/2006/main" noGrp="1"/>
          </p:cNvSpPr>
          <p:nvPr/>
        </p:nvSpPr>
        <p:spPr>
          <a:xfrm xmlns:a="http://schemas.openxmlformats.org/drawingml/2006/main">
            <a:off x="571500" y="2238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AUTOMOTIVE ADAS PRICING</a:t>
            </a:r>
          </a:p>
        </p:txBody>
      </p:sp>
      <p:sp>
        <p:nvSpPr>
          <p:cNvPr id="16" name="">
            <a:extLst xmlns:a="http://schemas.openxmlformats.org/drawingml/2006/main">
              <a:ext uri="{FF2B5EF4-FFF2-40B4-BE49-F238E27FC236}">
                <a16:creationId xmlns:a16="http://schemas.microsoft.com/office/drawing/2014/main" id="{6573303A-CC32-4245-B01E-7E29B1CAEB52}"/>
              </a:ext>
            </a:extLst>
          </p:cNvPr>
          <p:cNvSpPr>
            <a:spLocks xmlns:a="http://schemas.openxmlformats.org/drawingml/2006/main" noGrp="1"/>
          </p:cNvSpPr>
          <p:nvPr/>
        </p:nvSpPr>
        <p:spPr>
          <a:xfrm xmlns:a="http://schemas.openxmlformats.org/drawingml/2006/main">
            <a:off x="4067556" y="2228850"/>
            <a:ext cx="5638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Automotive ADAS pricing depends on sensors, function set, volume, vehicle variants, NRE, calibration, validation, warranty, service and liability all…</a:t>
            </a:r>
          </a:p>
        </p:txBody>
      </p:sp>
      <p:sp>
        <p:nvSpPr>
          <p:cNvPr id="17" name="">
            <a:extLst xmlns:a="http://schemas.openxmlformats.org/drawingml/2006/main">
              <a:ext uri="{FF2B5EF4-FFF2-40B4-BE49-F238E27FC236}">
                <a16:creationId xmlns:a16="http://schemas.microsoft.com/office/drawing/2014/main" id="{44DB8488-7E80-4AA6-8261-481C38492B8B}"/>
              </a:ext>
            </a:extLst>
          </p:cNvPr>
          <p:cNvSpPr>
            <a:spLocks xmlns:a="http://schemas.openxmlformats.org/drawingml/2006/main" noGrp="1"/>
          </p:cNvSpPr>
          <p:nvPr/>
        </p:nvSpPr>
        <p:spPr>
          <a:xfrm xmlns:a="http://schemas.openxmlformats.org/drawingml/2006/main">
            <a:off x="9816084" y="2238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ADB29D21-A7E9-4ECD-9EB9-50BE99364B08}"/>
              </a:ext>
            </a:extLst>
          </p:cNvPr>
          <p:cNvSpPr>
            <a:spLocks xmlns:a="http://schemas.openxmlformats.org/drawingml/2006/main" noGrp="1"/>
          </p:cNvSpPr>
          <p:nvPr/>
        </p:nvSpPr>
        <p:spPr>
          <a:xfrm xmlns:a="http://schemas.openxmlformats.org/drawingml/2006/main">
            <a:off x="457200" y="2828925"/>
            <a:ext cx="11277600" cy="6096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A952B758-2FE0-4095-BABB-79D8406DAA9F}"/>
              </a:ext>
            </a:extLst>
          </p:cNvPr>
          <p:cNvSpPr>
            <a:spLocks xmlns:a="http://schemas.openxmlformats.org/drawingml/2006/main" noGrp="1"/>
          </p:cNvSpPr>
          <p:nvPr/>
        </p:nvSpPr>
        <p:spPr>
          <a:xfrm xmlns:a="http://schemas.openxmlformats.org/drawingml/2006/main">
            <a:off x="457200" y="2828925"/>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9536F9C-E2D5-4391-B062-5F5AFA80B4E6}"/>
              </a:ext>
            </a:extLst>
          </p:cNvPr>
          <p:cNvSpPr>
            <a:spLocks xmlns:a="http://schemas.openxmlformats.org/drawingml/2006/main" noGrp="1"/>
          </p:cNvSpPr>
          <p:nvPr/>
        </p:nvSpPr>
        <p:spPr>
          <a:xfrm xmlns:a="http://schemas.openxmlformats.org/drawingml/2006/main">
            <a:off x="457200" y="2828925"/>
            <a:ext cx="28575" cy="6096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F47E2A6-E646-4396-B078-0F95B24D00FD}"/>
              </a:ext>
            </a:extLst>
          </p:cNvPr>
          <p:cNvSpPr>
            <a:spLocks xmlns:a="http://schemas.openxmlformats.org/drawingml/2006/main" noGrp="1"/>
          </p:cNvSpPr>
          <p:nvPr/>
        </p:nvSpPr>
        <p:spPr>
          <a:xfrm xmlns:a="http://schemas.openxmlformats.org/drawingml/2006/main">
            <a:off x="571500" y="29146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OBTAIN THREE EQUAL-SCOPE</a:t>
            </a:r>
          </a:p>
        </p:txBody>
      </p:sp>
      <p:sp>
        <p:nvSpPr>
          <p:cNvPr id="22" name="">
            <a:extLst xmlns:a="http://schemas.openxmlformats.org/drawingml/2006/main">
              <a:ext uri="{FF2B5EF4-FFF2-40B4-BE49-F238E27FC236}">
                <a16:creationId xmlns:a16="http://schemas.microsoft.com/office/drawing/2014/main" id="{407512B8-9A79-4090-AA35-EF14319F7BAB}"/>
              </a:ext>
            </a:extLst>
          </p:cNvPr>
          <p:cNvSpPr>
            <a:spLocks xmlns:a="http://schemas.openxmlformats.org/drawingml/2006/main" noGrp="1"/>
          </p:cNvSpPr>
          <p:nvPr/>
        </p:nvSpPr>
        <p:spPr>
          <a:xfrm xmlns:a="http://schemas.openxmlformats.org/drawingml/2006/main">
            <a:off x="4067556" y="2905125"/>
            <a:ext cx="5638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Obtain three equal-scope RFQs at defined volumes, separate recurring BOM from NRE/service and compare lifecycle delivered cost plus switching risk.</a:t>
            </a:r>
          </a:p>
        </p:txBody>
      </p:sp>
      <p:sp>
        <p:nvSpPr>
          <p:cNvPr id="23" name="">
            <a:extLst xmlns:a="http://schemas.openxmlformats.org/drawingml/2006/main">
              <a:ext uri="{FF2B5EF4-FFF2-40B4-BE49-F238E27FC236}">
                <a16:creationId xmlns:a16="http://schemas.microsoft.com/office/drawing/2014/main" id="{E97B59A5-2B7B-4473-8AE7-E25E2D9F29EF}"/>
              </a:ext>
            </a:extLst>
          </p:cNvPr>
          <p:cNvSpPr>
            <a:spLocks xmlns:a="http://schemas.openxmlformats.org/drawingml/2006/main" noGrp="1"/>
          </p:cNvSpPr>
          <p:nvPr/>
        </p:nvSpPr>
        <p:spPr>
          <a:xfrm xmlns:a="http://schemas.openxmlformats.org/drawingml/2006/main">
            <a:off x="9816084" y="29146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313B1595-FB52-4E67-A325-EF8A19CA49CE}"/>
              </a:ext>
            </a:extLst>
          </p:cNvPr>
          <p:cNvSpPr>
            <a:spLocks xmlns:a="http://schemas.openxmlformats.org/drawingml/2006/main" noGrp="1"/>
          </p:cNvSpPr>
          <p:nvPr/>
        </p:nvSpPr>
        <p:spPr>
          <a:xfrm xmlns:a="http://schemas.openxmlformats.org/drawingml/2006/main">
            <a:off x="457200" y="3505200"/>
            <a:ext cx="11277600" cy="6096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73DCCB35-5CFB-4833-A86C-981AC54EC070}"/>
              </a:ext>
            </a:extLst>
          </p:cNvPr>
          <p:cNvSpPr>
            <a:spLocks xmlns:a="http://schemas.openxmlformats.org/drawingml/2006/main" noGrp="1"/>
          </p:cNvSpPr>
          <p:nvPr/>
        </p:nvSpPr>
        <p:spPr>
          <a:xfrm xmlns:a="http://schemas.openxmlformats.org/drawingml/2006/main">
            <a:off x="457200" y="35052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C44FED2-347C-4086-A2D3-094BE61CA570}"/>
              </a:ext>
            </a:extLst>
          </p:cNvPr>
          <p:cNvSpPr>
            <a:spLocks xmlns:a="http://schemas.openxmlformats.org/drawingml/2006/main" noGrp="1"/>
          </p:cNvSpPr>
          <p:nvPr/>
        </p:nvSpPr>
        <p:spPr>
          <a:xfrm xmlns:a="http://schemas.openxmlformats.org/drawingml/2006/main">
            <a:off x="457200" y="3505200"/>
            <a:ext cx="28575" cy="6096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47877F9-CE00-4230-BA2C-E88FA1B19754}"/>
              </a:ext>
            </a:extLst>
          </p:cNvPr>
          <p:cNvSpPr>
            <a:spLocks xmlns:a="http://schemas.openxmlformats.org/drawingml/2006/main" noGrp="1"/>
          </p:cNvSpPr>
          <p:nvPr/>
        </p:nvSpPr>
        <p:spPr>
          <a:xfrm xmlns:a="http://schemas.openxmlformats.org/drawingml/2006/main">
            <a:off x="571500" y="3590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IMPLICATION FOR DEEPGRID</a:t>
            </a:r>
          </a:p>
        </p:txBody>
      </p:sp>
      <p:sp>
        <p:nvSpPr>
          <p:cNvPr id="28" name="">
            <a:extLst xmlns:a="http://schemas.openxmlformats.org/drawingml/2006/main">
              <a:ext uri="{FF2B5EF4-FFF2-40B4-BE49-F238E27FC236}">
                <a16:creationId xmlns:a16="http://schemas.microsoft.com/office/drawing/2014/main" id="{A342D7B6-0702-4484-A6D7-EEDD7A731DE3}"/>
              </a:ext>
            </a:extLst>
          </p:cNvPr>
          <p:cNvSpPr>
            <a:spLocks xmlns:a="http://schemas.openxmlformats.org/drawingml/2006/main" noGrp="1"/>
          </p:cNvSpPr>
          <p:nvPr/>
        </p:nvSpPr>
        <p:spPr>
          <a:xfrm xmlns:a="http://schemas.openxmlformats.org/drawingml/2006/main">
            <a:off x="4067556" y="3581400"/>
            <a:ext cx="5638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IMPLICATION FOR DEEPGRID · Benchmark landed system BOM and integration cost through real RFQs under comparable volumes and scope.</a:t>
            </a:r>
          </a:p>
        </p:txBody>
      </p:sp>
      <p:sp>
        <p:nvSpPr>
          <p:cNvPr id="29" name="">
            <a:extLst xmlns:a="http://schemas.openxmlformats.org/drawingml/2006/main">
              <a:ext uri="{FF2B5EF4-FFF2-40B4-BE49-F238E27FC236}">
                <a16:creationId xmlns:a16="http://schemas.microsoft.com/office/drawing/2014/main" id="{D5819CE0-602A-46A3-8455-9460CFA39C35}"/>
              </a:ext>
            </a:extLst>
          </p:cNvPr>
          <p:cNvSpPr>
            <a:spLocks xmlns:a="http://schemas.openxmlformats.org/drawingml/2006/main" noGrp="1"/>
          </p:cNvSpPr>
          <p:nvPr/>
        </p:nvSpPr>
        <p:spPr>
          <a:xfrm xmlns:a="http://schemas.openxmlformats.org/drawingml/2006/main">
            <a:off x="9816084" y="3590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DEB7B76B-56AA-430F-AD8F-7820FD99FA41}"/>
              </a:ext>
            </a:extLst>
          </p:cNvPr>
          <p:cNvSpPr>
            <a:spLocks xmlns:a="http://schemas.openxmlformats.org/drawingml/2006/main" noGrp="1"/>
          </p:cNvSpPr>
          <p:nvPr/>
        </p:nvSpPr>
        <p:spPr>
          <a:xfrm xmlns:a="http://schemas.openxmlformats.org/drawingml/2006/main">
            <a:off x="457200" y="4181475"/>
            <a:ext cx="11277600" cy="6096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992FA2E2-3096-4A9E-8B06-DD5C8D6A26A0}"/>
              </a:ext>
            </a:extLst>
          </p:cNvPr>
          <p:cNvSpPr>
            <a:spLocks xmlns:a="http://schemas.openxmlformats.org/drawingml/2006/main" noGrp="1"/>
          </p:cNvSpPr>
          <p:nvPr/>
        </p:nvSpPr>
        <p:spPr>
          <a:xfrm xmlns:a="http://schemas.openxmlformats.org/drawingml/2006/main">
            <a:off x="457200" y="418147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1EB1233-3250-411B-8155-06C2AA3D149C}"/>
              </a:ext>
            </a:extLst>
          </p:cNvPr>
          <p:cNvSpPr>
            <a:spLocks xmlns:a="http://schemas.openxmlformats.org/drawingml/2006/main" noGrp="1"/>
          </p:cNvSpPr>
          <p:nvPr/>
        </p:nvSpPr>
        <p:spPr>
          <a:xfrm xmlns:a="http://schemas.openxmlformats.org/drawingml/2006/main">
            <a:off x="457200" y="4181475"/>
            <a:ext cx="28575" cy="6096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4BECD43-449F-469F-8392-C273B7B5FD4C}"/>
              </a:ext>
            </a:extLst>
          </p:cNvPr>
          <p:cNvSpPr>
            <a:spLocks xmlns:a="http://schemas.openxmlformats.org/drawingml/2006/main" noGrp="1"/>
          </p:cNvSpPr>
          <p:nvPr/>
        </p:nvSpPr>
        <p:spPr>
          <a:xfrm xmlns:a="http://schemas.openxmlformats.org/drawingml/2006/main">
            <a:off x="571500" y="42672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PRICING REMAINS A QUOTATION</a:t>
            </a:r>
          </a:p>
        </p:txBody>
      </p:sp>
      <p:sp>
        <p:nvSpPr>
          <p:cNvPr id="34" name="">
            <a:extLst xmlns:a="http://schemas.openxmlformats.org/drawingml/2006/main">
              <a:ext uri="{FF2B5EF4-FFF2-40B4-BE49-F238E27FC236}">
                <a16:creationId xmlns:a16="http://schemas.microsoft.com/office/drawing/2014/main" id="{462808E7-EC32-4E4A-A7FD-A1439A22161A}"/>
              </a:ext>
            </a:extLst>
          </p:cNvPr>
          <p:cNvSpPr>
            <a:spLocks xmlns:a="http://schemas.openxmlformats.org/drawingml/2006/main" noGrp="1"/>
          </p:cNvSpPr>
          <p:nvPr/>
        </p:nvSpPr>
        <p:spPr>
          <a:xfrm xmlns:a="http://schemas.openxmlformats.org/drawingml/2006/main">
            <a:off x="4067556" y="4257675"/>
            <a:ext cx="5638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Pricing remains a quotation market, not a public price-list market</a:t>
            </a:r>
          </a:p>
        </p:txBody>
      </p:sp>
      <p:sp>
        <p:nvSpPr>
          <p:cNvPr id="35" name="">
            <a:extLst xmlns:a="http://schemas.openxmlformats.org/drawingml/2006/main">
              <a:ext uri="{FF2B5EF4-FFF2-40B4-BE49-F238E27FC236}">
                <a16:creationId xmlns:a16="http://schemas.microsoft.com/office/drawing/2014/main" id="{2A25A2D5-1F7D-46E5-813F-8CE3BCC558E0}"/>
              </a:ext>
            </a:extLst>
          </p:cNvPr>
          <p:cNvSpPr>
            <a:spLocks xmlns:a="http://schemas.openxmlformats.org/drawingml/2006/main" noGrp="1"/>
          </p:cNvSpPr>
          <p:nvPr/>
        </p:nvSpPr>
        <p:spPr>
          <a:xfrm xmlns:a="http://schemas.openxmlformats.org/drawingml/2006/main">
            <a:off x="9816084" y="42672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3C3CE8B3-79FF-4E50-84B5-871EC3FE4A68}"/>
              </a:ext>
            </a:extLst>
          </p:cNvPr>
          <p:cNvSpPr>
            <a:spLocks xmlns:a="http://schemas.openxmlformats.org/drawingml/2006/main" noGrp="1"/>
          </p:cNvSpPr>
          <p:nvPr/>
        </p:nvSpPr>
        <p:spPr>
          <a:xfrm xmlns:a="http://schemas.openxmlformats.org/drawingml/2006/main">
            <a:off x="457200" y="4905375"/>
            <a:ext cx="11277600" cy="673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AF84740A-5381-4C78-B187-F6FB13AB8DB2}"/>
              </a:ext>
            </a:extLst>
          </p:cNvPr>
          <p:cNvSpPr>
            <a:spLocks xmlns:a="http://schemas.openxmlformats.org/drawingml/2006/main" noGrp="1"/>
          </p:cNvSpPr>
          <p:nvPr/>
        </p:nvSpPr>
        <p:spPr>
          <a:xfrm xmlns:a="http://schemas.openxmlformats.org/drawingml/2006/main">
            <a:off x="457200" y="4905375"/>
            <a:ext cx="28575" cy="673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0853EF0-71EF-4A58-913F-AAF5818DA80A}"/>
              </a:ext>
            </a:extLst>
          </p:cNvPr>
          <p:cNvSpPr>
            <a:spLocks xmlns:a="http://schemas.openxmlformats.org/drawingml/2006/main" noGrp="1"/>
          </p:cNvSpPr>
          <p:nvPr/>
        </p:nvSpPr>
        <p:spPr>
          <a:xfrm xmlns:a="http://schemas.openxmlformats.org/drawingml/2006/main">
            <a:off x="581025" y="49720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80B84094-3CE3-43D8-9007-AAA4EF0DCFC5}"/>
              </a:ext>
            </a:extLst>
          </p:cNvPr>
          <p:cNvSpPr>
            <a:spLocks xmlns:a="http://schemas.openxmlformats.org/drawingml/2006/main" noGrp="1"/>
          </p:cNvSpPr>
          <p:nvPr/>
        </p:nvSpPr>
        <p:spPr>
          <a:xfrm xmlns:a="http://schemas.openxmlformats.org/drawingml/2006/main">
            <a:off x="581025" y="5121275"/>
            <a:ext cx="1102995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Feasible silicon could still become a direct threat. Falsify the current view with a named automotive part, process/package, qualification/sample evaluation, or customer-side evidence of on-road deployment.</a:t>
            </a:r>
          </a:p>
        </p:txBody>
      </p:sp>
      <p:sp>
        <p:nvSpPr>
          <p:cNvPr id="40" name="">
            <a:extLst xmlns:a="http://schemas.openxmlformats.org/drawingml/2006/main">
              <a:ext uri="{FF2B5EF4-FFF2-40B4-BE49-F238E27FC236}">
                <a16:creationId xmlns:a16="http://schemas.microsoft.com/office/drawing/2014/main" id="{8B5EE866-6C25-4ECD-BB44-80CDEA460455}"/>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7A6E8B13-9652-42E4-B04F-935DB7470776}"/>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7C5A326C-2091-4CF0-A816-158ACB4082E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6246DFC4-B131-4D61-BD8E-389D0CFB754A}"/>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Hold Netrasemi as adjacent; differentiate on application evidence and automotive work products.</a:t>
            </a:r>
          </a:p>
        </p:txBody>
      </p:sp>
      <p:sp>
        <p:nvSpPr>
          <p:cNvPr id="44" name="">
            <a:extLst xmlns:a="http://schemas.openxmlformats.org/drawingml/2006/main">
              <a:ext uri="{FF2B5EF4-FFF2-40B4-BE49-F238E27FC236}">
                <a16:creationId xmlns:a16="http://schemas.microsoft.com/office/drawing/2014/main" id="{20FB86E3-E597-492A-A691-EBADA9E1542B}"/>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C6AD92D3-F6D8-4DF8-97AB-60C200CB5911}"/>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 named automotive part, process, qualification or nomination.</a:t>
            </a:r>
          </a:p>
        </p:txBody>
      </p:sp>
      <p:sp>
        <p:nvSpPr>
          <p:cNvPr id="46" name="">
            <a:extLst xmlns:a="http://schemas.openxmlformats.org/drawingml/2006/main">
              <a:ext uri="{FF2B5EF4-FFF2-40B4-BE49-F238E27FC236}">
                <a16:creationId xmlns:a16="http://schemas.microsoft.com/office/drawing/2014/main" id="{7B59D940-273E-4ED0-852D-4C3C006951B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F5D8E875-155E-457B-BE2D-B8EC56FC47BF}"/>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any automotive qualification artifact.</a:t>
            </a:r>
          </a:p>
        </p:txBody>
      </p:sp>
      <p:sp>
        <p:nvSpPr>
          <p:cNvPr id="48" name="">
            <a:extLst xmlns:a="http://schemas.openxmlformats.org/drawingml/2006/main">
              <a:ext uri="{FF2B5EF4-FFF2-40B4-BE49-F238E27FC236}">
                <a16:creationId xmlns:a16="http://schemas.microsoft.com/office/drawing/2014/main" id="{47D5723E-748D-46CA-8031-6CCC26B6826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5123B706-4F83-4A73-B442-198FC64FC5AF}"/>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50AA2684-1092-4EAE-8244-75C77050759A}"/>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76</a:t>
            </a:r>
          </a:p>
        </p:txBody>
      </p:sp>
    </p:spTree>
    <p:extLst>
      <p:ext uri="{BB962C8B-B14F-4D97-AF65-F5344CB8AC3E}">
        <p14:creationId xmlns:p14="http://schemas.microsoft.com/office/powerpoint/2010/main" val="1265650776"/>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03067283-3510-4E7F-B82B-8B575EFC51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654287-84E6-4E76-9BD4-E2525CFF36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6541C53-3951-4D59-A0E8-65EE9CEBEFA3}"/>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COMPANY PROFILE · P-ADJ</a:t>
            </a:r>
          </a:p>
        </p:txBody>
      </p:sp>
      <p:sp>
        <p:nvSpPr>
          <p:cNvPr id="4" name="">
            <a:extLst xmlns:a="http://schemas.openxmlformats.org/drawingml/2006/main">
              <a:ext uri="{FF2B5EF4-FFF2-40B4-BE49-F238E27FC236}">
                <a16:creationId xmlns:a16="http://schemas.microsoft.com/office/drawing/2014/main" id="{AE681800-9DCF-4648-BFB9-F6D1622B5235}"/>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Gahan AI</a:t>
            </a:r>
          </a:p>
        </p:txBody>
      </p:sp>
      <p:sp>
        <p:nvSpPr>
          <p:cNvPr id="5" name="">
            <a:extLst xmlns:a="http://schemas.openxmlformats.org/drawingml/2006/main">
              <a:ext uri="{FF2B5EF4-FFF2-40B4-BE49-F238E27FC236}">
                <a16:creationId xmlns:a16="http://schemas.microsoft.com/office/drawing/2014/main" id="{973AD676-67D1-4DA3-9609-2ED6179C1377}"/>
              </a:ext>
            </a:extLst>
          </p:cNvPr>
          <p:cNvSpPr>
            <a:spLocks xmlns:a="http://schemas.openxmlformats.org/drawingml/2006/main" noGrp="1"/>
          </p:cNvSpPr>
          <p:nvPr/>
        </p:nvSpPr>
        <p:spPr>
          <a:xfrm xmlns:a="http://schemas.openxmlformats.org/drawingml/2006/main">
            <a:off x="457200" y="7620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8AC1FCC-671A-43C2-BA12-D46D03FF783F}"/>
              </a:ext>
            </a:extLst>
          </p:cNvPr>
          <p:cNvSpPr>
            <a:spLocks xmlns:a="http://schemas.openxmlformats.org/drawingml/2006/main" noGrp="1"/>
          </p:cNvSpPr>
          <p:nvPr/>
        </p:nvSpPr>
        <p:spPr>
          <a:xfrm xmlns:a="http://schemas.openxmlformats.org/drawingml/2006/main">
            <a:off x="457200" y="87630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7" name="">
            <a:extLst xmlns:a="http://schemas.openxmlformats.org/drawingml/2006/main">
              <a:ext uri="{FF2B5EF4-FFF2-40B4-BE49-F238E27FC236}">
                <a16:creationId xmlns:a16="http://schemas.microsoft.com/office/drawing/2014/main" id="{F7D32045-E68D-4283-9557-A83BB7FC23F8}"/>
              </a:ext>
            </a:extLst>
          </p:cNvPr>
          <p:cNvSpPr>
            <a:spLocks xmlns:a="http://schemas.openxmlformats.org/drawingml/2006/main" noGrp="1"/>
          </p:cNvSpPr>
          <p:nvPr/>
        </p:nvSpPr>
        <p:spPr>
          <a:xfrm xmlns:a="http://schemas.openxmlformats.org/drawingml/2006/main">
            <a:off x="457200" y="87630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BA10FB7-4212-4DCF-832E-E12A471215C5}"/>
              </a:ext>
            </a:extLst>
          </p:cNvPr>
          <p:cNvSpPr>
            <a:spLocks xmlns:a="http://schemas.openxmlformats.org/drawingml/2006/main" noGrp="1"/>
          </p:cNvSpPr>
          <p:nvPr/>
        </p:nvSpPr>
        <p:spPr>
          <a:xfrm xmlns:a="http://schemas.openxmlformats.org/drawingml/2006/main">
            <a:off x="571500" y="99060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FOUNDED</a:t>
            </a:r>
          </a:p>
        </p:txBody>
      </p:sp>
      <p:sp>
        <p:nvSpPr>
          <p:cNvPr id="9" name="">
            <a:extLst xmlns:a="http://schemas.openxmlformats.org/drawingml/2006/main">
              <a:ext uri="{FF2B5EF4-FFF2-40B4-BE49-F238E27FC236}">
                <a16:creationId xmlns:a16="http://schemas.microsoft.com/office/drawing/2014/main" id="{53BFB0BD-582D-4A80-8933-6D86BF621705}"/>
              </a:ext>
            </a:extLst>
          </p:cNvPr>
          <p:cNvSpPr>
            <a:spLocks xmlns:a="http://schemas.openxmlformats.org/drawingml/2006/main" noGrp="1"/>
          </p:cNvSpPr>
          <p:nvPr/>
        </p:nvSpPr>
        <p:spPr>
          <a:xfrm xmlns:a="http://schemas.openxmlformats.org/drawingml/2006/main">
            <a:off x="571500" y="11430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2020</a:t>
            </a:r>
          </a:p>
        </p:txBody>
      </p:sp>
      <p:sp>
        <p:nvSpPr>
          <p:cNvPr id="10" name="">
            <a:extLst xmlns:a="http://schemas.openxmlformats.org/drawingml/2006/main">
              <a:ext uri="{FF2B5EF4-FFF2-40B4-BE49-F238E27FC236}">
                <a16:creationId xmlns:a16="http://schemas.microsoft.com/office/drawing/2014/main" id="{17255E0F-DEEC-41EE-9021-B6B57BC7D73C}"/>
              </a:ext>
            </a:extLst>
          </p:cNvPr>
          <p:cNvSpPr>
            <a:spLocks xmlns:a="http://schemas.openxmlformats.org/drawingml/2006/main" noGrp="1"/>
          </p:cNvSpPr>
          <p:nvPr/>
        </p:nvSpPr>
        <p:spPr>
          <a:xfrm xmlns:a="http://schemas.openxmlformats.org/drawingml/2006/main">
            <a:off x="571500" y="14097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Pivoted from edtech to automotive radar in 2023</a:t>
            </a:r>
          </a:p>
        </p:txBody>
      </p:sp>
      <p:sp>
        <p:nvSpPr>
          <p:cNvPr id="11" name="">
            <a:extLst xmlns:a="http://schemas.openxmlformats.org/drawingml/2006/main">
              <a:ext uri="{FF2B5EF4-FFF2-40B4-BE49-F238E27FC236}">
                <a16:creationId xmlns:a16="http://schemas.microsoft.com/office/drawing/2014/main" id="{9BED2960-64FB-40D2-BD19-1740CC0867E6}"/>
              </a:ext>
            </a:extLst>
          </p:cNvPr>
          <p:cNvSpPr>
            <a:spLocks xmlns:a="http://schemas.openxmlformats.org/drawingml/2006/main" noGrp="1"/>
          </p:cNvSpPr>
          <p:nvPr/>
        </p:nvSpPr>
        <p:spPr>
          <a:xfrm xmlns:a="http://schemas.openxmlformats.org/drawingml/2006/main">
            <a:off x="3305175" y="87630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2" name="">
            <a:extLst xmlns:a="http://schemas.openxmlformats.org/drawingml/2006/main">
              <a:ext uri="{FF2B5EF4-FFF2-40B4-BE49-F238E27FC236}">
                <a16:creationId xmlns:a16="http://schemas.microsoft.com/office/drawing/2014/main" id="{5E5E3B49-1DED-4A08-83BF-92BB05944CE2}"/>
              </a:ext>
            </a:extLst>
          </p:cNvPr>
          <p:cNvSpPr>
            <a:spLocks xmlns:a="http://schemas.openxmlformats.org/drawingml/2006/main" noGrp="1"/>
          </p:cNvSpPr>
          <p:nvPr/>
        </p:nvSpPr>
        <p:spPr>
          <a:xfrm xmlns:a="http://schemas.openxmlformats.org/drawingml/2006/main">
            <a:off x="3305175" y="87630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9BFE2C3-E81A-43CB-937C-C82E9187FCB4}"/>
              </a:ext>
            </a:extLst>
          </p:cNvPr>
          <p:cNvSpPr>
            <a:spLocks xmlns:a="http://schemas.openxmlformats.org/drawingml/2006/main" noGrp="1"/>
          </p:cNvSpPr>
          <p:nvPr/>
        </p:nvSpPr>
        <p:spPr>
          <a:xfrm xmlns:a="http://schemas.openxmlformats.org/drawingml/2006/main">
            <a:off x="3419475" y="99060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HEADQUARTERS</a:t>
            </a:r>
          </a:p>
        </p:txBody>
      </p:sp>
      <p:sp>
        <p:nvSpPr>
          <p:cNvPr id="14" name="">
            <a:extLst xmlns:a="http://schemas.openxmlformats.org/drawingml/2006/main">
              <a:ext uri="{FF2B5EF4-FFF2-40B4-BE49-F238E27FC236}">
                <a16:creationId xmlns:a16="http://schemas.microsoft.com/office/drawing/2014/main" id="{45158371-2BE3-4558-92E3-EC96BAABF8AE}"/>
              </a:ext>
            </a:extLst>
          </p:cNvPr>
          <p:cNvSpPr>
            <a:spLocks xmlns:a="http://schemas.openxmlformats.org/drawingml/2006/main" noGrp="1"/>
          </p:cNvSpPr>
          <p:nvPr/>
        </p:nvSpPr>
        <p:spPr>
          <a:xfrm xmlns:a="http://schemas.openxmlformats.org/drawingml/2006/main">
            <a:off x="3419475" y="11430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Bengaluru, Karnataka, India</a:t>
            </a:r>
          </a:p>
        </p:txBody>
      </p:sp>
      <p:sp>
        <p:nvSpPr>
          <p:cNvPr id="15" name="">
            <a:extLst xmlns:a="http://schemas.openxmlformats.org/drawingml/2006/main">
              <a:ext uri="{FF2B5EF4-FFF2-40B4-BE49-F238E27FC236}">
                <a16:creationId xmlns:a16="http://schemas.microsoft.com/office/drawing/2014/main" id="{FEE19FC9-6D04-4BDE-AA78-D21BFE8ED7FD}"/>
              </a:ext>
            </a:extLst>
          </p:cNvPr>
          <p:cNvSpPr>
            <a:spLocks xmlns:a="http://schemas.openxmlformats.org/drawingml/2006/main" noGrp="1"/>
          </p:cNvSpPr>
          <p:nvPr/>
        </p:nvSpPr>
        <p:spPr>
          <a:xfrm xmlns:a="http://schemas.openxmlformats.org/drawingml/2006/main">
            <a:off x="6153150" y="876300"/>
            <a:ext cx="2733675" cy="800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6" name="">
            <a:extLst xmlns:a="http://schemas.openxmlformats.org/drawingml/2006/main">
              <a:ext uri="{FF2B5EF4-FFF2-40B4-BE49-F238E27FC236}">
                <a16:creationId xmlns:a16="http://schemas.microsoft.com/office/drawing/2014/main" id="{9CA682AD-6382-4C08-B788-2AEB2532167A}"/>
              </a:ext>
            </a:extLst>
          </p:cNvPr>
          <p:cNvSpPr>
            <a:spLocks xmlns:a="http://schemas.openxmlformats.org/drawingml/2006/main" noGrp="1"/>
          </p:cNvSpPr>
          <p:nvPr/>
        </p:nvSpPr>
        <p:spPr>
          <a:xfrm xmlns:a="http://schemas.openxmlformats.org/drawingml/2006/main">
            <a:off x="6153150" y="87630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56B7195-5AF5-4AEE-977C-FF8A4FE69AB3}"/>
              </a:ext>
            </a:extLst>
          </p:cNvPr>
          <p:cNvSpPr>
            <a:spLocks xmlns:a="http://schemas.openxmlformats.org/drawingml/2006/main" noGrp="1"/>
          </p:cNvSpPr>
          <p:nvPr/>
        </p:nvSpPr>
        <p:spPr>
          <a:xfrm xmlns:a="http://schemas.openxmlformats.org/drawingml/2006/main">
            <a:off x="6267450" y="99060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STATUS</a:t>
            </a:r>
          </a:p>
        </p:txBody>
      </p:sp>
      <p:sp>
        <p:nvSpPr>
          <p:cNvPr id="18" name="">
            <a:extLst xmlns:a="http://schemas.openxmlformats.org/drawingml/2006/main">
              <a:ext uri="{FF2B5EF4-FFF2-40B4-BE49-F238E27FC236}">
                <a16:creationId xmlns:a16="http://schemas.microsoft.com/office/drawing/2014/main" id="{A844EBDE-7F9F-4009-809E-D708A4C7FB54}"/>
              </a:ext>
            </a:extLst>
          </p:cNvPr>
          <p:cNvSpPr>
            <a:spLocks xmlns:a="http://schemas.openxmlformats.org/drawingml/2006/main" noGrp="1"/>
          </p:cNvSpPr>
          <p:nvPr/>
        </p:nvSpPr>
        <p:spPr>
          <a:xfrm xmlns:a="http://schemas.openxmlformats.org/drawingml/2006/main">
            <a:off x="6267450" y="11430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PRIVATE</a:t>
            </a:r>
          </a:p>
        </p:txBody>
      </p:sp>
      <p:sp>
        <p:nvSpPr>
          <p:cNvPr id="19" name="">
            <a:extLst xmlns:a="http://schemas.openxmlformats.org/drawingml/2006/main">
              <a:ext uri="{FF2B5EF4-FFF2-40B4-BE49-F238E27FC236}">
                <a16:creationId xmlns:a16="http://schemas.microsoft.com/office/drawing/2014/main" id="{0AFE0547-096B-4268-9DCE-6013A3E8F43A}"/>
              </a:ext>
            </a:extLst>
          </p:cNvPr>
          <p:cNvSpPr>
            <a:spLocks xmlns:a="http://schemas.openxmlformats.org/drawingml/2006/main" noGrp="1"/>
          </p:cNvSpPr>
          <p:nvPr/>
        </p:nvSpPr>
        <p:spPr>
          <a:xfrm xmlns:a="http://schemas.openxmlformats.org/drawingml/2006/main">
            <a:off x="6267450" y="14097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Valuation not established</a:t>
            </a:r>
          </a:p>
        </p:txBody>
      </p:sp>
      <p:sp>
        <p:nvSpPr>
          <p:cNvPr id="20" name="">
            <a:extLst xmlns:a="http://schemas.openxmlformats.org/drawingml/2006/main">
              <a:ext uri="{FF2B5EF4-FFF2-40B4-BE49-F238E27FC236}">
                <a16:creationId xmlns:a16="http://schemas.microsoft.com/office/drawing/2014/main" id="{B134CA8A-0C40-4983-AA8A-33E4C82131D8}"/>
              </a:ext>
            </a:extLst>
          </p:cNvPr>
          <p:cNvSpPr>
            <a:spLocks xmlns:a="http://schemas.openxmlformats.org/drawingml/2006/main" noGrp="1"/>
          </p:cNvSpPr>
          <p:nvPr/>
        </p:nvSpPr>
        <p:spPr>
          <a:xfrm xmlns:a="http://schemas.openxmlformats.org/drawingml/2006/main">
            <a:off x="9001125" y="876300"/>
            <a:ext cx="2733675" cy="800100"/>
          </a:xfrm>
          <a:prstGeom xmlns:a="http://schemas.openxmlformats.org/drawingml/2006/main" prst="rect">
            <a:avLst/>
          </a:prstGeom>
          <a:solidFill xmlns:a="http://schemas.openxmlformats.org/drawingml/2006/main">
            <a:srgbClr val="16243A"/>
          </a:solidFill>
          <a:ln xmlns:a="http://schemas.openxmlformats.org/drawingml/2006/main" w="9525">
            <a:solidFill>
              <a:srgbClr val="1A2F45"/>
            </a:solidFill>
            <a:prstDash val="solid"/>
          </a:ln>
        </p:spPr>
      </p:sp>
      <p:sp>
        <p:nvSpPr>
          <p:cNvPr id="21" name="">
            <a:extLst xmlns:a="http://schemas.openxmlformats.org/drawingml/2006/main">
              <a:ext uri="{FF2B5EF4-FFF2-40B4-BE49-F238E27FC236}">
                <a16:creationId xmlns:a16="http://schemas.microsoft.com/office/drawing/2014/main" id="{04F39E28-9468-4B8C-9CEC-55A46A0FBB23}"/>
              </a:ext>
            </a:extLst>
          </p:cNvPr>
          <p:cNvSpPr>
            <a:spLocks xmlns:a="http://schemas.openxmlformats.org/drawingml/2006/main" noGrp="1"/>
          </p:cNvSpPr>
          <p:nvPr/>
        </p:nvSpPr>
        <p:spPr>
          <a:xfrm xmlns:a="http://schemas.openxmlformats.org/drawingml/2006/main">
            <a:off x="9001125" y="876300"/>
            <a:ext cx="2733675"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773C7B9-B15F-4675-9F81-700E5EC9D980}"/>
              </a:ext>
            </a:extLst>
          </p:cNvPr>
          <p:cNvSpPr>
            <a:spLocks xmlns:a="http://schemas.openxmlformats.org/drawingml/2006/main" noGrp="1"/>
          </p:cNvSpPr>
          <p:nvPr/>
        </p:nvSpPr>
        <p:spPr>
          <a:xfrm xmlns:a="http://schemas.openxmlformats.org/drawingml/2006/main">
            <a:off x="9115425" y="990600"/>
            <a:ext cx="2505075"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CAPITAL</a:t>
            </a:r>
          </a:p>
        </p:txBody>
      </p:sp>
      <p:sp>
        <p:nvSpPr>
          <p:cNvPr id="23" name="">
            <a:extLst xmlns:a="http://schemas.openxmlformats.org/drawingml/2006/main">
              <a:ext uri="{FF2B5EF4-FFF2-40B4-BE49-F238E27FC236}">
                <a16:creationId xmlns:a16="http://schemas.microsoft.com/office/drawing/2014/main" id="{834E88BA-0510-4B5E-8645-99946790C45A}"/>
              </a:ext>
            </a:extLst>
          </p:cNvPr>
          <p:cNvSpPr>
            <a:spLocks xmlns:a="http://schemas.openxmlformats.org/drawingml/2006/main" noGrp="1"/>
          </p:cNvSpPr>
          <p:nvPr/>
        </p:nvSpPr>
        <p:spPr>
          <a:xfrm xmlns:a="http://schemas.openxmlformats.org/drawingml/2006/main">
            <a:off x="9115425" y="11430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04B3C7"/>
                </a:solidFill>
                <a:latin typeface="Arial"/>
                <a:ea typeface="Arial"/>
                <a:cs typeface="Arial"/>
              </a:defRPr>
            </a:pPr>
            <a:r>
              <a:t>15 people</a:t>
            </a:r>
          </a:p>
        </p:txBody>
      </p:sp>
      <p:sp>
        <p:nvSpPr>
          <p:cNvPr id="24" name="">
            <a:extLst xmlns:a="http://schemas.openxmlformats.org/drawingml/2006/main">
              <a:ext uri="{FF2B5EF4-FFF2-40B4-BE49-F238E27FC236}">
                <a16:creationId xmlns:a16="http://schemas.microsoft.com/office/drawing/2014/main" id="{E60E02E7-5EF3-4CDF-9707-E4C48B018744}"/>
              </a:ext>
            </a:extLst>
          </p:cNvPr>
          <p:cNvSpPr>
            <a:spLocks xmlns:a="http://schemas.openxmlformats.org/drawingml/2006/main" noGrp="1"/>
          </p:cNvSpPr>
          <p:nvPr/>
        </p:nvSpPr>
        <p:spPr>
          <a:xfrm xmlns:a="http://schemas.openxmlformats.org/drawingml/2006/main">
            <a:off x="9115425" y="1409700"/>
            <a:ext cx="25050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as of Jun 2026</a:t>
            </a:r>
          </a:p>
        </p:txBody>
      </p:sp>
      <p:sp>
        <p:nvSpPr>
          <p:cNvPr id="25" name="">
            <a:extLst xmlns:a="http://schemas.openxmlformats.org/drawingml/2006/main">
              <a:ext uri="{FF2B5EF4-FFF2-40B4-BE49-F238E27FC236}">
                <a16:creationId xmlns:a16="http://schemas.microsoft.com/office/drawing/2014/main" id="{29FCD17A-C07C-4628-9AD8-5F850D504D46}"/>
              </a:ext>
            </a:extLst>
          </p:cNvPr>
          <p:cNvSpPr>
            <a:spLocks xmlns:a="http://schemas.openxmlformats.org/drawingml/2006/main" noGrp="1"/>
          </p:cNvSpPr>
          <p:nvPr/>
        </p:nvSpPr>
        <p:spPr>
          <a:xfrm xmlns:a="http://schemas.openxmlformats.org/drawingml/2006/main">
            <a:off x="457200" y="179070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PEOPLE</a:t>
            </a:r>
          </a:p>
        </p:txBody>
      </p:sp>
      <p:sp>
        <p:nvSpPr>
          <p:cNvPr id="26" name="">
            <a:extLst xmlns:a="http://schemas.openxmlformats.org/drawingml/2006/main">
              <a:ext uri="{FF2B5EF4-FFF2-40B4-BE49-F238E27FC236}">
                <a16:creationId xmlns:a16="http://schemas.microsoft.com/office/drawing/2014/main" id="{19759D19-BEF8-4B33-B3CB-212D5DD60161}"/>
              </a:ext>
            </a:extLst>
          </p:cNvPr>
          <p:cNvSpPr>
            <a:spLocks xmlns:a="http://schemas.openxmlformats.org/drawingml/2006/main" noGrp="1"/>
          </p:cNvSpPr>
          <p:nvPr/>
        </p:nvSpPr>
        <p:spPr>
          <a:xfrm xmlns:a="http://schemas.openxmlformats.org/drawingml/2006/main">
            <a:off x="457200" y="193357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15</a:t>
            </a:r>
          </a:p>
        </p:txBody>
      </p:sp>
      <p:sp>
        <p:nvSpPr>
          <p:cNvPr id="27" name="">
            <a:extLst xmlns:a="http://schemas.openxmlformats.org/drawingml/2006/main">
              <a:ext uri="{FF2B5EF4-FFF2-40B4-BE49-F238E27FC236}">
                <a16:creationId xmlns:a16="http://schemas.microsoft.com/office/drawing/2014/main" id="{D981D7B1-8DD3-4A1D-977C-29BD3F3C67F7}"/>
              </a:ext>
            </a:extLst>
          </p:cNvPr>
          <p:cNvSpPr>
            <a:spLocks xmlns:a="http://schemas.openxmlformats.org/drawingml/2006/main" noGrp="1"/>
          </p:cNvSpPr>
          <p:nvPr/>
        </p:nvSpPr>
        <p:spPr>
          <a:xfrm xmlns:a="http://schemas.openxmlformats.org/drawingml/2006/main">
            <a:off x="4254500" y="179070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VALUE MOVE</a:t>
            </a:r>
          </a:p>
        </p:txBody>
      </p:sp>
      <p:sp>
        <p:nvSpPr>
          <p:cNvPr id="28" name="">
            <a:extLst xmlns:a="http://schemas.openxmlformats.org/drawingml/2006/main">
              <a:ext uri="{FF2B5EF4-FFF2-40B4-BE49-F238E27FC236}">
                <a16:creationId xmlns:a16="http://schemas.microsoft.com/office/drawing/2014/main" id="{0EF97D31-517C-4C2A-B281-BEE127F3B61F}"/>
              </a:ext>
            </a:extLst>
          </p:cNvPr>
          <p:cNvSpPr>
            <a:spLocks xmlns:a="http://schemas.openxmlformats.org/drawingml/2006/main" noGrp="1"/>
          </p:cNvSpPr>
          <p:nvPr/>
        </p:nvSpPr>
        <p:spPr>
          <a:xfrm xmlns:a="http://schemas.openxmlformats.org/drawingml/2006/main">
            <a:off x="4254500" y="193357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no funding disclosed</a:t>
            </a:r>
          </a:p>
        </p:txBody>
      </p:sp>
      <p:sp>
        <p:nvSpPr>
          <p:cNvPr id="29" name="">
            <a:extLst xmlns:a="http://schemas.openxmlformats.org/drawingml/2006/main">
              <a:ext uri="{FF2B5EF4-FFF2-40B4-BE49-F238E27FC236}">
                <a16:creationId xmlns:a16="http://schemas.microsoft.com/office/drawing/2014/main" id="{AF8757B5-03BF-4227-AF31-5A183683DA47}"/>
              </a:ext>
            </a:extLst>
          </p:cNvPr>
          <p:cNvSpPr>
            <a:spLocks xmlns:a="http://schemas.openxmlformats.org/drawingml/2006/main" noGrp="1"/>
          </p:cNvSpPr>
          <p:nvPr/>
        </p:nvSpPr>
        <p:spPr>
          <a:xfrm xmlns:a="http://schemas.openxmlformats.org/drawingml/2006/main">
            <a:off x="8051800" y="1790700"/>
            <a:ext cx="3683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PARENT / BACKING</a:t>
            </a:r>
          </a:p>
        </p:txBody>
      </p:sp>
      <p:sp>
        <p:nvSpPr>
          <p:cNvPr id="30" name="">
            <a:extLst xmlns:a="http://schemas.openxmlformats.org/drawingml/2006/main">
              <a:ext uri="{FF2B5EF4-FFF2-40B4-BE49-F238E27FC236}">
                <a16:creationId xmlns:a16="http://schemas.microsoft.com/office/drawing/2014/main" id="{F0BCFCA1-F7D4-454C-9747-8246148DF243}"/>
              </a:ext>
            </a:extLst>
          </p:cNvPr>
          <p:cNvSpPr>
            <a:spLocks xmlns:a="http://schemas.openxmlformats.org/drawingml/2006/main" noGrp="1"/>
          </p:cNvSpPr>
          <p:nvPr/>
        </p:nvSpPr>
        <p:spPr>
          <a:xfrm xmlns:a="http://schemas.openxmlformats.org/drawingml/2006/main">
            <a:off x="8051800" y="1933575"/>
            <a:ext cx="36068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
            </a:r>
          </a:p>
        </p:txBody>
      </p:sp>
      <p:sp>
        <p:nvSpPr>
          <p:cNvPr id="31" name="">
            <a:extLst xmlns:a="http://schemas.openxmlformats.org/drawingml/2006/main">
              <a:ext uri="{FF2B5EF4-FFF2-40B4-BE49-F238E27FC236}">
                <a16:creationId xmlns:a16="http://schemas.microsoft.com/office/drawing/2014/main" id="{846F9D36-D5F8-4EC5-9507-DCB76B4EBD36}"/>
              </a:ext>
            </a:extLst>
          </p:cNvPr>
          <p:cNvSpPr>
            <a:spLocks xmlns:a="http://schemas.openxmlformats.org/drawingml/2006/main" noGrp="1"/>
          </p:cNvSpPr>
          <p:nvPr/>
        </p:nvSpPr>
        <p:spPr>
          <a:xfrm xmlns:a="http://schemas.openxmlformats.org/drawingml/2006/main">
            <a:off x="457200" y="224790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DA8D905-7EB3-465D-B112-51391DBC14DA}"/>
              </a:ext>
            </a:extLst>
          </p:cNvPr>
          <p:cNvSpPr>
            <a:spLocks xmlns:a="http://schemas.openxmlformats.org/drawingml/2006/main" noGrp="1"/>
          </p:cNvSpPr>
          <p:nvPr/>
        </p:nvSpPr>
        <p:spPr>
          <a:xfrm xmlns:a="http://schemas.openxmlformats.org/drawingml/2006/main">
            <a:off x="457200" y="236220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WHAT IT SELLS</a:t>
            </a:r>
          </a:p>
        </p:txBody>
      </p:sp>
      <p:sp>
        <p:nvSpPr>
          <p:cNvPr id="33" name="">
            <a:extLst xmlns:a="http://schemas.openxmlformats.org/drawingml/2006/main">
              <a:ext uri="{FF2B5EF4-FFF2-40B4-BE49-F238E27FC236}">
                <a16:creationId xmlns:a16="http://schemas.microsoft.com/office/drawing/2014/main" id="{BA1D0E39-F78F-44AF-B991-FB8D0DF7B72F}"/>
              </a:ext>
            </a:extLst>
          </p:cNvPr>
          <p:cNvSpPr>
            <a:spLocks xmlns:a="http://schemas.openxmlformats.org/drawingml/2006/main" noGrp="1"/>
          </p:cNvSpPr>
          <p:nvPr/>
        </p:nvSpPr>
        <p:spPr>
          <a:xfrm xmlns:a="http://schemas.openxmlformats.org/drawingml/2006/main">
            <a:off x="457200" y="2524125"/>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DRWIG — claimed 77GHz FMCW 4D point-cloud radar platform, silicon to software</a:t>
            </a:r>
          </a:p>
        </p:txBody>
      </p:sp>
      <p:sp>
        <p:nvSpPr>
          <p:cNvPr id="34" name="">
            <a:extLst xmlns:a="http://schemas.openxmlformats.org/drawingml/2006/main">
              <a:ext uri="{FF2B5EF4-FFF2-40B4-BE49-F238E27FC236}">
                <a16:creationId xmlns:a16="http://schemas.microsoft.com/office/drawing/2014/main" id="{1F4EE843-6176-4366-A29E-19D3DA942F5B}"/>
              </a:ext>
            </a:extLst>
          </p:cNvPr>
          <p:cNvSpPr>
            <a:spLocks xmlns:a="http://schemas.openxmlformats.org/drawingml/2006/main" noGrp="1"/>
          </p:cNvSpPr>
          <p:nvPr/>
        </p:nvSpPr>
        <p:spPr>
          <a:xfrm xmlns:a="http://schemas.openxmlformats.org/drawingml/2006/main">
            <a:off x="457200" y="29622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287F764-5CB3-424A-8DD9-5E44A4577CD8}"/>
              </a:ext>
            </a:extLst>
          </p:cNvPr>
          <p:cNvSpPr>
            <a:spLocks xmlns:a="http://schemas.openxmlformats.org/drawingml/2006/main" noGrp="1"/>
          </p:cNvSpPr>
          <p:nvPr/>
        </p:nvSpPr>
        <p:spPr>
          <a:xfrm xmlns:a="http://schemas.openxmlformats.org/drawingml/2006/main">
            <a:off x="571500" y="29146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HEADCOUNT</a:t>
            </a:r>
          </a:p>
        </p:txBody>
      </p:sp>
      <p:sp>
        <p:nvSpPr>
          <p:cNvPr id="36" name="">
            <a:extLst xmlns:a="http://schemas.openxmlformats.org/drawingml/2006/main">
              <a:ext uri="{FF2B5EF4-FFF2-40B4-BE49-F238E27FC236}">
                <a16:creationId xmlns:a16="http://schemas.microsoft.com/office/drawing/2014/main" id="{6625A36F-E7F6-4358-ADB9-4BB80FF7B29C}"/>
              </a:ext>
            </a:extLst>
          </p:cNvPr>
          <p:cNvSpPr>
            <a:spLocks xmlns:a="http://schemas.openxmlformats.org/drawingml/2006/main" noGrp="1"/>
          </p:cNvSpPr>
          <p:nvPr/>
        </p:nvSpPr>
        <p:spPr>
          <a:xfrm xmlns:a="http://schemas.openxmlformats.org/drawingml/2006/main">
            <a:off x="2057400" y="29146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15 people (+39.1% YoY)</a:t>
            </a:r>
          </a:p>
        </p:txBody>
      </p:sp>
      <p:sp>
        <p:nvSpPr>
          <p:cNvPr id="37" name="">
            <a:extLst xmlns:a="http://schemas.openxmlformats.org/drawingml/2006/main">
              <a:ext uri="{FF2B5EF4-FFF2-40B4-BE49-F238E27FC236}">
                <a16:creationId xmlns:a16="http://schemas.microsoft.com/office/drawing/2014/main" id="{B77F8408-3042-4CD9-853E-A6FC0FECCF46}"/>
              </a:ext>
            </a:extLst>
          </p:cNvPr>
          <p:cNvSpPr>
            <a:spLocks xmlns:a="http://schemas.openxmlformats.org/drawingml/2006/main" noGrp="1"/>
          </p:cNvSpPr>
          <p:nvPr/>
        </p:nvSpPr>
        <p:spPr>
          <a:xfrm xmlns:a="http://schemas.openxmlformats.org/drawingml/2006/main">
            <a:off x="6210300" y="29622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A245DADA-9090-45D1-91EF-960AA11CA333}"/>
              </a:ext>
            </a:extLst>
          </p:cNvPr>
          <p:cNvSpPr>
            <a:spLocks xmlns:a="http://schemas.openxmlformats.org/drawingml/2006/main" noGrp="1"/>
          </p:cNvSpPr>
          <p:nvPr/>
        </p:nvSpPr>
        <p:spPr>
          <a:xfrm xmlns:a="http://schemas.openxmlformats.org/drawingml/2006/main">
            <a:off x="6324600" y="29146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SILICON</a:t>
            </a:r>
          </a:p>
        </p:txBody>
      </p:sp>
      <p:sp>
        <p:nvSpPr>
          <p:cNvPr id="39" name="">
            <a:extLst xmlns:a="http://schemas.openxmlformats.org/drawingml/2006/main">
              <a:ext uri="{FF2B5EF4-FFF2-40B4-BE49-F238E27FC236}">
                <a16:creationId xmlns:a16="http://schemas.microsoft.com/office/drawing/2014/main" id="{7495BA80-A0E9-40A8-BD29-F9ACE28A6E4E}"/>
              </a:ext>
            </a:extLst>
          </p:cNvPr>
          <p:cNvSpPr>
            <a:spLocks xmlns:a="http://schemas.openxmlformats.org/drawingml/2006/main" noGrp="1"/>
          </p:cNvSpPr>
          <p:nvPr/>
        </p:nvSpPr>
        <p:spPr>
          <a:xfrm xmlns:a="http://schemas.openxmlformats.org/drawingml/2006/main">
            <a:off x="7810500" y="29146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Built on TI AWR2944 mmWave chipset</a:t>
            </a:r>
          </a:p>
        </p:txBody>
      </p:sp>
      <p:sp>
        <p:nvSpPr>
          <p:cNvPr id="40" name="">
            <a:extLst xmlns:a="http://schemas.openxmlformats.org/drawingml/2006/main">
              <a:ext uri="{FF2B5EF4-FFF2-40B4-BE49-F238E27FC236}">
                <a16:creationId xmlns:a16="http://schemas.microsoft.com/office/drawing/2014/main" id="{AC5904B3-6E01-46A7-B3CA-30B38B24A183}"/>
              </a:ext>
            </a:extLst>
          </p:cNvPr>
          <p:cNvSpPr>
            <a:spLocks xmlns:a="http://schemas.openxmlformats.org/drawingml/2006/main" noGrp="1"/>
          </p:cNvSpPr>
          <p:nvPr/>
        </p:nvSpPr>
        <p:spPr>
          <a:xfrm xmlns:a="http://schemas.openxmlformats.org/drawingml/2006/main">
            <a:off x="457200" y="32861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6DB60134-309F-451E-9E9D-9EC16FF95F46}"/>
              </a:ext>
            </a:extLst>
          </p:cNvPr>
          <p:cNvSpPr>
            <a:spLocks xmlns:a="http://schemas.openxmlformats.org/drawingml/2006/main" noGrp="1"/>
          </p:cNvSpPr>
          <p:nvPr/>
        </p:nvSpPr>
        <p:spPr>
          <a:xfrm xmlns:a="http://schemas.openxmlformats.org/drawingml/2006/main">
            <a:off x="571500" y="32385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PATENT CLAIM</a:t>
            </a:r>
          </a:p>
        </p:txBody>
      </p:sp>
      <p:sp>
        <p:nvSpPr>
          <p:cNvPr id="42" name="">
            <a:extLst xmlns:a="http://schemas.openxmlformats.org/drawingml/2006/main">
              <a:ext uri="{FF2B5EF4-FFF2-40B4-BE49-F238E27FC236}">
                <a16:creationId xmlns:a16="http://schemas.microsoft.com/office/drawing/2014/main" id="{54A7C5FB-DDBE-4866-AAD6-20A449688188}"/>
              </a:ext>
            </a:extLst>
          </p:cNvPr>
          <p:cNvSpPr>
            <a:spLocks xmlns:a="http://schemas.openxmlformats.org/drawingml/2006/main" noGrp="1"/>
          </p:cNvSpPr>
          <p:nvPr/>
        </p:nvSpPr>
        <p:spPr>
          <a:xfrm xmlns:a="http://schemas.openxmlformats.org/drawingml/2006/main">
            <a:off x="2057400" y="32385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10 patents (self-published, unverified)</a:t>
            </a:r>
          </a:p>
        </p:txBody>
      </p:sp>
      <p:sp>
        <p:nvSpPr>
          <p:cNvPr id="43" name="">
            <a:extLst xmlns:a="http://schemas.openxmlformats.org/drawingml/2006/main">
              <a:ext uri="{FF2B5EF4-FFF2-40B4-BE49-F238E27FC236}">
                <a16:creationId xmlns:a16="http://schemas.microsoft.com/office/drawing/2014/main" id="{404DF077-4976-40AC-B7E0-F14E8603E489}"/>
              </a:ext>
            </a:extLst>
          </p:cNvPr>
          <p:cNvSpPr>
            <a:spLocks xmlns:a="http://schemas.openxmlformats.org/drawingml/2006/main" noGrp="1"/>
          </p:cNvSpPr>
          <p:nvPr/>
        </p:nvSpPr>
        <p:spPr>
          <a:xfrm xmlns:a="http://schemas.openxmlformats.org/drawingml/2006/main">
            <a:off x="6210300" y="328612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8AC2FBC-BDD2-4407-9E7E-7189A9F718AB}"/>
              </a:ext>
            </a:extLst>
          </p:cNvPr>
          <p:cNvSpPr>
            <a:spLocks xmlns:a="http://schemas.openxmlformats.org/drawingml/2006/main" noGrp="1"/>
          </p:cNvSpPr>
          <p:nvPr/>
        </p:nvSpPr>
        <p:spPr>
          <a:xfrm xmlns:a="http://schemas.openxmlformats.org/drawingml/2006/main">
            <a:off x="6324600" y="323850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DATA CLAIM</a:t>
            </a:r>
          </a:p>
        </p:txBody>
      </p:sp>
      <p:sp>
        <p:nvSpPr>
          <p:cNvPr id="45" name="">
            <a:extLst xmlns:a="http://schemas.openxmlformats.org/drawingml/2006/main">
              <a:ext uri="{FF2B5EF4-FFF2-40B4-BE49-F238E27FC236}">
                <a16:creationId xmlns:a16="http://schemas.microsoft.com/office/drawing/2014/main" id="{E7C074EE-AFE5-44C6-A5FB-0318D1E1CA67}"/>
              </a:ext>
            </a:extLst>
          </p:cNvPr>
          <p:cNvSpPr>
            <a:spLocks xmlns:a="http://schemas.openxmlformats.org/drawingml/2006/main" noGrp="1"/>
          </p:cNvSpPr>
          <p:nvPr/>
        </p:nvSpPr>
        <p:spPr>
          <a:xfrm xmlns:a="http://schemas.openxmlformats.org/drawingml/2006/main">
            <a:off x="7810500" y="323850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10 TB India-specific road data</a:t>
            </a:r>
          </a:p>
        </p:txBody>
      </p:sp>
      <p:sp>
        <p:nvSpPr>
          <p:cNvPr id="46" name="">
            <a:extLst xmlns:a="http://schemas.openxmlformats.org/drawingml/2006/main">
              <a:ext uri="{FF2B5EF4-FFF2-40B4-BE49-F238E27FC236}">
                <a16:creationId xmlns:a16="http://schemas.microsoft.com/office/drawing/2014/main" id="{5C5CCD3B-F626-4C25-AB8A-036D738A1845}"/>
              </a:ext>
            </a:extLst>
          </p:cNvPr>
          <p:cNvSpPr>
            <a:spLocks xmlns:a="http://schemas.openxmlformats.org/drawingml/2006/main" noGrp="1"/>
          </p:cNvSpPr>
          <p:nvPr/>
        </p:nvSpPr>
        <p:spPr>
          <a:xfrm xmlns:a="http://schemas.openxmlformats.org/drawingml/2006/main">
            <a:off x="457200" y="36099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693FF5EE-7C4A-43DD-BA9D-515CC42A6390}"/>
              </a:ext>
            </a:extLst>
          </p:cNvPr>
          <p:cNvSpPr>
            <a:spLocks xmlns:a="http://schemas.openxmlformats.org/drawingml/2006/main" noGrp="1"/>
          </p:cNvSpPr>
          <p:nvPr/>
        </p:nvSpPr>
        <p:spPr>
          <a:xfrm xmlns:a="http://schemas.openxmlformats.org/drawingml/2006/main">
            <a:off x="571500" y="35623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PILOTS CLAIMED</a:t>
            </a:r>
          </a:p>
        </p:txBody>
      </p:sp>
      <p:sp>
        <p:nvSpPr>
          <p:cNvPr id="48" name="">
            <a:extLst xmlns:a="http://schemas.openxmlformats.org/drawingml/2006/main">
              <a:ext uri="{FF2B5EF4-FFF2-40B4-BE49-F238E27FC236}">
                <a16:creationId xmlns:a16="http://schemas.microsoft.com/office/drawing/2014/main" id="{1414B8F4-E21A-4DCF-99E8-E8A74B46A3D9}"/>
              </a:ext>
            </a:extLst>
          </p:cNvPr>
          <p:cNvSpPr>
            <a:spLocks xmlns:a="http://schemas.openxmlformats.org/drawingml/2006/main" noGrp="1"/>
          </p:cNvSpPr>
          <p:nvPr/>
        </p:nvSpPr>
        <p:spPr>
          <a:xfrm xmlns:a="http://schemas.openxmlformats.org/drawingml/2006/main">
            <a:off x="2057400" y="35623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Tata Motors (car ADAS) · Ather (two-wheeler)</a:t>
            </a:r>
          </a:p>
        </p:txBody>
      </p:sp>
      <p:sp>
        <p:nvSpPr>
          <p:cNvPr id="49" name="">
            <a:extLst xmlns:a="http://schemas.openxmlformats.org/drawingml/2006/main">
              <a:ext uri="{FF2B5EF4-FFF2-40B4-BE49-F238E27FC236}">
                <a16:creationId xmlns:a16="http://schemas.microsoft.com/office/drawing/2014/main" id="{C096E362-CF3F-4F6E-8ABB-7ACED71131C7}"/>
              </a:ext>
            </a:extLst>
          </p:cNvPr>
          <p:cNvSpPr>
            <a:spLocks xmlns:a="http://schemas.openxmlformats.org/drawingml/2006/main" noGrp="1"/>
          </p:cNvSpPr>
          <p:nvPr/>
        </p:nvSpPr>
        <p:spPr>
          <a:xfrm xmlns:a="http://schemas.openxmlformats.org/drawingml/2006/main">
            <a:off x="6210300" y="3609975"/>
            <a:ext cx="28575" cy="2095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6991B7A2-D080-467B-8C27-74E2E5CFE50B}"/>
              </a:ext>
            </a:extLst>
          </p:cNvPr>
          <p:cNvSpPr>
            <a:spLocks xmlns:a="http://schemas.openxmlformats.org/drawingml/2006/main" noGrp="1"/>
          </p:cNvSpPr>
          <p:nvPr/>
        </p:nvSpPr>
        <p:spPr>
          <a:xfrm xmlns:a="http://schemas.openxmlformats.org/drawingml/2006/main">
            <a:off x="6324600" y="3562350"/>
            <a:ext cx="14287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THIRD-PARTY RECORD</a:t>
            </a:r>
          </a:p>
        </p:txBody>
      </p:sp>
      <p:sp>
        <p:nvSpPr>
          <p:cNvPr id="51" name="">
            <a:extLst xmlns:a="http://schemas.openxmlformats.org/drawingml/2006/main">
              <a:ext uri="{FF2B5EF4-FFF2-40B4-BE49-F238E27FC236}">
                <a16:creationId xmlns:a16="http://schemas.microsoft.com/office/drawing/2014/main" id="{F7E33E6A-148F-43DB-8675-298EB568D614}"/>
              </a:ext>
            </a:extLst>
          </p:cNvPr>
          <p:cNvSpPr>
            <a:spLocks xmlns:a="http://schemas.openxmlformats.org/drawingml/2006/main" noGrp="1"/>
          </p:cNvSpPr>
          <p:nvPr/>
        </p:nvSpPr>
        <p:spPr>
          <a:xfrm xmlns:a="http://schemas.openxmlformats.org/drawingml/2006/main">
            <a:off x="7810500" y="3562350"/>
            <a:ext cx="3829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One Springer chapter — a simulation platform</a:t>
            </a:r>
          </a:p>
        </p:txBody>
      </p:sp>
      <p:sp>
        <p:nvSpPr>
          <p:cNvPr id="52" name="">
            <a:extLst xmlns:a="http://schemas.openxmlformats.org/drawingml/2006/main">
              <a:ext uri="{FF2B5EF4-FFF2-40B4-BE49-F238E27FC236}">
                <a16:creationId xmlns:a16="http://schemas.microsoft.com/office/drawing/2014/main" id="{6673DACF-8787-4E7E-863E-C9D5FA239438}"/>
              </a:ext>
            </a:extLst>
          </p:cNvPr>
          <p:cNvSpPr>
            <a:spLocks xmlns:a="http://schemas.openxmlformats.org/drawingml/2006/main" noGrp="1"/>
          </p:cNvSpPr>
          <p:nvPr/>
        </p:nvSpPr>
        <p:spPr>
          <a:xfrm xmlns:a="http://schemas.openxmlformats.org/drawingml/2006/main">
            <a:off x="457200" y="39814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FC5FD39F-B2EA-4276-89CA-A3A39C28886D}"/>
              </a:ext>
            </a:extLst>
          </p:cNvPr>
          <p:cNvSpPr>
            <a:spLocks xmlns:a="http://schemas.openxmlformats.org/drawingml/2006/main" noGrp="1"/>
          </p:cNvSpPr>
          <p:nvPr/>
        </p:nvSpPr>
        <p:spPr>
          <a:xfrm xmlns:a="http://schemas.openxmlformats.org/drawingml/2006/main">
            <a:off x="457200" y="4095750"/>
            <a:ext cx="285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OPEN ON THIS COMPANY</a:t>
            </a:r>
          </a:p>
        </p:txBody>
      </p:sp>
      <p:sp>
        <p:nvSpPr>
          <p:cNvPr id="54" name="">
            <a:extLst xmlns:a="http://schemas.openxmlformats.org/drawingml/2006/main">
              <a:ext uri="{FF2B5EF4-FFF2-40B4-BE49-F238E27FC236}">
                <a16:creationId xmlns:a16="http://schemas.microsoft.com/office/drawing/2014/main" id="{50998229-CFCB-447E-AA5D-1343FBC3B4B1}"/>
              </a:ext>
            </a:extLst>
          </p:cNvPr>
          <p:cNvSpPr>
            <a:spLocks xmlns:a="http://schemas.openxmlformats.org/drawingml/2006/main" noGrp="1"/>
          </p:cNvSpPr>
          <p:nvPr/>
        </p:nvSpPr>
        <p:spPr>
          <a:xfrm xmlns:a="http://schemas.openxmlformats.org/drawingml/2006/main">
            <a:off x="457200" y="428625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1BD9585D-2B0C-42EE-B001-4ED22582F447}"/>
              </a:ext>
            </a:extLst>
          </p:cNvPr>
          <p:cNvSpPr>
            <a:spLocks xmlns:a="http://schemas.openxmlformats.org/drawingml/2006/main" noGrp="1"/>
          </p:cNvSpPr>
          <p:nvPr/>
        </p:nvSpPr>
        <p:spPr>
          <a:xfrm xmlns:a="http://schemas.openxmlformats.org/drawingml/2006/main">
            <a:off x="457200" y="437197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Obtain the TRL-8 certificate and its issuing body</a:t>
            </a:r>
          </a:p>
        </p:txBody>
      </p:sp>
      <p:sp>
        <p:nvSpPr>
          <p:cNvPr id="56" name="">
            <a:extLst xmlns:a="http://schemas.openxmlformats.org/drawingml/2006/main">
              <a:ext uri="{FF2B5EF4-FFF2-40B4-BE49-F238E27FC236}">
                <a16:creationId xmlns:a16="http://schemas.microsoft.com/office/drawing/2014/main" id="{7AB6DB9A-4DEB-442C-8107-D36E8443BF1D}"/>
              </a:ext>
            </a:extLst>
          </p:cNvPr>
          <p:cNvSpPr>
            <a:spLocks xmlns:a="http://schemas.openxmlformats.org/drawingml/2006/main" noGrp="1"/>
          </p:cNvSpPr>
          <p:nvPr/>
        </p:nvSpPr>
        <p:spPr>
          <a:xfrm xmlns:a="http://schemas.openxmlformats.org/drawingml/2006/main">
            <a:off x="4254500" y="428625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F4B2ABE7-F1A1-411E-BC2B-82838046E616}"/>
              </a:ext>
            </a:extLst>
          </p:cNvPr>
          <p:cNvSpPr>
            <a:spLocks xmlns:a="http://schemas.openxmlformats.org/drawingml/2006/main" noGrp="1"/>
          </p:cNvSpPr>
          <p:nvPr/>
        </p:nvSpPr>
        <p:spPr>
          <a:xfrm xmlns:a="http://schemas.openxmlformats.org/drawingml/2006/main">
            <a:off x="4254500" y="437197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Ask TI directly to confirm the exclusive-partner claim</a:t>
            </a:r>
          </a:p>
        </p:txBody>
      </p:sp>
      <p:sp>
        <p:nvSpPr>
          <p:cNvPr id="58" name="">
            <a:extLst xmlns:a="http://schemas.openxmlformats.org/drawingml/2006/main">
              <a:ext uri="{FF2B5EF4-FFF2-40B4-BE49-F238E27FC236}">
                <a16:creationId xmlns:a16="http://schemas.microsoft.com/office/drawing/2014/main" id="{411368F4-A212-47D8-8B2A-F22178524CA1}"/>
              </a:ext>
            </a:extLst>
          </p:cNvPr>
          <p:cNvSpPr>
            <a:spLocks xmlns:a="http://schemas.openxmlformats.org/drawingml/2006/main" noGrp="1"/>
          </p:cNvSpPr>
          <p:nvPr/>
        </p:nvSpPr>
        <p:spPr>
          <a:xfrm xmlns:a="http://schemas.openxmlformats.org/drawingml/2006/main">
            <a:off x="8051800" y="4286250"/>
            <a:ext cx="36258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A64704E3-AD03-4A81-89EE-3A1F1E24C057}"/>
              </a:ext>
            </a:extLst>
          </p:cNvPr>
          <p:cNvSpPr>
            <a:spLocks xmlns:a="http://schemas.openxmlformats.org/drawingml/2006/main" noGrp="1"/>
          </p:cNvSpPr>
          <p:nvPr/>
        </p:nvSpPr>
        <p:spPr>
          <a:xfrm xmlns:a="http://schemas.openxmlformats.org/drawingml/2006/main">
            <a:off x="8051800" y="4371975"/>
            <a:ext cx="35687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AEC-Q100 scope: which packaged IC, whose qualification</a:t>
            </a:r>
          </a:p>
        </p:txBody>
      </p:sp>
      <p:sp>
        <p:nvSpPr>
          <p:cNvPr id="60" name="">
            <a:extLst xmlns:a="http://schemas.openxmlformats.org/drawingml/2006/main">
              <a:ext uri="{FF2B5EF4-FFF2-40B4-BE49-F238E27FC236}">
                <a16:creationId xmlns:a16="http://schemas.microsoft.com/office/drawing/2014/main" id="{F267222B-2E5A-4C77-B5EB-CF3C9971922B}"/>
              </a:ext>
            </a:extLst>
          </p:cNvPr>
          <p:cNvSpPr>
            <a:spLocks xmlns:a="http://schemas.openxmlformats.org/drawingml/2006/main" noGrp="1"/>
          </p:cNvSpPr>
          <p:nvPr/>
        </p:nvSpPr>
        <p:spPr>
          <a:xfrm xmlns:a="http://schemas.openxmlformats.org/drawingml/2006/main">
            <a:off x="457200" y="4819650"/>
            <a:ext cx="11277600"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92A23F88-BE0D-4070-AC1E-D27163D6CBC7}"/>
              </a:ext>
            </a:extLst>
          </p:cNvPr>
          <p:cNvSpPr>
            <a:spLocks xmlns:a="http://schemas.openxmlformats.org/drawingml/2006/main" noGrp="1"/>
          </p:cNvSpPr>
          <p:nvPr/>
        </p:nvSpPr>
        <p:spPr>
          <a:xfrm xmlns:a="http://schemas.openxmlformats.org/drawingml/2006/main">
            <a:off x="457200" y="49339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EVIDENCE POSTURE · UNVERIFIED</a:t>
            </a:r>
          </a:p>
        </p:txBody>
      </p:sp>
      <p:sp>
        <p:nvSpPr>
          <p:cNvPr id="62" name="">
            <a:extLst xmlns:a="http://schemas.openxmlformats.org/drawingml/2006/main">
              <a:ext uri="{FF2B5EF4-FFF2-40B4-BE49-F238E27FC236}">
                <a16:creationId xmlns:a16="http://schemas.microsoft.com/office/drawing/2014/main" id="{C0A77E59-5CCB-4C39-9877-1182E23D880D}"/>
              </a:ext>
            </a:extLst>
          </p:cNvPr>
          <p:cNvSpPr>
            <a:spLocks xmlns:a="http://schemas.openxmlformats.org/drawingml/2006/main" noGrp="1"/>
          </p:cNvSpPr>
          <p:nvPr/>
        </p:nvSpPr>
        <p:spPr>
          <a:xfrm xmlns:a="http://schemas.openxmlformats.org/drawingml/2006/main">
            <a:off x="9258300" y="4933950"/>
            <a:ext cx="2476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EV-GHN-01 … EV-GHN-07</a:t>
            </a:r>
          </a:p>
        </p:txBody>
      </p:sp>
      <p:sp>
        <p:nvSpPr>
          <p:cNvPr id="63" name="">
            <a:extLst xmlns:a="http://schemas.openxmlformats.org/drawingml/2006/main">
              <a:ext uri="{FF2B5EF4-FFF2-40B4-BE49-F238E27FC236}">
                <a16:creationId xmlns:a16="http://schemas.microsoft.com/office/drawing/2014/main" id="{B09AA1C1-E5B0-46FB-962A-AF1A49F54BFA}"/>
              </a:ext>
            </a:extLst>
          </p:cNvPr>
          <p:cNvSpPr>
            <a:spLocks xmlns:a="http://schemas.openxmlformats.org/drawingml/2006/main" noGrp="1"/>
          </p:cNvSpPr>
          <p:nvPr/>
        </p:nvSpPr>
        <p:spPr>
          <a:xfrm xmlns:a="http://schemas.openxmlformats.org/drawingml/2006/main">
            <a:off x="457200" y="5124450"/>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Fifteen people asserting TRL-8, AEC-Q100, TI exclusivity and two OEM pilots — every claim self-published. Also attributes the 2027 mandate to Bharat NCAP, which is wrong. Diligence watchlist, not a ranked threat.</a:t>
            </a:r>
          </a:p>
        </p:txBody>
      </p:sp>
      <p:sp>
        <p:nvSpPr>
          <p:cNvPr id="64" name="">
            <a:extLst xmlns:a="http://schemas.openxmlformats.org/drawingml/2006/main">
              <a:ext uri="{FF2B5EF4-FFF2-40B4-BE49-F238E27FC236}">
                <a16:creationId xmlns:a16="http://schemas.microsoft.com/office/drawing/2014/main" id="{0622AA33-A869-4DF5-9B35-5EC301FCE20D}"/>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8967349A-2407-4817-8DAD-7197E19F7969}"/>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6" name="">
            <a:extLst xmlns:a="http://schemas.openxmlformats.org/drawingml/2006/main">
              <a:ext uri="{FF2B5EF4-FFF2-40B4-BE49-F238E27FC236}">
                <a16:creationId xmlns:a16="http://schemas.microsoft.com/office/drawing/2014/main" id="{6654EC68-C48C-4FA9-A54F-329B1764B9F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77</a:t>
            </a:r>
          </a:p>
        </p:txBody>
      </p:sp>
    </p:spTree>
    <p:extLst>
      <p:ext uri="{BB962C8B-B14F-4D97-AF65-F5344CB8AC3E}">
        <p14:creationId xmlns:p14="http://schemas.microsoft.com/office/powerpoint/2010/main" val="1828501809"/>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8806311-811C-4E62-AE42-225722C6F0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9305876-96E4-44DD-822D-50960686673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1592B86-49F9-4DD6-BB32-6CD4E333EEA3}"/>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AI USE CASES · GAHAN AI</a:t>
            </a:r>
          </a:p>
        </p:txBody>
      </p:sp>
      <p:sp>
        <p:nvSpPr>
          <p:cNvPr id="4" name="">
            <a:extLst xmlns:a="http://schemas.openxmlformats.org/drawingml/2006/main">
              <a:ext uri="{FF2B5EF4-FFF2-40B4-BE49-F238E27FC236}">
                <a16:creationId xmlns:a16="http://schemas.microsoft.com/office/drawing/2014/main" id="{C69A4E36-4FC4-492B-9F69-2D8368CFFE37}"/>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What Gahan AI's AI actually does</a:t>
            </a:r>
          </a:p>
        </p:txBody>
      </p:sp>
      <p:sp>
        <p:nvSpPr>
          <p:cNvPr id="5" name="">
            <a:extLst xmlns:a="http://schemas.openxmlformats.org/drawingml/2006/main">
              <a:ext uri="{FF2B5EF4-FFF2-40B4-BE49-F238E27FC236}">
                <a16:creationId xmlns:a16="http://schemas.microsoft.com/office/drawing/2014/main" id="{BD703742-562A-433F-9837-DB3C03111A40}"/>
              </a:ext>
            </a:extLst>
          </p:cNvPr>
          <p:cNvSpPr>
            <a:spLocks xmlns:a="http://schemas.openxmlformats.org/drawingml/2006/main" noGrp="1"/>
          </p:cNvSpPr>
          <p:nvPr/>
        </p:nvSpPr>
        <p:spPr>
          <a:xfrm xmlns:a="http://schemas.openxmlformats.org/drawingml/2006/main">
            <a:off x="457200" y="762000"/>
            <a:ext cx="112776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Threat ratings describe how worried to be. This describes what the system is — which is what decides whether DeepGrid displaces, attaches to, or ignores it.</a:t>
            </a:r>
          </a:p>
        </p:txBody>
      </p:sp>
      <p:sp>
        <p:nvSpPr>
          <p:cNvPr id="6" name="">
            <a:extLst xmlns:a="http://schemas.openxmlformats.org/drawingml/2006/main">
              <a:ext uri="{FF2B5EF4-FFF2-40B4-BE49-F238E27FC236}">
                <a16:creationId xmlns:a16="http://schemas.microsoft.com/office/drawing/2014/main" id="{924B2994-374F-4DCA-8944-1083BF83EE25}"/>
              </a:ext>
            </a:extLst>
          </p:cNvPr>
          <p:cNvSpPr>
            <a:spLocks xmlns:a="http://schemas.openxmlformats.org/drawingml/2006/main" noGrp="1"/>
          </p:cNvSpPr>
          <p:nvPr/>
        </p:nvSpPr>
        <p:spPr>
          <a:xfrm xmlns:a="http://schemas.openxmlformats.org/drawingml/2006/main">
            <a:off x="457200" y="9715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83C0102-7606-41C0-A72B-0BCEF780C862}"/>
              </a:ext>
            </a:extLst>
          </p:cNvPr>
          <p:cNvSpPr>
            <a:spLocks xmlns:a="http://schemas.openxmlformats.org/drawingml/2006/main" noGrp="1"/>
          </p:cNvSpPr>
          <p:nvPr/>
        </p:nvSpPr>
        <p:spPr>
          <a:xfrm xmlns:a="http://schemas.openxmlformats.org/drawingml/2006/main">
            <a:off x="457200" y="11239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1409F23-C31A-4F90-8301-62B6832E8048}"/>
              </a:ext>
            </a:extLst>
          </p:cNvPr>
          <p:cNvSpPr>
            <a:spLocks xmlns:a="http://schemas.openxmlformats.org/drawingml/2006/main" noGrp="1"/>
          </p:cNvSpPr>
          <p:nvPr/>
        </p:nvSpPr>
        <p:spPr>
          <a:xfrm xmlns:a="http://schemas.openxmlformats.org/drawingml/2006/main">
            <a:off x="609600" y="11620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PATTERN</a:t>
            </a:r>
          </a:p>
        </p:txBody>
      </p:sp>
      <p:sp>
        <p:nvSpPr>
          <p:cNvPr id="9" name="">
            <a:extLst xmlns:a="http://schemas.openxmlformats.org/drawingml/2006/main">
              <a:ext uri="{FF2B5EF4-FFF2-40B4-BE49-F238E27FC236}">
                <a16:creationId xmlns:a16="http://schemas.microsoft.com/office/drawing/2014/main" id="{0B6500B4-59F4-4395-B5F7-86FF1A02FD56}"/>
              </a:ext>
            </a:extLst>
          </p:cNvPr>
          <p:cNvSpPr>
            <a:spLocks xmlns:a="http://schemas.openxmlformats.org/drawingml/2006/main" noGrp="1"/>
          </p:cNvSpPr>
          <p:nvPr/>
        </p:nvSpPr>
        <p:spPr>
          <a:xfrm xmlns:a="http://schemas.openxmlformats.org/drawingml/2006/main">
            <a:off x="2743200" y="11620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P-RAD (claimed) — built on TI AWR2944 silicon</a:t>
            </a:r>
          </a:p>
        </p:txBody>
      </p:sp>
      <p:sp>
        <p:nvSpPr>
          <p:cNvPr id="10" name="">
            <a:extLst xmlns:a="http://schemas.openxmlformats.org/drawingml/2006/main">
              <a:ext uri="{FF2B5EF4-FFF2-40B4-BE49-F238E27FC236}">
                <a16:creationId xmlns:a16="http://schemas.microsoft.com/office/drawing/2014/main" id="{0AA9F896-973F-4CC4-A66E-A667792BA2BD}"/>
              </a:ext>
            </a:extLst>
          </p:cNvPr>
          <p:cNvSpPr>
            <a:spLocks xmlns:a="http://schemas.openxmlformats.org/drawingml/2006/main" noGrp="1"/>
          </p:cNvSpPr>
          <p:nvPr/>
        </p:nvSpPr>
        <p:spPr>
          <a:xfrm xmlns:a="http://schemas.openxmlformats.org/drawingml/2006/main">
            <a:off x="457200" y="15430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4DAA85C-948A-4675-AFDD-55D62DF95008}"/>
              </a:ext>
            </a:extLst>
          </p:cNvPr>
          <p:cNvSpPr>
            <a:spLocks xmlns:a="http://schemas.openxmlformats.org/drawingml/2006/main" noGrp="1"/>
          </p:cNvSpPr>
          <p:nvPr/>
        </p:nvSpPr>
        <p:spPr>
          <a:xfrm xmlns:a="http://schemas.openxmlformats.org/drawingml/2006/main">
            <a:off x="609600" y="15811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CLAIMED</a:t>
            </a:r>
          </a:p>
        </p:txBody>
      </p:sp>
      <p:sp>
        <p:nvSpPr>
          <p:cNvPr id="12" name="">
            <a:extLst xmlns:a="http://schemas.openxmlformats.org/drawingml/2006/main">
              <a:ext uri="{FF2B5EF4-FFF2-40B4-BE49-F238E27FC236}">
                <a16:creationId xmlns:a16="http://schemas.microsoft.com/office/drawing/2014/main" id="{E1E03AA3-CFA3-41F8-86A0-92C3FC18B7BC}"/>
              </a:ext>
            </a:extLst>
          </p:cNvPr>
          <p:cNvSpPr>
            <a:spLocks xmlns:a="http://schemas.openxmlformats.org/drawingml/2006/main" noGrp="1"/>
          </p:cNvSpPr>
          <p:nvPr/>
        </p:nvSpPr>
        <p:spPr>
          <a:xfrm xmlns:a="http://schemas.openxmlformats.org/drawingml/2006/main">
            <a:off x="2743200" y="15811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TRL-8 · AEC-Q100 · 10 patents · 10TB India data · TI exclusive partner</a:t>
            </a:r>
          </a:p>
        </p:txBody>
      </p:sp>
      <p:sp>
        <p:nvSpPr>
          <p:cNvPr id="13" name="">
            <a:extLst xmlns:a="http://schemas.openxmlformats.org/drawingml/2006/main">
              <a:ext uri="{FF2B5EF4-FFF2-40B4-BE49-F238E27FC236}">
                <a16:creationId xmlns:a16="http://schemas.microsoft.com/office/drawing/2014/main" id="{FF93D5C7-B9A7-44B1-80C1-2372C4A69F80}"/>
              </a:ext>
            </a:extLst>
          </p:cNvPr>
          <p:cNvSpPr>
            <a:spLocks xmlns:a="http://schemas.openxmlformats.org/drawingml/2006/main" noGrp="1"/>
          </p:cNvSpPr>
          <p:nvPr/>
        </p:nvSpPr>
        <p:spPr>
          <a:xfrm xmlns:a="http://schemas.openxmlformats.org/drawingml/2006/main">
            <a:off x="457200" y="19621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7B95321-D663-4139-86E1-E3BB6A5405D2}"/>
              </a:ext>
            </a:extLst>
          </p:cNvPr>
          <p:cNvSpPr>
            <a:spLocks xmlns:a="http://schemas.openxmlformats.org/drawingml/2006/main" noGrp="1"/>
          </p:cNvSpPr>
          <p:nvPr/>
        </p:nvSpPr>
        <p:spPr>
          <a:xfrm xmlns:a="http://schemas.openxmlformats.org/drawingml/2006/main">
            <a:off x="609600" y="20002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CATEGORY ERROR</a:t>
            </a:r>
          </a:p>
        </p:txBody>
      </p:sp>
      <p:sp>
        <p:nvSpPr>
          <p:cNvPr id="15" name="">
            <a:extLst xmlns:a="http://schemas.openxmlformats.org/drawingml/2006/main">
              <a:ext uri="{FF2B5EF4-FFF2-40B4-BE49-F238E27FC236}">
                <a16:creationId xmlns:a16="http://schemas.microsoft.com/office/drawing/2014/main" id="{365724C6-096D-48C4-92C5-E27943482AB5}"/>
              </a:ext>
            </a:extLst>
          </p:cNvPr>
          <p:cNvSpPr>
            <a:spLocks xmlns:a="http://schemas.openxmlformats.org/drawingml/2006/main" noGrp="1"/>
          </p:cNvSpPr>
          <p:nvPr/>
        </p:nvSpPr>
        <p:spPr>
          <a:xfrm xmlns:a="http://schemas.openxmlformats.org/drawingml/2006/main">
            <a:off x="2743200" y="20002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AEC-Q100 qualifies a packaged IC, not a platform</a:t>
            </a:r>
          </a:p>
        </p:txBody>
      </p:sp>
      <p:sp>
        <p:nvSpPr>
          <p:cNvPr id="16" name="">
            <a:extLst xmlns:a="http://schemas.openxmlformats.org/drawingml/2006/main">
              <a:ext uri="{FF2B5EF4-FFF2-40B4-BE49-F238E27FC236}">
                <a16:creationId xmlns:a16="http://schemas.microsoft.com/office/drawing/2014/main" id="{E26A363A-5C21-4DAA-90A2-3429084CB1DC}"/>
              </a:ext>
            </a:extLst>
          </p:cNvPr>
          <p:cNvSpPr>
            <a:spLocks xmlns:a="http://schemas.openxmlformats.org/drawingml/2006/main" noGrp="1"/>
          </p:cNvSpPr>
          <p:nvPr/>
        </p:nvSpPr>
        <p:spPr>
          <a:xfrm xmlns:a="http://schemas.openxmlformats.org/drawingml/2006/main">
            <a:off x="457200" y="2381250"/>
            <a:ext cx="28575"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E2BAE23-1A10-44E5-96C4-08997A22342A}"/>
              </a:ext>
            </a:extLst>
          </p:cNvPr>
          <p:cNvSpPr>
            <a:spLocks xmlns:a="http://schemas.openxmlformats.org/drawingml/2006/main" noGrp="1"/>
          </p:cNvSpPr>
          <p:nvPr/>
        </p:nvSpPr>
        <p:spPr>
          <a:xfrm xmlns:a="http://schemas.openxmlformats.org/drawingml/2006/main">
            <a:off x="609600" y="24193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NOT CORROBORATED</a:t>
            </a:r>
          </a:p>
        </p:txBody>
      </p:sp>
      <p:sp>
        <p:nvSpPr>
          <p:cNvPr id="18" name="">
            <a:extLst xmlns:a="http://schemas.openxmlformats.org/drawingml/2006/main">
              <a:ext uri="{FF2B5EF4-FFF2-40B4-BE49-F238E27FC236}">
                <a16:creationId xmlns:a16="http://schemas.microsoft.com/office/drawing/2014/main" id="{BCC95B87-F05A-435A-939D-48716AD24F61}"/>
              </a:ext>
            </a:extLst>
          </p:cNvPr>
          <p:cNvSpPr>
            <a:spLocks xmlns:a="http://schemas.openxmlformats.org/drawingml/2006/main" noGrp="1"/>
          </p:cNvSpPr>
          <p:nvPr/>
        </p:nvSpPr>
        <p:spPr>
          <a:xfrm xmlns:a="http://schemas.openxmlformats.org/drawingml/2006/main">
            <a:off x="2743200" y="24193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TI's CES 2026 radar release names no Indian partner</a:t>
            </a:r>
          </a:p>
        </p:txBody>
      </p:sp>
      <p:sp>
        <p:nvSpPr>
          <p:cNvPr id="19" name="">
            <a:extLst xmlns:a="http://schemas.openxmlformats.org/drawingml/2006/main">
              <a:ext uri="{FF2B5EF4-FFF2-40B4-BE49-F238E27FC236}">
                <a16:creationId xmlns:a16="http://schemas.microsoft.com/office/drawing/2014/main" id="{1E1049EC-0B95-43AC-8F5F-78DB79395225}"/>
              </a:ext>
            </a:extLst>
          </p:cNvPr>
          <p:cNvSpPr>
            <a:spLocks xmlns:a="http://schemas.openxmlformats.org/drawingml/2006/main" noGrp="1"/>
          </p:cNvSpPr>
          <p:nvPr/>
        </p:nvSpPr>
        <p:spPr>
          <a:xfrm xmlns:a="http://schemas.openxmlformats.org/drawingml/2006/main">
            <a:off x="457200" y="2800350"/>
            <a:ext cx="28575"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31E4D45-7C66-49C7-87A4-6588C18A6513}"/>
              </a:ext>
            </a:extLst>
          </p:cNvPr>
          <p:cNvSpPr>
            <a:spLocks xmlns:a="http://schemas.openxmlformats.org/drawingml/2006/main" noGrp="1"/>
          </p:cNvSpPr>
          <p:nvPr/>
        </p:nvSpPr>
        <p:spPr>
          <a:xfrm xmlns:a="http://schemas.openxmlformats.org/drawingml/2006/main">
            <a:off x="609600" y="2838450"/>
            <a:ext cx="20383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04B3C7"/>
                </a:solidFill>
                <a:latin typeface="Arial"/>
                <a:ea typeface="Arial"/>
                <a:cs typeface="Arial"/>
              </a:defRPr>
            </a:pPr>
            <a:r>
              <a:t>PUBLISHED</a:t>
            </a:r>
          </a:p>
        </p:txBody>
      </p:sp>
      <p:sp>
        <p:nvSpPr>
          <p:cNvPr id="21" name="">
            <a:extLst xmlns:a="http://schemas.openxmlformats.org/drawingml/2006/main">
              <a:ext uri="{FF2B5EF4-FFF2-40B4-BE49-F238E27FC236}">
                <a16:creationId xmlns:a16="http://schemas.microsoft.com/office/drawing/2014/main" id="{FA3A0CEC-7389-4288-8E83-A9577FECD8FE}"/>
              </a:ext>
            </a:extLst>
          </p:cNvPr>
          <p:cNvSpPr>
            <a:spLocks xmlns:a="http://schemas.openxmlformats.org/drawingml/2006/main" noGrp="1"/>
          </p:cNvSpPr>
          <p:nvPr/>
        </p:nvSpPr>
        <p:spPr>
          <a:xfrm xmlns:a="http://schemas.openxmlformats.org/drawingml/2006/main">
            <a:off x="2743200" y="2838450"/>
            <a:ext cx="89916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DrwigBot — a ROS/Gazebo/CARLA SIMULATION research platform</a:t>
            </a:r>
          </a:p>
        </p:txBody>
      </p:sp>
      <p:sp>
        <p:nvSpPr>
          <p:cNvPr id="22" name="">
            <a:extLst xmlns:a="http://schemas.openxmlformats.org/drawingml/2006/main">
              <a:ext uri="{FF2B5EF4-FFF2-40B4-BE49-F238E27FC236}">
                <a16:creationId xmlns:a16="http://schemas.microsoft.com/office/drawing/2014/main" id="{8600FA69-1B8D-473A-A51D-B381C05D8718}"/>
              </a:ext>
            </a:extLst>
          </p:cNvPr>
          <p:cNvSpPr>
            <a:spLocks xmlns:a="http://schemas.openxmlformats.org/drawingml/2006/main" noGrp="1"/>
          </p:cNvSpPr>
          <p:nvPr/>
        </p:nvSpPr>
        <p:spPr>
          <a:xfrm xmlns:a="http://schemas.openxmlformats.org/drawingml/2006/main">
            <a:off x="457200" y="32575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20B087C-5BD1-4E25-8036-BC4E03358933}"/>
              </a:ext>
            </a:extLst>
          </p:cNvPr>
          <p:cNvSpPr>
            <a:spLocks xmlns:a="http://schemas.openxmlformats.org/drawingml/2006/main" noGrp="1"/>
          </p:cNvSpPr>
          <p:nvPr/>
        </p:nvSpPr>
        <p:spPr>
          <a:xfrm xmlns:a="http://schemas.openxmlformats.org/drawingml/2006/main">
            <a:off x="457200" y="33718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IMPLICATION FOR DEEPGRID</a:t>
            </a:r>
          </a:p>
        </p:txBody>
      </p:sp>
      <p:sp>
        <p:nvSpPr>
          <p:cNvPr id="24" name="">
            <a:extLst xmlns:a="http://schemas.openxmlformats.org/drawingml/2006/main">
              <a:ext uri="{FF2B5EF4-FFF2-40B4-BE49-F238E27FC236}">
                <a16:creationId xmlns:a16="http://schemas.microsoft.com/office/drawing/2014/main" id="{63895D39-D1E1-4A87-8CDE-B4A4B5B32BC3}"/>
              </a:ext>
            </a:extLst>
          </p:cNvPr>
          <p:cNvSpPr>
            <a:spLocks xmlns:a="http://schemas.openxmlformats.org/drawingml/2006/main" noGrp="1"/>
          </p:cNvSpPr>
          <p:nvPr/>
        </p:nvSpPr>
        <p:spPr>
          <a:xfrm xmlns:a="http://schemas.openxmlformats.org/drawingml/2006/main">
            <a:off x="457200" y="3562350"/>
            <a:ext cx="112776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Fifteen people asserting TRL-8, AEC-Q100, TI exclusivity and two OEM pilots — every claim self-published. Also attributes the 2027 mandate to Bharat NCAP, which is wrong. Diligence watchlist, not a ranked threat.</a:t>
            </a:r>
          </a:p>
        </p:txBody>
      </p:sp>
      <p:sp>
        <p:nvSpPr>
          <p:cNvPr id="25" name="">
            <a:extLst xmlns:a="http://schemas.openxmlformats.org/drawingml/2006/main">
              <a:ext uri="{FF2B5EF4-FFF2-40B4-BE49-F238E27FC236}">
                <a16:creationId xmlns:a16="http://schemas.microsoft.com/office/drawing/2014/main" id="{F375527E-EF0F-4141-8F0F-154D81009703}"/>
              </a:ext>
            </a:extLst>
          </p:cNvPr>
          <p:cNvSpPr>
            <a:spLocks xmlns:a="http://schemas.openxmlformats.org/drawingml/2006/main" noGrp="1"/>
          </p:cNvSpPr>
          <p:nvPr/>
        </p:nvSpPr>
        <p:spPr>
          <a:xfrm xmlns:a="http://schemas.openxmlformats.org/drawingml/2006/main">
            <a:off x="457200" y="4248150"/>
            <a:ext cx="11277600" cy="7048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6" name="">
            <a:extLst xmlns:a="http://schemas.openxmlformats.org/drawingml/2006/main">
              <a:ext uri="{FF2B5EF4-FFF2-40B4-BE49-F238E27FC236}">
                <a16:creationId xmlns:a16="http://schemas.microsoft.com/office/drawing/2014/main" id="{4C395A0C-0A52-4ED0-83EA-6DC905B9F56E}"/>
              </a:ext>
            </a:extLst>
          </p:cNvPr>
          <p:cNvSpPr>
            <a:spLocks xmlns:a="http://schemas.openxmlformats.org/drawingml/2006/main" noGrp="1"/>
          </p:cNvSpPr>
          <p:nvPr/>
        </p:nvSpPr>
        <p:spPr>
          <a:xfrm xmlns:a="http://schemas.openxmlformats.org/drawingml/2006/main">
            <a:off x="457200" y="4248150"/>
            <a:ext cx="38100" cy="704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505A175-B9E4-4E7A-BD63-46C698659D17}"/>
              </a:ext>
            </a:extLst>
          </p:cNvPr>
          <p:cNvSpPr>
            <a:spLocks xmlns:a="http://schemas.openxmlformats.org/drawingml/2006/main" noGrp="1"/>
          </p:cNvSpPr>
          <p:nvPr/>
        </p:nvSpPr>
        <p:spPr>
          <a:xfrm xmlns:a="http://schemas.openxmlformats.org/drawingml/2006/main">
            <a:off x="628650" y="4362450"/>
            <a:ext cx="84201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P-ADJ · ADJACENT — NOT COMPETING TODAY</a:t>
            </a:r>
          </a:p>
        </p:txBody>
      </p:sp>
      <p:sp>
        <p:nvSpPr>
          <p:cNvPr id="28" name="">
            <a:extLst xmlns:a="http://schemas.openxmlformats.org/drawingml/2006/main">
              <a:ext uri="{FF2B5EF4-FFF2-40B4-BE49-F238E27FC236}">
                <a16:creationId xmlns:a16="http://schemas.microsoft.com/office/drawing/2014/main" id="{B71B0B3A-B4E0-4C99-BBF5-4265A509BA71}"/>
              </a:ext>
            </a:extLst>
          </p:cNvPr>
          <p:cNvSpPr>
            <a:spLocks xmlns:a="http://schemas.openxmlformats.org/drawingml/2006/main" noGrp="1"/>
          </p:cNvSpPr>
          <p:nvPr/>
        </p:nvSpPr>
        <p:spPr>
          <a:xfrm xmlns:a="http://schemas.openxmlformats.org/drawingml/2006/main">
            <a:off x="628650" y="4552950"/>
            <a:ext cx="84201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Watch the date. Adjacency here has an expiry, and the re-test must be calendared rather than assumed.</a:t>
            </a:r>
          </a:p>
        </p:txBody>
      </p:sp>
      <p:sp>
        <p:nvSpPr>
          <p:cNvPr id="29" name="">
            <a:extLst xmlns:a="http://schemas.openxmlformats.org/drawingml/2006/main">
              <a:ext uri="{FF2B5EF4-FFF2-40B4-BE49-F238E27FC236}">
                <a16:creationId xmlns:a16="http://schemas.microsoft.com/office/drawing/2014/main" id="{4FBFBFD3-30FE-438A-86FF-913DA50BAA83}"/>
              </a:ext>
            </a:extLst>
          </p:cNvPr>
          <p:cNvSpPr>
            <a:spLocks xmlns:a="http://schemas.openxmlformats.org/drawingml/2006/main" noGrp="1"/>
          </p:cNvSpPr>
          <p:nvPr/>
        </p:nvSpPr>
        <p:spPr>
          <a:xfrm xmlns:a="http://schemas.openxmlformats.org/drawingml/2006/main">
            <a:off x="9163050" y="436245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a:solidFill>
                  <a:srgbClr val="8EA0B2"/>
                </a:solidFill>
                <a:latin typeface="Arial"/>
                <a:ea typeface="Arial"/>
                <a:cs typeface="Arial"/>
              </a:defRPr>
            </a:pPr>
            <a:r>
              <a:t>Evidence · EV-GHN-01 … EV-GHN-07</a:t>
            </a:r>
          </a:p>
        </p:txBody>
      </p:sp>
      <p:sp>
        <p:nvSpPr>
          <p:cNvPr id="30" name="">
            <a:extLst xmlns:a="http://schemas.openxmlformats.org/drawingml/2006/main">
              <a:ext uri="{FF2B5EF4-FFF2-40B4-BE49-F238E27FC236}">
                <a16:creationId xmlns:a16="http://schemas.microsoft.com/office/drawing/2014/main" id="{76A05932-5A1E-4A2D-8FF8-73BACBEFB199}"/>
              </a:ext>
            </a:extLst>
          </p:cNvPr>
          <p:cNvSpPr>
            <a:spLocks xmlns:a="http://schemas.openxmlformats.org/drawingml/2006/main" noGrp="1"/>
          </p:cNvSpPr>
          <p:nvPr/>
        </p:nvSpPr>
        <p:spPr>
          <a:xfrm xmlns:a="http://schemas.openxmlformats.org/drawingml/2006/main">
            <a:off x="9163050" y="4533900"/>
            <a:ext cx="24574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E06767"/>
                </a:solidFill>
                <a:latin typeface="Arial"/>
                <a:ea typeface="Arial"/>
                <a:cs typeface="Arial"/>
              </a:defRPr>
            </a:pPr>
            <a:r>
              <a:t>Posture · UNVERIFIED</a:t>
            </a:r>
          </a:p>
        </p:txBody>
      </p:sp>
      <p:sp>
        <p:nvSpPr>
          <p:cNvPr id="31" name="">
            <a:extLst xmlns:a="http://schemas.openxmlformats.org/drawingml/2006/main">
              <a:ext uri="{FF2B5EF4-FFF2-40B4-BE49-F238E27FC236}">
                <a16:creationId xmlns:a16="http://schemas.microsoft.com/office/drawing/2014/main" id="{5742CED9-7D75-4AF4-9BBC-16ABEA3AA3F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14AC0D5-39B7-4CD4-B344-18935071BBC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EE0F4EFC-87DB-400A-BA79-415BF001A0E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78</a:t>
            </a:r>
          </a:p>
        </p:txBody>
      </p:sp>
    </p:spTree>
    <p:extLst>
      <p:ext uri="{BB962C8B-B14F-4D97-AF65-F5344CB8AC3E}">
        <p14:creationId xmlns:p14="http://schemas.microsoft.com/office/powerpoint/2010/main" val="972822076"/>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219BBDF7-C66F-45BB-A860-8469ABCA0E9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88DC3BD-3FAF-4CE9-BBE1-F2F40969807C}"/>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392743A-BA95-4226-B923-9A83396EFFE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2832378A-3874-4CF5-8EE4-2852F0A97573}"/>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F60171BB-E4AD-4943-A2DA-6E4BF90FBA38}"/>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No corroborated fact yet proves Gahan leads; independent profiling needed</a:t>
            </a:r>
          </a:p>
        </p:txBody>
      </p:sp>
      <p:sp>
        <p:nvSpPr>
          <p:cNvPr id="6" name="">
            <a:extLst xmlns:a="http://schemas.openxmlformats.org/drawingml/2006/main">
              <a:ext uri="{FF2B5EF4-FFF2-40B4-BE49-F238E27FC236}">
                <a16:creationId xmlns:a16="http://schemas.microsoft.com/office/drawing/2014/main" id="{096FBFF6-0EFA-4F15-821D-E5D58FCC698A}"/>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657CA9C-9A6A-42B9-967D-F1644B756B92}"/>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evidence supports a medium-high Gahan watch, and which part remains company-reported?</a:t>
            </a:r>
          </a:p>
        </p:txBody>
      </p:sp>
      <p:sp>
        <p:nvSpPr>
          <p:cNvPr id="8" name="">
            <a:extLst xmlns:a="http://schemas.openxmlformats.org/drawingml/2006/main">
              <a:ext uri="{FF2B5EF4-FFF2-40B4-BE49-F238E27FC236}">
                <a16:creationId xmlns:a16="http://schemas.microsoft.com/office/drawing/2014/main" id="{0F494FF3-F48E-48BC-A13A-1B88DA39F689}"/>
              </a:ext>
            </a:extLst>
          </p:cNvPr>
          <p:cNvSpPr>
            <a:spLocks xmlns:a="http://schemas.openxmlformats.org/drawingml/2006/main" noGrp="1"/>
          </p:cNvSpPr>
          <p:nvPr/>
        </p:nvSpPr>
        <p:spPr>
          <a:xfrm xmlns:a="http://schemas.openxmlformats.org/drawingml/2006/main">
            <a:off x="457200" y="1006475"/>
            <a:ext cx="11277600" cy="930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5FC0ECB4-F252-4AC0-A824-3152B63B4830}"/>
              </a:ext>
            </a:extLst>
          </p:cNvPr>
          <p:cNvSpPr>
            <a:spLocks xmlns:a="http://schemas.openxmlformats.org/drawingml/2006/main" noGrp="1"/>
          </p:cNvSpPr>
          <p:nvPr/>
        </p:nvSpPr>
        <p:spPr>
          <a:xfrm xmlns:a="http://schemas.openxmlformats.org/drawingml/2006/main">
            <a:off x="457200" y="1006475"/>
            <a:ext cx="28575" cy="9302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0A8E84-21E3-4F2A-9402-922CE62BC978}"/>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93B31E5E-C596-4207-AC91-48970932BB14}"/>
              </a:ext>
            </a:extLst>
          </p:cNvPr>
          <p:cNvSpPr>
            <a:spLocks xmlns:a="http://schemas.openxmlformats.org/drawingml/2006/main" noGrp="1"/>
          </p:cNvSpPr>
          <p:nvPr/>
        </p:nvSpPr>
        <p:spPr>
          <a:xfrm xmlns:a="http://schemas.openxmlformats.org/drawingml/2006/main">
            <a:off x="581025" y="122237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Gahan merits attention because an independent ecosystem profile reportedly identifies Gahan/DRWIG and the radar-camera occupancy concept. However, automotive readiness and commercial traction remain unverified. DeepGrid should preserve the evidence boundary and monitor Gahan closely without amplifying its threat until primary artifacts emerge. COMPETITOR 2/10 · EVIDENCE PROFILE</a:t>
            </a:r>
          </a:p>
        </p:txBody>
      </p:sp>
      <p:sp>
        <p:nvSpPr>
          <p:cNvPr id="12" name="">
            <a:extLst xmlns:a="http://schemas.openxmlformats.org/drawingml/2006/main">
              <a:ext uri="{FF2B5EF4-FFF2-40B4-BE49-F238E27FC236}">
                <a16:creationId xmlns:a16="http://schemas.microsoft.com/office/drawing/2014/main" id="{8C71C10B-9C52-475F-AA47-E05367B584EF}"/>
              </a:ext>
            </a:extLst>
          </p:cNvPr>
          <p:cNvSpPr>
            <a:spLocks xmlns:a="http://schemas.openxmlformats.org/drawingml/2006/main" noGrp="1"/>
          </p:cNvSpPr>
          <p:nvPr/>
        </p:nvSpPr>
        <p:spPr>
          <a:xfrm xmlns:a="http://schemas.openxmlformats.org/drawingml/2006/main">
            <a:off x="457200" y="2051050"/>
            <a:ext cx="11277600" cy="676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472E0595-B5F3-402E-968B-F31CBFCCA379}"/>
              </a:ext>
            </a:extLst>
          </p:cNvPr>
          <p:cNvSpPr>
            <a:spLocks xmlns:a="http://schemas.openxmlformats.org/drawingml/2006/main" noGrp="1"/>
          </p:cNvSpPr>
          <p:nvPr/>
        </p:nvSpPr>
        <p:spPr>
          <a:xfrm xmlns:a="http://schemas.openxmlformats.org/drawingml/2006/main">
            <a:off x="457200" y="205105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C62D474-A603-44DF-A7D6-96F5833ABC48}"/>
              </a:ext>
            </a:extLst>
          </p:cNvPr>
          <p:cNvSpPr>
            <a:spLocks xmlns:a="http://schemas.openxmlformats.org/drawingml/2006/main" noGrp="1"/>
          </p:cNvSpPr>
          <p:nvPr/>
        </p:nvSpPr>
        <p:spPr>
          <a:xfrm xmlns:a="http://schemas.openxmlformats.org/drawingml/2006/main">
            <a:off x="457200" y="2051050"/>
            <a:ext cx="28575" cy="6762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EF610ED-E1F7-440F-93B9-52EF02D79164}"/>
              </a:ext>
            </a:extLst>
          </p:cNvPr>
          <p:cNvSpPr>
            <a:spLocks xmlns:a="http://schemas.openxmlformats.org/drawingml/2006/main" noGrp="1"/>
          </p:cNvSpPr>
          <p:nvPr/>
        </p:nvSpPr>
        <p:spPr>
          <a:xfrm xmlns:a="http://schemas.openxmlformats.org/drawingml/2006/main">
            <a:off x="571500" y="21367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CONFIRM CUSTOMER, LIVE</a:t>
            </a:r>
          </a:p>
        </p:txBody>
      </p:sp>
      <p:sp>
        <p:nvSpPr>
          <p:cNvPr id="16" name="">
            <a:extLst xmlns:a="http://schemas.openxmlformats.org/drawingml/2006/main">
              <a:ext uri="{FF2B5EF4-FFF2-40B4-BE49-F238E27FC236}">
                <a16:creationId xmlns:a16="http://schemas.microsoft.com/office/drawing/2014/main" id="{15324327-7026-4BA2-8559-30F20D961721}"/>
              </a:ext>
            </a:extLst>
          </p:cNvPr>
          <p:cNvSpPr>
            <a:spLocks xmlns:a="http://schemas.openxmlformats.org/drawingml/2006/main" noGrp="1"/>
          </p:cNvSpPr>
          <p:nvPr/>
        </p:nvSpPr>
        <p:spPr>
          <a:xfrm xmlns:a="http://schemas.openxmlformats.org/drawingml/2006/main">
            <a:off x="4067556" y="2127250"/>
            <a:ext cx="56388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Confirm customer, live vehicle count, rollout schedule, revenue recognition, installer capacity, uptime, intervention workflow and false-alert KPI.</a:t>
            </a:r>
          </a:p>
        </p:txBody>
      </p:sp>
      <p:sp>
        <p:nvSpPr>
          <p:cNvPr id="17" name="">
            <a:extLst xmlns:a="http://schemas.openxmlformats.org/drawingml/2006/main">
              <a:ext uri="{FF2B5EF4-FFF2-40B4-BE49-F238E27FC236}">
                <a16:creationId xmlns:a16="http://schemas.microsoft.com/office/drawing/2014/main" id="{4EEACDD2-6FC1-4D58-A520-1F46C401C098}"/>
              </a:ext>
            </a:extLst>
          </p:cNvPr>
          <p:cNvSpPr>
            <a:spLocks xmlns:a="http://schemas.openxmlformats.org/drawingml/2006/main" noGrp="1"/>
          </p:cNvSpPr>
          <p:nvPr/>
        </p:nvSpPr>
        <p:spPr>
          <a:xfrm xmlns:a="http://schemas.openxmlformats.org/drawingml/2006/main">
            <a:off x="9816084" y="21367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5741BED7-74B8-4FEA-9701-59D21C846F31}"/>
              </a:ext>
            </a:extLst>
          </p:cNvPr>
          <p:cNvSpPr>
            <a:spLocks xmlns:a="http://schemas.openxmlformats.org/drawingml/2006/main" noGrp="1"/>
          </p:cNvSpPr>
          <p:nvPr/>
        </p:nvSpPr>
        <p:spPr>
          <a:xfrm xmlns:a="http://schemas.openxmlformats.org/drawingml/2006/main">
            <a:off x="457200" y="2794000"/>
            <a:ext cx="11277600" cy="676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7F488F89-8555-4DBD-9EBF-A8B5EEDD710C}"/>
              </a:ext>
            </a:extLst>
          </p:cNvPr>
          <p:cNvSpPr>
            <a:spLocks xmlns:a="http://schemas.openxmlformats.org/drawingml/2006/main" noGrp="1"/>
          </p:cNvSpPr>
          <p:nvPr/>
        </p:nvSpPr>
        <p:spPr>
          <a:xfrm xmlns:a="http://schemas.openxmlformats.org/drawingml/2006/main">
            <a:off x="457200" y="279400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205B4FE-4F63-4B2E-B4D6-6BADC9F76AD9}"/>
              </a:ext>
            </a:extLst>
          </p:cNvPr>
          <p:cNvSpPr>
            <a:spLocks xmlns:a="http://schemas.openxmlformats.org/drawingml/2006/main" noGrp="1"/>
          </p:cNvSpPr>
          <p:nvPr/>
        </p:nvSpPr>
        <p:spPr>
          <a:xfrm xmlns:a="http://schemas.openxmlformats.org/drawingml/2006/main">
            <a:off x="457200" y="2794000"/>
            <a:ext cx="28575" cy="6762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E2B0738-86E4-4EAE-BCB1-492F2417ABC2}"/>
              </a:ext>
            </a:extLst>
          </p:cNvPr>
          <p:cNvSpPr>
            <a:spLocks xmlns:a="http://schemas.openxmlformats.org/drawingml/2006/main" noGrp="1"/>
          </p:cNvSpPr>
          <p:nvPr/>
        </p:nvSpPr>
        <p:spPr>
          <a:xfrm xmlns:a="http://schemas.openxmlformats.org/drawingml/2006/main">
            <a:off x="571500" y="28797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USE THE PROGRAMME AS THE</a:t>
            </a:r>
          </a:p>
        </p:txBody>
      </p:sp>
      <p:sp>
        <p:nvSpPr>
          <p:cNvPr id="22" name="">
            <a:extLst xmlns:a="http://schemas.openxmlformats.org/drawingml/2006/main">
              <a:ext uri="{FF2B5EF4-FFF2-40B4-BE49-F238E27FC236}">
                <a16:creationId xmlns:a16="http://schemas.microsoft.com/office/drawing/2014/main" id="{C783F76D-7C32-4765-8392-6C6D9300CE36}"/>
              </a:ext>
            </a:extLst>
          </p:cNvPr>
          <p:cNvSpPr>
            <a:spLocks xmlns:a="http://schemas.openxmlformats.org/drawingml/2006/main" noGrp="1"/>
          </p:cNvSpPr>
          <p:nvPr/>
        </p:nvSpPr>
        <p:spPr>
          <a:xfrm xmlns:a="http://schemas.openxmlformats.org/drawingml/2006/main">
            <a:off x="4067556" y="2870200"/>
            <a:ext cx="56388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Use the programme as the benchmark for paid evidence; differentiate DGS001 through measured forward/VRU perception or attach to the platform.</a:t>
            </a:r>
          </a:p>
        </p:txBody>
      </p:sp>
      <p:sp>
        <p:nvSpPr>
          <p:cNvPr id="23" name="">
            <a:extLst xmlns:a="http://schemas.openxmlformats.org/drawingml/2006/main">
              <a:ext uri="{FF2B5EF4-FFF2-40B4-BE49-F238E27FC236}">
                <a16:creationId xmlns:a16="http://schemas.microsoft.com/office/drawing/2014/main" id="{79140922-6F6A-4096-8458-D5EE6425DFCB}"/>
              </a:ext>
            </a:extLst>
          </p:cNvPr>
          <p:cNvSpPr>
            <a:spLocks xmlns:a="http://schemas.openxmlformats.org/drawingml/2006/main" noGrp="1"/>
          </p:cNvSpPr>
          <p:nvPr/>
        </p:nvSpPr>
        <p:spPr>
          <a:xfrm xmlns:a="http://schemas.openxmlformats.org/drawingml/2006/main">
            <a:off x="9816084" y="28797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774D9B0D-CD85-4E96-AECF-2126136407AE}"/>
              </a:ext>
            </a:extLst>
          </p:cNvPr>
          <p:cNvSpPr>
            <a:spLocks xmlns:a="http://schemas.openxmlformats.org/drawingml/2006/main" noGrp="1"/>
          </p:cNvSpPr>
          <p:nvPr/>
        </p:nvSpPr>
        <p:spPr>
          <a:xfrm xmlns:a="http://schemas.openxmlformats.org/drawingml/2006/main">
            <a:off x="457200" y="3536950"/>
            <a:ext cx="11277600" cy="676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5A6C540F-1C7E-46ED-85F5-5F9340CA62B2}"/>
              </a:ext>
            </a:extLst>
          </p:cNvPr>
          <p:cNvSpPr>
            <a:spLocks xmlns:a="http://schemas.openxmlformats.org/drawingml/2006/main" noGrp="1"/>
          </p:cNvSpPr>
          <p:nvPr/>
        </p:nvSpPr>
        <p:spPr>
          <a:xfrm xmlns:a="http://schemas.openxmlformats.org/drawingml/2006/main">
            <a:off x="457200" y="353695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110BD94-C61B-44C8-8E3A-B187F0C5E4F8}"/>
              </a:ext>
            </a:extLst>
          </p:cNvPr>
          <p:cNvSpPr>
            <a:spLocks xmlns:a="http://schemas.openxmlformats.org/drawingml/2006/main" noGrp="1"/>
          </p:cNvSpPr>
          <p:nvPr/>
        </p:nvSpPr>
        <p:spPr>
          <a:xfrm xmlns:a="http://schemas.openxmlformats.org/drawingml/2006/main">
            <a:off x="457200" y="3536950"/>
            <a:ext cx="28575" cy="6762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BAAF537-E387-4F5A-B77C-ED2617A60AA0}"/>
              </a:ext>
            </a:extLst>
          </p:cNvPr>
          <p:cNvSpPr>
            <a:spLocks xmlns:a="http://schemas.openxmlformats.org/drawingml/2006/main" noGrp="1"/>
          </p:cNvSpPr>
          <p:nvPr/>
        </p:nvSpPr>
        <p:spPr>
          <a:xfrm xmlns:a="http://schemas.openxmlformats.org/drawingml/2006/main">
            <a:off x="571500" y="36226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DEEPGRID SHOULD VERIFY THE</a:t>
            </a:r>
          </a:p>
        </p:txBody>
      </p:sp>
      <p:sp>
        <p:nvSpPr>
          <p:cNvPr id="28" name="">
            <a:extLst xmlns:a="http://schemas.openxmlformats.org/drawingml/2006/main">
              <a:ext uri="{FF2B5EF4-FFF2-40B4-BE49-F238E27FC236}">
                <a16:creationId xmlns:a16="http://schemas.microsoft.com/office/drawing/2014/main" id="{4825714C-4AD3-4086-B307-76232AC87C9C}"/>
              </a:ext>
            </a:extLst>
          </p:cNvPr>
          <p:cNvSpPr>
            <a:spLocks xmlns:a="http://schemas.openxmlformats.org/drawingml/2006/main" noGrp="1"/>
          </p:cNvSpPr>
          <p:nvPr/>
        </p:nvSpPr>
        <p:spPr>
          <a:xfrm xmlns:a="http://schemas.openxmlformats.org/drawingml/2006/main">
            <a:off x="4067556" y="3613150"/>
            <a:ext cx="56388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DeepGrid should verify the named customer and deployment gates; then accelerate paid fleet proof against drivebuddyAI</a:t>
            </a:r>
          </a:p>
        </p:txBody>
      </p:sp>
      <p:sp>
        <p:nvSpPr>
          <p:cNvPr id="29" name="">
            <a:extLst xmlns:a="http://schemas.openxmlformats.org/drawingml/2006/main">
              <a:ext uri="{FF2B5EF4-FFF2-40B4-BE49-F238E27FC236}">
                <a16:creationId xmlns:a16="http://schemas.microsoft.com/office/drawing/2014/main" id="{483E1F8D-90B0-4E6A-B44C-312B94CE6063}"/>
              </a:ext>
            </a:extLst>
          </p:cNvPr>
          <p:cNvSpPr>
            <a:spLocks xmlns:a="http://schemas.openxmlformats.org/drawingml/2006/main" noGrp="1"/>
          </p:cNvSpPr>
          <p:nvPr/>
        </p:nvSpPr>
        <p:spPr>
          <a:xfrm xmlns:a="http://schemas.openxmlformats.org/drawingml/2006/main">
            <a:off x="9816084" y="36226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BF2561B0-F258-47EF-BDB3-5D39ECD70109}"/>
              </a:ext>
            </a:extLst>
          </p:cNvPr>
          <p:cNvSpPr>
            <a:spLocks xmlns:a="http://schemas.openxmlformats.org/drawingml/2006/main" noGrp="1"/>
          </p:cNvSpPr>
          <p:nvPr/>
        </p:nvSpPr>
        <p:spPr>
          <a:xfrm xmlns:a="http://schemas.openxmlformats.org/drawingml/2006/main">
            <a:off x="457200" y="4279900"/>
            <a:ext cx="11277600" cy="676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EAFEBCB1-146B-4018-B43E-2F0504F1061A}"/>
              </a:ext>
            </a:extLst>
          </p:cNvPr>
          <p:cNvSpPr>
            <a:spLocks xmlns:a="http://schemas.openxmlformats.org/drawingml/2006/main" noGrp="1"/>
          </p:cNvSpPr>
          <p:nvPr/>
        </p:nvSpPr>
        <p:spPr>
          <a:xfrm xmlns:a="http://schemas.openxmlformats.org/drawingml/2006/main">
            <a:off x="457200" y="42799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C91B1BA-4FDE-4A86-BBFD-F5D7D4DB67E0}"/>
              </a:ext>
            </a:extLst>
          </p:cNvPr>
          <p:cNvSpPr>
            <a:spLocks xmlns:a="http://schemas.openxmlformats.org/drawingml/2006/main" noGrp="1"/>
          </p:cNvSpPr>
          <p:nvPr/>
        </p:nvSpPr>
        <p:spPr>
          <a:xfrm xmlns:a="http://schemas.openxmlformats.org/drawingml/2006/main">
            <a:off x="457200" y="4279900"/>
            <a:ext cx="28575" cy="6762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3AF7662-B419-4463-B322-7B3EFF0B7CF7}"/>
              </a:ext>
            </a:extLst>
          </p:cNvPr>
          <p:cNvSpPr>
            <a:spLocks xmlns:a="http://schemas.openxmlformats.org/drawingml/2006/main" noGrp="1"/>
          </p:cNvSpPr>
          <p:nvPr/>
        </p:nvSpPr>
        <p:spPr>
          <a:xfrm xmlns:a="http://schemas.openxmlformats.org/drawingml/2006/main">
            <a:off x="571500" y="43656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SIX-CAMERA PROPOSITION</a:t>
            </a:r>
          </a:p>
        </p:txBody>
      </p:sp>
      <p:sp>
        <p:nvSpPr>
          <p:cNvPr id="34" name="">
            <a:extLst xmlns:a="http://schemas.openxmlformats.org/drawingml/2006/main">
              <a:ext uri="{FF2B5EF4-FFF2-40B4-BE49-F238E27FC236}">
                <a16:creationId xmlns:a16="http://schemas.microsoft.com/office/drawing/2014/main" id="{5FD3298F-3FE1-4492-9AB8-CA4CD2752A07}"/>
              </a:ext>
            </a:extLst>
          </p:cNvPr>
          <p:cNvSpPr>
            <a:spLocks xmlns:a="http://schemas.openxmlformats.org/drawingml/2006/main" noGrp="1"/>
          </p:cNvSpPr>
          <p:nvPr/>
        </p:nvSpPr>
        <p:spPr>
          <a:xfrm xmlns:a="http://schemas.openxmlformats.org/drawingml/2006/main">
            <a:off x="4067556" y="4356100"/>
            <a:ext cx="56388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 six-camera proposition combines driver identity, attendance, behaviour, video evidence and command-centre intervention—problems fleets can buy be…</a:t>
            </a:r>
          </a:p>
        </p:txBody>
      </p:sp>
      <p:sp>
        <p:nvSpPr>
          <p:cNvPr id="35" name="">
            <a:extLst xmlns:a="http://schemas.openxmlformats.org/drawingml/2006/main">
              <a:ext uri="{FF2B5EF4-FFF2-40B4-BE49-F238E27FC236}">
                <a16:creationId xmlns:a16="http://schemas.microsoft.com/office/drawing/2014/main" id="{AA09CA8B-9AE9-4AA9-A6D4-4B733BB25C65}"/>
              </a:ext>
            </a:extLst>
          </p:cNvPr>
          <p:cNvSpPr>
            <a:spLocks xmlns:a="http://schemas.openxmlformats.org/drawingml/2006/main" noGrp="1"/>
          </p:cNvSpPr>
          <p:nvPr/>
        </p:nvSpPr>
        <p:spPr>
          <a:xfrm xmlns:a="http://schemas.openxmlformats.org/drawingml/2006/main">
            <a:off x="9816084" y="43656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B835800E-D198-444F-94EF-9A1159DBCA5B}"/>
              </a:ext>
            </a:extLst>
          </p:cNvPr>
          <p:cNvSpPr>
            <a:spLocks xmlns:a="http://schemas.openxmlformats.org/drawingml/2006/main" noGrp="1"/>
          </p:cNvSpPr>
          <p:nvPr/>
        </p:nvSpPr>
        <p:spPr>
          <a:xfrm xmlns:a="http://schemas.openxmlformats.org/drawingml/2006/main">
            <a:off x="457200" y="507047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3A10A1F5-A76B-4D06-9488-5D6198B9473C}"/>
              </a:ext>
            </a:extLst>
          </p:cNvPr>
          <p:cNvSpPr>
            <a:spLocks xmlns:a="http://schemas.openxmlformats.org/drawingml/2006/main" noGrp="1"/>
          </p:cNvSpPr>
          <p:nvPr/>
        </p:nvSpPr>
        <p:spPr>
          <a:xfrm xmlns:a="http://schemas.openxmlformats.org/drawingml/2006/main">
            <a:off x="457200" y="507047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E2BC75CE-74A8-4EBB-AAAF-A590EDF1F060}"/>
              </a:ext>
            </a:extLst>
          </p:cNvPr>
          <p:cNvSpPr>
            <a:spLocks xmlns:a="http://schemas.openxmlformats.org/drawingml/2006/main" noGrp="1"/>
          </p:cNvSpPr>
          <p:nvPr/>
        </p:nvSpPr>
        <p:spPr>
          <a:xfrm xmlns:a="http://schemas.openxmlformats.org/drawingml/2006/main">
            <a:off x="581025" y="5137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DFBDAF6B-9B1D-4536-AD95-D8B00164FF2B}"/>
              </a:ext>
            </a:extLst>
          </p:cNvPr>
          <p:cNvSpPr>
            <a:spLocks xmlns:a="http://schemas.openxmlformats.org/drawingml/2006/main" noGrp="1"/>
          </p:cNvSpPr>
          <p:nvPr/>
        </p:nvSpPr>
        <p:spPr>
          <a:xfrm xmlns:a="http://schemas.openxmlformats.org/drawingml/2006/main">
            <a:off x="581025" y="528637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primary TI part and grade certificate, an assessor report, or a named OEM qualification document is produced.</a:t>
            </a:r>
          </a:p>
        </p:txBody>
      </p:sp>
      <p:sp>
        <p:nvSpPr>
          <p:cNvPr id="40" name="">
            <a:extLst xmlns:a="http://schemas.openxmlformats.org/drawingml/2006/main">
              <a:ext uri="{FF2B5EF4-FFF2-40B4-BE49-F238E27FC236}">
                <a16:creationId xmlns:a16="http://schemas.microsoft.com/office/drawing/2014/main" id="{C87BDA6C-E47E-4024-8FA9-E6DC162BF709}"/>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4935279-98FF-4AEF-9394-7C4363E1DBE5}"/>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2DF4E714-82C7-4715-AEA9-A7E0CD278ECF}"/>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F8BA44D4-3349-49BE-B4AD-815D3C71932E}"/>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Track primary artifacts before any escalated threat rating</a:t>
            </a:r>
          </a:p>
        </p:txBody>
      </p:sp>
      <p:sp>
        <p:nvSpPr>
          <p:cNvPr id="44" name="">
            <a:extLst xmlns:a="http://schemas.openxmlformats.org/drawingml/2006/main">
              <a:ext uri="{FF2B5EF4-FFF2-40B4-BE49-F238E27FC236}">
                <a16:creationId xmlns:a16="http://schemas.microsoft.com/office/drawing/2014/main" id="{B55D91D6-F055-4247-A0FC-BEDE1B41075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50182302-E4D3-49E7-8696-4975946AFB69}"/>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Move rating on receipt of TI/OEM/assessor certificates or programme docs</a:t>
            </a:r>
          </a:p>
        </p:txBody>
      </p:sp>
      <p:sp>
        <p:nvSpPr>
          <p:cNvPr id="46" name="">
            <a:extLst xmlns:a="http://schemas.openxmlformats.org/drawingml/2006/main">
              <a:ext uri="{FF2B5EF4-FFF2-40B4-BE49-F238E27FC236}">
                <a16:creationId xmlns:a16="http://schemas.microsoft.com/office/drawing/2014/main" id="{D5E4ABD7-A306-4237-92B4-369729C34CF8}"/>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B9F28CE8-2894-4E1D-B78B-263A307D3D48}"/>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treating TRL-8 and ASIL-B as established until a primary artifact is produced.</a:t>
            </a:r>
          </a:p>
        </p:txBody>
      </p:sp>
      <p:sp>
        <p:nvSpPr>
          <p:cNvPr id="48" name="">
            <a:extLst xmlns:a="http://schemas.openxmlformats.org/drawingml/2006/main">
              <a:ext uri="{FF2B5EF4-FFF2-40B4-BE49-F238E27FC236}">
                <a16:creationId xmlns:a16="http://schemas.microsoft.com/office/drawing/2014/main" id="{338A508A-6453-4699-B3AB-B9845DE3D1AD}"/>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2B33C580-B554-474A-B910-DAB4E59C64F4}"/>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66122129-5E3A-455A-9F1B-BF1F3AD642CB}"/>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79</a:t>
            </a:r>
          </a:p>
        </p:txBody>
      </p:sp>
    </p:spTree>
    <p:extLst>
      <p:ext uri="{BB962C8B-B14F-4D97-AF65-F5344CB8AC3E}">
        <p14:creationId xmlns:p14="http://schemas.microsoft.com/office/powerpoint/2010/main" val="1065035220"/>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122FF7F4-ED39-466D-9D0B-0CE7503BF0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015820F-F7B8-4A7E-A7D8-11BADBE89D9B}"/>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CE5A73E-F397-4086-BF28-E2596000C479}"/>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778C781F-B0FA-48BA-91A9-7C1FDADBBA5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249685D3-2103-4BD3-BAFF-FC2677E12A61}"/>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Gahan threat highest in OEM arena; medium elsewhere</a:t>
            </a:r>
          </a:p>
        </p:txBody>
      </p:sp>
      <p:sp>
        <p:nvSpPr>
          <p:cNvPr id="6" name="">
            <a:extLst xmlns:a="http://schemas.openxmlformats.org/drawingml/2006/main">
              <a:ext uri="{FF2B5EF4-FFF2-40B4-BE49-F238E27FC236}">
                <a16:creationId xmlns:a16="http://schemas.microsoft.com/office/drawing/2014/main" id="{920F8E4B-E545-4302-A4E7-97170D542C2C}"/>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A0F4DCC-7DA4-4D67-94A6-6B0AC126F9ED}"/>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Gahan’s threat vary by arena and what to monitor?</a:t>
            </a:r>
          </a:p>
        </p:txBody>
      </p:sp>
      <p:sp>
        <p:nvSpPr>
          <p:cNvPr id="8" name="">
            <a:extLst xmlns:a="http://schemas.openxmlformats.org/drawingml/2006/main">
              <a:ext uri="{FF2B5EF4-FFF2-40B4-BE49-F238E27FC236}">
                <a16:creationId xmlns:a16="http://schemas.microsoft.com/office/drawing/2014/main" id="{25FF7769-D5FB-4B2A-85F1-AF58510DC6BF}"/>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C577C526-F601-4C58-BE8C-541FA4F32C97}"/>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5F690FB-AF19-4F30-9781-E670236F3267}"/>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C0DEC65A-1B57-4605-ADD8-A5DBCF1E6F65}"/>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Gahan's threat concentrates in the OEM arena, where a verified qualification narrative would matter most, and stays medium in mining and government where field access decides.</a:t>
            </a:r>
          </a:p>
        </p:txBody>
      </p:sp>
      <p:sp>
        <p:nvSpPr>
          <p:cNvPr id="12" name="">
            <a:extLst xmlns:a="http://schemas.openxmlformats.org/drawingml/2006/main">
              <a:ext uri="{FF2B5EF4-FFF2-40B4-BE49-F238E27FC236}">
                <a16:creationId xmlns:a16="http://schemas.microsoft.com/office/drawing/2014/main" id="{D864699C-81A9-4179-AC84-4F5C432B10B5}"/>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D3EDFE4-8BD2-4B30-9466-554B4E41C457}"/>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1C3C339F-4C2E-42F3-9A0F-8AE3CA7EC955}"/>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7ADE9A8E-D253-4A10-9585-D62F00D30ABB}"/>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B1004F52-0B1A-41EA-9364-2E269D6ACDD1}"/>
              </a:ext>
            </a:extLst>
          </p:cNvPr>
          <p:cNvSpPr>
            <a:spLocks xmlns:a="http://schemas.openxmlformats.org/drawingml/2006/main" noGrp="1"/>
          </p:cNvSpPr>
          <p:nvPr/>
        </p:nvSpPr>
        <p:spPr>
          <a:xfrm xmlns:a="http://schemas.openxmlformats.org/drawingml/2006/main">
            <a:off x="457200" y="2089150"/>
            <a:ext cx="2255520" cy="194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B2E51D5C-40C2-44C4-8587-0A7E8C3CCD61}"/>
              </a:ext>
            </a:extLst>
          </p:cNvPr>
          <p:cNvSpPr>
            <a:spLocks xmlns:a="http://schemas.openxmlformats.org/drawingml/2006/main" noGrp="1"/>
          </p:cNvSpPr>
          <p:nvPr/>
        </p:nvSpPr>
        <p:spPr>
          <a:xfrm xmlns:a="http://schemas.openxmlformats.org/drawingml/2006/main">
            <a:off x="552450" y="2203450"/>
            <a:ext cx="2103120" cy="1771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GAHAN</a:t>
            </a:r>
          </a:p>
        </p:txBody>
      </p:sp>
      <p:sp>
        <p:nvSpPr>
          <p:cNvPr id="18" name="">
            <a:extLst xmlns:a="http://schemas.openxmlformats.org/drawingml/2006/main">
              <a:ext uri="{FF2B5EF4-FFF2-40B4-BE49-F238E27FC236}">
                <a16:creationId xmlns:a16="http://schemas.microsoft.com/office/drawing/2014/main" id="{ABCAA302-87EC-4BA1-A284-59A9071D5510}"/>
              </a:ext>
            </a:extLst>
          </p:cNvPr>
          <p:cNvSpPr>
            <a:spLocks xmlns:a="http://schemas.openxmlformats.org/drawingml/2006/main" noGrp="1"/>
          </p:cNvSpPr>
          <p:nvPr/>
        </p:nvSpPr>
        <p:spPr>
          <a:xfrm xmlns:a="http://schemas.openxmlformats.org/drawingml/2006/main">
            <a:off x="274129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BB9A61BE-C9D0-4ED2-9CF4-6D223C83D770}"/>
              </a:ext>
            </a:extLst>
          </p:cNvPr>
          <p:cNvSpPr>
            <a:spLocks xmlns:a="http://schemas.openxmlformats.org/drawingml/2006/main" noGrp="1"/>
          </p:cNvSpPr>
          <p:nvPr/>
        </p:nvSpPr>
        <p:spPr>
          <a:xfrm xmlns:a="http://schemas.openxmlformats.org/drawingml/2006/main">
            <a:off x="2741295" y="21177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F273297-B667-43E5-932C-72D095CEC2EC}"/>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1" name="">
            <a:extLst xmlns:a="http://schemas.openxmlformats.org/drawingml/2006/main">
              <a:ext uri="{FF2B5EF4-FFF2-40B4-BE49-F238E27FC236}">
                <a16:creationId xmlns:a16="http://schemas.microsoft.com/office/drawing/2014/main" id="{39F0E418-9A8B-4871-B5E9-A674B69EC111}"/>
              </a:ext>
            </a:extLst>
          </p:cNvPr>
          <p:cNvSpPr>
            <a:spLocks xmlns:a="http://schemas.openxmlformats.org/drawingml/2006/main" noGrp="1"/>
          </p:cNvSpPr>
          <p:nvPr/>
        </p:nvSpPr>
        <p:spPr>
          <a:xfrm xmlns:a="http://schemas.openxmlformats.org/drawingml/2006/main">
            <a:off x="281749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Procurement credibility matters</a:t>
            </a:r>
          </a:p>
        </p:txBody>
      </p:sp>
      <p:sp>
        <p:nvSpPr>
          <p:cNvPr id="22" name="">
            <a:extLst xmlns:a="http://schemas.openxmlformats.org/drawingml/2006/main">
              <a:ext uri="{FF2B5EF4-FFF2-40B4-BE49-F238E27FC236}">
                <a16:creationId xmlns:a16="http://schemas.microsoft.com/office/drawing/2014/main" id="{BEF21073-1F93-48D0-9A41-3228786E49A7}"/>
              </a:ext>
            </a:extLst>
          </p:cNvPr>
          <p:cNvSpPr>
            <a:spLocks xmlns:a="http://schemas.openxmlformats.org/drawingml/2006/main" noGrp="1"/>
          </p:cNvSpPr>
          <p:nvPr/>
        </p:nvSpPr>
        <p:spPr>
          <a:xfrm xmlns:a="http://schemas.openxmlformats.org/drawingml/2006/main">
            <a:off x="574865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B2069C49-C717-4467-AE87-94F4E3B5339E}"/>
              </a:ext>
            </a:extLst>
          </p:cNvPr>
          <p:cNvSpPr>
            <a:spLocks xmlns:a="http://schemas.openxmlformats.org/drawingml/2006/main" noGrp="1"/>
          </p:cNvSpPr>
          <p:nvPr/>
        </p:nvSpPr>
        <p:spPr>
          <a:xfrm xmlns:a="http://schemas.openxmlformats.org/drawingml/2006/main">
            <a:off x="5748655" y="211772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77241F1-C017-435C-A631-FE9547364B94}"/>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25" name="">
            <a:extLst xmlns:a="http://schemas.openxmlformats.org/drawingml/2006/main">
              <a:ext uri="{FF2B5EF4-FFF2-40B4-BE49-F238E27FC236}">
                <a16:creationId xmlns:a16="http://schemas.microsoft.com/office/drawing/2014/main" id="{9CD18877-A229-4D95-ACAB-F214C6451284}"/>
              </a:ext>
            </a:extLst>
          </p:cNvPr>
          <p:cNvSpPr>
            <a:spLocks xmlns:a="http://schemas.openxmlformats.org/drawingml/2006/main" noGrp="1"/>
          </p:cNvSpPr>
          <p:nvPr/>
        </p:nvSpPr>
        <p:spPr>
          <a:xfrm xmlns:a="http://schemas.openxmlformats.org/drawingml/2006/main">
            <a:off x="582485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Component/safety/vehicle gates</a:t>
            </a:r>
          </a:p>
        </p:txBody>
      </p:sp>
      <p:sp>
        <p:nvSpPr>
          <p:cNvPr id="26" name="">
            <a:extLst xmlns:a="http://schemas.openxmlformats.org/drawingml/2006/main">
              <a:ext uri="{FF2B5EF4-FFF2-40B4-BE49-F238E27FC236}">
                <a16:creationId xmlns:a16="http://schemas.microsoft.com/office/drawing/2014/main" id="{2D16E905-0119-409F-8458-107F902F85EE}"/>
              </a:ext>
            </a:extLst>
          </p:cNvPr>
          <p:cNvSpPr>
            <a:spLocks xmlns:a="http://schemas.openxmlformats.org/drawingml/2006/main" noGrp="1"/>
          </p:cNvSpPr>
          <p:nvPr/>
        </p:nvSpPr>
        <p:spPr>
          <a:xfrm xmlns:a="http://schemas.openxmlformats.org/drawingml/2006/main">
            <a:off x="875601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583AF22B-66B0-4335-B4F9-9EC2BEACCD65}"/>
              </a:ext>
            </a:extLst>
          </p:cNvPr>
          <p:cNvSpPr>
            <a:spLocks xmlns:a="http://schemas.openxmlformats.org/drawingml/2006/main" noGrp="1"/>
          </p:cNvSpPr>
          <p:nvPr/>
        </p:nvSpPr>
        <p:spPr>
          <a:xfrm xmlns:a="http://schemas.openxmlformats.org/drawingml/2006/main">
            <a:off x="8756015" y="21177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B817AB5-8285-4D86-BCC4-E2CC020F33DF}"/>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9" name="">
            <a:extLst xmlns:a="http://schemas.openxmlformats.org/drawingml/2006/main">
              <a:ext uri="{FF2B5EF4-FFF2-40B4-BE49-F238E27FC236}">
                <a16:creationId xmlns:a16="http://schemas.microsoft.com/office/drawing/2014/main" id="{01DAB64C-37F9-4E5E-9216-C33DAB09C080}"/>
              </a:ext>
            </a:extLst>
          </p:cNvPr>
          <p:cNvSpPr>
            <a:spLocks xmlns:a="http://schemas.openxmlformats.org/drawingml/2006/main" noGrp="1"/>
          </p:cNvSpPr>
          <p:nvPr/>
        </p:nvSpPr>
        <p:spPr>
          <a:xfrm xmlns:a="http://schemas.openxmlformats.org/drawingml/2006/main">
            <a:off x="883221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Lower integration bar vs. OEM</a:t>
            </a:r>
          </a:p>
        </p:txBody>
      </p:sp>
      <p:sp>
        <p:nvSpPr>
          <p:cNvPr id="30" name="">
            <a:extLst xmlns:a="http://schemas.openxmlformats.org/drawingml/2006/main">
              <a:ext uri="{FF2B5EF4-FFF2-40B4-BE49-F238E27FC236}">
                <a16:creationId xmlns:a16="http://schemas.microsoft.com/office/drawing/2014/main" id="{0AF3999E-2151-4DF9-AED1-294686D3389E}"/>
              </a:ext>
            </a:extLst>
          </p:cNvPr>
          <p:cNvSpPr>
            <a:spLocks xmlns:a="http://schemas.openxmlformats.org/drawingml/2006/main" noGrp="1"/>
          </p:cNvSpPr>
          <p:nvPr/>
        </p:nvSpPr>
        <p:spPr>
          <a:xfrm xmlns:a="http://schemas.openxmlformats.org/drawingml/2006/main">
            <a:off x="457200" y="41465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9B5F94AF-B348-4701-A006-F69410BB9AEE}"/>
              </a:ext>
            </a:extLst>
          </p:cNvPr>
          <p:cNvSpPr>
            <a:spLocks xmlns:a="http://schemas.openxmlformats.org/drawingml/2006/main" noGrp="1"/>
          </p:cNvSpPr>
          <p:nvPr/>
        </p:nvSpPr>
        <p:spPr>
          <a:xfrm xmlns:a="http://schemas.openxmlformats.org/drawingml/2006/main">
            <a:off x="457200" y="41465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EF7A461-8388-4702-9DDB-6C4B33CCB84F}"/>
              </a:ext>
            </a:extLst>
          </p:cNvPr>
          <p:cNvSpPr>
            <a:spLocks xmlns:a="http://schemas.openxmlformats.org/drawingml/2006/main" noGrp="1"/>
          </p:cNvSpPr>
          <p:nvPr/>
        </p:nvSpPr>
        <p:spPr>
          <a:xfrm xmlns:a="http://schemas.openxmlformats.org/drawingml/2006/main">
            <a:off x="581025" y="4213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33" name="">
            <a:extLst xmlns:a="http://schemas.openxmlformats.org/drawingml/2006/main">
              <a:ext uri="{FF2B5EF4-FFF2-40B4-BE49-F238E27FC236}">
                <a16:creationId xmlns:a16="http://schemas.microsoft.com/office/drawing/2014/main" id="{2A5299BB-7274-422F-B7A1-47E91C7DD87B}"/>
              </a:ext>
            </a:extLst>
          </p:cNvPr>
          <p:cNvSpPr>
            <a:spLocks xmlns:a="http://schemas.openxmlformats.org/drawingml/2006/main" noGrp="1"/>
          </p:cNvSpPr>
          <p:nvPr/>
        </p:nvSpPr>
        <p:spPr>
          <a:xfrm xmlns:a="http://schemas.openxmlformats.org/drawingml/2006/main">
            <a:off x="581025" y="43624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Gahan's asserted advantage is automotive-grade qualification. That currency is only spendable where qualification gates the purchase, which is the OEM arena and nowhere else.</a:t>
            </a:r>
          </a:p>
        </p:txBody>
      </p:sp>
      <p:sp>
        <p:nvSpPr>
          <p:cNvPr id="34" name="">
            <a:extLst xmlns:a="http://schemas.openxmlformats.org/drawingml/2006/main">
              <a:ext uri="{FF2B5EF4-FFF2-40B4-BE49-F238E27FC236}">
                <a16:creationId xmlns:a16="http://schemas.microsoft.com/office/drawing/2014/main" id="{3A4E3E3C-025C-4D65-8189-AAD6A90FBC33}"/>
              </a:ext>
            </a:extLst>
          </p:cNvPr>
          <p:cNvSpPr>
            <a:spLocks xmlns:a="http://schemas.openxmlformats.org/drawingml/2006/main" noGrp="1"/>
          </p:cNvSpPr>
          <p:nvPr/>
        </p:nvSpPr>
        <p:spPr>
          <a:xfrm xmlns:a="http://schemas.openxmlformats.org/drawingml/2006/main">
            <a:off x="6153150" y="41465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5" name="">
            <a:extLst xmlns:a="http://schemas.openxmlformats.org/drawingml/2006/main">
              <a:ext uri="{FF2B5EF4-FFF2-40B4-BE49-F238E27FC236}">
                <a16:creationId xmlns:a16="http://schemas.microsoft.com/office/drawing/2014/main" id="{3CE0D7CE-880C-4613-BB9D-C845EB3DF2BF}"/>
              </a:ext>
            </a:extLst>
          </p:cNvPr>
          <p:cNvSpPr>
            <a:spLocks xmlns:a="http://schemas.openxmlformats.org/drawingml/2006/main" noGrp="1"/>
          </p:cNvSpPr>
          <p:nvPr/>
        </p:nvSpPr>
        <p:spPr>
          <a:xfrm xmlns:a="http://schemas.openxmlformats.org/drawingml/2006/main">
            <a:off x="6153150" y="41465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AAC25D5-D1FB-4C21-877F-926FD6F7F2FD}"/>
              </a:ext>
            </a:extLst>
          </p:cNvPr>
          <p:cNvSpPr>
            <a:spLocks xmlns:a="http://schemas.openxmlformats.org/drawingml/2006/main" noGrp="1"/>
          </p:cNvSpPr>
          <p:nvPr/>
        </p:nvSpPr>
        <p:spPr>
          <a:xfrm xmlns:a="http://schemas.openxmlformats.org/drawingml/2006/main">
            <a:off x="6276975" y="4213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37" name="">
            <a:extLst xmlns:a="http://schemas.openxmlformats.org/drawingml/2006/main">
              <a:ext uri="{FF2B5EF4-FFF2-40B4-BE49-F238E27FC236}">
                <a16:creationId xmlns:a16="http://schemas.microsoft.com/office/drawing/2014/main" id="{0124C503-EA12-4EDD-A7D6-9F610FE57B72}"/>
              </a:ext>
            </a:extLst>
          </p:cNvPr>
          <p:cNvSpPr>
            <a:spLocks xmlns:a="http://schemas.openxmlformats.org/drawingml/2006/main" noGrp="1"/>
          </p:cNvSpPr>
          <p:nvPr/>
        </p:nvSpPr>
        <p:spPr>
          <a:xfrm xmlns:a="http://schemas.openxmlformats.org/drawingml/2006/main">
            <a:off x="6276975" y="43624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Alerts configured on public OEM and qualification milestones.</a:t>
            </a:r>
          </a:p>
        </p:txBody>
      </p:sp>
      <p:sp>
        <p:nvSpPr>
          <p:cNvPr id="38" name="">
            <a:extLst xmlns:a="http://schemas.openxmlformats.org/drawingml/2006/main">
              <a:ext uri="{FF2B5EF4-FFF2-40B4-BE49-F238E27FC236}">
                <a16:creationId xmlns:a16="http://schemas.microsoft.com/office/drawing/2014/main" id="{47311AA9-A1E0-464A-97A8-B027B280B2BC}"/>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1A2D644E-6561-465F-9465-09AEB8050F25}"/>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F72E83BB-B7D5-46FA-A698-D8F15098280D}"/>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1" name="">
            <a:extLst xmlns:a="http://schemas.openxmlformats.org/drawingml/2006/main">
              <a:ext uri="{FF2B5EF4-FFF2-40B4-BE49-F238E27FC236}">
                <a16:creationId xmlns:a16="http://schemas.microsoft.com/office/drawing/2014/main" id="{CA2E86CB-02B4-49DC-9F5C-34A46FF76E44}"/>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Configure alerts specifically for public, OEM, and qualification milestones.</a:t>
            </a:r>
          </a:p>
        </p:txBody>
      </p:sp>
      <p:sp>
        <p:nvSpPr>
          <p:cNvPr id="42" name="">
            <a:extLst xmlns:a="http://schemas.openxmlformats.org/drawingml/2006/main">
              <a:ext uri="{FF2B5EF4-FFF2-40B4-BE49-F238E27FC236}">
                <a16:creationId xmlns:a16="http://schemas.microsoft.com/office/drawing/2014/main" id="{E1EAA9E6-4BC5-4417-B947-A7C92C984C3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3" name="">
            <a:extLst xmlns:a="http://schemas.openxmlformats.org/drawingml/2006/main">
              <a:ext uri="{FF2B5EF4-FFF2-40B4-BE49-F238E27FC236}">
                <a16:creationId xmlns:a16="http://schemas.microsoft.com/office/drawing/2014/main" id="{C573A623-EA2D-404C-B22F-C507CCCA2C40}"/>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Alerts configured on public OEM and qualification milestones.</a:t>
            </a:r>
          </a:p>
        </p:txBody>
      </p:sp>
      <p:sp>
        <p:nvSpPr>
          <p:cNvPr id="44" name="">
            <a:extLst xmlns:a="http://schemas.openxmlformats.org/drawingml/2006/main">
              <a:ext uri="{FF2B5EF4-FFF2-40B4-BE49-F238E27FC236}">
                <a16:creationId xmlns:a16="http://schemas.microsoft.com/office/drawing/2014/main" id="{1D92D3EF-957D-40F0-9AE9-DC915C99FE2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5" name="">
            <a:extLst xmlns:a="http://schemas.openxmlformats.org/drawingml/2006/main">
              <a:ext uri="{FF2B5EF4-FFF2-40B4-BE49-F238E27FC236}">
                <a16:creationId xmlns:a16="http://schemas.microsoft.com/office/drawing/2014/main" id="{3BDD2E0E-5C8C-45D6-8D43-9386F5E2A78A}"/>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any named OEM qualification milestone.</a:t>
            </a:r>
          </a:p>
        </p:txBody>
      </p:sp>
      <p:sp>
        <p:nvSpPr>
          <p:cNvPr id="46" name="">
            <a:extLst xmlns:a="http://schemas.openxmlformats.org/drawingml/2006/main">
              <a:ext uri="{FF2B5EF4-FFF2-40B4-BE49-F238E27FC236}">
                <a16:creationId xmlns:a16="http://schemas.microsoft.com/office/drawing/2014/main" id="{5E73FC43-F355-4667-A1F9-8905F1994009}"/>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9944F4C2-A717-4A03-9CCE-4A5AB5848B3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8" name="">
            <a:extLst xmlns:a="http://schemas.openxmlformats.org/drawingml/2006/main">
              <a:ext uri="{FF2B5EF4-FFF2-40B4-BE49-F238E27FC236}">
                <a16:creationId xmlns:a16="http://schemas.microsoft.com/office/drawing/2014/main" id="{C73FA3E8-3952-487D-91C1-2E7E3E75981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80</a:t>
            </a:r>
          </a:p>
        </p:txBody>
      </p:sp>
    </p:spTree>
    <p:extLst>
      <p:ext uri="{BB962C8B-B14F-4D97-AF65-F5344CB8AC3E}">
        <p14:creationId xmlns:p14="http://schemas.microsoft.com/office/powerpoint/2010/main" val="893621513"/>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2BA63A34-C753-4D75-B6DD-4627BEC6509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D1A6A5F-2DBE-4BF0-8BF3-673876FFD941}"/>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BEB8D51-8A6D-4ECA-817A-575A615B407C}"/>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DAF8E4CF-DF00-48DD-B4A2-D90E078CB13A}"/>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2DDECF67-939C-4C91-9174-FC3D13564FB4}"/>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Run a 30-day evidence sprint on Gahan's qualification chain</a:t>
            </a:r>
          </a:p>
        </p:txBody>
      </p:sp>
      <p:sp>
        <p:nvSpPr>
          <p:cNvPr id="6" name="">
            <a:extLst xmlns:a="http://schemas.openxmlformats.org/drawingml/2006/main">
              <a:ext uri="{FF2B5EF4-FFF2-40B4-BE49-F238E27FC236}">
                <a16:creationId xmlns:a16="http://schemas.microsoft.com/office/drawing/2014/main" id="{B2108D85-A63A-4F3E-9725-F112310DEB9F}"/>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CA6681D-EC68-4A22-BFF2-91B697FD9982}"/>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should DeepGrid do now, and which observable signals should trigger escalation?</a:t>
            </a:r>
          </a:p>
        </p:txBody>
      </p:sp>
      <p:sp>
        <p:nvSpPr>
          <p:cNvPr id="8" name="">
            <a:extLst xmlns:a="http://schemas.openxmlformats.org/drawingml/2006/main">
              <a:ext uri="{FF2B5EF4-FFF2-40B4-BE49-F238E27FC236}">
                <a16:creationId xmlns:a16="http://schemas.microsoft.com/office/drawing/2014/main" id="{36433FF4-A109-4D20-8F4B-604858B9A6F1}"/>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2ED0A0BC-36AC-4395-99D2-C346B6E5A643}"/>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4BBE112-9BDB-4A48-87DE-C2C125C5862E}"/>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AE9F68B8-07B6-49C4-BD16-D402AEBDF304}"/>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Run a 30-day request covering TI part and grade, component qualification, assessor identity and OEM scope. Gahan's rating should move only on a primary certificate or a customer-side artifact.</a:t>
            </a:r>
          </a:p>
        </p:txBody>
      </p:sp>
      <p:sp>
        <p:nvSpPr>
          <p:cNvPr id="12" name="">
            <a:extLst xmlns:a="http://schemas.openxmlformats.org/drawingml/2006/main">
              <a:ext uri="{FF2B5EF4-FFF2-40B4-BE49-F238E27FC236}">
                <a16:creationId xmlns:a16="http://schemas.microsoft.com/office/drawing/2014/main" id="{47C8E72D-E54A-4BAE-A1F4-8A9BC3DFAAA9}"/>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FDD99113-A3DC-4CB9-9DCA-BA2FF2D69477}"/>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6373174-4D7C-451B-9604-2840D999AC79}"/>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07621AFB-77DD-4CA9-A344-4325E8E966C6}"/>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STAGE 1: POTENTIAL THREAT</a:t>
            </a:r>
          </a:p>
        </p:txBody>
      </p:sp>
      <p:sp>
        <p:nvSpPr>
          <p:cNvPr id="16" name="">
            <a:extLst xmlns:a="http://schemas.openxmlformats.org/drawingml/2006/main">
              <a:ext uri="{FF2B5EF4-FFF2-40B4-BE49-F238E27FC236}">
                <a16:creationId xmlns:a16="http://schemas.microsoft.com/office/drawing/2014/main" id="{72A52DEA-49A5-4990-AAE8-DD7748481F50}"/>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If validated, Gahan's qualification narrative could combine sensing differentiation with automotive-grade proof before DeepGrid completes its own qualification. Radar/perception combo Autom…</a:t>
            </a:r>
          </a:p>
        </p:txBody>
      </p:sp>
      <p:sp>
        <p:nvSpPr>
          <p:cNvPr id="17" name="">
            <a:extLst xmlns:a="http://schemas.openxmlformats.org/drawingml/2006/main">
              <a:ext uri="{FF2B5EF4-FFF2-40B4-BE49-F238E27FC236}">
                <a16:creationId xmlns:a16="http://schemas.microsoft.com/office/drawing/2014/main" id="{ACA4CC7D-15AF-4CBB-80A1-C5E46B3B02C7}"/>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622CB51-6E80-4FF6-BC5F-58B8E2335B5C}"/>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DFC9FAAF-4016-4A56-AA43-50671F7A2FDA}"/>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F91122D-29AF-4FB7-93F6-8B0BC86EC902}"/>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39A80BBB-E565-4266-8F04-B2B950EB779A}"/>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STAGE 2: RESPONSE MECHANISM</a:t>
            </a:r>
          </a:p>
        </p:txBody>
      </p:sp>
      <p:sp>
        <p:nvSpPr>
          <p:cNvPr id="22" name="">
            <a:extLst xmlns:a="http://schemas.openxmlformats.org/drawingml/2006/main">
              <a:ext uri="{FF2B5EF4-FFF2-40B4-BE49-F238E27FC236}">
                <a16:creationId xmlns:a16="http://schemas.microsoft.com/office/drawing/2014/main" id="{EF31E9CC-9A98-4057-AB09-F848AB0BFFF2}"/>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Component qualification, safety lifecycle and vehicle approval are non-substitutable; "qualification" wording ≠ qualification proof. Verify component grade Check safety assessor Validate ve…</a:t>
            </a:r>
          </a:p>
        </p:txBody>
      </p:sp>
      <p:sp>
        <p:nvSpPr>
          <p:cNvPr id="23" name="">
            <a:extLst xmlns:a="http://schemas.openxmlformats.org/drawingml/2006/main">
              <a:ext uri="{FF2B5EF4-FFF2-40B4-BE49-F238E27FC236}">
                <a16:creationId xmlns:a16="http://schemas.microsoft.com/office/drawing/2014/main" id="{20E205BE-6974-4088-AA6F-F56CE1C37C48}"/>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D5ABA74-BB5E-4825-AD66-0938854731B9}"/>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64376CA6-0D20-4664-A1BB-B27ECE5D7B50}"/>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F6B7986-0113-4C36-86FD-6E29C1CD35DA}"/>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C7FCBB40-3782-4C75-A557-CB0E35D92541}"/>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STAGE 3: EVIDENCE SPRINT</a:t>
            </a:r>
          </a:p>
        </p:txBody>
      </p:sp>
      <p:sp>
        <p:nvSpPr>
          <p:cNvPr id="28" name="">
            <a:extLst xmlns:a="http://schemas.openxmlformats.org/drawingml/2006/main">
              <a:ext uri="{FF2B5EF4-FFF2-40B4-BE49-F238E27FC236}">
                <a16:creationId xmlns:a16="http://schemas.microsoft.com/office/drawing/2014/main" id="{CF2450DE-970D-4E69-8D6A-8112E7C47DED}"/>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AEC-Q100 concerns the identified packaged IC rather than proving qualification of the entire radar/perception platform. Request TI part/grade details Verify qualification scope Confirm asse…</a:t>
            </a:r>
          </a:p>
        </p:txBody>
      </p:sp>
      <p:sp>
        <p:nvSpPr>
          <p:cNvPr id="29" name="">
            <a:extLst xmlns:a="http://schemas.openxmlformats.org/drawingml/2006/main">
              <a:ext uri="{FF2B5EF4-FFF2-40B4-BE49-F238E27FC236}">
                <a16:creationId xmlns:a16="http://schemas.microsoft.com/office/drawing/2014/main" id="{D220D963-8BE6-4AEC-B51F-5F8F5FA34A12}"/>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EF45D99-4D65-4D70-AE4E-2FB851028159}"/>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CA22C2B3-3E62-47C7-9577-6E7D2BBEB603}"/>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4D89869-B0B2-4232-8FD8-3ABF9410EF7B}"/>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E08AF6EA-A0BE-461A-BA14-274F25E74BB9}"/>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28BAB223-6562-400F-B158-2BC41016F2FE}"/>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Threat rises only when a primary certificate or customer-side programme milestone is confirmed with explicit device, safety and vehicle evidence. Primary certificate receipt Customer-side m…</a:t>
            </a:r>
          </a:p>
        </p:txBody>
      </p:sp>
      <p:sp>
        <p:nvSpPr>
          <p:cNvPr id="35" name="">
            <a:extLst xmlns:a="http://schemas.openxmlformats.org/drawingml/2006/main">
              <a:ext uri="{FF2B5EF4-FFF2-40B4-BE49-F238E27FC236}">
                <a16:creationId xmlns:a16="http://schemas.microsoft.com/office/drawing/2014/main" id="{E2F9AF3B-698D-4F26-9806-E1D869E61F22}"/>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C00377CA-41D4-4F68-9386-39B97D5B1514}"/>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CEA18D5-3AAB-4EC9-86BE-855A7D2B13A8}"/>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22760AE7-B6FD-4A0A-87FA-766626FC2B7C}"/>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bounded sprint converts an open-ended monitoring problem into a dated one. Either the artifacts arrive and the rating moves on evidence, or they do not and the current rating is confirmed by the absence.</a:t>
            </a:r>
          </a:p>
        </p:txBody>
      </p:sp>
      <p:sp>
        <p:nvSpPr>
          <p:cNvPr id="39" name="">
            <a:extLst xmlns:a="http://schemas.openxmlformats.org/drawingml/2006/main">
              <a:ext uri="{FF2B5EF4-FFF2-40B4-BE49-F238E27FC236}">
                <a16:creationId xmlns:a16="http://schemas.microsoft.com/office/drawing/2014/main" id="{0F401388-B41A-448D-9FA8-579DB9B65B18}"/>
              </a:ext>
            </a:extLst>
          </p:cNvPr>
          <p:cNvSpPr>
            <a:spLocks xmlns:a="http://schemas.openxmlformats.org/drawingml/2006/main" noGrp="1"/>
          </p:cNvSpPr>
          <p:nvPr/>
        </p:nvSpPr>
        <p:spPr>
          <a:xfrm xmlns:a="http://schemas.openxmlformats.org/drawingml/2006/main">
            <a:off x="6153150" y="4727575"/>
            <a:ext cx="558165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6B694168-0236-4A01-9EF9-311C764CAD96}"/>
              </a:ext>
            </a:extLst>
          </p:cNvPr>
          <p:cNvSpPr>
            <a:spLocks xmlns:a="http://schemas.openxmlformats.org/drawingml/2006/main" noGrp="1"/>
          </p:cNvSpPr>
          <p:nvPr/>
        </p:nvSpPr>
        <p:spPr>
          <a:xfrm xmlns:a="http://schemas.openxmlformats.org/drawingml/2006/main">
            <a:off x="6153150" y="4727575"/>
            <a:ext cx="28575" cy="673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F8F4A86-65FF-4EE6-ABA7-A7E0981D66A7}"/>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A2D3DC81-04A5-406D-A001-8A9626876BA9}"/>
              </a:ext>
            </a:extLst>
          </p:cNvPr>
          <p:cNvSpPr>
            <a:spLocks xmlns:a="http://schemas.openxmlformats.org/drawingml/2006/main" noGrp="1"/>
          </p:cNvSpPr>
          <p:nvPr/>
        </p:nvSpPr>
        <p:spPr>
          <a:xfrm xmlns:a="http://schemas.openxmlformats.org/drawingml/2006/main">
            <a:off x="6276975" y="4943475"/>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immediately on receipt of any primary artifact; do not wait for the sprint to close.</a:t>
            </a:r>
          </a:p>
        </p:txBody>
      </p:sp>
      <p:sp>
        <p:nvSpPr>
          <p:cNvPr id="43" name="">
            <a:extLst xmlns:a="http://schemas.openxmlformats.org/drawingml/2006/main">
              <a:ext uri="{FF2B5EF4-FFF2-40B4-BE49-F238E27FC236}">
                <a16:creationId xmlns:a16="http://schemas.microsoft.com/office/drawing/2014/main" id="{BCE743EA-98A0-4262-9B8F-1CA2C7FE77AA}"/>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2863C61D-D0DF-4B76-8E80-843585E5F305}"/>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E77F36C5-9693-4FA1-A99F-35E73CC5BEFD}"/>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08D4C38D-B730-4B0B-B99B-F94A849FAA4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30-day request covering TI part/grade, qualification, assessor, OEM scope</a:t>
            </a:r>
          </a:p>
        </p:txBody>
      </p:sp>
      <p:sp>
        <p:nvSpPr>
          <p:cNvPr id="47" name="">
            <a:extLst xmlns:a="http://schemas.openxmlformats.org/drawingml/2006/main">
              <a:ext uri="{FF2B5EF4-FFF2-40B4-BE49-F238E27FC236}">
                <a16:creationId xmlns:a16="http://schemas.microsoft.com/office/drawing/2014/main" id="{3DBA9D6E-436F-439A-8FA3-C657107CCF20}"/>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4AD7FE7D-FFB2-45B0-98C2-F4E48A9B0959}"/>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Escalate threat rating on receipt of TI/OEM/assessor artifacts</a:t>
            </a:r>
          </a:p>
        </p:txBody>
      </p:sp>
      <p:sp>
        <p:nvSpPr>
          <p:cNvPr id="49" name="">
            <a:extLst xmlns:a="http://schemas.openxmlformats.org/drawingml/2006/main">
              <a:ext uri="{FF2B5EF4-FFF2-40B4-BE49-F238E27FC236}">
                <a16:creationId xmlns:a16="http://schemas.microsoft.com/office/drawing/2014/main" id="{423DDFF9-5021-4233-81C5-2B5246FAF813}"/>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57CEABCD-CF4F-4502-9799-CBAFC5B348F7}"/>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immediately on receipt of any primary artifact; do not wait for the sprint to close.</a:t>
            </a:r>
          </a:p>
        </p:txBody>
      </p:sp>
      <p:sp>
        <p:nvSpPr>
          <p:cNvPr id="51" name="">
            <a:extLst xmlns:a="http://schemas.openxmlformats.org/drawingml/2006/main">
              <a:ext uri="{FF2B5EF4-FFF2-40B4-BE49-F238E27FC236}">
                <a16:creationId xmlns:a16="http://schemas.microsoft.com/office/drawing/2014/main" id="{0C853EA5-20C4-47BA-944B-766A1398027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73989975-08FF-4F05-BEC5-D5F7AFBDB91F}"/>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BFFB1E43-E365-4EAC-84BF-EE9E14F1E63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81</a:t>
            </a:r>
          </a:p>
        </p:txBody>
      </p:sp>
    </p:spTree>
    <p:extLst>
      <p:ext uri="{BB962C8B-B14F-4D97-AF65-F5344CB8AC3E}">
        <p14:creationId xmlns:p14="http://schemas.microsoft.com/office/powerpoint/2010/main" val="1115624226"/>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992784D7-1812-4280-9DC3-3E302FD8974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C0B9B27-EEED-4345-AB78-391C8F376402}"/>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5ACA6D9-4607-4C6B-95AF-CB3D0BDDB3C3}"/>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1B872DCD-5B72-44C4-8500-A277515F904D}"/>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DD0C485D-BC83-40DA-A911-0EE9714D507D}"/>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Gahan is the highest-priority diligence target because primary proof could reshape near-term moves</a:t>
            </a:r>
          </a:p>
        </p:txBody>
      </p:sp>
      <p:sp>
        <p:nvSpPr>
          <p:cNvPr id="6" name="">
            <a:extLst xmlns:a="http://schemas.openxmlformats.org/drawingml/2006/main">
              <a:ext uri="{FF2B5EF4-FFF2-40B4-BE49-F238E27FC236}">
                <a16:creationId xmlns:a16="http://schemas.microsoft.com/office/drawing/2014/main" id="{CF244A88-9DC3-47D0-8021-2424F7024BF0}"/>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6634C68-2867-4810-B8C0-C03B186EF3FF}"/>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uncertainty could most change DeepGrid's near-term competitive response?</a:t>
            </a:r>
          </a:p>
        </p:txBody>
      </p:sp>
      <p:sp>
        <p:nvSpPr>
          <p:cNvPr id="8" name="">
            <a:extLst xmlns:a="http://schemas.openxmlformats.org/drawingml/2006/main">
              <a:ext uri="{FF2B5EF4-FFF2-40B4-BE49-F238E27FC236}">
                <a16:creationId xmlns:a16="http://schemas.microsoft.com/office/drawing/2014/main" id="{CE4106F9-107F-41AE-AD08-416E2E1D6DF1}"/>
              </a:ext>
            </a:extLst>
          </p:cNvPr>
          <p:cNvSpPr>
            <a:spLocks xmlns:a="http://schemas.openxmlformats.org/drawingml/2006/main" noGrp="1"/>
          </p:cNvSpPr>
          <p:nvPr/>
        </p:nvSpPr>
        <p:spPr>
          <a:xfrm xmlns:a="http://schemas.openxmlformats.org/drawingml/2006/main">
            <a:off x="457200" y="1317625"/>
            <a:ext cx="11277600" cy="930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C080F468-C4C2-40EF-B279-6D217A3AC14A}"/>
              </a:ext>
            </a:extLst>
          </p:cNvPr>
          <p:cNvSpPr>
            <a:spLocks xmlns:a="http://schemas.openxmlformats.org/drawingml/2006/main" noGrp="1"/>
          </p:cNvSpPr>
          <p:nvPr/>
        </p:nvSpPr>
        <p:spPr>
          <a:xfrm xmlns:a="http://schemas.openxmlformats.org/drawingml/2006/main">
            <a:off x="457200" y="1317625"/>
            <a:ext cx="28575" cy="9302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0C47470-91EC-43BC-B62E-FD316D33F314}"/>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A21B9782-CF0E-4921-856C-E5A52FD2A5E4}"/>
              </a:ext>
            </a:extLst>
          </p:cNvPr>
          <p:cNvSpPr>
            <a:spLocks xmlns:a="http://schemas.openxmlformats.org/drawingml/2006/main" noGrp="1"/>
          </p:cNvSpPr>
          <p:nvPr/>
        </p:nvSpPr>
        <p:spPr>
          <a:xfrm xmlns:a="http://schemas.openxmlformats.org/drawingml/2006/main">
            <a:off x="581025" y="153352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Gahan's combined radar/perception proposition could become a differentiated indigenous threat, but automotive readiness and commercial traction remain unverified. Diligence may waste management attention on weak traction. Falsify the priority if requested primary artifacts cannot identify both device grade and vehicle applicability.</a:t>
            </a:r>
          </a:p>
        </p:txBody>
      </p:sp>
      <p:sp>
        <p:nvSpPr>
          <p:cNvPr id="12" name="">
            <a:extLst xmlns:a="http://schemas.openxmlformats.org/drawingml/2006/main">
              <a:ext uri="{FF2B5EF4-FFF2-40B4-BE49-F238E27FC236}">
                <a16:creationId xmlns:a16="http://schemas.microsoft.com/office/drawing/2014/main" id="{D4819517-199A-4D52-A74C-4A41286E9478}"/>
              </a:ext>
            </a:extLst>
          </p:cNvPr>
          <p:cNvSpPr>
            <a:spLocks xmlns:a="http://schemas.openxmlformats.org/drawingml/2006/main" noGrp="1"/>
          </p:cNvSpPr>
          <p:nvPr/>
        </p:nvSpPr>
        <p:spPr>
          <a:xfrm xmlns:a="http://schemas.openxmlformats.org/drawingml/2006/main">
            <a:off x="457200" y="2362200"/>
            <a:ext cx="3695700" cy="24288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1B90E75A-F436-4135-AA58-D16A59F239B8}"/>
              </a:ext>
            </a:extLst>
          </p:cNvPr>
          <p:cNvSpPr>
            <a:spLocks xmlns:a="http://schemas.openxmlformats.org/drawingml/2006/main" noGrp="1"/>
          </p:cNvSpPr>
          <p:nvPr/>
        </p:nvSpPr>
        <p:spPr>
          <a:xfrm xmlns:a="http://schemas.openxmlformats.org/drawingml/2006/main">
            <a:off x="457200" y="23622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4A5014F-3513-4970-B113-D69CEEDF6485}"/>
              </a:ext>
            </a:extLst>
          </p:cNvPr>
          <p:cNvSpPr>
            <a:spLocks xmlns:a="http://schemas.openxmlformats.org/drawingml/2006/main" noGrp="1"/>
          </p:cNvSpPr>
          <p:nvPr/>
        </p:nvSpPr>
        <p:spPr>
          <a:xfrm xmlns:a="http://schemas.openxmlformats.org/drawingml/2006/main">
            <a:off x="571500" y="24765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AFAF13CE-E0CB-4831-AD6F-EC9289147A02}"/>
              </a:ext>
            </a:extLst>
          </p:cNvPr>
          <p:cNvSpPr>
            <a:spLocks xmlns:a="http://schemas.openxmlformats.org/drawingml/2006/main" noGrp="1"/>
          </p:cNvSpPr>
          <p:nvPr/>
        </p:nvSpPr>
        <p:spPr>
          <a:xfrm xmlns:a="http://schemas.openxmlformats.org/drawingml/2006/main">
            <a:off x="571500" y="2628900"/>
            <a:ext cx="3448050" cy="2085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Gahan's combined radar/perception proposition could become a differentiated indigenous threat, but automotive readiness and commercial traction remain unverified. Diligence may waste management attention on weak traction. Falsify the priority if requested primary artifacts cannot identify both device grade and vehicle applicability.</a:t>
            </a:r>
          </a:p>
        </p:txBody>
      </p:sp>
      <p:sp>
        <p:nvSpPr>
          <p:cNvPr id="16" name="">
            <a:extLst xmlns:a="http://schemas.openxmlformats.org/drawingml/2006/main">
              <a:ext uri="{FF2B5EF4-FFF2-40B4-BE49-F238E27FC236}">
                <a16:creationId xmlns:a16="http://schemas.microsoft.com/office/drawing/2014/main" id="{2F1A8E08-B825-4D34-BA60-8C524C632AF8}"/>
              </a:ext>
            </a:extLst>
          </p:cNvPr>
          <p:cNvSpPr>
            <a:spLocks xmlns:a="http://schemas.openxmlformats.org/drawingml/2006/main" noGrp="1"/>
          </p:cNvSpPr>
          <p:nvPr/>
        </p:nvSpPr>
        <p:spPr>
          <a:xfrm xmlns:a="http://schemas.openxmlformats.org/drawingml/2006/main">
            <a:off x="4248150" y="2362200"/>
            <a:ext cx="3695700" cy="24288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5C70AFCA-9ED1-40DB-9B55-EFDEBF2A3DE2}"/>
              </a:ext>
            </a:extLst>
          </p:cNvPr>
          <p:cNvSpPr>
            <a:spLocks xmlns:a="http://schemas.openxmlformats.org/drawingml/2006/main" noGrp="1"/>
          </p:cNvSpPr>
          <p:nvPr/>
        </p:nvSpPr>
        <p:spPr>
          <a:xfrm xmlns:a="http://schemas.openxmlformats.org/drawingml/2006/main">
            <a:off x="4248150" y="23622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F6EF290-AD35-4514-8263-8FF59E02BFEB}"/>
              </a:ext>
            </a:extLst>
          </p:cNvPr>
          <p:cNvSpPr>
            <a:spLocks xmlns:a="http://schemas.openxmlformats.org/drawingml/2006/main" noGrp="1"/>
          </p:cNvSpPr>
          <p:nvPr/>
        </p:nvSpPr>
        <p:spPr>
          <a:xfrm xmlns:a="http://schemas.openxmlformats.org/drawingml/2006/main">
            <a:off x="4362450" y="24765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5F7E64D6-FE52-4FD1-8EBA-7C0758DBBE74}"/>
              </a:ext>
            </a:extLst>
          </p:cNvPr>
          <p:cNvSpPr>
            <a:spLocks xmlns:a="http://schemas.openxmlformats.org/drawingml/2006/main" noGrp="1"/>
          </p:cNvSpPr>
          <p:nvPr/>
        </p:nvSpPr>
        <p:spPr>
          <a:xfrm xmlns:a="http://schemas.openxmlformats.org/drawingml/2006/main">
            <a:off x="4362450" y="2628900"/>
            <a:ext cx="3448050" cy="2085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No supplied primary evidence confirms the exact device grade, safety certificate scope and assessor, or vehicle-level applicability.</a:t>
            </a:r>
          </a:p>
        </p:txBody>
      </p:sp>
      <p:sp>
        <p:nvSpPr>
          <p:cNvPr id="20" name="">
            <a:extLst xmlns:a="http://schemas.openxmlformats.org/drawingml/2006/main">
              <a:ext uri="{FF2B5EF4-FFF2-40B4-BE49-F238E27FC236}">
                <a16:creationId xmlns:a16="http://schemas.microsoft.com/office/drawing/2014/main" id="{795A181F-2557-4D6A-89C2-6CF3DE0DECBE}"/>
              </a:ext>
            </a:extLst>
          </p:cNvPr>
          <p:cNvSpPr>
            <a:spLocks xmlns:a="http://schemas.openxmlformats.org/drawingml/2006/main" noGrp="1"/>
          </p:cNvSpPr>
          <p:nvPr/>
        </p:nvSpPr>
        <p:spPr>
          <a:xfrm xmlns:a="http://schemas.openxmlformats.org/drawingml/2006/main">
            <a:off x="8039100" y="2362200"/>
            <a:ext cx="3695700" cy="24288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F43D62B8-A6DA-47CE-8703-3ECF199B8F95}"/>
              </a:ext>
            </a:extLst>
          </p:cNvPr>
          <p:cNvSpPr>
            <a:spLocks xmlns:a="http://schemas.openxmlformats.org/drawingml/2006/main" noGrp="1"/>
          </p:cNvSpPr>
          <p:nvPr/>
        </p:nvSpPr>
        <p:spPr>
          <a:xfrm xmlns:a="http://schemas.openxmlformats.org/drawingml/2006/main">
            <a:off x="8039100" y="23622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CBFBC6C-C069-44A2-9684-22480D88E901}"/>
              </a:ext>
            </a:extLst>
          </p:cNvPr>
          <p:cNvSpPr>
            <a:spLocks xmlns:a="http://schemas.openxmlformats.org/drawingml/2006/main" noGrp="1"/>
          </p:cNvSpPr>
          <p:nvPr/>
        </p:nvSpPr>
        <p:spPr>
          <a:xfrm xmlns:a="http://schemas.openxmlformats.org/drawingml/2006/main">
            <a:off x="8153400" y="24765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FBC9F3D8-1E1D-4EE3-A1B4-B690DD040380}"/>
              </a:ext>
            </a:extLst>
          </p:cNvPr>
          <p:cNvSpPr>
            <a:spLocks xmlns:a="http://schemas.openxmlformats.org/drawingml/2006/main" noGrp="1"/>
          </p:cNvSpPr>
          <p:nvPr/>
        </p:nvSpPr>
        <p:spPr>
          <a:xfrm xmlns:a="http://schemas.openxmlformats.org/drawingml/2006/main">
            <a:off x="8153400" y="2628900"/>
            <a:ext cx="3448050" cy="2085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Resolve Gahan uncertainty before reallocating product or commercial focus</a:t>
            </a:r>
          </a:p>
        </p:txBody>
      </p:sp>
      <p:sp>
        <p:nvSpPr>
          <p:cNvPr id="24" name="">
            <a:extLst xmlns:a="http://schemas.openxmlformats.org/drawingml/2006/main">
              <a:ext uri="{FF2B5EF4-FFF2-40B4-BE49-F238E27FC236}">
                <a16:creationId xmlns:a16="http://schemas.microsoft.com/office/drawing/2014/main" id="{34B0306D-9100-4016-8043-6ADD3340FC37}"/>
              </a:ext>
            </a:extLst>
          </p:cNvPr>
          <p:cNvSpPr>
            <a:spLocks xmlns:a="http://schemas.openxmlformats.org/drawingml/2006/main" noGrp="1"/>
          </p:cNvSpPr>
          <p:nvPr/>
        </p:nvSpPr>
        <p:spPr>
          <a:xfrm xmlns:a="http://schemas.openxmlformats.org/drawingml/2006/main">
            <a:off x="457200" y="4905375"/>
            <a:ext cx="11277600" cy="673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739846C2-0213-4A91-9E57-079D643E4E2A}"/>
              </a:ext>
            </a:extLst>
          </p:cNvPr>
          <p:cNvSpPr>
            <a:spLocks xmlns:a="http://schemas.openxmlformats.org/drawingml/2006/main" noGrp="1"/>
          </p:cNvSpPr>
          <p:nvPr/>
        </p:nvSpPr>
        <p:spPr>
          <a:xfrm xmlns:a="http://schemas.openxmlformats.org/drawingml/2006/main">
            <a:off x="457200" y="4905375"/>
            <a:ext cx="28575" cy="673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9A6A258-52C2-47C7-B9D2-6691E9C90070}"/>
              </a:ext>
            </a:extLst>
          </p:cNvPr>
          <p:cNvSpPr>
            <a:spLocks xmlns:a="http://schemas.openxmlformats.org/drawingml/2006/main" noGrp="1"/>
          </p:cNvSpPr>
          <p:nvPr/>
        </p:nvSpPr>
        <p:spPr>
          <a:xfrm xmlns:a="http://schemas.openxmlformats.org/drawingml/2006/main">
            <a:off x="581025" y="49720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5F08A639-261C-4D47-AE2F-B9FFC6D5D778}"/>
              </a:ext>
            </a:extLst>
          </p:cNvPr>
          <p:cNvSpPr>
            <a:spLocks xmlns:a="http://schemas.openxmlformats.org/drawingml/2006/main" noGrp="1"/>
          </p:cNvSpPr>
          <p:nvPr/>
        </p:nvSpPr>
        <p:spPr>
          <a:xfrm xmlns:a="http://schemas.openxmlformats.org/drawingml/2006/main">
            <a:off x="581025" y="5121275"/>
            <a:ext cx="1102995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the 30-day artifact request returns a primary TI part and grade certificate plus a named OEM scope — which would confirm the threat rather than resolve it.</a:t>
            </a:r>
          </a:p>
        </p:txBody>
      </p:sp>
      <p:sp>
        <p:nvSpPr>
          <p:cNvPr id="28" name="">
            <a:extLst xmlns:a="http://schemas.openxmlformats.org/drawingml/2006/main">
              <a:ext uri="{FF2B5EF4-FFF2-40B4-BE49-F238E27FC236}">
                <a16:creationId xmlns:a16="http://schemas.microsoft.com/office/drawing/2014/main" id="{EBD9C780-527F-4C66-B53C-0D84823F93FE}"/>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1C9B7FE-A479-45C1-9F5C-C1E15407EF0D}"/>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AB05FA2-1C93-4A17-BAFD-27EC38C4944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CBACB6F5-C434-4B5B-9753-BC657AD2B820}"/>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Launch focused artifact requests; timebox 30 days for verification</a:t>
            </a:r>
          </a:p>
        </p:txBody>
      </p:sp>
      <p:sp>
        <p:nvSpPr>
          <p:cNvPr id="32" name="">
            <a:extLst xmlns:a="http://schemas.openxmlformats.org/drawingml/2006/main">
              <a:ext uri="{FF2B5EF4-FFF2-40B4-BE49-F238E27FC236}">
                <a16:creationId xmlns:a16="http://schemas.microsoft.com/office/drawing/2014/main" id="{374B31E1-6AB1-4963-BEB4-733DBD91BB66}"/>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E79EA17A-A633-4AB7-8552-B1C87B0A3DCA}"/>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Escalate/de-escalate on receipt of primary artifacts</a:t>
            </a:r>
          </a:p>
        </p:txBody>
      </p:sp>
      <p:sp>
        <p:nvSpPr>
          <p:cNvPr id="34" name="">
            <a:extLst xmlns:a="http://schemas.openxmlformats.org/drawingml/2006/main">
              <a:ext uri="{FF2B5EF4-FFF2-40B4-BE49-F238E27FC236}">
                <a16:creationId xmlns:a16="http://schemas.microsoft.com/office/drawing/2014/main" id="{DC893A94-7691-453C-9B8F-2528FD0B821C}"/>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BFD1D604-A242-48B8-BD37-334111D526E7}"/>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or de-escalate on receipt of primary artifacts; do not hold the rating open past 30 days.</a:t>
            </a:r>
          </a:p>
        </p:txBody>
      </p:sp>
      <p:sp>
        <p:nvSpPr>
          <p:cNvPr id="36" name="">
            <a:extLst xmlns:a="http://schemas.openxmlformats.org/drawingml/2006/main">
              <a:ext uri="{FF2B5EF4-FFF2-40B4-BE49-F238E27FC236}">
                <a16:creationId xmlns:a16="http://schemas.microsoft.com/office/drawing/2014/main" id="{FE90076C-7232-4CF1-92B3-5F397B0A8CF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DD4A7FC-8393-4AA3-A4A5-D4E56477D3BF}"/>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2A8D43C7-7C58-41C9-92FF-3C0B96BC0EE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82</a:t>
            </a:r>
          </a:p>
        </p:txBody>
      </p:sp>
    </p:spTree>
    <p:extLst>
      <p:ext uri="{BB962C8B-B14F-4D97-AF65-F5344CB8AC3E}">
        <p14:creationId xmlns:p14="http://schemas.microsoft.com/office/powerpoint/2010/main" val="662833313"/>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E5C8584A-7665-4670-95DF-7527F1C44B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8A0688C-D41B-4A7F-9C41-EF706DD7D026}"/>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5E7192B-7C1A-43A7-B272-991F2E515E6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FDB9A459-289E-4436-AE14-099E0EEA18C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F72526A1-0F8E-4B3B-B0E7-540E605218F7}"/>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Gahan remains a medium-high watchlist threat until automotive readiness is verified</a:t>
            </a:r>
          </a:p>
        </p:txBody>
      </p:sp>
      <p:sp>
        <p:nvSpPr>
          <p:cNvPr id="6" name="">
            <a:extLst xmlns:a="http://schemas.openxmlformats.org/drawingml/2006/main">
              <a:ext uri="{FF2B5EF4-FFF2-40B4-BE49-F238E27FC236}">
                <a16:creationId xmlns:a16="http://schemas.microsoft.com/office/drawing/2014/main" id="{90B2419D-7A90-4A4E-A61D-0E34DD5BEEA6}"/>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CF97AA8-D50B-481B-9601-3DD3DA59F0F4}"/>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materially raise or lower Gahan's threat rating?</a:t>
            </a:r>
          </a:p>
        </p:txBody>
      </p:sp>
      <p:sp>
        <p:nvSpPr>
          <p:cNvPr id="8" name="">
            <a:extLst xmlns:a="http://schemas.openxmlformats.org/drawingml/2006/main">
              <a:ext uri="{FF2B5EF4-FFF2-40B4-BE49-F238E27FC236}">
                <a16:creationId xmlns:a16="http://schemas.microsoft.com/office/drawing/2014/main" id="{EDABDAD3-F5E5-4B3E-828C-7E4A1B8D8E1E}"/>
              </a:ext>
            </a:extLst>
          </p:cNvPr>
          <p:cNvSpPr>
            <a:spLocks xmlns:a="http://schemas.openxmlformats.org/drawingml/2006/main" noGrp="1"/>
          </p:cNvSpPr>
          <p:nvPr/>
        </p:nvSpPr>
        <p:spPr>
          <a:xfrm xmlns:a="http://schemas.openxmlformats.org/drawingml/2006/main">
            <a:off x="457200" y="1317625"/>
            <a:ext cx="11277600" cy="9302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D5EFFAE5-F9BB-4E77-95D6-6996F01D7B9D}"/>
              </a:ext>
            </a:extLst>
          </p:cNvPr>
          <p:cNvSpPr>
            <a:spLocks xmlns:a="http://schemas.openxmlformats.org/drawingml/2006/main" noGrp="1"/>
          </p:cNvSpPr>
          <p:nvPr/>
        </p:nvSpPr>
        <p:spPr>
          <a:xfrm xmlns:a="http://schemas.openxmlformats.org/drawingml/2006/main">
            <a:off x="457200" y="1317625"/>
            <a:ext cx="28575" cy="9302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1FE4269-DCC8-43F5-9ADD-DDFFB241900C}"/>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535F412A-2F31-4748-95E1-D9A75AB263E6}"/>
              </a:ext>
            </a:extLst>
          </p:cNvPr>
          <p:cNvSpPr>
            <a:spLocks xmlns:a="http://schemas.openxmlformats.org/drawingml/2006/main" noGrp="1"/>
          </p:cNvSpPr>
          <p:nvPr/>
        </p:nvSpPr>
        <p:spPr>
          <a:xfrm xmlns:a="http://schemas.openxmlformats.org/drawingml/2006/main">
            <a:off x="581025" y="153352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Gahan's combined radar/perception proposition could become a differentiated indigenous threat, but automotive readiness and commercial traction remain unverified. Document review could create false confidence. The current view is falsified upward by primary qualification and customer evidence.</a:t>
            </a:r>
          </a:p>
        </p:txBody>
      </p:sp>
      <p:sp>
        <p:nvSpPr>
          <p:cNvPr id="12" name="">
            <a:extLst xmlns:a="http://schemas.openxmlformats.org/drawingml/2006/main">
              <a:ext uri="{FF2B5EF4-FFF2-40B4-BE49-F238E27FC236}">
                <a16:creationId xmlns:a16="http://schemas.microsoft.com/office/drawing/2014/main" id="{E3996840-62BD-4115-910A-9857D4763068}"/>
              </a:ext>
            </a:extLst>
          </p:cNvPr>
          <p:cNvSpPr>
            <a:spLocks xmlns:a="http://schemas.openxmlformats.org/drawingml/2006/main" noGrp="1"/>
          </p:cNvSpPr>
          <p:nvPr/>
        </p:nvSpPr>
        <p:spPr>
          <a:xfrm xmlns:a="http://schemas.openxmlformats.org/drawingml/2006/main">
            <a:off x="457200" y="2362200"/>
            <a:ext cx="11277600" cy="7524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6420DE26-596B-432E-8CEF-8D88F6C0F9AA}"/>
              </a:ext>
            </a:extLst>
          </p:cNvPr>
          <p:cNvSpPr>
            <a:spLocks xmlns:a="http://schemas.openxmlformats.org/drawingml/2006/main" noGrp="1"/>
          </p:cNvSpPr>
          <p:nvPr/>
        </p:nvSpPr>
        <p:spPr>
          <a:xfrm xmlns:a="http://schemas.openxmlformats.org/drawingml/2006/main">
            <a:off x="457200" y="2362200"/>
            <a:ext cx="5187696"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A0FACC9-0DAC-4C61-8D22-D43557E32FF5}"/>
              </a:ext>
            </a:extLst>
          </p:cNvPr>
          <p:cNvSpPr>
            <a:spLocks xmlns:a="http://schemas.openxmlformats.org/drawingml/2006/main" noGrp="1"/>
          </p:cNvSpPr>
          <p:nvPr/>
        </p:nvSpPr>
        <p:spPr>
          <a:xfrm xmlns:a="http://schemas.openxmlformats.org/drawingml/2006/main">
            <a:off x="457200" y="2362200"/>
            <a:ext cx="28575" cy="7524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9DEC547-44AA-40BB-A87D-D55B83C8015F}"/>
              </a:ext>
            </a:extLst>
          </p:cNvPr>
          <p:cNvSpPr>
            <a:spLocks xmlns:a="http://schemas.openxmlformats.org/drawingml/2006/main" noGrp="1"/>
          </p:cNvSpPr>
          <p:nvPr/>
        </p:nvSpPr>
        <p:spPr>
          <a:xfrm xmlns:a="http://schemas.openxmlformats.org/drawingml/2006/main">
            <a:off x="571500" y="2447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INTEGRATE DGS001 INTO A</a:t>
            </a:r>
          </a:p>
        </p:txBody>
      </p:sp>
      <p:sp>
        <p:nvSpPr>
          <p:cNvPr id="16" name="">
            <a:extLst xmlns:a="http://schemas.openxmlformats.org/drawingml/2006/main">
              <a:ext uri="{FF2B5EF4-FFF2-40B4-BE49-F238E27FC236}">
                <a16:creationId xmlns:a16="http://schemas.microsoft.com/office/drawing/2014/main" id="{0BFFA016-5A3E-43EF-BDD8-25509D67F9BC}"/>
              </a:ext>
            </a:extLst>
          </p:cNvPr>
          <p:cNvSpPr>
            <a:spLocks xmlns:a="http://schemas.openxmlformats.org/drawingml/2006/main" noGrp="1"/>
          </p:cNvSpPr>
          <p:nvPr/>
        </p:nvSpPr>
        <p:spPr>
          <a:xfrm xmlns:a="http://schemas.openxmlformats.org/drawingml/2006/main">
            <a:off x="4067556" y="2438400"/>
            <a:ext cx="56388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Integrate DGS001 into a braking/radar owner’s architecture with documented interfaces, latency, diagnostics, safety assumptions and licensing/supply…</a:t>
            </a:r>
          </a:p>
        </p:txBody>
      </p:sp>
      <p:sp>
        <p:nvSpPr>
          <p:cNvPr id="17" name="">
            <a:extLst xmlns:a="http://schemas.openxmlformats.org/drawingml/2006/main">
              <a:ext uri="{FF2B5EF4-FFF2-40B4-BE49-F238E27FC236}">
                <a16:creationId xmlns:a16="http://schemas.microsoft.com/office/drawing/2014/main" id="{A85816D8-48CB-4C9F-AA1A-10CD829C8343}"/>
              </a:ext>
            </a:extLst>
          </p:cNvPr>
          <p:cNvSpPr>
            <a:spLocks xmlns:a="http://schemas.openxmlformats.org/drawingml/2006/main" noGrp="1"/>
          </p:cNvSpPr>
          <p:nvPr/>
        </p:nvSpPr>
        <p:spPr>
          <a:xfrm xmlns:a="http://schemas.openxmlformats.org/drawingml/2006/main">
            <a:off x="9816084" y="2447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F4342314-26FF-47F2-B504-34D142DC304C}"/>
              </a:ext>
            </a:extLst>
          </p:cNvPr>
          <p:cNvSpPr>
            <a:spLocks xmlns:a="http://schemas.openxmlformats.org/drawingml/2006/main" noGrp="1"/>
          </p:cNvSpPr>
          <p:nvPr/>
        </p:nvSpPr>
        <p:spPr>
          <a:xfrm xmlns:a="http://schemas.openxmlformats.org/drawingml/2006/main">
            <a:off x="457200" y="3181350"/>
            <a:ext cx="11277600" cy="7524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D09E080F-FF27-4A35-A7D5-9939A74921CA}"/>
              </a:ext>
            </a:extLst>
          </p:cNvPr>
          <p:cNvSpPr>
            <a:spLocks xmlns:a="http://schemas.openxmlformats.org/drawingml/2006/main" noGrp="1"/>
          </p:cNvSpPr>
          <p:nvPr/>
        </p:nvSpPr>
        <p:spPr>
          <a:xfrm xmlns:a="http://schemas.openxmlformats.org/drawingml/2006/main">
            <a:off x="457200" y="3181350"/>
            <a:ext cx="4962144"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B1F2403-CD18-4281-ABB9-718879F7211C}"/>
              </a:ext>
            </a:extLst>
          </p:cNvPr>
          <p:cNvSpPr>
            <a:spLocks xmlns:a="http://schemas.openxmlformats.org/drawingml/2006/main" noGrp="1"/>
          </p:cNvSpPr>
          <p:nvPr/>
        </p:nvSpPr>
        <p:spPr>
          <a:xfrm xmlns:a="http://schemas.openxmlformats.org/drawingml/2006/main">
            <a:off x="457200" y="3181350"/>
            <a:ext cx="28575" cy="7524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F14AE66-26B1-4909-97F3-00170C9BD155}"/>
              </a:ext>
            </a:extLst>
          </p:cNvPr>
          <p:cNvSpPr>
            <a:spLocks xmlns:a="http://schemas.openxmlformats.org/drawingml/2006/main" noGrp="1"/>
          </p:cNvSpPr>
          <p:nvPr/>
        </p:nvSpPr>
        <p:spPr>
          <a:xfrm xmlns:a="http://schemas.openxmlformats.org/drawingml/2006/main">
            <a:off x="571500" y="32670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RUN PAID FLEET/MINING PILOTS</a:t>
            </a:r>
          </a:p>
        </p:txBody>
      </p:sp>
      <p:sp>
        <p:nvSpPr>
          <p:cNvPr id="22" name="">
            <a:extLst xmlns:a="http://schemas.openxmlformats.org/drawingml/2006/main">
              <a:ext uri="{FF2B5EF4-FFF2-40B4-BE49-F238E27FC236}">
                <a16:creationId xmlns:a16="http://schemas.microsoft.com/office/drawing/2014/main" id="{F431888A-60FD-4F9E-B828-539267E53D83}"/>
              </a:ext>
            </a:extLst>
          </p:cNvPr>
          <p:cNvSpPr>
            <a:spLocks xmlns:a="http://schemas.openxmlformats.org/drawingml/2006/main" noGrp="1"/>
          </p:cNvSpPr>
          <p:nvPr/>
        </p:nvSpPr>
        <p:spPr>
          <a:xfrm xmlns:a="http://schemas.openxmlformats.org/drawingml/2006/main">
            <a:off x="4067556" y="3257550"/>
            <a:ext cx="56388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Run paid fleet/mining pilots whose telemetry produces the India-specific nuisance-event and edge-case corpus the integration partner needs.</a:t>
            </a:r>
          </a:p>
        </p:txBody>
      </p:sp>
      <p:sp>
        <p:nvSpPr>
          <p:cNvPr id="23" name="">
            <a:extLst xmlns:a="http://schemas.openxmlformats.org/drawingml/2006/main">
              <a:ext uri="{FF2B5EF4-FFF2-40B4-BE49-F238E27FC236}">
                <a16:creationId xmlns:a16="http://schemas.microsoft.com/office/drawing/2014/main" id="{C843FD0C-ED77-41C6-A3BE-F45D7FE47085}"/>
              </a:ext>
            </a:extLst>
          </p:cNvPr>
          <p:cNvSpPr>
            <a:spLocks xmlns:a="http://schemas.openxmlformats.org/drawingml/2006/main" noGrp="1"/>
          </p:cNvSpPr>
          <p:nvPr/>
        </p:nvSpPr>
        <p:spPr>
          <a:xfrm xmlns:a="http://schemas.openxmlformats.org/drawingml/2006/main">
            <a:off x="9816084" y="32670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1B7AFFC9-580D-4102-B895-23914152A51C}"/>
              </a:ext>
            </a:extLst>
          </p:cNvPr>
          <p:cNvSpPr>
            <a:spLocks xmlns:a="http://schemas.openxmlformats.org/drawingml/2006/main" noGrp="1"/>
          </p:cNvSpPr>
          <p:nvPr/>
        </p:nvSpPr>
        <p:spPr>
          <a:xfrm xmlns:a="http://schemas.openxmlformats.org/drawingml/2006/main">
            <a:off x="457200" y="4000500"/>
            <a:ext cx="11277600" cy="7524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1997B961-ED6F-4091-86E4-62FCDAA12021}"/>
              </a:ext>
            </a:extLst>
          </p:cNvPr>
          <p:cNvSpPr>
            <a:spLocks xmlns:a="http://schemas.openxmlformats.org/drawingml/2006/main" noGrp="1"/>
          </p:cNvSpPr>
          <p:nvPr/>
        </p:nvSpPr>
        <p:spPr>
          <a:xfrm xmlns:a="http://schemas.openxmlformats.org/drawingml/2006/main">
            <a:off x="457200" y="4000500"/>
            <a:ext cx="4736592"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B2D97B9-4045-42B0-BCA2-8E54454641C0}"/>
              </a:ext>
            </a:extLst>
          </p:cNvPr>
          <p:cNvSpPr>
            <a:spLocks xmlns:a="http://schemas.openxmlformats.org/drawingml/2006/main" noGrp="1"/>
          </p:cNvSpPr>
          <p:nvPr/>
        </p:nvSpPr>
        <p:spPr>
          <a:xfrm xmlns:a="http://schemas.openxmlformats.org/drawingml/2006/main">
            <a:off x="457200" y="4000500"/>
            <a:ext cx="28575" cy="7524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EAC3042-60B6-48F2-BDC2-7655C7510D77}"/>
              </a:ext>
            </a:extLst>
          </p:cNvPr>
          <p:cNvSpPr>
            <a:spLocks xmlns:a="http://schemas.openxmlformats.org/drawingml/2006/main" noGrp="1"/>
          </p:cNvSpPr>
          <p:nvPr/>
        </p:nvSpPr>
        <p:spPr>
          <a:xfrm xmlns:a="http://schemas.openxmlformats.org/drawingml/2006/main">
            <a:off x="571500" y="4086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CONTINUE ASIC WORK AGAINST</a:t>
            </a:r>
          </a:p>
        </p:txBody>
      </p:sp>
      <p:sp>
        <p:nvSpPr>
          <p:cNvPr id="28" name="">
            <a:extLst xmlns:a="http://schemas.openxmlformats.org/drawingml/2006/main">
              <a:ext uri="{FF2B5EF4-FFF2-40B4-BE49-F238E27FC236}">
                <a16:creationId xmlns:a16="http://schemas.microsoft.com/office/drawing/2014/main" id="{0E6277AB-419B-4518-8FF1-AE21C6E8BF5E}"/>
              </a:ext>
            </a:extLst>
          </p:cNvPr>
          <p:cNvSpPr>
            <a:spLocks xmlns:a="http://schemas.openxmlformats.org/drawingml/2006/main" noGrp="1"/>
          </p:cNvSpPr>
          <p:nvPr/>
        </p:nvSpPr>
        <p:spPr>
          <a:xfrm xmlns:a="http://schemas.openxmlformats.org/drawingml/2006/main">
            <a:off x="4067556" y="4076700"/>
            <a:ext cx="56388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Continue ASIC work against explicit cost/qualification gates; do not describe tapeout as market entry or complete AEBS readiness.</a:t>
            </a:r>
          </a:p>
        </p:txBody>
      </p:sp>
      <p:sp>
        <p:nvSpPr>
          <p:cNvPr id="29" name="">
            <a:extLst xmlns:a="http://schemas.openxmlformats.org/drawingml/2006/main">
              <a:ext uri="{FF2B5EF4-FFF2-40B4-BE49-F238E27FC236}">
                <a16:creationId xmlns:a16="http://schemas.microsoft.com/office/drawing/2014/main" id="{C1FD5BC4-857C-41B0-83B8-25AA3F362C02}"/>
              </a:ext>
            </a:extLst>
          </p:cNvPr>
          <p:cNvSpPr>
            <a:spLocks xmlns:a="http://schemas.openxmlformats.org/drawingml/2006/main" noGrp="1"/>
          </p:cNvSpPr>
          <p:nvPr/>
        </p:nvSpPr>
        <p:spPr>
          <a:xfrm xmlns:a="http://schemas.openxmlformats.org/drawingml/2006/main">
            <a:off x="9816084" y="4086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55DF37F2-7CC7-48E4-9D08-950215F6FBDB}"/>
              </a:ext>
            </a:extLst>
          </p:cNvPr>
          <p:cNvSpPr>
            <a:spLocks xmlns:a="http://schemas.openxmlformats.org/drawingml/2006/main" noGrp="1"/>
          </p:cNvSpPr>
          <p:nvPr/>
        </p:nvSpPr>
        <p:spPr>
          <a:xfrm xmlns:a="http://schemas.openxmlformats.org/drawingml/2006/main">
            <a:off x="457200" y="4819650"/>
            <a:ext cx="11277600" cy="7524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461969BD-DA8F-4797-BDC1-7F8E5F5B72DC}"/>
              </a:ext>
            </a:extLst>
          </p:cNvPr>
          <p:cNvSpPr>
            <a:spLocks xmlns:a="http://schemas.openxmlformats.org/drawingml/2006/main" noGrp="1"/>
          </p:cNvSpPr>
          <p:nvPr/>
        </p:nvSpPr>
        <p:spPr>
          <a:xfrm xmlns:a="http://schemas.openxmlformats.org/drawingml/2006/main">
            <a:off x="457200" y="4819650"/>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1F53F1E-B13C-42AF-9C05-106C2F55C3D0}"/>
              </a:ext>
            </a:extLst>
          </p:cNvPr>
          <p:cNvSpPr>
            <a:spLocks xmlns:a="http://schemas.openxmlformats.org/drawingml/2006/main" noGrp="1"/>
          </p:cNvSpPr>
          <p:nvPr/>
        </p:nvSpPr>
        <p:spPr>
          <a:xfrm xmlns:a="http://schemas.openxmlformats.org/drawingml/2006/main">
            <a:off x="457200" y="4819650"/>
            <a:ext cx="28575" cy="7524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1E73ED0-CFAE-4F31-B161-AF2322DAEF31}"/>
              </a:ext>
            </a:extLst>
          </p:cNvPr>
          <p:cNvSpPr>
            <a:spLocks xmlns:a="http://schemas.openxmlformats.org/drawingml/2006/main" noGrp="1"/>
          </p:cNvSpPr>
          <p:nvPr/>
        </p:nvSpPr>
        <p:spPr>
          <a:xfrm xmlns:a="http://schemas.openxmlformats.org/drawingml/2006/main">
            <a:off x="571500" y="4905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A083F8FE-A7A8-49FA-8A4B-35519415AFE8}"/>
              </a:ext>
            </a:extLst>
          </p:cNvPr>
          <p:cNvSpPr>
            <a:spLocks xmlns:a="http://schemas.openxmlformats.org/drawingml/2006/main" noGrp="1"/>
          </p:cNvSpPr>
          <p:nvPr/>
        </p:nvSpPr>
        <p:spPr>
          <a:xfrm xmlns:a="http://schemas.openxmlformats.org/drawingml/2006/main">
            <a:off x="4067556" y="4895850"/>
            <a:ext cx="56388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Falsified by device grade, safety-assessor identity and vehicle-applicability evidence — the three artifacts whose absence currently holds the rating…</a:t>
            </a:r>
          </a:p>
        </p:txBody>
      </p:sp>
      <p:sp>
        <p:nvSpPr>
          <p:cNvPr id="35" name="">
            <a:extLst xmlns:a="http://schemas.openxmlformats.org/drawingml/2006/main">
              <a:ext uri="{FF2B5EF4-FFF2-40B4-BE49-F238E27FC236}">
                <a16:creationId xmlns:a16="http://schemas.microsoft.com/office/drawing/2014/main" id="{B059DB35-D239-4362-8034-496771D0DA59}"/>
              </a:ext>
            </a:extLst>
          </p:cNvPr>
          <p:cNvSpPr>
            <a:spLocks xmlns:a="http://schemas.openxmlformats.org/drawingml/2006/main" noGrp="1"/>
          </p:cNvSpPr>
          <p:nvPr/>
        </p:nvSpPr>
        <p:spPr>
          <a:xfrm xmlns:a="http://schemas.openxmlformats.org/drawingml/2006/main">
            <a:off x="9816084" y="4905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DD99E908-7A8A-4F02-B771-B87F3C655E00}"/>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4156F68-2428-494A-8868-F303B507C930}"/>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1B06546-D8D8-48E3-894D-84478D05D5BF}"/>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FFBDBE3D-7664-4F0D-98CF-182D5125DF0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Resolve Gahan uncertainty before reallocating product or commercial focus</a:t>
            </a:r>
          </a:p>
        </p:txBody>
      </p:sp>
      <p:sp>
        <p:nvSpPr>
          <p:cNvPr id="40" name="">
            <a:extLst xmlns:a="http://schemas.openxmlformats.org/drawingml/2006/main">
              <a:ext uri="{FF2B5EF4-FFF2-40B4-BE49-F238E27FC236}">
                <a16:creationId xmlns:a16="http://schemas.microsoft.com/office/drawing/2014/main" id="{8F0F73D9-BC2C-4D94-9DFB-17FD935F8DD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AB1F2167-CAB6-440A-A82D-5BF3B2C7B429}"/>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Primary qualification certificate or customer-side programme milestone</a:t>
            </a:r>
          </a:p>
        </p:txBody>
      </p:sp>
      <p:sp>
        <p:nvSpPr>
          <p:cNvPr id="42" name="">
            <a:extLst xmlns:a="http://schemas.openxmlformats.org/drawingml/2006/main">
              <a:ext uri="{FF2B5EF4-FFF2-40B4-BE49-F238E27FC236}">
                <a16:creationId xmlns:a16="http://schemas.microsoft.com/office/drawing/2014/main" id="{FDD2B811-5E86-4715-8789-E675E3D90C76}"/>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FE8BAB42-F90E-4106-B933-6A933E890C02}"/>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receipt of any of the three artifacts.</a:t>
            </a:r>
          </a:p>
        </p:txBody>
      </p:sp>
      <p:sp>
        <p:nvSpPr>
          <p:cNvPr id="44" name="">
            <a:extLst xmlns:a="http://schemas.openxmlformats.org/drawingml/2006/main">
              <a:ext uri="{FF2B5EF4-FFF2-40B4-BE49-F238E27FC236}">
                <a16:creationId xmlns:a16="http://schemas.microsoft.com/office/drawing/2014/main" id="{5B67A9BF-0A85-43E6-934C-256909F012C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650D69C0-7547-41DE-ABCE-36E99D8CFC2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4E31CFAB-F81E-47B9-AF07-16BC0F217A44}"/>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83</a:t>
            </a:r>
          </a:p>
        </p:txBody>
      </p:sp>
    </p:spTree>
    <p:extLst>
      <p:ext uri="{BB962C8B-B14F-4D97-AF65-F5344CB8AC3E}">
        <p14:creationId xmlns:p14="http://schemas.microsoft.com/office/powerpoint/2010/main" val="580981902"/>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6CD7BDB8-FB4A-47AA-8786-000E96FD316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C09951B-6964-419F-B60B-FCB01F16149D}"/>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F5597E0-1B77-4A23-AF41-D6F6DD5132E2}"/>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A5469D05-1D77-41B1-AB39-D3AC12098C83}"/>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639149B0-2576-46A8-8220-B90EE2060D76}"/>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Incumbent Bundle (Bosch/Continental/Valeo) - Structural Threat Analysis</a:t>
            </a:r>
          </a:p>
        </p:txBody>
      </p:sp>
      <p:sp>
        <p:nvSpPr>
          <p:cNvPr id="6" name="">
            <a:extLst xmlns:a="http://schemas.openxmlformats.org/drawingml/2006/main">
              <a:ext uri="{FF2B5EF4-FFF2-40B4-BE49-F238E27FC236}">
                <a16:creationId xmlns:a16="http://schemas.microsoft.com/office/drawing/2014/main" id="{1F1EB1C9-8FC6-4E74-8E6B-B50E6D5FAA77}"/>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2F6EC6E-FD41-4EDE-8E35-FB28817A13B5}"/>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supports treating the cohort as powerful and what remains unverified?</a:t>
            </a:r>
          </a:p>
        </p:txBody>
      </p:sp>
      <p:sp>
        <p:nvSpPr>
          <p:cNvPr id="8" name="">
            <a:extLst xmlns:a="http://schemas.openxmlformats.org/drawingml/2006/main">
              <a:ext uri="{FF2B5EF4-FFF2-40B4-BE49-F238E27FC236}">
                <a16:creationId xmlns:a16="http://schemas.microsoft.com/office/drawing/2014/main" id="{ADCDED15-E827-46E3-AA33-8B9D810F847C}"/>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3B6C87EE-88E5-49AD-A35B-D6841DCC069C}"/>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0D80CFF-D886-48CF-8655-B11F8C8FC191}"/>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F5359C71-4380-4516-974C-6111580B08FA}"/>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Treat the cohort as a credible benchmark, not a single verified competitor position: bundling breadth and local scale remain unverified, and supplier-specific capabilities may vary significantly.</a:t>
            </a:r>
          </a:p>
        </p:txBody>
      </p:sp>
      <p:sp>
        <p:nvSpPr>
          <p:cNvPr id="12" name="">
            <a:extLst xmlns:a="http://schemas.openxmlformats.org/drawingml/2006/main">
              <a:ext uri="{FF2B5EF4-FFF2-40B4-BE49-F238E27FC236}">
                <a16:creationId xmlns:a16="http://schemas.microsoft.com/office/drawing/2014/main" id="{E3C00506-A7A4-4D27-99B6-983C1AF2162E}"/>
              </a:ext>
            </a:extLst>
          </p:cNvPr>
          <p:cNvSpPr>
            <a:spLocks xmlns:a="http://schemas.openxmlformats.org/drawingml/2006/main" noGrp="1"/>
          </p:cNvSpPr>
          <p:nvPr/>
        </p:nvSpPr>
        <p:spPr>
          <a:xfrm xmlns:a="http://schemas.openxmlformats.org/drawingml/2006/main">
            <a:off x="457200" y="1841500"/>
            <a:ext cx="11277600" cy="7334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FE240649-7268-4A82-86D0-7FC2E162D2EA}"/>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60F23B8-34DB-4ED9-94D3-1DF5844C1DC9}"/>
              </a:ext>
            </a:extLst>
          </p:cNvPr>
          <p:cNvSpPr>
            <a:spLocks xmlns:a="http://schemas.openxmlformats.org/drawingml/2006/main" noGrp="1"/>
          </p:cNvSpPr>
          <p:nvPr/>
        </p:nvSpPr>
        <p:spPr>
          <a:xfrm xmlns:a="http://schemas.openxmlformats.org/drawingml/2006/main">
            <a:off x="457200" y="1841500"/>
            <a:ext cx="28575" cy="7334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FDA427A-FEFF-4AD6-9475-8B1484641307}"/>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MINE FLEETS OFFER</a:t>
            </a:r>
          </a:p>
        </p:txBody>
      </p:sp>
      <p:sp>
        <p:nvSpPr>
          <p:cNvPr id="16" name="">
            <a:extLst xmlns:a="http://schemas.openxmlformats.org/drawingml/2006/main">
              <a:ext uri="{FF2B5EF4-FFF2-40B4-BE49-F238E27FC236}">
                <a16:creationId xmlns:a16="http://schemas.microsoft.com/office/drawing/2014/main" id="{01814CB8-E3F1-4BB8-BEF4-98FC0488AA37}"/>
              </a:ext>
            </a:extLst>
          </p:cNvPr>
          <p:cNvSpPr>
            <a:spLocks xmlns:a="http://schemas.openxmlformats.org/drawingml/2006/main" noGrp="1"/>
          </p:cNvSpPr>
          <p:nvPr/>
        </p:nvSpPr>
        <p:spPr>
          <a:xfrm xmlns:a="http://schemas.openxmlformats.org/drawingml/2006/main">
            <a:off x="4067556" y="19177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Mine fleets offer concentrated vehicle access, controlled routes, a named safety champion and measurable incident/near-miss workflows without waiting…</a:t>
            </a:r>
          </a:p>
        </p:txBody>
      </p:sp>
      <p:sp>
        <p:nvSpPr>
          <p:cNvPr id="17" name="">
            <a:extLst xmlns:a="http://schemas.openxmlformats.org/drawingml/2006/main">
              <a:ext uri="{FF2B5EF4-FFF2-40B4-BE49-F238E27FC236}">
                <a16:creationId xmlns:a16="http://schemas.microsoft.com/office/drawing/2014/main" id="{36257EDF-8E4F-4B28-BFFE-45D2B87D1092}"/>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A4674A37-9B43-425F-9D74-22084FB4814A}"/>
              </a:ext>
            </a:extLst>
          </p:cNvPr>
          <p:cNvSpPr>
            <a:spLocks xmlns:a="http://schemas.openxmlformats.org/drawingml/2006/main" noGrp="1"/>
          </p:cNvSpPr>
          <p:nvPr/>
        </p:nvSpPr>
        <p:spPr>
          <a:xfrm xmlns:a="http://schemas.openxmlformats.org/drawingml/2006/main">
            <a:off x="457200" y="2641600"/>
            <a:ext cx="11277600" cy="7334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C67F4E2E-419F-45D2-8A5D-B25E87772F2E}"/>
              </a:ext>
            </a:extLst>
          </p:cNvPr>
          <p:cNvSpPr>
            <a:spLocks xmlns:a="http://schemas.openxmlformats.org/drawingml/2006/main" noGrp="1"/>
          </p:cNvSpPr>
          <p:nvPr/>
        </p:nvSpPr>
        <p:spPr>
          <a:xfrm xmlns:a="http://schemas.openxmlformats.org/drawingml/2006/main">
            <a:off x="457200" y="2641600"/>
            <a:ext cx="4962144"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D931543-8953-4D33-8550-8779C7C670C3}"/>
              </a:ext>
            </a:extLst>
          </p:cNvPr>
          <p:cNvSpPr>
            <a:spLocks xmlns:a="http://schemas.openxmlformats.org/drawingml/2006/main" noGrp="1"/>
          </p:cNvSpPr>
          <p:nvPr/>
        </p:nvSpPr>
        <p:spPr>
          <a:xfrm xmlns:a="http://schemas.openxmlformats.org/drawingml/2006/main">
            <a:off x="457200" y="2641600"/>
            <a:ext cx="28575" cy="7334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FA0B1DD-5508-4B52-ABDF-E6801028F8B4}"/>
              </a:ext>
            </a:extLst>
          </p:cNvPr>
          <p:cNvSpPr>
            <a:spLocks xmlns:a="http://schemas.openxmlformats.org/drawingml/2006/main" noGrp="1"/>
          </p:cNvSpPr>
          <p:nvPr/>
        </p:nvSpPr>
        <p:spPr>
          <a:xfrm xmlns:a="http://schemas.openxmlformats.org/drawingml/2006/main">
            <a:off x="571500" y="27273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PAID PILOTS MUST LOG</a:t>
            </a:r>
          </a:p>
        </p:txBody>
      </p:sp>
      <p:sp>
        <p:nvSpPr>
          <p:cNvPr id="22" name="">
            <a:extLst xmlns:a="http://schemas.openxmlformats.org/drawingml/2006/main">
              <a:ext uri="{FF2B5EF4-FFF2-40B4-BE49-F238E27FC236}">
                <a16:creationId xmlns:a16="http://schemas.microsoft.com/office/drawing/2014/main" id="{9BAE8D63-8B21-4A98-8B75-EFEAE12FC3DC}"/>
              </a:ext>
            </a:extLst>
          </p:cNvPr>
          <p:cNvSpPr>
            <a:spLocks xmlns:a="http://schemas.openxmlformats.org/drawingml/2006/main" noGrp="1"/>
          </p:cNvSpPr>
          <p:nvPr/>
        </p:nvSpPr>
        <p:spPr>
          <a:xfrm xmlns:a="http://schemas.openxmlformats.org/drawingml/2006/main">
            <a:off x="4067556" y="27178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Paid pilots must log weather, vehicle class, VRU scenario, false intervention, missed event, uptime, calibration drift and maintenance response—not o…</a:t>
            </a:r>
          </a:p>
        </p:txBody>
      </p:sp>
      <p:sp>
        <p:nvSpPr>
          <p:cNvPr id="23" name="">
            <a:extLst xmlns:a="http://schemas.openxmlformats.org/drawingml/2006/main">
              <a:ext uri="{FF2B5EF4-FFF2-40B4-BE49-F238E27FC236}">
                <a16:creationId xmlns:a16="http://schemas.microsoft.com/office/drawing/2014/main" id="{FFD4B2E2-9D80-491E-9475-38E9884508D2}"/>
              </a:ext>
            </a:extLst>
          </p:cNvPr>
          <p:cNvSpPr>
            <a:spLocks xmlns:a="http://schemas.openxmlformats.org/drawingml/2006/main" noGrp="1"/>
          </p:cNvSpPr>
          <p:nvPr/>
        </p:nvSpPr>
        <p:spPr>
          <a:xfrm xmlns:a="http://schemas.openxmlformats.org/drawingml/2006/main">
            <a:off x="9816084" y="27273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068A5409-21C1-4445-A0E9-DD4C2BED5BE6}"/>
              </a:ext>
            </a:extLst>
          </p:cNvPr>
          <p:cNvSpPr>
            <a:spLocks xmlns:a="http://schemas.openxmlformats.org/drawingml/2006/main" noGrp="1"/>
          </p:cNvSpPr>
          <p:nvPr/>
        </p:nvSpPr>
        <p:spPr>
          <a:xfrm xmlns:a="http://schemas.openxmlformats.org/drawingml/2006/main">
            <a:off x="457200" y="3441700"/>
            <a:ext cx="11277600" cy="7334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FAFE57C9-2934-4334-8C69-C81AE2273647}"/>
              </a:ext>
            </a:extLst>
          </p:cNvPr>
          <p:cNvSpPr>
            <a:spLocks xmlns:a="http://schemas.openxmlformats.org/drawingml/2006/main" noGrp="1"/>
          </p:cNvSpPr>
          <p:nvPr/>
        </p:nvSpPr>
        <p:spPr>
          <a:xfrm xmlns:a="http://schemas.openxmlformats.org/drawingml/2006/main">
            <a:off x="457200" y="3441700"/>
            <a:ext cx="4736592"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37598DD-46A2-4035-8728-9A904CED4FC4}"/>
              </a:ext>
            </a:extLst>
          </p:cNvPr>
          <p:cNvSpPr>
            <a:spLocks xmlns:a="http://schemas.openxmlformats.org/drawingml/2006/main" noGrp="1"/>
          </p:cNvSpPr>
          <p:nvPr/>
        </p:nvSpPr>
        <p:spPr>
          <a:xfrm xmlns:a="http://schemas.openxmlformats.org/drawingml/2006/main">
            <a:off x="457200" y="3441700"/>
            <a:ext cx="28575" cy="7334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B641E47-1DD5-46DD-8C45-5C4210C1FF59}"/>
              </a:ext>
            </a:extLst>
          </p:cNvPr>
          <p:cNvSpPr>
            <a:spLocks xmlns:a="http://schemas.openxmlformats.org/drawingml/2006/main" noGrp="1"/>
          </p:cNvSpPr>
          <p:nvPr/>
        </p:nvSpPr>
        <p:spPr>
          <a:xfrm xmlns:a="http://schemas.openxmlformats.org/drawingml/2006/main">
            <a:off x="571500" y="3527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IMPLICATION FOR DEEPGRID</a:t>
            </a:r>
          </a:p>
        </p:txBody>
      </p:sp>
      <p:sp>
        <p:nvSpPr>
          <p:cNvPr id="28" name="">
            <a:extLst xmlns:a="http://schemas.openxmlformats.org/drawingml/2006/main">
              <a:ext uri="{FF2B5EF4-FFF2-40B4-BE49-F238E27FC236}">
                <a16:creationId xmlns:a16="http://schemas.microsoft.com/office/drawing/2014/main" id="{FB3E655B-7C6B-4B42-B885-9D68C6A1A9BA}"/>
              </a:ext>
            </a:extLst>
          </p:cNvPr>
          <p:cNvSpPr>
            <a:spLocks xmlns:a="http://schemas.openxmlformats.org/drawingml/2006/main" noGrp="1"/>
          </p:cNvSpPr>
          <p:nvPr/>
        </p:nvSpPr>
        <p:spPr>
          <a:xfrm xmlns:a="http://schemas.openxmlformats.org/drawingml/2006/main">
            <a:off x="4067556" y="35179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IMPLICATION FOR DEEPGRID · Pursue paid, telemetry-rich pilots where camera classification adds value to radar-led AEB.</a:t>
            </a:r>
          </a:p>
        </p:txBody>
      </p:sp>
      <p:sp>
        <p:nvSpPr>
          <p:cNvPr id="29" name="">
            <a:extLst xmlns:a="http://schemas.openxmlformats.org/drawingml/2006/main">
              <a:ext uri="{FF2B5EF4-FFF2-40B4-BE49-F238E27FC236}">
                <a16:creationId xmlns:a16="http://schemas.microsoft.com/office/drawing/2014/main" id="{6EB8B5B7-8229-4B84-9A48-25AA681F1F76}"/>
              </a:ext>
            </a:extLst>
          </p:cNvPr>
          <p:cNvSpPr>
            <a:spLocks xmlns:a="http://schemas.openxmlformats.org/drawingml/2006/main" noGrp="1"/>
          </p:cNvSpPr>
          <p:nvPr/>
        </p:nvSpPr>
        <p:spPr>
          <a:xfrm xmlns:a="http://schemas.openxmlformats.org/drawingml/2006/main">
            <a:off x="9816084" y="3527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C919A705-5305-412F-BECA-67A7C3A3D517}"/>
              </a:ext>
            </a:extLst>
          </p:cNvPr>
          <p:cNvSpPr>
            <a:spLocks xmlns:a="http://schemas.openxmlformats.org/drawingml/2006/main" noGrp="1"/>
          </p:cNvSpPr>
          <p:nvPr/>
        </p:nvSpPr>
        <p:spPr>
          <a:xfrm xmlns:a="http://schemas.openxmlformats.org/drawingml/2006/main">
            <a:off x="457200" y="4241800"/>
            <a:ext cx="11277600" cy="7334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90B2E58D-C0CC-4E4D-8438-EFCAAAD8E0ED}"/>
              </a:ext>
            </a:extLst>
          </p:cNvPr>
          <p:cNvSpPr>
            <a:spLocks xmlns:a="http://schemas.openxmlformats.org/drawingml/2006/main" noGrp="1"/>
          </p:cNvSpPr>
          <p:nvPr/>
        </p:nvSpPr>
        <p:spPr>
          <a:xfrm xmlns:a="http://schemas.openxmlformats.org/drawingml/2006/main">
            <a:off x="457200" y="4241800"/>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2DF6990-7913-4260-A1D3-B8304948DAF3}"/>
              </a:ext>
            </a:extLst>
          </p:cNvPr>
          <p:cNvSpPr>
            <a:spLocks xmlns:a="http://schemas.openxmlformats.org/drawingml/2006/main" noGrp="1"/>
          </p:cNvSpPr>
          <p:nvPr/>
        </p:nvSpPr>
        <p:spPr>
          <a:xfrm xmlns:a="http://schemas.openxmlformats.org/drawingml/2006/main">
            <a:off x="457200" y="4241800"/>
            <a:ext cx="28575" cy="7334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45287A0-7D5B-4C5F-858E-2BD97450ACE5}"/>
              </a:ext>
            </a:extLst>
          </p:cNvPr>
          <p:cNvSpPr>
            <a:spLocks xmlns:a="http://schemas.openxmlformats.org/drawingml/2006/main" noGrp="1"/>
          </p:cNvSpPr>
          <p:nvPr/>
        </p:nvSpPr>
        <p:spPr>
          <a:xfrm xmlns:a="http://schemas.openxmlformats.org/drawingml/2006/main">
            <a:off x="571500" y="43275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DUST, VIBRATION, OCCLUSION</a:t>
            </a:r>
          </a:p>
        </p:txBody>
      </p:sp>
      <p:sp>
        <p:nvSpPr>
          <p:cNvPr id="34" name="">
            <a:extLst xmlns:a="http://schemas.openxmlformats.org/drawingml/2006/main">
              <a:ext uri="{FF2B5EF4-FFF2-40B4-BE49-F238E27FC236}">
                <a16:creationId xmlns:a16="http://schemas.microsoft.com/office/drawing/2014/main" id="{18E78435-849E-41A7-8E3B-C3F5C06B42E6}"/>
              </a:ext>
            </a:extLst>
          </p:cNvPr>
          <p:cNvSpPr>
            <a:spLocks xmlns:a="http://schemas.openxmlformats.org/drawingml/2006/main" noGrp="1"/>
          </p:cNvSpPr>
          <p:nvPr/>
        </p:nvSpPr>
        <p:spPr>
          <a:xfrm xmlns:a="http://schemas.openxmlformats.org/drawingml/2006/main">
            <a:off x="4067556" y="43180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Dust, vibration, occlusion, mixed assets, maintenance discipline and nuisance braking turn laboratory accuracy into an operations problem; Starkenn a…</a:t>
            </a:r>
          </a:p>
        </p:txBody>
      </p:sp>
      <p:sp>
        <p:nvSpPr>
          <p:cNvPr id="35" name="">
            <a:extLst xmlns:a="http://schemas.openxmlformats.org/drawingml/2006/main">
              <a:ext uri="{FF2B5EF4-FFF2-40B4-BE49-F238E27FC236}">
                <a16:creationId xmlns:a16="http://schemas.microsoft.com/office/drawing/2014/main" id="{D431E87F-D267-4793-8386-32A8D48600AF}"/>
              </a:ext>
            </a:extLst>
          </p:cNvPr>
          <p:cNvSpPr>
            <a:spLocks xmlns:a="http://schemas.openxmlformats.org/drawingml/2006/main" noGrp="1"/>
          </p:cNvSpPr>
          <p:nvPr/>
        </p:nvSpPr>
        <p:spPr>
          <a:xfrm xmlns:a="http://schemas.openxmlformats.org/drawingml/2006/main">
            <a:off x="9816084" y="43275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1A1A0971-28CE-47A1-AD1F-2223799B03D4}"/>
              </a:ext>
            </a:extLst>
          </p:cNvPr>
          <p:cNvSpPr>
            <a:spLocks xmlns:a="http://schemas.openxmlformats.org/drawingml/2006/main" noGrp="1"/>
          </p:cNvSpPr>
          <p:nvPr/>
        </p:nvSpPr>
        <p:spPr>
          <a:xfrm xmlns:a="http://schemas.openxmlformats.org/drawingml/2006/main">
            <a:off x="457200" y="5089525"/>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B4A50679-127C-4C3B-8D53-723DE34D197B}"/>
              </a:ext>
            </a:extLst>
          </p:cNvPr>
          <p:cNvSpPr>
            <a:spLocks xmlns:a="http://schemas.openxmlformats.org/drawingml/2006/main" noGrp="1"/>
          </p:cNvSpPr>
          <p:nvPr/>
        </p:nvSpPr>
        <p:spPr>
          <a:xfrm xmlns:a="http://schemas.openxmlformats.org/drawingml/2006/main">
            <a:off x="457200" y="508952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9B124D1-0718-4E51-B923-1AB96AA49F0E}"/>
              </a:ext>
            </a:extLst>
          </p:cNvPr>
          <p:cNvSpPr>
            <a:spLocks xmlns:a="http://schemas.openxmlformats.org/drawingml/2006/main" noGrp="1"/>
          </p:cNvSpPr>
          <p:nvPr/>
        </p:nvSpPr>
        <p:spPr>
          <a:xfrm xmlns:a="http://schemas.openxmlformats.org/drawingml/2006/main">
            <a:off x="581025" y="5156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767AF508-B2AF-4FBB-A392-6BB85EF18E9A}"/>
              </a:ext>
            </a:extLst>
          </p:cNvPr>
          <p:cNvSpPr>
            <a:spLocks xmlns:a="http://schemas.openxmlformats.org/drawingml/2006/main" noGrp="1"/>
          </p:cNvSpPr>
          <p:nvPr/>
        </p:nvSpPr>
        <p:spPr>
          <a:xfrm xmlns:a="http://schemas.openxmlformats.org/drawingml/2006/main">
            <a:off x="581025" y="53054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Falsified by supplier-by-supplier India CV evidence showing materially different capability or pricing.</a:t>
            </a:r>
          </a:p>
        </p:txBody>
      </p:sp>
      <p:sp>
        <p:nvSpPr>
          <p:cNvPr id="40" name="">
            <a:extLst xmlns:a="http://schemas.openxmlformats.org/drawingml/2006/main">
              <a:ext uri="{FF2B5EF4-FFF2-40B4-BE49-F238E27FC236}">
                <a16:creationId xmlns:a16="http://schemas.microsoft.com/office/drawing/2014/main" id="{CF172FCD-0D8A-41D8-B5FF-E51094A125CE}"/>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CF154B38-14DE-4185-8F24-6C293940E0AA}"/>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7F7D80C7-8DEE-4B4B-9C2A-1D8A45B29701}"/>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5B5CD9AC-8022-4B40-ABAC-D619C385AD9F}"/>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Use the cohort as a structural benchmark for the attach-and-wedge strategy, not as a verified competitor position.</a:t>
            </a:r>
          </a:p>
        </p:txBody>
      </p:sp>
      <p:sp>
        <p:nvSpPr>
          <p:cNvPr id="44" name="">
            <a:extLst xmlns:a="http://schemas.openxmlformats.org/drawingml/2006/main">
              <a:ext uri="{FF2B5EF4-FFF2-40B4-BE49-F238E27FC236}">
                <a16:creationId xmlns:a16="http://schemas.microsoft.com/office/drawing/2014/main" id="{412DBDC1-517D-428D-98CB-45053C79B349}"/>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990A72F8-E30C-4B1B-85B7-0CC232A9460F}"/>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Obtain comparable RFQs for pricing validation.</a:t>
            </a:r>
          </a:p>
        </p:txBody>
      </p:sp>
      <p:sp>
        <p:nvSpPr>
          <p:cNvPr id="46" name="">
            <a:extLst xmlns:a="http://schemas.openxmlformats.org/drawingml/2006/main">
              <a:ext uri="{FF2B5EF4-FFF2-40B4-BE49-F238E27FC236}">
                <a16:creationId xmlns:a16="http://schemas.microsoft.com/office/drawing/2014/main" id="{38BEB06B-C317-4560-83F1-C127DB9F4B16}"/>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FDD3A356-DDFD-44BA-AE96-126B00F66940}"/>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citing cohort bundling as a verified delivered-price advantage.</a:t>
            </a:r>
          </a:p>
        </p:txBody>
      </p:sp>
      <p:sp>
        <p:nvSpPr>
          <p:cNvPr id="48" name="">
            <a:extLst xmlns:a="http://schemas.openxmlformats.org/drawingml/2006/main">
              <a:ext uri="{FF2B5EF4-FFF2-40B4-BE49-F238E27FC236}">
                <a16:creationId xmlns:a16="http://schemas.microsoft.com/office/drawing/2014/main" id="{F6BF0559-AC17-4520-BEC2-EB81932D31B3}"/>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6215A2B0-B43F-45F0-BA47-BB4E2413E431}"/>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21BB671D-BEE0-4E89-856F-4F722CE7EA1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84</a:t>
            </a:r>
          </a:p>
        </p:txBody>
      </p:sp>
    </p:spTree>
    <p:extLst>
      <p:ext uri="{BB962C8B-B14F-4D97-AF65-F5344CB8AC3E}">
        <p14:creationId xmlns:p14="http://schemas.microsoft.com/office/powerpoint/2010/main" val="878672226"/>
      </p:ext>
    </p:extLst>
  </p:cSld>
</p:sld>
</file>

<file path=ppt/slides/slide85.xml><?xml version="1.0" encoding="utf-8"?>
<p:sld xmlns:p="http://schemas.openxmlformats.org/presentationml/2006/main">
  <p:cSld>
    <p:spTree>
      <p:nvGrpSpPr>
        <p:cNvPr id="1" name=""/>
        <p:cNvGrpSpPr/>
        <p:nvPr/>
      </p:nvGrpSpPr>
      <p:grpSpPr>
        <a:xfrm xmlns:a="http://schemas.openxmlformats.org/drawingml/2006/main"/>
      </p:grpSpPr>
      <p:sp>
        <p:nvSpPr>
          <p:cNvPr id="77" name="">
            <a:extLst xmlns:a="http://schemas.openxmlformats.org/drawingml/2006/main">
              <a:ext uri="{FF2B5EF4-FFF2-40B4-BE49-F238E27FC236}">
                <a16:creationId xmlns:a16="http://schemas.microsoft.com/office/drawing/2014/main" id="{B438AF0D-0D7B-43F7-83CB-EDFE506C26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52088E4-0215-4091-9647-BB07B9237916}"/>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7DE09A7-F851-4E51-853E-8E8585C1485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F23E7D39-183B-4E19-8481-64C404291F1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C5080E63-518B-4399-95F7-A1B6DDAC5475}"/>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Incumbent cohort threat: highest in OEM; add displacement gate to OEM bids</a:t>
            </a:r>
          </a:p>
        </p:txBody>
      </p:sp>
      <p:sp>
        <p:nvSpPr>
          <p:cNvPr id="6" name="">
            <a:extLst xmlns:a="http://schemas.openxmlformats.org/drawingml/2006/main">
              <a:ext uri="{FF2B5EF4-FFF2-40B4-BE49-F238E27FC236}">
                <a16:creationId xmlns:a16="http://schemas.microsoft.com/office/drawing/2014/main" id="{FBB79F30-FA39-4499-BB61-DDD02D1F465B}"/>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8D4F1E1-C2C7-4D2C-AF6C-7B647C816EBA}"/>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the threat change by buying arena, and where should DeepGrid compete?</a:t>
            </a:r>
          </a:p>
        </p:txBody>
      </p:sp>
      <p:sp>
        <p:nvSpPr>
          <p:cNvPr id="8" name="">
            <a:extLst xmlns:a="http://schemas.openxmlformats.org/drawingml/2006/main">
              <a:ext uri="{FF2B5EF4-FFF2-40B4-BE49-F238E27FC236}">
                <a16:creationId xmlns:a16="http://schemas.microsoft.com/office/drawing/2014/main" id="{58E50A95-3A65-4897-986F-B0F6CCA80202}"/>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2FC95E7F-66C9-47B8-A99F-CAB74AEF2177}"/>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7EFAC82-2894-4741-ACAF-38EE25EB3F88}"/>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C08408A7-89A4-4D64-B0D5-23C269B703E5}"/>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The incumbent cohort is strongest in OEM buying, which rewards accountable full-stack integration, and weaker in government and mining where validation capability and retrofit presence decide.</a:t>
            </a:r>
          </a:p>
        </p:txBody>
      </p:sp>
      <p:sp>
        <p:nvSpPr>
          <p:cNvPr id="12" name="">
            <a:extLst xmlns:a="http://schemas.openxmlformats.org/drawingml/2006/main">
              <a:ext uri="{FF2B5EF4-FFF2-40B4-BE49-F238E27FC236}">
                <a16:creationId xmlns:a16="http://schemas.microsoft.com/office/drawing/2014/main" id="{4B1880C9-6048-43F7-BF0E-DBF27773E49F}"/>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6D9A35D-45CA-47AC-958D-BA6FA0382DA0}"/>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17F4DB1C-1E67-46BE-86DB-5FB33707D146}"/>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2F50D4DD-5D22-4A40-A7B7-3F7464D1011A}"/>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392176F9-8D42-4C01-80AF-2ADBA7C91A2A}"/>
              </a:ext>
            </a:extLst>
          </p:cNvPr>
          <p:cNvSpPr>
            <a:spLocks xmlns:a="http://schemas.openxmlformats.org/drawingml/2006/main" noGrp="1"/>
          </p:cNvSpPr>
          <p:nvPr/>
        </p:nvSpPr>
        <p:spPr>
          <a:xfrm xmlns:a="http://schemas.openxmlformats.org/drawingml/2006/main">
            <a:off x="457200" y="2089150"/>
            <a:ext cx="2255520" cy="8382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AA531E3F-1AC7-4581-B70D-DC3A481B280A}"/>
              </a:ext>
            </a:extLst>
          </p:cNvPr>
          <p:cNvSpPr>
            <a:spLocks xmlns:a="http://schemas.openxmlformats.org/drawingml/2006/main" noGrp="1"/>
          </p:cNvSpPr>
          <p:nvPr/>
        </p:nvSpPr>
        <p:spPr>
          <a:xfrm xmlns:a="http://schemas.openxmlformats.org/drawingml/2006/main">
            <a:off x="552450" y="2203450"/>
            <a:ext cx="210312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BOSCH</a:t>
            </a:r>
          </a:p>
        </p:txBody>
      </p:sp>
      <p:sp>
        <p:nvSpPr>
          <p:cNvPr id="18" name="">
            <a:extLst xmlns:a="http://schemas.openxmlformats.org/drawingml/2006/main">
              <a:ext uri="{FF2B5EF4-FFF2-40B4-BE49-F238E27FC236}">
                <a16:creationId xmlns:a16="http://schemas.microsoft.com/office/drawing/2014/main" id="{D14DCFBB-B566-4A53-94E9-8C62710361CA}"/>
              </a:ext>
            </a:extLst>
          </p:cNvPr>
          <p:cNvSpPr>
            <a:spLocks xmlns:a="http://schemas.openxmlformats.org/drawingml/2006/main" noGrp="1"/>
          </p:cNvSpPr>
          <p:nvPr/>
        </p:nvSpPr>
        <p:spPr>
          <a:xfrm xmlns:a="http://schemas.openxmlformats.org/drawingml/2006/main">
            <a:off x="2741295" y="21177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680F611B-7B3B-495F-9C3F-670579196C96}"/>
              </a:ext>
            </a:extLst>
          </p:cNvPr>
          <p:cNvSpPr>
            <a:spLocks xmlns:a="http://schemas.openxmlformats.org/drawingml/2006/main" noGrp="1"/>
          </p:cNvSpPr>
          <p:nvPr/>
        </p:nvSpPr>
        <p:spPr>
          <a:xfrm xmlns:a="http://schemas.openxmlformats.org/drawingml/2006/main">
            <a:off x="2741295" y="211772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E9790B2-040C-4E77-975C-5A6022969F71}"/>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21" name="">
            <a:extLst xmlns:a="http://schemas.openxmlformats.org/drawingml/2006/main">
              <a:ext uri="{FF2B5EF4-FFF2-40B4-BE49-F238E27FC236}">
                <a16:creationId xmlns:a16="http://schemas.microsoft.com/office/drawing/2014/main" id="{E518EF5D-E6B8-45C0-83D0-500A1B55C359}"/>
              </a:ext>
            </a:extLst>
          </p:cNvPr>
          <p:cNvSpPr>
            <a:spLocks xmlns:a="http://schemas.openxmlformats.org/drawingml/2006/main" noGrp="1"/>
          </p:cNvSpPr>
          <p:nvPr/>
        </p:nvSpPr>
        <p:spPr>
          <a:xfrm xmlns:a="http://schemas.openxmlformats.org/drawingml/2006/main">
            <a:off x="2817495" y="23272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Validation capability</a:t>
            </a:r>
          </a:p>
        </p:txBody>
      </p:sp>
      <p:sp>
        <p:nvSpPr>
          <p:cNvPr id="22" name="">
            <a:extLst xmlns:a="http://schemas.openxmlformats.org/drawingml/2006/main">
              <a:ext uri="{FF2B5EF4-FFF2-40B4-BE49-F238E27FC236}">
                <a16:creationId xmlns:a16="http://schemas.microsoft.com/office/drawing/2014/main" id="{D117E706-FFB9-4D5E-9A17-2F5520DA755F}"/>
              </a:ext>
            </a:extLst>
          </p:cNvPr>
          <p:cNvSpPr>
            <a:spLocks xmlns:a="http://schemas.openxmlformats.org/drawingml/2006/main" noGrp="1"/>
          </p:cNvSpPr>
          <p:nvPr/>
        </p:nvSpPr>
        <p:spPr>
          <a:xfrm xmlns:a="http://schemas.openxmlformats.org/drawingml/2006/main">
            <a:off x="5748655" y="21177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4149E09B-5ED7-4F84-8ECD-412B2F7AB7E0}"/>
              </a:ext>
            </a:extLst>
          </p:cNvPr>
          <p:cNvSpPr>
            <a:spLocks xmlns:a="http://schemas.openxmlformats.org/drawingml/2006/main" noGrp="1"/>
          </p:cNvSpPr>
          <p:nvPr/>
        </p:nvSpPr>
        <p:spPr>
          <a:xfrm xmlns:a="http://schemas.openxmlformats.org/drawingml/2006/main">
            <a:off x="5748655" y="2117725"/>
            <a:ext cx="295021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A30BE1C-4E9A-4B9A-AD1C-7C9D7EADC12C}"/>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HIGHEST</a:t>
            </a:r>
          </a:p>
        </p:txBody>
      </p:sp>
      <p:sp>
        <p:nvSpPr>
          <p:cNvPr id="25" name="">
            <a:extLst xmlns:a="http://schemas.openxmlformats.org/drawingml/2006/main">
              <a:ext uri="{FF2B5EF4-FFF2-40B4-BE49-F238E27FC236}">
                <a16:creationId xmlns:a16="http://schemas.microsoft.com/office/drawing/2014/main" id="{E667AF01-5108-47F1-943E-0C94DA5762A5}"/>
              </a:ext>
            </a:extLst>
          </p:cNvPr>
          <p:cNvSpPr>
            <a:spLocks xmlns:a="http://schemas.openxmlformats.org/drawingml/2006/main" noGrp="1"/>
          </p:cNvSpPr>
          <p:nvPr/>
        </p:nvSpPr>
        <p:spPr>
          <a:xfrm xmlns:a="http://schemas.openxmlformats.org/drawingml/2006/main">
            <a:off x="5824855" y="23272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Full-stack integration</a:t>
            </a:r>
          </a:p>
        </p:txBody>
      </p:sp>
      <p:sp>
        <p:nvSpPr>
          <p:cNvPr id="26" name="">
            <a:extLst xmlns:a="http://schemas.openxmlformats.org/drawingml/2006/main">
              <a:ext uri="{FF2B5EF4-FFF2-40B4-BE49-F238E27FC236}">
                <a16:creationId xmlns:a16="http://schemas.microsoft.com/office/drawing/2014/main" id="{3473E1D2-1A40-4EA4-8809-840B1A798B5C}"/>
              </a:ext>
            </a:extLst>
          </p:cNvPr>
          <p:cNvSpPr>
            <a:spLocks xmlns:a="http://schemas.openxmlformats.org/drawingml/2006/main" noGrp="1"/>
          </p:cNvSpPr>
          <p:nvPr/>
        </p:nvSpPr>
        <p:spPr>
          <a:xfrm xmlns:a="http://schemas.openxmlformats.org/drawingml/2006/main">
            <a:off x="8756015" y="21177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963C8313-1D03-4160-A2AF-AFCA8F02D23A}"/>
              </a:ext>
            </a:extLst>
          </p:cNvPr>
          <p:cNvSpPr>
            <a:spLocks xmlns:a="http://schemas.openxmlformats.org/drawingml/2006/main" noGrp="1"/>
          </p:cNvSpPr>
          <p:nvPr/>
        </p:nvSpPr>
        <p:spPr>
          <a:xfrm xmlns:a="http://schemas.openxmlformats.org/drawingml/2006/main">
            <a:off x="8756015" y="211772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7E77ACE-0597-4A9B-A3B0-DB5D8DED12E8}"/>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29" name="">
            <a:extLst xmlns:a="http://schemas.openxmlformats.org/drawingml/2006/main">
              <a:ext uri="{FF2B5EF4-FFF2-40B4-BE49-F238E27FC236}">
                <a16:creationId xmlns:a16="http://schemas.microsoft.com/office/drawing/2014/main" id="{092C8549-2EE1-4677-A98F-62A864896327}"/>
              </a:ext>
            </a:extLst>
          </p:cNvPr>
          <p:cNvSpPr>
            <a:spLocks xmlns:a="http://schemas.openxmlformats.org/drawingml/2006/main" noGrp="1"/>
          </p:cNvSpPr>
          <p:nvPr/>
        </p:nvSpPr>
        <p:spPr>
          <a:xfrm xmlns:a="http://schemas.openxmlformats.org/drawingml/2006/main">
            <a:off x="8832215" y="23272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Retrofit presence</a:t>
            </a:r>
          </a:p>
        </p:txBody>
      </p:sp>
      <p:sp>
        <p:nvSpPr>
          <p:cNvPr id="30" name="">
            <a:extLst xmlns:a="http://schemas.openxmlformats.org/drawingml/2006/main">
              <a:ext uri="{FF2B5EF4-FFF2-40B4-BE49-F238E27FC236}">
                <a16:creationId xmlns:a16="http://schemas.microsoft.com/office/drawing/2014/main" id="{14CA7AA7-6A0E-482D-A0F4-3C8ABB152440}"/>
              </a:ext>
            </a:extLst>
          </p:cNvPr>
          <p:cNvSpPr>
            <a:spLocks xmlns:a="http://schemas.openxmlformats.org/drawingml/2006/main" noGrp="1"/>
          </p:cNvSpPr>
          <p:nvPr/>
        </p:nvSpPr>
        <p:spPr>
          <a:xfrm xmlns:a="http://schemas.openxmlformats.org/drawingml/2006/main">
            <a:off x="457200" y="2927350"/>
            <a:ext cx="2255520" cy="8382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51976848-D027-436C-A724-5566363AA900}"/>
              </a:ext>
            </a:extLst>
          </p:cNvPr>
          <p:cNvSpPr>
            <a:spLocks xmlns:a="http://schemas.openxmlformats.org/drawingml/2006/main" noGrp="1"/>
          </p:cNvSpPr>
          <p:nvPr/>
        </p:nvSpPr>
        <p:spPr>
          <a:xfrm xmlns:a="http://schemas.openxmlformats.org/drawingml/2006/main">
            <a:off x="552450" y="3041650"/>
            <a:ext cx="210312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CONTINENTAL</a:t>
            </a:r>
          </a:p>
        </p:txBody>
      </p:sp>
      <p:sp>
        <p:nvSpPr>
          <p:cNvPr id="32" name="">
            <a:extLst xmlns:a="http://schemas.openxmlformats.org/drawingml/2006/main">
              <a:ext uri="{FF2B5EF4-FFF2-40B4-BE49-F238E27FC236}">
                <a16:creationId xmlns:a16="http://schemas.microsoft.com/office/drawing/2014/main" id="{552B7659-32FA-43D2-82DF-91A94726E466}"/>
              </a:ext>
            </a:extLst>
          </p:cNvPr>
          <p:cNvSpPr>
            <a:spLocks xmlns:a="http://schemas.openxmlformats.org/drawingml/2006/main" noGrp="1"/>
          </p:cNvSpPr>
          <p:nvPr/>
        </p:nvSpPr>
        <p:spPr>
          <a:xfrm xmlns:a="http://schemas.openxmlformats.org/drawingml/2006/main">
            <a:off x="2741295" y="29559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3" name="">
            <a:extLst xmlns:a="http://schemas.openxmlformats.org/drawingml/2006/main">
              <a:ext uri="{FF2B5EF4-FFF2-40B4-BE49-F238E27FC236}">
                <a16:creationId xmlns:a16="http://schemas.microsoft.com/office/drawing/2014/main" id="{806358DF-7D01-410E-BA86-C19473A5F7DA}"/>
              </a:ext>
            </a:extLst>
          </p:cNvPr>
          <p:cNvSpPr>
            <a:spLocks xmlns:a="http://schemas.openxmlformats.org/drawingml/2006/main" noGrp="1"/>
          </p:cNvSpPr>
          <p:nvPr/>
        </p:nvSpPr>
        <p:spPr>
          <a:xfrm xmlns:a="http://schemas.openxmlformats.org/drawingml/2006/main">
            <a:off x="2741295" y="295592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9815F43-553A-4977-AA69-6B946AE6C69C}"/>
              </a:ext>
            </a:extLst>
          </p:cNvPr>
          <p:cNvSpPr>
            <a:spLocks xmlns:a="http://schemas.openxmlformats.org/drawingml/2006/main" noGrp="1"/>
          </p:cNvSpPr>
          <p:nvPr/>
        </p:nvSpPr>
        <p:spPr>
          <a:xfrm xmlns:a="http://schemas.openxmlformats.org/drawingml/2006/main">
            <a:off x="2817495" y="30416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35" name="">
            <a:extLst xmlns:a="http://schemas.openxmlformats.org/drawingml/2006/main">
              <a:ext uri="{FF2B5EF4-FFF2-40B4-BE49-F238E27FC236}">
                <a16:creationId xmlns:a16="http://schemas.microsoft.com/office/drawing/2014/main" id="{37C865DB-E137-4D62-9A6D-EC73B83CEF00}"/>
              </a:ext>
            </a:extLst>
          </p:cNvPr>
          <p:cNvSpPr>
            <a:spLocks xmlns:a="http://schemas.openxmlformats.org/drawingml/2006/main" noGrp="1"/>
          </p:cNvSpPr>
          <p:nvPr/>
        </p:nvSpPr>
        <p:spPr>
          <a:xfrm xmlns:a="http://schemas.openxmlformats.org/drawingml/2006/main">
            <a:off x="2817495" y="31654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Service network</a:t>
            </a:r>
          </a:p>
        </p:txBody>
      </p:sp>
      <p:sp>
        <p:nvSpPr>
          <p:cNvPr id="36" name="">
            <a:extLst xmlns:a="http://schemas.openxmlformats.org/drawingml/2006/main">
              <a:ext uri="{FF2B5EF4-FFF2-40B4-BE49-F238E27FC236}">
                <a16:creationId xmlns:a16="http://schemas.microsoft.com/office/drawing/2014/main" id="{9F398AF9-0D91-4A06-852D-20249777EF17}"/>
              </a:ext>
            </a:extLst>
          </p:cNvPr>
          <p:cNvSpPr>
            <a:spLocks xmlns:a="http://schemas.openxmlformats.org/drawingml/2006/main" noGrp="1"/>
          </p:cNvSpPr>
          <p:nvPr/>
        </p:nvSpPr>
        <p:spPr>
          <a:xfrm xmlns:a="http://schemas.openxmlformats.org/drawingml/2006/main">
            <a:off x="5748655" y="29559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0C6002C6-9E44-4C6C-97C5-EF92CBF6049B}"/>
              </a:ext>
            </a:extLst>
          </p:cNvPr>
          <p:cNvSpPr>
            <a:spLocks xmlns:a="http://schemas.openxmlformats.org/drawingml/2006/main" noGrp="1"/>
          </p:cNvSpPr>
          <p:nvPr/>
        </p:nvSpPr>
        <p:spPr>
          <a:xfrm xmlns:a="http://schemas.openxmlformats.org/drawingml/2006/main">
            <a:off x="5748655" y="2955925"/>
            <a:ext cx="295021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43AD8AF2-72CF-4253-A410-12168192AD20}"/>
              </a:ext>
            </a:extLst>
          </p:cNvPr>
          <p:cNvSpPr>
            <a:spLocks xmlns:a="http://schemas.openxmlformats.org/drawingml/2006/main" noGrp="1"/>
          </p:cNvSpPr>
          <p:nvPr/>
        </p:nvSpPr>
        <p:spPr>
          <a:xfrm xmlns:a="http://schemas.openxmlformats.org/drawingml/2006/main">
            <a:off x="5824855" y="30416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HIGHEST</a:t>
            </a:r>
          </a:p>
        </p:txBody>
      </p:sp>
      <p:sp>
        <p:nvSpPr>
          <p:cNvPr id="39" name="">
            <a:extLst xmlns:a="http://schemas.openxmlformats.org/drawingml/2006/main">
              <a:ext uri="{FF2B5EF4-FFF2-40B4-BE49-F238E27FC236}">
                <a16:creationId xmlns:a16="http://schemas.microsoft.com/office/drawing/2014/main" id="{813D79BC-E6F5-4EFE-B07C-E7A9E2E1467B}"/>
              </a:ext>
            </a:extLst>
          </p:cNvPr>
          <p:cNvSpPr>
            <a:spLocks xmlns:a="http://schemas.openxmlformats.org/drawingml/2006/main" noGrp="1"/>
          </p:cNvSpPr>
          <p:nvPr/>
        </p:nvSpPr>
        <p:spPr>
          <a:xfrm xmlns:a="http://schemas.openxmlformats.org/drawingml/2006/main">
            <a:off x="5824855" y="31654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OEM partnerships</a:t>
            </a:r>
          </a:p>
        </p:txBody>
      </p:sp>
      <p:sp>
        <p:nvSpPr>
          <p:cNvPr id="40" name="">
            <a:extLst xmlns:a="http://schemas.openxmlformats.org/drawingml/2006/main">
              <a:ext uri="{FF2B5EF4-FFF2-40B4-BE49-F238E27FC236}">
                <a16:creationId xmlns:a16="http://schemas.microsoft.com/office/drawing/2014/main" id="{0795BA71-101E-46CB-B2AA-10F8C79CD9D7}"/>
              </a:ext>
            </a:extLst>
          </p:cNvPr>
          <p:cNvSpPr>
            <a:spLocks xmlns:a="http://schemas.openxmlformats.org/drawingml/2006/main" noGrp="1"/>
          </p:cNvSpPr>
          <p:nvPr/>
        </p:nvSpPr>
        <p:spPr>
          <a:xfrm xmlns:a="http://schemas.openxmlformats.org/drawingml/2006/main">
            <a:off x="8756015" y="29559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1" name="">
            <a:extLst xmlns:a="http://schemas.openxmlformats.org/drawingml/2006/main">
              <a:ext uri="{FF2B5EF4-FFF2-40B4-BE49-F238E27FC236}">
                <a16:creationId xmlns:a16="http://schemas.microsoft.com/office/drawing/2014/main" id="{AED5493E-8FCA-4634-B070-21D500318C45}"/>
              </a:ext>
            </a:extLst>
          </p:cNvPr>
          <p:cNvSpPr>
            <a:spLocks xmlns:a="http://schemas.openxmlformats.org/drawingml/2006/main" noGrp="1"/>
          </p:cNvSpPr>
          <p:nvPr/>
        </p:nvSpPr>
        <p:spPr>
          <a:xfrm xmlns:a="http://schemas.openxmlformats.org/drawingml/2006/main">
            <a:off x="8756015" y="295592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273B674E-5224-49B1-9D24-23311BB691ED}"/>
              </a:ext>
            </a:extLst>
          </p:cNvPr>
          <p:cNvSpPr>
            <a:spLocks xmlns:a="http://schemas.openxmlformats.org/drawingml/2006/main" noGrp="1"/>
          </p:cNvSpPr>
          <p:nvPr/>
        </p:nvSpPr>
        <p:spPr>
          <a:xfrm xmlns:a="http://schemas.openxmlformats.org/drawingml/2006/main">
            <a:off x="8832215" y="30416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43" name="">
            <a:extLst xmlns:a="http://schemas.openxmlformats.org/drawingml/2006/main">
              <a:ext uri="{FF2B5EF4-FFF2-40B4-BE49-F238E27FC236}">
                <a16:creationId xmlns:a16="http://schemas.microsoft.com/office/drawing/2014/main" id="{FF232326-9C07-4AD2-94FF-FB5BB84B58A5}"/>
              </a:ext>
            </a:extLst>
          </p:cNvPr>
          <p:cNvSpPr>
            <a:spLocks xmlns:a="http://schemas.openxmlformats.org/drawingml/2006/main" noGrp="1"/>
          </p:cNvSpPr>
          <p:nvPr/>
        </p:nvSpPr>
        <p:spPr>
          <a:xfrm xmlns:a="http://schemas.openxmlformats.org/drawingml/2006/main">
            <a:off x="8832215" y="31654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Retrofit capability</a:t>
            </a:r>
          </a:p>
        </p:txBody>
      </p:sp>
      <p:sp>
        <p:nvSpPr>
          <p:cNvPr id="44" name="">
            <a:extLst xmlns:a="http://schemas.openxmlformats.org/drawingml/2006/main">
              <a:ext uri="{FF2B5EF4-FFF2-40B4-BE49-F238E27FC236}">
                <a16:creationId xmlns:a16="http://schemas.microsoft.com/office/drawing/2014/main" id="{73EA0DA9-776C-4518-873D-572A46984765}"/>
              </a:ext>
            </a:extLst>
          </p:cNvPr>
          <p:cNvSpPr>
            <a:spLocks xmlns:a="http://schemas.openxmlformats.org/drawingml/2006/main" noGrp="1"/>
          </p:cNvSpPr>
          <p:nvPr/>
        </p:nvSpPr>
        <p:spPr>
          <a:xfrm xmlns:a="http://schemas.openxmlformats.org/drawingml/2006/main">
            <a:off x="457200" y="3765550"/>
            <a:ext cx="2255520" cy="8382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5" name="">
            <a:extLst xmlns:a="http://schemas.openxmlformats.org/drawingml/2006/main">
              <a:ext uri="{FF2B5EF4-FFF2-40B4-BE49-F238E27FC236}">
                <a16:creationId xmlns:a16="http://schemas.microsoft.com/office/drawing/2014/main" id="{02CB8CC0-8E7D-4BB1-B221-5EB35E06C22D}"/>
              </a:ext>
            </a:extLst>
          </p:cNvPr>
          <p:cNvSpPr>
            <a:spLocks xmlns:a="http://schemas.openxmlformats.org/drawingml/2006/main" noGrp="1"/>
          </p:cNvSpPr>
          <p:nvPr/>
        </p:nvSpPr>
        <p:spPr>
          <a:xfrm xmlns:a="http://schemas.openxmlformats.org/drawingml/2006/main">
            <a:off x="552450" y="3879850"/>
            <a:ext cx="210312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VALEO</a:t>
            </a:r>
          </a:p>
        </p:txBody>
      </p:sp>
      <p:sp>
        <p:nvSpPr>
          <p:cNvPr id="46" name="">
            <a:extLst xmlns:a="http://schemas.openxmlformats.org/drawingml/2006/main">
              <a:ext uri="{FF2B5EF4-FFF2-40B4-BE49-F238E27FC236}">
                <a16:creationId xmlns:a16="http://schemas.microsoft.com/office/drawing/2014/main" id="{BFA2610C-794C-4A41-9EDE-532F82C5758E}"/>
              </a:ext>
            </a:extLst>
          </p:cNvPr>
          <p:cNvSpPr>
            <a:spLocks xmlns:a="http://schemas.openxmlformats.org/drawingml/2006/main" noGrp="1"/>
          </p:cNvSpPr>
          <p:nvPr/>
        </p:nvSpPr>
        <p:spPr>
          <a:xfrm xmlns:a="http://schemas.openxmlformats.org/drawingml/2006/main">
            <a:off x="2741295" y="37941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7" name="">
            <a:extLst xmlns:a="http://schemas.openxmlformats.org/drawingml/2006/main">
              <a:ext uri="{FF2B5EF4-FFF2-40B4-BE49-F238E27FC236}">
                <a16:creationId xmlns:a16="http://schemas.microsoft.com/office/drawing/2014/main" id="{DB09F6E5-9C42-4DCF-AE2B-70E3E4D25A73}"/>
              </a:ext>
            </a:extLst>
          </p:cNvPr>
          <p:cNvSpPr>
            <a:spLocks xmlns:a="http://schemas.openxmlformats.org/drawingml/2006/main" noGrp="1"/>
          </p:cNvSpPr>
          <p:nvPr/>
        </p:nvSpPr>
        <p:spPr>
          <a:xfrm xmlns:a="http://schemas.openxmlformats.org/drawingml/2006/main">
            <a:off x="2741295" y="379412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296C5BB4-2911-492F-9EBF-7FA752B64417}"/>
              </a:ext>
            </a:extLst>
          </p:cNvPr>
          <p:cNvSpPr>
            <a:spLocks xmlns:a="http://schemas.openxmlformats.org/drawingml/2006/main" noGrp="1"/>
          </p:cNvSpPr>
          <p:nvPr/>
        </p:nvSpPr>
        <p:spPr>
          <a:xfrm xmlns:a="http://schemas.openxmlformats.org/drawingml/2006/main">
            <a:off x="2817495" y="38798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49" name="">
            <a:extLst xmlns:a="http://schemas.openxmlformats.org/drawingml/2006/main">
              <a:ext uri="{FF2B5EF4-FFF2-40B4-BE49-F238E27FC236}">
                <a16:creationId xmlns:a16="http://schemas.microsoft.com/office/drawing/2014/main" id="{49BA15E5-58B2-44C2-BEE9-5E0D5689A720}"/>
              </a:ext>
            </a:extLst>
          </p:cNvPr>
          <p:cNvSpPr>
            <a:spLocks xmlns:a="http://schemas.openxmlformats.org/drawingml/2006/main" noGrp="1"/>
          </p:cNvSpPr>
          <p:nvPr/>
        </p:nvSpPr>
        <p:spPr>
          <a:xfrm xmlns:a="http://schemas.openxmlformats.org/drawingml/2006/main">
            <a:off x="2817495" y="40036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Local presence</a:t>
            </a:r>
          </a:p>
        </p:txBody>
      </p:sp>
      <p:sp>
        <p:nvSpPr>
          <p:cNvPr id="50" name="">
            <a:extLst xmlns:a="http://schemas.openxmlformats.org/drawingml/2006/main">
              <a:ext uri="{FF2B5EF4-FFF2-40B4-BE49-F238E27FC236}">
                <a16:creationId xmlns:a16="http://schemas.microsoft.com/office/drawing/2014/main" id="{84990D1D-058E-4CF3-805A-ED9BDE2A2EEA}"/>
              </a:ext>
            </a:extLst>
          </p:cNvPr>
          <p:cNvSpPr>
            <a:spLocks xmlns:a="http://schemas.openxmlformats.org/drawingml/2006/main" noGrp="1"/>
          </p:cNvSpPr>
          <p:nvPr/>
        </p:nvSpPr>
        <p:spPr>
          <a:xfrm xmlns:a="http://schemas.openxmlformats.org/drawingml/2006/main">
            <a:off x="5748655" y="37941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1" name="">
            <a:extLst xmlns:a="http://schemas.openxmlformats.org/drawingml/2006/main">
              <a:ext uri="{FF2B5EF4-FFF2-40B4-BE49-F238E27FC236}">
                <a16:creationId xmlns:a16="http://schemas.microsoft.com/office/drawing/2014/main" id="{A764DAAA-3C35-407A-B9D2-6A13D20F1FF3}"/>
              </a:ext>
            </a:extLst>
          </p:cNvPr>
          <p:cNvSpPr>
            <a:spLocks xmlns:a="http://schemas.openxmlformats.org/drawingml/2006/main" noGrp="1"/>
          </p:cNvSpPr>
          <p:nvPr/>
        </p:nvSpPr>
        <p:spPr>
          <a:xfrm xmlns:a="http://schemas.openxmlformats.org/drawingml/2006/main">
            <a:off x="5748655" y="3794125"/>
            <a:ext cx="295021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67C181EA-4D15-4178-A783-B157CF00C9AE}"/>
              </a:ext>
            </a:extLst>
          </p:cNvPr>
          <p:cNvSpPr>
            <a:spLocks xmlns:a="http://schemas.openxmlformats.org/drawingml/2006/main" noGrp="1"/>
          </p:cNvSpPr>
          <p:nvPr/>
        </p:nvSpPr>
        <p:spPr>
          <a:xfrm xmlns:a="http://schemas.openxmlformats.org/drawingml/2006/main">
            <a:off x="5824855" y="38798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HIGHEST</a:t>
            </a:r>
          </a:p>
        </p:txBody>
      </p:sp>
      <p:sp>
        <p:nvSpPr>
          <p:cNvPr id="53" name="">
            <a:extLst xmlns:a="http://schemas.openxmlformats.org/drawingml/2006/main">
              <a:ext uri="{FF2B5EF4-FFF2-40B4-BE49-F238E27FC236}">
                <a16:creationId xmlns:a16="http://schemas.microsoft.com/office/drawing/2014/main" id="{12E7F514-0144-4F2A-BF94-2F267E9C2D6C}"/>
              </a:ext>
            </a:extLst>
          </p:cNvPr>
          <p:cNvSpPr>
            <a:spLocks xmlns:a="http://schemas.openxmlformats.org/drawingml/2006/main" noGrp="1"/>
          </p:cNvSpPr>
          <p:nvPr/>
        </p:nvSpPr>
        <p:spPr>
          <a:xfrm xmlns:a="http://schemas.openxmlformats.org/drawingml/2006/main">
            <a:off x="5824855" y="40036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Camera expertise</a:t>
            </a:r>
          </a:p>
        </p:txBody>
      </p:sp>
      <p:sp>
        <p:nvSpPr>
          <p:cNvPr id="54" name="">
            <a:extLst xmlns:a="http://schemas.openxmlformats.org/drawingml/2006/main">
              <a:ext uri="{FF2B5EF4-FFF2-40B4-BE49-F238E27FC236}">
                <a16:creationId xmlns:a16="http://schemas.microsoft.com/office/drawing/2014/main" id="{C30E7C46-2D32-4A2A-A04F-672D91AADC88}"/>
              </a:ext>
            </a:extLst>
          </p:cNvPr>
          <p:cNvSpPr>
            <a:spLocks xmlns:a="http://schemas.openxmlformats.org/drawingml/2006/main" noGrp="1"/>
          </p:cNvSpPr>
          <p:nvPr/>
        </p:nvSpPr>
        <p:spPr>
          <a:xfrm xmlns:a="http://schemas.openxmlformats.org/drawingml/2006/main">
            <a:off x="8756015" y="37941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5" name="">
            <a:extLst xmlns:a="http://schemas.openxmlformats.org/drawingml/2006/main">
              <a:ext uri="{FF2B5EF4-FFF2-40B4-BE49-F238E27FC236}">
                <a16:creationId xmlns:a16="http://schemas.microsoft.com/office/drawing/2014/main" id="{E90D6263-79FA-45BF-AECF-70888DAC8E24}"/>
              </a:ext>
            </a:extLst>
          </p:cNvPr>
          <p:cNvSpPr>
            <a:spLocks xmlns:a="http://schemas.openxmlformats.org/drawingml/2006/main" noGrp="1"/>
          </p:cNvSpPr>
          <p:nvPr/>
        </p:nvSpPr>
        <p:spPr>
          <a:xfrm xmlns:a="http://schemas.openxmlformats.org/drawingml/2006/main">
            <a:off x="8756015" y="37941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08B9163A-9955-4BF1-BF23-DB8D8958719C}"/>
              </a:ext>
            </a:extLst>
          </p:cNvPr>
          <p:cNvSpPr>
            <a:spLocks xmlns:a="http://schemas.openxmlformats.org/drawingml/2006/main" noGrp="1"/>
          </p:cNvSpPr>
          <p:nvPr/>
        </p:nvSpPr>
        <p:spPr>
          <a:xfrm xmlns:a="http://schemas.openxmlformats.org/drawingml/2006/main">
            <a:off x="8832215" y="38798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57" name="">
            <a:extLst xmlns:a="http://schemas.openxmlformats.org/drawingml/2006/main">
              <a:ext uri="{FF2B5EF4-FFF2-40B4-BE49-F238E27FC236}">
                <a16:creationId xmlns:a16="http://schemas.microsoft.com/office/drawing/2014/main" id="{544478E5-69C2-49F5-B0FF-FCF18EE887F6}"/>
              </a:ext>
            </a:extLst>
          </p:cNvPr>
          <p:cNvSpPr>
            <a:spLocks xmlns:a="http://schemas.openxmlformats.org/drawingml/2006/main" noGrp="1"/>
          </p:cNvSpPr>
          <p:nvPr/>
        </p:nvSpPr>
        <p:spPr>
          <a:xfrm xmlns:a="http://schemas.openxmlformats.org/drawingml/2006/main">
            <a:off x="8832215" y="40036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mining</a:t>
            </a:r>
          </a:p>
        </p:txBody>
      </p:sp>
      <p:sp>
        <p:nvSpPr>
          <p:cNvPr id="58" name="">
            <a:extLst xmlns:a="http://schemas.openxmlformats.org/drawingml/2006/main">
              <a:ext uri="{FF2B5EF4-FFF2-40B4-BE49-F238E27FC236}">
                <a16:creationId xmlns:a16="http://schemas.microsoft.com/office/drawing/2014/main" id="{D885115A-50B1-43C8-8601-F9613293EB3F}"/>
              </a:ext>
            </a:extLst>
          </p:cNvPr>
          <p:cNvSpPr>
            <a:spLocks xmlns:a="http://schemas.openxmlformats.org/drawingml/2006/main" noGrp="1"/>
          </p:cNvSpPr>
          <p:nvPr/>
        </p:nvSpPr>
        <p:spPr>
          <a:xfrm xmlns:a="http://schemas.openxmlformats.org/drawingml/2006/main">
            <a:off x="457200" y="47180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9" name="">
            <a:extLst xmlns:a="http://schemas.openxmlformats.org/drawingml/2006/main">
              <a:ext uri="{FF2B5EF4-FFF2-40B4-BE49-F238E27FC236}">
                <a16:creationId xmlns:a16="http://schemas.microsoft.com/office/drawing/2014/main" id="{F4102FB2-15BC-4906-ABA8-6D115F3BCC13}"/>
              </a:ext>
            </a:extLst>
          </p:cNvPr>
          <p:cNvSpPr>
            <a:spLocks xmlns:a="http://schemas.openxmlformats.org/drawingml/2006/main" noGrp="1"/>
          </p:cNvSpPr>
          <p:nvPr/>
        </p:nvSpPr>
        <p:spPr>
          <a:xfrm xmlns:a="http://schemas.openxmlformats.org/drawingml/2006/main">
            <a:off x="457200" y="47180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22795701-ECAD-4E8B-83D5-B1DF29955B3A}"/>
              </a:ext>
            </a:extLst>
          </p:cNvPr>
          <p:cNvSpPr>
            <a:spLocks xmlns:a="http://schemas.openxmlformats.org/drawingml/2006/main" noGrp="1"/>
          </p:cNvSpPr>
          <p:nvPr/>
        </p:nvSpPr>
        <p:spPr>
          <a:xfrm xmlns:a="http://schemas.openxmlformats.org/drawingml/2006/main">
            <a:off x="58102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61" name="">
            <a:extLst xmlns:a="http://schemas.openxmlformats.org/drawingml/2006/main">
              <a:ext uri="{FF2B5EF4-FFF2-40B4-BE49-F238E27FC236}">
                <a16:creationId xmlns:a16="http://schemas.microsoft.com/office/drawing/2014/main" id="{AD9AF087-6EA3-44C8-A928-885C78A96ACE}"/>
              </a:ext>
            </a:extLst>
          </p:cNvPr>
          <p:cNvSpPr>
            <a:spLocks xmlns:a="http://schemas.openxmlformats.org/drawingml/2006/main" noGrp="1"/>
          </p:cNvSpPr>
          <p:nvPr/>
        </p:nvSpPr>
        <p:spPr>
          <a:xfrm xmlns:a="http://schemas.openxmlformats.org/drawingml/2006/main">
            <a:off x="581025" y="49339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Bundling converts into advantage only where a single accountable supplier is what the buyer wants. Retrofit and tender buyers purchase components and service, which is where the bundle stops paying.</a:t>
            </a:r>
          </a:p>
        </p:txBody>
      </p:sp>
      <p:sp>
        <p:nvSpPr>
          <p:cNvPr id="62" name="">
            <a:extLst xmlns:a="http://schemas.openxmlformats.org/drawingml/2006/main">
              <a:ext uri="{FF2B5EF4-FFF2-40B4-BE49-F238E27FC236}">
                <a16:creationId xmlns:a16="http://schemas.microsoft.com/office/drawing/2014/main" id="{37DC84D6-B36C-4716-845B-6A0DD17B0487}"/>
              </a:ext>
            </a:extLst>
          </p:cNvPr>
          <p:cNvSpPr>
            <a:spLocks xmlns:a="http://schemas.openxmlformats.org/drawingml/2006/main" noGrp="1"/>
          </p:cNvSpPr>
          <p:nvPr/>
        </p:nvSpPr>
        <p:spPr>
          <a:xfrm xmlns:a="http://schemas.openxmlformats.org/drawingml/2006/main">
            <a:off x="6153150" y="47180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63" name="">
            <a:extLst xmlns:a="http://schemas.openxmlformats.org/drawingml/2006/main">
              <a:ext uri="{FF2B5EF4-FFF2-40B4-BE49-F238E27FC236}">
                <a16:creationId xmlns:a16="http://schemas.microsoft.com/office/drawing/2014/main" id="{BF5A6497-3FE7-47B9-B59F-2853BE51B118}"/>
              </a:ext>
            </a:extLst>
          </p:cNvPr>
          <p:cNvSpPr>
            <a:spLocks xmlns:a="http://schemas.openxmlformats.org/drawingml/2006/main" noGrp="1"/>
          </p:cNvSpPr>
          <p:nvPr/>
        </p:nvSpPr>
        <p:spPr>
          <a:xfrm xmlns:a="http://schemas.openxmlformats.org/drawingml/2006/main">
            <a:off x="6153150" y="47180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F6929984-9BB8-43D6-A95E-94995BCDCE7C}"/>
              </a:ext>
            </a:extLst>
          </p:cNvPr>
          <p:cNvSpPr>
            <a:spLocks xmlns:a="http://schemas.openxmlformats.org/drawingml/2006/main" noGrp="1"/>
          </p:cNvSpPr>
          <p:nvPr/>
        </p:nvSpPr>
        <p:spPr>
          <a:xfrm xmlns:a="http://schemas.openxmlformats.org/drawingml/2006/main">
            <a:off x="627697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65" name="">
            <a:extLst xmlns:a="http://schemas.openxmlformats.org/drawingml/2006/main">
              <a:ext uri="{FF2B5EF4-FFF2-40B4-BE49-F238E27FC236}">
                <a16:creationId xmlns:a16="http://schemas.microsoft.com/office/drawing/2014/main" id="{B7735FEB-36B0-4F27-8981-B8923048CCF1}"/>
              </a:ext>
            </a:extLst>
          </p:cNvPr>
          <p:cNvSpPr>
            <a:spLocks xmlns:a="http://schemas.openxmlformats.org/drawingml/2006/main" noGrp="1"/>
          </p:cNvSpPr>
          <p:nvPr/>
        </p:nvSpPr>
        <p:spPr>
          <a:xfrm xmlns:a="http://schemas.openxmlformats.org/drawingml/2006/main">
            <a:off x="6276975" y="49339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Any incumbent appearance outside OEM programmes.</a:t>
            </a:r>
          </a:p>
        </p:txBody>
      </p:sp>
      <p:sp>
        <p:nvSpPr>
          <p:cNvPr id="66" name="">
            <a:extLst xmlns:a="http://schemas.openxmlformats.org/drawingml/2006/main">
              <a:ext uri="{FF2B5EF4-FFF2-40B4-BE49-F238E27FC236}">
                <a16:creationId xmlns:a16="http://schemas.microsoft.com/office/drawing/2014/main" id="{30264C6F-D434-439C-926F-40699FC1C480}"/>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29B472C5-7375-406B-ABA9-60DB54D7957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1EB69D94-5341-41C1-A24F-439FDD76A32A}"/>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69" name="">
            <a:extLst xmlns:a="http://schemas.openxmlformats.org/drawingml/2006/main">
              <a:ext uri="{FF2B5EF4-FFF2-40B4-BE49-F238E27FC236}">
                <a16:creationId xmlns:a16="http://schemas.microsoft.com/office/drawing/2014/main" id="{3AEE3AF0-5C10-467C-A99F-2487D376346F}"/>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Add incumbent-displacement gate to OEM bids</a:t>
            </a:r>
          </a:p>
        </p:txBody>
      </p:sp>
      <p:sp>
        <p:nvSpPr>
          <p:cNvPr id="70" name="">
            <a:extLst xmlns:a="http://schemas.openxmlformats.org/drawingml/2006/main">
              <a:ext uri="{FF2B5EF4-FFF2-40B4-BE49-F238E27FC236}">
                <a16:creationId xmlns:a16="http://schemas.microsoft.com/office/drawing/2014/main" id="{BE1D140A-DD15-4AB8-B9C5-D4442ACD9CD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71" name="">
            <a:extLst xmlns:a="http://schemas.openxmlformats.org/drawingml/2006/main">
              <a:ext uri="{FF2B5EF4-FFF2-40B4-BE49-F238E27FC236}">
                <a16:creationId xmlns:a16="http://schemas.microsoft.com/office/drawing/2014/main" id="{5A489E97-03B8-49F1-942F-67EAA4ADAEA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Any incumbent appearance outside OEM programmes.</a:t>
            </a:r>
          </a:p>
        </p:txBody>
      </p:sp>
      <p:sp>
        <p:nvSpPr>
          <p:cNvPr id="72" name="">
            <a:extLst xmlns:a="http://schemas.openxmlformats.org/drawingml/2006/main">
              <a:ext uri="{FF2B5EF4-FFF2-40B4-BE49-F238E27FC236}">
                <a16:creationId xmlns:a16="http://schemas.microsoft.com/office/drawing/2014/main" id="{AEC7DC56-8E95-48D5-9F14-043BEA663ABC}"/>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73" name="">
            <a:extLst xmlns:a="http://schemas.openxmlformats.org/drawingml/2006/main">
              <a:ext uri="{FF2B5EF4-FFF2-40B4-BE49-F238E27FC236}">
                <a16:creationId xmlns:a16="http://schemas.microsoft.com/office/drawing/2014/main" id="{21F690A2-18E3-4F42-B99E-D70BD621C57F}"/>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an incumbent enters the retrofit channel.</a:t>
            </a:r>
          </a:p>
        </p:txBody>
      </p:sp>
      <p:sp>
        <p:nvSpPr>
          <p:cNvPr id="74" name="">
            <a:extLst xmlns:a="http://schemas.openxmlformats.org/drawingml/2006/main">
              <a:ext uri="{FF2B5EF4-FFF2-40B4-BE49-F238E27FC236}">
                <a16:creationId xmlns:a16="http://schemas.microsoft.com/office/drawing/2014/main" id="{2E898BED-72D1-4DCC-9E51-58247A39B99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E7F4ADB6-4715-40C5-BAB8-5EEAF371741E}"/>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76" name="">
            <a:extLst xmlns:a="http://schemas.openxmlformats.org/drawingml/2006/main">
              <a:ext uri="{FF2B5EF4-FFF2-40B4-BE49-F238E27FC236}">
                <a16:creationId xmlns:a16="http://schemas.microsoft.com/office/drawing/2014/main" id="{BE6314DE-6F72-49F9-A21B-B84D3C6A3A96}"/>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85</a:t>
            </a:r>
          </a:p>
        </p:txBody>
      </p:sp>
    </p:spTree>
    <p:extLst>
      <p:ext uri="{BB962C8B-B14F-4D97-AF65-F5344CB8AC3E}">
        <p14:creationId xmlns:p14="http://schemas.microsoft.com/office/powerpoint/2010/main" val="343356420"/>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36EE8505-5679-4BA4-B338-C9DB9FAE30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C47DCC9-463E-4A35-8896-4C4BA521EC94}"/>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D92EBE2-6C48-4978-8297-EBEF2DFDE46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AA5EC183-2F54-407A-A67B-5EC016197A75}"/>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9EB9052D-167B-4689-AE19-221057454D4A}"/>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Only pursue incumbent Tier-1 partnerships with a narrow, provable India VRU wedge</a:t>
            </a:r>
          </a:p>
        </p:txBody>
      </p:sp>
      <p:sp>
        <p:nvSpPr>
          <p:cNvPr id="6" name="">
            <a:extLst xmlns:a="http://schemas.openxmlformats.org/drawingml/2006/main">
              <a:ext uri="{FF2B5EF4-FFF2-40B4-BE49-F238E27FC236}">
                <a16:creationId xmlns:a16="http://schemas.microsoft.com/office/drawing/2014/main" id="{DC2365ED-C80A-4758-BAF6-BB713E830A50}"/>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EA3BE86-FE88-4D5B-BCD8-E4B93524B06E}"/>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When should DeepGrid pursue incumbent Tier-1 partnerships rather than a standalone approach?</a:t>
            </a:r>
          </a:p>
        </p:txBody>
      </p:sp>
      <p:sp>
        <p:nvSpPr>
          <p:cNvPr id="8" name="">
            <a:extLst xmlns:a="http://schemas.openxmlformats.org/drawingml/2006/main">
              <a:ext uri="{FF2B5EF4-FFF2-40B4-BE49-F238E27FC236}">
                <a16:creationId xmlns:a16="http://schemas.microsoft.com/office/drawing/2014/main" id="{54000A22-77F7-40A5-9C50-5DDF374CF6A4}"/>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FD1D5D83-B990-40EE-AC65-FA45CF32B948}"/>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DD7F29A-ADCE-4DF7-B0B4-522664E6E10B}"/>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B9DD5A0D-9841-43DC-B2BE-BE24FD4F1139}"/>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Pursue an incumbent Tier-1 only with one constrained-compute, India-specific VRU wedge backed by a reproducible benchmark. 'Local' is not a wedge.</a:t>
            </a:r>
          </a:p>
        </p:txBody>
      </p:sp>
      <p:sp>
        <p:nvSpPr>
          <p:cNvPr id="12" name="">
            <a:extLst xmlns:a="http://schemas.openxmlformats.org/drawingml/2006/main">
              <a:ext uri="{FF2B5EF4-FFF2-40B4-BE49-F238E27FC236}">
                <a16:creationId xmlns:a16="http://schemas.microsoft.com/office/drawing/2014/main" id="{2202D6A3-E3B5-4841-B4F9-9E80BDEDF75A}"/>
              </a:ext>
            </a:extLst>
          </p:cNvPr>
          <p:cNvSpPr>
            <a:spLocks xmlns:a="http://schemas.openxmlformats.org/drawingml/2006/main" noGrp="1"/>
          </p:cNvSpPr>
          <p:nvPr/>
        </p:nvSpPr>
        <p:spPr>
          <a:xfrm xmlns:a="http://schemas.openxmlformats.org/drawingml/2006/main">
            <a:off x="457200"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56691DA9-4924-465C-AE9C-D632B3AF6965}"/>
              </a:ext>
            </a:extLst>
          </p:cNvPr>
          <p:cNvSpPr>
            <a:spLocks xmlns:a="http://schemas.openxmlformats.org/drawingml/2006/main" noGrp="1"/>
          </p:cNvSpPr>
          <p:nvPr/>
        </p:nvSpPr>
        <p:spPr>
          <a:xfrm xmlns:a="http://schemas.openxmlformats.org/drawingml/2006/main">
            <a:off x="457200"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47E6386-90D4-49F2-B1CB-B955BD365659}"/>
              </a:ext>
            </a:extLst>
          </p:cNvPr>
          <p:cNvSpPr>
            <a:spLocks xmlns:a="http://schemas.openxmlformats.org/drawingml/2006/main" noGrp="1"/>
          </p:cNvSpPr>
          <p:nvPr/>
        </p:nvSpPr>
        <p:spPr>
          <a:xfrm xmlns:a="http://schemas.openxmlformats.org/drawingml/2006/main">
            <a:off x="571500"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B6B55400-20ED-4479-8CD4-001FEA23A17B}"/>
              </a:ext>
            </a:extLst>
          </p:cNvPr>
          <p:cNvSpPr>
            <a:spLocks xmlns:a="http://schemas.openxmlformats.org/drawingml/2006/main" noGrp="1"/>
          </p:cNvSpPr>
          <p:nvPr/>
        </p:nvSpPr>
        <p:spPr>
          <a:xfrm xmlns:a="http://schemas.openxmlformats.org/drawingml/2006/main">
            <a:off x="819150"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INCUMBENT BUNDLE</a:t>
            </a:r>
          </a:p>
        </p:txBody>
      </p:sp>
      <p:sp>
        <p:nvSpPr>
          <p:cNvPr id="16" name="">
            <a:extLst xmlns:a="http://schemas.openxmlformats.org/drawingml/2006/main">
              <a:ext uri="{FF2B5EF4-FFF2-40B4-BE49-F238E27FC236}">
                <a16:creationId xmlns:a16="http://schemas.microsoft.com/office/drawing/2014/main" id="{6632E6CA-72AC-456E-8F9C-D1B93B0E4ADC}"/>
              </a:ext>
            </a:extLst>
          </p:cNvPr>
          <p:cNvSpPr>
            <a:spLocks xmlns:a="http://schemas.openxmlformats.org/drawingml/2006/main" noGrp="1"/>
          </p:cNvSpPr>
          <p:nvPr/>
        </p:nvSpPr>
        <p:spPr>
          <a:xfrm xmlns:a="http://schemas.openxmlformats.org/drawingml/2006/main">
            <a:off x="571500"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Nominated stacks are described as bundling perception, sensors, ECU, and calibration; DeepGrid must find a narrow entry point. Bundle analysis: sensors/ECU/SW Control point identification A…</a:t>
            </a:r>
          </a:p>
        </p:txBody>
      </p:sp>
      <p:sp>
        <p:nvSpPr>
          <p:cNvPr id="17" name="">
            <a:extLst xmlns:a="http://schemas.openxmlformats.org/drawingml/2006/main">
              <a:ext uri="{FF2B5EF4-FFF2-40B4-BE49-F238E27FC236}">
                <a16:creationId xmlns:a16="http://schemas.microsoft.com/office/drawing/2014/main" id="{2C59D461-7532-435E-8870-10834D0219B1}"/>
              </a:ext>
            </a:extLst>
          </p:cNvPr>
          <p:cNvSpPr>
            <a:spLocks xmlns:a="http://schemas.openxmlformats.org/drawingml/2006/main" noGrp="1"/>
          </p:cNvSpPr>
          <p:nvPr/>
        </p:nvSpPr>
        <p:spPr>
          <a:xfrm xmlns:a="http://schemas.openxmlformats.org/drawingml/2006/main">
            <a:off x="3119438"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8D8930B-B1AA-4248-AA46-094AECA3A8F8}"/>
              </a:ext>
            </a:extLst>
          </p:cNvPr>
          <p:cNvSpPr>
            <a:spLocks xmlns:a="http://schemas.openxmlformats.org/drawingml/2006/main" noGrp="1"/>
          </p:cNvSpPr>
          <p:nvPr/>
        </p:nvSpPr>
        <p:spPr>
          <a:xfrm xmlns:a="http://schemas.openxmlformats.org/drawingml/2006/main">
            <a:off x="3348038"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CFC72004-FBF8-40B8-9C62-767F0ACC52AF}"/>
              </a:ext>
            </a:extLst>
          </p:cNvPr>
          <p:cNvSpPr>
            <a:spLocks xmlns:a="http://schemas.openxmlformats.org/drawingml/2006/main" noGrp="1"/>
          </p:cNvSpPr>
          <p:nvPr/>
        </p:nvSpPr>
        <p:spPr>
          <a:xfrm xmlns:a="http://schemas.openxmlformats.org/drawingml/2006/main">
            <a:off x="3348038"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F6F34CA-EBA8-4F3D-99CA-0B6895EBB414}"/>
              </a:ext>
            </a:extLst>
          </p:cNvPr>
          <p:cNvSpPr>
            <a:spLocks xmlns:a="http://schemas.openxmlformats.org/drawingml/2006/main" noGrp="1"/>
          </p:cNvSpPr>
          <p:nvPr/>
        </p:nvSpPr>
        <p:spPr>
          <a:xfrm xmlns:a="http://schemas.openxmlformats.org/drawingml/2006/main">
            <a:off x="3462338"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E940522F-C82A-47C3-954D-F643C5FAEB61}"/>
              </a:ext>
            </a:extLst>
          </p:cNvPr>
          <p:cNvSpPr>
            <a:spLocks xmlns:a="http://schemas.openxmlformats.org/drawingml/2006/main" noGrp="1"/>
          </p:cNvSpPr>
          <p:nvPr/>
        </p:nvSpPr>
        <p:spPr>
          <a:xfrm xmlns:a="http://schemas.openxmlformats.org/drawingml/2006/main">
            <a:off x="3709988"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WEDGE REQUIREMENT</a:t>
            </a:r>
          </a:p>
        </p:txBody>
      </p:sp>
      <p:sp>
        <p:nvSpPr>
          <p:cNvPr id="22" name="">
            <a:extLst xmlns:a="http://schemas.openxmlformats.org/drawingml/2006/main">
              <a:ext uri="{FF2B5EF4-FFF2-40B4-BE49-F238E27FC236}">
                <a16:creationId xmlns:a16="http://schemas.microsoft.com/office/drawing/2014/main" id="{0E93EAC2-7423-4932-95BB-0BBF91EA2D4F}"/>
              </a:ext>
            </a:extLst>
          </p:cNvPr>
          <p:cNvSpPr>
            <a:spLocks xmlns:a="http://schemas.openxmlformats.org/drawingml/2006/main" noGrp="1"/>
          </p:cNvSpPr>
          <p:nvPr/>
        </p:nvSpPr>
        <p:spPr>
          <a:xfrm xmlns:a="http://schemas.openxmlformats.org/drawingml/2006/main">
            <a:off x="3462338"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"Local" is not differentiating by itself. DeepGrid must outperform on constrained compute VRU metrics. VRU accuracy benchmark Constrained compute test Target hardware validation</a:t>
            </a:r>
          </a:p>
        </p:txBody>
      </p:sp>
      <p:sp>
        <p:nvSpPr>
          <p:cNvPr id="23" name="">
            <a:extLst xmlns:a="http://schemas.openxmlformats.org/drawingml/2006/main">
              <a:ext uri="{FF2B5EF4-FFF2-40B4-BE49-F238E27FC236}">
                <a16:creationId xmlns:a16="http://schemas.microsoft.com/office/drawing/2014/main" id="{C6B4ED9E-1255-4609-87E3-73085DBCD143}"/>
              </a:ext>
            </a:extLst>
          </p:cNvPr>
          <p:cNvSpPr>
            <a:spLocks xmlns:a="http://schemas.openxmlformats.org/drawingml/2006/main" noGrp="1"/>
          </p:cNvSpPr>
          <p:nvPr/>
        </p:nvSpPr>
        <p:spPr>
          <a:xfrm xmlns:a="http://schemas.openxmlformats.org/drawingml/2006/main">
            <a:off x="6010275"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8F2CE94-8766-43A8-B384-8AC3A8F56E42}"/>
              </a:ext>
            </a:extLst>
          </p:cNvPr>
          <p:cNvSpPr>
            <a:spLocks xmlns:a="http://schemas.openxmlformats.org/drawingml/2006/main" noGrp="1"/>
          </p:cNvSpPr>
          <p:nvPr/>
        </p:nvSpPr>
        <p:spPr>
          <a:xfrm xmlns:a="http://schemas.openxmlformats.org/drawingml/2006/main">
            <a:off x="6238875"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770DD3C3-4A42-4887-9E82-57D8D79549D3}"/>
              </a:ext>
            </a:extLst>
          </p:cNvPr>
          <p:cNvSpPr>
            <a:spLocks xmlns:a="http://schemas.openxmlformats.org/drawingml/2006/main" noGrp="1"/>
          </p:cNvSpPr>
          <p:nvPr/>
        </p:nvSpPr>
        <p:spPr>
          <a:xfrm xmlns:a="http://schemas.openxmlformats.org/drawingml/2006/main">
            <a:off x="6238875"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F02CBD1-7C16-4F33-8C31-0EFF8ABB9AC5}"/>
              </a:ext>
            </a:extLst>
          </p:cNvPr>
          <p:cNvSpPr>
            <a:spLocks xmlns:a="http://schemas.openxmlformats.org/drawingml/2006/main" noGrp="1"/>
          </p:cNvSpPr>
          <p:nvPr/>
        </p:nvSpPr>
        <p:spPr>
          <a:xfrm xmlns:a="http://schemas.openxmlformats.org/drawingml/2006/main">
            <a:off x="6353175"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687A537B-D3A5-45F9-8CBE-CA7F28DA2E5A}"/>
              </a:ext>
            </a:extLst>
          </p:cNvPr>
          <p:cNvSpPr>
            <a:spLocks xmlns:a="http://schemas.openxmlformats.org/drawingml/2006/main" noGrp="1"/>
          </p:cNvSpPr>
          <p:nvPr/>
        </p:nvSpPr>
        <p:spPr>
          <a:xfrm xmlns:a="http://schemas.openxmlformats.org/drawingml/2006/main">
            <a:off x="6600825"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PROOF DESIGN</a:t>
            </a:r>
          </a:p>
        </p:txBody>
      </p:sp>
      <p:sp>
        <p:nvSpPr>
          <p:cNvPr id="28" name="">
            <a:extLst xmlns:a="http://schemas.openxmlformats.org/drawingml/2006/main">
              <a:ext uri="{FF2B5EF4-FFF2-40B4-BE49-F238E27FC236}">
                <a16:creationId xmlns:a16="http://schemas.microsoft.com/office/drawing/2014/main" id="{CC7F5B2C-1B93-44E9-B53C-304E4AB9F8A4}"/>
              </a:ext>
            </a:extLst>
          </p:cNvPr>
          <p:cNvSpPr>
            <a:spLocks xmlns:a="http://schemas.openxmlformats.org/drawingml/2006/main" noGrp="1"/>
          </p:cNvSpPr>
          <p:nvPr/>
        </p:nvSpPr>
        <p:spPr>
          <a:xfrm xmlns:a="http://schemas.openxmlformats.org/drawingml/2006/main">
            <a:off x="6353175"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pitch must pair a reproducible benchmark with target hardware, denominators, and diagnostics. Reproducible benchmark Scenario denominators Diagnostic coverage</a:t>
            </a:r>
          </a:p>
        </p:txBody>
      </p:sp>
      <p:sp>
        <p:nvSpPr>
          <p:cNvPr id="29" name="">
            <a:extLst xmlns:a="http://schemas.openxmlformats.org/drawingml/2006/main">
              <a:ext uri="{FF2B5EF4-FFF2-40B4-BE49-F238E27FC236}">
                <a16:creationId xmlns:a16="http://schemas.microsoft.com/office/drawing/2014/main" id="{EB5CB24F-DD8D-4BDF-A692-379767391EDB}"/>
              </a:ext>
            </a:extLst>
          </p:cNvPr>
          <p:cNvSpPr>
            <a:spLocks xmlns:a="http://schemas.openxmlformats.org/drawingml/2006/main" noGrp="1"/>
          </p:cNvSpPr>
          <p:nvPr/>
        </p:nvSpPr>
        <p:spPr>
          <a:xfrm xmlns:a="http://schemas.openxmlformats.org/drawingml/2006/main">
            <a:off x="8901113"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A5A59D3-8CA8-4113-B667-BA92E33D07C9}"/>
              </a:ext>
            </a:extLst>
          </p:cNvPr>
          <p:cNvSpPr>
            <a:spLocks xmlns:a="http://schemas.openxmlformats.org/drawingml/2006/main" noGrp="1"/>
          </p:cNvSpPr>
          <p:nvPr/>
        </p:nvSpPr>
        <p:spPr>
          <a:xfrm xmlns:a="http://schemas.openxmlformats.org/drawingml/2006/main">
            <a:off x="9129713"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677A33EA-4DC2-4BE4-8BCB-AD05EA8ADBBF}"/>
              </a:ext>
            </a:extLst>
          </p:cNvPr>
          <p:cNvSpPr>
            <a:spLocks xmlns:a="http://schemas.openxmlformats.org/drawingml/2006/main" noGrp="1"/>
          </p:cNvSpPr>
          <p:nvPr/>
        </p:nvSpPr>
        <p:spPr>
          <a:xfrm xmlns:a="http://schemas.openxmlformats.org/drawingml/2006/main">
            <a:off x="9129713" y="21526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63D00B4-A5BE-4E0A-8E4E-D98D4DCF44D8}"/>
              </a:ext>
            </a:extLst>
          </p:cNvPr>
          <p:cNvSpPr>
            <a:spLocks xmlns:a="http://schemas.openxmlformats.org/drawingml/2006/main" noGrp="1"/>
          </p:cNvSpPr>
          <p:nvPr/>
        </p:nvSpPr>
        <p:spPr>
          <a:xfrm xmlns:a="http://schemas.openxmlformats.org/drawingml/2006/main">
            <a:off x="9244013"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C4822566-6AE8-41FF-81BE-96C2366ED121}"/>
              </a:ext>
            </a:extLst>
          </p:cNvPr>
          <p:cNvSpPr>
            <a:spLocks xmlns:a="http://schemas.openxmlformats.org/drawingml/2006/main" noGrp="1"/>
          </p:cNvSpPr>
          <p:nvPr/>
        </p:nvSpPr>
        <p:spPr>
          <a:xfrm xmlns:a="http://schemas.openxmlformats.org/drawingml/2006/main">
            <a:off x="9491663"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CA68325D-9BE0-4679-ABF3-67FE9ECE7CA3}"/>
              </a:ext>
            </a:extLst>
          </p:cNvPr>
          <p:cNvSpPr>
            <a:spLocks xmlns:a="http://schemas.openxmlformats.org/drawingml/2006/main" noGrp="1"/>
          </p:cNvSpPr>
          <p:nvPr/>
        </p:nvSpPr>
        <p:spPr>
          <a:xfrm xmlns:a="http://schemas.openxmlformats.org/drawingml/2006/main">
            <a:off x="9244013"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Tier-1 agrees to reproduce the benchmark or review it for a named programme with acceptance criteria. Benchmark reproduction Programme review Acceptance criteria</a:t>
            </a:r>
          </a:p>
        </p:txBody>
      </p:sp>
      <p:sp>
        <p:nvSpPr>
          <p:cNvPr id="35" name="">
            <a:extLst xmlns:a="http://schemas.openxmlformats.org/drawingml/2006/main">
              <a:ext uri="{FF2B5EF4-FFF2-40B4-BE49-F238E27FC236}">
                <a16:creationId xmlns:a16="http://schemas.microsoft.com/office/drawing/2014/main" id="{593B5F23-AB62-46DE-8C35-87DB4E37A067}"/>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3CCFEA75-2C1A-4B2C-8041-81A476BC35C3}"/>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009624A-2DCB-423F-AE97-9483CE43B2B6}"/>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4FF5377A-6338-4447-B6BF-FCB7A7BDFE6A}"/>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An incumbent already bundles perception into a nominated stack. Displacement needs a specific, measurable advantage on one axis the buyer scores — breadth of claim moves nothing.</a:t>
            </a:r>
          </a:p>
        </p:txBody>
      </p:sp>
      <p:sp>
        <p:nvSpPr>
          <p:cNvPr id="39" name="">
            <a:extLst xmlns:a="http://schemas.openxmlformats.org/drawingml/2006/main">
              <a:ext uri="{FF2B5EF4-FFF2-40B4-BE49-F238E27FC236}">
                <a16:creationId xmlns:a16="http://schemas.microsoft.com/office/drawing/2014/main" id="{8EDBFFC1-2171-4B89-AC96-34399ABACC2F}"/>
              </a:ext>
            </a:extLst>
          </p:cNvPr>
          <p:cNvSpPr>
            <a:spLocks xmlns:a="http://schemas.openxmlformats.org/drawingml/2006/main" noGrp="1"/>
          </p:cNvSpPr>
          <p:nvPr/>
        </p:nvSpPr>
        <p:spPr>
          <a:xfrm xmlns:a="http://schemas.openxmlformats.org/drawingml/2006/main">
            <a:off x="6153150" y="4724400"/>
            <a:ext cx="558165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CD55DE1F-54EF-4DC4-A0E1-DC6B7C9050CB}"/>
              </a:ext>
            </a:extLst>
          </p:cNvPr>
          <p:cNvSpPr>
            <a:spLocks xmlns:a="http://schemas.openxmlformats.org/drawingml/2006/main" noGrp="1"/>
          </p:cNvSpPr>
          <p:nvPr/>
        </p:nvSpPr>
        <p:spPr>
          <a:xfrm xmlns:a="http://schemas.openxmlformats.org/drawingml/2006/main">
            <a:off x="6153150" y="4724400"/>
            <a:ext cx="28575" cy="673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CD72754-1635-4E67-B1B3-30BDB61203CA}"/>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9EEAD3B9-3BBB-472E-87FA-424DF468773D}"/>
              </a:ext>
            </a:extLst>
          </p:cNvPr>
          <p:cNvSpPr>
            <a:spLocks xmlns:a="http://schemas.openxmlformats.org/drawingml/2006/main" noGrp="1"/>
          </p:cNvSpPr>
          <p:nvPr/>
        </p:nvSpPr>
        <p:spPr>
          <a:xfrm xmlns:a="http://schemas.openxmlformats.org/drawingml/2006/main">
            <a:off x="6276975" y="4940300"/>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bounded pitches wherever the incumbent-led bid is not economically defensible.</a:t>
            </a:r>
          </a:p>
        </p:txBody>
      </p:sp>
      <p:sp>
        <p:nvSpPr>
          <p:cNvPr id="43" name="">
            <a:extLst xmlns:a="http://schemas.openxmlformats.org/drawingml/2006/main">
              <a:ext uri="{FF2B5EF4-FFF2-40B4-BE49-F238E27FC236}">
                <a16:creationId xmlns:a16="http://schemas.microsoft.com/office/drawing/2014/main" id="{98B8F774-CF8A-4091-8E91-FDE6E9BA1798}"/>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57A16092-0C66-4DF7-A3EC-DBC1D7A6C7CE}"/>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3C676B93-3434-44E8-92ED-7D72BD494E3B}"/>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B4A28AEE-6D0E-4DC7-A6F7-8FF87409531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bounded Tier-1 pitches and only economically defensible incumbent-led bids</a:t>
            </a:r>
          </a:p>
        </p:txBody>
      </p:sp>
      <p:sp>
        <p:nvSpPr>
          <p:cNvPr id="47" name="">
            <a:extLst xmlns:a="http://schemas.openxmlformats.org/drawingml/2006/main">
              <a:ext uri="{FF2B5EF4-FFF2-40B4-BE49-F238E27FC236}">
                <a16:creationId xmlns:a16="http://schemas.microsoft.com/office/drawing/2014/main" id="{04DE9FE8-4843-4338-B4DB-A45870994146}"/>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F5CF4BD3-FA9E-4E4D-875A-1BDC4ADEB00A}"/>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A Tier-1 agrees to reproduce the benchmark or review it for a named programme</a:t>
            </a:r>
          </a:p>
        </p:txBody>
      </p:sp>
      <p:sp>
        <p:nvSpPr>
          <p:cNvPr id="49" name="">
            <a:extLst xmlns:a="http://schemas.openxmlformats.org/drawingml/2006/main">
              <a:ext uri="{FF2B5EF4-FFF2-40B4-BE49-F238E27FC236}">
                <a16:creationId xmlns:a16="http://schemas.microsoft.com/office/drawing/2014/main" id="{2D70D6BC-9276-4B75-A3C9-635EA8334395}"/>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96F58CD0-FEBE-403F-B1A4-ADFA3DD84355}"/>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bounded pitches wherever the incumbent-led bid is not economically defensible.</a:t>
            </a:r>
          </a:p>
        </p:txBody>
      </p:sp>
      <p:sp>
        <p:nvSpPr>
          <p:cNvPr id="51" name="">
            <a:extLst xmlns:a="http://schemas.openxmlformats.org/drawingml/2006/main">
              <a:ext uri="{FF2B5EF4-FFF2-40B4-BE49-F238E27FC236}">
                <a16:creationId xmlns:a16="http://schemas.microsoft.com/office/drawing/2014/main" id="{8F90AF0C-DE73-41DD-B592-F15971C4931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A393CB2F-32BE-46C7-8732-E196AA492C7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422A82D4-6470-4719-9357-5B86FFECCA0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86</a:t>
            </a:r>
          </a:p>
        </p:txBody>
      </p:sp>
    </p:spTree>
    <p:extLst>
      <p:ext uri="{BB962C8B-B14F-4D97-AF65-F5344CB8AC3E}">
        <p14:creationId xmlns:p14="http://schemas.microsoft.com/office/powerpoint/2010/main" val="662721295"/>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43050E98-E149-41ED-BC1C-51F569E6BC3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D2617C-8E4A-4B63-9415-C8A3FE3D60EF}"/>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C73D096-4A3F-4B20-96A6-70A4E7F8E62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703A6CB9-219D-472C-8A1C-FF84F9C0ED19}"/>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8E235B2A-281E-4681-A9FC-004F716D84A2}"/>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Incumbent Tier-1 Coexistence Falsifier</a:t>
            </a:r>
          </a:p>
        </p:txBody>
      </p:sp>
      <p:sp>
        <p:nvSpPr>
          <p:cNvPr id="6" name="">
            <a:extLst xmlns:a="http://schemas.openxmlformats.org/drawingml/2006/main">
              <a:ext uri="{FF2B5EF4-FFF2-40B4-BE49-F238E27FC236}">
                <a16:creationId xmlns:a16="http://schemas.microsoft.com/office/drawing/2014/main" id="{751D1FBA-2176-4784-8953-FD29333E667E}"/>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35C5B50-B321-4BB4-B4D0-487D5EE0CF37}"/>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falsify the assumption that Incumbents can coexist with DeepGrid or pose partnership opportunity?</a:t>
            </a:r>
          </a:p>
        </p:txBody>
      </p:sp>
      <p:sp>
        <p:nvSpPr>
          <p:cNvPr id="8" name="">
            <a:extLst xmlns:a="http://schemas.openxmlformats.org/drawingml/2006/main">
              <a:ext uri="{FF2B5EF4-FFF2-40B4-BE49-F238E27FC236}">
                <a16:creationId xmlns:a16="http://schemas.microsoft.com/office/drawing/2014/main" id="{4CCFBC6F-8587-4ED6-AA0A-367DD20361FB}"/>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2F2462F3-B35D-4850-B6B8-311ED8BE1A70}"/>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F1A422D-8758-476D-B2F5-65269D513152}"/>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2BC2414A-B560-49B6-B1AF-207FE1A0941A}"/>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Coexistence plausible until exclusive evidence emerges. DeepGrid should treat Incumbents as potential competitors rather than partners until proven otherwise.</a:t>
            </a:r>
          </a:p>
        </p:txBody>
      </p:sp>
      <p:sp>
        <p:nvSpPr>
          <p:cNvPr id="12" name="">
            <a:extLst xmlns:a="http://schemas.openxmlformats.org/drawingml/2006/main">
              <a:ext uri="{FF2B5EF4-FFF2-40B4-BE49-F238E27FC236}">
                <a16:creationId xmlns:a16="http://schemas.microsoft.com/office/drawing/2014/main" id="{64AB6535-E251-438C-9F27-EB9FB5936F57}"/>
              </a:ext>
            </a:extLst>
          </p:cNvPr>
          <p:cNvSpPr>
            <a:spLocks xmlns:a="http://schemas.openxmlformats.org/drawingml/2006/main" noGrp="1"/>
          </p:cNvSpPr>
          <p:nvPr/>
        </p:nvSpPr>
        <p:spPr>
          <a:xfrm xmlns:a="http://schemas.openxmlformats.org/drawingml/2006/main">
            <a:off x="457200" y="1841500"/>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423AF5F3-FF54-4631-9B9D-C76037F1106D}"/>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3CCD694-8965-482F-9756-CA67030D97AC}"/>
              </a:ext>
            </a:extLst>
          </p:cNvPr>
          <p:cNvSpPr>
            <a:spLocks xmlns:a="http://schemas.openxmlformats.org/drawingml/2006/main" noGrp="1"/>
          </p:cNvSpPr>
          <p:nvPr/>
        </p:nvSpPr>
        <p:spPr>
          <a:xfrm xmlns:a="http://schemas.openxmlformats.org/drawingml/2006/main">
            <a:off x="457200" y="1841500"/>
            <a:ext cx="28575" cy="8763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D160789-F239-4EEE-ADD4-76CC6B23F494}"/>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INTEGRATION-READY SUBSYSTEM</a:t>
            </a:r>
          </a:p>
        </p:txBody>
      </p:sp>
      <p:sp>
        <p:nvSpPr>
          <p:cNvPr id="16" name="">
            <a:extLst xmlns:a="http://schemas.openxmlformats.org/drawingml/2006/main">
              <a:ext uri="{FF2B5EF4-FFF2-40B4-BE49-F238E27FC236}">
                <a16:creationId xmlns:a16="http://schemas.microsoft.com/office/drawing/2014/main" id="{0090D042-A559-4447-BEF0-E0029C4FA0BF}"/>
              </a:ext>
            </a:extLst>
          </p:cNvPr>
          <p:cNvSpPr>
            <a:spLocks xmlns:a="http://schemas.openxmlformats.org/drawingml/2006/main" noGrp="1"/>
          </p:cNvSpPr>
          <p:nvPr/>
        </p:nvSpPr>
        <p:spPr>
          <a:xfrm xmlns:a="http://schemas.openxmlformats.org/drawingml/2006/main">
            <a:off x="4067556" y="191770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Integration-ready subsystem with explicit interfaces, diagnostics and safety assumptions—without claiming brake liability or vehicle approval.</a:t>
            </a:r>
          </a:p>
        </p:txBody>
      </p:sp>
      <p:sp>
        <p:nvSpPr>
          <p:cNvPr id="17" name="">
            <a:extLst xmlns:a="http://schemas.openxmlformats.org/drawingml/2006/main">
              <a:ext uri="{FF2B5EF4-FFF2-40B4-BE49-F238E27FC236}">
                <a16:creationId xmlns:a16="http://schemas.microsoft.com/office/drawing/2014/main" id="{23621740-EDB7-4652-9242-396CDBD396C8}"/>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77FFFEEB-0BE4-457C-8504-ED2371EEEE73}"/>
              </a:ext>
            </a:extLst>
          </p:cNvPr>
          <p:cNvSpPr>
            <a:spLocks xmlns:a="http://schemas.openxmlformats.org/drawingml/2006/main" noGrp="1"/>
          </p:cNvSpPr>
          <p:nvPr/>
        </p:nvSpPr>
        <p:spPr>
          <a:xfrm xmlns:a="http://schemas.openxmlformats.org/drawingml/2006/main">
            <a:off x="457200" y="2784475"/>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409114B9-A13A-40C5-B099-D61B97654941}"/>
              </a:ext>
            </a:extLst>
          </p:cNvPr>
          <p:cNvSpPr>
            <a:spLocks xmlns:a="http://schemas.openxmlformats.org/drawingml/2006/main" noGrp="1"/>
          </p:cNvSpPr>
          <p:nvPr/>
        </p:nvSpPr>
        <p:spPr>
          <a:xfrm xmlns:a="http://schemas.openxmlformats.org/drawingml/2006/main">
            <a:off x="457200" y="2784475"/>
            <a:ext cx="4962144"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7D3BB7F-CEDF-421A-AE6D-0EA236BECD6C}"/>
              </a:ext>
            </a:extLst>
          </p:cNvPr>
          <p:cNvSpPr>
            <a:spLocks xmlns:a="http://schemas.openxmlformats.org/drawingml/2006/main" noGrp="1"/>
          </p:cNvSpPr>
          <p:nvPr/>
        </p:nvSpPr>
        <p:spPr>
          <a:xfrm xmlns:a="http://schemas.openxmlformats.org/drawingml/2006/main">
            <a:off x="457200" y="2784475"/>
            <a:ext cx="28575" cy="8763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B144D17-91DD-4967-9BEC-70B1814B67A6}"/>
              </a:ext>
            </a:extLst>
          </p:cNvPr>
          <p:cNvSpPr>
            <a:spLocks xmlns:a="http://schemas.openxmlformats.org/drawingml/2006/main" noGrp="1"/>
          </p:cNvSpPr>
          <p:nvPr/>
        </p:nvSpPr>
        <p:spPr>
          <a:xfrm xmlns:a="http://schemas.openxmlformats.org/drawingml/2006/main">
            <a:off x="571500" y="28702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INDIA-SPECIFIC VRU</a:t>
            </a:r>
          </a:p>
        </p:txBody>
      </p:sp>
      <p:sp>
        <p:nvSpPr>
          <p:cNvPr id="22" name="">
            <a:extLst xmlns:a="http://schemas.openxmlformats.org/drawingml/2006/main">
              <a:ext uri="{FF2B5EF4-FFF2-40B4-BE49-F238E27FC236}">
                <a16:creationId xmlns:a16="http://schemas.microsoft.com/office/drawing/2014/main" id="{5FD4CCE4-B5C6-432D-9A59-4F5CC9214507}"/>
              </a:ext>
            </a:extLst>
          </p:cNvPr>
          <p:cNvSpPr>
            <a:spLocks xmlns:a="http://schemas.openxmlformats.org/drawingml/2006/main" noGrp="1"/>
          </p:cNvSpPr>
          <p:nvPr/>
        </p:nvSpPr>
        <p:spPr>
          <a:xfrm xmlns:a="http://schemas.openxmlformats.org/drawingml/2006/main">
            <a:off x="4067556" y="286067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India-specific VRU perception on constrained compute—stated as a benchmarked performance envelope, not “born in India.”</a:t>
            </a:r>
          </a:p>
        </p:txBody>
      </p:sp>
      <p:sp>
        <p:nvSpPr>
          <p:cNvPr id="23" name="">
            <a:extLst xmlns:a="http://schemas.openxmlformats.org/drawingml/2006/main">
              <a:ext uri="{FF2B5EF4-FFF2-40B4-BE49-F238E27FC236}">
                <a16:creationId xmlns:a16="http://schemas.microsoft.com/office/drawing/2014/main" id="{470F06C5-6EAC-4C3B-832C-8ADB53A2CD96}"/>
              </a:ext>
            </a:extLst>
          </p:cNvPr>
          <p:cNvSpPr>
            <a:spLocks xmlns:a="http://schemas.openxmlformats.org/drawingml/2006/main" noGrp="1"/>
          </p:cNvSpPr>
          <p:nvPr/>
        </p:nvSpPr>
        <p:spPr>
          <a:xfrm xmlns:a="http://schemas.openxmlformats.org/drawingml/2006/main">
            <a:off x="9816084" y="28702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C212AF3B-48F5-4FCC-91E2-46C56F33EE99}"/>
              </a:ext>
            </a:extLst>
          </p:cNvPr>
          <p:cNvSpPr>
            <a:spLocks xmlns:a="http://schemas.openxmlformats.org/drawingml/2006/main" noGrp="1"/>
          </p:cNvSpPr>
          <p:nvPr/>
        </p:nvSpPr>
        <p:spPr>
          <a:xfrm xmlns:a="http://schemas.openxmlformats.org/drawingml/2006/main">
            <a:off x="457200" y="3727450"/>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9639E66B-65A9-4A3C-88D2-936928AC002D}"/>
              </a:ext>
            </a:extLst>
          </p:cNvPr>
          <p:cNvSpPr>
            <a:spLocks xmlns:a="http://schemas.openxmlformats.org/drawingml/2006/main" noGrp="1"/>
          </p:cNvSpPr>
          <p:nvPr/>
        </p:nvSpPr>
        <p:spPr>
          <a:xfrm xmlns:a="http://schemas.openxmlformats.org/drawingml/2006/main">
            <a:off x="457200" y="3727450"/>
            <a:ext cx="4736592"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58D3A8F-E224-480E-89BB-0D4DE8FC6673}"/>
              </a:ext>
            </a:extLst>
          </p:cNvPr>
          <p:cNvSpPr>
            <a:spLocks xmlns:a="http://schemas.openxmlformats.org/drawingml/2006/main" noGrp="1"/>
          </p:cNvSpPr>
          <p:nvPr/>
        </p:nvSpPr>
        <p:spPr>
          <a:xfrm xmlns:a="http://schemas.openxmlformats.org/drawingml/2006/main">
            <a:off x="457200" y="3727450"/>
            <a:ext cx="28575" cy="8763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99290A1-F6D6-469B-8463-BABF0D5E7594}"/>
              </a:ext>
            </a:extLst>
          </p:cNvPr>
          <p:cNvSpPr>
            <a:spLocks xmlns:a="http://schemas.openxmlformats.org/drawingml/2006/main" noGrp="1"/>
          </p:cNvSpPr>
          <p:nvPr/>
        </p:nvSpPr>
        <p:spPr>
          <a:xfrm xmlns:a="http://schemas.openxmlformats.org/drawingml/2006/main">
            <a:off x="571500" y="38131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TRANSPARENT</a:t>
            </a:r>
          </a:p>
        </p:txBody>
      </p:sp>
      <p:sp>
        <p:nvSpPr>
          <p:cNvPr id="28" name="">
            <a:extLst xmlns:a="http://schemas.openxmlformats.org/drawingml/2006/main">
              <a:ext uri="{FF2B5EF4-FFF2-40B4-BE49-F238E27FC236}">
                <a16:creationId xmlns:a16="http://schemas.microsoft.com/office/drawing/2014/main" id="{F3BDCAF8-2008-43C7-A884-A23B57F9D945}"/>
              </a:ext>
            </a:extLst>
          </p:cNvPr>
          <p:cNvSpPr>
            <a:spLocks xmlns:a="http://schemas.openxmlformats.org/drawingml/2006/main" noGrp="1"/>
          </p:cNvSpPr>
          <p:nvPr/>
        </p:nvSpPr>
        <p:spPr>
          <a:xfrm xmlns:a="http://schemas.openxmlformats.org/drawingml/2006/main">
            <a:off x="4067556" y="380365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Transparent FPGA-to-qualified-ASIC loaded-cost path—separating die, module, NRE, yield, warranty and system price.</a:t>
            </a:r>
          </a:p>
        </p:txBody>
      </p:sp>
      <p:sp>
        <p:nvSpPr>
          <p:cNvPr id="29" name="">
            <a:extLst xmlns:a="http://schemas.openxmlformats.org/drawingml/2006/main">
              <a:ext uri="{FF2B5EF4-FFF2-40B4-BE49-F238E27FC236}">
                <a16:creationId xmlns:a16="http://schemas.microsoft.com/office/drawing/2014/main" id="{DF2D2F9C-2C27-4C4C-84E9-156B5C1A4AE0}"/>
              </a:ext>
            </a:extLst>
          </p:cNvPr>
          <p:cNvSpPr>
            <a:spLocks xmlns:a="http://schemas.openxmlformats.org/drawingml/2006/main" noGrp="1"/>
          </p:cNvSpPr>
          <p:nvPr/>
        </p:nvSpPr>
        <p:spPr>
          <a:xfrm xmlns:a="http://schemas.openxmlformats.org/drawingml/2006/main">
            <a:off x="9816084" y="38131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BEA673CD-549A-48E0-8643-41351BAD1BA5}"/>
              </a:ext>
            </a:extLst>
          </p:cNvPr>
          <p:cNvSpPr>
            <a:spLocks xmlns:a="http://schemas.openxmlformats.org/drawingml/2006/main" noGrp="1"/>
          </p:cNvSpPr>
          <p:nvPr/>
        </p:nvSpPr>
        <p:spPr>
          <a:xfrm xmlns:a="http://schemas.openxmlformats.org/drawingml/2006/main">
            <a:off x="457200" y="4670425"/>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EA5C652F-0CDB-487F-9872-16CB9233E1EA}"/>
              </a:ext>
            </a:extLst>
          </p:cNvPr>
          <p:cNvSpPr>
            <a:spLocks xmlns:a="http://schemas.openxmlformats.org/drawingml/2006/main" noGrp="1"/>
          </p:cNvSpPr>
          <p:nvPr/>
        </p:nvSpPr>
        <p:spPr>
          <a:xfrm xmlns:a="http://schemas.openxmlformats.org/drawingml/2006/main">
            <a:off x="457200" y="4670425"/>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DE50A20-7E79-423E-A399-F13EA8922FF4}"/>
              </a:ext>
            </a:extLst>
          </p:cNvPr>
          <p:cNvSpPr>
            <a:spLocks xmlns:a="http://schemas.openxmlformats.org/drawingml/2006/main" noGrp="1"/>
          </p:cNvSpPr>
          <p:nvPr/>
        </p:nvSpPr>
        <p:spPr>
          <a:xfrm xmlns:a="http://schemas.openxmlformats.org/drawingml/2006/main">
            <a:off x="457200" y="4670425"/>
            <a:ext cx="28575" cy="8763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1FEC1FF-CF7E-41AE-8E00-4926E8ADFDC4}"/>
              </a:ext>
            </a:extLst>
          </p:cNvPr>
          <p:cNvSpPr>
            <a:spLocks xmlns:a="http://schemas.openxmlformats.org/drawingml/2006/main" noGrp="1"/>
          </p:cNvSpPr>
          <p:nvPr/>
        </p:nvSpPr>
        <p:spPr>
          <a:xfrm xmlns:a="http://schemas.openxmlformats.org/drawingml/2006/main">
            <a:off x="571500" y="47561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E8ADC10E-105F-4291-840A-FD92504E0F38}"/>
              </a:ext>
            </a:extLst>
          </p:cNvPr>
          <p:cNvSpPr>
            <a:spLocks xmlns:a="http://schemas.openxmlformats.org/drawingml/2006/main" noGrp="1"/>
          </p:cNvSpPr>
          <p:nvPr/>
        </p:nvSpPr>
        <p:spPr>
          <a:xfrm xmlns:a="http://schemas.openxmlformats.org/drawingml/2006/main">
            <a:off x="4067556" y="474662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Named exclusive OEM relationship, direct competitive bid, or vertical integration evidence would falsify coexistence assumption.</a:t>
            </a:r>
          </a:p>
        </p:txBody>
      </p:sp>
      <p:sp>
        <p:nvSpPr>
          <p:cNvPr id="35" name="">
            <a:extLst xmlns:a="http://schemas.openxmlformats.org/drawingml/2006/main">
              <a:ext uri="{FF2B5EF4-FFF2-40B4-BE49-F238E27FC236}">
                <a16:creationId xmlns:a16="http://schemas.microsoft.com/office/drawing/2014/main" id="{9DC0C8AA-A870-4AD1-9903-53146642444D}"/>
              </a:ext>
            </a:extLst>
          </p:cNvPr>
          <p:cNvSpPr>
            <a:spLocks xmlns:a="http://schemas.openxmlformats.org/drawingml/2006/main" noGrp="1"/>
          </p:cNvSpPr>
          <p:nvPr/>
        </p:nvSpPr>
        <p:spPr>
          <a:xfrm xmlns:a="http://schemas.openxmlformats.org/drawingml/2006/main">
            <a:off x="9816084" y="47561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E7A1156F-BB71-48FD-BCEF-574ABAAD4BBB}"/>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6905A16-6270-471D-B9B8-847E2714657C}"/>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E003972-436F-403C-82FF-6F396E4408E2}"/>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BFF447F2-BD48-45C0-ADEB-20DF924C88B7}"/>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Treat as competitors until exclusive partnership evidence emerges</a:t>
            </a:r>
          </a:p>
        </p:txBody>
      </p:sp>
      <p:sp>
        <p:nvSpPr>
          <p:cNvPr id="40" name="">
            <a:extLst xmlns:a="http://schemas.openxmlformats.org/drawingml/2006/main">
              <a:ext uri="{FF2B5EF4-FFF2-40B4-BE49-F238E27FC236}">
                <a16:creationId xmlns:a16="http://schemas.microsoft.com/office/drawing/2014/main" id="{4AF8536E-C617-45BA-957D-71D63D20E4B5}"/>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9BA348B5-9FC1-4587-B31B-5156606C33D0}"/>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Named exclusive OEM relationship or direct competitive bid</a:t>
            </a:r>
          </a:p>
        </p:txBody>
      </p:sp>
      <p:sp>
        <p:nvSpPr>
          <p:cNvPr id="42" name="">
            <a:extLst xmlns:a="http://schemas.openxmlformats.org/drawingml/2006/main">
              <a:ext uri="{FF2B5EF4-FFF2-40B4-BE49-F238E27FC236}">
                <a16:creationId xmlns:a16="http://schemas.microsoft.com/office/drawing/2014/main" id="{A039D13D-6CED-405E-B7CC-7AD02301C6BD}"/>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9FF32166-9A85-4700-AA7A-4DF58DE0FBB6}"/>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any named exclusive OEM relationship or direct competitive bid.</a:t>
            </a:r>
          </a:p>
        </p:txBody>
      </p:sp>
      <p:sp>
        <p:nvSpPr>
          <p:cNvPr id="44" name="">
            <a:extLst xmlns:a="http://schemas.openxmlformats.org/drawingml/2006/main">
              <a:ext uri="{FF2B5EF4-FFF2-40B4-BE49-F238E27FC236}">
                <a16:creationId xmlns:a16="http://schemas.microsoft.com/office/drawing/2014/main" id="{F842B945-7177-422F-9C2F-2777D67FFAA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76448189-6AF3-4B9F-AD04-C2741F000C6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0A57E5BE-3A16-4A88-8D0C-FF093665C86F}"/>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87</a:t>
            </a:r>
          </a:p>
        </p:txBody>
      </p:sp>
    </p:spTree>
    <p:extLst>
      <p:ext uri="{BB962C8B-B14F-4D97-AF65-F5344CB8AC3E}">
        <p14:creationId xmlns:p14="http://schemas.microsoft.com/office/powerpoint/2010/main" val="231306876"/>
      </p:ext>
    </p:extLst>
  </p:cSld>
</p:sld>
</file>

<file path=ppt/slides/slide88.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2DBD5465-340A-4462-A06F-A97A142F86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F29BD2B-6E68-4218-85A8-8846DDF52ACD}"/>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428D998-647B-4C9C-AB3A-7ED7D898CDCF}"/>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C8147B50-1EC9-425A-8C56-B77A97C2394B}"/>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B81C6A0B-89E2-4E96-889D-F3936B0A9320}"/>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Incumbent threat unproven until supplier-specific India programmes are evidenced</a:t>
            </a:r>
          </a:p>
        </p:txBody>
      </p:sp>
      <p:sp>
        <p:nvSpPr>
          <p:cNvPr id="6" name="">
            <a:extLst xmlns:a="http://schemas.openxmlformats.org/drawingml/2006/main">
              <a:ext uri="{FF2B5EF4-FFF2-40B4-BE49-F238E27FC236}">
                <a16:creationId xmlns:a16="http://schemas.microsoft.com/office/drawing/2014/main" id="{97A2C884-EAE6-4DEC-B489-142006748453}"/>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8A5A91E-D53F-47F4-8DB8-1AAB862BA728}"/>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falsify the current view of Bosch, Continental and Valeo?</a:t>
            </a:r>
          </a:p>
        </p:txBody>
      </p:sp>
      <p:sp>
        <p:nvSpPr>
          <p:cNvPr id="8" name="">
            <a:extLst xmlns:a="http://schemas.openxmlformats.org/drawingml/2006/main">
              <a:ext uri="{FF2B5EF4-FFF2-40B4-BE49-F238E27FC236}">
                <a16:creationId xmlns:a16="http://schemas.microsoft.com/office/drawing/2014/main" id="{19FEC7AE-BC43-4DD1-B4D7-DCB3FDA1FA7E}"/>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7BE6427F-EC4E-4DB6-8D69-0357FC51E506}"/>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FD641CE-2CB3-4278-84A5-656F7611D896}"/>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BAF51306-32D0-4EA3-A992-03B46C513CB1}"/>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Treat the cohort as a credible benchmark, not a single verified competitor position: bundling breadth and local scale remain unverified, requiring DeepGrid to pursue a narrow subsystem wedge with faster India adaptation and demonstrable economics.</a:t>
            </a:r>
          </a:p>
        </p:txBody>
      </p:sp>
      <p:sp>
        <p:nvSpPr>
          <p:cNvPr id="12" name="">
            <a:extLst xmlns:a="http://schemas.openxmlformats.org/drawingml/2006/main">
              <a:ext uri="{FF2B5EF4-FFF2-40B4-BE49-F238E27FC236}">
                <a16:creationId xmlns:a16="http://schemas.microsoft.com/office/drawing/2014/main" id="{C3F6EC62-1CF4-4D34-86FD-A8AE0A01276F}"/>
              </a:ext>
            </a:extLst>
          </p:cNvPr>
          <p:cNvSpPr>
            <a:spLocks xmlns:a="http://schemas.openxmlformats.org/drawingml/2006/main" noGrp="1"/>
          </p:cNvSpPr>
          <p:nvPr/>
        </p:nvSpPr>
        <p:spPr>
          <a:xfrm xmlns:a="http://schemas.openxmlformats.org/drawingml/2006/main">
            <a:off x="457200" y="2152650"/>
            <a:ext cx="3695700" cy="28194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2073F48E-D2C4-41E7-AE6A-785EAE05D704}"/>
              </a:ext>
            </a:extLst>
          </p:cNvPr>
          <p:cNvSpPr>
            <a:spLocks xmlns:a="http://schemas.openxmlformats.org/drawingml/2006/main" noGrp="1"/>
          </p:cNvSpPr>
          <p:nvPr/>
        </p:nvSpPr>
        <p:spPr>
          <a:xfrm xmlns:a="http://schemas.openxmlformats.org/drawingml/2006/main">
            <a:off x="457200" y="2152650"/>
            <a:ext cx="36957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45F59AA-1884-4212-B8B9-D473CE5C4DED}"/>
              </a:ext>
            </a:extLst>
          </p:cNvPr>
          <p:cNvSpPr>
            <a:spLocks xmlns:a="http://schemas.openxmlformats.org/drawingml/2006/main" noGrp="1"/>
          </p:cNvSpPr>
          <p:nvPr/>
        </p:nvSpPr>
        <p:spPr>
          <a:xfrm xmlns:a="http://schemas.openxmlformats.org/drawingml/2006/main">
            <a:off x="57150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872B0B27-71B9-4FEE-B63B-0F287A15F5A5}"/>
              </a:ext>
            </a:extLst>
          </p:cNvPr>
          <p:cNvSpPr>
            <a:spLocks xmlns:a="http://schemas.openxmlformats.org/drawingml/2006/main" noGrp="1"/>
          </p:cNvSpPr>
          <p:nvPr/>
        </p:nvSpPr>
        <p:spPr>
          <a:xfrm xmlns:a="http://schemas.openxmlformats.org/drawingml/2006/main">
            <a:off x="571500" y="2419350"/>
            <a:ext cx="344805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Treat the cohort as a credible benchmark, not a single verified competitor position: bundling breadth and local scale remain unverified, requiring DeepGrid to pursue a narrow subsystem wedge with faster India adaptation and demonstrable economics.</a:t>
            </a:r>
          </a:p>
        </p:txBody>
      </p:sp>
      <p:sp>
        <p:nvSpPr>
          <p:cNvPr id="16" name="">
            <a:extLst xmlns:a="http://schemas.openxmlformats.org/drawingml/2006/main">
              <a:ext uri="{FF2B5EF4-FFF2-40B4-BE49-F238E27FC236}">
                <a16:creationId xmlns:a16="http://schemas.microsoft.com/office/drawing/2014/main" id="{8231D317-3E5A-4F3D-AF73-34D2BBFE5F04}"/>
              </a:ext>
            </a:extLst>
          </p:cNvPr>
          <p:cNvSpPr>
            <a:spLocks xmlns:a="http://schemas.openxmlformats.org/drawingml/2006/main" noGrp="1"/>
          </p:cNvSpPr>
          <p:nvPr/>
        </p:nvSpPr>
        <p:spPr>
          <a:xfrm xmlns:a="http://schemas.openxmlformats.org/drawingml/2006/main">
            <a:off x="4248150" y="2152650"/>
            <a:ext cx="3695700" cy="28194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48F691DD-3ED1-4FA1-B7E3-E2D990AFD9B8}"/>
              </a:ext>
            </a:extLst>
          </p:cNvPr>
          <p:cNvSpPr>
            <a:spLocks xmlns:a="http://schemas.openxmlformats.org/drawingml/2006/main" noGrp="1"/>
          </p:cNvSpPr>
          <p:nvPr/>
        </p:nvSpPr>
        <p:spPr>
          <a:xfrm xmlns:a="http://schemas.openxmlformats.org/drawingml/2006/main">
            <a:off x="4248150" y="2152650"/>
            <a:ext cx="36957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462099A-33F0-4A98-8E31-591590F8E165}"/>
              </a:ext>
            </a:extLst>
          </p:cNvPr>
          <p:cNvSpPr>
            <a:spLocks xmlns:a="http://schemas.openxmlformats.org/drawingml/2006/main" noGrp="1"/>
          </p:cNvSpPr>
          <p:nvPr/>
        </p:nvSpPr>
        <p:spPr>
          <a:xfrm xmlns:a="http://schemas.openxmlformats.org/drawingml/2006/main">
            <a:off x="436245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7A8D1968-E353-41A9-9100-FF5ABE8F56FD}"/>
              </a:ext>
            </a:extLst>
          </p:cNvPr>
          <p:cNvSpPr>
            <a:spLocks xmlns:a="http://schemas.openxmlformats.org/drawingml/2006/main" noGrp="1"/>
          </p:cNvSpPr>
          <p:nvPr/>
        </p:nvSpPr>
        <p:spPr>
          <a:xfrm xmlns:a="http://schemas.openxmlformats.org/drawingml/2006/main">
            <a:off x="4362450" y="2419350"/>
            <a:ext cx="344805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No nomination, function, platform generation, local content, SOP, or supplier-specific India programme evidence is available in the supplied packet.</a:t>
            </a:r>
          </a:p>
        </p:txBody>
      </p:sp>
      <p:sp>
        <p:nvSpPr>
          <p:cNvPr id="20" name="">
            <a:extLst xmlns:a="http://schemas.openxmlformats.org/drawingml/2006/main">
              <a:ext uri="{FF2B5EF4-FFF2-40B4-BE49-F238E27FC236}">
                <a16:creationId xmlns:a16="http://schemas.microsoft.com/office/drawing/2014/main" id="{9B87BCD7-5748-4CF1-93FD-A496EF53E725}"/>
              </a:ext>
            </a:extLst>
          </p:cNvPr>
          <p:cNvSpPr>
            <a:spLocks xmlns:a="http://schemas.openxmlformats.org/drawingml/2006/main" noGrp="1"/>
          </p:cNvSpPr>
          <p:nvPr/>
        </p:nvSpPr>
        <p:spPr>
          <a:xfrm xmlns:a="http://schemas.openxmlformats.org/drawingml/2006/main">
            <a:off x="8039100" y="2152650"/>
            <a:ext cx="3695700" cy="28194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1" name="">
            <a:extLst xmlns:a="http://schemas.openxmlformats.org/drawingml/2006/main">
              <a:ext uri="{FF2B5EF4-FFF2-40B4-BE49-F238E27FC236}">
                <a16:creationId xmlns:a16="http://schemas.microsoft.com/office/drawing/2014/main" id="{946D80FA-2827-4B67-89AC-F18C6EFAE169}"/>
              </a:ext>
            </a:extLst>
          </p:cNvPr>
          <p:cNvSpPr>
            <a:spLocks xmlns:a="http://schemas.openxmlformats.org/drawingml/2006/main" noGrp="1"/>
          </p:cNvSpPr>
          <p:nvPr/>
        </p:nvSpPr>
        <p:spPr>
          <a:xfrm xmlns:a="http://schemas.openxmlformats.org/drawingml/2006/main">
            <a:off x="8039100" y="2152650"/>
            <a:ext cx="36957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A02EFCA-053D-4A45-970B-CBE36B10871F}"/>
              </a:ext>
            </a:extLst>
          </p:cNvPr>
          <p:cNvSpPr>
            <a:spLocks xmlns:a="http://schemas.openxmlformats.org/drawingml/2006/main" noGrp="1"/>
          </p:cNvSpPr>
          <p:nvPr/>
        </p:nvSpPr>
        <p:spPr>
          <a:xfrm xmlns:a="http://schemas.openxmlformats.org/drawingml/2006/main">
            <a:off x="815340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90DA728C-D5D1-4116-AD7B-E7C2D428750E}"/>
              </a:ext>
            </a:extLst>
          </p:cNvPr>
          <p:cNvSpPr>
            <a:spLocks xmlns:a="http://schemas.openxmlformats.org/drawingml/2006/main" noGrp="1"/>
          </p:cNvSpPr>
          <p:nvPr/>
        </p:nvSpPr>
        <p:spPr>
          <a:xfrm xmlns:a="http://schemas.openxmlformats.org/drawingml/2006/main">
            <a:off x="8153400" y="2419350"/>
            <a:ext cx="344805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Evidence Requirement Require narrow subsystem wedge + faster India adaptation to displace incumbents</a:t>
            </a:r>
          </a:p>
        </p:txBody>
      </p:sp>
      <p:sp>
        <p:nvSpPr>
          <p:cNvPr id="24" name="">
            <a:extLst xmlns:a="http://schemas.openxmlformats.org/drawingml/2006/main">
              <a:ext uri="{FF2B5EF4-FFF2-40B4-BE49-F238E27FC236}">
                <a16:creationId xmlns:a16="http://schemas.microsoft.com/office/drawing/2014/main" id="{B09EA487-5DDA-4B7B-A908-9558E13636C9}"/>
              </a:ext>
            </a:extLst>
          </p:cNvPr>
          <p:cNvSpPr>
            <a:spLocks xmlns:a="http://schemas.openxmlformats.org/drawingml/2006/main" noGrp="1"/>
          </p:cNvSpPr>
          <p:nvPr/>
        </p:nvSpPr>
        <p:spPr>
          <a:xfrm xmlns:a="http://schemas.openxmlformats.org/drawingml/2006/main">
            <a:off x="457200" y="5086350"/>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089A4087-92FC-49FE-9CA1-31EE3FECA16F}"/>
              </a:ext>
            </a:extLst>
          </p:cNvPr>
          <p:cNvSpPr>
            <a:spLocks xmlns:a="http://schemas.openxmlformats.org/drawingml/2006/main" noGrp="1"/>
          </p:cNvSpPr>
          <p:nvPr/>
        </p:nvSpPr>
        <p:spPr>
          <a:xfrm xmlns:a="http://schemas.openxmlformats.org/drawingml/2006/main">
            <a:off x="457200" y="508635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BF39DDD-DE59-4718-96EC-DBC6A2C1E520}"/>
              </a:ext>
            </a:extLst>
          </p:cNvPr>
          <p:cNvSpPr>
            <a:spLocks xmlns:a="http://schemas.openxmlformats.org/drawingml/2006/main" noGrp="1"/>
          </p:cNvSpPr>
          <p:nvPr/>
        </p:nvSpPr>
        <p:spPr>
          <a:xfrm xmlns:a="http://schemas.openxmlformats.org/drawingml/2006/main">
            <a:off x="581025" y="51530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0067BF12-9764-41EF-95F6-569BA7271781}"/>
              </a:ext>
            </a:extLst>
          </p:cNvPr>
          <p:cNvSpPr>
            <a:spLocks xmlns:a="http://schemas.openxmlformats.org/drawingml/2006/main" noGrp="1"/>
          </p:cNvSpPr>
          <p:nvPr/>
        </p:nvSpPr>
        <p:spPr>
          <a:xfrm xmlns:a="http://schemas.openxmlformats.org/drawingml/2006/main">
            <a:off x="581025" y="53022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Supplier-specific India nominations + RFQs with equal-scope pricing would falsify the current view and require immediate competitive response.</a:t>
            </a:r>
          </a:p>
        </p:txBody>
      </p:sp>
      <p:sp>
        <p:nvSpPr>
          <p:cNvPr id="28" name="">
            <a:extLst xmlns:a="http://schemas.openxmlformats.org/drawingml/2006/main">
              <a:ext uri="{FF2B5EF4-FFF2-40B4-BE49-F238E27FC236}">
                <a16:creationId xmlns:a16="http://schemas.microsoft.com/office/drawing/2014/main" id="{ADC552F1-13C3-446E-9CCC-39648AB3C4EF}"/>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C7B863B-06D7-4043-AC34-483496048E4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F5886D7-A862-4781-B946-52B939B37C24}"/>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98EFB0BE-DF0A-4E20-A3D8-DE8B22A87CC7}"/>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Add wedge proof gate to every OEM bid without exception</a:t>
            </a:r>
          </a:p>
        </p:txBody>
      </p:sp>
      <p:sp>
        <p:nvSpPr>
          <p:cNvPr id="32" name="">
            <a:extLst xmlns:a="http://schemas.openxmlformats.org/drawingml/2006/main">
              <a:ext uri="{FF2B5EF4-FFF2-40B4-BE49-F238E27FC236}">
                <a16:creationId xmlns:a16="http://schemas.microsoft.com/office/drawing/2014/main" id="{29B58355-8C1B-4C40-9372-0ABF97153B23}"/>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FCFF8C2F-D7DF-4239-B3E3-43BFB9CBB6EF}"/>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No OEM bid proceeds without documented subsystem advantage</a:t>
            </a:r>
          </a:p>
        </p:txBody>
      </p:sp>
      <p:sp>
        <p:nvSpPr>
          <p:cNvPr id="34" name="">
            <a:extLst xmlns:a="http://schemas.openxmlformats.org/drawingml/2006/main">
              <a:ext uri="{FF2B5EF4-FFF2-40B4-BE49-F238E27FC236}">
                <a16:creationId xmlns:a16="http://schemas.microsoft.com/office/drawing/2014/main" id="{B935DF89-C26D-460C-AFA2-896CA0BB511E}"/>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D01F80A5-8D0D-4DB6-B34F-6D1D9581F14F}"/>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any OEM bid that lacks a documented wedge proof.</a:t>
            </a:r>
          </a:p>
        </p:txBody>
      </p:sp>
      <p:sp>
        <p:nvSpPr>
          <p:cNvPr id="36" name="">
            <a:extLst xmlns:a="http://schemas.openxmlformats.org/drawingml/2006/main">
              <a:ext uri="{FF2B5EF4-FFF2-40B4-BE49-F238E27FC236}">
                <a16:creationId xmlns:a16="http://schemas.microsoft.com/office/drawing/2014/main" id="{8DFBA03A-8D9D-45B4-BDE3-6DDDB0BE016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566933D-8251-4FEE-9D30-747486B8542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34397152-13EF-446B-A292-71AC48A0B21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88</a:t>
            </a:r>
          </a:p>
        </p:txBody>
      </p:sp>
    </p:spTree>
    <p:extLst>
      <p:ext uri="{BB962C8B-B14F-4D97-AF65-F5344CB8AC3E}">
        <p14:creationId xmlns:p14="http://schemas.microsoft.com/office/powerpoint/2010/main" val="30862679"/>
      </p:ext>
    </p:extLst>
  </p:cSld>
</p:sld>
</file>

<file path=ppt/slides/slide89.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BCA8295-84DA-4EA3-88EF-1A4C4AACB2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C8B3AA7-95DA-4DA7-8B4C-FF0E91FAAAB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B383E7B-1A53-4E12-AC90-B0B83A94E254}"/>
              </a:ext>
            </a:extLst>
          </p:cNvPr>
          <p:cNvSpPr>
            <a:spLocks xmlns:a="http://schemas.openxmlformats.org/drawingml/2006/main" noGrp="1"/>
          </p:cNvSpPr>
          <p:nvPr/>
        </p:nvSpPr>
        <p:spPr>
          <a:xfrm xmlns:a="http://schemas.openxmlformats.org/drawingml/2006/main">
            <a:off x="457200" y="2038350"/>
            <a:ext cx="11430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85242A8-3EC4-44A9-8457-DCDAC50B8431}"/>
              </a:ext>
            </a:extLst>
          </p:cNvPr>
          <p:cNvSpPr>
            <a:spLocks xmlns:a="http://schemas.openxmlformats.org/drawingml/2006/main" noGrp="1"/>
          </p:cNvSpPr>
          <p:nvPr/>
        </p:nvSpPr>
        <p:spPr>
          <a:xfrm xmlns:a="http://schemas.openxmlformats.org/drawingml/2006/main">
            <a:off x="457200" y="2286000"/>
            <a:ext cx="476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2FBF87"/>
                </a:solidFill>
                <a:latin typeface="Arial"/>
                <a:ea typeface="Arial"/>
                <a:cs typeface="Arial"/>
              </a:defRPr>
            </a:pPr>
            <a:r>
              <a:t>ACT IV</a:t>
            </a:r>
          </a:p>
        </p:txBody>
      </p:sp>
      <p:sp>
        <p:nvSpPr>
          <p:cNvPr id="5" name="">
            <a:extLst xmlns:a="http://schemas.openxmlformats.org/drawingml/2006/main">
              <a:ext uri="{FF2B5EF4-FFF2-40B4-BE49-F238E27FC236}">
                <a16:creationId xmlns:a16="http://schemas.microsoft.com/office/drawing/2014/main" id="{C9FDD3B9-0370-4017-9C56-DE4596480856}"/>
              </a:ext>
            </a:extLst>
          </p:cNvPr>
          <p:cNvSpPr>
            <a:spLocks xmlns:a="http://schemas.openxmlformats.org/drawingml/2006/main" noGrp="1"/>
          </p:cNvSpPr>
          <p:nvPr/>
        </p:nvSpPr>
        <p:spPr>
          <a:xfrm xmlns:a="http://schemas.openxmlformats.org/drawingml/2006/main">
            <a:off x="457200" y="2552700"/>
            <a:ext cx="85725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FFFFFF"/>
                </a:solidFill>
                <a:latin typeface="Georgia"/>
                <a:ea typeface="Georgia"/>
                <a:cs typeface="Georgia"/>
              </a:defRPr>
            </a:pPr>
            <a:r>
              <a:t>The ranking</a:t>
            </a:r>
          </a:p>
        </p:txBody>
      </p:sp>
      <p:sp>
        <p:nvSpPr>
          <p:cNvPr id="6" name="">
            <a:extLst xmlns:a="http://schemas.openxmlformats.org/drawingml/2006/main">
              <a:ext uri="{FF2B5EF4-FFF2-40B4-BE49-F238E27FC236}">
                <a16:creationId xmlns:a16="http://schemas.microsoft.com/office/drawing/2014/main" id="{E8D99821-F787-42D6-A001-FCF642A4EA42}"/>
              </a:ext>
            </a:extLst>
          </p:cNvPr>
          <p:cNvSpPr>
            <a:spLocks xmlns:a="http://schemas.openxmlformats.org/drawingml/2006/main" noGrp="1"/>
          </p:cNvSpPr>
          <p:nvPr/>
        </p:nvSpPr>
        <p:spPr>
          <a:xfrm xmlns:a="http://schemas.openxmlformats.org/drawingml/2006/main">
            <a:off x="457200" y="3390900"/>
            <a:ext cx="7810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C9D6E2"/>
                </a:solidFill>
                <a:latin typeface="Arial"/>
                <a:ea typeface="Arial"/>
                <a:cs typeface="Arial"/>
              </a:defRPr>
            </a:pPr>
            <a:r>
              <a:t>Who actually blocks us, in what order, and what do they do when we start winning?</a:t>
            </a:r>
          </a:p>
        </p:txBody>
      </p:sp>
      <p:sp>
        <p:nvSpPr>
          <p:cNvPr id="7" name="">
            <a:extLst xmlns:a="http://schemas.openxmlformats.org/drawingml/2006/main">
              <a:ext uri="{FF2B5EF4-FFF2-40B4-BE49-F238E27FC236}">
                <a16:creationId xmlns:a16="http://schemas.microsoft.com/office/drawing/2014/main" id="{C77DD218-2ADA-407C-BB01-E668CABA90E7}"/>
              </a:ext>
            </a:extLst>
          </p:cNvPr>
          <p:cNvSpPr>
            <a:spLocks xmlns:a="http://schemas.openxmlformats.org/drawingml/2006/main" noGrp="1"/>
          </p:cNvSpPr>
          <p:nvPr/>
        </p:nvSpPr>
        <p:spPr>
          <a:xfrm xmlns:a="http://schemas.openxmlformats.org/drawingml/2006/main">
            <a:off x="457200" y="4076700"/>
            <a:ext cx="78105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2DB0E74-6087-4BE4-9D25-C867238213FB}"/>
              </a:ext>
            </a:extLst>
          </p:cNvPr>
          <p:cNvSpPr>
            <a:spLocks xmlns:a="http://schemas.openxmlformats.org/drawingml/2006/main" noGrp="1"/>
          </p:cNvSpPr>
          <p:nvPr/>
        </p:nvSpPr>
        <p:spPr>
          <a:xfrm xmlns:a="http://schemas.openxmlformats.org/drawingml/2006/main">
            <a:off x="457200" y="42100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2FBF87"/>
                </a:solidFill>
                <a:latin typeface="Arial"/>
                <a:ea typeface="Arial"/>
                <a:cs typeface="Arial"/>
              </a:defRPr>
            </a:pPr>
            <a:r>
              <a:t>WHAT THIS ACT SETTLES</a:t>
            </a:r>
          </a:p>
        </p:txBody>
      </p:sp>
      <p:sp>
        <p:nvSpPr>
          <p:cNvPr id="9" name="">
            <a:extLst xmlns:a="http://schemas.openxmlformats.org/drawingml/2006/main">
              <a:ext uri="{FF2B5EF4-FFF2-40B4-BE49-F238E27FC236}">
                <a16:creationId xmlns:a16="http://schemas.microsoft.com/office/drawing/2014/main" id="{77A1D079-7397-4F44-ADFF-FC2FF2DBA116}"/>
              </a:ext>
            </a:extLst>
          </p:cNvPr>
          <p:cNvSpPr>
            <a:spLocks xmlns:a="http://schemas.openxmlformats.org/drawingml/2006/main" noGrp="1"/>
          </p:cNvSpPr>
          <p:nvPr/>
        </p:nvSpPr>
        <p:spPr>
          <a:xfrm xmlns:a="http://schemas.openxmlformats.org/drawingml/2006/main">
            <a:off x="457200" y="4400550"/>
            <a:ext cx="78105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The re-derived ranking, the obstruction axis it was hiding, and the contests to lose deliberately.</a:t>
            </a:r>
          </a:p>
        </p:txBody>
      </p:sp>
      <p:sp>
        <p:nvSpPr>
          <p:cNvPr id="10" name="">
            <a:extLst xmlns:a="http://schemas.openxmlformats.org/drawingml/2006/main">
              <a:ext uri="{FF2B5EF4-FFF2-40B4-BE49-F238E27FC236}">
                <a16:creationId xmlns:a16="http://schemas.microsoft.com/office/drawing/2014/main" id="{351A6D7B-5520-498F-803A-D228D7C4D46A}"/>
              </a:ext>
            </a:extLst>
          </p:cNvPr>
          <p:cNvSpPr>
            <a:spLocks xmlns:a="http://schemas.openxmlformats.org/drawingml/2006/main" noGrp="1"/>
          </p:cNvSpPr>
          <p:nvPr/>
        </p:nvSpPr>
        <p:spPr>
          <a:xfrm xmlns:a="http://schemas.openxmlformats.org/drawingml/2006/main">
            <a:off x="9410700" y="2495550"/>
            <a:ext cx="1905000" cy="704850"/>
          </a:xfrm>
          <a:prstGeom xmlns:a="http://schemas.openxmlformats.org/drawingml/2006/main" prst="rect">
            <a:avLst/>
          </a:prstGeom>
        </p:spPr>
        <p:txBody>
          <a:bodyPr xmlns:a="http://schemas.openxmlformats.org/drawingml/2006/main" lIns="0" tIns="0" rIns="0" bIns="0" anchor="t">
            <a:normAutofit fontScale="99462"/>
          </a:bodyPr>
          <a:lstStyle xmlns:a="http://schemas.openxmlformats.org/drawingml/2006/main"/>
          <a:p xmlns:a="http://schemas.openxmlformats.org/drawingml/2006/main">
            <a:pPr algn="l">
              <a:defRPr sz="4650" b="1">
                <a:solidFill>
                  <a:srgbClr val="2FBF87"/>
                </a:solidFill>
                <a:latin typeface="Georgia"/>
                <a:ea typeface="Georgia"/>
                <a:cs typeface="Georgia"/>
              </a:defRPr>
            </a:pPr>
            <a:r>
              <a:t>1</a:t>
            </a:r>
          </a:p>
        </p:txBody>
      </p:sp>
      <p:sp>
        <p:nvSpPr>
          <p:cNvPr id="11" name="">
            <a:extLst xmlns:a="http://schemas.openxmlformats.org/drawingml/2006/main">
              <a:ext uri="{FF2B5EF4-FFF2-40B4-BE49-F238E27FC236}">
                <a16:creationId xmlns:a16="http://schemas.microsoft.com/office/drawing/2014/main" id="{449115C5-4DCD-4CEF-96EF-6C9D6CD95068}"/>
              </a:ext>
            </a:extLst>
          </p:cNvPr>
          <p:cNvSpPr>
            <a:spLocks xmlns:a="http://schemas.openxmlformats.org/drawingml/2006/main" noGrp="1"/>
          </p:cNvSpPr>
          <p:nvPr/>
        </p:nvSpPr>
        <p:spPr>
          <a:xfrm xmlns:a="http://schemas.openxmlformats.org/drawingml/2006/main">
            <a:off x="9410700" y="32385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PAGES</a:t>
            </a:r>
          </a:p>
        </p:txBody>
      </p:sp>
      <p:sp>
        <p:nvSpPr>
          <p:cNvPr id="12" name="">
            <a:extLst xmlns:a="http://schemas.openxmlformats.org/drawingml/2006/main">
              <a:ext uri="{FF2B5EF4-FFF2-40B4-BE49-F238E27FC236}">
                <a16:creationId xmlns:a16="http://schemas.microsoft.com/office/drawing/2014/main" id="{EFB7F4C3-6B8A-448A-92CB-975703A0745F}"/>
              </a:ext>
            </a:extLst>
          </p:cNvPr>
          <p:cNvSpPr>
            <a:spLocks xmlns:a="http://schemas.openxmlformats.org/drawingml/2006/main" noGrp="1"/>
          </p:cNvSpPr>
          <p:nvPr/>
        </p:nvSpPr>
        <p:spPr>
          <a:xfrm xmlns:a="http://schemas.openxmlformats.org/drawingml/2006/main">
            <a:off x="9410700" y="34290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pp. 90–96</a:t>
            </a:r>
          </a:p>
        </p:txBody>
      </p:sp>
      <p:sp>
        <p:nvSpPr>
          <p:cNvPr id="13" name="">
            <a:extLst xmlns:a="http://schemas.openxmlformats.org/drawingml/2006/main">
              <a:ext uri="{FF2B5EF4-FFF2-40B4-BE49-F238E27FC236}">
                <a16:creationId xmlns:a16="http://schemas.microsoft.com/office/drawing/2014/main" id="{6D5FCAB9-4EC0-4445-A386-F2048B874F4F}"/>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E8DC624-EECF-4A08-9CD2-768D7CF9E699}"/>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15" name="">
            <a:extLst xmlns:a="http://schemas.openxmlformats.org/drawingml/2006/main">
              <a:ext uri="{FF2B5EF4-FFF2-40B4-BE49-F238E27FC236}">
                <a16:creationId xmlns:a16="http://schemas.microsoft.com/office/drawing/2014/main" id="{6D23CD26-AE47-43C0-A2E7-4E38609E1E1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89</a:t>
            </a:r>
          </a:p>
        </p:txBody>
      </p:sp>
    </p:spTree>
    <p:extLst>
      <p:ext uri="{BB962C8B-B14F-4D97-AF65-F5344CB8AC3E}">
        <p14:creationId xmlns:p14="http://schemas.microsoft.com/office/powerpoint/2010/main" val="399277111"/>
      </p:ext>
    </p:extLst>
  </p:cSld>
</p:sld>
</file>

<file path=ppt/slides/slide90.xml><?xml version="1.0" encoding="utf-8"?>
<p:sld xmlns:p="http://schemas.openxmlformats.org/presentationml/2006/main">
  <p:cSld>
    <p:spTree>
      <p:nvGrpSpPr>
        <p:cNvPr id="1" name=""/>
        <p:cNvGrpSpPr/>
        <p:nvPr/>
      </p:nvGrpSpPr>
      <p:grpSpPr>
        <a:xfrm xmlns:a="http://schemas.openxmlformats.org/drawingml/2006/main"/>
      </p:grpSpPr>
      <p:sp>
        <p:nvSpPr>
          <p:cNvPr id="152" name="">
            <a:extLst xmlns:a="http://schemas.openxmlformats.org/drawingml/2006/main">
              <a:ext uri="{FF2B5EF4-FFF2-40B4-BE49-F238E27FC236}">
                <a16:creationId xmlns:a16="http://schemas.microsoft.com/office/drawing/2014/main" id="{8D4F3BD2-4057-4601-8E51-AE8A336AF0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DF41583-B479-4FBD-9CFC-26CCC323E41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A7769D1-4383-437B-A7A2-C65799AD6911}"/>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COMPETITIVE STRATEGY · RE-DERIVED RANKING</a:t>
            </a:r>
          </a:p>
        </p:txBody>
      </p:sp>
      <p:sp>
        <p:nvSpPr>
          <p:cNvPr id="4" name="">
            <a:extLst xmlns:a="http://schemas.openxmlformats.org/drawingml/2006/main">
              <a:ext uri="{FF2B5EF4-FFF2-40B4-BE49-F238E27FC236}">
                <a16:creationId xmlns:a16="http://schemas.microsoft.com/office/drawing/2014/main" id="{3F621E7E-A281-46DB-8025-416698113671}"/>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The ranking on the slides was never re-derived after the evidence changed</a:t>
            </a:r>
          </a:p>
        </p:txBody>
      </p:sp>
      <p:sp>
        <p:nvSpPr>
          <p:cNvPr id="5" name="">
            <a:extLst xmlns:a="http://schemas.openxmlformats.org/drawingml/2006/main">
              <a:ext uri="{FF2B5EF4-FFF2-40B4-BE49-F238E27FC236}">
                <a16:creationId xmlns:a16="http://schemas.microsoft.com/office/drawing/2014/main" id="{77790622-9C9C-4C5B-BB4C-E3D544624F89}"/>
              </a:ext>
            </a:extLst>
          </p:cNvPr>
          <p:cNvSpPr>
            <a:spLocks xmlns:a="http://schemas.openxmlformats.org/drawingml/2006/main" noGrp="1"/>
          </p:cNvSpPr>
          <p:nvPr/>
        </p:nvSpPr>
        <p:spPr>
          <a:xfrm xmlns:a="http://schemas.openxmlformats.org/drawingml/2006/main">
            <a:off x="457200" y="762000"/>
            <a:ext cx="11277600" cy="161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Same three factors as the v1 rubric. Weights follow the deck’s own mechanism — threat is a function of control, not of product overlap — so structural leverage carries 45%.</a:t>
            </a:r>
          </a:p>
        </p:txBody>
      </p:sp>
      <p:sp>
        <p:nvSpPr>
          <p:cNvPr id="6" name="">
            <a:extLst xmlns:a="http://schemas.openxmlformats.org/drawingml/2006/main">
              <a:ext uri="{FF2B5EF4-FFF2-40B4-BE49-F238E27FC236}">
                <a16:creationId xmlns:a16="http://schemas.microsoft.com/office/drawing/2014/main" id="{5D9819DE-E546-4E2E-8CFF-20441CC101FA}"/>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E839DA9-91A9-4FEB-8755-0E214E6038FF}"/>
              </a:ext>
            </a:extLst>
          </p:cNvPr>
          <p:cNvSpPr>
            <a:spLocks xmlns:a="http://schemas.openxmlformats.org/drawingml/2006/main" noGrp="1"/>
          </p:cNvSpPr>
          <p:nvPr/>
        </p:nvSpPr>
        <p:spPr>
          <a:xfrm xmlns:a="http://schemas.openxmlformats.org/drawingml/2006/main">
            <a:off x="457200" y="1114425"/>
            <a:ext cx="2781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COMPETITOR</a:t>
            </a:r>
          </a:p>
        </p:txBody>
      </p:sp>
      <p:sp>
        <p:nvSpPr>
          <p:cNvPr id="8" name="">
            <a:extLst xmlns:a="http://schemas.openxmlformats.org/drawingml/2006/main">
              <a:ext uri="{FF2B5EF4-FFF2-40B4-BE49-F238E27FC236}">
                <a16:creationId xmlns:a16="http://schemas.microsoft.com/office/drawing/2014/main" id="{40927DEC-C6C6-48FA-9C9B-FDFC3F21A41D}"/>
              </a:ext>
            </a:extLst>
          </p:cNvPr>
          <p:cNvSpPr>
            <a:spLocks xmlns:a="http://schemas.openxmlformats.org/drawingml/2006/main" noGrp="1"/>
          </p:cNvSpPr>
          <p:nvPr/>
        </p:nvSpPr>
        <p:spPr>
          <a:xfrm xmlns:a="http://schemas.openxmlformats.org/drawingml/2006/main">
            <a:off x="3314700" y="1114425"/>
            <a:ext cx="8382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EXEC 20%</a:t>
            </a:r>
          </a:p>
        </p:txBody>
      </p:sp>
      <p:sp>
        <p:nvSpPr>
          <p:cNvPr id="9" name="">
            <a:extLst xmlns:a="http://schemas.openxmlformats.org/drawingml/2006/main">
              <a:ext uri="{FF2B5EF4-FFF2-40B4-BE49-F238E27FC236}">
                <a16:creationId xmlns:a16="http://schemas.microsoft.com/office/drawing/2014/main" id="{61F55CEA-00CA-4443-A6CB-3002F3F8562D}"/>
              </a:ext>
            </a:extLst>
          </p:cNvPr>
          <p:cNvSpPr>
            <a:spLocks xmlns:a="http://schemas.openxmlformats.org/drawingml/2006/main" noGrp="1"/>
          </p:cNvSpPr>
          <p:nvPr/>
        </p:nvSpPr>
        <p:spPr>
          <a:xfrm xmlns:a="http://schemas.openxmlformats.org/drawingml/2006/main">
            <a:off x="4229100" y="1114425"/>
            <a:ext cx="8382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ACCESS 35%</a:t>
            </a:r>
          </a:p>
        </p:txBody>
      </p:sp>
      <p:sp>
        <p:nvSpPr>
          <p:cNvPr id="10" name="">
            <a:extLst xmlns:a="http://schemas.openxmlformats.org/drawingml/2006/main">
              <a:ext uri="{FF2B5EF4-FFF2-40B4-BE49-F238E27FC236}">
                <a16:creationId xmlns:a16="http://schemas.microsoft.com/office/drawing/2014/main" id="{2F918CA0-CD78-436A-B354-5D12744218A1}"/>
              </a:ext>
            </a:extLst>
          </p:cNvPr>
          <p:cNvSpPr>
            <a:spLocks xmlns:a="http://schemas.openxmlformats.org/drawingml/2006/main" noGrp="1"/>
          </p:cNvSpPr>
          <p:nvPr/>
        </p:nvSpPr>
        <p:spPr>
          <a:xfrm xmlns:a="http://schemas.openxmlformats.org/drawingml/2006/main">
            <a:off x="5143500" y="1114425"/>
            <a:ext cx="10287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LEVERAGE 45%</a:t>
            </a:r>
          </a:p>
        </p:txBody>
      </p:sp>
      <p:sp>
        <p:nvSpPr>
          <p:cNvPr id="11" name="">
            <a:extLst xmlns:a="http://schemas.openxmlformats.org/drawingml/2006/main">
              <a:ext uri="{FF2B5EF4-FFF2-40B4-BE49-F238E27FC236}">
                <a16:creationId xmlns:a16="http://schemas.microsoft.com/office/drawing/2014/main" id="{AA37CD84-E707-46F5-9E64-45B7504AF5FE}"/>
              </a:ext>
            </a:extLst>
          </p:cNvPr>
          <p:cNvSpPr>
            <a:spLocks xmlns:a="http://schemas.openxmlformats.org/drawingml/2006/main" noGrp="1"/>
          </p:cNvSpPr>
          <p:nvPr/>
        </p:nvSpPr>
        <p:spPr>
          <a:xfrm xmlns:a="http://schemas.openxmlformats.org/drawingml/2006/main">
            <a:off x="6248400" y="1114425"/>
            <a:ext cx="9715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SCORE</a:t>
            </a:r>
          </a:p>
        </p:txBody>
      </p:sp>
      <p:sp>
        <p:nvSpPr>
          <p:cNvPr id="12" name="">
            <a:extLst xmlns:a="http://schemas.openxmlformats.org/drawingml/2006/main">
              <a:ext uri="{FF2B5EF4-FFF2-40B4-BE49-F238E27FC236}">
                <a16:creationId xmlns:a16="http://schemas.microsoft.com/office/drawing/2014/main" id="{C013C1B5-13D0-4A90-987F-360B27878C37}"/>
              </a:ext>
            </a:extLst>
          </p:cNvPr>
          <p:cNvSpPr>
            <a:spLocks xmlns:a="http://schemas.openxmlformats.org/drawingml/2006/main" noGrp="1"/>
          </p:cNvSpPr>
          <p:nvPr/>
        </p:nvSpPr>
        <p:spPr>
          <a:xfrm xmlns:a="http://schemas.openxmlformats.org/drawingml/2006/main">
            <a:off x="7296150" y="1114425"/>
            <a:ext cx="876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TIER</a:t>
            </a:r>
          </a:p>
        </p:txBody>
      </p:sp>
      <p:sp>
        <p:nvSpPr>
          <p:cNvPr id="13" name="">
            <a:extLst xmlns:a="http://schemas.openxmlformats.org/drawingml/2006/main">
              <a:ext uri="{FF2B5EF4-FFF2-40B4-BE49-F238E27FC236}">
                <a16:creationId xmlns:a16="http://schemas.microsoft.com/office/drawing/2014/main" id="{52D938D9-6610-49F0-921A-C0308E03B837}"/>
              </a:ext>
            </a:extLst>
          </p:cNvPr>
          <p:cNvSpPr>
            <a:spLocks xmlns:a="http://schemas.openxmlformats.org/drawingml/2006/main" noGrp="1"/>
          </p:cNvSpPr>
          <p:nvPr/>
        </p:nvSpPr>
        <p:spPr>
          <a:xfrm xmlns:a="http://schemas.openxmlformats.org/drawingml/2006/main">
            <a:off x="8248650" y="1114425"/>
            <a:ext cx="34099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CONFIDENCE</a:t>
            </a:r>
          </a:p>
        </p:txBody>
      </p:sp>
      <p:sp>
        <p:nvSpPr>
          <p:cNvPr id="14" name="">
            <a:extLst xmlns:a="http://schemas.openxmlformats.org/drawingml/2006/main">
              <a:ext uri="{FF2B5EF4-FFF2-40B4-BE49-F238E27FC236}">
                <a16:creationId xmlns:a16="http://schemas.microsoft.com/office/drawing/2014/main" id="{96E0EB9D-5E46-4B8E-A758-41CA95D26180}"/>
              </a:ext>
            </a:extLst>
          </p:cNvPr>
          <p:cNvSpPr>
            <a:spLocks xmlns:a="http://schemas.openxmlformats.org/drawingml/2006/main" noGrp="1"/>
          </p:cNvSpPr>
          <p:nvPr/>
        </p:nvSpPr>
        <p:spPr>
          <a:xfrm xmlns:a="http://schemas.openxmlformats.org/drawingml/2006/main">
            <a:off x="457200" y="1285875"/>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7C95613-7E75-496E-92E4-02F200074FA6}"/>
              </a:ext>
            </a:extLst>
          </p:cNvPr>
          <p:cNvSpPr>
            <a:spLocks xmlns:a="http://schemas.openxmlformats.org/drawingml/2006/main" noGrp="1"/>
          </p:cNvSpPr>
          <p:nvPr/>
        </p:nvSpPr>
        <p:spPr>
          <a:xfrm xmlns:a="http://schemas.openxmlformats.org/drawingml/2006/main">
            <a:off x="457200" y="1381125"/>
            <a:ext cx="2762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1  ZF CVCS India</a:t>
            </a:r>
          </a:p>
        </p:txBody>
      </p:sp>
      <p:sp>
        <p:nvSpPr>
          <p:cNvPr id="16" name="">
            <a:extLst xmlns:a="http://schemas.openxmlformats.org/drawingml/2006/main">
              <a:ext uri="{FF2B5EF4-FFF2-40B4-BE49-F238E27FC236}">
                <a16:creationId xmlns:a16="http://schemas.microsoft.com/office/drawing/2014/main" id="{309F2132-D88F-460E-924F-9FB6943AD66C}"/>
              </a:ext>
            </a:extLst>
          </p:cNvPr>
          <p:cNvSpPr>
            <a:spLocks xmlns:a="http://schemas.openxmlformats.org/drawingml/2006/main" noGrp="1"/>
          </p:cNvSpPr>
          <p:nvPr/>
        </p:nvSpPr>
        <p:spPr>
          <a:xfrm xmlns:a="http://schemas.openxmlformats.org/drawingml/2006/main">
            <a:off x="3314700" y="14097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614DB95-72A0-42B8-933F-870B2A0DBC96}"/>
              </a:ext>
            </a:extLst>
          </p:cNvPr>
          <p:cNvSpPr>
            <a:spLocks xmlns:a="http://schemas.openxmlformats.org/drawingml/2006/main" noGrp="1"/>
          </p:cNvSpPr>
          <p:nvPr/>
        </p:nvSpPr>
        <p:spPr>
          <a:xfrm xmlns:a="http://schemas.openxmlformats.org/drawingml/2006/main">
            <a:off x="3314700" y="1409700"/>
            <a:ext cx="53340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C0FB8F1-472D-494E-A63E-A4189D475BFE}"/>
              </a:ext>
            </a:extLst>
          </p:cNvPr>
          <p:cNvSpPr>
            <a:spLocks xmlns:a="http://schemas.openxmlformats.org/drawingml/2006/main" noGrp="1"/>
          </p:cNvSpPr>
          <p:nvPr/>
        </p:nvSpPr>
        <p:spPr>
          <a:xfrm xmlns:a="http://schemas.openxmlformats.org/drawingml/2006/main">
            <a:off x="3905250" y="13716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5</a:t>
            </a:r>
          </a:p>
        </p:txBody>
      </p:sp>
      <p:sp>
        <p:nvSpPr>
          <p:cNvPr id="19" name="">
            <a:extLst xmlns:a="http://schemas.openxmlformats.org/drawingml/2006/main">
              <a:ext uri="{FF2B5EF4-FFF2-40B4-BE49-F238E27FC236}">
                <a16:creationId xmlns:a16="http://schemas.microsoft.com/office/drawing/2014/main" id="{077D845A-A432-4AFB-B03F-68B7BE4525D2}"/>
              </a:ext>
            </a:extLst>
          </p:cNvPr>
          <p:cNvSpPr>
            <a:spLocks xmlns:a="http://schemas.openxmlformats.org/drawingml/2006/main" noGrp="1"/>
          </p:cNvSpPr>
          <p:nvPr/>
        </p:nvSpPr>
        <p:spPr>
          <a:xfrm xmlns:a="http://schemas.openxmlformats.org/drawingml/2006/main">
            <a:off x="4229100" y="14097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B746589-3745-4CE9-BB83-98BFDE8505D1}"/>
              </a:ext>
            </a:extLst>
          </p:cNvPr>
          <p:cNvSpPr>
            <a:spLocks xmlns:a="http://schemas.openxmlformats.org/drawingml/2006/main" noGrp="1"/>
          </p:cNvSpPr>
          <p:nvPr/>
        </p:nvSpPr>
        <p:spPr>
          <a:xfrm xmlns:a="http://schemas.openxmlformats.org/drawingml/2006/main">
            <a:off x="4229100" y="1409700"/>
            <a:ext cx="53340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8E92224-4269-4620-A996-FDB0CA55EAEB}"/>
              </a:ext>
            </a:extLst>
          </p:cNvPr>
          <p:cNvSpPr>
            <a:spLocks xmlns:a="http://schemas.openxmlformats.org/drawingml/2006/main" noGrp="1"/>
          </p:cNvSpPr>
          <p:nvPr/>
        </p:nvSpPr>
        <p:spPr>
          <a:xfrm xmlns:a="http://schemas.openxmlformats.org/drawingml/2006/main">
            <a:off x="4819650" y="13716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5</a:t>
            </a:r>
          </a:p>
        </p:txBody>
      </p:sp>
      <p:sp>
        <p:nvSpPr>
          <p:cNvPr id="22" name="">
            <a:extLst xmlns:a="http://schemas.openxmlformats.org/drawingml/2006/main">
              <a:ext uri="{FF2B5EF4-FFF2-40B4-BE49-F238E27FC236}">
                <a16:creationId xmlns:a16="http://schemas.microsoft.com/office/drawing/2014/main" id="{81A256F3-9449-4A9B-8E19-70FA6656373B}"/>
              </a:ext>
            </a:extLst>
          </p:cNvPr>
          <p:cNvSpPr>
            <a:spLocks xmlns:a="http://schemas.openxmlformats.org/drawingml/2006/main" noGrp="1"/>
          </p:cNvSpPr>
          <p:nvPr/>
        </p:nvSpPr>
        <p:spPr>
          <a:xfrm xmlns:a="http://schemas.openxmlformats.org/drawingml/2006/main">
            <a:off x="5143500" y="14097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76E1FBC-41AC-4A03-B28B-B247F371603F}"/>
              </a:ext>
            </a:extLst>
          </p:cNvPr>
          <p:cNvSpPr>
            <a:spLocks xmlns:a="http://schemas.openxmlformats.org/drawingml/2006/main" noGrp="1"/>
          </p:cNvSpPr>
          <p:nvPr/>
        </p:nvSpPr>
        <p:spPr>
          <a:xfrm xmlns:a="http://schemas.openxmlformats.org/drawingml/2006/main">
            <a:off x="5143500" y="1409700"/>
            <a:ext cx="533400" cy="952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90EF1CB-FAAA-41B4-8A23-CD9CEFC109B6}"/>
              </a:ext>
            </a:extLst>
          </p:cNvPr>
          <p:cNvSpPr>
            <a:spLocks xmlns:a="http://schemas.openxmlformats.org/drawingml/2006/main" noGrp="1"/>
          </p:cNvSpPr>
          <p:nvPr/>
        </p:nvSpPr>
        <p:spPr>
          <a:xfrm xmlns:a="http://schemas.openxmlformats.org/drawingml/2006/main">
            <a:off x="5734050" y="13716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5</a:t>
            </a:r>
          </a:p>
        </p:txBody>
      </p:sp>
      <p:sp>
        <p:nvSpPr>
          <p:cNvPr id="25" name="">
            <a:extLst xmlns:a="http://schemas.openxmlformats.org/drawingml/2006/main">
              <a:ext uri="{FF2B5EF4-FFF2-40B4-BE49-F238E27FC236}">
                <a16:creationId xmlns:a16="http://schemas.microsoft.com/office/drawing/2014/main" id="{291DFF70-3809-43F8-A3E4-1056AB964C07}"/>
              </a:ext>
            </a:extLst>
          </p:cNvPr>
          <p:cNvSpPr>
            <a:spLocks xmlns:a="http://schemas.openxmlformats.org/drawingml/2006/main" noGrp="1"/>
          </p:cNvSpPr>
          <p:nvPr/>
        </p:nvSpPr>
        <p:spPr>
          <a:xfrm xmlns:a="http://schemas.openxmlformats.org/drawingml/2006/main">
            <a:off x="6248400" y="1371600"/>
            <a:ext cx="952500" cy="1714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1200" b="1">
                <a:solidFill>
                  <a:srgbClr val="E06767"/>
                </a:solidFill>
                <a:latin typeface="Arial"/>
                <a:ea typeface="Arial"/>
                <a:cs typeface="Arial"/>
              </a:defRPr>
            </a:pPr>
            <a:r>
              <a:t>5.00</a:t>
            </a:r>
          </a:p>
        </p:txBody>
      </p:sp>
      <p:sp>
        <p:nvSpPr>
          <p:cNvPr id="26" name="">
            <a:extLst xmlns:a="http://schemas.openxmlformats.org/drawingml/2006/main">
              <a:ext uri="{FF2B5EF4-FFF2-40B4-BE49-F238E27FC236}">
                <a16:creationId xmlns:a16="http://schemas.microsoft.com/office/drawing/2014/main" id="{3756C07F-BB6B-4336-A519-575235CA3A98}"/>
              </a:ext>
            </a:extLst>
          </p:cNvPr>
          <p:cNvSpPr>
            <a:spLocks xmlns:a="http://schemas.openxmlformats.org/drawingml/2006/main" noGrp="1"/>
          </p:cNvSpPr>
          <p:nvPr/>
        </p:nvSpPr>
        <p:spPr>
          <a:xfrm xmlns:a="http://schemas.openxmlformats.org/drawingml/2006/main">
            <a:off x="7296150" y="1390650"/>
            <a:ext cx="8572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P-ACT</a:t>
            </a:r>
          </a:p>
        </p:txBody>
      </p:sp>
      <p:sp>
        <p:nvSpPr>
          <p:cNvPr id="27" name="">
            <a:extLst xmlns:a="http://schemas.openxmlformats.org/drawingml/2006/main">
              <a:ext uri="{FF2B5EF4-FFF2-40B4-BE49-F238E27FC236}">
                <a16:creationId xmlns:a16="http://schemas.microsoft.com/office/drawing/2014/main" id="{D32AAFB1-3D4C-4EC1-942F-09AD06C8FA6F}"/>
              </a:ext>
            </a:extLst>
          </p:cNvPr>
          <p:cNvSpPr>
            <a:spLocks xmlns:a="http://schemas.openxmlformats.org/drawingml/2006/main" noGrp="1"/>
          </p:cNvSpPr>
          <p:nvPr/>
        </p:nvSpPr>
        <p:spPr>
          <a:xfrm xmlns:a="http://schemas.openxmlformats.org/drawingml/2006/main">
            <a:off x="8248650" y="1390650"/>
            <a:ext cx="33909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1BA271"/>
                </a:solidFill>
                <a:latin typeface="Arial"/>
                <a:ea typeface="Arial"/>
                <a:cs typeface="Arial"/>
              </a:defRPr>
            </a:pPr>
            <a:r>
              <a:t>HIGH</a:t>
            </a:r>
          </a:p>
        </p:txBody>
      </p:sp>
      <p:sp>
        <p:nvSpPr>
          <p:cNvPr id="28" name="">
            <a:extLst xmlns:a="http://schemas.openxmlformats.org/drawingml/2006/main">
              <a:ext uri="{FF2B5EF4-FFF2-40B4-BE49-F238E27FC236}">
                <a16:creationId xmlns:a16="http://schemas.microsoft.com/office/drawing/2014/main" id="{9EE5AF3B-FF01-40A7-87C1-6710D053C325}"/>
              </a:ext>
            </a:extLst>
          </p:cNvPr>
          <p:cNvSpPr>
            <a:spLocks xmlns:a="http://schemas.openxmlformats.org/drawingml/2006/main" noGrp="1"/>
          </p:cNvSpPr>
          <p:nvPr/>
        </p:nvSpPr>
        <p:spPr>
          <a:xfrm xmlns:a="http://schemas.openxmlformats.org/drawingml/2006/main">
            <a:off x="381000" y="1609725"/>
            <a:ext cx="11430000" cy="3238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846A625-DC10-4192-A9C8-B19DCADBE383}"/>
              </a:ext>
            </a:extLst>
          </p:cNvPr>
          <p:cNvSpPr>
            <a:spLocks xmlns:a="http://schemas.openxmlformats.org/drawingml/2006/main" noGrp="1"/>
          </p:cNvSpPr>
          <p:nvPr/>
        </p:nvSpPr>
        <p:spPr>
          <a:xfrm xmlns:a="http://schemas.openxmlformats.org/drawingml/2006/main">
            <a:off x="457200" y="1666875"/>
            <a:ext cx="2762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04B3C7"/>
                </a:solidFill>
                <a:latin typeface="Arial"/>
                <a:ea typeface="Arial"/>
                <a:cs typeface="Arial"/>
              </a:defRPr>
            </a:pPr>
            <a:r>
              <a:t>2  Aptiv (+STRADVISION)</a:t>
            </a:r>
          </a:p>
        </p:txBody>
      </p:sp>
      <p:sp>
        <p:nvSpPr>
          <p:cNvPr id="30" name="">
            <a:extLst xmlns:a="http://schemas.openxmlformats.org/drawingml/2006/main">
              <a:ext uri="{FF2B5EF4-FFF2-40B4-BE49-F238E27FC236}">
                <a16:creationId xmlns:a16="http://schemas.microsoft.com/office/drawing/2014/main" id="{99462CC3-48E5-45D2-807D-53E727D8D29B}"/>
              </a:ext>
            </a:extLst>
          </p:cNvPr>
          <p:cNvSpPr>
            <a:spLocks xmlns:a="http://schemas.openxmlformats.org/drawingml/2006/main" noGrp="1"/>
          </p:cNvSpPr>
          <p:nvPr/>
        </p:nvSpPr>
        <p:spPr>
          <a:xfrm xmlns:a="http://schemas.openxmlformats.org/drawingml/2006/main">
            <a:off x="3314700" y="16954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C1DCB04-2093-40A7-8EA5-DBA21EF1B865}"/>
              </a:ext>
            </a:extLst>
          </p:cNvPr>
          <p:cNvSpPr>
            <a:spLocks xmlns:a="http://schemas.openxmlformats.org/drawingml/2006/main" noGrp="1"/>
          </p:cNvSpPr>
          <p:nvPr/>
        </p:nvSpPr>
        <p:spPr>
          <a:xfrm xmlns:a="http://schemas.openxmlformats.org/drawingml/2006/main">
            <a:off x="3314700" y="1695450"/>
            <a:ext cx="53340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51CEC0F-4829-4471-92E8-C52DD35BE27D}"/>
              </a:ext>
            </a:extLst>
          </p:cNvPr>
          <p:cNvSpPr>
            <a:spLocks xmlns:a="http://schemas.openxmlformats.org/drawingml/2006/main" noGrp="1"/>
          </p:cNvSpPr>
          <p:nvPr/>
        </p:nvSpPr>
        <p:spPr>
          <a:xfrm xmlns:a="http://schemas.openxmlformats.org/drawingml/2006/main">
            <a:off x="3905250" y="16573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5</a:t>
            </a:r>
          </a:p>
        </p:txBody>
      </p:sp>
      <p:sp>
        <p:nvSpPr>
          <p:cNvPr id="33" name="">
            <a:extLst xmlns:a="http://schemas.openxmlformats.org/drawingml/2006/main">
              <a:ext uri="{FF2B5EF4-FFF2-40B4-BE49-F238E27FC236}">
                <a16:creationId xmlns:a16="http://schemas.microsoft.com/office/drawing/2014/main" id="{476A61E3-1119-4AB6-B3FA-8B418E3B0C8E}"/>
              </a:ext>
            </a:extLst>
          </p:cNvPr>
          <p:cNvSpPr>
            <a:spLocks xmlns:a="http://schemas.openxmlformats.org/drawingml/2006/main" noGrp="1"/>
          </p:cNvSpPr>
          <p:nvPr/>
        </p:nvSpPr>
        <p:spPr>
          <a:xfrm xmlns:a="http://schemas.openxmlformats.org/drawingml/2006/main">
            <a:off x="4229100" y="16954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FF73F50-1DF0-405C-9D8C-1CDB908E3C4A}"/>
              </a:ext>
            </a:extLst>
          </p:cNvPr>
          <p:cNvSpPr>
            <a:spLocks xmlns:a="http://schemas.openxmlformats.org/drawingml/2006/main" noGrp="1"/>
          </p:cNvSpPr>
          <p:nvPr/>
        </p:nvSpPr>
        <p:spPr>
          <a:xfrm xmlns:a="http://schemas.openxmlformats.org/drawingml/2006/main">
            <a:off x="4229100" y="1695450"/>
            <a:ext cx="42672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25118D04-C1C7-41F4-9CB2-1D215F990B61}"/>
              </a:ext>
            </a:extLst>
          </p:cNvPr>
          <p:cNvSpPr>
            <a:spLocks xmlns:a="http://schemas.openxmlformats.org/drawingml/2006/main" noGrp="1"/>
          </p:cNvSpPr>
          <p:nvPr/>
        </p:nvSpPr>
        <p:spPr>
          <a:xfrm xmlns:a="http://schemas.openxmlformats.org/drawingml/2006/main">
            <a:off x="4819650" y="16573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4</a:t>
            </a:r>
          </a:p>
        </p:txBody>
      </p:sp>
      <p:sp>
        <p:nvSpPr>
          <p:cNvPr id="36" name="">
            <a:extLst xmlns:a="http://schemas.openxmlformats.org/drawingml/2006/main">
              <a:ext uri="{FF2B5EF4-FFF2-40B4-BE49-F238E27FC236}">
                <a16:creationId xmlns:a16="http://schemas.microsoft.com/office/drawing/2014/main" id="{04092340-D4DC-4E27-90ED-97D3C78E685A}"/>
              </a:ext>
            </a:extLst>
          </p:cNvPr>
          <p:cNvSpPr>
            <a:spLocks xmlns:a="http://schemas.openxmlformats.org/drawingml/2006/main" noGrp="1"/>
          </p:cNvSpPr>
          <p:nvPr/>
        </p:nvSpPr>
        <p:spPr>
          <a:xfrm xmlns:a="http://schemas.openxmlformats.org/drawingml/2006/main">
            <a:off x="5143500" y="16954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695A2E0-000D-4BF9-ABE4-C60D935CCD49}"/>
              </a:ext>
            </a:extLst>
          </p:cNvPr>
          <p:cNvSpPr>
            <a:spLocks xmlns:a="http://schemas.openxmlformats.org/drawingml/2006/main" noGrp="1"/>
          </p:cNvSpPr>
          <p:nvPr/>
        </p:nvSpPr>
        <p:spPr>
          <a:xfrm xmlns:a="http://schemas.openxmlformats.org/drawingml/2006/main">
            <a:off x="5143500" y="1695450"/>
            <a:ext cx="533400" cy="952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F55FA92-9D32-431E-B6B1-DA2DAFBFD449}"/>
              </a:ext>
            </a:extLst>
          </p:cNvPr>
          <p:cNvSpPr>
            <a:spLocks xmlns:a="http://schemas.openxmlformats.org/drawingml/2006/main" noGrp="1"/>
          </p:cNvSpPr>
          <p:nvPr/>
        </p:nvSpPr>
        <p:spPr>
          <a:xfrm xmlns:a="http://schemas.openxmlformats.org/drawingml/2006/main">
            <a:off x="5734050" y="16573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5</a:t>
            </a:r>
          </a:p>
        </p:txBody>
      </p:sp>
      <p:sp>
        <p:nvSpPr>
          <p:cNvPr id="39" name="">
            <a:extLst xmlns:a="http://schemas.openxmlformats.org/drawingml/2006/main">
              <a:ext uri="{FF2B5EF4-FFF2-40B4-BE49-F238E27FC236}">
                <a16:creationId xmlns:a16="http://schemas.microsoft.com/office/drawing/2014/main" id="{D9B7EA3E-8C30-45D3-A44B-F470A36DEC0B}"/>
              </a:ext>
            </a:extLst>
          </p:cNvPr>
          <p:cNvSpPr>
            <a:spLocks xmlns:a="http://schemas.openxmlformats.org/drawingml/2006/main" noGrp="1"/>
          </p:cNvSpPr>
          <p:nvPr/>
        </p:nvSpPr>
        <p:spPr>
          <a:xfrm xmlns:a="http://schemas.openxmlformats.org/drawingml/2006/main">
            <a:off x="6248400" y="1657350"/>
            <a:ext cx="952500" cy="1714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1200" b="1">
                <a:solidFill>
                  <a:srgbClr val="E06767"/>
                </a:solidFill>
                <a:latin typeface="Arial"/>
                <a:ea typeface="Arial"/>
                <a:cs typeface="Arial"/>
              </a:defRPr>
            </a:pPr>
            <a:r>
              <a:t>4.65</a:t>
            </a:r>
          </a:p>
        </p:txBody>
      </p:sp>
      <p:sp>
        <p:nvSpPr>
          <p:cNvPr id="40" name="">
            <a:extLst xmlns:a="http://schemas.openxmlformats.org/drawingml/2006/main">
              <a:ext uri="{FF2B5EF4-FFF2-40B4-BE49-F238E27FC236}">
                <a16:creationId xmlns:a16="http://schemas.microsoft.com/office/drawing/2014/main" id="{71B4E6E0-AEEF-481D-B8F1-E5A13F0D55BC}"/>
              </a:ext>
            </a:extLst>
          </p:cNvPr>
          <p:cNvSpPr>
            <a:spLocks xmlns:a="http://schemas.openxmlformats.org/drawingml/2006/main" noGrp="1"/>
          </p:cNvSpPr>
          <p:nvPr/>
        </p:nvSpPr>
        <p:spPr>
          <a:xfrm xmlns:a="http://schemas.openxmlformats.org/drawingml/2006/main">
            <a:off x="7296150" y="1676400"/>
            <a:ext cx="8572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P-ACT</a:t>
            </a:r>
          </a:p>
        </p:txBody>
      </p:sp>
      <p:sp>
        <p:nvSpPr>
          <p:cNvPr id="41" name="">
            <a:extLst xmlns:a="http://schemas.openxmlformats.org/drawingml/2006/main">
              <a:ext uri="{FF2B5EF4-FFF2-40B4-BE49-F238E27FC236}">
                <a16:creationId xmlns:a16="http://schemas.microsoft.com/office/drawing/2014/main" id="{65278B2A-F2C2-491B-B257-3C24F728492C}"/>
              </a:ext>
            </a:extLst>
          </p:cNvPr>
          <p:cNvSpPr>
            <a:spLocks xmlns:a="http://schemas.openxmlformats.org/drawingml/2006/main" noGrp="1"/>
          </p:cNvSpPr>
          <p:nvPr/>
        </p:nvSpPr>
        <p:spPr>
          <a:xfrm xmlns:a="http://schemas.openxmlformats.org/drawingml/2006/main">
            <a:off x="8248650" y="1676400"/>
            <a:ext cx="33909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1BA271"/>
                </a:solidFill>
                <a:latin typeface="Arial"/>
                <a:ea typeface="Arial"/>
                <a:cs typeface="Arial"/>
              </a:defRPr>
            </a:pPr>
            <a:r>
              <a:t>HIGH</a:t>
            </a:r>
          </a:p>
        </p:txBody>
      </p:sp>
      <p:sp>
        <p:nvSpPr>
          <p:cNvPr id="42" name="">
            <a:extLst xmlns:a="http://schemas.openxmlformats.org/drawingml/2006/main">
              <a:ext uri="{FF2B5EF4-FFF2-40B4-BE49-F238E27FC236}">
                <a16:creationId xmlns:a16="http://schemas.microsoft.com/office/drawing/2014/main" id="{64BC103D-A354-4E92-944D-99E441B1E165}"/>
              </a:ext>
            </a:extLst>
          </p:cNvPr>
          <p:cNvSpPr>
            <a:spLocks xmlns:a="http://schemas.openxmlformats.org/drawingml/2006/main" noGrp="1"/>
          </p:cNvSpPr>
          <p:nvPr/>
        </p:nvSpPr>
        <p:spPr>
          <a:xfrm xmlns:a="http://schemas.openxmlformats.org/drawingml/2006/main">
            <a:off x="381000" y="1895475"/>
            <a:ext cx="11430000" cy="3238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AB8B5E48-DAFC-4107-83AD-1728F125546C}"/>
              </a:ext>
            </a:extLst>
          </p:cNvPr>
          <p:cNvSpPr>
            <a:spLocks xmlns:a="http://schemas.openxmlformats.org/drawingml/2006/main" noGrp="1"/>
          </p:cNvSpPr>
          <p:nvPr/>
        </p:nvSpPr>
        <p:spPr>
          <a:xfrm xmlns:a="http://schemas.openxmlformats.org/drawingml/2006/main">
            <a:off x="457200" y="1952625"/>
            <a:ext cx="2762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04B3C7"/>
                </a:solidFill>
                <a:latin typeface="Arial"/>
                <a:ea typeface="Arial"/>
                <a:cs typeface="Arial"/>
              </a:defRPr>
            </a:pPr>
            <a:r>
              <a:t>3  STRADVISION</a:t>
            </a:r>
          </a:p>
        </p:txBody>
      </p:sp>
      <p:sp>
        <p:nvSpPr>
          <p:cNvPr id="44" name="">
            <a:extLst xmlns:a="http://schemas.openxmlformats.org/drawingml/2006/main">
              <a:ext uri="{FF2B5EF4-FFF2-40B4-BE49-F238E27FC236}">
                <a16:creationId xmlns:a16="http://schemas.microsoft.com/office/drawing/2014/main" id="{63F2B588-EF0A-42AE-8D29-94852C92CD2A}"/>
              </a:ext>
            </a:extLst>
          </p:cNvPr>
          <p:cNvSpPr>
            <a:spLocks xmlns:a="http://schemas.openxmlformats.org/drawingml/2006/main" noGrp="1"/>
          </p:cNvSpPr>
          <p:nvPr/>
        </p:nvSpPr>
        <p:spPr>
          <a:xfrm xmlns:a="http://schemas.openxmlformats.org/drawingml/2006/main">
            <a:off x="3314700" y="19812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E5BEE914-9099-4A69-ABF9-F788467B6978}"/>
              </a:ext>
            </a:extLst>
          </p:cNvPr>
          <p:cNvSpPr>
            <a:spLocks xmlns:a="http://schemas.openxmlformats.org/drawingml/2006/main" noGrp="1"/>
          </p:cNvSpPr>
          <p:nvPr/>
        </p:nvSpPr>
        <p:spPr>
          <a:xfrm xmlns:a="http://schemas.openxmlformats.org/drawingml/2006/main">
            <a:off x="3314700" y="1981200"/>
            <a:ext cx="42672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9E47BE85-62F6-4D71-8F00-F7468E9D7B1F}"/>
              </a:ext>
            </a:extLst>
          </p:cNvPr>
          <p:cNvSpPr>
            <a:spLocks xmlns:a="http://schemas.openxmlformats.org/drawingml/2006/main" noGrp="1"/>
          </p:cNvSpPr>
          <p:nvPr/>
        </p:nvSpPr>
        <p:spPr>
          <a:xfrm xmlns:a="http://schemas.openxmlformats.org/drawingml/2006/main">
            <a:off x="3905250" y="19431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4</a:t>
            </a:r>
          </a:p>
        </p:txBody>
      </p:sp>
      <p:sp>
        <p:nvSpPr>
          <p:cNvPr id="47" name="">
            <a:extLst xmlns:a="http://schemas.openxmlformats.org/drawingml/2006/main">
              <a:ext uri="{FF2B5EF4-FFF2-40B4-BE49-F238E27FC236}">
                <a16:creationId xmlns:a16="http://schemas.microsoft.com/office/drawing/2014/main" id="{332DE771-2DB4-479F-A519-8EA10119C682}"/>
              </a:ext>
            </a:extLst>
          </p:cNvPr>
          <p:cNvSpPr>
            <a:spLocks xmlns:a="http://schemas.openxmlformats.org/drawingml/2006/main" noGrp="1"/>
          </p:cNvSpPr>
          <p:nvPr/>
        </p:nvSpPr>
        <p:spPr>
          <a:xfrm xmlns:a="http://schemas.openxmlformats.org/drawingml/2006/main">
            <a:off x="4229100" y="19812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D3109899-8B11-4DF9-961B-A08F99E1F10F}"/>
              </a:ext>
            </a:extLst>
          </p:cNvPr>
          <p:cNvSpPr>
            <a:spLocks xmlns:a="http://schemas.openxmlformats.org/drawingml/2006/main" noGrp="1"/>
          </p:cNvSpPr>
          <p:nvPr/>
        </p:nvSpPr>
        <p:spPr>
          <a:xfrm xmlns:a="http://schemas.openxmlformats.org/drawingml/2006/main">
            <a:off x="4229100" y="1981200"/>
            <a:ext cx="32004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976DAD06-D0E7-49CC-A3EF-42A7765D7933}"/>
              </a:ext>
            </a:extLst>
          </p:cNvPr>
          <p:cNvSpPr>
            <a:spLocks xmlns:a="http://schemas.openxmlformats.org/drawingml/2006/main" noGrp="1"/>
          </p:cNvSpPr>
          <p:nvPr/>
        </p:nvSpPr>
        <p:spPr>
          <a:xfrm xmlns:a="http://schemas.openxmlformats.org/drawingml/2006/main">
            <a:off x="4819650" y="19431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3</a:t>
            </a:r>
          </a:p>
        </p:txBody>
      </p:sp>
      <p:sp>
        <p:nvSpPr>
          <p:cNvPr id="50" name="">
            <a:extLst xmlns:a="http://schemas.openxmlformats.org/drawingml/2006/main">
              <a:ext uri="{FF2B5EF4-FFF2-40B4-BE49-F238E27FC236}">
                <a16:creationId xmlns:a16="http://schemas.microsoft.com/office/drawing/2014/main" id="{0F446C19-B897-40C8-A44E-622CBBE98EB6}"/>
              </a:ext>
            </a:extLst>
          </p:cNvPr>
          <p:cNvSpPr>
            <a:spLocks xmlns:a="http://schemas.openxmlformats.org/drawingml/2006/main" noGrp="1"/>
          </p:cNvSpPr>
          <p:nvPr/>
        </p:nvSpPr>
        <p:spPr>
          <a:xfrm xmlns:a="http://schemas.openxmlformats.org/drawingml/2006/main">
            <a:off x="5143500" y="19812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8082A1E1-D66B-43F3-90E9-528FCA1A10B3}"/>
              </a:ext>
            </a:extLst>
          </p:cNvPr>
          <p:cNvSpPr>
            <a:spLocks xmlns:a="http://schemas.openxmlformats.org/drawingml/2006/main" noGrp="1"/>
          </p:cNvSpPr>
          <p:nvPr/>
        </p:nvSpPr>
        <p:spPr>
          <a:xfrm xmlns:a="http://schemas.openxmlformats.org/drawingml/2006/main">
            <a:off x="5143500" y="1981200"/>
            <a:ext cx="533400" cy="952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B61CB165-022B-4BFB-BE1C-F16A4753C04B}"/>
              </a:ext>
            </a:extLst>
          </p:cNvPr>
          <p:cNvSpPr>
            <a:spLocks xmlns:a="http://schemas.openxmlformats.org/drawingml/2006/main" noGrp="1"/>
          </p:cNvSpPr>
          <p:nvPr/>
        </p:nvSpPr>
        <p:spPr>
          <a:xfrm xmlns:a="http://schemas.openxmlformats.org/drawingml/2006/main">
            <a:off x="5734050" y="19431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5</a:t>
            </a:r>
          </a:p>
        </p:txBody>
      </p:sp>
      <p:sp>
        <p:nvSpPr>
          <p:cNvPr id="53" name="">
            <a:extLst xmlns:a="http://schemas.openxmlformats.org/drawingml/2006/main">
              <a:ext uri="{FF2B5EF4-FFF2-40B4-BE49-F238E27FC236}">
                <a16:creationId xmlns:a16="http://schemas.microsoft.com/office/drawing/2014/main" id="{946DCD36-7DC3-4138-BB27-E8758317E398}"/>
              </a:ext>
            </a:extLst>
          </p:cNvPr>
          <p:cNvSpPr>
            <a:spLocks xmlns:a="http://schemas.openxmlformats.org/drawingml/2006/main" noGrp="1"/>
          </p:cNvSpPr>
          <p:nvPr/>
        </p:nvSpPr>
        <p:spPr>
          <a:xfrm xmlns:a="http://schemas.openxmlformats.org/drawingml/2006/main">
            <a:off x="6248400" y="1943100"/>
            <a:ext cx="952500" cy="1714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1200" b="1">
                <a:solidFill>
                  <a:srgbClr val="E06767"/>
                </a:solidFill>
                <a:latin typeface="Arial"/>
                <a:ea typeface="Arial"/>
                <a:cs typeface="Arial"/>
              </a:defRPr>
            </a:pPr>
            <a:r>
              <a:t>4.10</a:t>
            </a:r>
          </a:p>
        </p:txBody>
      </p:sp>
      <p:sp>
        <p:nvSpPr>
          <p:cNvPr id="54" name="">
            <a:extLst xmlns:a="http://schemas.openxmlformats.org/drawingml/2006/main">
              <a:ext uri="{FF2B5EF4-FFF2-40B4-BE49-F238E27FC236}">
                <a16:creationId xmlns:a16="http://schemas.microsoft.com/office/drawing/2014/main" id="{1D308FF7-9C08-4497-B6B4-833E9A1D3494}"/>
              </a:ext>
            </a:extLst>
          </p:cNvPr>
          <p:cNvSpPr>
            <a:spLocks xmlns:a="http://schemas.openxmlformats.org/drawingml/2006/main" noGrp="1"/>
          </p:cNvSpPr>
          <p:nvPr/>
        </p:nvSpPr>
        <p:spPr>
          <a:xfrm xmlns:a="http://schemas.openxmlformats.org/drawingml/2006/main">
            <a:off x="7296150" y="1962150"/>
            <a:ext cx="8572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P-ACT</a:t>
            </a:r>
          </a:p>
        </p:txBody>
      </p:sp>
      <p:sp>
        <p:nvSpPr>
          <p:cNvPr id="55" name="">
            <a:extLst xmlns:a="http://schemas.openxmlformats.org/drawingml/2006/main">
              <a:ext uri="{FF2B5EF4-FFF2-40B4-BE49-F238E27FC236}">
                <a16:creationId xmlns:a16="http://schemas.microsoft.com/office/drawing/2014/main" id="{34A89F6D-0FEE-4C74-8206-4247F6DC6DEA}"/>
              </a:ext>
            </a:extLst>
          </p:cNvPr>
          <p:cNvSpPr>
            <a:spLocks xmlns:a="http://schemas.openxmlformats.org/drawingml/2006/main" noGrp="1"/>
          </p:cNvSpPr>
          <p:nvPr/>
        </p:nvSpPr>
        <p:spPr>
          <a:xfrm xmlns:a="http://schemas.openxmlformats.org/drawingml/2006/main">
            <a:off x="8248650" y="1962150"/>
            <a:ext cx="33909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1BA271"/>
                </a:solidFill>
                <a:latin typeface="Arial"/>
                <a:ea typeface="Arial"/>
                <a:cs typeface="Arial"/>
              </a:defRPr>
            </a:pPr>
            <a:r>
              <a:t>HIGH</a:t>
            </a:r>
          </a:p>
        </p:txBody>
      </p:sp>
      <p:sp>
        <p:nvSpPr>
          <p:cNvPr id="56" name="">
            <a:extLst xmlns:a="http://schemas.openxmlformats.org/drawingml/2006/main">
              <a:ext uri="{FF2B5EF4-FFF2-40B4-BE49-F238E27FC236}">
                <a16:creationId xmlns:a16="http://schemas.microsoft.com/office/drawing/2014/main" id="{F0AA0B9F-6D9D-4C7D-96CA-1758C8CD5AB8}"/>
              </a:ext>
            </a:extLst>
          </p:cNvPr>
          <p:cNvSpPr>
            <a:spLocks xmlns:a="http://schemas.openxmlformats.org/drawingml/2006/main" noGrp="1"/>
          </p:cNvSpPr>
          <p:nvPr/>
        </p:nvSpPr>
        <p:spPr>
          <a:xfrm xmlns:a="http://schemas.openxmlformats.org/drawingml/2006/main">
            <a:off x="457200" y="2238375"/>
            <a:ext cx="2762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4  drivebuddyAI</a:t>
            </a:r>
          </a:p>
        </p:txBody>
      </p:sp>
      <p:sp>
        <p:nvSpPr>
          <p:cNvPr id="57" name="">
            <a:extLst xmlns:a="http://schemas.openxmlformats.org/drawingml/2006/main">
              <a:ext uri="{FF2B5EF4-FFF2-40B4-BE49-F238E27FC236}">
                <a16:creationId xmlns:a16="http://schemas.microsoft.com/office/drawing/2014/main" id="{ED23D92E-E843-4770-931F-AD8B43503BF2}"/>
              </a:ext>
            </a:extLst>
          </p:cNvPr>
          <p:cNvSpPr>
            <a:spLocks xmlns:a="http://schemas.openxmlformats.org/drawingml/2006/main" noGrp="1"/>
          </p:cNvSpPr>
          <p:nvPr/>
        </p:nvSpPr>
        <p:spPr>
          <a:xfrm xmlns:a="http://schemas.openxmlformats.org/drawingml/2006/main">
            <a:off x="3314700" y="22669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CB0086E1-AE0A-422D-BB6F-4372DC15C9BB}"/>
              </a:ext>
            </a:extLst>
          </p:cNvPr>
          <p:cNvSpPr>
            <a:spLocks xmlns:a="http://schemas.openxmlformats.org/drawingml/2006/main" noGrp="1"/>
          </p:cNvSpPr>
          <p:nvPr/>
        </p:nvSpPr>
        <p:spPr>
          <a:xfrm xmlns:a="http://schemas.openxmlformats.org/drawingml/2006/main">
            <a:off x="3314700" y="2266950"/>
            <a:ext cx="42672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6A2D276E-7804-4C28-8F5D-B76C638A6DFD}"/>
              </a:ext>
            </a:extLst>
          </p:cNvPr>
          <p:cNvSpPr>
            <a:spLocks xmlns:a="http://schemas.openxmlformats.org/drawingml/2006/main" noGrp="1"/>
          </p:cNvSpPr>
          <p:nvPr/>
        </p:nvSpPr>
        <p:spPr>
          <a:xfrm xmlns:a="http://schemas.openxmlformats.org/drawingml/2006/main">
            <a:off x="3905250" y="22288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4</a:t>
            </a:r>
          </a:p>
        </p:txBody>
      </p:sp>
      <p:sp>
        <p:nvSpPr>
          <p:cNvPr id="60" name="">
            <a:extLst xmlns:a="http://schemas.openxmlformats.org/drawingml/2006/main">
              <a:ext uri="{FF2B5EF4-FFF2-40B4-BE49-F238E27FC236}">
                <a16:creationId xmlns:a16="http://schemas.microsoft.com/office/drawing/2014/main" id="{719505C9-360C-4540-8040-2F55B600F318}"/>
              </a:ext>
            </a:extLst>
          </p:cNvPr>
          <p:cNvSpPr>
            <a:spLocks xmlns:a="http://schemas.openxmlformats.org/drawingml/2006/main" noGrp="1"/>
          </p:cNvSpPr>
          <p:nvPr/>
        </p:nvSpPr>
        <p:spPr>
          <a:xfrm xmlns:a="http://schemas.openxmlformats.org/drawingml/2006/main">
            <a:off x="4229100" y="22669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4BE4D31A-C99F-4413-A2C1-93F51D528010}"/>
              </a:ext>
            </a:extLst>
          </p:cNvPr>
          <p:cNvSpPr>
            <a:spLocks xmlns:a="http://schemas.openxmlformats.org/drawingml/2006/main" noGrp="1"/>
          </p:cNvSpPr>
          <p:nvPr/>
        </p:nvSpPr>
        <p:spPr>
          <a:xfrm xmlns:a="http://schemas.openxmlformats.org/drawingml/2006/main">
            <a:off x="4229100" y="2266950"/>
            <a:ext cx="42672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EBDE5188-5EB9-40D3-B2DC-D243B75BAEF8}"/>
              </a:ext>
            </a:extLst>
          </p:cNvPr>
          <p:cNvSpPr>
            <a:spLocks xmlns:a="http://schemas.openxmlformats.org/drawingml/2006/main" noGrp="1"/>
          </p:cNvSpPr>
          <p:nvPr/>
        </p:nvSpPr>
        <p:spPr>
          <a:xfrm xmlns:a="http://schemas.openxmlformats.org/drawingml/2006/main">
            <a:off x="4819650" y="22288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4</a:t>
            </a:r>
          </a:p>
        </p:txBody>
      </p:sp>
      <p:sp>
        <p:nvSpPr>
          <p:cNvPr id="63" name="">
            <a:extLst xmlns:a="http://schemas.openxmlformats.org/drawingml/2006/main">
              <a:ext uri="{FF2B5EF4-FFF2-40B4-BE49-F238E27FC236}">
                <a16:creationId xmlns:a16="http://schemas.microsoft.com/office/drawing/2014/main" id="{02013B31-9495-4871-A243-492758EF885E}"/>
              </a:ext>
            </a:extLst>
          </p:cNvPr>
          <p:cNvSpPr>
            <a:spLocks xmlns:a="http://schemas.openxmlformats.org/drawingml/2006/main" noGrp="1"/>
          </p:cNvSpPr>
          <p:nvPr/>
        </p:nvSpPr>
        <p:spPr>
          <a:xfrm xmlns:a="http://schemas.openxmlformats.org/drawingml/2006/main">
            <a:off x="5143500" y="22669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0C40D8EC-034D-4AE4-8F37-A3639B50C8A5}"/>
              </a:ext>
            </a:extLst>
          </p:cNvPr>
          <p:cNvSpPr>
            <a:spLocks xmlns:a="http://schemas.openxmlformats.org/drawingml/2006/main" noGrp="1"/>
          </p:cNvSpPr>
          <p:nvPr/>
        </p:nvSpPr>
        <p:spPr>
          <a:xfrm xmlns:a="http://schemas.openxmlformats.org/drawingml/2006/main">
            <a:off x="5143500" y="2266950"/>
            <a:ext cx="213360" cy="952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4E123FDF-1D47-4601-820D-FBB952C25712}"/>
              </a:ext>
            </a:extLst>
          </p:cNvPr>
          <p:cNvSpPr>
            <a:spLocks xmlns:a="http://schemas.openxmlformats.org/drawingml/2006/main" noGrp="1"/>
          </p:cNvSpPr>
          <p:nvPr/>
        </p:nvSpPr>
        <p:spPr>
          <a:xfrm xmlns:a="http://schemas.openxmlformats.org/drawingml/2006/main">
            <a:off x="5734050" y="22288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2</a:t>
            </a:r>
          </a:p>
        </p:txBody>
      </p:sp>
      <p:sp>
        <p:nvSpPr>
          <p:cNvPr id="66" name="">
            <a:extLst xmlns:a="http://schemas.openxmlformats.org/drawingml/2006/main">
              <a:ext uri="{FF2B5EF4-FFF2-40B4-BE49-F238E27FC236}">
                <a16:creationId xmlns:a16="http://schemas.microsoft.com/office/drawing/2014/main" id="{0044DBF5-6508-4176-B6E7-3200E86CBB65}"/>
              </a:ext>
            </a:extLst>
          </p:cNvPr>
          <p:cNvSpPr>
            <a:spLocks xmlns:a="http://schemas.openxmlformats.org/drawingml/2006/main" noGrp="1"/>
          </p:cNvSpPr>
          <p:nvPr/>
        </p:nvSpPr>
        <p:spPr>
          <a:xfrm xmlns:a="http://schemas.openxmlformats.org/drawingml/2006/main">
            <a:off x="6248400" y="2228850"/>
            <a:ext cx="952500" cy="1714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1200" b="1">
                <a:solidFill>
                  <a:srgbClr val="D7720B"/>
                </a:solidFill>
                <a:latin typeface="Arial"/>
                <a:ea typeface="Arial"/>
                <a:cs typeface="Arial"/>
              </a:defRPr>
            </a:pPr>
            <a:r>
              <a:t>3.10</a:t>
            </a:r>
          </a:p>
        </p:txBody>
      </p:sp>
      <p:sp>
        <p:nvSpPr>
          <p:cNvPr id="67" name="">
            <a:extLst xmlns:a="http://schemas.openxmlformats.org/drawingml/2006/main">
              <a:ext uri="{FF2B5EF4-FFF2-40B4-BE49-F238E27FC236}">
                <a16:creationId xmlns:a16="http://schemas.microsoft.com/office/drawing/2014/main" id="{A5DF8B77-C784-4A83-A94A-3D789CDED22E}"/>
              </a:ext>
            </a:extLst>
          </p:cNvPr>
          <p:cNvSpPr>
            <a:spLocks xmlns:a="http://schemas.openxmlformats.org/drawingml/2006/main" noGrp="1"/>
          </p:cNvSpPr>
          <p:nvPr/>
        </p:nvSpPr>
        <p:spPr>
          <a:xfrm xmlns:a="http://schemas.openxmlformats.org/drawingml/2006/main">
            <a:off x="7296150" y="2247900"/>
            <a:ext cx="8572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P-WARN</a:t>
            </a:r>
          </a:p>
        </p:txBody>
      </p:sp>
      <p:sp>
        <p:nvSpPr>
          <p:cNvPr id="68" name="">
            <a:extLst xmlns:a="http://schemas.openxmlformats.org/drawingml/2006/main">
              <a:ext uri="{FF2B5EF4-FFF2-40B4-BE49-F238E27FC236}">
                <a16:creationId xmlns:a16="http://schemas.microsoft.com/office/drawing/2014/main" id="{43099B64-421D-414E-B830-FA3B831DA142}"/>
              </a:ext>
            </a:extLst>
          </p:cNvPr>
          <p:cNvSpPr>
            <a:spLocks xmlns:a="http://schemas.openxmlformats.org/drawingml/2006/main" noGrp="1"/>
          </p:cNvSpPr>
          <p:nvPr/>
        </p:nvSpPr>
        <p:spPr>
          <a:xfrm xmlns:a="http://schemas.openxmlformats.org/drawingml/2006/main">
            <a:off x="8248650" y="2247900"/>
            <a:ext cx="33909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1BA271"/>
                </a:solidFill>
                <a:latin typeface="Arial"/>
                <a:ea typeface="Arial"/>
                <a:cs typeface="Arial"/>
              </a:defRPr>
            </a:pPr>
            <a:r>
              <a:t>HIGH</a:t>
            </a:r>
          </a:p>
        </p:txBody>
      </p:sp>
      <p:sp>
        <p:nvSpPr>
          <p:cNvPr id="69" name="">
            <a:extLst xmlns:a="http://schemas.openxmlformats.org/drawingml/2006/main">
              <a:ext uri="{FF2B5EF4-FFF2-40B4-BE49-F238E27FC236}">
                <a16:creationId xmlns:a16="http://schemas.microsoft.com/office/drawing/2014/main" id="{3AA81212-94A2-40B4-B885-51BC9F794CC7}"/>
              </a:ext>
            </a:extLst>
          </p:cNvPr>
          <p:cNvSpPr>
            <a:spLocks xmlns:a="http://schemas.openxmlformats.org/drawingml/2006/main" noGrp="1"/>
          </p:cNvSpPr>
          <p:nvPr/>
        </p:nvSpPr>
        <p:spPr>
          <a:xfrm xmlns:a="http://schemas.openxmlformats.org/drawingml/2006/main">
            <a:off x="457200" y="2524125"/>
            <a:ext cx="2762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5  Sterling Tools × MINIEYE</a:t>
            </a:r>
          </a:p>
        </p:txBody>
      </p:sp>
      <p:sp>
        <p:nvSpPr>
          <p:cNvPr id="70" name="">
            <a:extLst xmlns:a="http://schemas.openxmlformats.org/drawingml/2006/main">
              <a:ext uri="{FF2B5EF4-FFF2-40B4-BE49-F238E27FC236}">
                <a16:creationId xmlns:a16="http://schemas.microsoft.com/office/drawing/2014/main" id="{6A44E370-C37B-4C4F-BBB8-B40DC6741A68}"/>
              </a:ext>
            </a:extLst>
          </p:cNvPr>
          <p:cNvSpPr>
            <a:spLocks xmlns:a="http://schemas.openxmlformats.org/drawingml/2006/main" noGrp="1"/>
          </p:cNvSpPr>
          <p:nvPr/>
        </p:nvSpPr>
        <p:spPr>
          <a:xfrm xmlns:a="http://schemas.openxmlformats.org/drawingml/2006/main">
            <a:off x="3314700" y="25527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DB1015C2-FE93-4A75-BF6E-5AC890FA2129}"/>
              </a:ext>
            </a:extLst>
          </p:cNvPr>
          <p:cNvSpPr>
            <a:spLocks xmlns:a="http://schemas.openxmlformats.org/drawingml/2006/main" noGrp="1"/>
          </p:cNvSpPr>
          <p:nvPr/>
        </p:nvSpPr>
        <p:spPr>
          <a:xfrm xmlns:a="http://schemas.openxmlformats.org/drawingml/2006/main">
            <a:off x="3314700" y="2552700"/>
            <a:ext cx="21336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304E75E0-3F9D-41BB-ACF0-C802E6401BB6}"/>
              </a:ext>
            </a:extLst>
          </p:cNvPr>
          <p:cNvSpPr>
            <a:spLocks xmlns:a="http://schemas.openxmlformats.org/drawingml/2006/main" noGrp="1"/>
          </p:cNvSpPr>
          <p:nvPr/>
        </p:nvSpPr>
        <p:spPr>
          <a:xfrm xmlns:a="http://schemas.openxmlformats.org/drawingml/2006/main">
            <a:off x="3905250" y="25146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2</a:t>
            </a:r>
          </a:p>
        </p:txBody>
      </p:sp>
      <p:sp>
        <p:nvSpPr>
          <p:cNvPr id="73" name="">
            <a:extLst xmlns:a="http://schemas.openxmlformats.org/drawingml/2006/main">
              <a:ext uri="{FF2B5EF4-FFF2-40B4-BE49-F238E27FC236}">
                <a16:creationId xmlns:a16="http://schemas.microsoft.com/office/drawing/2014/main" id="{04C93D3E-F436-47AC-A570-84958F5CE428}"/>
              </a:ext>
            </a:extLst>
          </p:cNvPr>
          <p:cNvSpPr>
            <a:spLocks xmlns:a="http://schemas.openxmlformats.org/drawingml/2006/main" noGrp="1"/>
          </p:cNvSpPr>
          <p:nvPr/>
        </p:nvSpPr>
        <p:spPr>
          <a:xfrm xmlns:a="http://schemas.openxmlformats.org/drawingml/2006/main">
            <a:off x="4229100" y="25527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9AAE4848-117F-4F58-8DAE-0ECFAE50141B}"/>
              </a:ext>
            </a:extLst>
          </p:cNvPr>
          <p:cNvSpPr>
            <a:spLocks xmlns:a="http://schemas.openxmlformats.org/drawingml/2006/main" noGrp="1"/>
          </p:cNvSpPr>
          <p:nvPr/>
        </p:nvSpPr>
        <p:spPr>
          <a:xfrm xmlns:a="http://schemas.openxmlformats.org/drawingml/2006/main">
            <a:off x="4229100" y="2552700"/>
            <a:ext cx="32004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429CF978-79C6-49BB-A9E0-84A3164490AF}"/>
              </a:ext>
            </a:extLst>
          </p:cNvPr>
          <p:cNvSpPr>
            <a:spLocks xmlns:a="http://schemas.openxmlformats.org/drawingml/2006/main" noGrp="1"/>
          </p:cNvSpPr>
          <p:nvPr/>
        </p:nvSpPr>
        <p:spPr>
          <a:xfrm xmlns:a="http://schemas.openxmlformats.org/drawingml/2006/main">
            <a:off x="4819650" y="25146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3</a:t>
            </a:r>
          </a:p>
        </p:txBody>
      </p:sp>
      <p:sp>
        <p:nvSpPr>
          <p:cNvPr id="76" name="">
            <a:extLst xmlns:a="http://schemas.openxmlformats.org/drawingml/2006/main">
              <a:ext uri="{FF2B5EF4-FFF2-40B4-BE49-F238E27FC236}">
                <a16:creationId xmlns:a16="http://schemas.microsoft.com/office/drawing/2014/main" id="{7ED7B1E6-2ABA-4FCE-A072-7E4AB833B0DC}"/>
              </a:ext>
            </a:extLst>
          </p:cNvPr>
          <p:cNvSpPr>
            <a:spLocks xmlns:a="http://schemas.openxmlformats.org/drawingml/2006/main" noGrp="1"/>
          </p:cNvSpPr>
          <p:nvPr/>
        </p:nvSpPr>
        <p:spPr>
          <a:xfrm xmlns:a="http://schemas.openxmlformats.org/drawingml/2006/main">
            <a:off x="5143500" y="25527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06492CE9-3983-4AB5-8BAA-2A12C52DA48E}"/>
              </a:ext>
            </a:extLst>
          </p:cNvPr>
          <p:cNvSpPr>
            <a:spLocks xmlns:a="http://schemas.openxmlformats.org/drawingml/2006/main" noGrp="1"/>
          </p:cNvSpPr>
          <p:nvPr/>
        </p:nvSpPr>
        <p:spPr>
          <a:xfrm xmlns:a="http://schemas.openxmlformats.org/drawingml/2006/main">
            <a:off x="5143500" y="2552700"/>
            <a:ext cx="213360" cy="952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FA340F2E-985E-4DB1-9170-1137D1E6D238}"/>
              </a:ext>
            </a:extLst>
          </p:cNvPr>
          <p:cNvSpPr>
            <a:spLocks xmlns:a="http://schemas.openxmlformats.org/drawingml/2006/main" noGrp="1"/>
          </p:cNvSpPr>
          <p:nvPr/>
        </p:nvSpPr>
        <p:spPr>
          <a:xfrm xmlns:a="http://schemas.openxmlformats.org/drawingml/2006/main">
            <a:off x="5734050" y="25146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2</a:t>
            </a:r>
          </a:p>
        </p:txBody>
      </p:sp>
      <p:sp>
        <p:nvSpPr>
          <p:cNvPr id="79" name="">
            <a:extLst xmlns:a="http://schemas.openxmlformats.org/drawingml/2006/main">
              <a:ext uri="{FF2B5EF4-FFF2-40B4-BE49-F238E27FC236}">
                <a16:creationId xmlns:a16="http://schemas.microsoft.com/office/drawing/2014/main" id="{8619012E-8FFF-4117-A61C-F000360BDFD4}"/>
              </a:ext>
            </a:extLst>
          </p:cNvPr>
          <p:cNvSpPr>
            <a:spLocks xmlns:a="http://schemas.openxmlformats.org/drawingml/2006/main" noGrp="1"/>
          </p:cNvSpPr>
          <p:nvPr/>
        </p:nvSpPr>
        <p:spPr>
          <a:xfrm xmlns:a="http://schemas.openxmlformats.org/drawingml/2006/main">
            <a:off x="6248400" y="2514600"/>
            <a:ext cx="952500" cy="1714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1200" b="1">
                <a:solidFill>
                  <a:srgbClr val="D7720B"/>
                </a:solidFill>
                <a:latin typeface="Arial"/>
                <a:ea typeface="Arial"/>
                <a:cs typeface="Arial"/>
              </a:defRPr>
            </a:pPr>
            <a:r>
              <a:t>2.35</a:t>
            </a:r>
          </a:p>
        </p:txBody>
      </p:sp>
      <p:sp>
        <p:nvSpPr>
          <p:cNvPr id="80" name="">
            <a:extLst xmlns:a="http://schemas.openxmlformats.org/drawingml/2006/main">
              <a:ext uri="{FF2B5EF4-FFF2-40B4-BE49-F238E27FC236}">
                <a16:creationId xmlns:a16="http://schemas.microsoft.com/office/drawing/2014/main" id="{F704F9F8-7504-490C-A1F7-EF5BB6C22C11}"/>
              </a:ext>
            </a:extLst>
          </p:cNvPr>
          <p:cNvSpPr>
            <a:spLocks xmlns:a="http://schemas.openxmlformats.org/drawingml/2006/main" noGrp="1"/>
          </p:cNvSpPr>
          <p:nvPr/>
        </p:nvSpPr>
        <p:spPr>
          <a:xfrm xmlns:a="http://schemas.openxmlformats.org/drawingml/2006/main">
            <a:off x="7296150" y="2533650"/>
            <a:ext cx="8572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P-WARN</a:t>
            </a:r>
          </a:p>
        </p:txBody>
      </p:sp>
      <p:sp>
        <p:nvSpPr>
          <p:cNvPr id="81" name="">
            <a:extLst xmlns:a="http://schemas.openxmlformats.org/drawingml/2006/main">
              <a:ext uri="{FF2B5EF4-FFF2-40B4-BE49-F238E27FC236}">
                <a16:creationId xmlns:a16="http://schemas.microsoft.com/office/drawing/2014/main" id="{606C3534-C365-4CB4-AA76-D64D1F1507F8}"/>
              </a:ext>
            </a:extLst>
          </p:cNvPr>
          <p:cNvSpPr>
            <a:spLocks xmlns:a="http://schemas.openxmlformats.org/drawingml/2006/main" noGrp="1"/>
          </p:cNvSpPr>
          <p:nvPr/>
        </p:nvSpPr>
        <p:spPr>
          <a:xfrm xmlns:a="http://schemas.openxmlformats.org/drawingml/2006/main">
            <a:off x="8248650" y="2533650"/>
            <a:ext cx="33909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MEDIUM</a:t>
            </a:r>
          </a:p>
        </p:txBody>
      </p:sp>
      <p:sp>
        <p:nvSpPr>
          <p:cNvPr id="82" name="">
            <a:extLst xmlns:a="http://schemas.openxmlformats.org/drawingml/2006/main">
              <a:ext uri="{FF2B5EF4-FFF2-40B4-BE49-F238E27FC236}">
                <a16:creationId xmlns:a16="http://schemas.microsoft.com/office/drawing/2014/main" id="{96532378-2574-4B76-B62C-69298F7DA1C6}"/>
              </a:ext>
            </a:extLst>
          </p:cNvPr>
          <p:cNvSpPr>
            <a:spLocks xmlns:a="http://schemas.openxmlformats.org/drawingml/2006/main" noGrp="1"/>
          </p:cNvSpPr>
          <p:nvPr/>
        </p:nvSpPr>
        <p:spPr>
          <a:xfrm xmlns:a="http://schemas.openxmlformats.org/drawingml/2006/main">
            <a:off x="381000" y="2752725"/>
            <a:ext cx="11430000" cy="3238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6145B72F-99B9-4496-BAA0-65EB30B0A62F}"/>
              </a:ext>
            </a:extLst>
          </p:cNvPr>
          <p:cNvSpPr>
            <a:spLocks xmlns:a="http://schemas.openxmlformats.org/drawingml/2006/main" noGrp="1"/>
          </p:cNvSpPr>
          <p:nvPr/>
        </p:nvSpPr>
        <p:spPr>
          <a:xfrm xmlns:a="http://schemas.openxmlformats.org/drawingml/2006/main">
            <a:off x="457200" y="2809875"/>
            <a:ext cx="2762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04B3C7"/>
                </a:solidFill>
                <a:latin typeface="Arial"/>
                <a:ea typeface="Arial"/>
                <a:cs typeface="Arial"/>
              </a:defRPr>
            </a:pPr>
            <a:r>
              <a:t>6  Starkenn</a:t>
            </a:r>
          </a:p>
        </p:txBody>
      </p:sp>
      <p:sp>
        <p:nvSpPr>
          <p:cNvPr id="84" name="">
            <a:extLst xmlns:a="http://schemas.openxmlformats.org/drawingml/2006/main">
              <a:ext uri="{FF2B5EF4-FFF2-40B4-BE49-F238E27FC236}">
                <a16:creationId xmlns:a16="http://schemas.microsoft.com/office/drawing/2014/main" id="{409A3641-55FF-4562-AD3B-7C2A35A30955}"/>
              </a:ext>
            </a:extLst>
          </p:cNvPr>
          <p:cNvSpPr>
            <a:spLocks xmlns:a="http://schemas.openxmlformats.org/drawingml/2006/main" noGrp="1"/>
          </p:cNvSpPr>
          <p:nvPr/>
        </p:nvSpPr>
        <p:spPr>
          <a:xfrm xmlns:a="http://schemas.openxmlformats.org/drawingml/2006/main">
            <a:off x="3314700" y="28384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188DADEB-45F5-41C9-A99A-217A896E25BA}"/>
              </a:ext>
            </a:extLst>
          </p:cNvPr>
          <p:cNvSpPr>
            <a:spLocks xmlns:a="http://schemas.openxmlformats.org/drawingml/2006/main" noGrp="1"/>
          </p:cNvSpPr>
          <p:nvPr/>
        </p:nvSpPr>
        <p:spPr>
          <a:xfrm xmlns:a="http://schemas.openxmlformats.org/drawingml/2006/main">
            <a:off x="3314700" y="2838450"/>
            <a:ext cx="21336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375AA456-9443-41FF-9434-B9E211EEE598}"/>
              </a:ext>
            </a:extLst>
          </p:cNvPr>
          <p:cNvSpPr>
            <a:spLocks xmlns:a="http://schemas.openxmlformats.org/drawingml/2006/main" noGrp="1"/>
          </p:cNvSpPr>
          <p:nvPr/>
        </p:nvSpPr>
        <p:spPr>
          <a:xfrm xmlns:a="http://schemas.openxmlformats.org/drawingml/2006/main">
            <a:off x="3905250" y="28003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2</a:t>
            </a:r>
          </a:p>
        </p:txBody>
      </p:sp>
      <p:sp>
        <p:nvSpPr>
          <p:cNvPr id="87" name="">
            <a:extLst xmlns:a="http://schemas.openxmlformats.org/drawingml/2006/main">
              <a:ext uri="{FF2B5EF4-FFF2-40B4-BE49-F238E27FC236}">
                <a16:creationId xmlns:a16="http://schemas.microsoft.com/office/drawing/2014/main" id="{2A1D57AE-65A1-444D-B977-939CBDFF4380}"/>
              </a:ext>
            </a:extLst>
          </p:cNvPr>
          <p:cNvSpPr>
            <a:spLocks xmlns:a="http://schemas.openxmlformats.org/drawingml/2006/main" noGrp="1"/>
          </p:cNvSpPr>
          <p:nvPr/>
        </p:nvSpPr>
        <p:spPr>
          <a:xfrm xmlns:a="http://schemas.openxmlformats.org/drawingml/2006/main">
            <a:off x="4229100" y="28384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D361131D-A069-44EE-A7AE-B303884E8126}"/>
              </a:ext>
            </a:extLst>
          </p:cNvPr>
          <p:cNvSpPr>
            <a:spLocks xmlns:a="http://schemas.openxmlformats.org/drawingml/2006/main" noGrp="1"/>
          </p:cNvSpPr>
          <p:nvPr/>
        </p:nvSpPr>
        <p:spPr>
          <a:xfrm xmlns:a="http://schemas.openxmlformats.org/drawingml/2006/main">
            <a:off x="4229100" y="2838450"/>
            <a:ext cx="42672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07110565-FE49-4AFB-8829-FDA08C104722}"/>
              </a:ext>
            </a:extLst>
          </p:cNvPr>
          <p:cNvSpPr>
            <a:spLocks xmlns:a="http://schemas.openxmlformats.org/drawingml/2006/main" noGrp="1"/>
          </p:cNvSpPr>
          <p:nvPr/>
        </p:nvSpPr>
        <p:spPr>
          <a:xfrm xmlns:a="http://schemas.openxmlformats.org/drawingml/2006/main">
            <a:off x="4819650" y="28003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4</a:t>
            </a:r>
          </a:p>
        </p:txBody>
      </p:sp>
      <p:sp>
        <p:nvSpPr>
          <p:cNvPr id="90" name="">
            <a:extLst xmlns:a="http://schemas.openxmlformats.org/drawingml/2006/main">
              <a:ext uri="{FF2B5EF4-FFF2-40B4-BE49-F238E27FC236}">
                <a16:creationId xmlns:a16="http://schemas.microsoft.com/office/drawing/2014/main" id="{EDD73F51-80C3-49F4-B0AD-241D76DB651C}"/>
              </a:ext>
            </a:extLst>
          </p:cNvPr>
          <p:cNvSpPr>
            <a:spLocks xmlns:a="http://schemas.openxmlformats.org/drawingml/2006/main" noGrp="1"/>
          </p:cNvSpPr>
          <p:nvPr/>
        </p:nvSpPr>
        <p:spPr>
          <a:xfrm xmlns:a="http://schemas.openxmlformats.org/drawingml/2006/main">
            <a:off x="5143500" y="28384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8EADC405-D281-42C7-AD83-2A2B97648B9C}"/>
              </a:ext>
            </a:extLst>
          </p:cNvPr>
          <p:cNvSpPr>
            <a:spLocks xmlns:a="http://schemas.openxmlformats.org/drawingml/2006/main" noGrp="1"/>
          </p:cNvSpPr>
          <p:nvPr/>
        </p:nvSpPr>
        <p:spPr>
          <a:xfrm xmlns:a="http://schemas.openxmlformats.org/drawingml/2006/main">
            <a:off x="5143500" y="2838450"/>
            <a:ext cx="106680" cy="952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D33FE4EF-F8DB-4FE4-BF2A-A0FD7F03014B}"/>
              </a:ext>
            </a:extLst>
          </p:cNvPr>
          <p:cNvSpPr>
            <a:spLocks xmlns:a="http://schemas.openxmlformats.org/drawingml/2006/main" noGrp="1"/>
          </p:cNvSpPr>
          <p:nvPr/>
        </p:nvSpPr>
        <p:spPr>
          <a:xfrm xmlns:a="http://schemas.openxmlformats.org/drawingml/2006/main">
            <a:off x="5734050" y="28003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1</a:t>
            </a:r>
          </a:p>
        </p:txBody>
      </p:sp>
      <p:sp>
        <p:nvSpPr>
          <p:cNvPr id="93" name="">
            <a:extLst xmlns:a="http://schemas.openxmlformats.org/drawingml/2006/main">
              <a:ext uri="{FF2B5EF4-FFF2-40B4-BE49-F238E27FC236}">
                <a16:creationId xmlns:a16="http://schemas.microsoft.com/office/drawing/2014/main" id="{53EBA10E-2452-4693-9ACA-6A28997D9E9F}"/>
              </a:ext>
            </a:extLst>
          </p:cNvPr>
          <p:cNvSpPr>
            <a:spLocks xmlns:a="http://schemas.openxmlformats.org/drawingml/2006/main" noGrp="1"/>
          </p:cNvSpPr>
          <p:nvPr/>
        </p:nvSpPr>
        <p:spPr>
          <a:xfrm xmlns:a="http://schemas.openxmlformats.org/drawingml/2006/main">
            <a:off x="6248400" y="2800350"/>
            <a:ext cx="952500" cy="1714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1200" b="1">
                <a:solidFill>
                  <a:srgbClr val="D7720B"/>
                </a:solidFill>
                <a:latin typeface="Arial"/>
                <a:ea typeface="Arial"/>
                <a:cs typeface="Arial"/>
              </a:defRPr>
            </a:pPr>
            <a:r>
              <a:t>2.25</a:t>
            </a:r>
          </a:p>
        </p:txBody>
      </p:sp>
      <p:sp>
        <p:nvSpPr>
          <p:cNvPr id="94" name="">
            <a:extLst xmlns:a="http://schemas.openxmlformats.org/drawingml/2006/main">
              <a:ext uri="{FF2B5EF4-FFF2-40B4-BE49-F238E27FC236}">
                <a16:creationId xmlns:a16="http://schemas.microsoft.com/office/drawing/2014/main" id="{3992E18F-DF67-497D-8B34-EDA6F76C4225}"/>
              </a:ext>
            </a:extLst>
          </p:cNvPr>
          <p:cNvSpPr>
            <a:spLocks xmlns:a="http://schemas.openxmlformats.org/drawingml/2006/main" noGrp="1"/>
          </p:cNvSpPr>
          <p:nvPr/>
        </p:nvSpPr>
        <p:spPr>
          <a:xfrm xmlns:a="http://schemas.openxmlformats.org/drawingml/2006/main">
            <a:off x="7296150" y="2819400"/>
            <a:ext cx="8572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P-WARN</a:t>
            </a:r>
          </a:p>
        </p:txBody>
      </p:sp>
      <p:sp>
        <p:nvSpPr>
          <p:cNvPr id="95" name="">
            <a:extLst xmlns:a="http://schemas.openxmlformats.org/drawingml/2006/main">
              <a:ext uri="{FF2B5EF4-FFF2-40B4-BE49-F238E27FC236}">
                <a16:creationId xmlns:a16="http://schemas.microsoft.com/office/drawing/2014/main" id="{44855D86-270B-4E0E-BDB0-FE644E1BB90E}"/>
              </a:ext>
            </a:extLst>
          </p:cNvPr>
          <p:cNvSpPr>
            <a:spLocks xmlns:a="http://schemas.openxmlformats.org/drawingml/2006/main" noGrp="1"/>
          </p:cNvSpPr>
          <p:nvPr/>
        </p:nvSpPr>
        <p:spPr>
          <a:xfrm xmlns:a="http://schemas.openxmlformats.org/drawingml/2006/main">
            <a:off x="8248650" y="2819400"/>
            <a:ext cx="33909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MEDIUM</a:t>
            </a:r>
          </a:p>
        </p:txBody>
      </p:sp>
      <p:sp>
        <p:nvSpPr>
          <p:cNvPr id="96" name="">
            <a:extLst xmlns:a="http://schemas.openxmlformats.org/drawingml/2006/main">
              <a:ext uri="{FF2B5EF4-FFF2-40B4-BE49-F238E27FC236}">
                <a16:creationId xmlns:a16="http://schemas.microsoft.com/office/drawing/2014/main" id="{26A5D76D-1F8F-43D8-86B2-1D5F5A952E18}"/>
              </a:ext>
            </a:extLst>
          </p:cNvPr>
          <p:cNvSpPr>
            <a:spLocks xmlns:a="http://schemas.openxmlformats.org/drawingml/2006/main" noGrp="1"/>
          </p:cNvSpPr>
          <p:nvPr/>
        </p:nvSpPr>
        <p:spPr>
          <a:xfrm xmlns:a="http://schemas.openxmlformats.org/drawingml/2006/main">
            <a:off x="457200" y="3095625"/>
            <a:ext cx="2762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7  bitsensing</a:t>
            </a:r>
          </a:p>
        </p:txBody>
      </p:sp>
      <p:sp>
        <p:nvSpPr>
          <p:cNvPr id="97" name="">
            <a:extLst xmlns:a="http://schemas.openxmlformats.org/drawingml/2006/main">
              <a:ext uri="{FF2B5EF4-FFF2-40B4-BE49-F238E27FC236}">
                <a16:creationId xmlns:a16="http://schemas.microsoft.com/office/drawing/2014/main" id="{8B9DBA82-A00B-4A71-9181-C160450CF91A}"/>
              </a:ext>
            </a:extLst>
          </p:cNvPr>
          <p:cNvSpPr>
            <a:spLocks xmlns:a="http://schemas.openxmlformats.org/drawingml/2006/main" noGrp="1"/>
          </p:cNvSpPr>
          <p:nvPr/>
        </p:nvSpPr>
        <p:spPr>
          <a:xfrm xmlns:a="http://schemas.openxmlformats.org/drawingml/2006/main">
            <a:off x="3314700" y="31242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DB5C0FD2-1F53-4069-A627-3DBC6B9F6C68}"/>
              </a:ext>
            </a:extLst>
          </p:cNvPr>
          <p:cNvSpPr>
            <a:spLocks xmlns:a="http://schemas.openxmlformats.org/drawingml/2006/main" noGrp="1"/>
          </p:cNvSpPr>
          <p:nvPr/>
        </p:nvSpPr>
        <p:spPr>
          <a:xfrm xmlns:a="http://schemas.openxmlformats.org/drawingml/2006/main">
            <a:off x="3314700" y="3124200"/>
            <a:ext cx="32004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22C3D214-42AD-43D6-91CA-76E9D140E9F6}"/>
              </a:ext>
            </a:extLst>
          </p:cNvPr>
          <p:cNvSpPr>
            <a:spLocks xmlns:a="http://schemas.openxmlformats.org/drawingml/2006/main" noGrp="1"/>
          </p:cNvSpPr>
          <p:nvPr/>
        </p:nvSpPr>
        <p:spPr>
          <a:xfrm xmlns:a="http://schemas.openxmlformats.org/drawingml/2006/main">
            <a:off x="3905250" y="30861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3</a:t>
            </a:r>
          </a:p>
        </p:txBody>
      </p:sp>
      <p:sp>
        <p:nvSpPr>
          <p:cNvPr id="100" name="">
            <a:extLst xmlns:a="http://schemas.openxmlformats.org/drawingml/2006/main">
              <a:ext uri="{FF2B5EF4-FFF2-40B4-BE49-F238E27FC236}">
                <a16:creationId xmlns:a16="http://schemas.microsoft.com/office/drawing/2014/main" id="{13E37D85-6806-4F61-86D3-6835B2D00444}"/>
              </a:ext>
            </a:extLst>
          </p:cNvPr>
          <p:cNvSpPr>
            <a:spLocks xmlns:a="http://schemas.openxmlformats.org/drawingml/2006/main" noGrp="1"/>
          </p:cNvSpPr>
          <p:nvPr/>
        </p:nvSpPr>
        <p:spPr>
          <a:xfrm xmlns:a="http://schemas.openxmlformats.org/drawingml/2006/main">
            <a:off x="4229100" y="31242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5A9FAF71-A53A-4423-94C3-D4052AD67779}"/>
              </a:ext>
            </a:extLst>
          </p:cNvPr>
          <p:cNvSpPr>
            <a:spLocks xmlns:a="http://schemas.openxmlformats.org/drawingml/2006/main" noGrp="1"/>
          </p:cNvSpPr>
          <p:nvPr/>
        </p:nvSpPr>
        <p:spPr>
          <a:xfrm xmlns:a="http://schemas.openxmlformats.org/drawingml/2006/main">
            <a:off x="4229100" y="3124200"/>
            <a:ext cx="21336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426FB86A-D00C-4A28-9544-2F177B5F0612}"/>
              </a:ext>
            </a:extLst>
          </p:cNvPr>
          <p:cNvSpPr>
            <a:spLocks xmlns:a="http://schemas.openxmlformats.org/drawingml/2006/main" noGrp="1"/>
          </p:cNvSpPr>
          <p:nvPr/>
        </p:nvSpPr>
        <p:spPr>
          <a:xfrm xmlns:a="http://schemas.openxmlformats.org/drawingml/2006/main">
            <a:off x="4819650" y="30861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2</a:t>
            </a:r>
          </a:p>
        </p:txBody>
      </p:sp>
      <p:sp>
        <p:nvSpPr>
          <p:cNvPr id="103" name="">
            <a:extLst xmlns:a="http://schemas.openxmlformats.org/drawingml/2006/main">
              <a:ext uri="{FF2B5EF4-FFF2-40B4-BE49-F238E27FC236}">
                <a16:creationId xmlns:a16="http://schemas.microsoft.com/office/drawing/2014/main" id="{F1D6356D-AFAE-454A-80A4-FDED81E6AD08}"/>
              </a:ext>
            </a:extLst>
          </p:cNvPr>
          <p:cNvSpPr>
            <a:spLocks xmlns:a="http://schemas.openxmlformats.org/drawingml/2006/main" noGrp="1"/>
          </p:cNvSpPr>
          <p:nvPr/>
        </p:nvSpPr>
        <p:spPr>
          <a:xfrm xmlns:a="http://schemas.openxmlformats.org/drawingml/2006/main">
            <a:off x="5143500" y="31242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E16F4899-F500-4F0E-AE44-B9461620112E}"/>
              </a:ext>
            </a:extLst>
          </p:cNvPr>
          <p:cNvSpPr>
            <a:spLocks xmlns:a="http://schemas.openxmlformats.org/drawingml/2006/main" noGrp="1"/>
          </p:cNvSpPr>
          <p:nvPr/>
        </p:nvSpPr>
        <p:spPr>
          <a:xfrm xmlns:a="http://schemas.openxmlformats.org/drawingml/2006/main">
            <a:off x="5143500" y="3124200"/>
            <a:ext cx="213360" cy="952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21462FC7-503E-40BA-8FAF-5F28ECCEE22F}"/>
              </a:ext>
            </a:extLst>
          </p:cNvPr>
          <p:cNvSpPr>
            <a:spLocks xmlns:a="http://schemas.openxmlformats.org/drawingml/2006/main" noGrp="1"/>
          </p:cNvSpPr>
          <p:nvPr/>
        </p:nvSpPr>
        <p:spPr>
          <a:xfrm xmlns:a="http://schemas.openxmlformats.org/drawingml/2006/main">
            <a:off x="5734050" y="30861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2</a:t>
            </a:r>
          </a:p>
        </p:txBody>
      </p:sp>
      <p:sp>
        <p:nvSpPr>
          <p:cNvPr id="106" name="">
            <a:extLst xmlns:a="http://schemas.openxmlformats.org/drawingml/2006/main">
              <a:ext uri="{FF2B5EF4-FFF2-40B4-BE49-F238E27FC236}">
                <a16:creationId xmlns:a16="http://schemas.microsoft.com/office/drawing/2014/main" id="{EC2D836E-03A4-46CB-B8F6-7D9EAE6CF21C}"/>
              </a:ext>
            </a:extLst>
          </p:cNvPr>
          <p:cNvSpPr>
            <a:spLocks xmlns:a="http://schemas.openxmlformats.org/drawingml/2006/main" noGrp="1"/>
          </p:cNvSpPr>
          <p:nvPr/>
        </p:nvSpPr>
        <p:spPr>
          <a:xfrm xmlns:a="http://schemas.openxmlformats.org/drawingml/2006/main">
            <a:off x="6248400" y="3086100"/>
            <a:ext cx="952500" cy="1714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1200" b="1">
                <a:solidFill>
                  <a:srgbClr val="D7720B"/>
                </a:solidFill>
                <a:latin typeface="Arial"/>
                <a:ea typeface="Arial"/>
                <a:cs typeface="Arial"/>
              </a:defRPr>
            </a:pPr>
            <a:r>
              <a:t>2.20</a:t>
            </a:r>
          </a:p>
        </p:txBody>
      </p:sp>
      <p:sp>
        <p:nvSpPr>
          <p:cNvPr id="107" name="">
            <a:extLst xmlns:a="http://schemas.openxmlformats.org/drawingml/2006/main">
              <a:ext uri="{FF2B5EF4-FFF2-40B4-BE49-F238E27FC236}">
                <a16:creationId xmlns:a16="http://schemas.microsoft.com/office/drawing/2014/main" id="{7DEDDB9E-198E-4B90-B1CE-30938F2E6D79}"/>
              </a:ext>
            </a:extLst>
          </p:cNvPr>
          <p:cNvSpPr>
            <a:spLocks xmlns:a="http://schemas.openxmlformats.org/drawingml/2006/main" noGrp="1"/>
          </p:cNvSpPr>
          <p:nvPr/>
        </p:nvSpPr>
        <p:spPr>
          <a:xfrm xmlns:a="http://schemas.openxmlformats.org/drawingml/2006/main">
            <a:off x="7296150" y="3105150"/>
            <a:ext cx="8572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P-WARN</a:t>
            </a:r>
          </a:p>
        </p:txBody>
      </p:sp>
      <p:sp>
        <p:nvSpPr>
          <p:cNvPr id="108" name="">
            <a:extLst xmlns:a="http://schemas.openxmlformats.org/drawingml/2006/main">
              <a:ext uri="{FF2B5EF4-FFF2-40B4-BE49-F238E27FC236}">
                <a16:creationId xmlns:a16="http://schemas.microsoft.com/office/drawing/2014/main" id="{100851AC-9BD3-4CDC-9C8E-1623E514FF0B}"/>
              </a:ext>
            </a:extLst>
          </p:cNvPr>
          <p:cNvSpPr>
            <a:spLocks xmlns:a="http://schemas.openxmlformats.org/drawingml/2006/main" noGrp="1"/>
          </p:cNvSpPr>
          <p:nvPr/>
        </p:nvSpPr>
        <p:spPr>
          <a:xfrm xmlns:a="http://schemas.openxmlformats.org/drawingml/2006/main">
            <a:off x="8248650" y="3105150"/>
            <a:ext cx="33909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MEDIUM</a:t>
            </a:r>
          </a:p>
        </p:txBody>
      </p:sp>
      <p:sp>
        <p:nvSpPr>
          <p:cNvPr id="109" name="">
            <a:extLst xmlns:a="http://schemas.openxmlformats.org/drawingml/2006/main">
              <a:ext uri="{FF2B5EF4-FFF2-40B4-BE49-F238E27FC236}">
                <a16:creationId xmlns:a16="http://schemas.microsoft.com/office/drawing/2014/main" id="{96338DD4-ADB7-429F-ACEE-F6F996601E03}"/>
              </a:ext>
            </a:extLst>
          </p:cNvPr>
          <p:cNvSpPr>
            <a:spLocks xmlns:a="http://schemas.openxmlformats.org/drawingml/2006/main" noGrp="1"/>
          </p:cNvSpPr>
          <p:nvPr/>
        </p:nvSpPr>
        <p:spPr>
          <a:xfrm xmlns:a="http://schemas.openxmlformats.org/drawingml/2006/main">
            <a:off x="457200" y="3381375"/>
            <a:ext cx="2762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8  Netrasemi</a:t>
            </a:r>
          </a:p>
        </p:txBody>
      </p:sp>
      <p:sp>
        <p:nvSpPr>
          <p:cNvPr id="110" name="">
            <a:extLst xmlns:a="http://schemas.openxmlformats.org/drawingml/2006/main">
              <a:ext uri="{FF2B5EF4-FFF2-40B4-BE49-F238E27FC236}">
                <a16:creationId xmlns:a16="http://schemas.microsoft.com/office/drawing/2014/main" id="{79A8A00A-655F-4511-BCD9-C7FAD9ED7B45}"/>
              </a:ext>
            </a:extLst>
          </p:cNvPr>
          <p:cNvSpPr>
            <a:spLocks xmlns:a="http://schemas.openxmlformats.org/drawingml/2006/main" noGrp="1"/>
          </p:cNvSpPr>
          <p:nvPr/>
        </p:nvSpPr>
        <p:spPr>
          <a:xfrm xmlns:a="http://schemas.openxmlformats.org/drawingml/2006/main">
            <a:off x="3314700" y="34099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111" name="">
            <a:extLst xmlns:a="http://schemas.openxmlformats.org/drawingml/2006/main">
              <a:ext uri="{FF2B5EF4-FFF2-40B4-BE49-F238E27FC236}">
                <a16:creationId xmlns:a16="http://schemas.microsoft.com/office/drawing/2014/main" id="{966AD09B-2BDE-4305-9652-1AEE28B7DA3C}"/>
              </a:ext>
            </a:extLst>
          </p:cNvPr>
          <p:cNvSpPr>
            <a:spLocks xmlns:a="http://schemas.openxmlformats.org/drawingml/2006/main" noGrp="1"/>
          </p:cNvSpPr>
          <p:nvPr/>
        </p:nvSpPr>
        <p:spPr>
          <a:xfrm xmlns:a="http://schemas.openxmlformats.org/drawingml/2006/main">
            <a:off x="3314700" y="3409950"/>
            <a:ext cx="21336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233DCB24-B07B-4CBD-8000-D7BF27F98240}"/>
              </a:ext>
            </a:extLst>
          </p:cNvPr>
          <p:cNvSpPr>
            <a:spLocks xmlns:a="http://schemas.openxmlformats.org/drawingml/2006/main" noGrp="1"/>
          </p:cNvSpPr>
          <p:nvPr/>
        </p:nvSpPr>
        <p:spPr>
          <a:xfrm xmlns:a="http://schemas.openxmlformats.org/drawingml/2006/main">
            <a:off x="3905250" y="33718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2</a:t>
            </a:r>
          </a:p>
        </p:txBody>
      </p:sp>
      <p:sp>
        <p:nvSpPr>
          <p:cNvPr id="113" name="">
            <a:extLst xmlns:a="http://schemas.openxmlformats.org/drawingml/2006/main">
              <a:ext uri="{FF2B5EF4-FFF2-40B4-BE49-F238E27FC236}">
                <a16:creationId xmlns:a16="http://schemas.microsoft.com/office/drawing/2014/main" id="{C3986E65-7AAC-4765-9400-93A7D1F42343}"/>
              </a:ext>
            </a:extLst>
          </p:cNvPr>
          <p:cNvSpPr>
            <a:spLocks xmlns:a="http://schemas.openxmlformats.org/drawingml/2006/main" noGrp="1"/>
          </p:cNvSpPr>
          <p:nvPr/>
        </p:nvSpPr>
        <p:spPr>
          <a:xfrm xmlns:a="http://schemas.openxmlformats.org/drawingml/2006/main">
            <a:off x="4229100" y="34099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114" name="">
            <a:extLst xmlns:a="http://schemas.openxmlformats.org/drawingml/2006/main">
              <a:ext uri="{FF2B5EF4-FFF2-40B4-BE49-F238E27FC236}">
                <a16:creationId xmlns:a16="http://schemas.microsoft.com/office/drawing/2014/main" id="{09A94FF3-558B-4730-A298-21ED7257D107}"/>
              </a:ext>
            </a:extLst>
          </p:cNvPr>
          <p:cNvSpPr>
            <a:spLocks xmlns:a="http://schemas.openxmlformats.org/drawingml/2006/main" noGrp="1"/>
          </p:cNvSpPr>
          <p:nvPr/>
        </p:nvSpPr>
        <p:spPr>
          <a:xfrm xmlns:a="http://schemas.openxmlformats.org/drawingml/2006/main">
            <a:off x="4229100" y="3409950"/>
            <a:ext cx="10668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5" name="">
            <a:extLst xmlns:a="http://schemas.openxmlformats.org/drawingml/2006/main">
              <a:ext uri="{FF2B5EF4-FFF2-40B4-BE49-F238E27FC236}">
                <a16:creationId xmlns:a16="http://schemas.microsoft.com/office/drawing/2014/main" id="{A1FE6BC3-268F-47E1-964C-F923B4AACD79}"/>
              </a:ext>
            </a:extLst>
          </p:cNvPr>
          <p:cNvSpPr>
            <a:spLocks xmlns:a="http://schemas.openxmlformats.org/drawingml/2006/main" noGrp="1"/>
          </p:cNvSpPr>
          <p:nvPr/>
        </p:nvSpPr>
        <p:spPr>
          <a:xfrm xmlns:a="http://schemas.openxmlformats.org/drawingml/2006/main">
            <a:off x="4819650" y="33718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1</a:t>
            </a:r>
          </a:p>
        </p:txBody>
      </p:sp>
      <p:sp>
        <p:nvSpPr>
          <p:cNvPr id="116" name="">
            <a:extLst xmlns:a="http://schemas.openxmlformats.org/drawingml/2006/main">
              <a:ext uri="{FF2B5EF4-FFF2-40B4-BE49-F238E27FC236}">
                <a16:creationId xmlns:a16="http://schemas.microsoft.com/office/drawing/2014/main" id="{656CB36D-6093-45DB-8717-CF4ACE8C16D4}"/>
              </a:ext>
            </a:extLst>
          </p:cNvPr>
          <p:cNvSpPr>
            <a:spLocks xmlns:a="http://schemas.openxmlformats.org/drawingml/2006/main" noGrp="1"/>
          </p:cNvSpPr>
          <p:nvPr/>
        </p:nvSpPr>
        <p:spPr>
          <a:xfrm xmlns:a="http://schemas.openxmlformats.org/drawingml/2006/main">
            <a:off x="5143500" y="340995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117" name="">
            <a:extLst xmlns:a="http://schemas.openxmlformats.org/drawingml/2006/main">
              <a:ext uri="{FF2B5EF4-FFF2-40B4-BE49-F238E27FC236}">
                <a16:creationId xmlns:a16="http://schemas.microsoft.com/office/drawing/2014/main" id="{8E06B52B-0D61-4CE4-8FB3-A8A6B8D0AC7A}"/>
              </a:ext>
            </a:extLst>
          </p:cNvPr>
          <p:cNvSpPr>
            <a:spLocks xmlns:a="http://schemas.openxmlformats.org/drawingml/2006/main" noGrp="1"/>
          </p:cNvSpPr>
          <p:nvPr/>
        </p:nvSpPr>
        <p:spPr>
          <a:xfrm xmlns:a="http://schemas.openxmlformats.org/drawingml/2006/main">
            <a:off x="5143500" y="3409950"/>
            <a:ext cx="21336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18" name="">
            <a:extLst xmlns:a="http://schemas.openxmlformats.org/drawingml/2006/main">
              <a:ext uri="{FF2B5EF4-FFF2-40B4-BE49-F238E27FC236}">
                <a16:creationId xmlns:a16="http://schemas.microsoft.com/office/drawing/2014/main" id="{0CBBDE08-3EBE-477D-96EB-619D0CC8F651}"/>
              </a:ext>
            </a:extLst>
          </p:cNvPr>
          <p:cNvSpPr>
            <a:spLocks xmlns:a="http://schemas.openxmlformats.org/drawingml/2006/main" noGrp="1"/>
          </p:cNvSpPr>
          <p:nvPr/>
        </p:nvSpPr>
        <p:spPr>
          <a:xfrm xmlns:a="http://schemas.openxmlformats.org/drawingml/2006/main">
            <a:off x="5734050" y="337185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2</a:t>
            </a:r>
          </a:p>
        </p:txBody>
      </p:sp>
      <p:sp>
        <p:nvSpPr>
          <p:cNvPr id="119" name="">
            <a:extLst xmlns:a="http://schemas.openxmlformats.org/drawingml/2006/main">
              <a:ext uri="{FF2B5EF4-FFF2-40B4-BE49-F238E27FC236}">
                <a16:creationId xmlns:a16="http://schemas.microsoft.com/office/drawing/2014/main" id="{AF0ADE38-EF6A-4C46-B829-674D588AEBE7}"/>
              </a:ext>
            </a:extLst>
          </p:cNvPr>
          <p:cNvSpPr>
            <a:spLocks xmlns:a="http://schemas.openxmlformats.org/drawingml/2006/main" noGrp="1"/>
          </p:cNvSpPr>
          <p:nvPr/>
        </p:nvSpPr>
        <p:spPr>
          <a:xfrm xmlns:a="http://schemas.openxmlformats.org/drawingml/2006/main">
            <a:off x="6248400" y="3371850"/>
            <a:ext cx="952500" cy="1714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1200" b="1">
                <a:solidFill>
                  <a:srgbClr val="04B3C7"/>
                </a:solidFill>
                <a:latin typeface="Arial"/>
                <a:ea typeface="Arial"/>
                <a:cs typeface="Arial"/>
              </a:defRPr>
            </a:pPr>
            <a:r>
              <a:t>1.65</a:t>
            </a:r>
          </a:p>
        </p:txBody>
      </p:sp>
      <p:sp>
        <p:nvSpPr>
          <p:cNvPr id="120" name="">
            <a:extLst xmlns:a="http://schemas.openxmlformats.org/drawingml/2006/main">
              <a:ext uri="{FF2B5EF4-FFF2-40B4-BE49-F238E27FC236}">
                <a16:creationId xmlns:a16="http://schemas.microsoft.com/office/drawing/2014/main" id="{2F578421-968E-4FE6-8A0D-FBE96894E980}"/>
              </a:ext>
            </a:extLst>
          </p:cNvPr>
          <p:cNvSpPr>
            <a:spLocks xmlns:a="http://schemas.openxmlformats.org/drawingml/2006/main" noGrp="1"/>
          </p:cNvSpPr>
          <p:nvPr/>
        </p:nvSpPr>
        <p:spPr>
          <a:xfrm xmlns:a="http://schemas.openxmlformats.org/drawingml/2006/main">
            <a:off x="7296150" y="3390900"/>
            <a:ext cx="8572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P-ADJ</a:t>
            </a:r>
          </a:p>
        </p:txBody>
      </p:sp>
      <p:sp>
        <p:nvSpPr>
          <p:cNvPr id="121" name="">
            <a:extLst xmlns:a="http://schemas.openxmlformats.org/drawingml/2006/main">
              <a:ext uri="{FF2B5EF4-FFF2-40B4-BE49-F238E27FC236}">
                <a16:creationId xmlns:a16="http://schemas.microsoft.com/office/drawing/2014/main" id="{C2E1A3D2-A350-4C0C-B8BE-C9E2DD015130}"/>
              </a:ext>
            </a:extLst>
          </p:cNvPr>
          <p:cNvSpPr>
            <a:spLocks xmlns:a="http://schemas.openxmlformats.org/drawingml/2006/main" noGrp="1"/>
          </p:cNvSpPr>
          <p:nvPr/>
        </p:nvSpPr>
        <p:spPr>
          <a:xfrm xmlns:a="http://schemas.openxmlformats.org/drawingml/2006/main">
            <a:off x="8248650" y="3390900"/>
            <a:ext cx="33909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MEDIUM</a:t>
            </a:r>
          </a:p>
        </p:txBody>
      </p:sp>
      <p:sp>
        <p:nvSpPr>
          <p:cNvPr id="122" name="">
            <a:extLst xmlns:a="http://schemas.openxmlformats.org/drawingml/2006/main">
              <a:ext uri="{FF2B5EF4-FFF2-40B4-BE49-F238E27FC236}">
                <a16:creationId xmlns:a16="http://schemas.microsoft.com/office/drawing/2014/main" id="{8D962018-4E25-4FA2-BFCB-37FE40EA2B48}"/>
              </a:ext>
            </a:extLst>
          </p:cNvPr>
          <p:cNvSpPr>
            <a:spLocks xmlns:a="http://schemas.openxmlformats.org/drawingml/2006/main" noGrp="1"/>
          </p:cNvSpPr>
          <p:nvPr/>
        </p:nvSpPr>
        <p:spPr>
          <a:xfrm xmlns:a="http://schemas.openxmlformats.org/drawingml/2006/main">
            <a:off x="457200" y="3667125"/>
            <a:ext cx="276225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9  Gahan AI</a:t>
            </a:r>
          </a:p>
        </p:txBody>
      </p:sp>
      <p:sp>
        <p:nvSpPr>
          <p:cNvPr id="123" name="">
            <a:extLst xmlns:a="http://schemas.openxmlformats.org/drawingml/2006/main">
              <a:ext uri="{FF2B5EF4-FFF2-40B4-BE49-F238E27FC236}">
                <a16:creationId xmlns:a16="http://schemas.microsoft.com/office/drawing/2014/main" id="{48CF2371-C622-47D6-80EA-1CA88527D03F}"/>
              </a:ext>
            </a:extLst>
          </p:cNvPr>
          <p:cNvSpPr>
            <a:spLocks xmlns:a="http://schemas.openxmlformats.org/drawingml/2006/main" noGrp="1"/>
          </p:cNvSpPr>
          <p:nvPr/>
        </p:nvSpPr>
        <p:spPr>
          <a:xfrm xmlns:a="http://schemas.openxmlformats.org/drawingml/2006/main">
            <a:off x="3314700" y="36957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124" name="">
            <a:extLst xmlns:a="http://schemas.openxmlformats.org/drawingml/2006/main">
              <a:ext uri="{FF2B5EF4-FFF2-40B4-BE49-F238E27FC236}">
                <a16:creationId xmlns:a16="http://schemas.microsoft.com/office/drawing/2014/main" id="{E65C95C5-3F76-46B1-ADDD-676FA7485E36}"/>
              </a:ext>
            </a:extLst>
          </p:cNvPr>
          <p:cNvSpPr>
            <a:spLocks xmlns:a="http://schemas.openxmlformats.org/drawingml/2006/main" noGrp="1"/>
          </p:cNvSpPr>
          <p:nvPr/>
        </p:nvSpPr>
        <p:spPr>
          <a:xfrm xmlns:a="http://schemas.openxmlformats.org/drawingml/2006/main">
            <a:off x="3314700" y="3695700"/>
            <a:ext cx="10668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25" name="">
            <a:extLst xmlns:a="http://schemas.openxmlformats.org/drawingml/2006/main">
              <a:ext uri="{FF2B5EF4-FFF2-40B4-BE49-F238E27FC236}">
                <a16:creationId xmlns:a16="http://schemas.microsoft.com/office/drawing/2014/main" id="{CEBB3D34-F935-45ED-8607-DABC56327A79}"/>
              </a:ext>
            </a:extLst>
          </p:cNvPr>
          <p:cNvSpPr>
            <a:spLocks xmlns:a="http://schemas.openxmlformats.org/drawingml/2006/main" noGrp="1"/>
          </p:cNvSpPr>
          <p:nvPr/>
        </p:nvSpPr>
        <p:spPr>
          <a:xfrm xmlns:a="http://schemas.openxmlformats.org/drawingml/2006/main">
            <a:off x="3905250" y="36576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1</a:t>
            </a:r>
          </a:p>
        </p:txBody>
      </p:sp>
      <p:sp>
        <p:nvSpPr>
          <p:cNvPr id="126" name="">
            <a:extLst xmlns:a="http://schemas.openxmlformats.org/drawingml/2006/main">
              <a:ext uri="{FF2B5EF4-FFF2-40B4-BE49-F238E27FC236}">
                <a16:creationId xmlns:a16="http://schemas.microsoft.com/office/drawing/2014/main" id="{C09FA35C-0B89-4927-A5CE-36CD9C4C894D}"/>
              </a:ext>
            </a:extLst>
          </p:cNvPr>
          <p:cNvSpPr>
            <a:spLocks xmlns:a="http://schemas.openxmlformats.org/drawingml/2006/main" noGrp="1"/>
          </p:cNvSpPr>
          <p:nvPr/>
        </p:nvSpPr>
        <p:spPr>
          <a:xfrm xmlns:a="http://schemas.openxmlformats.org/drawingml/2006/main">
            <a:off x="4229100" y="36957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127" name="">
            <a:extLst xmlns:a="http://schemas.openxmlformats.org/drawingml/2006/main">
              <a:ext uri="{FF2B5EF4-FFF2-40B4-BE49-F238E27FC236}">
                <a16:creationId xmlns:a16="http://schemas.microsoft.com/office/drawing/2014/main" id="{2D1FCB12-8D9A-46D5-8622-7781956C6460}"/>
              </a:ext>
            </a:extLst>
          </p:cNvPr>
          <p:cNvSpPr>
            <a:spLocks xmlns:a="http://schemas.openxmlformats.org/drawingml/2006/main" noGrp="1"/>
          </p:cNvSpPr>
          <p:nvPr/>
        </p:nvSpPr>
        <p:spPr>
          <a:xfrm xmlns:a="http://schemas.openxmlformats.org/drawingml/2006/main">
            <a:off x="4229100" y="3695700"/>
            <a:ext cx="10668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28" name="">
            <a:extLst xmlns:a="http://schemas.openxmlformats.org/drawingml/2006/main">
              <a:ext uri="{FF2B5EF4-FFF2-40B4-BE49-F238E27FC236}">
                <a16:creationId xmlns:a16="http://schemas.microsoft.com/office/drawing/2014/main" id="{13869E8C-0B3E-4B79-8FDA-416B50FA43B2}"/>
              </a:ext>
            </a:extLst>
          </p:cNvPr>
          <p:cNvSpPr>
            <a:spLocks xmlns:a="http://schemas.openxmlformats.org/drawingml/2006/main" noGrp="1"/>
          </p:cNvSpPr>
          <p:nvPr/>
        </p:nvSpPr>
        <p:spPr>
          <a:xfrm xmlns:a="http://schemas.openxmlformats.org/drawingml/2006/main">
            <a:off x="4819650" y="36576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1</a:t>
            </a:r>
          </a:p>
        </p:txBody>
      </p:sp>
      <p:sp>
        <p:nvSpPr>
          <p:cNvPr id="129" name="">
            <a:extLst xmlns:a="http://schemas.openxmlformats.org/drawingml/2006/main">
              <a:ext uri="{FF2B5EF4-FFF2-40B4-BE49-F238E27FC236}">
                <a16:creationId xmlns:a16="http://schemas.microsoft.com/office/drawing/2014/main" id="{156F4EE3-385B-48F5-94D5-C6F12E3C1D6A}"/>
              </a:ext>
            </a:extLst>
          </p:cNvPr>
          <p:cNvSpPr>
            <a:spLocks xmlns:a="http://schemas.openxmlformats.org/drawingml/2006/main" noGrp="1"/>
          </p:cNvSpPr>
          <p:nvPr/>
        </p:nvSpPr>
        <p:spPr>
          <a:xfrm xmlns:a="http://schemas.openxmlformats.org/drawingml/2006/main">
            <a:off x="5143500" y="3695700"/>
            <a:ext cx="533400" cy="95250"/>
          </a:xfrm>
          <a:prstGeom xmlns:a="http://schemas.openxmlformats.org/drawingml/2006/main" prst="rect">
            <a:avLst/>
          </a:prstGeom>
          <a:solidFill xmlns:a="http://schemas.openxmlformats.org/drawingml/2006/main">
            <a:srgbClr val="16243A"/>
          </a:solidFill>
          <a:ln xmlns:a="http://schemas.openxmlformats.org/drawingml/2006/main" w="0">
            <a:noFill/>
            <a:prstDash val="solid"/>
          </a:ln>
        </p:spPr>
      </p:sp>
      <p:sp>
        <p:nvSpPr>
          <p:cNvPr id="130" name="">
            <a:extLst xmlns:a="http://schemas.openxmlformats.org/drawingml/2006/main">
              <a:ext uri="{FF2B5EF4-FFF2-40B4-BE49-F238E27FC236}">
                <a16:creationId xmlns:a16="http://schemas.microsoft.com/office/drawing/2014/main" id="{C59DD68E-D9AB-49E8-9896-F29A9FDD543B}"/>
              </a:ext>
            </a:extLst>
          </p:cNvPr>
          <p:cNvSpPr>
            <a:spLocks xmlns:a="http://schemas.openxmlformats.org/drawingml/2006/main" noGrp="1"/>
          </p:cNvSpPr>
          <p:nvPr/>
        </p:nvSpPr>
        <p:spPr>
          <a:xfrm xmlns:a="http://schemas.openxmlformats.org/drawingml/2006/main">
            <a:off x="5143500" y="3695700"/>
            <a:ext cx="106680" cy="952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31" name="">
            <a:extLst xmlns:a="http://schemas.openxmlformats.org/drawingml/2006/main">
              <a:ext uri="{FF2B5EF4-FFF2-40B4-BE49-F238E27FC236}">
                <a16:creationId xmlns:a16="http://schemas.microsoft.com/office/drawing/2014/main" id="{4DDFFF87-92E1-4C49-AFDC-4C5AF07BA65D}"/>
              </a:ext>
            </a:extLst>
          </p:cNvPr>
          <p:cNvSpPr>
            <a:spLocks xmlns:a="http://schemas.openxmlformats.org/drawingml/2006/main" noGrp="1"/>
          </p:cNvSpPr>
          <p:nvPr/>
        </p:nvSpPr>
        <p:spPr>
          <a:xfrm xmlns:a="http://schemas.openxmlformats.org/drawingml/2006/main">
            <a:off x="5734050" y="3657600"/>
            <a:ext cx="190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1</a:t>
            </a:r>
          </a:p>
        </p:txBody>
      </p:sp>
      <p:sp>
        <p:nvSpPr>
          <p:cNvPr id="132" name="">
            <a:extLst xmlns:a="http://schemas.openxmlformats.org/drawingml/2006/main">
              <a:ext uri="{FF2B5EF4-FFF2-40B4-BE49-F238E27FC236}">
                <a16:creationId xmlns:a16="http://schemas.microsoft.com/office/drawing/2014/main" id="{D839E047-6E57-4DC4-B7C4-87C214C96054}"/>
              </a:ext>
            </a:extLst>
          </p:cNvPr>
          <p:cNvSpPr>
            <a:spLocks xmlns:a="http://schemas.openxmlformats.org/drawingml/2006/main" noGrp="1"/>
          </p:cNvSpPr>
          <p:nvPr/>
        </p:nvSpPr>
        <p:spPr>
          <a:xfrm xmlns:a="http://schemas.openxmlformats.org/drawingml/2006/main">
            <a:off x="6248400" y="3657600"/>
            <a:ext cx="952500" cy="1714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1200" b="1">
                <a:solidFill>
                  <a:srgbClr val="04B3C7"/>
                </a:solidFill>
                <a:latin typeface="Arial"/>
                <a:ea typeface="Arial"/>
                <a:cs typeface="Arial"/>
              </a:defRPr>
            </a:pPr>
            <a:r>
              <a:t>1.00</a:t>
            </a:r>
          </a:p>
        </p:txBody>
      </p:sp>
      <p:sp>
        <p:nvSpPr>
          <p:cNvPr id="133" name="">
            <a:extLst xmlns:a="http://schemas.openxmlformats.org/drawingml/2006/main">
              <a:ext uri="{FF2B5EF4-FFF2-40B4-BE49-F238E27FC236}">
                <a16:creationId xmlns:a16="http://schemas.microsoft.com/office/drawing/2014/main" id="{61A4300B-7AA4-484A-B9B6-9C167E4A19AE}"/>
              </a:ext>
            </a:extLst>
          </p:cNvPr>
          <p:cNvSpPr>
            <a:spLocks xmlns:a="http://schemas.openxmlformats.org/drawingml/2006/main" noGrp="1"/>
          </p:cNvSpPr>
          <p:nvPr/>
        </p:nvSpPr>
        <p:spPr>
          <a:xfrm xmlns:a="http://schemas.openxmlformats.org/drawingml/2006/main">
            <a:off x="7296150" y="3676650"/>
            <a:ext cx="8572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P-ADJ</a:t>
            </a:r>
          </a:p>
        </p:txBody>
      </p:sp>
      <p:sp>
        <p:nvSpPr>
          <p:cNvPr id="134" name="">
            <a:extLst xmlns:a="http://schemas.openxmlformats.org/drawingml/2006/main">
              <a:ext uri="{FF2B5EF4-FFF2-40B4-BE49-F238E27FC236}">
                <a16:creationId xmlns:a16="http://schemas.microsoft.com/office/drawing/2014/main" id="{3018E031-9670-47A8-8760-69204FBE13F2}"/>
              </a:ext>
            </a:extLst>
          </p:cNvPr>
          <p:cNvSpPr>
            <a:spLocks xmlns:a="http://schemas.openxmlformats.org/drawingml/2006/main" noGrp="1"/>
          </p:cNvSpPr>
          <p:nvPr/>
        </p:nvSpPr>
        <p:spPr>
          <a:xfrm xmlns:a="http://schemas.openxmlformats.org/drawingml/2006/main">
            <a:off x="8248650" y="3676650"/>
            <a:ext cx="33909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E06767"/>
                </a:solidFill>
                <a:latin typeface="Arial"/>
                <a:ea typeface="Arial"/>
                <a:cs typeface="Arial"/>
              </a:defRPr>
            </a:pPr>
            <a:r>
              <a:t>LOW</a:t>
            </a:r>
          </a:p>
        </p:txBody>
      </p:sp>
      <p:sp>
        <p:nvSpPr>
          <p:cNvPr id="135" name="">
            <a:extLst xmlns:a="http://schemas.openxmlformats.org/drawingml/2006/main">
              <a:ext uri="{FF2B5EF4-FFF2-40B4-BE49-F238E27FC236}">
                <a16:creationId xmlns:a16="http://schemas.microsoft.com/office/drawing/2014/main" id="{561009FE-45FE-4BC0-9F05-AC26BF7AEB0D}"/>
              </a:ext>
            </a:extLst>
          </p:cNvPr>
          <p:cNvSpPr>
            <a:spLocks xmlns:a="http://schemas.openxmlformats.org/drawingml/2006/main" noGrp="1"/>
          </p:cNvSpPr>
          <p:nvPr/>
        </p:nvSpPr>
        <p:spPr>
          <a:xfrm xmlns:a="http://schemas.openxmlformats.org/drawingml/2006/main">
            <a:off x="457200" y="401002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36" name="">
            <a:extLst xmlns:a="http://schemas.openxmlformats.org/drawingml/2006/main">
              <a:ext uri="{FF2B5EF4-FFF2-40B4-BE49-F238E27FC236}">
                <a16:creationId xmlns:a16="http://schemas.microsoft.com/office/drawing/2014/main" id="{1FC960B9-4ACC-4B82-A64B-EB85EFA6E732}"/>
              </a:ext>
            </a:extLst>
          </p:cNvPr>
          <p:cNvSpPr>
            <a:spLocks xmlns:a="http://schemas.openxmlformats.org/drawingml/2006/main" noGrp="1"/>
          </p:cNvSpPr>
          <p:nvPr/>
        </p:nvSpPr>
        <p:spPr>
          <a:xfrm xmlns:a="http://schemas.openxmlformats.org/drawingml/2006/main">
            <a:off x="457200" y="4124325"/>
            <a:ext cx="2857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WHAT MOVED</a:t>
            </a:r>
          </a:p>
        </p:txBody>
      </p:sp>
      <p:sp>
        <p:nvSpPr>
          <p:cNvPr id="137" name="">
            <a:extLst xmlns:a="http://schemas.openxmlformats.org/drawingml/2006/main">
              <a:ext uri="{FF2B5EF4-FFF2-40B4-BE49-F238E27FC236}">
                <a16:creationId xmlns:a16="http://schemas.microsoft.com/office/drawing/2014/main" id="{39AEF514-CA4F-419D-BB5F-0C0CD8A2D4A1}"/>
              </a:ext>
            </a:extLst>
          </p:cNvPr>
          <p:cNvSpPr>
            <a:spLocks xmlns:a="http://schemas.openxmlformats.org/drawingml/2006/main" noGrp="1"/>
          </p:cNvSpPr>
          <p:nvPr/>
        </p:nvSpPr>
        <p:spPr>
          <a:xfrm xmlns:a="http://schemas.openxmlformats.org/drawingml/2006/main">
            <a:off x="457200" y="4314825"/>
            <a:ext cx="3683000"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38" name="">
            <a:extLst xmlns:a="http://schemas.openxmlformats.org/drawingml/2006/main">
              <a:ext uri="{FF2B5EF4-FFF2-40B4-BE49-F238E27FC236}">
                <a16:creationId xmlns:a16="http://schemas.microsoft.com/office/drawing/2014/main" id="{E58F3658-9DC9-4EFF-98AE-18196A6AA5C8}"/>
              </a:ext>
            </a:extLst>
          </p:cNvPr>
          <p:cNvSpPr>
            <a:spLocks xmlns:a="http://schemas.openxmlformats.org/drawingml/2006/main" noGrp="1"/>
          </p:cNvSpPr>
          <p:nvPr/>
        </p:nvSpPr>
        <p:spPr>
          <a:xfrm xmlns:a="http://schemas.openxmlformats.org/drawingml/2006/main">
            <a:off x="457200" y="4410075"/>
            <a:ext cx="368300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Starkenn</a:t>
            </a:r>
          </a:p>
        </p:txBody>
      </p:sp>
      <p:sp>
        <p:nvSpPr>
          <p:cNvPr id="139" name="">
            <a:extLst xmlns:a="http://schemas.openxmlformats.org/drawingml/2006/main">
              <a:ext uri="{FF2B5EF4-FFF2-40B4-BE49-F238E27FC236}">
                <a16:creationId xmlns:a16="http://schemas.microsoft.com/office/drawing/2014/main" id="{61646AF2-7231-4A9E-B8D1-70958A87CE02}"/>
              </a:ext>
            </a:extLst>
          </p:cNvPr>
          <p:cNvSpPr>
            <a:spLocks xmlns:a="http://schemas.openxmlformats.org/drawingml/2006/main" noGrp="1"/>
          </p:cNvSpPr>
          <p:nvPr/>
        </p:nvSpPr>
        <p:spPr>
          <a:xfrm xmlns:a="http://schemas.openxmlformats.org/drawingml/2006/main">
            <a:off x="457200" y="4572000"/>
            <a:ext cx="3683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1st war-room threat → 6th</a:t>
            </a:r>
          </a:p>
        </p:txBody>
      </p:sp>
      <p:sp>
        <p:nvSpPr>
          <p:cNvPr id="140" name="">
            <a:extLst xmlns:a="http://schemas.openxmlformats.org/drawingml/2006/main">
              <a:ext uri="{FF2B5EF4-FFF2-40B4-BE49-F238E27FC236}">
                <a16:creationId xmlns:a16="http://schemas.microsoft.com/office/drawing/2014/main" id="{E76B1862-8D07-4338-AF88-B5D7D6347849}"/>
              </a:ext>
            </a:extLst>
          </p:cNvPr>
          <p:cNvSpPr>
            <a:spLocks xmlns:a="http://schemas.openxmlformats.org/drawingml/2006/main" noGrp="1"/>
          </p:cNvSpPr>
          <p:nvPr/>
        </p:nvSpPr>
        <p:spPr>
          <a:xfrm xmlns:a="http://schemas.openxmlformats.org/drawingml/2006/main">
            <a:off x="457200" y="4733925"/>
            <a:ext cx="36068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Execution falls to 2 — the deployment count cannot be stated and the company is 57 people shrinking 15.8%. Buyer access HOLDS at 4: the 30% tender share is the durable fact.</a:t>
            </a:r>
          </a:p>
        </p:txBody>
      </p:sp>
      <p:sp>
        <p:nvSpPr>
          <p:cNvPr id="141" name="">
            <a:extLst xmlns:a="http://schemas.openxmlformats.org/drawingml/2006/main">
              <a:ext uri="{FF2B5EF4-FFF2-40B4-BE49-F238E27FC236}">
                <a16:creationId xmlns:a16="http://schemas.microsoft.com/office/drawing/2014/main" id="{BC08B540-FEFB-415A-B27C-56E55DE320B7}"/>
              </a:ext>
            </a:extLst>
          </p:cNvPr>
          <p:cNvSpPr>
            <a:spLocks xmlns:a="http://schemas.openxmlformats.org/drawingml/2006/main" noGrp="1"/>
          </p:cNvSpPr>
          <p:nvPr/>
        </p:nvSpPr>
        <p:spPr>
          <a:xfrm xmlns:a="http://schemas.openxmlformats.org/drawingml/2006/main">
            <a:off x="4254500" y="4314825"/>
            <a:ext cx="3683000"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42" name="">
            <a:extLst xmlns:a="http://schemas.openxmlformats.org/drawingml/2006/main">
              <a:ext uri="{FF2B5EF4-FFF2-40B4-BE49-F238E27FC236}">
                <a16:creationId xmlns:a16="http://schemas.microsoft.com/office/drawing/2014/main" id="{223F3699-2D23-4A2F-A0DF-6D4B040BA325}"/>
              </a:ext>
            </a:extLst>
          </p:cNvPr>
          <p:cNvSpPr>
            <a:spLocks xmlns:a="http://schemas.openxmlformats.org/drawingml/2006/main" noGrp="1"/>
          </p:cNvSpPr>
          <p:nvPr/>
        </p:nvSpPr>
        <p:spPr>
          <a:xfrm xmlns:a="http://schemas.openxmlformats.org/drawingml/2006/main">
            <a:off x="4254500" y="4410075"/>
            <a:ext cx="368300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STRADVISION</a:t>
            </a:r>
          </a:p>
        </p:txBody>
      </p:sp>
      <p:sp>
        <p:nvSpPr>
          <p:cNvPr id="143" name="">
            <a:extLst xmlns:a="http://schemas.openxmlformats.org/drawingml/2006/main">
              <a:ext uri="{FF2B5EF4-FFF2-40B4-BE49-F238E27FC236}">
                <a16:creationId xmlns:a16="http://schemas.microsoft.com/office/drawing/2014/main" id="{EC66F903-A4F0-44A4-B233-142C864DE4E0}"/>
              </a:ext>
            </a:extLst>
          </p:cNvPr>
          <p:cNvSpPr>
            <a:spLocks xmlns:a="http://schemas.openxmlformats.org/drawingml/2006/main" noGrp="1"/>
          </p:cNvSpPr>
          <p:nvPr/>
        </p:nvSpPr>
        <p:spPr>
          <a:xfrm xmlns:a="http://schemas.openxmlformats.org/drawingml/2006/main">
            <a:off x="4254500" y="4572000"/>
            <a:ext cx="3683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absent from the matrix → 3rd</a:t>
            </a:r>
          </a:p>
        </p:txBody>
      </p:sp>
      <p:sp>
        <p:nvSpPr>
          <p:cNvPr id="144" name="">
            <a:extLst xmlns:a="http://schemas.openxmlformats.org/drawingml/2006/main">
              <a:ext uri="{FF2B5EF4-FFF2-40B4-BE49-F238E27FC236}">
                <a16:creationId xmlns:a16="http://schemas.microsoft.com/office/drawing/2014/main" id="{7A23132D-4387-45E6-8C35-3C864846556B}"/>
              </a:ext>
            </a:extLst>
          </p:cNvPr>
          <p:cNvSpPr>
            <a:spLocks xmlns:a="http://schemas.openxmlformats.org/drawingml/2006/main" noGrp="1"/>
          </p:cNvSpPr>
          <p:nvPr/>
        </p:nvSpPr>
        <p:spPr>
          <a:xfrm xmlns:a="http://schemas.openxmlformats.org/drawingml/2006/main">
            <a:off x="4254500" y="4733925"/>
            <a:ext cx="36068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Holds the slot DeepGrid is bidding for, inside the winning stack, with the ISO 26262 DeepGrid lacks.</a:t>
            </a:r>
          </a:p>
        </p:txBody>
      </p:sp>
      <p:sp>
        <p:nvSpPr>
          <p:cNvPr id="145" name="">
            <a:extLst xmlns:a="http://schemas.openxmlformats.org/drawingml/2006/main">
              <a:ext uri="{FF2B5EF4-FFF2-40B4-BE49-F238E27FC236}">
                <a16:creationId xmlns:a16="http://schemas.microsoft.com/office/drawing/2014/main" id="{95BC256A-C7ED-4095-8661-C9C6D7EE9131}"/>
              </a:ext>
            </a:extLst>
          </p:cNvPr>
          <p:cNvSpPr>
            <a:spLocks xmlns:a="http://schemas.openxmlformats.org/drawingml/2006/main" noGrp="1"/>
          </p:cNvSpPr>
          <p:nvPr/>
        </p:nvSpPr>
        <p:spPr>
          <a:xfrm xmlns:a="http://schemas.openxmlformats.org/drawingml/2006/main">
            <a:off x="8051800" y="4314825"/>
            <a:ext cx="368300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46" name="">
            <a:extLst xmlns:a="http://schemas.openxmlformats.org/drawingml/2006/main">
              <a:ext uri="{FF2B5EF4-FFF2-40B4-BE49-F238E27FC236}">
                <a16:creationId xmlns:a16="http://schemas.microsoft.com/office/drawing/2014/main" id="{B11285C1-47A7-467D-ABF5-1CBC99772E9B}"/>
              </a:ext>
            </a:extLst>
          </p:cNvPr>
          <p:cNvSpPr>
            <a:spLocks xmlns:a="http://schemas.openxmlformats.org/drawingml/2006/main" noGrp="1"/>
          </p:cNvSpPr>
          <p:nvPr/>
        </p:nvSpPr>
        <p:spPr>
          <a:xfrm xmlns:a="http://schemas.openxmlformats.org/drawingml/2006/main">
            <a:off x="8051800" y="4410075"/>
            <a:ext cx="368300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drivebuddyAI</a:t>
            </a:r>
          </a:p>
        </p:txBody>
      </p:sp>
      <p:sp>
        <p:nvSpPr>
          <p:cNvPr id="147" name="">
            <a:extLst xmlns:a="http://schemas.openxmlformats.org/drawingml/2006/main">
              <a:ext uri="{FF2B5EF4-FFF2-40B4-BE49-F238E27FC236}">
                <a16:creationId xmlns:a16="http://schemas.microsoft.com/office/drawing/2014/main" id="{E55EFB19-7F65-4A8F-8E4B-B72C8FFC327E}"/>
              </a:ext>
            </a:extLst>
          </p:cNvPr>
          <p:cNvSpPr>
            <a:spLocks xmlns:a="http://schemas.openxmlformats.org/drawingml/2006/main" noGrp="1"/>
          </p:cNvSpPr>
          <p:nvPr/>
        </p:nvSpPr>
        <p:spPr>
          <a:xfrm xmlns:a="http://schemas.openxmlformats.org/drawingml/2006/main">
            <a:off x="8051800" y="4572000"/>
            <a:ext cx="3683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high generally → split by arena</a:t>
            </a:r>
          </a:p>
        </p:txBody>
      </p:sp>
      <p:sp>
        <p:nvSpPr>
          <p:cNvPr id="148" name="">
            <a:extLst xmlns:a="http://schemas.openxmlformats.org/drawingml/2006/main">
              <a:ext uri="{FF2B5EF4-FFF2-40B4-BE49-F238E27FC236}">
                <a16:creationId xmlns:a16="http://schemas.microsoft.com/office/drawing/2014/main" id="{FBE76FF4-82D2-49AF-B644-1F2B26A38F36}"/>
              </a:ext>
            </a:extLst>
          </p:cNvPr>
          <p:cNvSpPr>
            <a:spLocks xmlns:a="http://schemas.openxmlformats.org/drawingml/2006/main" noGrp="1"/>
          </p:cNvSpPr>
          <p:nvPr/>
        </p:nvSpPr>
        <p:spPr>
          <a:xfrm xmlns:a="http://schemas.openxmlformats.org/drawingml/2006/main">
            <a:off x="8051800" y="4733925"/>
            <a:ext cx="36068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High in retrofit, structurally excluded from the mandate: camera-only, no brake actuation.</a:t>
            </a:r>
          </a:p>
        </p:txBody>
      </p:sp>
      <p:sp>
        <p:nvSpPr>
          <p:cNvPr id="149" name="">
            <a:extLst xmlns:a="http://schemas.openxmlformats.org/drawingml/2006/main">
              <a:ext uri="{FF2B5EF4-FFF2-40B4-BE49-F238E27FC236}">
                <a16:creationId xmlns:a16="http://schemas.microsoft.com/office/drawing/2014/main" id="{403F1AB9-2B00-48D0-A74F-4E841544042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50" name="">
            <a:extLst xmlns:a="http://schemas.openxmlformats.org/drawingml/2006/main">
              <a:ext uri="{FF2B5EF4-FFF2-40B4-BE49-F238E27FC236}">
                <a16:creationId xmlns:a16="http://schemas.microsoft.com/office/drawing/2014/main" id="{E2588A31-19FC-4986-8926-5AA2E18C1CAC}"/>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151" name="">
            <a:extLst xmlns:a="http://schemas.openxmlformats.org/drawingml/2006/main">
              <a:ext uri="{FF2B5EF4-FFF2-40B4-BE49-F238E27FC236}">
                <a16:creationId xmlns:a16="http://schemas.microsoft.com/office/drawing/2014/main" id="{267AC37F-14D5-42AE-97A4-D24C0FC5D5C4}"/>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90</a:t>
            </a:r>
          </a:p>
        </p:txBody>
      </p:sp>
    </p:spTree>
    <p:extLst>
      <p:ext uri="{BB962C8B-B14F-4D97-AF65-F5344CB8AC3E}">
        <p14:creationId xmlns:p14="http://schemas.microsoft.com/office/powerpoint/2010/main" val="1844114423"/>
      </p:ext>
    </p:extLst>
  </p:cSld>
</p:sld>
</file>

<file path=ppt/slides/slide91.xml><?xml version="1.0" encoding="utf-8"?>
<p:sld xmlns:p="http://schemas.openxmlformats.org/presentationml/2006/main">
  <p:cSld>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69B20EDF-2F96-49FA-95BD-DD3DA90FD6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11CB4B7-9A80-485B-86DC-758E892EB75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8B00F70-605E-4C21-B1AD-937E43BC6F21}"/>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COMPETITIVE STRATEGY · THE AXIS THE SINGLE SCORE HID</a:t>
            </a:r>
          </a:p>
        </p:txBody>
      </p:sp>
      <p:sp>
        <p:nvSpPr>
          <p:cNvPr id="4" name="">
            <a:extLst xmlns:a="http://schemas.openxmlformats.org/drawingml/2006/main">
              <a:ext uri="{FF2B5EF4-FFF2-40B4-BE49-F238E27FC236}">
                <a16:creationId xmlns:a16="http://schemas.microsoft.com/office/drawing/2014/main" id="{99CE4B1A-FD24-4163-800C-8BA10D48C697}"/>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The most powerful company is not the hardest obstacle</a:t>
            </a:r>
          </a:p>
        </p:txBody>
      </p:sp>
      <p:sp>
        <p:nvSpPr>
          <p:cNvPr id="5" name="">
            <a:extLst xmlns:a="http://schemas.openxmlformats.org/drawingml/2006/main">
              <a:ext uri="{FF2B5EF4-FFF2-40B4-BE49-F238E27FC236}">
                <a16:creationId xmlns:a16="http://schemas.microsoft.com/office/drawing/2014/main" id="{9922DC63-B6E6-4AEB-8B0A-D43F27A40215}"/>
              </a:ext>
            </a:extLst>
          </p:cNvPr>
          <p:cNvSpPr>
            <a:spLocks xmlns:a="http://schemas.openxmlformats.org/drawingml/2006/main" noGrp="1"/>
          </p:cNvSpPr>
          <p:nvPr/>
        </p:nvSpPr>
        <p:spPr>
          <a:xfrm xmlns:a="http://schemas.openxmlformats.org/drawingml/2006/main">
            <a:off x="457200" y="762000"/>
            <a:ext cx="11277600" cy="3143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A weighted score ranks market power. DeepGrid’s decision needs obstruction of its chosen position — a bounded perception layer inside an integrator. Those are different lists, and blending them is what put a shrinking retrofit vendor at the top of the war room.</a:t>
            </a:r>
          </a:p>
        </p:txBody>
      </p:sp>
      <p:sp>
        <p:nvSpPr>
          <p:cNvPr id="6" name="">
            <a:extLst xmlns:a="http://schemas.openxmlformats.org/drawingml/2006/main">
              <a:ext uri="{FF2B5EF4-FFF2-40B4-BE49-F238E27FC236}">
                <a16:creationId xmlns:a16="http://schemas.microsoft.com/office/drawing/2014/main" id="{B37E90AC-9EF7-43E2-97D0-9446963E8AD4}"/>
              </a:ext>
            </a:extLst>
          </p:cNvPr>
          <p:cNvSpPr>
            <a:spLocks xmlns:a="http://schemas.openxmlformats.org/drawingml/2006/main" noGrp="1"/>
          </p:cNvSpPr>
          <p:nvPr/>
        </p:nvSpPr>
        <p:spPr>
          <a:xfrm xmlns:a="http://schemas.openxmlformats.org/drawingml/2006/main">
            <a:off x="457200" y="11334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D3E4770-8FAA-46C4-A9A9-623663D6C693}"/>
              </a:ext>
            </a:extLst>
          </p:cNvPr>
          <p:cNvSpPr>
            <a:spLocks xmlns:a="http://schemas.openxmlformats.org/drawingml/2006/main" noGrp="1"/>
          </p:cNvSpPr>
          <p:nvPr/>
        </p:nvSpPr>
        <p:spPr>
          <a:xfrm xmlns:a="http://schemas.openxmlformats.org/drawingml/2006/main">
            <a:off x="457200" y="1247775"/>
            <a:ext cx="5524500" cy="2266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09AA0F48-E502-4F08-BECA-F741FCE372C8}"/>
              </a:ext>
            </a:extLst>
          </p:cNvPr>
          <p:cNvSpPr>
            <a:spLocks xmlns:a="http://schemas.openxmlformats.org/drawingml/2006/main" noGrp="1"/>
          </p:cNvSpPr>
          <p:nvPr/>
        </p:nvSpPr>
        <p:spPr>
          <a:xfrm xmlns:a="http://schemas.openxmlformats.org/drawingml/2006/main">
            <a:off x="457200" y="1247775"/>
            <a:ext cx="55245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5AD5291-8C59-4F0A-9208-673006C7DCD3}"/>
              </a:ext>
            </a:extLst>
          </p:cNvPr>
          <p:cNvSpPr>
            <a:spLocks xmlns:a="http://schemas.openxmlformats.org/drawingml/2006/main" noGrp="1"/>
          </p:cNvSpPr>
          <p:nvPr/>
        </p:nvSpPr>
        <p:spPr>
          <a:xfrm xmlns:a="http://schemas.openxmlformats.org/drawingml/2006/main">
            <a:off x="609600" y="1381125"/>
            <a:ext cx="52197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Georgia"/>
                <a:ea typeface="Georgia"/>
                <a:cs typeface="Georgia"/>
              </a:defRPr>
            </a:pPr>
            <a:r>
              <a:t>Ranked by market power</a:t>
            </a:r>
          </a:p>
        </p:txBody>
      </p:sp>
      <p:sp>
        <p:nvSpPr>
          <p:cNvPr id="10" name="">
            <a:extLst xmlns:a="http://schemas.openxmlformats.org/drawingml/2006/main">
              <a:ext uri="{FF2B5EF4-FFF2-40B4-BE49-F238E27FC236}">
                <a16:creationId xmlns:a16="http://schemas.microsoft.com/office/drawing/2014/main" id="{EB5C6B7F-3979-46D9-A9D6-A18044A5906B}"/>
              </a:ext>
            </a:extLst>
          </p:cNvPr>
          <p:cNvSpPr>
            <a:spLocks xmlns:a="http://schemas.openxmlformats.org/drawingml/2006/main" noGrp="1"/>
          </p:cNvSpPr>
          <p:nvPr/>
        </p:nvSpPr>
        <p:spPr>
          <a:xfrm xmlns:a="http://schemas.openxmlformats.org/drawingml/2006/main">
            <a:off x="609600" y="1609725"/>
            <a:ext cx="52197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Who is biggest in this market</a:t>
            </a:r>
          </a:p>
        </p:txBody>
      </p:sp>
      <p:sp>
        <p:nvSpPr>
          <p:cNvPr id="11" name="">
            <a:extLst xmlns:a="http://schemas.openxmlformats.org/drawingml/2006/main">
              <a:ext uri="{FF2B5EF4-FFF2-40B4-BE49-F238E27FC236}">
                <a16:creationId xmlns:a16="http://schemas.microsoft.com/office/drawing/2014/main" id="{CE5C3310-BB36-4468-B747-CEE3D4F7C560}"/>
              </a:ext>
            </a:extLst>
          </p:cNvPr>
          <p:cNvSpPr>
            <a:spLocks xmlns:a="http://schemas.openxmlformats.org/drawingml/2006/main" noGrp="1"/>
          </p:cNvSpPr>
          <p:nvPr/>
        </p:nvSpPr>
        <p:spPr>
          <a:xfrm xmlns:a="http://schemas.openxmlformats.org/drawingml/2006/main">
            <a:off x="609600" y="1914525"/>
            <a:ext cx="28575" cy="1333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D6C17A7-FFF5-4828-B2F6-F9EB92FB168F}"/>
              </a:ext>
            </a:extLst>
          </p:cNvPr>
          <p:cNvSpPr>
            <a:spLocks xmlns:a="http://schemas.openxmlformats.org/drawingml/2006/main" noGrp="1"/>
          </p:cNvSpPr>
          <p:nvPr/>
        </p:nvSpPr>
        <p:spPr>
          <a:xfrm xmlns:a="http://schemas.openxmlformats.org/drawingml/2006/main">
            <a:off x="723900" y="1876425"/>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D7720B"/>
                </a:solidFill>
                <a:latin typeface="Arial"/>
                <a:ea typeface="Arial"/>
                <a:cs typeface="Arial"/>
              </a:defRPr>
            </a:pPr>
            <a:r>
              <a:t>1. ZF CVCS India</a:t>
            </a:r>
          </a:p>
        </p:txBody>
      </p:sp>
      <p:sp>
        <p:nvSpPr>
          <p:cNvPr id="13" name="">
            <a:extLst xmlns:a="http://schemas.openxmlformats.org/drawingml/2006/main">
              <a:ext uri="{FF2B5EF4-FFF2-40B4-BE49-F238E27FC236}">
                <a16:creationId xmlns:a16="http://schemas.microsoft.com/office/drawing/2014/main" id="{B30CDDF0-DD22-488C-B63A-B9633AA36171}"/>
              </a:ext>
            </a:extLst>
          </p:cNvPr>
          <p:cNvSpPr>
            <a:spLocks xmlns:a="http://schemas.openxmlformats.org/drawingml/2006/main" noGrp="1"/>
          </p:cNvSpPr>
          <p:nvPr/>
        </p:nvSpPr>
        <p:spPr>
          <a:xfrm xmlns:a="http://schemas.openxmlformats.org/drawingml/2006/main">
            <a:off x="5124450" y="1876425"/>
            <a:ext cx="666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D7720B"/>
                </a:solidFill>
                <a:latin typeface="Arial"/>
                <a:ea typeface="Arial"/>
                <a:cs typeface="Arial"/>
              </a:defRPr>
            </a:pPr>
            <a:r>
              <a:t>5.00</a:t>
            </a:r>
          </a:p>
        </p:txBody>
      </p:sp>
      <p:sp>
        <p:nvSpPr>
          <p:cNvPr id="14" name="">
            <a:extLst xmlns:a="http://schemas.openxmlformats.org/drawingml/2006/main">
              <a:ext uri="{FF2B5EF4-FFF2-40B4-BE49-F238E27FC236}">
                <a16:creationId xmlns:a16="http://schemas.microsoft.com/office/drawing/2014/main" id="{532BB0EA-D7FC-4FAE-A057-BB8159E1B3C3}"/>
              </a:ext>
            </a:extLst>
          </p:cNvPr>
          <p:cNvSpPr>
            <a:spLocks xmlns:a="http://schemas.openxmlformats.org/drawingml/2006/main" noGrp="1"/>
          </p:cNvSpPr>
          <p:nvPr/>
        </p:nvSpPr>
        <p:spPr>
          <a:xfrm xmlns:a="http://schemas.openxmlformats.org/drawingml/2006/main">
            <a:off x="609600" y="2200275"/>
            <a:ext cx="28575" cy="1333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506AC8F-240D-48E4-8185-BFCFAC0C54D6}"/>
              </a:ext>
            </a:extLst>
          </p:cNvPr>
          <p:cNvSpPr>
            <a:spLocks xmlns:a="http://schemas.openxmlformats.org/drawingml/2006/main" noGrp="1"/>
          </p:cNvSpPr>
          <p:nvPr/>
        </p:nvSpPr>
        <p:spPr>
          <a:xfrm xmlns:a="http://schemas.openxmlformats.org/drawingml/2006/main">
            <a:off x="723900" y="2162175"/>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2. Aptiv (+STRADVISION)</a:t>
            </a:r>
          </a:p>
        </p:txBody>
      </p:sp>
      <p:sp>
        <p:nvSpPr>
          <p:cNvPr id="16" name="">
            <a:extLst xmlns:a="http://schemas.openxmlformats.org/drawingml/2006/main">
              <a:ext uri="{FF2B5EF4-FFF2-40B4-BE49-F238E27FC236}">
                <a16:creationId xmlns:a16="http://schemas.microsoft.com/office/drawing/2014/main" id="{D3FD49BF-0CB1-4479-961E-342AC75621C6}"/>
              </a:ext>
            </a:extLst>
          </p:cNvPr>
          <p:cNvSpPr>
            <a:spLocks xmlns:a="http://schemas.openxmlformats.org/drawingml/2006/main" noGrp="1"/>
          </p:cNvSpPr>
          <p:nvPr/>
        </p:nvSpPr>
        <p:spPr>
          <a:xfrm xmlns:a="http://schemas.openxmlformats.org/drawingml/2006/main">
            <a:off x="5124450" y="2162175"/>
            <a:ext cx="666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8EA0B2"/>
                </a:solidFill>
                <a:latin typeface="Arial"/>
                <a:ea typeface="Arial"/>
                <a:cs typeface="Arial"/>
              </a:defRPr>
            </a:pPr>
            <a:r>
              <a:t>4.65</a:t>
            </a:r>
          </a:p>
        </p:txBody>
      </p:sp>
      <p:sp>
        <p:nvSpPr>
          <p:cNvPr id="17" name="">
            <a:extLst xmlns:a="http://schemas.openxmlformats.org/drawingml/2006/main">
              <a:ext uri="{FF2B5EF4-FFF2-40B4-BE49-F238E27FC236}">
                <a16:creationId xmlns:a16="http://schemas.microsoft.com/office/drawing/2014/main" id="{8A0672D8-3698-4686-86BB-BEEC7595223D}"/>
              </a:ext>
            </a:extLst>
          </p:cNvPr>
          <p:cNvSpPr>
            <a:spLocks xmlns:a="http://schemas.openxmlformats.org/drawingml/2006/main" noGrp="1"/>
          </p:cNvSpPr>
          <p:nvPr/>
        </p:nvSpPr>
        <p:spPr>
          <a:xfrm xmlns:a="http://schemas.openxmlformats.org/drawingml/2006/main">
            <a:off x="609600" y="2486025"/>
            <a:ext cx="28575" cy="1333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6F62A28-B5BA-4A84-9177-0DB7BAF31C17}"/>
              </a:ext>
            </a:extLst>
          </p:cNvPr>
          <p:cNvSpPr>
            <a:spLocks xmlns:a="http://schemas.openxmlformats.org/drawingml/2006/main" noGrp="1"/>
          </p:cNvSpPr>
          <p:nvPr/>
        </p:nvSpPr>
        <p:spPr>
          <a:xfrm xmlns:a="http://schemas.openxmlformats.org/drawingml/2006/main">
            <a:off x="723900" y="2447925"/>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3. STRADVISION</a:t>
            </a:r>
          </a:p>
        </p:txBody>
      </p:sp>
      <p:sp>
        <p:nvSpPr>
          <p:cNvPr id="19" name="">
            <a:extLst xmlns:a="http://schemas.openxmlformats.org/drawingml/2006/main">
              <a:ext uri="{FF2B5EF4-FFF2-40B4-BE49-F238E27FC236}">
                <a16:creationId xmlns:a16="http://schemas.microsoft.com/office/drawing/2014/main" id="{586CE9D6-8782-4C28-A6B0-4AF935B211AF}"/>
              </a:ext>
            </a:extLst>
          </p:cNvPr>
          <p:cNvSpPr>
            <a:spLocks xmlns:a="http://schemas.openxmlformats.org/drawingml/2006/main" noGrp="1"/>
          </p:cNvSpPr>
          <p:nvPr/>
        </p:nvSpPr>
        <p:spPr>
          <a:xfrm xmlns:a="http://schemas.openxmlformats.org/drawingml/2006/main">
            <a:off x="5124450" y="2447925"/>
            <a:ext cx="666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8EA0B2"/>
                </a:solidFill>
                <a:latin typeface="Arial"/>
                <a:ea typeface="Arial"/>
                <a:cs typeface="Arial"/>
              </a:defRPr>
            </a:pPr>
            <a:r>
              <a:t>4.10</a:t>
            </a:r>
          </a:p>
        </p:txBody>
      </p:sp>
      <p:sp>
        <p:nvSpPr>
          <p:cNvPr id="20" name="">
            <a:extLst xmlns:a="http://schemas.openxmlformats.org/drawingml/2006/main">
              <a:ext uri="{FF2B5EF4-FFF2-40B4-BE49-F238E27FC236}">
                <a16:creationId xmlns:a16="http://schemas.microsoft.com/office/drawing/2014/main" id="{8A2F2EE9-A418-405E-BFDD-1D307532B3DD}"/>
              </a:ext>
            </a:extLst>
          </p:cNvPr>
          <p:cNvSpPr>
            <a:spLocks xmlns:a="http://schemas.openxmlformats.org/drawingml/2006/main" noGrp="1"/>
          </p:cNvSpPr>
          <p:nvPr/>
        </p:nvSpPr>
        <p:spPr>
          <a:xfrm xmlns:a="http://schemas.openxmlformats.org/drawingml/2006/main">
            <a:off x="609600" y="2771775"/>
            <a:ext cx="28575" cy="1333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44B9C48-64DB-4768-8663-1B3FF36B9A6B}"/>
              </a:ext>
            </a:extLst>
          </p:cNvPr>
          <p:cNvSpPr>
            <a:spLocks xmlns:a="http://schemas.openxmlformats.org/drawingml/2006/main" noGrp="1"/>
          </p:cNvSpPr>
          <p:nvPr/>
        </p:nvSpPr>
        <p:spPr>
          <a:xfrm xmlns:a="http://schemas.openxmlformats.org/drawingml/2006/main">
            <a:off x="723900" y="2733675"/>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4. drivebuddyAI</a:t>
            </a:r>
          </a:p>
        </p:txBody>
      </p:sp>
      <p:sp>
        <p:nvSpPr>
          <p:cNvPr id="22" name="">
            <a:extLst xmlns:a="http://schemas.openxmlformats.org/drawingml/2006/main">
              <a:ext uri="{FF2B5EF4-FFF2-40B4-BE49-F238E27FC236}">
                <a16:creationId xmlns:a16="http://schemas.microsoft.com/office/drawing/2014/main" id="{A5C19AFE-D281-42B4-9B92-73FCE9F71130}"/>
              </a:ext>
            </a:extLst>
          </p:cNvPr>
          <p:cNvSpPr>
            <a:spLocks xmlns:a="http://schemas.openxmlformats.org/drawingml/2006/main" noGrp="1"/>
          </p:cNvSpPr>
          <p:nvPr/>
        </p:nvSpPr>
        <p:spPr>
          <a:xfrm xmlns:a="http://schemas.openxmlformats.org/drawingml/2006/main">
            <a:off x="5124450" y="2733675"/>
            <a:ext cx="666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8EA0B2"/>
                </a:solidFill>
                <a:latin typeface="Arial"/>
                <a:ea typeface="Arial"/>
                <a:cs typeface="Arial"/>
              </a:defRPr>
            </a:pPr>
            <a:r>
              <a:t>3.10</a:t>
            </a:r>
          </a:p>
        </p:txBody>
      </p:sp>
      <p:sp>
        <p:nvSpPr>
          <p:cNvPr id="23" name="">
            <a:extLst xmlns:a="http://schemas.openxmlformats.org/drawingml/2006/main">
              <a:ext uri="{FF2B5EF4-FFF2-40B4-BE49-F238E27FC236}">
                <a16:creationId xmlns:a16="http://schemas.microsoft.com/office/drawing/2014/main" id="{FF5D69BE-11C9-47BA-98C3-8BCC0AB5206A}"/>
              </a:ext>
            </a:extLst>
          </p:cNvPr>
          <p:cNvSpPr>
            <a:spLocks xmlns:a="http://schemas.openxmlformats.org/drawingml/2006/main" noGrp="1"/>
          </p:cNvSpPr>
          <p:nvPr/>
        </p:nvSpPr>
        <p:spPr>
          <a:xfrm xmlns:a="http://schemas.openxmlformats.org/drawingml/2006/main">
            <a:off x="609600" y="3057525"/>
            <a:ext cx="28575" cy="1333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0381407-DBCF-4698-BAA3-67D458184B27}"/>
              </a:ext>
            </a:extLst>
          </p:cNvPr>
          <p:cNvSpPr>
            <a:spLocks xmlns:a="http://schemas.openxmlformats.org/drawingml/2006/main" noGrp="1"/>
          </p:cNvSpPr>
          <p:nvPr/>
        </p:nvSpPr>
        <p:spPr>
          <a:xfrm xmlns:a="http://schemas.openxmlformats.org/drawingml/2006/main">
            <a:off x="723900" y="3019425"/>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5. Sterling Tools × MINIEYE</a:t>
            </a:r>
          </a:p>
        </p:txBody>
      </p:sp>
      <p:sp>
        <p:nvSpPr>
          <p:cNvPr id="25" name="">
            <a:extLst xmlns:a="http://schemas.openxmlformats.org/drawingml/2006/main">
              <a:ext uri="{FF2B5EF4-FFF2-40B4-BE49-F238E27FC236}">
                <a16:creationId xmlns:a16="http://schemas.microsoft.com/office/drawing/2014/main" id="{24B0CA3A-0ED6-4EFE-B275-DC29DD063C57}"/>
              </a:ext>
            </a:extLst>
          </p:cNvPr>
          <p:cNvSpPr>
            <a:spLocks xmlns:a="http://schemas.openxmlformats.org/drawingml/2006/main" noGrp="1"/>
          </p:cNvSpPr>
          <p:nvPr/>
        </p:nvSpPr>
        <p:spPr>
          <a:xfrm xmlns:a="http://schemas.openxmlformats.org/drawingml/2006/main">
            <a:off x="5124450" y="3019425"/>
            <a:ext cx="666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8EA0B2"/>
                </a:solidFill>
                <a:latin typeface="Arial"/>
                <a:ea typeface="Arial"/>
                <a:cs typeface="Arial"/>
              </a:defRPr>
            </a:pPr>
            <a:r>
              <a:t>2.35</a:t>
            </a:r>
          </a:p>
        </p:txBody>
      </p:sp>
      <p:sp>
        <p:nvSpPr>
          <p:cNvPr id="26" name="">
            <a:extLst xmlns:a="http://schemas.openxmlformats.org/drawingml/2006/main">
              <a:ext uri="{FF2B5EF4-FFF2-40B4-BE49-F238E27FC236}">
                <a16:creationId xmlns:a16="http://schemas.microsoft.com/office/drawing/2014/main" id="{845C8490-49B7-495E-A39F-3327482B6755}"/>
              </a:ext>
            </a:extLst>
          </p:cNvPr>
          <p:cNvSpPr>
            <a:spLocks xmlns:a="http://schemas.openxmlformats.org/drawingml/2006/main" noGrp="1"/>
          </p:cNvSpPr>
          <p:nvPr/>
        </p:nvSpPr>
        <p:spPr>
          <a:xfrm xmlns:a="http://schemas.openxmlformats.org/drawingml/2006/main">
            <a:off x="6210300" y="1247775"/>
            <a:ext cx="5524500" cy="2266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0062D2DF-C048-44DD-9CE1-7116245CD122}"/>
              </a:ext>
            </a:extLst>
          </p:cNvPr>
          <p:cNvSpPr>
            <a:spLocks xmlns:a="http://schemas.openxmlformats.org/drawingml/2006/main" noGrp="1"/>
          </p:cNvSpPr>
          <p:nvPr/>
        </p:nvSpPr>
        <p:spPr>
          <a:xfrm xmlns:a="http://schemas.openxmlformats.org/drawingml/2006/main">
            <a:off x="6210300" y="1247775"/>
            <a:ext cx="55245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8899834-ED19-4C59-9648-4822481A0B8A}"/>
              </a:ext>
            </a:extLst>
          </p:cNvPr>
          <p:cNvSpPr>
            <a:spLocks xmlns:a="http://schemas.openxmlformats.org/drawingml/2006/main" noGrp="1"/>
          </p:cNvSpPr>
          <p:nvPr/>
        </p:nvSpPr>
        <p:spPr>
          <a:xfrm xmlns:a="http://schemas.openxmlformats.org/drawingml/2006/main">
            <a:off x="6362700" y="1381125"/>
            <a:ext cx="52197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Georgia"/>
                <a:ea typeface="Georgia"/>
                <a:cs typeface="Georgia"/>
              </a:defRPr>
            </a:pPr>
            <a:r>
              <a:t>Ranked by obstruction of OUR position</a:t>
            </a:r>
          </a:p>
        </p:txBody>
      </p:sp>
      <p:sp>
        <p:nvSpPr>
          <p:cNvPr id="29" name="">
            <a:extLst xmlns:a="http://schemas.openxmlformats.org/drawingml/2006/main">
              <a:ext uri="{FF2B5EF4-FFF2-40B4-BE49-F238E27FC236}">
                <a16:creationId xmlns:a16="http://schemas.microsoft.com/office/drawing/2014/main" id="{1ACF1A7A-B882-41FF-831F-F5425BD2C98F}"/>
              </a:ext>
            </a:extLst>
          </p:cNvPr>
          <p:cNvSpPr>
            <a:spLocks xmlns:a="http://schemas.openxmlformats.org/drawingml/2006/main" noGrp="1"/>
          </p:cNvSpPr>
          <p:nvPr/>
        </p:nvSpPr>
        <p:spPr>
          <a:xfrm xmlns:a="http://schemas.openxmlformats.org/drawingml/2006/main">
            <a:off x="6362700" y="1609725"/>
            <a:ext cx="52197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Who stands between DeepGrid and the seat it wants</a:t>
            </a:r>
          </a:p>
        </p:txBody>
      </p:sp>
      <p:sp>
        <p:nvSpPr>
          <p:cNvPr id="30" name="">
            <a:extLst xmlns:a="http://schemas.openxmlformats.org/drawingml/2006/main">
              <a:ext uri="{FF2B5EF4-FFF2-40B4-BE49-F238E27FC236}">
                <a16:creationId xmlns:a16="http://schemas.microsoft.com/office/drawing/2014/main" id="{0FF1473F-7B89-422D-984B-0980462C69C7}"/>
              </a:ext>
            </a:extLst>
          </p:cNvPr>
          <p:cNvSpPr>
            <a:spLocks xmlns:a="http://schemas.openxmlformats.org/drawingml/2006/main" noGrp="1"/>
          </p:cNvSpPr>
          <p:nvPr/>
        </p:nvSpPr>
        <p:spPr>
          <a:xfrm xmlns:a="http://schemas.openxmlformats.org/drawingml/2006/main">
            <a:off x="6362700" y="1914525"/>
            <a:ext cx="28575" cy="1333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22D67DF-BEA4-4C7D-AD5C-0292860CC1AC}"/>
              </a:ext>
            </a:extLst>
          </p:cNvPr>
          <p:cNvSpPr>
            <a:spLocks xmlns:a="http://schemas.openxmlformats.org/drawingml/2006/main" noGrp="1"/>
          </p:cNvSpPr>
          <p:nvPr/>
        </p:nvSpPr>
        <p:spPr>
          <a:xfrm xmlns:a="http://schemas.openxmlformats.org/drawingml/2006/main">
            <a:off x="6477000" y="1876425"/>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STRADVISION</a:t>
            </a:r>
          </a:p>
        </p:txBody>
      </p:sp>
      <p:sp>
        <p:nvSpPr>
          <p:cNvPr id="32" name="">
            <a:extLst xmlns:a="http://schemas.openxmlformats.org/drawingml/2006/main">
              <a:ext uri="{FF2B5EF4-FFF2-40B4-BE49-F238E27FC236}">
                <a16:creationId xmlns:a16="http://schemas.microsoft.com/office/drawing/2014/main" id="{0A486A55-08F7-4F9E-8934-DC96C0189EDD}"/>
              </a:ext>
            </a:extLst>
          </p:cNvPr>
          <p:cNvSpPr>
            <a:spLocks xmlns:a="http://schemas.openxmlformats.org/drawingml/2006/main" noGrp="1"/>
          </p:cNvSpPr>
          <p:nvPr/>
        </p:nvSpPr>
        <p:spPr>
          <a:xfrm xmlns:a="http://schemas.openxmlformats.org/drawingml/2006/main">
            <a:off x="10877550" y="1876425"/>
            <a:ext cx="666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E06767"/>
                </a:solidFill>
                <a:latin typeface="Arial"/>
                <a:ea typeface="Arial"/>
                <a:cs typeface="Arial"/>
              </a:defRPr>
            </a:pPr>
            <a:r>
              <a:t>5/5</a:t>
            </a:r>
          </a:p>
        </p:txBody>
      </p:sp>
      <p:sp>
        <p:nvSpPr>
          <p:cNvPr id="33" name="">
            <a:extLst xmlns:a="http://schemas.openxmlformats.org/drawingml/2006/main">
              <a:ext uri="{FF2B5EF4-FFF2-40B4-BE49-F238E27FC236}">
                <a16:creationId xmlns:a16="http://schemas.microsoft.com/office/drawing/2014/main" id="{09D8FB72-58F4-4672-A706-661E03D1FEA9}"/>
              </a:ext>
            </a:extLst>
          </p:cNvPr>
          <p:cNvSpPr>
            <a:spLocks xmlns:a="http://schemas.openxmlformats.org/drawingml/2006/main" noGrp="1"/>
          </p:cNvSpPr>
          <p:nvPr/>
        </p:nvSpPr>
        <p:spPr>
          <a:xfrm xmlns:a="http://schemas.openxmlformats.org/drawingml/2006/main">
            <a:off x="6362700" y="2200275"/>
            <a:ext cx="28575" cy="1333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8B5DDEE-0C85-4266-9EC7-9629CD32BEF7}"/>
              </a:ext>
            </a:extLst>
          </p:cNvPr>
          <p:cNvSpPr>
            <a:spLocks xmlns:a="http://schemas.openxmlformats.org/drawingml/2006/main" noGrp="1"/>
          </p:cNvSpPr>
          <p:nvPr/>
        </p:nvSpPr>
        <p:spPr>
          <a:xfrm xmlns:a="http://schemas.openxmlformats.org/drawingml/2006/main">
            <a:off x="6477000" y="2162175"/>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Aptiv (+STRADVISION)</a:t>
            </a:r>
          </a:p>
        </p:txBody>
      </p:sp>
      <p:sp>
        <p:nvSpPr>
          <p:cNvPr id="35" name="">
            <a:extLst xmlns:a="http://schemas.openxmlformats.org/drawingml/2006/main">
              <a:ext uri="{FF2B5EF4-FFF2-40B4-BE49-F238E27FC236}">
                <a16:creationId xmlns:a16="http://schemas.microsoft.com/office/drawing/2014/main" id="{BF081C74-FA9D-4D0F-A16F-BEE3DB7E664E}"/>
              </a:ext>
            </a:extLst>
          </p:cNvPr>
          <p:cNvSpPr>
            <a:spLocks xmlns:a="http://schemas.openxmlformats.org/drawingml/2006/main" noGrp="1"/>
          </p:cNvSpPr>
          <p:nvPr/>
        </p:nvSpPr>
        <p:spPr>
          <a:xfrm xmlns:a="http://schemas.openxmlformats.org/drawingml/2006/main">
            <a:off x="10877550" y="2162175"/>
            <a:ext cx="666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8EA0B2"/>
                </a:solidFill>
                <a:latin typeface="Arial"/>
                <a:ea typeface="Arial"/>
                <a:cs typeface="Arial"/>
              </a:defRPr>
            </a:pPr>
            <a:r>
              <a:t>4/5</a:t>
            </a:r>
          </a:p>
        </p:txBody>
      </p:sp>
      <p:sp>
        <p:nvSpPr>
          <p:cNvPr id="36" name="">
            <a:extLst xmlns:a="http://schemas.openxmlformats.org/drawingml/2006/main">
              <a:ext uri="{FF2B5EF4-FFF2-40B4-BE49-F238E27FC236}">
                <a16:creationId xmlns:a16="http://schemas.microsoft.com/office/drawing/2014/main" id="{3E90ADC9-56F0-40B7-A631-2385C428119D}"/>
              </a:ext>
            </a:extLst>
          </p:cNvPr>
          <p:cNvSpPr>
            <a:spLocks xmlns:a="http://schemas.openxmlformats.org/drawingml/2006/main" noGrp="1"/>
          </p:cNvSpPr>
          <p:nvPr/>
        </p:nvSpPr>
        <p:spPr>
          <a:xfrm xmlns:a="http://schemas.openxmlformats.org/drawingml/2006/main">
            <a:off x="6362700" y="2486025"/>
            <a:ext cx="28575" cy="1333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21F303A-BFFA-4CEC-9B58-7D1DDCFCFF8D}"/>
              </a:ext>
            </a:extLst>
          </p:cNvPr>
          <p:cNvSpPr>
            <a:spLocks xmlns:a="http://schemas.openxmlformats.org/drawingml/2006/main" noGrp="1"/>
          </p:cNvSpPr>
          <p:nvPr/>
        </p:nvSpPr>
        <p:spPr>
          <a:xfrm xmlns:a="http://schemas.openxmlformats.org/drawingml/2006/main">
            <a:off x="6477000" y="2447925"/>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ZF CVCS India</a:t>
            </a:r>
          </a:p>
        </p:txBody>
      </p:sp>
      <p:sp>
        <p:nvSpPr>
          <p:cNvPr id="38" name="">
            <a:extLst xmlns:a="http://schemas.openxmlformats.org/drawingml/2006/main">
              <a:ext uri="{FF2B5EF4-FFF2-40B4-BE49-F238E27FC236}">
                <a16:creationId xmlns:a16="http://schemas.microsoft.com/office/drawing/2014/main" id="{35D069D9-1C22-48E6-B4A5-BCBED75F2F8A}"/>
              </a:ext>
            </a:extLst>
          </p:cNvPr>
          <p:cNvSpPr>
            <a:spLocks xmlns:a="http://schemas.openxmlformats.org/drawingml/2006/main" noGrp="1"/>
          </p:cNvSpPr>
          <p:nvPr/>
        </p:nvSpPr>
        <p:spPr>
          <a:xfrm xmlns:a="http://schemas.openxmlformats.org/drawingml/2006/main">
            <a:off x="10877550" y="2447925"/>
            <a:ext cx="666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8EA0B2"/>
                </a:solidFill>
                <a:latin typeface="Arial"/>
                <a:ea typeface="Arial"/>
                <a:cs typeface="Arial"/>
              </a:defRPr>
            </a:pPr>
            <a:r>
              <a:t>3/5</a:t>
            </a:r>
          </a:p>
        </p:txBody>
      </p:sp>
      <p:sp>
        <p:nvSpPr>
          <p:cNvPr id="39" name="">
            <a:extLst xmlns:a="http://schemas.openxmlformats.org/drawingml/2006/main">
              <a:ext uri="{FF2B5EF4-FFF2-40B4-BE49-F238E27FC236}">
                <a16:creationId xmlns:a16="http://schemas.microsoft.com/office/drawing/2014/main" id="{D0F75AB1-7C22-4B1E-8FC6-98AC647FCE0E}"/>
              </a:ext>
            </a:extLst>
          </p:cNvPr>
          <p:cNvSpPr>
            <a:spLocks xmlns:a="http://schemas.openxmlformats.org/drawingml/2006/main" noGrp="1"/>
          </p:cNvSpPr>
          <p:nvPr/>
        </p:nvSpPr>
        <p:spPr>
          <a:xfrm xmlns:a="http://schemas.openxmlformats.org/drawingml/2006/main">
            <a:off x="6362700" y="2771775"/>
            <a:ext cx="28575" cy="1333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3CF4B6EB-FD6B-4E07-9652-6BC582BBF3AC}"/>
              </a:ext>
            </a:extLst>
          </p:cNvPr>
          <p:cNvSpPr>
            <a:spLocks xmlns:a="http://schemas.openxmlformats.org/drawingml/2006/main" noGrp="1"/>
          </p:cNvSpPr>
          <p:nvPr/>
        </p:nvSpPr>
        <p:spPr>
          <a:xfrm xmlns:a="http://schemas.openxmlformats.org/drawingml/2006/main">
            <a:off x="6477000" y="2733675"/>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Netrasemi</a:t>
            </a:r>
          </a:p>
        </p:txBody>
      </p:sp>
      <p:sp>
        <p:nvSpPr>
          <p:cNvPr id="41" name="">
            <a:extLst xmlns:a="http://schemas.openxmlformats.org/drawingml/2006/main">
              <a:ext uri="{FF2B5EF4-FFF2-40B4-BE49-F238E27FC236}">
                <a16:creationId xmlns:a16="http://schemas.microsoft.com/office/drawing/2014/main" id="{FCFA9F9E-F1D9-4631-904D-AA46D86F4326}"/>
              </a:ext>
            </a:extLst>
          </p:cNvPr>
          <p:cNvSpPr>
            <a:spLocks xmlns:a="http://schemas.openxmlformats.org/drawingml/2006/main" noGrp="1"/>
          </p:cNvSpPr>
          <p:nvPr/>
        </p:nvSpPr>
        <p:spPr>
          <a:xfrm xmlns:a="http://schemas.openxmlformats.org/drawingml/2006/main">
            <a:off x="10877550" y="2733675"/>
            <a:ext cx="666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8EA0B2"/>
                </a:solidFill>
                <a:latin typeface="Arial"/>
                <a:ea typeface="Arial"/>
                <a:cs typeface="Arial"/>
              </a:defRPr>
            </a:pPr>
            <a:r>
              <a:t>2/5</a:t>
            </a:r>
          </a:p>
        </p:txBody>
      </p:sp>
      <p:sp>
        <p:nvSpPr>
          <p:cNvPr id="42" name="">
            <a:extLst xmlns:a="http://schemas.openxmlformats.org/drawingml/2006/main">
              <a:ext uri="{FF2B5EF4-FFF2-40B4-BE49-F238E27FC236}">
                <a16:creationId xmlns:a16="http://schemas.microsoft.com/office/drawing/2014/main" id="{3EF27C4B-24FF-4611-83C8-CAA751A77CB8}"/>
              </a:ext>
            </a:extLst>
          </p:cNvPr>
          <p:cNvSpPr>
            <a:spLocks xmlns:a="http://schemas.openxmlformats.org/drawingml/2006/main" noGrp="1"/>
          </p:cNvSpPr>
          <p:nvPr/>
        </p:nvSpPr>
        <p:spPr>
          <a:xfrm xmlns:a="http://schemas.openxmlformats.org/drawingml/2006/main">
            <a:off x="6362700" y="3057525"/>
            <a:ext cx="28575" cy="133350"/>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B3227D52-F4E3-4734-8CA6-627621F45736}"/>
              </a:ext>
            </a:extLst>
          </p:cNvPr>
          <p:cNvSpPr>
            <a:spLocks xmlns:a="http://schemas.openxmlformats.org/drawingml/2006/main" noGrp="1"/>
          </p:cNvSpPr>
          <p:nvPr/>
        </p:nvSpPr>
        <p:spPr>
          <a:xfrm xmlns:a="http://schemas.openxmlformats.org/drawingml/2006/main">
            <a:off x="6477000" y="3019425"/>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Gahan AI</a:t>
            </a:r>
          </a:p>
        </p:txBody>
      </p:sp>
      <p:sp>
        <p:nvSpPr>
          <p:cNvPr id="44" name="">
            <a:extLst xmlns:a="http://schemas.openxmlformats.org/drawingml/2006/main">
              <a:ext uri="{FF2B5EF4-FFF2-40B4-BE49-F238E27FC236}">
                <a16:creationId xmlns:a16="http://schemas.microsoft.com/office/drawing/2014/main" id="{DC4751C0-17FF-43AF-AB68-DC15E3B37681}"/>
              </a:ext>
            </a:extLst>
          </p:cNvPr>
          <p:cNvSpPr>
            <a:spLocks xmlns:a="http://schemas.openxmlformats.org/drawingml/2006/main" noGrp="1"/>
          </p:cNvSpPr>
          <p:nvPr/>
        </p:nvSpPr>
        <p:spPr>
          <a:xfrm xmlns:a="http://schemas.openxmlformats.org/drawingml/2006/main">
            <a:off x="10877550" y="3019425"/>
            <a:ext cx="666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8EA0B2"/>
                </a:solidFill>
                <a:latin typeface="Arial"/>
                <a:ea typeface="Arial"/>
                <a:cs typeface="Arial"/>
              </a:defRPr>
            </a:pPr>
            <a:r>
              <a:t>2/5</a:t>
            </a:r>
          </a:p>
        </p:txBody>
      </p:sp>
      <p:sp>
        <p:nvSpPr>
          <p:cNvPr id="45" name="">
            <a:extLst xmlns:a="http://schemas.openxmlformats.org/drawingml/2006/main">
              <a:ext uri="{FF2B5EF4-FFF2-40B4-BE49-F238E27FC236}">
                <a16:creationId xmlns:a16="http://schemas.microsoft.com/office/drawing/2014/main" id="{1E0DC7B9-9421-4A76-BF1E-F926664309F4}"/>
              </a:ext>
            </a:extLst>
          </p:cNvPr>
          <p:cNvSpPr>
            <a:spLocks xmlns:a="http://schemas.openxmlformats.org/drawingml/2006/main" noGrp="1"/>
          </p:cNvSpPr>
          <p:nvPr/>
        </p:nvSpPr>
        <p:spPr>
          <a:xfrm xmlns:a="http://schemas.openxmlformats.org/drawingml/2006/main">
            <a:off x="457200" y="3686175"/>
            <a:ext cx="4762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WHAT THE OBSTRUCTION SCORE IS JUDGING</a:t>
            </a:r>
          </a:p>
        </p:txBody>
      </p:sp>
      <p:sp>
        <p:nvSpPr>
          <p:cNvPr id="46" name="">
            <a:extLst xmlns:a="http://schemas.openxmlformats.org/drawingml/2006/main">
              <a:ext uri="{FF2B5EF4-FFF2-40B4-BE49-F238E27FC236}">
                <a16:creationId xmlns:a16="http://schemas.microsoft.com/office/drawing/2014/main" id="{4855BD41-B331-4A61-B3E6-9E0C1F3E0AA0}"/>
              </a:ext>
            </a:extLst>
          </p:cNvPr>
          <p:cNvSpPr>
            <a:spLocks xmlns:a="http://schemas.openxmlformats.org/drawingml/2006/main" noGrp="1"/>
          </p:cNvSpPr>
          <p:nvPr/>
        </p:nvSpPr>
        <p:spPr>
          <a:xfrm xmlns:a="http://schemas.openxmlformats.org/drawingml/2006/main">
            <a:off x="457200" y="3876675"/>
            <a:ext cx="3683000"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59DD06B3-A27B-465F-BB13-1EA8508CE0AD}"/>
              </a:ext>
            </a:extLst>
          </p:cNvPr>
          <p:cNvSpPr>
            <a:spLocks xmlns:a="http://schemas.openxmlformats.org/drawingml/2006/main" noGrp="1"/>
          </p:cNvSpPr>
          <p:nvPr/>
        </p:nvSpPr>
        <p:spPr>
          <a:xfrm xmlns:a="http://schemas.openxmlformats.org/drawingml/2006/main">
            <a:off x="457200" y="3971925"/>
            <a:ext cx="368300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E06767"/>
                </a:solidFill>
                <a:latin typeface="Arial"/>
                <a:ea typeface="Arial"/>
                <a:cs typeface="Arial"/>
              </a:defRPr>
            </a:pPr>
            <a:r>
              <a:t>STRADVISION  ·  5/5</a:t>
            </a:r>
          </a:p>
        </p:txBody>
      </p:sp>
      <p:sp>
        <p:nvSpPr>
          <p:cNvPr id="48" name="">
            <a:extLst xmlns:a="http://schemas.openxmlformats.org/drawingml/2006/main">
              <a:ext uri="{FF2B5EF4-FFF2-40B4-BE49-F238E27FC236}">
                <a16:creationId xmlns:a16="http://schemas.microsoft.com/office/drawing/2014/main" id="{54DF91D8-1E40-484D-A854-98A1FF0AFD6B}"/>
              </a:ext>
            </a:extLst>
          </p:cNvPr>
          <p:cNvSpPr>
            <a:spLocks xmlns:a="http://schemas.openxmlformats.org/drawingml/2006/main" noGrp="1"/>
          </p:cNvSpPr>
          <p:nvPr/>
        </p:nvSpPr>
        <p:spPr>
          <a:xfrm xmlns:a="http://schemas.openxmlformats.org/drawingml/2006/main">
            <a:off x="457200" y="4143375"/>
            <a:ext cx="36068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Occupies the seat. A bounded perception layer priced for constrained hardware, already inside the winning stack, holding the ISO 26262 DeepGrid lacks. Displacing it is the entire job.</a:t>
            </a:r>
          </a:p>
        </p:txBody>
      </p:sp>
      <p:sp>
        <p:nvSpPr>
          <p:cNvPr id="49" name="">
            <a:extLst xmlns:a="http://schemas.openxmlformats.org/drawingml/2006/main">
              <a:ext uri="{FF2B5EF4-FFF2-40B4-BE49-F238E27FC236}">
                <a16:creationId xmlns:a16="http://schemas.microsoft.com/office/drawing/2014/main" id="{E0E3B7C0-7D53-4FFE-A315-8CE07ACA245F}"/>
              </a:ext>
            </a:extLst>
          </p:cNvPr>
          <p:cNvSpPr>
            <a:spLocks xmlns:a="http://schemas.openxmlformats.org/drawingml/2006/main" noGrp="1"/>
          </p:cNvSpPr>
          <p:nvPr/>
        </p:nvSpPr>
        <p:spPr>
          <a:xfrm xmlns:a="http://schemas.openxmlformats.org/drawingml/2006/main">
            <a:off x="4254500" y="3876675"/>
            <a:ext cx="368300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4DD693ED-AFBE-4EAE-A17F-654744138355}"/>
              </a:ext>
            </a:extLst>
          </p:cNvPr>
          <p:cNvSpPr>
            <a:spLocks xmlns:a="http://schemas.openxmlformats.org/drawingml/2006/main" noGrp="1"/>
          </p:cNvSpPr>
          <p:nvPr/>
        </p:nvSpPr>
        <p:spPr>
          <a:xfrm xmlns:a="http://schemas.openxmlformats.org/drawingml/2006/main">
            <a:off x="4254500" y="3971925"/>
            <a:ext cx="368300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Aptiv (+STRADVISION)  ·  4/5</a:t>
            </a:r>
          </a:p>
        </p:txBody>
      </p:sp>
      <p:sp>
        <p:nvSpPr>
          <p:cNvPr id="51" name="">
            <a:extLst xmlns:a="http://schemas.openxmlformats.org/drawingml/2006/main">
              <a:ext uri="{FF2B5EF4-FFF2-40B4-BE49-F238E27FC236}">
                <a16:creationId xmlns:a16="http://schemas.microsoft.com/office/drawing/2014/main" id="{2B666960-BD8B-49C6-87EE-19F72B823E96}"/>
              </a:ext>
            </a:extLst>
          </p:cNvPr>
          <p:cNvSpPr>
            <a:spLocks xmlns:a="http://schemas.openxmlformats.org/drawingml/2006/main" noGrp="1"/>
          </p:cNvSpPr>
          <p:nvPr/>
        </p:nvSpPr>
        <p:spPr>
          <a:xfrm xmlns:a="http://schemas.openxmlformats.org/drawingml/2006/main">
            <a:off x="4254500" y="4143375"/>
            <a:ext cx="36068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Decides who gets the seat. It selects the perception vendor for its camera and controls the OTA lifecycle afterwards — gatekeeper and prospective customer at once.</a:t>
            </a:r>
          </a:p>
        </p:txBody>
      </p:sp>
      <p:sp>
        <p:nvSpPr>
          <p:cNvPr id="52" name="">
            <a:extLst xmlns:a="http://schemas.openxmlformats.org/drawingml/2006/main">
              <a:ext uri="{FF2B5EF4-FFF2-40B4-BE49-F238E27FC236}">
                <a16:creationId xmlns:a16="http://schemas.microsoft.com/office/drawing/2014/main" id="{735EB42C-EDA1-4F36-970F-D82CAE2AC703}"/>
              </a:ext>
            </a:extLst>
          </p:cNvPr>
          <p:cNvSpPr>
            <a:spLocks xmlns:a="http://schemas.openxmlformats.org/drawingml/2006/main" noGrp="1"/>
          </p:cNvSpPr>
          <p:nvPr/>
        </p:nvSpPr>
        <p:spPr>
          <a:xfrm xmlns:a="http://schemas.openxmlformats.org/drawingml/2006/main">
            <a:off x="8051800" y="3876675"/>
            <a:ext cx="368300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3F40342C-C2CF-4044-8D8F-2AFF8226C33D}"/>
              </a:ext>
            </a:extLst>
          </p:cNvPr>
          <p:cNvSpPr>
            <a:spLocks xmlns:a="http://schemas.openxmlformats.org/drawingml/2006/main" noGrp="1"/>
          </p:cNvSpPr>
          <p:nvPr/>
        </p:nvSpPr>
        <p:spPr>
          <a:xfrm xmlns:a="http://schemas.openxmlformats.org/drawingml/2006/main">
            <a:off x="8051800" y="3971925"/>
            <a:ext cx="3683000" cy="13335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050" b="1">
                <a:solidFill>
                  <a:srgbClr val="FFFFFF"/>
                </a:solidFill>
                <a:latin typeface="Arial"/>
                <a:ea typeface="Arial"/>
                <a:cs typeface="Arial"/>
              </a:defRPr>
            </a:pPr>
            <a:r>
              <a:t>ZF CVCS India  ·  3/5</a:t>
            </a:r>
          </a:p>
        </p:txBody>
      </p:sp>
      <p:sp>
        <p:nvSpPr>
          <p:cNvPr id="54" name="">
            <a:extLst xmlns:a="http://schemas.openxmlformats.org/drawingml/2006/main">
              <a:ext uri="{FF2B5EF4-FFF2-40B4-BE49-F238E27FC236}">
                <a16:creationId xmlns:a16="http://schemas.microsoft.com/office/drawing/2014/main" id="{F5F7155A-842D-4C21-A560-E0CE357B18B4}"/>
              </a:ext>
            </a:extLst>
          </p:cNvPr>
          <p:cNvSpPr>
            <a:spLocks xmlns:a="http://schemas.openxmlformats.org/drawingml/2006/main" noGrp="1"/>
          </p:cNvSpPr>
          <p:nvPr/>
        </p:nvSpPr>
        <p:spPr>
          <a:xfrm xmlns:a="http://schemas.openxmlformats.org/drawingml/2006/main">
            <a:off x="8051800" y="4143375"/>
            <a:ext cx="36068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Owns a DIFFERENT control point. DeepGrid intends to sell INTO an actuator owner, so ZF is the route rather than the obstacle — until it bundles perception itself.</a:t>
            </a:r>
          </a:p>
        </p:txBody>
      </p:sp>
      <p:sp>
        <p:nvSpPr>
          <p:cNvPr id="55" name="">
            <a:extLst xmlns:a="http://schemas.openxmlformats.org/drawingml/2006/main">
              <a:ext uri="{FF2B5EF4-FFF2-40B4-BE49-F238E27FC236}">
                <a16:creationId xmlns:a16="http://schemas.microsoft.com/office/drawing/2014/main" id="{9B3C931B-2748-45D0-B58E-E682DA08C8F7}"/>
              </a:ext>
            </a:extLst>
          </p:cNvPr>
          <p:cNvSpPr>
            <a:spLocks xmlns:a="http://schemas.openxmlformats.org/drawingml/2006/main" noGrp="1"/>
          </p:cNvSpPr>
          <p:nvPr/>
        </p:nvSpPr>
        <p:spPr>
          <a:xfrm xmlns:a="http://schemas.openxmlformats.org/drawingml/2006/main">
            <a:off x="457200" y="494347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0C10CE05-C3D0-4E45-88EF-DD14C00F0B65}"/>
              </a:ext>
            </a:extLst>
          </p:cNvPr>
          <p:cNvSpPr>
            <a:spLocks xmlns:a="http://schemas.openxmlformats.org/drawingml/2006/main" noGrp="1"/>
          </p:cNvSpPr>
          <p:nvPr/>
        </p:nvSpPr>
        <p:spPr>
          <a:xfrm xmlns:a="http://schemas.openxmlformats.org/drawingml/2006/main">
            <a:off x="457200" y="5057775"/>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TWO LISTS DIFFER</a:t>
            </a:r>
          </a:p>
        </p:txBody>
      </p:sp>
      <p:sp>
        <p:nvSpPr>
          <p:cNvPr id="57" name="">
            <a:extLst xmlns:a="http://schemas.openxmlformats.org/drawingml/2006/main">
              <a:ext uri="{FF2B5EF4-FFF2-40B4-BE49-F238E27FC236}">
                <a16:creationId xmlns:a16="http://schemas.microsoft.com/office/drawing/2014/main" id="{5A1B1892-7C79-4447-AE62-11D0BE636654}"/>
              </a:ext>
            </a:extLst>
          </p:cNvPr>
          <p:cNvSpPr>
            <a:spLocks xmlns:a="http://schemas.openxmlformats.org/drawingml/2006/main" noGrp="1"/>
          </p:cNvSpPr>
          <p:nvPr/>
        </p:nvSpPr>
        <p:spPr>
          <a:xfrm xmlns:a="http://schemas.openxmlformats.org/drawingml/2006/main">
            <a:off x="457200" y="5229225"/>
            <a:ext cx="112776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ZF is the most powerful company here and it is NOT the hardest obstacle, because DeepGrid intends to sell INTO an actuator owner rather than against one. STRADVISION is a 300-person private company ranked 3rd by power and 1st by obstruction: it already holds the seat, priced for the same constrained hardware, with the ISO 26262 DeepGrid does not have. Both axes are published rather than blended.</a:t>
            </a:r>
          </a:p>
        </p:txBody>
      </p:sp>
      <p:sp>
        <p:nvSpPr>
          <p:cNvPr id="58" name="">
            <a:extLst xmlns:a="http://schemas.openxmlformats.org/drawingml/2006/main">
              <a:ext uri="{FF2B5EF4-FFF2-40B4-BE49-F238E27FC236}">
                <a16:creationId xmlns:a16="http://schemas.microsoft.com/office/drawing/2014/main" id="{2183EA65-C5A1-49A0-844E-C3DA5AEE26F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F8DFAE70-7578-41FC-93E1-079EDC9E085B}"/>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0" name="">
            <a:extLst xmlns:a="http://schemas.openxmlformats.org/drawingml/2006/main">
              <a:ext uri="{FF2B5EF4-FFF2-40B4-BE49-F238E27FC236}">
                <a16:creationId xmlns:a16="http://schemas.microsoft.com/office/drawing/2014/main" id="{4FCED65F-B006-4FA6-B62E-34FB3B498AB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91</a:t>
            </a:r>
          </a:p>
        </p:txBody>
      </p:sp>
    </p:spTree>
    <p:extLst>
      <p:ext uri="{BB962C8B-B14F-4D97-AF65-F5344CB8AC3E}">
        <p14:creationId xmlns:p14="http://schemas.microsoft.com/office/powerpoint/2010/main" val="1807685154"/>
      </p:ext>
    </p:extLst>
  </p:cSld>
</p:sld>
</file>

<file path=ppt/slides/slide92.xml><?xml version="1.0" encoding="utf-8"?>
<p:sld xmlns:p="http://schemas.openxmlformats.org/presentationml/2006/main">
  <p:cSld>
    <p:spTree>
      <p:nvGrpSpPr>
        <p:cNvPr id="1" name=""/>
        <p:cNvGrpSpPr/>
        <p:nvPr/>
      </p:nvGrpSpPr>
      <p:grpSpPr>
        <a:xfrm xmlns:a="http://schemas.openxmlformats.org/drawingml/2006/main"/>
      </p:grpSpPr>
      <p:sp>
        <p:nvSpPr>
          <p:cNvPr id="91" name="">
            <a:extLst xmlns:a="http://schemas.openxmlformats.org/drawingml/2006/main">
              <a:ext uri="{FF2B5EF4-FFF2-40B4-BE49-F238E27FC236}">
                <a16:creationId xmlns:a16="http://schemas.microsoft.com/office/drawing/2014/main" id="{F3E314DE-A49A-4D5A-A0A7-31F83E75F68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35DE07A-82A5-4158-9052-4333482E99A0}"/>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DAE9775-8C64-4D7F-A3B0-FA557A401DC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CC9BF33D-AE08-4A26-A0B0-965BC259E85A}"/>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94DAAE33-AFD7-4AE4-9B35-91506475B44E}"/>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War-room focus, re-ranked: ZF, Aptiv and the perception layer inside it</a:t>
            </a:r>
          </a:p>
        </p:txBody>
      </p:sp>
      <p:sp>
        <p:nvSpPr>
          <p:cNvPr id="6" name="">
            <a:extLst xmlns:a="http://schemas.openxmlformats.org/drawingml/2006/main">
              <a:ext uri="{FF2B5EF4-FFF2-40B4-BE49-F238E27FC236}">
                <a16:creationId xmlns:a16="http://schemas.microsoft.com/office/drawing/2014/main" id="{DF0770F7-33D6-4F37-8A17-45F382F62C7B}"/>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9DD2167-978A-44F0-8B89-5E75D1700E36}"/>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competitors merit war-room attention, by what mechanism and with what response?</a:t>
            </a:r>
          </a:p>
        </p:txBody>
      </p:sp>
      <p:sp>
        <p:nvSpPr>
          <p:cNvPr id="8" name="">
            <a:extLst xmlns:a="http://schemas.openxmlformats.org/drawingml/2006/main">
              <a:ext uri="{FF2B5EF4-FFF2-40B4-BE49-F238E27FC236}">
                <a16:creationId xmlns:a16="http://schemas.microsoft.com/office/drawing/2014/main" id="{99BE7004-5992-4399-919F-8A441DC9B9FF}"/>
              </a:ext>
            </a:extLst>
          </p:cNvPr>
          <p:cNvSpPr>
            <a:spLocks xmlns:a="http://schemas.openxmlformats.org/drawingml/2006/main" noGrp="1"/>
          </p:cNvSpPr>
          <p:nvPr/>
        </p:nvSpPr>
        <p:spPr>
          <a:xfrm xmlns:a="http://schemas.openxmlformats.org/drawingml/2006/main">
            <a:off x="457200" y="1006475"/>
            <a:ext cx="11277600" cy="930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D594AD86-95EB-4DA8-BC34-560E2E1DC7A7}"/>
              </a:ext>
            </a:extLst>
          </p:cNvPr>
          <p:cNvSpPr>
            <a:spLocks xmlns:a="http://schemas.openxmlformats.org/drawingml/2006/main" noGrp="1"/>
          </p:cNvSpPr>
          <p:nvPr/>
        </p:nvSpPr>
        <p:spPr>
          <a:xfrm xmlns:a="http://schemas.openxmlformats.org/drawingml/2006/main">
            <a:off x="457200" y="1006475"/>
            <a:ext cx="28575" cy="9302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5995FDB-5F71-4C54-89D7-10892AD4E2F7}"/>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7C60D41F-9C97-4F34-ACF7-6851C6A095F8}"/>
              </a:ext>
            </a:extLst>
          </p:cNvPr>
          <p:cNvSpPr>
            <a:spLocks xmlns:a="http://schemas.openxmlformats.org/drawingml/2006/main" noGrp="1"/>
          </p:cNvSpPr>
          <p:nvPr/>
        </p:nvSpPr>
        <p:spPr>
          <a:xfrm xmlns:a="http://schemas.openxmlformats.org/drawingml/2006/main">
            <a:off x="581025" y="122237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ZF, Aptiv and STRADVISION come first because each owns something DeepGrid must pass through — ZF the braking safety case, Aptiv the OEM platform and its over-the-air lifecycle, STRADVISION the bounded perception seat DeepGrid is bidding for. Starkenn stays in the room for the government arena only: its 30% tender share is durable, but its deployment count cannot be stated from its own source, so it no longer leads the ranking.</a:t>
            </a:r>
          </a:p>
        </p:txBody>
      </p:sp>
      <p:sp>
        <p:nvSpPr>
          <p:cNvPr id="12" name="">
            <a:extLst xmlns:a="http://schemas.openxmlformats.org/drawingml/2006/main">
              <a:ext uri="{FF2B5EF4-FFF2-40B4-BE49-F238E27FC236}">
                <a16:creationId xmlns:a16="http://schemas.microsoft.com/office/drawing/2014/main" id="{C72F1569-7CE4-44CC-856A-2A066518EBDD}"/>
              </a:ext>
            </a:extLst>
          </p:cNvPr>
          <p:cNvSpPr>
            <a:spLocks xmlns:a="http://schemas.openxmlformats.org/drawingml/2006/main" noGrp="1"/>
          </p:cNvSpPr>
          <p:nvPr/>
        </p:nvSpPr>
        <p:spPr>
          <a:xfrm xmlns:a="http://schemas.openxmlformats.org/drawingml/2006/main">
            <a:off x="2712720" y="2051050"/>
            <a:ext cx="9022080" cy="247650"/>
          </a:xfrm>
          <a:prstGeom xmlns:a="http://schemas.openxmlformats.org/drawingml/2006/main" prst="rect">
            <a:avLst/>
          </a:prstGeom>
          <a:solidFill xmlns:a="http://schemas.openxmlformats.org/drawingml/2006/main">
            <a:srgbClr val="E8F0F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43FF107-883E-48C6-8EA1-4C5B05886550}"/>
              </a:ext>
            </a:extLst>
          </p:cNvPr>
          <p:cNvSpPr>
            <a:spLocks xmlns:a="http://schemas.openxmlformats.org/drawingml/2006/main" noGrp="1"/>
          </p:cNvSpPr>
          <p:nvPr/>
        </p:nvSpPr>
        <p:spPr>
          <a:xfrm xmlns:a="http://schemas.openxmlformats.org/drawingml/2006/main">
            <a:off x="2807970" y="21272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586270"/>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1E8B7047-81FF-4E3F-A1C6-7E0B8A1CA59C}"/>
              </a:ext>
            </a:extLst>
          </p:cNvPr>
          <p:cNvSpPr>
            <a:spLocks xmlns:a="http://schemas.openxmlformats.org/drawingml/2006/main" noGrp="1"/>
          </p:cNvSpPr>
          <p:nvPr/>
        </p:nvSpPr>
        <p:spPr>
          <a:xfrm xmlns:a="http://schemas.openxmlformats.org/drawingml/2006/main">
            <a:off x="5815330" y="21272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586270"/>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C7E95077-46A1-4456-BB8C-C9129D6EC69E}"/>
              </a:ext>
            </a:extLst>
          </p:cNvPr>
          <p:cNvSpPr>
            <a:spLocks xmlns:a="http://schemas.openxmlformats.org/drawingml/2006/main" noGrp="1"/>
          </p:cNvSpPr>
          <p:nvPr/>
        </p:nvSpPr>
        <p:spPr>
          <a:xfrm xmlns:a="http://schemas.openxmlformats.org/drawingml/2006/main">
            <a:off x="8822690" y="21272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586270"/>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8F9849D7-C4FA-48E4-8279-F4456791EFDB}"/>
              </a:ext>
            </a:extLst>
          </p:cNvPr>
          <p:cNvSpPr>
            <a:spLocks xmlns:a="http://schemas.openxmlformats.org/drawingml/2006/main" noGrp="1"/>
          </p:cNvSpPr>
          <p:nvPr/>
        </p:nvSpPr>
        <p:spPr>
          <a:xfrm xmlns:a="http://schemas.openxmlformats.org/drawingml/2006/main">
            <a:off x="457200" y="2298700"/>
            <a:ext cx="2255520" cy="571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53FAAEAC-D552-48E7-AFD2-28A7E74543BF}"/>
              </a:ext>
            </a:extLst>
          </p:cNvPr>
          <p:cNvSpPr>
            <a:spLocks xmlns:a="http://schemas.openxmlformats.org/drawingml/2006/main" noGrp="1"/>
          </p:cNvSpPr>
          <p:nvPr/>
        </p:nvSpPr>
        <p:spPr>
          <a:xfrm xmlns:a="http://schemas.openxmlformats.org/drawingml/2006/main">
            <a:off x="552450" y="2413000"/>
            <a:ext cx="210312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01827"/>
                </a:solidFill>
                <a:latin typeface="Arial"/>
                <a:ea typeface="Arial"/>
                <a:cs typeface="Arial"/>
              </a:defRPr>
            </a:pPr>
            <a:r>
              <a:t>ZF</a:t>
            </a:r>
          </a:p>
        </p:txBody>
      </p:sp>
      <p:sp>
        <p:nvSpPr>
          <p:cNvPr id="18" name="">
            <a:extLst xmlns:a="http://schemas.openxmlformats.org/drawingml/2006/main">
              <a:ext uri="{FF2B5EF4-FFF2-40B4-BE49-F238E27FC236}">
                <a16:creationId xmlns:a16="http://schemas.microsoft.com/office/drawing/2014/main" id="{BF9A386D-2D0F-4A9D-A2B2-4A893A4454E8}"/>
              </a:ext>
            </a:extLst>
          </p:cNvPr>
          <p:cNvSpPr>
            <a:spLocks xmlns:a="http://schemas.openxmlformats.org/drawingml/2006/main" noGrp="1"/>
          </p:cNvSpPr>
          <p:nvPr/>
        </p:nvSpPr>
        <p:spPr>
          <a:xfrm xmlns:a="http://schemas.openxmlformats.org/drawingml/2006/main">
            <a:off x="2741295" y="23272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EDC1163B-456E-4560-B2E3-BD8CEE50B5A7}"/>
              </a:ext>
            </a:extLst>
          </p:cNvPr>
          <p:cNvSpPr>
            <a:spLocks xmlns:a="http://schemas.openxmlformats.org/drawingml/2006/main" noGrp="1"/>
          </p:cNvSpPr>
          <p:nvPr/>
        </p:nvSpPr>
        <p:spPr>
          <a:xfrm xmlns:a="http://schemas.openxmlformats.org/drawingml/2006/main">
            <a:off x="2741295" y="2327275"/>
            <a:ext cx="1475105"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C6FF231-7B64-43DD-82E4-7E14207E3183}"/>
              </a:ext>
            </a:extLst>
          </p:cNvPr>
          <p:cNvSpPr>
            <a:spLocks xmlns:a="http://schemas.openxmlformats.org/drawingml/2006/main" noGrp="1"/>
          </p:cNvSpPr>
          <p:nvPr/>
        </p:nvSpPr>
        <p:spPr>
          <a:xfrm xmlns:a="http://schemas.openxmlformats.org/drawingml/2006/main">
            <a:off x="2817495" y="24130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37A87"/>
                </a:solidFill>
                <a:latin typeface="Arial"/>
                <a:ea typeface="Arial"/>
                <a:cs typeface="Arial"/>
              </a:defRPr>
            </a:pPr>
            <a:r>
              <a:t>MEDIUM</a:t>
            </a:r>
          </a:p>
        </p:txBody>
      </p:sp>
      <p:sp>
        <p:nvSpPr>
          <p:cNvPr id="21" name="">
            <a:extLst xmlns:a="http://schemas.openxmlformats.org/drawingml/2006/main">
              <a:ext uri="{FF2B5EF4-FFF2-40B4-BE49-F238E27FC236}">
                <a16:creationId xmlns:a16="http://schemas.microsoft.com/office/drawing/2014/main" id="{45734521-3338-4869-BDD0-56532AAAA476}"/>
              </a:ext>
            </a:extLst>
          </p:cNvPr>
          <p:cNvSpPr>
            <a:spLocks xmlns:a="http://schemas.openxmlformats.org/drawingml/2006/main" noGrp="1"/>
          </p:cNvSpPr>
          <p:nvPr/>
        </p:nvSpPr>
        <p:spPr>
          <a:xfrm xmlns:a="http://schemas.openxmlformats.org/drawingml/2006/main">
            <a:off x="2817495" y="25368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Homologation capability, no evidenced tender…</a:t>
            </a:r>
          </a:p>
        </p:txBody>
      </p:sp>
      <p:sp>
        <p:nvSpPr>
          <p:cNvPr id="22" name="">
            <a:extLst xmlns:a="http://schemas.openxmlformats.org/drawingml/2006/main">
              <a:ext uri="{FF2B5EF4-FFF2-40B4-BE49-F238E27FC236}">
                <a16:creationId xmlns:a16="http://schemas.microsoft.com/office/drawing/2014/main" id="{AF1A6082-9026-4B57-AE41-DCDB94AB1AB1}"/>
              </a:ext>
            </a:extLst>
          </p:cNvPr>
          <p:cNvSpPr>
            <a:spLocks xmlns:a="http://schemas.openxmlformats.org/drawingml/2006/main" noGrp="1"/>
          </p:cNvSpPr>
          <p:nvPr/>
        </p:nvSpPr>
        <p:spPr>
          <a:xfrm xmlns:a="http://schemas.openxmlformats.org/drawingml/2006/main">
            <a:off x="5748655" y="23272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3" name="">
            <a:extLst xmlns:a="http://schemas.openxmlformats.org/drawingml/2006/main">
              <a:ext uri="{FF2B5EF4-FFF2-40B4-BE49-F238E27FC236}">
                <a16:creationId xmlns:a16="http://schemas.microsoft.com/office/drawing/2014/main" id="{08D1FE40-C88A-4AD3-BE73-570C378AAB64}"/>
              </a:ext>
            </a:extLst>
          </p:cNvPr>
          <p:cNvSpPr>
            <a:spLocks xmlns:a="http://schemas.openxmlformats.org/drawingml/2006/main" noGrp="1"/>
          </p:cNvSpPr>
          <p:nvPr/>
        </p:nvSpPr>
        <p:spPr>
          <a:xfrm xmlns:a="http://schemas.openxmlformats.org/drawingml/2006/main">
            <a:off x="5748655" y="2327275"/>
            <a:ext cx="2419172"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85A9BDB-006F-432F-8ABF-9B2566FE5372}"/>
              </a:ext>
            </a:extLst>
          </p:cNvPr>
          <p:cNvSpPr>
            <a:spLocks xmlns:a="http://schemas.openxmlformats.org/drawingml/2006/main" noGrp="1"/>
          </p:cNvSpPr>
          <p:nvPr/>
        </p:nvSpPr>
        <p:spPr>
          <a:xfrm xmlns:a="http://schemas.openxmlformats.org/drawingml/2006/main">
            <a:off x="5824855" y="24130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C62828"/>
                </a:solidFill>
                <a:latin typeface="Arial"/>
                <a:ea typeface="Arial"/>
                <a:cs typeface="Arial"/>
              </a:defRPr>
            </a:pPr>
            <a:r>
              <a:t>HIGH</a:t>
            </a:r>
          </a:p>
        </p:txBody>
      </p:sp>
      <p:sp>
        <p:nvSpPr>
          <p:cNvPr id="25" name="">
            <a:extLst xmlns:a="http://schemas.openxmlformats.org/drawingml/2006/main">
              <a:ext uri="{FF2B5EF4-FFF2-40B4-BE49-F238E27FC236}">
                <a16:creationId xmlns:a16="http://schemas.microsoft.com/office/drawing/2014/main" id="{445E3693-210D-4E39-873A-900DAFCD0589}"/>
              </a:ext>
            </a:extLst>
          </p:cNvPr>
          <p:cNvSpPr>
            <a:spLocks xmlns:a="http://schemas.openxmlformats.org/drawingml/2006/main" noGrp="1"/>
          </p:cNvSpPr>
          <p:nvPr/>
        </p:nvSpPr>
        <p:spPr>
          <a:xfrm xmlns:a="http://schemas.openxmlformats.org/drawingml/2006/main">
            <a:off x="5824855" y="25368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Named nomination, ARAI, 16 features</a:t>
            </a:r>
          </a:p>
        </p:txBody>
      </p:sp>
      <p:sp>
        <p:nvSpPr>
          <p:cNvPr id="26" name="">
            <a:extLst xmlns:a="http://schemas.openxmlformats.org/drawingml/2006/main">
              <a:ext uri="{FF2B5EF4-FFF2-40B4-BE49-F238E27FC236}">
                <a16:creationId xmlns:a16="http://schemas.microsoft.com/office/drawing/2014/main" id="{7C970055-7501-4005-ABCA-4C59872762BE}"/>
              </a:ext>
            </a:extLst>
          </p:cNvPr>
          <p:cNvSpPr>
            <a:spLocks xmlns:a="http://schemas.openxmlformats.org/drawingml/2006/main" noGrp="1"/>
          </p:cNvSpPr>
          <p:nvPr/>
        </p:nvSpPr>
        <p:spPr>
          <a:xfrm xmlns:a="http://schemas.openxmlformats.org/drawingml/2006/main">
            <a:off x="8756015" y="23272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7" name="">
            <a:extLst xmlns:a="http://schemas.openxmlformats.org/drawingml/2006/main">
              <a:ext uri="{FF2B5EF4-FFF2-40B4-BE49-F238E27FC236}">
                <a16:creationId xmlns:a16="http://schemas.microsoft.com/office/drawing/2014/main" id="{BE05A934-4F2C-4D3D-A104-0C183D286125}"/>
              </a:ext>
            </a:extLst>
          </p:cNvPr>
          <p:cNvSpPr>
            <a:spLocks xmlns:a="http://schemas.openxmlformats.org/drawingml/2006/main" noGrp="1"/>
          </p:cNvSpPr>
          <p:nvPr/>
        </p:nvSpPr>
        <p:spPr>
          <a:xfrm xmlns:a="http://schemas.openxmlformats.org/drawingml/2006/main">
            <a:off x="8756015" y="23272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7E9BD75-DF45-432D-ABE0-E093B0B73361}"/>
              </a:ext>
            </a:extLst>
          </p:cNvPr>
          <p:cNvSpPr>
            <a:spLocks xmlns:a="http://schemas.openxmlformats.org/drawingml/2006/main" noGrp="1"/>
          </p:cNvSpPr>
          <p:nvPr/>
        </p:nvSpPr>
        <p:spPr>
          <a:xfrm xmlns:a="http://schemas.openxmlformats.org/drawingml/2006/main">
            <a:off x="8832215" y="24130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29" name="">
            <a:extLst xmlns:a="http://schemas.openxmlformats.org/drawingml/2006/main">
              <a:ext uri="{FF2B5EF4-FFF2-40B4-BE49-F238E27FC236}">
                <a16:creationId xmlns:a16="http://schemas.microsoft.com/office/drawing/2014/main" id="{24F0B88B-CE91-413F-AB1F-1923D432EAB0}"/>
              </a:ext>
            </a:extLst>
          </p:cNvPr>
          <p:cNvSpPr>
            <a:spLocks xmlns:a="http://schemas.openxmlformats.org/drawingml/2006/main" noGrp="1"/>
          </p:cNvSpPr>
          <p:nvPr/>
        </p:nvSpPr>
        <p:spPr>
          <a:xfrm xmlns:a="http://schemas.openxmlformats.org/drawingml/2006/main">
            <a:off x="8832215" y="25368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No retrofit evidence retrieved</a:t>
            </a:r>
          </a:p>
        </p:txBody>
      </p:sp>
      <p:sp>
        <p:nvSpPr>
          <p:cNvPr id="30" name="">
            <a:extLst xmlns:a="http://schemas.openxmlformats.org/drawingml/2006/main">
              <a:ext uri="{FF2B5EF4-FFF2-40B4-BE49-F238E27FC236}">
                <a16:creationId xmlns:a16="http://schemas.microsoft.com/office/drawing/2014/main" id="{069B2133-4145-4EA6-80A2-42947B4353D9}"/>
              </a:ext>
            </a:extLst>
          </p:cNvPr>
          <p:cNvSpPr>
            <a:spLocks xmlns:a="http://schemas.openxmlformats.org/drawingml/2006/main" noGrp="1"/>
          </p:cNvSpPr>
          <p:nvPr/>
        </p:nvSpPr>
        <p:spPr>
          <a:xfrm xmlns:a="http://schemas.openxmlformats.org/drawingml/2006/main">
            <a:off x="457200" y="2870200"/>
            <a:ext cx="2255520" cy="571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9D5352DA-7BDA-4E3E-9463-ACCF602EE971}"/>
              </a:ext>
            </a:extLst>
          </p:cNvPr>
          <p:cNvSpPr>
            <a:spLocks xmlns:a="http://schemas.openxmlformats.org/drawingml/2006/main" noGrp="1"/>
          </p:cNvSpPr>
          <p:nvPr/>
        </p:nvSpPr>
        <p:spPr>
          <a:xfrm xmlns:a="http://schemas.openxmlformats.org/drawingml/2006/main">
            <a:off x="552450" y="2984500"/>
            <a:ext cx="210312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01827"/>
                </a:solidFill>
                <a:latin typeface="Arial"/>
                <a:ea typeface="Arial"/>
                <a:cs typeface="Arial"/>
              </a:defRPr>
            </a:pPr>
            <a:r>
              <a:t>APTIV</a:t>
            </a:r>
          </a:p>
        </p:txBody>
      </p:sp>
      <p:sp>
        <p:nvSpPr>
          <p:cNvPr id="32" name="">
            <a:extLst xmlns:a="http://schemas.openxmlformats.org/drawingml/2006/main">
              <a:ext uri="{FF2B5EF4-FFF2-40B4-BE49-F238E27FC236}">
                <a16:creationId xmlns:a16="http://schemas.microsoft.com/office/drawing/2014/main" id="{F2CE6A8E-BDEB-41D9-95DC-38E42ABBC71B}"/>
              </a:ext>
            </a:extLst>
          </p:cNvPr>
          <p:cNvSpPr>
            <a:spLocks xmlns:a="http://schemas.openxmlformats.org/drawingml/2006/main" noGrp="1"/>
          </p:cNvSpPr>
          <p:nvPr/>
        </p:nvSpPr>
        <p:spPr>
          <a:xfrm xmlns:a="http://schemas.openxmlformats.org/drawingml/2006/main">
            <a:off x="2741295" y="28987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3" name="">
            <a:extLst xmlns:a="http://schemas.openxmlformats.org/drawingml/2006/main">
              <a:ext uri="{FF2B5EF4-FFF2-40B4-BE49-F238E27FC236}">
                <a16:creationId xmlns:a16="http://schemas.microsoft.com/office/drawing/2014/main" id="{048163C6-9427-42DA-9792-1DB7B8770589}"/>
              </a:ext>
            </a:extLst>
          </p:cNvPr>
          <p:cNvSpPr>
            <a:spLocks xmlns:a="http://schemas.openxmlformats.org/drawingml/2006/main" noGrp="1"/>
          </p:cNvSpPr>
          <p:nvPr/>
        </p:nvSpPr>
        <p:spPr>
          <a:xfrm xmlns:a="http://schemas.openxmlformats.org/drawingml/2006/main">
            <a:off x="2741295" y="28987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4DC6516-4733-41B8-8ED0-ACFFF856E561}"/>
              </a:ext>
            </a:extLst>
          </p:cNvPr>
          <p:cNvSpPr>
            <a:spLocks xmlns:a="http://schemas.openxmlformats.org/drawingml/2006/main" noGrp="1"/>
          </p:cNvSpPr>
          <p:nvPr/>
        </p:nvSpPr>
        <p:spPr>
          <a:xfrm xmlns:a="http://schemas.openxmlformats.org/drawingml/2006/main">
            <a:off x="2817495" y="2984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35" name="">
            <a:extLst xmlns:a="http://schemas.openxmlformats.org/drawingml/2006/main">
              <a:ext uri="{FF2B5EF4-FFF2-40B4-BE49-F238E27FC236}">
                <a16:creationId xmlns:a16="http://schemas.microsoft.com/office/drawing/2014/main" id="{E923015A-7266-4F26-B41C-E716D1BF0F1F}"/>
              </a:ext>
            </a:extLst>
          </p:cNvPr>
          <p:cNvSpPr>
            <a:spLocks xmlns:a="http://schemas.openxmlformats.org/drawingml/2006/main" noGrp="1"/>
          </p:cNvSpPr>
          <p:nvPr/>
        </p:nvSpPr>
        <p:spPr>
          <a:xfrm xmlns:a="http://schemas.openxmlformats.org/drawingml/2006/main">
            <a:off x="2817495" y="31083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No evidenced tender activity</a:t>
            </a:r>
          </a:p>
        </p:txBody>
      </p:sp>
      <p:sp>
        <p:nvSpPr>
          <p:cNvPr id="36" name="">
            <a:extLst xmlns:a="http://schemas.openxmlformats.org/drawingml/2006/main">
              <a:ext uri="{FF2B5EF4-FFF2-40B4-BE49-F238E27FC236}">
                <a16:creationId xmlns:a16="http://schemas.microsoft.com/office/drawing/2014/main" id="{74145B71-9298-4F43-8B05-4318F4284565}"/>
              </a:ext>
            </a:extLst>
          </p:cNvPr>
          <p:cNvSpPr>
            <a:spLocks xmlns:a="http://schemas.openxmlformats.org/drawingml/2006/main" noGrp="1"/>
          </p:cNvSpPr>
          <p:nvPr/>
        </p:nvSpPr>
        <p:spPr>
          <a:xfrm xmlns:a="http://schemas.openxmlformats.org/drawingml/2006/main">
            <a:off x="5748655" y="28987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80F839A9-5690-4AA0-BDEB-9C2D0D925899}"/>
              </a:ext>
            </a:extLst>
          </p:cNvPr>
          <p:cNvSpPr>
            <a:spLocks xmlns:a="http://schemas.openxmlformats.org/drawingml/2006/main" noGrp="1"/>
          </p:cNvSpPr>
          <p:nvPr/>
        </p:nvSpPr>
        <p:spPr>
          <a:xfrm xmlns:a="http://schemas.openxmlformats.org/drawingml/2006/main">
            <a:off x="5748655" y="2898775"/>
            <a:ext cx="2419172"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408330C5-6795-4FF6-8BB4-EFD2A3C8DEFE}"/>
              </a:ext>
            </a:extLst>
          </p:cNvPr>
          <p:cNvSpPr>
            <a:spLocks xmlns:a="http://schemas.openxmlformats.org/drawingml/2006/main" noGrp="1"/>
          </p:cNvSpPr>
          <p:nvPr/>
        </p:nvSpPr>
        <p:spPr>
          <a:xfrm xmlns:a="http://schemas.openxmlformats.org/drawingml/2006/main">
            <a:off x="5824855" y="2984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C62828"/>
                </a:solidFill>
                <a:latin typeface="Arial"/>
                <a:ea typeface="Arial"/>
                <a:cs typeface="Arial"/>
              </a:defRPr>
            </a:pPr>
            <a:r>
              <a:t>HIGH</a:t>
            </a:r>
          </a:p>
        </p:txBody>
      </p:sp>
      <p:sp>
        <p:nvSpPr>
          <p:cNvPr id="39" name="">
            <a:extLst xmlns:a="http://schemas.openxmlformats.org/drawingml/2006/main">
              <a:ext uri="{FF2B5EF4-FFF2-40B4-BE49-F238E27FC236}">
                <a16:creationId xmlns:a16="http://schemas.microsoft.com/office/drawing/2014/main" id="{AAC58AF1-EFE6-444B-8599-6D193E0969B4}"/>
              </a:ext>
            </a:extLst>
          </p:cNvPr>
          <p:cNvSpPr>
            <a:spLocks xmlns:a="http://schemas.openxmlformats.org/drawingml/2006/main" noGrp="1"/>
          </p:cNvSpPr>
          <p:nvPr/>
        </p:nvSpPr>
        <p:spPr>
          <a:xfrm xmlns:a="http://schemas.openxmlformats.org/drawingml/2006/main">
            <a:off x="5824855" y="31083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Named CV OEM platform win, 14 models</a:t>
            </a:r>
          </a:p>
        </p:txBody>
      </p:sp>
      <p:sp>
        <p:nvSpPr>
          <p:cNvPr id="40" name="">
            <a:extLst xmlns:a="http://schemas.openxmlformats.org/drawingml/2006/main">
              <a:ext uri="{FF2B5EF4-FFF2-40B4-BE49-F238E27FC236}">
                <a16:creationId xmlns:a16="http://schemas.microsoft.com/office/drawing/2014/main" id="{E1347FEA-3A1D-438B-B620-0B75FACD65FA}"/>
              </a:ext>
            </a:extLst>
          </p:cNvPr>
          <p:cNvSpPr>
            <a:spLocks xmlns:a="http://schemas.openxmlformats.org/drawingml/2006/main" noGrp="1"/>
          </p:cNvSpPr>
          <p:nvPr/>
        </p:nvSpPr>
        <p:spPr>
          <a:xfrm xmlns:a="http://schemas.openxmlformats.org/drawingml/2006/main">
            <a:off x="8756015" y="28987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1" name="">
            <a:extLst xmlns:a="http://schemas.openxmlformats.org/drawingml/2006/main">
              <a:ext uri="{FF2B5EF4-FFF2-40B4-BE49-F238E27FC236}">
                <a16:creationId xmlns:a16="http://schemas.microsoft.com/office/drawing/2014/main" id="{627262F3-67D2-4D6E-B53A-FE41D028ADB7}"/>
              </a:ext>
            </a:extLst>
          </p:cNvPr>
          <p:cNvSpPr>
            <a:spLocks xmlns:a="http://schemas.openxmlformats.org/drawingml/2006/main" noGrp="1"/>
          </p:cNvSpPr>
          <p:nvPr/>
        </p:nvSpPr>
        <p:spPr>
          <a:xfrm xmlns:a="http://schemas.openxmlformats.org/drawingml/2006/main">
            <a:off x="8756015" y="28987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7BD889E9-826B-4FAC-966B-68C460C46A5A}"/>
              </a:ext>
            </a:extLst>
          </p:cNvPr>
          <p:cNvSpPr>
            <a:spLocks xmlns:a="http://schemas.openxmlformats.org/drawingml/2006/main" noGrp="1"/>
          </p:cNvSpPr>
          <p:nvPr/>
        </p:nvSpPr>
        <p:spPr>
          <a:xfrm xmlns:a="http://schemas.openxmlformats.org/drawingml/2006/main">
            <a:off x="8832215" y="2984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43" name="">
            <a:extLst xmlns:a="http://schemas.openxmlformats.org/drawingml/2006/main">
              <a:ext uri="{FF2B5EF4-FFF2-40B4-BE49-F238E27FC236}">
                <a16:creationId xmlns:a16="http://schemas.microsoft.com/office/drawing/2014/main" id="{8EEA0CD6-EA2C-4E73-8963-7A9E58C526D2}"/>
              </a:ext>
            </a:extLst>
          </p:cNvPr>
          <p:cNvSpPr>
            <a:spLocks xmlns:a="http://schemas.openxmlformats.org/drawingml/2006/main" noGrp="1"/>
          </p:cNvSpPr>
          <p:nvPr/>
        </p:nvSpPr>
        <p:spPr>
          <a:xfrm xmlns:a="http://schemas.openxmlformats.org/drawingml/2006/main">
            <a:off x="8832215" y="31083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Not a retrofit player</a:t>
            </a:r>
          </a:p>
        </p:txBody>
      </p:sp>
      <p:sp>
        <p:nvSpPr>
          <p:cNvPr id="44" name="">
            <a:extLst xmlns:a="http://schemas.openxmlformats.org/drawingml/2006/main">
              <a:ext uri="{FF2B5EF4-FFF2-40B4-BE49-F238E27FC236}">
                <a16:creationId xmlns:a16="http://schemas.microsoft.com/office/drawing/2014/main" id="{03EBC3AF-5B81-47E4-8FD2-93CA617A2157}"/>
              </a:ext>
            </a:extLst>
          </p:cNvPr>
          <p:cNvSpPr>
            <a:spLocks xmlns:a="http://schemas.openxmlformats.org/drawingml/2006/main" noGrp="1"/>
          </p:cNvSpPr>
          <p:nvPr/>
        </p:nvSpPr>
        <p:spPr>
          <a:xfrm xmlns:a="http://schemas.openxmlformats.org/drawingml/2006/main">
            <a:off x="457200" y="3441700"/>
            <a:ext cx="2255520" cy="571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5" name="">
            <a:extLst xmlns:a="http://schemas.openxmlformats.org/drawingml/2006/main">
              <a:ext uri="{FF2B5EF4-FFF2-40B4-BE49-F238E27FC236}">
                <a16:creationId xmlns:a16="http://schemas.microsoft.com/office/drawing/2014/main" id="{9A9A1878-8B50-482C-88E2-0665DC3F7BC9}"/>
              </a:ext>
            </a:extLst>
          </p:cNvPr>
          <p:cNvSpPr>
            <a:spLocks xmlns:a="http://schemas.openxmlformats.org/drawingml/2006/main" noGrp="1"/>
          </p:cNvSpPr>
          <p:nvPr/>
        </p:nvSpPr>
        <p:spPr>
          <a:xfrm xmlns:a="http://schemas.openxmlformats.org/drawingml/2006/main">
            <a:off x="552450" y="3556000"/>
            <a:ext cx="210312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01827"/>
                </a:solidFill>
                <a:latin typeface="Arial"/>
                <a:ea typeface="Arial"/>
                <a:cs typeface="Arial"/>
              </a:defRPr>
            </a:pPr>
            <a:r>
              <a:t>STRADVISION</a:t>
            </a:r>
          </a:p>
        </p:txBody>
      </p:sp>
      <p:sp>
        <p:nvSpPr>
          <p:cNvPr id="46" name="">
            <a:extLst xmlns:a="http://schemas.openxmlformats.org/drawingml/2006/main">
              <a:ext uri="{FF2B5EF4-FFF2-40B4-BE49-F238E27FC236}">
                <a16:creationId xmlns:a16="http://schemas.microsoft.com/office/drawing/2014/main" id="{8508861F-BC13-4600-B18A-E5B786B390D1}"/>
              </a:ext>
            </a:extLst>
          </p:cNvPr>
          <p:cNvSpPr>
            <a:spLocks xmlns:a="http://schemas.openxmlformats.org/drawingml/2006/main" noGrp="1"/>
          </p:cNvSpPr>
          <p:nvPr/>
        </p:nvSpPr>
        <p:spPr>
          <a:xfrm xmlns:a="http://schemas.openxmlformats.org/drawingml/2006/main">
            <a:off x="2741295" y="34702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7" name="">
            <a:extLst xmlns:a="http://schemas.openxmlformats.org/drawingml/2006/main">
              <a:ext uri="{FF2B5EF4-FFF2-40B4-BE49-F238E27FC236}">
                <a16:creationId xmlns:a16="http://schemas.microsoft.com/office/drawing/2014/main" id="{2558DE54-AE2A-4A2B-84EB-19C946EB317C}"/>
              </a:ext>
            </a:extLst>
          </p:cNvPr>
          <p:cNvSpPr>
            <a:spLocks xmlns:a="http://schemas.openxmlformats.org/drawingml/2006/main" noGrp="1"/>
          </p:cNvSpPr>
          <p:nvPr/>
        </p:nvSpPr>
        <p:spPr>
          <a:xfrm xmlns:a="http://schemas.openxmlformats.org/drawingml/2006/main">
            <a:off x="2741295" y="34702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1B8B66FD-8207-43CE-AABF-20C33285CEB7}"/>
              </a:ext>
            </a:extLst>
          </p:cNvPr>
          <p:cNvSpPr>
            <a:spLocks xmlns:a="http://schemas.openxmlformats.org/drawingml/2006/main" noGrp="1"/>
          </p:cNvSpPr>
          <p:nvPr/>
        </p:nvSpPr>
        <p:spPr>
          <a:xfrm xmlns:a="http://schemas.openxmlformats.org/drawingml/2006/main">
            <a:off x="2817495" y="35560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49" name="">
            <a:extLst xmlns:a="http://schemas.openxmlformats.org/drawingml/2006/main">
              <a:ext uri="{FF2B5EF4-FFF2-40B4-BE49-F238E27FC236}">
                <a16:creationId xmlns:a16="http://schemas.microsoft.com/office/drawing/2014/main" id="{F3DE551D-B6E1-45FB-9C10-A15C539B5432}"/>
              </a:ext>
            </a:extLst>
          </p:cNvPr>
          <p:cNvSpPr>
            <a:spLocks xmlns:a="http://schemas.openxmlformats.org/drawingml/2006/main" noGrp="1"/>
          </p:cNvSpPr>
          <p:nvPr/>
        </p:nvSpPr>
        <p:spPr>
          <a:xfrm xmlns:a="http://schemas.openxmlformats.org/drawingml/2006/main">
            <a:off x="2817495" y="36798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No evidenced position</a:t>
            </a:r>
          </a:p>
        </p:txBody>
      </p:sp>
      <p:sp>
        <p:nvSpPr>
          <p:cNvPr id="50" name="">
            <a:extLst xmlns:a="http://schemas.openxmlformats.org/drawingml/2006/main">
              <a:ext uri="{FF2B5EF4-FFF2-40B4-BE49-F238E27FC236}">
                <a16:creationId xmlns:a16="http://schemas.microsoft.com/office/drawing/2014/main" id="{BCB1AEA7-824E-404F-A55B-10A1C01534AC}"/>
              </a:ext>
            </a:extLst>
          </p:cNvPr>
          <p:cNvSpPr>
            <a:spLocks xmlns:a="http://schemas.openxmlformats.org/drawingml/2006/main" noGrp="1"/>
          </p:cNvSpPr>
          <p:nvPr/>
        </p:nvSpPr>
        <p:spPr>
          <a:xfrm xmlns:a="http://schemas.openxmlformats.org/drawingml/2006/main">
            <a:off x="5748655" y="34702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51" name="">
            <a:extLst xmlns:a="http://schemas.openxmlformats.org/drawingml/2006/main">
              <a:ext uri="{FF2B5EF4-FFF2-40B4-BE49-F238E27FC236}">
                <a16:creationId xmlns:a16="http://schemas.microsoft.com/office/drawing/2014/main" id="{416565B0-E8AC-4753-B96A-2EDDD3F7D85E}"/>
              </a:ext>
            </a:extLst>
          </p:cNvPr>
          <p:cNvSpPr>
            <a:spLocks xmlns:a="http://schemas.openxmlformats.org/drawingml/2006/main" noGrp="1"/>
          </p:cNvSpPr>
          <p:nvPr/>
        </p:nvSpPr>
        <p:spPr>
          <a:xfrm xmlns:a="http://schemas.openxmlformats.org/drawingml/2006/main">
            <a:off x="5748655" y="3470275"/>
            <a:ext cx="2419172"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6A0B5D5D-F8BF-463E-886C-C1478234F942}"/>
              </a:ext>
            </a:extLst>
          </p:cNvPr>
          <p:cNvSpPr>
            <a:spLocks xmlns:a="http://schemas.openxmlformats.org/drawingml/2006/main" noGrp="1"/>
          </p:cNvSpPr>
          <p:nvPr/>
        </p:nvSpPr>
        <p:spPr>
          <a:xfrm xmlns:a="http://schemas.openxmlformats.org/drawingml/2006/main">
            <a:off x="5824855" y="35560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C62828"/>
                </a:solidFill>
                <a:latin typeface="Arial"/>
                <a:ea typeface="Arial"/>
                <a:cs typeface="Arial"/>
              </a:defRPr>
            </a:pPr>
            <a:r>
              <a:t>HIGH</a:t>
            </a:r>
          </a:p>
        </p:txBody>
      </p:sp>
      <p:sp>
        <p:nvSpPr>
          <p:cNvPr id="53" name="">
            <a:extLst xmlns:a="http://schemas.openxmlformats.org/drawingml/2006/main">
              <a:ext uri="{FF2B5EF4-FFF2-40B4-BE49-F238E27FC236}">
                <a16:creationId xmlns:a16="http://schemas.microsoft.com/office/drawing/2014/main" id="{BC8E360E-0488-4A82-AE8B-C80499BA8797}"/>
              </a:ext>
            </a:extLst>
          </p:cNvPr>
          <p:cNvSpPr>
            <a:spLocks xmlns:a="http://schemas.openxmlformats.org/drawingml/2006/main" noGrp="1"/>
          </p:cNvSpPr>
          <p:nvPr/>
        </p:nvSpPr>
        <p:spPr>
          <a:xfrm xmlns:a="http://schemas.openxmlformats.org/drawingml/2006/main">
            <a:off x="5824855" y="36798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Embedded in the winning Gen 6 stack</a:t>
            </a:r>
          </a:p>
        </p:txBody>
      </p:sp>
      <p:sp>
        <p:nvSpPr>
          <p:cNvPr id="54" name="">
            <a:extLst xmlns:a="http://schemas.openxmlformats.org/drawingml/2006/main">
              <a:ext uri="{FF2B5EF4-FFF2-40B4-BE49-F238E27FC236}">
                <a16:creationId xmlns:a16="http://schemas.microsoft.com/office/drawing/2014/main" id="{A760B734-52A4-4348-BF7B-DF048E731218}"/>
              </a:ext>
            </a:extLst>
          </p:cNvPr>
          <p:cNvSpPr>
            <a:spLocks xmlns:a="http://schemas.openxmlformats.org/drawingml/2006/main" noGrp="1"/>
          </p:cNvSpPr>
          <p:nvPr/>
        </p:nvSpPr>
        <p:spPr>
          <a:xfrm xmlns:a="http://schemas.openxmlformats.org/drawingml/2006/main">
            <a:off x="8756015" y="34702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55" name="">
            <a:extLst xmlns:a="http://schemas.openxmlformats.org/drawingml/2006/main">
              <a:ext uri="{FF2B5EF4-FFF2-40B4-BE49-F238E27FC236}">
                <a16:creationId xmlns:a16="http://schemas.microsoft.com/office/drawing/2014/main" id="{6E434ED7-9511-4C57-A743-9927405F5AFE}"/>
              </a:ext>
            </a:extLst>
          </p:cNvPr>
          <p:cNvSpPr>
            <a:spLocks xmlns:a="http://schemas.openxmlformats.org/drawingml/2006/main" noGrp="1"/>
          </p:cNvSpPr>
          <p:nvPr/>
        </p:nvSpPr>
        <p:spPr>
          <a:xfrm xmlns:a="http://schemas.openxmlformats.org/drawingml/2006/main">
            <a:off x="8756015" y="34702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4BAF1A77-593F-47DE-A1C9-8CD9F9971609}"/>
              </a:ext>
            </a:extLst>
          </p:cNvPr>
          <p:cNvSpPr>
            <a:spLocks xmlns:a="http://schemas.openxmlformats.org/drawingml/2006/main" noGrp="1"/>
          </p:cNvSpPr>
          <p:nvPr/>
        </p:nvSpPr>
        <p:spPr>
          <a:xfrm xmlns:a="http://schemas.openxmlformats.org/drawingml/2006/main">
            <a:off x="8832215" y="35560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57" name="">
            <a:extLst xmlns:a="http://schemas.openxmlformats.org/drawingml/2006/main">
              <a:ext uri="{FF2B5EF4-FFF2-40B4-BE49-F238E27FC236}">
                <a16:creationId xmlns:a16="http://schemas.microsoft.com/office/drawing/2014/main" id="{EBABF1B0-53C0-4EC0-93AA-B3CA6B6FA31F}"/>
              </a:ext>
            </a:extLst>
          </p:cNvPr>
          <p:cNvSpPr>
            <a:spLocks xmlns:a="http://schemas.openxmlformats.org/drawingml/2006/main" noGrp="1"/>
          </p:cNvSpPr>
          <p:nvPr/>
        </p:nvSpPr>
        <p:spPr>
          <a:xfrm xmlns:a="http://schemas.openxmlformats.org/drawingml/2006/main">
            <a:off x="8832215" y="36798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Not a retrofit player</a:t>
            </a:r>
          </a:p>
        </p:txBody>
      </p:sp>
      <p:sp>
        <p:nvSpPr>
          <p:cNvPr id="58" name="">
            <a:extLst xmlns:a="http://schemas.openxmlformats.org/drawingml/2006/main">
              <a:ext uri="{FF2B5EF4-FFF2-40B4-BE49-F238E27FC236}">
                <a16:creationId xmlns:a16="http://schemas.microsoft.com/office/drawing/2014/main" id="{172EA7CC-9841-4D54-8D9B-3E613A79422D}"/>
              </a:ext>
            </a:extLst>
          </p:cNvPr>
          <p:cNvSpPr>
            <a:spLocks xmlns:a="http://schemas.openxmlformats.org/drawingml/2006/main" noGrp="1"/>
          </p:cNvSpPr>
          <p:nvPr/>
        </p:nvSpPr>
        <p:spPr>
          <a:xfrm xmlns:a="http://schemas.openxmlformats.org/drawingml/2006/main">
            <a:off x="457200" y="4013200"/>
            <a:ext cx="2255520" cy="571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59" name="">
            <a:extLst xmlns:a="http://schemas.openxmlformats.org/drawingml/2006/main">
              <a:ext uri="{FF2B5EF4-FFF2-40B4-BE49-F238E27FC236}">
                <a16:creationId xmlns:a16="http://schemas.microsoft.com/office/drawing/2014/main" id="{ADDF340C-15FC-48E6-A5F3-99E3C976E78D}"/>
              </a:ext>
            </a:extLst>
          </p:cNvPr>
          <p:cNvSpPr>
            <a:spLocks xmlns:a="http://schemas.openxmlformats.org/drawingml/2006/main" noGrp="1"/>
          </p:cNvSpPr>
          <p:nvPr/>
        </p:nvSpPr>
        <p:spPr>
          <a:xfrm xmlns:a="http://schemas.openxmlformats.org/drawingml/2006/main">
            <a:off x="552450" y="4127500"/>
            <a:ext cx="210312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01827"/>
                </a:solidFill>
                <a:latin typeface="Arial"/>
                <a:ea typeface="Arial"/>
                <a:cs typeface="Arial"/>
              </a:defRPr>
            </a:pPr>
            <a:r>
              <a:t>STARKENN</a:t>
            </a:r>
          </a:p>
        </p:txBody>
      </p:sp>
      <p:sp>
        <p:nvSpPr>
          <p:cNvPr id="60" name="">
            <a:extLst xmlns:a="http://schemas.openxmlformats.org/drawingml/2006/main">
              <a:ext uri="{FF2B5EF4-FFF2-40B4-BE49-F238E27FC236}">
                <a16:creationId xmlns:a16="http://schemas.microsoft.com/office/drawing/2014/main" id="{706B4400-7FB2-41EC-8EA8-52943526DBB6}"/>
              </a:ext>
            </a:extLst>
          </p:cNvPr>
          <p:cNvSpPr>
            <a:spLocks xmlns:a="http://schemas.openxmlformats.org/drawingml/2006/main" noGrp="1"/>
          </p:cNvSpPr>
          <p:nvPr/>
        </p:nvSpPr>
        <p:spPr>
          <a:xfrm xmlns:a="http://schemas.openxmlformats.org/drawingml/2006/main">
            <a:off x="2741295" y="40417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61" name="">
            <a:extLst xmlns:a="http://schemas.openxmlformats.org/drawingml/2006/main">
              <a:ext uri="{FF2B5EF4-FFF2-40B4-BE49-F238E27FC236}">
                <a16:creationId xmlns:a16="http://schemas.microsoft.com/office/drawing/2014/main" id="{3EA0B292-1AF7-4648-B227-BB7ECCA8AA3C}"/>
              </a:ext>
            </a:extLst>
          </p:cNvPr>
          <p:cNvSpPr>
            <a:spLocks xmlns:a="http://schemas.openxmlformats.org/drawingml/2006/main" noGrp="1"/>
          </p:cNvSpPr>
          <p:nvPr/>
        </p:nvSpPr>
        <p:spPr>
          <a:xfrm xmlns:a="http://schemas.openxmlformats.org/drawingml/2006/main">
            <a:off x="2741295" y="4041775"/>
            <a:ext cx="2419172"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8A5DDA62-590F-4D35-B9A8-7BA98A93E4BD}"/>
              </a:ext>
            </a:extLst>
          </p:cNvPr>
          <p:cNvSpPr>
            <a:spLocks xmlns:a="http://schemas.openxmlformats.org/drawingml/2006/main" noGrp="1"/>
          </p:cNvSpPr>
          <p:nvPr/>
        </p:nvSpPr>
        <p:spPr>
          <a:xfrm xmlns:a="http://schemas.openxmlformats.org/drawingml/2006/main">
            <a:off x="2817495" y="4127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C62828"/>
                </a:solidFill>
                <a:latin typeface="Arial"/>
                <a:ea typeface="Arial"/>
                <a:cs typeface="Arial"/>
              </a:defRPr>
            </a:pPr>
            <a:r>
              <a:t>HIGH</a:t>
            </a:r>
          </a:p>
        </p:txBody>
      </p:sp>
      <p:sp>
        <p:nvSpPr>
          <p:cNvPr id="63" name="">
            <a:extLst xmlns:a="http://schemas.openxmlformats.org/drawingml/2006/main">
              <a:ext uri="{FF2B5EF4-FFF2-40B4-BE49-F238E27FC236}">
                <a16:creationId xmlns:a16="http://schemas.microsoft.com/office/drawing/2014/main" id="{3B523F79-6A38-4B50-8B01-07761C95169A}"/>
              </a:ext>
            </a:extLst>
          </p:cNvPr>
          <p:cNvSpPr>
            <a:spLocks xmlns:a="http://schemas.openxmlformats.org/drawingml/2006/main" noGrp="1"/>
          </p:cNvSpPr>
          <p:nvPr/>
        </p:nvSpPr>
        <p:spPr>
          <a:xfrm xmlns:a="http://schemas.openxmlformats.org/drawingml/2006/main">
            <a:off x="2817495" y="42513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30% tender revenue — the durable fact</a:t>
            </a:r>
          </a:p>
        </p:txBody>
      </p:sp>
      <p:sp>
        <p:nvSpPr>
          <p:cNvPr id="64" name="">
            <a:extLst xmlns:a="http://schemas.openxmlformats.org/drawingml/2006/main">
              <a:ext uri="{FF2B5EF4-FFF2-40B4-BE49-F238E27FC236}">
                <a16:creationId xmlns:a16="http://schemas.microsoft.com/office/drawing/2014/main" id="{3880AF65-E9F9-4C23-88BE-7752F41F1071}"/>
              </a:ext>
            </a:extLst>
          </p:cNvPr>
          <p:cNvSpPr>
            <a:spLocks xmlns:a="http://schemas.openxmlformats.org/drawingml/2006/main" noGrp="1"/>
          </p:cNvSpPr>
          <p:nvPr/>
        </p:nvSpPr>
        <p:spPr>
          <a:xfrm xmlns:a="http://schemas.openxmlformats.org/drawingml/2006/main">
            <a:off x="5748655" y="40417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65" name="">
            <a:extLst xmlns:a="http://schemas.openxmlformats.org/drawingml/2006/main">
              <a:ext uri="{FF2B5EF4-FFF2-40B4-BE49-F238E27FC236}">
                <a16:creationId xmlns:a16="http://schemas.microsoft.com/office/drawing/2014/main" id="{F7EC60D6-1FA5-4EDB-A277-5B84D5B12D89}"/>
              </a:ext>
            </a:extLst>
          </p:cNvPr>
          <p:cNvSpPr>
            <a:spLocks xmlns:a="http://schemas.openxmlformats.org/drawingml/2006/main" noGrp="1"/>
          </p:cNvSpPr>
          <p:nvPr/>
        </p:nvSpPr>
        <p:spPr>
          <a:xfrm xmlns:a="http://schemas.openxmlformats.org/drawingml/2006/main">
            <a:off x="5748655" y="40417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F47527E4-F384-47F2-AC73-789A4F2889DC}"/>
              </a:ext>
            </a:extLst>
          </p:cNvPr>
          <p:cNvSpPr>
            <a:spLocks xmlns:a="http://schemas.openxmlformats.org/drawingml/2006/main" noGrp="1"/>
          </p:cNvSpPr>
          <p:nvPr/>
        </p:nvSpPr>
        <p:spPr>
          <a:xfrm xmlns:a="http://schemas.openxmlformats.org/drawingml/2006/main">
            <a:off x="5824855" y="4127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67" name="">
            <a:extLst xmlns:a="http://schemas.openxmlformats.org/drawingml/2006/main">
              <a:ext uri="{FF2B5EF4-FFF2-40B4-BE49-F238E27FC236}">
                <a16:creationId xmlns:a16="http://schemas.microsoft.com/office/drawing/2014/main" id="{D27C9CC6-9BB8-4F12-A077-6797BDD218FC}"/>
              </a:ext>
            </a:extLst>
          </p:cNvPr>
          <p:cNvSpPr>
            <a:spLocks xmlns:a="http://schemas.openxmlformats.org/drawingml/2006/main" noGrp="1"/>
          </p:cNvSpPr>
          <p:nvPr/>
        </p:nvSpPr>
        <p:spPr>
          <a:xfrm xmlns:a="http://schemas.openxmlformats.org/drawingml/2006/main">
            <a:off x="5824855" y="42513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10% of revenue, no named OEM</a:t>
            </a:r>
          </a:p>
        </p:txBody>
      </p:sp>
      <p:sp>
        <p:nvSpPr>
          <p:cNvPr id="68" name="">
            <a:extLst xmlns:a="http://schemas.openxmlformats.org/drawingml/2006/main">
              <a:ext uri="{FF2B5EF4-FFF2-40B4-BE49-F238E27FC236}">
                <a16:creationId xmlns:a16="http://schemas.microsoft.com/office/drawing/2014/main" id="{978352D6-4DEF-4442-ADE4-76E355CBCA6B}"/>
              </a:ext>
            </a:extLst>
          </p:cNvPr>
          <p:cNvSpPr>
            <a:spLocks xmlns:a="http://schemas.openxmlformats.org/drawingml/2006/main" noGrp="1"/>
          </p:cNvSpPr>
          <p:nvPr/>
        </p:nvSpPr>
        <p:spPr>
          <a:xfrm xmlns:a="http://schemas.openxmlformats.org/drawingml/2006/main">
            <a:off x="8756015" y="4041775"/>
            <a:ext cx="2950210" cy="5143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69" name="">
            <a:extLst xmlns:a="http://schemas.openxmlformats.org/drawingml/2006/main">
              <a:ext uri="{FF2B5EF4-FFF2-40B4-BE49-F238E27FC236}">
                <a16:creationId xmlns:a16="http://schemas.microsoft.com/office/drawing/2014/main" id="{56373FEE-1F41-449D-9691-F6E9B01AC25D}"/>
              </a:ext>
            </a:extLst>
          </p:cNvPr>
          <p:cNvSpPr>
            <a:spLocks xmlns:a="http://schemas.openxmlformats.org/drawingml/2006/main" noGrp="1"/>
          </p:cNvSpPr>
          <p:nvPr/>
        </p:nvSpPr>
        <p:spPr>
          <a:xfrm xmlns:a="http://schemas.openxmlformats.org/drawingml/2006/main">
            <a:off x="8756015" y="4041775"/>
            <a:ext cx="1475105"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7525A418-15EF-42B4-A93F-FF2C74900370}"/>
              </a:ext>
            </a:extLst>
          </p:cNvPr>
          <p:cNvSpPr>
            <a:spLocks xmlns:a="http://schemas.openxmlformats.org/drawingml/2006/main" noGrp="1"/>
          </p:cNvSpPr>
          <p:nvPr/>
        </p:nvSpPr>
        <p:spPr>
          <a:xfrm xmlns:a="http://schemas.openxmlformats.org/drawingml/2006/main">
            <a:off x="8832215" y="4127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37A87"/>
                </a:solidFill>
                <a:latin typeface="Arial"/>
                <a:ea typeface="Arial"/>
                <a:cs typeface="Arial"/>
              </a:defRPr>
            </a:pPr>
            <a:r>
              <a:t>MEDIUM</a:t>
            </a:r>
          </a:p>
        </p:txBody>
      </p:sp>
      <p:sp>
        <p:nvSpPr>
          <p:cNvPr id="71" name="">
            <a:extLst xmlns:a="http://schemas.openxmlformats.org/drawingml/2006/main">
              <a:ext uri="{FF2B5EF4-FFF2-40B4-BE49-F238E27FC236}">
                <a16:creationId xmlns:a16="http://schemas.microsoft.com/office/drawing/2014/main" id="{D21D998B-36C5-4682-A0FB-590BD567EDD0}"/>
              </a:ext>
            </a:extLst>
          </p:cNvPr>
          <p:cNvSpPr>
            <a:spLocks xmlns:a="http://schemas.openxmlformats.org/drawingml/2006/main" noGrp="1"/>
          </p:cNvSpPr>
          <p:nvPr/>
        </p:nvSpPr>
        <p:spPr>
          <a:xfrm xmlns:a="http://schemas.openxmlformats.org/drawingml/2006/main">
            <a:off x="8832215" y="4251325"/>
            <a:ext cx="279781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Real presence; scale unstatable</a:t>
            </a:r>
          </a:p>
        </p:txBody>
      </p:sp>
      <p:sp>
        <p:nvSpPr>
          <p:cNvPr id="72" name="">
            <a:extLst xmlns:a="http://schemas.openxmlformats.org/drawingml/2006/main">
              <a:ext uri="{FF2B5EF4-FFF2-40B4-BE49-F238E27FC236}">
                <a16:creationId xmlns:a16="http://schemas.microsoft.com/office/drawing/2014/main" id="{3659DC10-2250-40C0-9AB9-9475445A08AD}"/>
              </a:ext>
            </a:extLst>
          </p:cNvPr>
          <p:cNvSpPr>
            <a:spLocks xmlns:a="http://schemas.openxmlformats.org/drawingml/2006/main" noGrp="1"/>
          </p:cNvSpPr>
          <p:nvPr/>
        </p:nvSpPr>
        <p:spPr>
          <a:xfrm xmlns:a="http://schemas.openxmlformats.org/drawingml/2006/main">
            <a:off x="457200" y="4699000"/>
            <a:ext cx="5581650" cy="854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73" name="">
            <a:extLst xmlns:a="http://schemas.openxmlformats.org/drawingml/2006/main">
              <a:ext uri="{FF2B5EF4-FFF2-40B4-BE49-F238E27FC236}">
                <a16:creationId xmlns:a16="http://schemas.microsoft.com/office/drawing/2014/main" id="{7AEC6CE9-E862-4A1F-9C2B-EF46BBA08EC3}"/>
              </a:ext>
            </a:extLst>
          </p:cNvPr>
          <p:cNvSpPr>
            <a:spLocks xmlns:a="http://schemas.openxmlformats.org/drawingml/2006/main" noGrp="1"/>
          </p:cNvSpPr>
          <p:nvPr/>
        </p:nvSpPr>
        <p:spPr>
          <a:xfrm xmlns:a="http://schemas.openxmlformats.org/drawingml/2006/main">
            <a:off x="457200" y="4699000"/>
            <a:ext cx="28575" cy="8540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E8CE57C5-4B06-4966-833E-131B3BA25B05}"/>
              </a:ext>
            </a:extLst>
          </p:cNvPr>
          <p:cNvSpPr>
            <a:spLocks xmlns:a="http://schemas.openxmlformats.org/drawingml/2006/main" noGrp="1"/>
          </p:cNvSpPr>
          <p:nvPr/>
        </p:nvSpPr>
        <p:spPr>
          <a:xfrm xmlns:a="http://schemas.openxmlformats.org/drawingml/2006/main">
            <a:off x="581025" y="47656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WHY THE RATING MOVES BETWEEN ARENAS</a:t>
            </a:r>
          </a:p>
        </p:txBody>
      </p:sp>
      <p:sp>
        <p:nvSpPr>
          <p:cNvPr id="75" name="">
            <a:extLst xmlns:a="http://schemas.openxmlformats.org/drawingml/2006/main">
              <a:ext uri="{FF2B5EF4-FFF2-40B4-BE49-F238E27FC236}">
                <a16:creationId xmlns:a16="http://schemas.microsoft.com/office/drawing/2014/main" id="{E61FC0BE-0C51-42DD-B470-57C9B4C182D2}"/>
              </a:ext>
            </a:extLst>
          </p:cNvPr>
          <p:cNvSpPr>
            <a:spLocks xmlns:a="http://schemas.openxmlformats.org/drawingml/2006/main" noGrp="1"/>
          </p:cNvSpPr>
          <p:nvPr/>
        </p:nvSpPr>
        <p:spPr>
          <a:xfrm xmlns:a="http://schemas.openxmlformats.org/drawingml/2006/main">
            <a:off x="581025" y="49149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Threat is a function of control, not of product overlap. A competitor becomes dangerous when it owns something DeepGrid must pass through, so the war-room ranks by control point rather than by feature similarity.</a:t>
            </a:r>
          </a:p>
        </p:txBody>
      </p:sp>
      <p:sp>
        <p:nvSpPr>
          <p:cNvPr id="76" name="">
            <a:extLst xmlns:a="http://schemas.openxmlformats.org/drawingml/2006/main">
              <a:ext uri="{FF2B5EF4-FFF2-40B4-BE49-F238E27FC236}">
                <a16:creationId xmlns:a16="http://schemas.microsoft.com/office/drawing/2014/main" id="{42385F99-0688-4C55-B7C2-013FC712BA2D}"/>
              </a:ext>
            </a:extLst>
          </p:cNvPr>
          <p:cNvSpPr>
            <a:spLocks xmlns:a="http://schemas.openxmlformats.org/drawingml/2006/main" noGrp="1"/>
          </p:cNvSpPr>
          <p:nvPr/>
        </p:nvSpPr>
        <p:spPr>
          <a:xfrm xmlns:a="http://schemas.openxmlformats.org/drawingml/2006/main">
            <a:off x="6153150" y="4699000"/>
            <a:ext cx="5581650" cy="492125"/>
          </a:xfrm>
          <a:prstGeom xmlns:a="http://schemas.openxmlformats.org/drawingml/2006/main" prst="rect">
            <a:avLst/>
          </a:prstGeom>
          <a:solidFill xmlns:a="http://schemas.openxmlformats.org/drawingml/2006/main">
            <a:srgbClr val="FFF7EC"/>
          </a:solidFill>
          <a:ln xmlns:a="http://schemas.openxmlformats.org/drawingml/2006/main" w="9525">
            <a:solidFill>
              <a:srgbClr val="D8E2E7"/>
            </a:solidFill>
            <a:prstDash val="solid"/>
          </a:ln>
        </p:spPr>
      </p:sp>
      <p:sp>
        <p:nvSpPr>
          <p:cNvPr id="77" name="">
            <a:extLst xmlns:a="http://schemas.openxmlformats.org/drawingml/2006/main">
              <a:ext uri="{FF2B5EF4-FFF2-40B4-BE49-F238E27FC236}">
                <a16:creationId xmlns:a16="http://schemas.microsoft.com/office/drawing/2014/main" id="{A9E4065B-A9D4-4275-941A-0A3EECD4E2EB}"/>
              </a:ext>
            </a:extLst>
          </p:cNvPr>
          <p:cNvSpPr>
            <a:spLocks xmlns:a="http://schemas.openxmlformats.org/drawingml/2006/main" noGrp="1"/>
          </p:cNvSpPr>
          <p:nvPr/>
        </p:nvSpPr>
        <p:spPr>
          <a:xfrm xmlns:a="http://schemas.openxmlformats.org/drawingml/2006/main">
            <a:off x="6153150" y="4699000"/>
            <a:ext cx="28575" cy="4921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2CEC1995-D1CC-4F24-ADB8-427878D028F5}"/>
              </a:ext>
            </a:extLst>
          </p:cNvPr>
          <p:cNvSpPr>
            <a:spLocks xmlns:a="http://schemas.openxmlformats.org/drawingml/2006/main" noGrp="1"/>
          </p:cNvSpPr>
          <p:nvPr/>
        </p:nvSpPr>
        <p:spPr>
          <a:xfrm xmlns:a="http://schemas.openxmlformats.org/drawingml/2006/main">
            <a:off x="6276975" y="47656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SIGNAL THAT WOULD INVERT THE RANKING</a:t>
            </a:r>
          </a:p>
        </p:txBody>
      </p:sp>
      <p:sp>
        <p:nvSpPr>
          <p:cNvPr id="79" name="">
            <a:extLst xmlns:a="http://schemas.openxmlformats.org/drawingml/2006/main">
              <a:ext uri="{FF2B5EF4-FFF2-40B4-BE49-F238E27FC236}">
                <a16:creationId xmlns:a16="http://schemas.microsoft.com/office/drawing/2014/main" id="{77C17583-6CD4-40E5-947E-42DFFFF08632}"/>
              </a:ext>
            </a:extLst>
          </p:cNvPr>
          <p:cNvSpPr>
            <a:spLocks xmlns:a="http://schemas.openxmlformats.org/drawingml/2006/main" noGrp="1"/>
          </p:cNvSpPr>
          <p:nvPr/>
        </p:nvSpPr>
        <p:spPr>
          <a:xfrm xmlns:a="http://schemas.openxmlformats.org/drawingml/2006/main">
            <a:off x="6276975" y="49149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Monthly threat review; re-rank on any named programme award.</a:t>
            </a:r>
          </a:p>
        </p:txBody>
      </p:sp>
      <p:sp>
        <p:nvSpPr>
          <p:cNvPr id="80" name="">
            <a:extLst xmlns:a="http://schemas.openxmlformats.org/drawingml/2006/main">
              <a:ext uri="{FF2B5EF4-FFF2-40B4-BE49-F238E27FC236}">
                <a16:creationId xmlns:a16="http://schemas.microsoft.com/office/drawing/2014/main" id="{5A28B33E-00DC-4400-A2D5-596B45AB33DC}"/>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F3B280CC-6914-43FE-9344-3A9D49CF0032}"/>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4959FE7F-FB92-4FF8-8709-CFD6D23EFC3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83" name="">
            <a:extLst xmlns:a="http://schemas.openxmlformats.org/drawingml/2006/main">
              <a:ext uri="{FF2B5EF4-FFF2-40B4-BE49-F238E27FC236}">
                <a16:creationId xmlns:a16="http://schemas.microsoft.com/office/drawing/2014/main" id="{0D1833C8-AA47-432A-B682-0932E5609F5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Approve ZF, Aptiv and STRADVISION as the first war-room set; hold Starkenn as a government-arena watch</a:t>
            </a:r>
          </a:p>
        </p:txBody>
      </p:sp>
      <p:sp>
        <p:nvSpPr>
          <p:cNvPr id="84" name="">
            <a:extLst xmlns:a="http://schemas.openxmlformats.org/drawingml/2006/main">
              <a:ext uri="{FF2B5EF4-FFF2-40B4-BE49-F238E27FC236}">
                <a16:creationId xmlns:a16="http://schemas.microsoft.com/office/drawing/2014/main" id="{5B48790C-BD2C-4AB0-93B9-0760D1B589D6}"/>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85" name="">
            <a:extLst xmlns:a="http://schemas.openxmlformats.org/drawingml/2006/main">
              <a:ext uri="{FF2B5EF4-FFF2-40B4-BE49-F238E27FC236}">
                <a16:creationId xmlns:a16="http://schemas.microsoft.com/office/drawing/2014/main" id="{482559E6-3EFA-46CC-9070-DD7AB62C2CE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Monthly threat review; re-rank on any named programme award or any published certification change.</a:t>
            </a:r>
          </a:p>
        </p:txBody>
      </p:sp>
      <p:sp>
        <p:nvSpPr>
          <p:cNvPr id="86" name="">
            <a:extLst xmlns:a="http://schemas.openxmlformats.org/drawingml/2006/main">
              <a:ext uri="{FF2B5EF4-FFF2-40B4-BE49-F238E27FC236}">
                <a16:creationId xmlns:a16="http://schemas.microsoft.com/office/drawing/2014/main" id="{06D5CBE2-77A7-4C68-AB63-6EFB519F3E6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87" name="">
            <a:extLst xmlns:a="http://schemas.openxmlformats.org/drawingml/2006/main">
              <a:ext uri="{FF2B5EF4-FFF2-40B4-BE49-F238E27FC236}">
                <a16:creationId xmlns:a16="http://schemas.microsoft.com/office/drawing/2014/main" id="{FD71BD0E-8C70-4A85-8604-4812F13B0ADF}"/>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any of the three converts a control point into an exclusive OEM relationship, or if STRADVISION is displaced inside Aptiv by a third perception vendor.</a:t>
            </a:r>
          </a:p>
        </p:txBody>
      </p:sp>
      <p:sp>
        <p:nvSpPr>
          <p:cNvPr id="88" name="">
            <a:extLst xmlns:a="http://schemas.openxmlformats.org/drawingml/2006/main">
              <a:ext uri="{FF2B5EF4-FFF2-40B4-BE49-F238E27FC236}">
                <a16:creationId xmlns:a16="http://schemas.microsoft.com/office/drawing/2014/main" id="{A52998D4-23D6-4FB2-B088-F0EA6FB1B8E7}"/>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ED77A286-676D-4797-B350-7C727562A93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90" name="">
            <a:extLst xmlns:a="http://schemas.openxmlformats.org/drawingml/2006/main">
              <a:ext uri="{FF2B5EF4-FFF2-40B4-BE49-F238E27FC236}">
                <a16:creationId xmlns:a16="http://schemas.microsoft.com/office/drawing/2014/main" id="{6526084B-F2D0-4731-AEFB-E3E56C820C7D}"/>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92</a:t>
            </a:r>
          </a:p>
        </p:txBody>
      </p:sp>
    </p:spTree>
    <p:extLst>
      <p:ext uri="{BB962C8B-B14F-4D97-AF65-F5344CB8AC3E}">
        <p14:creationId xmlns:p14="http://schemas.microsoft.com/office/powerpoint/2010/main" val="900493415"/>
      </p:ext>
    </p:extLst>
  </p:cSld>
</p:sld>
</file>

<file path=ppt/slides/slide93.xml><?xml version="1.0" encoding="utf-8"?>
<p:sld xmlns:p="http://schemas.openxmlformats.org/presentationml/2006/main">
  <p:cSld>
    <p:spTree>
      <p:nvGrpSpPr>
        <p:cNvPr id="1" name=""/>
        <p:cNvGrpSpPr/>
        <p:nvPr/>
      </p:nvGrpSpPr>
      <p:grpSpPr>
        <a:xfrm xmlns:a="http://schemas.openxmlformats.org/drawingml/2006/main"/>
      </p:grpSpPr>
      <p:sp>
        <p:nvSpPr>
          <p:cNvPr id="91" name="">
            <a:extLst xmlns:a="http://schemas.openxmlformats.org/drawingml/2006/main">
              <a:ext uri="{FF2B5EF4-FFF2-40B4-BE49-F238E27FC236}">
                <a16:creationId xmlns:a16="http://schemas.microsoft.com/office/drawing/2014/main" id="{9677BD92-71C5-4A38-B914-524D5C0FBC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0F4B61F-B9CB-45A5-A907-2B200529AC0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26ADD73-76A2-4385-A3F7-4AC4908D0E97}"/>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COMPETITIVE STRATEGY · COUNTER-MOVE</a:t>
            </a:r>
          </a:p>
        </p:txBody>
      </p:sp>
      <p:sp>
        <p:nvSpPr>
          <p:cNvPr id="4" name="">
            <a:extLst xmlns:a="http://schemas.openxmlformats.org/drawingml/2006/main">
              <a:ext uri="{FF2B5EF4-FFF2-40B4-BE49-F238E27FC236}">
                <a16:creationId xmlns:a16="http://schemas.microsoft.com/office/drawing/2014/main" id="{D5CD207F-1245-477B-A880-6C4A336AC501}"/>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What they do when we start winning</a:t>
            </a:r>
          </a:p>
        </p:txBody>
      </p:sp>
      <p:sp>
        <p:nvSpPr>
          <p:cNvPr id="5" name="">
            <a:extLst xmlns:a="http://schemas.openxmlformats.org/drawingml/2006/main">
              <a:ext uri="{FF2B5EF4-FFF2-40B4-BE49-F238E27FC236}">
                <a16:creationId xmlns:a16="http://schemas.microsoft.com/office/drawing/2014/main" id="{FB3880DA-5A59-419A-B530-B205F0BD0CB5}"/>
              </a:ext>
            </a:extLst>
          </p:cNvPr>
          <p:cNvSpPr>
            <a:spLocks xmlns:a="http://schemas.openxmlformats.org/drawingml/2006/main" noGrp="1"/>
          </p:cNvSpPr>
          <p:nvPr/>
        </p:nvSpPr>
        <p:spPr>
          <a:xfrm xmlns:a="http://schemas.openxmlformats.org/drawingml/2006/main">
            <a:off x="457200" y="762000"/>
            <a:ext cx="11277600" cy="161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The dossier's war room points outward — DeepGrid watching them, monthly. Nothing modelled the reverse. Every move below is a capability the rival already demonstrably has.</a:t>
            </a:r>
          </a:p>
        </p:txBody>
      </p:sp>
      <p:sp>
        <p:nvSpPr>
          <p:cNvPr id="6" name="">
            <a:extLst xmlns:a="http://schemas.openxmlformats.org/drawingml/2006/main">
              <a:ext uri="{FF2B5EF4-FFF2-40B4-BE49-F238E27FC236}">
                <a16:creationId xmlns:a16="http://schemas.microsoft.com/office/drawing/2014/main" id="{E2272B35-A981-4BE0-ADE7-59F912E84E2A}"/>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2A90B7D-7074-405E-A050-7ED19027FA0B}"/>
              </a:ext>
            </a:extLst>
          </p:cNvPr>
          <p:cNvSpPr>
            <a:spLocks xmlns:a="http://schemas.openxmlformats.org/drawingml/2006/main" noGrp="1"/>
          </p:cNvSpPr>
          <p:nvPr/>
        </p:nvSpPr>
        <p:spPr>
          <a:xfrm xmlns:a="http://schemas.openxmlformats.org/drawingml/2006/main">
            <a:off x="457200" y="1095375"/>
            <a:ext cx="11811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RIVAL</a:t>
            </a:r>
          </a:p>
        </p:txBody>
      </p:sp>
      <p:sp>
        <p:nvSpPr>
          <p:cNvPr id="8" name="">
            <a:extLst xmlns:a="http://schemas.openxmlformats.org/drawingml/2006/main">
              <a:ext uri="{FF2B5EF4-FFF2-40B4-BE49-F238E27FC236}">
                <a16:creationId xmlns:a16="http://schemas.microsoft.com/office/drawing/2014/main" id="{70FED0F3-9C4C-4761-9770-7E0E7C9C49F8}"/>
              </a:ext>
            </a:extLst>
          </p:cNvPr>
          <p:cNvSpPr>
            <a:spLocks xmlns:a="http://schemas.openxmlformats.org/drawingml/2006/main" noGrp="1"/>
          </p:cNvSpPr>
          <p:nvPr/>
        </p:nvSpPr>
        <p:spPr>
          <a:xfrm xmlns:a="http://schemas.openxmlformats.org/drawingml/2006/main">
            <a:off x="1714500" y="1095375"/>
            <a:ext cx="1905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WHEN DEEPGRID…</a:t>
            </a:r>
          </a:p>
        </p:txBody>
      </p:sp>
      <p:sp>
        <p:nvSpPr>
          <p:cNvPr id="9" name="">
            <a:extLst xmlns:a="http://schemas.openxmlformats.org/drawingml/2006/main">
              <a:ext uri="{FF2B5EF4-FFF2-40B4-BE49-F238E27FC236}">
                <a16:creationId xmlns:a16="http://schemas.microsoft.com/office/drawing/2014/main" id="{E9006D33-54CA-4D05-9BF5-420375A339E2}"/>
              </a:ext>
            </a:extLst>
          </p:cNvPr>
          <p:cNvSpPr>
            <a:spLocks xmlns:a="http://schemas.openxmlformats.org/drawingml/2006/main" noGrp="1"/>
          </p:cNvSpPr>
          <p:nvPr/>
        </p:nvSpPr>
        <p:spPr>
          <a:xfrm xmlns:a="http://schemas.openxmlformats.org/drawingml/2006/main">
            <a:off x="3695700" y="1095375"/>
            <a:ext cx="31242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THEIR COUNTER (A CAPABILITY THEY ALREADY HAVE)</a:t>
            </a:r>
          </a:p>
        </p:txBody>
      </p:sp>
      <p:sp>
        <p:nvSpPr>
          <p:cNvPr id="10" name="">
            <a:extLst xmlns:a="http://schemas.openxmlformats.org/drawingml/2006/main">
              <a:ext uri="{FF2B5EF4-FFF2-40B4-BE49-F238E27FC236}">
                <a16:creationId xmlns:a16="http://schemas.microsoft.com/office/drawing/2014/main" id="{CE539635-171C-460E-8735-0BA5BF17E45C}"/>
              </a:ext>
            </a:extLst>
          </p:cNvPr>
          <p:cNvSpPr>
            <a:spLocks xmlns:a="http://schemas.openxmlformats.org/drawingml/2006/main" noGrp="1"/>
          </p:cNvSpPr>
          <p:nvPr/>
        </p:nvSpPr>
        <p:spPr>
          <a:xfrm xmlns:a="http://schemas.openxmlformats.org/drawingml/2006/main">
            <a:off x="6896100" y="1095375"/>
            <a:ext cx="6667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RISK</a:t>
            </a:r>
          </a:p>
        </p:txBody>
      </p:sp>
      <p:sp>
        <p:nvSpPr>
          <p:cNvPr id="11" name="">
            <a:extLst xmlns:a="http://schemas.openxmlformats.org/drawingml/2006/main">
              <a:ext uri="{FF2B5EF4-FFF2-40B4-BE49-F238E27FC236}">
                <a16:creationId xmlns:a16="http://schemas.microsoft.com/office/drawing/2014/main" id="{EB983F26-66D2-494B-B460-9D0362E418C9}"/>
              </a:ext>
            </a:extLst>
          </p:cNvPr>
          <p:cNvSpPr>
            <a:spLocks xmlns:a="http://schemas.openxmlformats.org/drawingml/2006/main" noGrp="1"/>
          </p:cNvSpPr>
          <p:nvPr/>
        </p:nvSpPr>
        <p:spPr>
          <a:xfrm xmlns:a="http://schemas.openxmlformats.org/drawingml/2006/main">
            <a:off x="7639050" y="1095375"/>
            <a:ext cx="5905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BLOCKER</a:t>
            </a:r>
          </a:p>
        </p:txBody>
      </p:sp>
      <p:sp>
        <p:nvSpPr>
          <p:cNvPr id="12" name="">
            <a:extLst xmlns:a="http://schemas.openxmlformats.org/drawingml/2006/main">
              <a:ext uri="{FF2B5EF4-FFF2-40B4-BE49-F238E27FC236}">
                <a16:creationId xmlns:a16="http://schemas.microsoft.com/office/drawing/2014/main" id="{E476D647-8322-4822-AA44-2D2CB4524F7F}"/>
              </a:ext>
            </a:extLst>
          </p:cNvPr>
          <p:cNvSpPr>
            <a:spLocks xmlns:a="http://schemas.openxmlformats.org/drawingml/2006/main" noGrp="1"/>
          </p:cNvSpPr>
          <p:nvPr/>
        </p:nvSpPr>
        <p:spPr>
          <a:xfrm xmlns:a="http://schemas.openxmlformats.org/drawingml/2006/main">
            <a:off x="8305800" y="1095375"/>
            <a:ext cx="33528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CAN WE ANSWER IT?</a:t>
            </a:r>
          </a:p>
        </p:txBody>
      </p:sp>
      <p:sp>
        <p:nvSpPr>
          <p:cNvPr id="13" name="">
            <a:extLst xmlns:a="http://schemas.openxmlformats.org/drawingml/2006/main">
              <a:ext uri="{FF2B5EF4-FFF2-40B4-BE49-F238E27FC236}">
                <a16:creationId xmlns:a16="http://schemas.microsoft.com/office/drawing/2014/main" id="{1F37CA4F-C0C7-4366-986C-12BF49097C35}"/>
              </a:ext>
            </a:extLst>
          </p:cNvPr>
          <p:cNvSpPr>
            <a:spLocks xmlns:a="http://schemas.openxmlformats.org/drawingml/2006/main" noGrp="1"/>
          </p:cNvSpPr>
          <p:nvPr/>
        </p:nvSpPr>
        <p:spPr>
          <a:xfrm xmlns:a="http://schemas.openxmlformats.org/drawingml/2006/main">
            <a:off x="457200" y="1266825"/>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01BB86A-2425-4507-AF13-8AA7CB995027}"/>
              </a:ext>
            </a:extLst>
          </p:cNvPr>
          <p:cNvSpPr>
            <a:spLocks xmlns:a="http://schemas.openxmlformats.org/drawingml/2006/main" noGrp="1"/>
          </p:cNvSpPr>
          <p:nvPr/>
        </p:nvSpPr>
        <p:spPr>
          <a:xfrm xmlns:a="http://schemas.openxmlformats.org/drawingml/2006/main">
            <a:off x="457200" y="1343025"/>
            <a:ext cx="28575" cy="4476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7432CB7-71A5-4587-B6AD-489CBB11D293}"/>
              </a:ext>
            </a:extLst>
          </p:cNvPr>
          <p:cNvSpPr>
            <a:spLocks xmlns:a="http://schemas.openxmlformats.org/drawingml/2006/main" noGrp="1"/>
          </p:cNvSpPr>
          <p:nvPr/>
        </p:nvSpPr>
        <p:spPr>
          <a:xfrm xmlns:a="http://schemas.openxmlformats.org/drawingml/2006/main">
            <a:off x="571500" y="1343025"/>
            <a:ext cx="106680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ZF</a:t>
            </a:r>
          </a:p>
        </p:txBody>
      </p:sp>
      <p:sp>
        <p:nvSpPr>
          <p:cNvPr id="16" name="">
            <a:extLst xmlns:a="http://schemas.openxmlformats.org/drawingml/2006/main">
              <a:ext uri="{FF2B5EF4-FFF2-40B4-BE49-F238E27FC236}">
                <a16:creationId xmlns:a16="http://schemas.microsoft.com/office/drawing/2014/main" id="{A0B6E127-F5A5-4B31-9452-4227668D6AD2}"/>
              </a:ext>
            </a:extLst>
          </p:cNvPr>
          <p:cNvSpPr>
            <a:spLocks xmlns:a="http://schemas.openxmlformats.org/drawingml/2006/main" noGrp="1"/>
          </p:cNvSpPr>
          <p:nvPr/>
        </p:nvSpPr>
        <p:spPr>
          <a:xfrm xmlns:a="http://schemas.openxmlformats.org/drawingml/2006/main">
            <a:off x="571500" y="1514475"/>
            <a:ext cx="10668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EV-ZF-02</a:t>
            </a:r>
          </a:p>
        </p:txBody>
      </p:sp>
      <p:sp>
        <p:nvSpPr>
          <p:cNvPr id="17" name="">
            <a:extLst xmlns:a="http://schemas.openxmlformats.org/drawingml/2006/main">
              <a:ext uri="{FF2B5EF4-FFF2-40B4-BE49-F238E27FC236}">
                <a16:creationId xmlns:a16="http://schemas.microsoft.com/office/drawing/2014/main" id="{6C64E2CA-9060-41F6-80AA-8D06EFB78CE3}"/>
              </a:ext>
            </a:extLst>
          </p:cNvPr>
          <p:cNvSpPr>
            <a:spLocks xmlns:a="http://schemas.openxmlformats.org/drawingml/2006/main" noGrp="1"/>
          </p:cNvSpPr>
          <p:nvPr/>
        </p:nvSpPr>
        <p:spPr>
          <a:xfrm xmlns:a="http://schemas.openxmlformats.org/drawingml/2006/main">
            <a:off x="1714500" y="1343025"/>
            <a:ext cx="18669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DeepGrid attaches to a braking Tier-1</a:t>
            </a:r>
          </a:p>
        </p:txBody>
      </p:sp>
      <p:sp>
        <p:nvSpPr>
          <p:cNvPr id="18" name="">
            <a:extLst xmlns:a="http://schemas.openxmlformats.org/drawingml/2006/main">
              <a:ext uri="{FF2B5EF4-FFF2-40B4-BE49-F238E27FC236}">
                <a16:creationId xmlns:a16="http://schemas.microsoft.com/office/drawing/2014/main" id="{EC01A060-4B7D-423C-8D3E-7E5A8BA38A3D}"/>
              </a:ext>
            </a:extLst>
          </p:cNvPr>
          <p:cNvSpPr>
            <a:spLocks xmlns:a="http://schemas.openxmlformats.org/drawingml/2006/main" noGrp="1"/>
          </p:cNvSpPr>
          <p:nvPr/>
        </p:nvSpPr>
        <p:spPr>
          <a:xfrm xmlns:a="http://schemas.openxmlformats.org/drawingml/2006/main">
            <a:off x="3695700" y="1343025"/>
            <a:ext cx="30670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Ship perception inside the 16-feature suite it already sells — AEBS, BSIS, DDAWS, LDWS and MOIS on its own radar and camera, already ARAI-certified and nominated.</a:t>
            </a:r>
          </a:p>
        </p:txBody>
      </p:sp>
      <p:sp>
        <p:nvSpPr>
          <p:cNvPr id="19" name="">
            <a:extLst xmlns:a="http://schemas.openxmlformats.org/drawingml/2006/main">
              <a:ext uri="{FF2B5EF4-FFF2-40B4-BE49-F238E27FC236}">
                <a16:creationId xmlns:a16="http://schemas.microsoft.com/office/drawing/2014/main" id="{11127A2F-A1AB-422A-B540-57DB9FF23505}"/>
              </a:ext>
            </a:extLst>
          </p:cNvPr>
          <p:cNvSpPr>
            <a:spLocks xmlns:a="http://schemas.openxmlformats.org/drawingml/2006/main" noGrp="1"/>
          </p:cNvSpPr>
          <p:nvPr/>
        </p:nvSpPr>
        <p:spPr>
          <a:xfrm xmlns:a="http://schemas.openxmlformats.org/drawingml/2006/main">
            <a:off x="6896100" y="1371600"/>
            <a:ext cx="76200" cy="76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21B8462-322D-456D-98A8-FA964EECF463}"/>
              </a:ext>
            </a:extLst>
          </p:cNvPr>
          <p:cNvSpPr>
            <a:spLocks xmlns:a="http://schemas.openxmlformats.org/drawingml/2006/main" noGrp="1"/>
          </p:cNvSpPr>
          <p:nvPr/>
        </p:nvSpPr>
        <p:spPr>
          <a:xfrm xmlns:a="http://schemas.openxmlformats.org/drawingml/2006/main">
            <a:off x="7029450" y="1343025"/>
            <a:ext cx="552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21" name="">
            <a:extLst xmlns:a="http://schemas.openxmlformats.org/drawingml/2006/main">
              <a:ext uri="{FF2B5EF4-FFF2-40B4-BE49-F238E27FC236}">
                <a16:creationId xmlns:a16="http://schemas.microsoft.com/office/drawing/2014/main" id="{036C2417-E0B2-46FD-BCBA-3BF209D5EAEC}"/>
              </a:ext>
            </a:extLst>
          </p:cNvPr>
          <p:cNvSpPr>
            <a:spLocks xmlns:a="http://schemas.openxmlformats.org/drawingml/2006/main" noGrp="1"/>
          </p:cNvSpPr>
          <p:nvPr/>
        </p:nvSpPr>
        <p:spPr>
          <a:xfrm xmlns:a="http://schemas.openxmlformats.org/drawingml/2006/main">
            <a:off x="7639050" y="1343025"/>
            <a:ext cx="571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3/5</a:t>
            </a:r>
          </a:p>
        </p:txBody>
      </p:sp>
      <p:sp>
        <p:nvSpPr>
          <p:cNvPr id="22" name="">
            <a:extLst xmlns:a="http://schemas.openxmlformats.org/drawingml/2006/main">
              <a:ext uri="{FF2B5EF4-FFF2-40B4-BE49-F238E27FC236}">
                <a16:creationId xmlns:a16="http://schemas.microsoft.com/office/drawing/2014/main" id="{91004F06-27B8-4A45-BD57-86E921F383EA}"/>
              </a:ext>
            </a:extLst>
          </p:cNvPr>
          <p:cNvSpPr>
            <a:spLocks xmlns:a="http://schemas.openxmlformats.org/drawingml/2006/main" noGrp="1"/>
          </p:cNvSpPr>
          <p:nvPr/>
        </p:nvSpPr>
        <p:spPr>
          <a:xfrm xmlns:a="http://schemas.openxmlformats.org/drawingml/2006/main">
            <a:off x="8305800" y="1343025"/>
            <a:ext cx="33337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E06767"/>
                </a:solidFill>
                <a:latin typeface="Arial"/>
                <a:ea typeface="Arial"/>
                <a:cs typeface="Arial"/>
              </a:defRPr>
            </a:pPr>
            <a:r>
              <a:t>No. DeepGrid cannot dislodge a function the incumbent already ships inside a certified suite.</a:t>
            </a:r>
          </a:p>
        </p:txBody>
      </p:sp>
      <p:sp>
        <p:nvSpPr>
          <p:cNvPr id="23" name="">
            <a:extLst xmlns:a="http://schemas.openxmlformats.org/drawingml/2006/main">
              <a:ext uri="{FF2B5EF4-FFF2-40B4-BE49-F238E27FC236}">
                <a16:creationId xmlns:a16="http://schemas.microsoft.com/office/drawing/2014/main" id="{D99C5C87-0C57-45C8-9AA8-3B2703EFFC07}"/>
              </a:ext>
            </a:extLst>
          </p:cNvPr>
          <p:cNvSpPr>
            <a:spLocks xmlns:a="http://schemas.openxmlformats.org/drawingml/2006/main" noGrp="1"/>
          </p:cNvSpPr>
          <p:nvPr/>
        </p:nvSpPr>
        <p:spPr>
          <a:xfrm xmlns:a="http://schemas.openxmlformats.org/drawingml/2006/main">
            <a:off x="457200" y="1847850"/>
            <a:ext cx="28575" cy="4476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8D8C7DE-7FAD-451C-BABA-5765D383EFAA}"/>
              </a:ext>
            </a:extLst>
          </p:cNvPr>
          <p:cNvSpPr>
            <a:spLocks xmlns:a="http://schemas.openxmlformats.org/drawingml/2006/main" noGrp="1"/>
          </p:cNvSpPr>
          <p:nvPr/>
        </p:nvSpPr>
        <p:spPr>
          <a:xfrm xmlns:a="http://schemas.openxmlformats.org/drawingml/2006/main">
            <a:off x="571500" y="1847850"/>
            <a:ext cx="106680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STRADVISION</a:t>
            </a:r>
          </a:p>
        </p:txBody>
      </p:sp>
      <p:sp>
        <p:nvSpPr>
          <p:cNvPr id="25" name="">
            <a:extLst xmlns:a="http://schemas.openxmlformats.org/drawingml/2006/main">
              <a:ext uri="{FF2B5EF4-FFF2-40B4-BE49-F238E27FC236}">
                <a16:creationId xmlns:a16="http://schemas.microsoft.com/office/drawing/2014/main" id="{DF818534-1E08-445A-A1A2-2E7DF58566B8}"/>
              </a:ext>
            </a:extLst>
          </p:cNvPr>
          <p:cNvSpPr>
            <a:spLocks xmlns:a="http://schemas.openxmlformats.org/drawingml/2006/main" noGrp="1"/>
          </p:cNvSpPr>
          <p:nvPr/>
        </p:nvSpPr>
        <p:spPr>
          <a:xfrm xmlns:a="http://schemas.openxmlformats.org/drawingml/2006/main">
            <a:off x="571500" y="2019300"/>
            <a:ext cx="10668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EV-SV-03, EV-SV-05</a:t>
            </a:r>
          </a:p>
        </p:txBody>
      </p:sp>
      <p:sp>
        <p:nvSpPr>
          <p:cNvPr id="26" name="">
            <a:extLst xmlns:a="http://schemas.openxmlformats.org/drawingml/2006/main">
              <a:ext uri="{FF2B5EF4-FFF2-40B4-BE49-F238E27FC236}">
                <a16:creationId xmlns:a16="http://schemas.microsoft.com/office/drawing/2014/main" id="{E9DCDB24-1C06-433F-AFDB-2221397BBC7A}"/>
              </a:ext>
            </a:extLst>
          </p:cNvPr>
          <p:cNvSpPr>
            <a:spLocks xmlns:a="http://schemas.openxmlformats.org/drawingml/2006/main" noGrp="1"/>
          </p:cNvSpPr>
          <p:nvPr/>
        </p:nvSpPr>
        <p:spPr>
          <a:xfrm xmlns:a="http://schemas.openxmlformats.org/drawingml/2006/main">
            <a:off x="1714500" y="1847850"/>
            <a:ext cx="18669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DeepGrid offers a cheaper perception layer to an integrator</a:t>
            </a:r>
          </a:p>
        </p:txBody>
      </p:sp>
      <p:sp>
        <p:nvSpPr>
          <p:cNvPr id="27" name="">
            <a:extLst xmlns:a="http://schemas.openxmlformats.org/drawingml/2006/main">
              <a:ext uri="{FF2B5EF4-FFF2-40B4-BE49-F238E27FC236}">
                <a16:creationId xmlns:a16="http://schemas.microsoft.com/office/drawing/2014/main" id="{4E662AD0-8340-4D35-B512-ACCD6690C2D4}"/>
              </a:ext>
            </a:extLst>
          </p:cNvPr>
          <p:cNvSpPr>
            <a:spLocks xmlns:a="http://schemas.openxmlformats.org/drawingml/2006/main" noGrp="1"/>
          </p:cNvSpPr>
          <p:nvPr/>
        </p:nvSpPr>
        <p:spPr>
          <a:xfrm xmlns:a="http://schemas.openxmlformats.org/drawingml/2006/main">
            <a:off x="3695700" y="1847850"/>
            <a:ext cx="30670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Match on price — SVNet is explicitly designed for low-cost, resource-constrained hardware — and hold on ISO 26262, which DeepGrid does not have.</a:t>
            </a:r>
          </a:p>
        </p:txBody>
      </p:sp>
      <p:sp>
        <p:nvSpPr>
          <p:cNvPr id="28" name="">
            <a:extLst xmlns:a="http://schemas.openxmlformats.org/drawingml/2006/main">
              <a:ext uri="{FF2B5EF4-FFF2-40B4-BE49-F238E27FC236}">
                <a16:creationId xmlns:a16="http://schemas.microsoft.com/office/drawing/2014/main" id="{4D4A04A4-D3B6-4AE9-BFBA-042988F1FC20}"/>
              </a:ext>
            </a:extLst>
          </p:cNvPr>
          <p:cNvSpPr>
            <a:spLocks xmlns:a="http://schemas.openxmlformats.org/drawingml/2006/main" noGrp="1"/>
          </p:cNvSpPr>
          <p:nvPr/>
        </p:nvSpPr>
        <p:spPr>
          <a:xfrm xmlns:a="http://schemas.openxmlformats.org/drawingml/2006/main">
            <a:off x="6896100" y="1876425"/>
            <a:ext cx="76200" cy="76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5E90403-DDD1-4DC1-93F7-767C404A6501}"/>
              </a:ext>
            </a:extLst>
          </p:cNvPr>
          <p:cNvSpPr>
            <a:spLocks xmlns:a="http://schemas.openxmlformats.org/drawingml/2006/main" noGrp="1"/>
          </p:cNvSpPr>
          <p:nvPr/>
        </p:nvSpPr>
        <p:spPr>
          <a:xfrm xmlns:a="http://schemas.openxmlformats.org/drawingml/2006/main">
            <a:off x="7029450" y="1847850"/>
            <a:ext cx="552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30" name="">
            <a:extLst xmlns:a="http://schemas.openxmlformats.org/drawingml/2006/main">
              <a:ext uri="{FF2B5EF4-FFF2-40B4-BE49-F238E27FC236}">
                <a16:creationId xmlns:a16="http://schemas.microsoft.com/office/drawing/2014/main" id="{34FCDC51-F1AC-4C10-9FD1-06B63DE41A26}"/>
              </a:ext>
            </a:extLst>
          </p:cNvPr>
          <p:cNvSpPr>
            <a:spLocks xmlns:a="http://schemas.openxmlformats.org/drawingml/2006/main" noGrp="1"/>
          </p:cNvSpPr>
          <p:nvPr/>
        </p:nvSpPr>
        <p:spPr>
          <a:xfrm xmlns:a="http://schemas.openxmlformats.org/drawingml/2006/main">
            <a:off x="7639050" y="1847850"/>
            <a:ext cx="571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5/5</a:t>
            </a:r>
          </a:p>
        </p:txBody>
      </p:sp>
      <p:sp>
        <p:nvSpPr>
          <p:cNvPr id="31" name="">
            <a:extLst xmlns:a="http://schemas.openxmlformats.org/drawingml/2006/main">
              <a:ext uri="{FF2B5EF4-FFF2-40B4-BE49-F238E27FC236}">
                <a16:creationId xmlns:a16="http://schemas.microsoft.com/office/drawing/2014/main" id="{17EE69AC-2C65-4467-8C83-D08B4BC65D0D}"/>
              </a:ext>
            </a:extLst>
          </p:cNvPr>
          <p:cNvSpPr>
            <a:spLocks xmlns:a="http://schemas.openxmlformats.org/drawingml/2006/main" noGrp="1"/>
          </p:cNvSpPr>
          <p:nvPr/>
        </p:nvSpPr>
        <p:spPr>
          <a:xfrm xmlns:a="http://schemas.openxmlformats.org/drawingml/2006/main">
            <a:off x="8305800" y="1847850"/>
            <a:ext cx="33337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Only with a functional-safety pathway. Until then the integrator is comparing a certified 5m-unit incumbent with an uncertified new…</a:t>
            </a:r>
          </a:p>
        </p:txBody>
      </p:sp>
      <p:sp>
        <p:nvSpPr>
          <p:cNvPr id="32" name="">
            <a:extLst xmlns:a="http://schemas.openxmlformats.org/drawingml/2006/main">
              <a:ext uri="{FF2B5EF4-FFF2-40B4-BE49-F238E27FC236}">
                <a16:creationId xmlns:a16="http://schemas.microsoft.com/office/drawing/2014/main" id="{DD5DE8C7-73AC-46E6-821B-D628ACF442FD}"/>
              </a:ext>
            </a:extLst>
          </p:cNvPr>
          <p:cNvSpPr>
            <a:spLocks xmlns:a="http://schemas.openxmlformats.org/drawingml/2006/main" noGrp="1"/>
          </p:cNvSpPr>
          <p:nvPr/>
        </p:nvSpPr>
        <p:spPr>
          <a:xfrm xmlns:a="http://schemas.openxmlformats.org/drawingml/2006/main">
            <a:off x="457200" y="2352675"/>
            <a:ext cx="28575" cy="4476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5E383EE-2BB5-47FA-BC81-379A9B944C33}"/>
              </a:ext>
            </a:extLst>
          </p:cNvPr>
          <p:cNvSpPr>
            <a:spLocks xmlns:a="http://schemas.openxmlformats.org/drawingml/2006/main" noGrp="1"/>
          </p:cNvSpPr>
          <p:nvPr/>
        </p:nvSpPr>
        <p:spPr>
          <a:xfrm xmlns:a="http://schemas.openxmlformats.org/drawingml/2006/main">
            <a:off x="571500" y="2352675"/>
            <a:ext cx="106680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Aptiv</a:t>
            </a:r>
          </a:p>
        </p:txBody>
      </p:sp>
      <p:sp>
        <p:nvSpPr>
          <p:cNvPr id="34" name="">
            <a:extLst xmlns:a="http://schemas.openxmlformats.org/drawingml/2006/main">
              <a:ext uri="{FF2B5EF4-FFF2-40B4-BE49-F238E27FC236}">
                <a16:creationId xmlns:a16="http://schemas.microsoft.com/office/drawing/2014/main" id="{FAF9A646-2CC6-404A-98B8-853AB7DB969A}"/>
              </a:ext>
            </a:extLst>
          </p:cNvPr>
          <p:cNvSpPr>
            <a:spLocks xmlns:a="http://schemas.openxmlformats.org/drawingml/2006/main" noGrp="1"/>
          </p:cNvSpPr>
          <p:nvPr/>
        </p:nvSpPr>
        <p:spPr>
          <a:xfrm xmlns:a="http://schemas.openxmlformats.org/drawingml/2006/main">
            <a:off x="571500" y="2524125"/>
            <a:ext cx="10668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EV-APT-06</a:t>
            </a:r>
          </a:p>
        </p:txBody>
      </p:sp>
      <p:sp>
        <p:nvSpPr>
          <p:cNvPr id="35" name="">
            <a:extLst xmlns:a="http://schemas.openxmlformats.org/drawingml/2006/main">
              <a:ext uri="{FF2B5EF4-FFF2-40B4-BE49-F238E27FC236}">
                <a16:creationId xmlns:a16="http://schemas.microsoft.com/office/drawing/2014/main" id="{57A153B2-40CF-49C8-AE4F-1FD90F5C36A7}"/>
              </a:ext>
            </a:extLst>
          </p:cNvPr>
          <p:cNvSpPr>
            <a:spLocks xmlns:a="http://schemas.openxmlformats.org/drawingml/2006/main" noGrp="1"/>
          </p:cNvSpPr>
          <p:nvPr/>
        </p:nvSpPr>
        <p:spPr>
          <a:xfrm xmlns:a="http://schemas.openxmlformats.org/drawingml/2006/main">
            <a:off x="1714500" y="2352675"/>
            <a:ext cx="18669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DeepGrid wins a design-in at one OEM</a:t>
            </a:r>
          </a:p>
        </p:txBody>
      </p:sp>
      <p:sp>
        <p:nvSpPr>
          <p:cNvPr id="36" name="">
            <a:extLst xmlns:a="http://schemas.openxmlformats.org/drawingml/2006/main">
              <a:ext uri="{FF2B5EF4-FFF2-40B4-BE49-F238E27FC236}">
                <a16:creationId xmlns:a16="http://schemas.microsoft.com/office/drawing/2014/main" id="{83D5AD3D-9346-48A6-8420-F19E1E6F5091}"/>
              </a:ext>
            </a:extLst>
          </p:cNvPr>
          <p:cNvSpPr>
            <a:spLocks xmlns:a="http://schemas.openxmlformats.org/drawingml/2006/main" noGrp="1"/>
          </p:cNvSpPr>
          <p:nvPr/>
        </p:nvSpPr>
        <p:spPr>
          <a:xfrm xmlns:a="http://schemas.openxmlformats.org/drawingml/2006/main">
            <a:off x="3695700" y="2352675"/>
            <a:ext cx="30670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Ship a feature or performance improvement over the air to the deployed fleet, widening the gap after SOP without a new design cycle.</a:t>
            </a:r>
          </a:p>
        </p:txBody>
      </p:sp>
      <p:sp>
        <p:nvSpPr>
          <p:cNvPr id="37" name="">
            <a:extLst xmlns:a="http://schemas.openxmlformats.org/drawingml/2006/main">
              <a:ext uri="{FF2B5EF4-FFF2-40B4-BE49-F238E27FC236}">
                <a16:creationId xmlns:a16="http://schemas.microsoft.com/office/drawing/2014/main" id="{1F5294C5-CD74-489D-A3B6-CA841EB899AB}"/>
              </a:ext>
            </a:extLst>
          </p:cNvPr>
          <p:cNvSpPr>
            <a:spLocks xmlns:a="http://schemas.openxmlformats.org/drawingml/2006/main" noGrp="1"/>
          </p:cNvSpPr>
          <p:nvPr/>
        </p:nvSpPr>
        <p:spPr>
          <a:xfrm xmlns:a="http://schemas.openxmlformats.org/drawingml/2006/main">
            <a:off x="6896100" y="2381250"/>
            <a:ext cx="76200" cy="76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2B0C04C7-A3F7-4746-BE6C-D1DD8149B900}"/>
              </a:ext>
            </a:extLst>
          </p:cNvPr>
          <p:cNvSpPr>
            <a:spLocks xmlns:a="http://schemas.openxmlformats.org/drawingml/2006/main" noGrp="1"/>
          </p:cNvSpPr>
          <p:nvPr/>
        </p:nvSpPr>
        <p:spPr>
          <a:xfrm xmlns:a="http://schemas.openxmlformats.org/drawingml/2006/main">
            <a:off x="7029450" y="2352675"/>
            <a:ext cx="552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39" name="">
            <a:extLst xmlns:a="http://schemas.openxmlformats.org/drawingml/2006/main">
              <a:ext uri="{FF2B5EF4-FFF2-40B4-BE49-F238E27FC236}">
                <a16:creationId xmlns:a16="http://schemas.microsoft.com/office/drawing/2014/main" id="{24BF9E5B-D447-4179-B00C-42EB3CDC426C}"/>
              </a:ext>
            </a:extLst>
          </p:cNvPr>
          <p:cNvSpPr>
            <a:spLocks xmlns:a="http://schemas.openxmlformats.org/drawingml/2006/main" noGrp="1"/>
          </p:cNvSpPr>
          <p:nvPr/>
        </p:nvSpPr>
        <p:spPr>
          <a:xfrm xmlns:a="http://schemas.openxmlformats.org/drawingml/2006/main">
            <a:off x="7639050" y="2352675"/>
            <a:ext cx="571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4/5</a:t>
            </a:r>
          </a:p>
        </p:txBody>
      </p:sp>
      <p:sp>
        <p:nvSpPr>
          <p:cNvPr id="40" name="">
            <a:extLst xmlns:a="http://schemas.openxmlformats.org/drawingml/2006/main">
              <a:ext uri="{FF2B5EF4-FFF2-40B4-BE49-F238E27FC236}">
                <a16:creationId xmlns:a16="http://schemas.microsoft.com/office/drawing/2014/main" id="{968487C5-5B58-40B5-A630-AEDA18397079}"/>
              </a:ext>
            </a:extLst>
          </p:cNvPr>
          <p:cNvSpPr>
            <a:spLocks xmlns:a="http://schemas.openxmlformats.org/drawingml/2006/main" noGrp="1"/>
          </p:cNvSpPr>
          <p:nvPr/>
        </p:nvSpPr>
        <p:spPr>
          <a:xfrm xmlns:a="http://schemas.openxmlformats.org/drawingml/2006/main">
            <a:off x="8305800" y="2352675"/>
            <a:ext cx="33337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E06767"/>
                </a:solidFill>
                <a:latin typeface="Arial"/>
                <a:ea typeface="Arial"/>
                <a:cs typeface="Arial"/>
              </a:defRPr>
            </a:pPr>
            <a:r>
              <a:t>No. A module vendor has no channel to a fleet it has already shipped.</a:t>
            </a:r>
          </a:p>
        </p:txBody>
      </p:sp>
      <p:sp>
        <p:nvSpPr>
          <p:cNvPr id="41" name="">
            <a:extLst xmlns:a="http://schemas.openxmlformats.org/drawingml/2006/main">
              <a:ext uri="{FF2B5EF4-FFF2-40B4-BE49-F238E27FC236}">
                <a16:creationId xmlns:a16="http://schemas.microsoft.com/office/drawing/2014/main" id="{2E8B4864-6399-4A3C-9A40-4048FB6058F5}"/>
              </a:ext>
            </a:extLst>
          </p:cNvPr>
          <p:cNvSpPr>
            <a:spLocks xmlns:a="http://schemas.openxmlformats.org/drawingml/2006/main" noGrp="1"/>
          </p:cNvSpPr>
          <p:nvPr/>
        </p:nvSpPr>
        <p:spPr>
          <a:xfrm xmlns:a="http://schemas.openxmlformats.org/drawingml/2006/main">
            <a:off x="457200" y="2857500"/>
            <a:ext cx="28575" cy="4476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8CBCAF8E-DEF9-4E97-8EF5-A685AB5F4588}"/>
              </a:ext>
            </a:extLst>
          </p:cNvPr>
          <p:cNvSpPr>
            <a:spLocks xmlns:a="http://schemas.openxmlformats.org/drawingml/2006/main" noGrp="1"/>
          </p:cNvSpPr>
          <p:nvPr/>
        </p:nvSpPr>
        <p:spPr>
          <a:xfrm xmlns:a="http://schemas.openxmlformats.org/drawingml/2006/main">
            <a:off x="571500" y="2857500"/>
            <a:ext cx="106680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Starkenn</a:t>
            </a:r>
          </a:p>
        </p:txBody>
      </p:sp>
      <p:sp>
        <p:nvSpPr>
          <p:cNvPr id="43" name="">
            <a:extLst xmlns:a="http://schemas.openxmlformats.org/drawingml/2006/main">
              <a:ext uri="{FF2B5EF4-FFF2-40B4-BE49-F238E27FC236}">
                <a16:creationId xmlns:a16="http://schemas.microsoft.com/office/drawing/2014/main" id="{7A3FCA9C-90F4-4BF2-B705-ADF66898B014}"/>
              </a:ext>
            </a:extLst>
          </p:cNvPr>
          <p:cNvSpPr>
            <a:spLocks xmlns:a="http://schemas.openxmlformats.org/drawingml/2006/main" noGrp="1"/>
          </p:cNvSpPr>
          <p:nvPr/>
        </p:nvSpPr>
        <p:spPr>
          <a:xfrm xmlns:a="http://schemas.openxmlformats.org/drawingml/2006/main">
            <a:off x="571500" y="3028950"/>
            <a:ext cx="10668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EV-STK-01</a:t>
            </a:r>
          </a:p>
        </p:txBody>
      </p:sp>
      <p:sp>
        <p:nvSpPr>
          <p:cNvPr id="44" name="">
            <a:extLst xmlns:a="http://schemas.openxmlformats.org/drawingml/2006/main">
              <a:ext uri="{FF2B5EF4-FFF2-40B4-BE49-F238E27FC236}">
                <a16:creationId xmlns:a16="http://schemas.microsoft.com/office/drawing/2014/main" id="{B8AE5F81-F63A-4D49-97C5-D846DA29619D}"/>
              </a:ext>
            </a:extLst>
          </p:cNvPr>
          <p:cNvSpPr>
            <a:spLocks xmlns:a="http://schemas.openxmlformats.org/drawingml/2006/main" noGrp="1"/>
          </p:cNvSpPr>
          <p:nvPr/>
        </p:nvSpPr>
        <p:spPr>
          <a:xfrm xmlns:a="http://schemas.openxmlformats.org/drawingml/2006/main">
            <a:off x="1714500" y="2857500"/>
            <a:ext cx="18669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DeepGrid enters government or PSU tenders</a:t>
            </a:r>
          </a:p>
        </p:txBody>
      </p:sp>
      <p:sp>
        <p:nvSpPr>
          <p:cNvPr id="45" name="">
            <a:extLst xmlns:a="http://schemas.openxmlformats.org/drawingml/2006/main">
              <a:ext uri="{FF2B5EF4-FFF2-40B4-BE49-F238E27FC236}">
                <a16:creationId xmlns:a16="http://schemas.microsoft.com/office/drawing/2014/main" id="{52575ABF-5808-4F3E-83AA-799CD666FE07}"/>
              </a:ext>
            </a:extLst>
          </p:cNvPr>
          <p:cNvSpPr>
            <a:spLocks xmlns:a="http://schemas.openxmlformats.org/drawingml/2006/main" noGrp="1"/>
          </p:cNvSpPr>
          <p:nvPr/>
        </p:nvSpPr>
        <p:spPr>
          <a:xfrm xmlns:a="http://schemas.openxmlformats.org/drawingml/2006/main">
            <a:off x="3695700" y="2857500"/>
            <a:ext cx="30670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Underbid on empanelment. In that arena eligibility, not certification, is the gate — and it draws 30% of revenue from tenders already.</a:t>
            </a:r>
          </a:p>
        </p:txBody>
      </p:sp>
      <p:sp>
        <p:nvSpPr>
          <p:cNvPr id="46" name="">
            <a:extLst xmlns:a="http://schemas.openxmlformats.org/drawingml/2006/main">
              <a:ext uri="{FF2B5EF4-FFF2-40B4-BE49-F238E27FC236}">
                <a16:creationId xmlns:a16="http://schemas.microsoft.com/office/drawing/2014/main" id="{0DBD0785-9943-41C2-B878-6FC0F56F3A3D}"/>
              </a:ext>
            </a:extLst>
          </p:cNvPr>
          <p:cNvSpPr>
            <a:spLocks xmlns:a="http://schemas.openxmlformats.org/drawingml/2006/main" noGrp="1"/>
          </p:cNvSpPr>
          <p:nvPr/>
        </p:nvSpPr>
        <p:spPr>
          <a:xfrm xmlns:a="http://schemas.openxmlformats.org/drawingml/2006/main">
            <a:off x="6896100" y="2886075"/>
            <a:ext cx="76200" cy="762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7202EE08-180B-4DCE-BE4D-316E722D4626}"/>
              </a:ext>
            </a:extLst>
          </p:cNvPr>
          <p:cNvSpPr>
            <a:spLocks xmlns:a="http://schemas.openxmlformats.org/drawingml/2006/main" noGrp="1"/>
          </p:cNvSpPr>
          <p:nvPr/>
        </p:nvSpPr>
        <p:spPr>
          <a:xfrm xmlns:a="http://schemas.openxmlformats.org/drawingml/2006/main">
            <a:off x="7029450" y="2857500"/>
            <a:ext cx="552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MEDIUM</a:t>
            </a:r>
          </a:p>
        </p:txBody>
      </p:sp>
      <p:sp>
        <p:nvSpPr>
          <p:cNvPr id="48" name="">
            <a:extLst xmlns:a="http://schemas.openxmlformats.org/drawingml/2006/main">
              <a:ext uri="{FF2B5EF4-FFF2-40B4-BE49-F238E27FC236}">
                <a16:creationId xmlns:a16="http://schemas.microsoft.com/office/drawing/2014/main" id="{FF3E3CAB-C023-449F-8338-B1FADE94D979}"/>
              </a:ext>
            </a:extLst>
          </p:cNvPr>
          <p:cNvSpPr>
            <a:spLocks xmlns:a="http://schemas.openxmlformats.org/drawingml/2006/main" noGrp="1"/>
          </p:cNvSpPr>
          <p:nvPr/>
        </p:nvSpPr>
        <p:spPr>
          <a:xfrm xmlns:a="http://schemas.openxmlformats.org/drawingml/2006/main">
            <a:off x="7639050" y="2857500"/>
            <a:ext cx="571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1/5</a:t>
            </a:r>
          </a:p>
        </p:txBody>
      </p:sp>
      <p:sp>
        <p:nvSpPr>
          <p:cNvPr id="49" name="">
            <a:extLst xmlns:a="http://schemas.openxmlformats.org/drawingml/2006/main">
              <a:ext uri="{FF2B5EF4-FFF2-40B4-BE49-F238E27FC236}">
                <a16:creationId xmlns:a16="http://schemas.microsoft.com/office/drawing/2014/main" id="{572C70BC-CFA0-460C-9C2F-6233EB184B7B}"/>
              </a:ext>
            </a:extLst>
          </p:cNvPr>
          <p:cNvSpPr>
            <a:spLocks xmlns:a="http://schemas.openxmlformats.org/drawingml/2006/main" noGrp="1"/>
          </p:cNvSpPr>
          <p:nvPr/>
        </p:nvSpPr>
        <p:spPr>
          <a:xfrm xmlns:a="http://schemas.openxmlformats.org/drawingml/2006/main">
            <a:off x="8305800" y="2857500"/>
            <a:ext cx="33337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Partly. GeM procurability and Class-I local content are winnable, but slowly.</a:t>
            </a:r>
          </a:p>
        </p:txBody>
      </p:sp>
      <p:sp>
        <p:nvSpPr>
          <p:cNvPr id="50" name="">
            <a:extLst xmlns:a="http://schemas.openxmlformats.org/drawingml/2006/main">
              <a:ext uri="{FF2B5EF4-FFF2-40B4-BE49-F238E27FC236}">
                <a16:creationId xmlns:a16="http://schemas.microsoft.com/office/drawing/2014/main" id="{A42EE235-A84F-4A98-B411-A978EAD1D4A6}"/>
              </a:ext>
            </a:extLst>
          </p:cNvPr>
          <p:cNvSpPr>
            <a:spLocks xmlns:a="http://schemas.openxmlformats.org/drawingml/2006/main" noGrp="1"/>
          </p:cNvSpPr>
          <p:nvPr/>
        </p:nvSpPr>
        <p:spPr>
          <a:xfrm xmlns:a="http://schemas.openxmlformats.org/drawingml/2006/main">
            <a:off x="457200" y="3362325"/>
            <a:ext cx="28575" cy="4476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898D5165-4C75-4CA0-B019-D7186B5656FB}"/>
              </a:ext>
            </a:extLst>
          </p:cNvPr>
          <p:cNvSpPr>
            <a:spLocks xmlns:a="http://schemas.openxmlformats.org/drawingml/2006/main" noGrp="1"/>
          </p:cNvSpPr>
          <p:nvPr/>
        </p:nvSpPr>
        <p:spPr>
          <a:xfrm xmlns:a="http://schemas.openxmlformats.org/drawingml/2006/main">
            <a:off x="571500" y="3362325"/>
            <a:ext cx="106680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drivebuddyAI</a:t>
            </a:r>
          </a:p>
        </p:txBody>
      </p:sp>
      <p:sp>
        <p:nvSpPr>
          <p:cNvPr id="52" name="">
            <a:extLst xmlns:a="http://schemas.openxmlformats.org/drawingml/2006/main">
              <a:ext uri="{FF2B5EF4-FFF2-40B4-BE49-F238E27FC236}">
                <a16:creationId xmlns:a16="http://schemas.microsoft.com/office/drawing/2014/main" id="{DD7B5800-F8B0-4AF4-98B4-4725DAFEE303}"/>
              </a:ext>
            </a:extLst>
          </p:cNvPr>
          <p:cNvSpPr>
            <a:spLocks xmlns:a="http://schemas.openxmlformats.org/drawingml/2006/main" noGrp="1"/>
          </p:cNvSpPr>
          <p:nvPr/>
        </p:nvSpPr>
        <p:spPr>
          <a:xfrm xmlns:a="http://schemas.openxmlformats.org/drawingml/2006/main">
            <a:off x="571500" y="3533775"/>
            <a:ext cx="10668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EV-DBA-01</a:t>
            </a:r>
          </a:p>
        </p:txBody>
      </p:sp>
      <p:sp>
        <p:nvSpPr>
          <p:cNvPr id="53" name="">
            <a:extLst xmlns:a="http://schemas.openxmlformats.org/drawingml/2006/main">
              <a:ext uri="{FF2B5EF4-FFF2-40B4-BE49-F238E27FC236}">
                <a16:creationId xmlns:a16="http://schemas.microsoft.com/office/drawing/2014/main" id="{8DA11033-4ECE-4A2A-9303-9901959C109E}"/>
              </a:ext>
            </a:extLst>
          </p:cNvPr>
          <p:cNvSpPr>
            <a:spLocks xmlns:a="http://schemas.openxmlformats.org/drawingml/2006/main" noGrp="1"/>
          </p:cNvSpPr>
          <p:nvPr/>
        </p:nvSpPr>
        <p:spPr>
          <a:xfrm xmlns:a="http://schemas.openxmlformats.org/drawingml/2006/main">
            <a:off x="1714500" y="3362325"/>
            <a:ext cx="18669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DeepGrid pursues mining or fleet retrofit as its proof route</a:t>
            </a:r>
          </a:p>
        </p:txBody>
      </p:sp>
      <p:sp>
        <p:nvSpPr>
          <p:cNvPr id="54" name="">
            <a:extLst xmlns:a="http://schemas.openxmlformats.org/drawingml/2006/main">
              <a:ext uri="{FF2B5EF4-FFF2-40B4-BE49-F238E27FC236}">
                <a16:creationId xmlns:a16="http://schemas.microsoft.com/office/drawing/2014/main" id="{E2FA47FB-2A4C-4518-975C-693FDECD65CC}"/>
              </a:ext>
            </a:extLst>
          </p:cNvPr>
          <p:cNvSpPr>
            <a:spLocks xmlns:a="http://schemas.openxmlformats.org/drawingml/2006/main" noGrp="1"/>
          </p:cNvSpPr>
          <p:nvPr/>
        </p:nvSpPr>
        <p:spPr>
          <a:xfrm xmlns:a="http://schemas.openxmlformats.org/drawingml/2006/main">
            <a:off x="3695700" y="3362325"/>
            <a:ext cx="30670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Compete on total platform value rather than box price: ADAS, driver monitoring, video telematics and predictive risk intelligence sold as one unified product to the fleet operator.</a:t>
            </a:r>
          </a:p>
        </p:txBody>
      </p:sp>
      <p:sp>
        <p:nvSpPr>
          <p:cNvPr id="55" name="">
            <a:extLst xmlns:a="http://schemas.openxmlformats.org/drawingml/2006/main">
              <a:ext uri="{FF2B5EF4-FFF2-40B4-BE49-F238E27FC236}">
                <a16:creationId xmlns:a16="http://schemas.microsoft.com/office/drawing/2014/main" id="{FEF95B62-B1CD-4F2A-8C46-886660CF31B3}"/>
              </a:ext>
            </a:extLst>
          </p:cNvPr>
          <p:cNvSpPr>
            <a:spLocks xmlns:a="http://schemas.openxmlformats.org/drawingml/2006/main" noGrp="1"/>
          </p:cNvSpPr>
          <p:nvPr/>
        </p:nvSpPr>
        <p:spPr>
          <a:xfrm xmlns:a="http://schemas.openxmlformats.org/drawingml/2006/main">
            <a:off x="6896100" y="3390900"/>
            <a:ext cx="76200" cy="76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A63FC5DA-FDC9-4649-8BD7-FE1FF08F1773}"/>
              </a:ext>
            </a:extLst>
          </p:cNvPr>
          <p:cNvSpPr>
            <a:spLocks xmlns:a="http://schemas.openxmlformats.org/drawingml/2006/main" noGrp="1"/>
          </p:cNvSpPr>
          <p:nvPr/>
        </p:nvSpPr>
        <p:spPr>
          <a:xfrm xmlns:a="http://schemas.openxmlformats.org/drawingml/2006/main">
            <a:off x="7029450" y="3362325"/>
            <a:ext cx="552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57" name="">
            <a:extLst xmlns:a="http://schemas.openxmlformats.org/drawingml/2006/main">
              <a:ext uri="{FF2B5EF4-FFF2-40B4-BE49-F238E27FC236}">
                <a16:creationId xmlns:a16="http://schemas.microsoft.com/office/drawing/2014/main" id="{01AA6505-EFE2-4B9E-AEFD-9191768ADF6D}"/>
              </a:ext>
            </a:extLst>
          </p:cNvPr>
          <p:cNvSpPr>
            <a:spLocks xmlns:a="http://schemas.openxmlformats.org/drawingml/2006/main" noGrp="1"/>
          </p:cNvSpPr>
          <p:nvPr/>
        </p:nvSpPr>
        <p:spPr>
          <a:xfrm xmlns:a="http://schemas.openxmlformats.org/drawingml/2006/main">
            <a:off x="7639050" y="3362325"/>
            <a:ext cx="571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1/5</a:t>
            </a:r>
          </a:p>
        </p:txBody>
      </p:sp>
      <p:sp>
        <p:nvSpPr>
          <p:cNvPr id="58" name="">
            <a:extLst xmlns:a="http://schemas.openxmlformats.org/drawingml/2006/main">
              <a:ext uri="{FF2B5EF4-FFF2-40B4-BE49-F238E27FC236}">
                <a16:creationId xmlns:a16="http://schemas.microsoft.com/office/drawing/2014/main" id="{F84CAD54-0275-4ABE-98AA-7407C920E6D4}"/>
              </a:ext>
            </a:extLst>
          </p:cNvPr>
          <p:cNvSpPr>
            <a:spLocks xmlns:a="http://schemas.openxmlformats.org/drawingml/2006/main" noGrp="1"/>
          </p:cNvSpPr>
          <p:nvPr/>
        </p:nvSpPr>
        <p:spPr>
          <a:xfrm xmlns:a="http://schemas.openxmlformats.org/drawingml/2006/main">
            <a:off x="8305800" y="3362325"/>
            <a:ext cx="33337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E06767"/>
                </a:solidFill>
                <a:latin typeface="Arial"/>
                <a:ea typeface="Arial"/>
                <a:cs typeface="Arial"/>
              </a:defRPr>
            </a:pPr>
            <a:r>
              <a:t>No. DeepGrid sells a perception subsystem, not a fleet platform, so it cannot match the bundle.</a:t>
            </a:r>
          </a:p>
        </p:txBody>
      </p:sp>
      <p:sp>
        <p:nvSpPr>
          <p:cNvPr id="59" name="">
            <a:extLst xmlns:a="http://schemas.openxmlformats.org/drawingml/2006/main">
              <a:ext uri="{FF2B5EF4-FFF2-40B4-BE49-F238E27FC236}">
                <a16:creationId xmlns:a16="http://schemas.microsoft.com/office/drawing/2014/main" id="{8B6D2478-5F72-4720-89D0-DF2CE33A60B8}"/>
              </a:ext>
            </a:extLst>
          </p:cNvPr>
          <p:cNvSpPr>
            <a:spLocks xmlns:a="http://schemas.openxmlformats.org/drawingml/2006/main" noGrp="1"/>
          </p:cNvSpPr>
          <p:nvPr/>
        </p:nvSpPr>
        <p:spPr>
          <a:xfrm xmlns:a="http://schemas.openxmlformats.org/drawingml/2006/main">
            <a:off x="457200" y="3867150"/>
            <a:ext cx="28575" cy="4476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B923D072-5DE5-4792-B27F-DAE58C645DDE}"/>
              </a:ext>
            </a:extLst>
          </p:cNvPr>
          <p:cNvSpPr>
            <a:spLocks xmlns:a="http://schemas.openxmlformats.org/drawingml/2006/main" noGrp="1"/>
          </p:cNvSpPr>
          <p:nvPr/>
        </p:nvSpPr>
        <p:spPr>
          <a:xfrm xmlns:a="http://schemas.openxmlformats.org/drawingml/2006/main">
            <a:off x="571500" y="3867150"/>
            <a:ext cx="106680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bitsensing</a:t>
            </a:r>
          </a:p>
        </p:txBody>
      </p:sp>
      <p:sp>
        <p:nvSpPr>
          <p:cNvPr id="61" name="">
            <a:extLst xmlns:a="http://schemas.openxmlformats.org/drawingml/2006/main">
              <a:ext uri="{FF2B5EF4-FFF2-40B4-BE49-F238E27FC236}">
                <a16:creationId xmlns:a16="http://schemas.microsoft.com/office/drawing/2014/main" id="{322F9554-BED0-4646-A9C8-0B07748DF9F8}"/>
              </a:ext>
            </a:extLst>
          </p:cNvPr>
          <p:cNvSpPr>
            <a:spLocks xmlns:a="http://schemas.openxmlformats.org/drawingml/2006/main" noGrp="1"/>
          </p:cNvSpPr>
          <p:nvPr/>
        </p:nvSpPr>
        <p:spPr>
          <a:xfrm xmlns:a="http://schemas.openxmlformats.org/drawingml/2006/main">
            <a:off x="571500" y="4038600"/>
            <a:ext cx="10668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EV-BIT-01, EV-BIT-02</a:t>
            </a:r>
          </a:p>
        </p:txBody>
      </p:sp>
      <p:sp>
        <p:nvSpPr>
          <p:cNvPr id="62" name="">
            <a:extLst xmlns:a="http://schemas.openxmlformats.org/drawingml/2006/main">
              <a:ext uri="{FF2B5EF4-FFF2-40B4-BE49-F238E27FC236}">
                <a16:creationId xmlns:a16="http://schemas.microsoft.com/office/drawing/2014/main" id="{1051A273-4D87-4D8D-AFE1-CD351754CBB7}"/>
              </a:ext>
            </a:extLst>
          </p:cNvPr>
          <p:cNvSpPr>
            <a:spLocks xmlns:a="http://schemas.openxmlformats.org/drawingml/2006/main" noGrp="1"/>
          </p:cNvSpPr>
          <p:nvPr/>
        </p:nvSpPr>
        <p:spPr>
          <a:xfrm xmlns:a="http://schemas.openxmlformats.org/drawingml/2006/main">
            <a:off x="1714500" y="3867150"/>
            <a:ext cx="18669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DeepGrid competes on retrofit price</a:t>
            </a:r>
          </a:p>
        </p:txBody>
      </p:sp>
      <p:sp>
        <p:nvSpPr>
          <p:cNvPr id="63" name="">
            <a:extLst xmlns:a="http://schemas.openxmlformats.org/drawingml/2006/main">
              <a:ext uri="{FF2B5EF4-FFF2-40B4-BE49-F238E27FC236}">
                <a16:creationId xmlns:a16="http://schemas.microsoft.com/office/drawing/2014/main" id="{F5CC62C2-1E66-44AC-9D11-C26E1E5D95A5}"/>
              </a:ext>
            </a:extLst>
          </p:cNvPr>
          <p:cNvSpPr>
            <a:spLocks xmlns:a="http://schemas.openxmlformats.org/drawingml/2006/main" noGrp="1"/>
          </p:cNvSpPr>
          <p:nvPr/>
        </p:nvSpPr>
        <p:spPr>
          <a:xfrm xmlns:a="http://schemas.openxmlformats.org/drawingml/2006/main">
            <a:off x="3695700" y="3867150"/>
            <a:ext cx="30670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Lean on NXP silicon economics and an existing Indian channel; pricing is already agreed case by case, so it can flex per deal.</a:t>
            </a:r>
          </a:p>
        </p:txBody>
      </p:sp>
      <p:sp>
        <p:nvSpPr>
          <p:cNvPr id="64" name="">
            <a:extLst xmlns:a="http://schemas.openxmlformats.org/drawingml/2006/main">
              <a:ext uri="{FF2B5EF4-FFF2-40B4-BE49-F238E27FC236}">
                <a16:creationId xmlns:a16="http://schemas.microsoft.com/office/drawing/2014/main" id="{745BF71F-91F5-4CC2-B3AB-B4BA30041D8F}"/>
              </a:ext>
            </a:extLst>
          </p:cNvPr>
          <p:cNvSpPr>
            <a:spLocks xmlns:a="http://schemas.openxmlformats.org/drawingml/2006/main" noGrp="1"/>
          </p:cNvSpPr>
          <p:nvPr/>
        </p:nvSpPr>
        <p:spPr>
          <a:xfrm xmlns:a="http://schemas.openxmlformats.org/drawingml/2006/main">
            <a:off x="6896100" y="3895725"/>
            <a:ext cx="76200" cy="762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662244B9-6FD3-4956-8A4B-3C01272E3725}"/>
              </a:ext>
            </a:extLst>
          </p:cNvPr>
          <p:cNvSpPr>
            <a:spLocks xmlns:a="http://schemas.openxmlformats.org/drawingml/2006/main" noGrp="1"/>
          </p:cNvSpPr>
          <p:nvPr/>
        </p:nvSpPr>
        <p:spPr>
          <a:xfrm xmlns:a="http://schemas.openxmlformats.org/drawingml/2006/main">
            <a:off x="7029450" y="3867150"/>
            <a:ext cx="552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MEDIUM</a:t>
            </a:r>
          </a:p>
        </p:txBody>
      </p:sp>
      <p:sp>
        <p:nvSpPr>
          <p:cNvPr id="66" name="">
            <a:extLst xmlns:a="http://schemas.openxmlformats.org/drawingml/2006/main">
              <a:ext uri="{FF2B5EF4-FFF2-40B4-BE49-F238E27FC236}">
                <a16:creationId xmlns:a16="http://schemas.microsoft.com/office/drawing/2014/main" id="{978B198B-F3A9-4DE2-8969-8CC5DD2649F7}"/>
              </a:ext>
            </a:extLst>
          </p:cNvPr>
          <p:cNvSpPr>
            <a:spLocks xmlns:a="http://schemas.openxmlformats.org/drawingml/2006/main" noGrp="1"/>
          </p:cNvSpPr>
          <p:nvPr/>
        </p:nvSpPr>
        <p:spPr>
          <a:xfrm xmlns:a="http://schemas.openxmlformats.org/drawingml/2006/main">
            <a:off x="7639050" y="3867150"/>
            <a:ext cx="5715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1/5</a:t>
            </a:r>
          </a:p>
        </p:txBody>
      </p:sp>
      <p:sp>
        <p:nvSpPr>
          <p:cNvPr id="67" name="">
            <a:extLst xmlns:a="http://schemas.openxmlformats.org/drawingml/2006/main">
              <a:ext uri="{FF2B5EF4-FFF2-40B4-BE49-F238E27FC236}">
                <a16:creationId xmlns:a16="http://schemas.microsoft.com/office/drawing/2014/main" id="{BE3C9A98-3BDA-46D5-9F6A-A466D6121CF3}"/>
              </a:ext>
            </a:extLst>
          </p:cNvPr>
          <p:cNvSpPr>
            <a:spLocks xmlns:a="http://schemas.openxmlformats.org/drawingml/2006/main" noGrp="1"/>
          </p:cNvSpPr>
          <p:nvPr/>
        </p:nvSpPr>
        <p:spPr>
          <a:xfrm xmlns:a="http://schemas.openxmlformats.org/drawingml/2006/main">
            <a:off x="8305800" y="3867150"/>
            <a:ext cx="33337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Partly — but this arena needs no certification, so DeepGrid's one structural advantage is worth nothing in it.</a:t>
            </a:r>
          </a:p>
        </p:txBody>
      </p:sp>
      <p:sp>
        <p:nvSpPr>
          <p:cNvPr id="68" name="">
            <a:extLst xmlns:a="http://schemas.openxmlformats.org/drawingml/2006/main">
              <a:ext uri="{FF2B5EF4-FFF2-40B4-BE49-F238E27FC236}">
                <a16:creationId xmlns:a16="http://schemas.microsoft.com/office/drawing/2014/main" id="{0B97D886-2014-417B-8B1A-807ADB933A2A}"/>
              </a:ext>
            </a:extLst>
          </p:cNvPr>
          <p:cNvSpPr>
            <a:spLocks xmlns:a="http://schemas.openxmlformats.org/drawingml/2006/main" noGrp="1"/>
          </p:cNvSpPr>
          <p:nvPr/>
        </p:nvSpPr>
        <p:spPr>
          <a:xfrm xmlns:a="http://schemas.openxmlformats.org/drawingml/2006/main">
            <a:off x="457200" y="4371975"/>
            <a:ext cx="28575" cy="4476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95D864BC-9454-4173-BB08-844BE0F59EEF}"/>
              </a:ext>
            </a:extLst>
          </p:cNvPr>
          <p:cNvSpPr>
            <a:spLocks xmlns:a="http://schemas.openxmlformats.org/drawingml/2006/main" noGrp="1"/>
          </p:cNvSpPr>
          <p:nvPr/>
        </p:nvSpPr>
        <p:spPr>
          <a:xfrm xmlns:a="http://schemas.openxmlformats.org/drawingml/2006/main">
            <a:off x="571500" y="4371975"/>
            <a:ext cx="1066800" cy="1524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1050" b="1">
                <a:solidFill>
                  <a:srgbClr val="FFFFFF"/>
                </a:solidFill>
                <a:latin typeface="Arial"/>
                <a:ea typeface="Arial"/>
                <a:cs typeface="Arial"/>
              </a:defRPr>
            </a:pPr>
            <a:r>
              <a:t>Aptiv (2nd)</a:t>
            </a:r>
          </a:p>
        </p:txBody>
      </p:sp>
      <p:sp>
        <p:nvSpPr>
          <p:cNvPr id="70" name="">
            <a:extLst xmlns:a="http://schemas.openxmlformats.org/drawingml/2006/main">
              <a:ext uri="{FF2B5EF4-FFF2-40B4-BE49-F238E27FC236}">
                <a16:creationId xmlns:a16="http://schemas.microsoft.com/office/drawing/2014/main" id="{9C5464EA-1506-4FC6-B928-B3F69DF0B2BF}"/>
              </a:ext>
            </a:extLst>
          </p:cNvPr>
          <p:cNvSpPr>
            <a:spLocks xmlns:a="http://schemas.openxmlformats.org/drawingml/2006/main" noGrp="1"/>
          </p:cNvSpPr>
          <p:nvPr/>
        </p:nvSpPr>
        <p:spPr>
          <a:xfrm xmlns:a="http://schemas.openxmlformats.org/drawingml/2006/main">
            <a:off x="571500" y="4543425"/>
            <a:ext cx="10668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EV-APT-07</a:t>
            </a:r>
          </a:p>
        </p:txBody>
      </p:sp>
      <p:sp>
        <p:nvSpPr>
          <p:cNvPr id="71" name="">
            <a:extLst xmlns:a="http://schemas.openxmlformats.org/drawingml/2006/main">
              <a:ext uri="{FF2B5EF4-FFF2-40B4-BE49-F238E27FC236}">
                <a16:creationId xmlns:a16="http://schemas.microsoft.com/office/drawing/2014/main" id="{1F1BDACB-5071-41DA-9ACA-37570E71ADF0}"/>
              </a:ext>
            </a:extLst>
          </p:cNvPr>
          <p:cNvSpPr>
            <a:spLocks xmlns:a="http://schemas.openxmlformats.org/drawingml/2006/main" noGrp="1"/>
          </p:cNvSpPr>
          <p:nvPr/>
        </p:nvSpPr>
        <p:spPr>
          <a:xfrm xmlns:a="http://schemas.openxmlformats.org/drawingml/2006/main">
            <a:off x="1714500" y="4371975"/>
            <a:ext cx="18669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DeepGrid asks an OEM to integrate its perception layer</a:t>
            </a:r>
          </a:p>
        </p:txBody>
      </p:sp>
      <p:sp>
        <p:nvSpPr>
          <p:cNvPr id="72" name="">
            <a:extLst xmlns:a="http://schemas.openxmlformats.org/drawingml/2006/main">
              <a:ext uri="{FF2B5EF4-FFF2-40B4-BE49-F238E27FC236}">
                <a16:creationId xmlns:a16="http://schemas.microsoft.com/office/drawing/2014/main" id="{D90ABD9C-835D-4FB2-B9B4-B41012A67D92}"/>
              </a:ext>
            </a:extLst>
          </p:cNvPr>
          <p:cNvSpPr>
            <a:spLocks xmlns:a="http://schemas.openxmlformats.org/drawingml/2006/main" noGrp="1"/>
          </p:cNvSpPr>
          <p:nvPr/>
        </p:nvSpPr>
        <p:spPr>
          <a:xfrm xmlns:a="http://schemas.openxmlformats.org/drawingml/2006/main">
            <a:off x="3695700" y="4371975"/>
            <a:ext cx="30670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Put its own people on site: 2,500 India engineers across 4 technical centres and 7 plants, offering integration and calibration support a merchant module vendor cannot staff.</a:t>
            </a:r>
          </a:p>
        </p:txBody>
      </p:sp>
      <p:sp>
        <p:nvSpPr>
          <p:cNvPr id="73" name="">
            <a:extLst xmlns:a="http://schemas.openxmlformats.org/drawingml/2006/main">
              <a:ext uri="{FF2B5EF4-FFF2-40B4-BE49-F238E27FC236}">
                <a16:creationId xmlns:a16="http://schemas.microsoft.com/office/drawing/2014/main" id="{77D4C2F7-DA50-4D4B-94A7-5BF7B101B729}"/>
              </a:ext>
            </a:extLst>
          </p:cNvPr>
          <p:cNvSpPr>
            <a:spLocks xmlns:a="http://schemas.openxmlformats.org/drawingml/2006/main" noGrp="1"/>
          </p:cNvSpPr>
          <p:nvPr/>
        </p:nvSpPr>
        <p:spPr>
          <a:xfrm xmlns:a="http://schemas.openxmlformats.org/drawingml/2006/main">
            <a:off x="6896100" y="4400550"/>
            <a:ext cx="76200" cy="76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E5DEE878-B97C-47AB-94A2-572370E3F859}"/>
              </a:ext>
            </a:extLst>
          </p:cNvPr>
          <p:cNvSpPr>
            <a:spLocks xmlns:a="http://schemas.openxmlformats.org/drawingml/2006/main" noGrp="1"/>
          </p:cNvSpPr>
          <p:nvPr/>
        </p:nvSpPr>
        <p:spPr>
          <a:xfrm xmlns:a="http://schemas.openxmlformats.org/drawingml/2006/main">
            <a:off x="7029450" y="4371975"/>
            <a:ext cx="552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75" name="">
            <a:extLst xmlns:a="http://schemas.openxmlformats.org/drawingml/2006/main">
              <a:ext uri="{FF2B5EF4-FFF2-40B4-BE49-F238E27FC236}">
                <a16:creationId xmlns:a16="http://schemas.microsoft.com/office/drawing/2014/main" id="{370D06B5-B2B2-4B8A-8C33-78EDEB4B4415}"/>
              </a:ext>
            </a:extLst>
          </p:cNvPr>
          <p:cNvSpPr>
            <a:spLocks xmlns:a="http://schemas.openxmlformats.org/drawingml/2006/main" noGrp="1"/>
          </p:cNvSpPr>
          <p:nvPr/>
        </p:nvSpPr>
        <p:spPr>
          <a:xfrm xmlns:a="http://schemas.openxmlformats.org/drawingml/2006/main">
            <a:off x="7639050" y="4371975"/>
            <a:ext cx="571500" cy="1333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defRPr sz="800" b="1">
                <a:solidFill>
                  <a:srgbClr val="8EA0B2"/>
                </a:solidFill>
                <a:latin typeface="Arial"/>
                <a:ea typeface="Arial"/>
                <a:cs typeface="Arial"/>
              </a:defRPr>
            </a:pPr>
            <a:r>
              <a:t/>
            </a:r>
          </a:p>
        </p:txBody>
      </p:sp>
      <p:sp>
        <p:nvSpPr>
          <p:cNvPr id="76" name="">
            <a:extLst xmlns:a="http://schemas.openxmlformats.org/drawingml/2006/main">
              <a:ext uri="{FF2B5EF4-FFF2-40B4-BE49-F238E27FC236}">
                <a16:creationId xmlns:a16="http://schemas.microsoft.com/office/drawing/2014/main" id="{A147398E-6456-460A-A221-1344EE1344BB}"/>
              </a:ext>
            </a:extLst>
          </p:cNvPr>
          <p:cNvSpPr>
            <a:spLocks xmlns:a="http://schemas.openxmlformats.org/drawingml/2006/main" noGrp="1"/>
          </p:cNvSpPr>
          <p:nvPr/>
        </p:nvSpPr>
        <p:spPr>
          <a:xfrm xmlns:a="http://schemas.openxmlformats.org/drawingml/2006/main">
            <a:off x="8305800" y="4371975"/>
            <a:ext cx="33337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E06767"/>
                </a:solidFill>
                <a:latin typeface="Arial"/>
                <a:ea typeface="Arial"/>
                <a:cs typeface="Arial"/>
              </a:defRPr>
            </a:pPr>
            <a:r>
              <a:t>No. DeepGrid cannot match an incumbent's local engineering bench during a design-in.</a:t>
            </a:r>
          </a:p>
        </p:txBody>
      </p:sp>
      <p:sp>
        <p:nvSpPr>
          <p:cNvPr id="77" name="">
            <a:extLst xmlns:a="http://schemas.openxmlformats.org/drawingml/2006/main">
              <a:ext uri="{FF2B5EF4-FFF2-40B4-BE49-F238E27FC236}">
                <a16:creationId xmlns:a16="http://schemas.microsoft.com/office/drawing/2014/main" id="{531CCEC5-93B4-4B89-AF1C-33DBCCE40B3F}"/>
              </a:ext>
            </a:extLst>
          </p:cNvPr>
          <p:cNvSpPr>
            <a:spLocks xmlns:a="http://schemas.openxmlformats.org/drawingml/2006/main" noGrp="1"/>
          </p:cNvSpPr>
          <p:nvPr/>
        </p:nvSpPr>
        <p:spPr>
          <a:xfrm xmlns:a="http://schemas.openxmlformats.org/drawingml/2006/main">
            <a:off x="457200" y="4876800"/>
            <a:ext cx="28575" cy="4476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053CC86B-3623-480D-BC9D-A38D4B9701C0}"/>
              </a:ext>
            </a:extLst>
          </p:cNvPr>
          <p:cNvSpPr>
            <a:spLocks xmlns:a="http://schemas.openxmlformats.org/drawingml/2006/main" noGrp="1"/>
          </p:cNvSpPr>
          <p:nvPr/>
        </p:nvSpPr>
        <p:spPr>
          <a:xfrm xmlns:a="http://schemas.openxmlformats.org/drawingml/2006/main">
            <a:off x="571500" y="4876800"/>
            <a:ext cx="1066800" cy="152400"/>
          </a:xfrm>
          <a:prstGeom xmlns:a="http://schemas.openxmlformats.org/drawingml/2006/main" prst="rect">
            <a:avLst/>
          </a:prstGeom>
        </p:spPr>
        <p:txBody>
          <a:bodyPr xmlns:a="http://schemas.openxmlformats.org/drawingml/2006/main" lIns="0" tIns="0" rIns="0" bIns="0" anchor="t">
            <a:normAutofit fontScale="88725"/>
          </a:bodyPr>
          <a:lstStyle xmlns:a="http://schemas.openxmlformats.org/drawingml/2006/main"/>
          <a:p xmlns:a="http://schemas.openxmlformats.org/drawingml/2006/main">
            <a:pPr algn="l">
              <a:defRPr sz="1050" b="1">
                <a:solidFill>
                  <a:srgbClr val="FFFFFF"/>
                </a:solidFill>
                <a:latin typeface="Arial"/>
                <a:ea typeface="Arial"/>
                <a:cs typeface="Arial"/>
              </a:defRPr>
            </a:pPr>
            <a:r>
              <a:t>Sterling × MINIEYE</a:t>
            </a:r>
          </a:p>
        </p:txBody>
      </p:sp>
      <p:sp>
        <p:nvSpPr>
          <p:cNvPr id="79" name="">
            <a:extLst xmlns:a="http://schemas.openxmlformats.org/drawingml/2006/main">
              <a:ext uri="{FF2B5EF4-FFF2-40B4-BE49-F238E27FC236}">
                <a16:creationId xmlns:a16="http://schemas.microsoft.com/office/drawing/2014/main" id="{E08A95DE-7388-4521-8739-3866196438E7}"/>
              </a:ext>
            </a:extLst>
          </p:cNvPr>
          <p:cNvSpPr>
            <a:spLocks xmlns:a="http://schemas.openxmlformats.org/drawingml/2006/main" noGrp="1"/>
          </p:cNvSpPr>
          <p:nvPr/>
        </p:nvSpPr>
        <p:spPr>
          <a:xfrm xmlns:a="http://schemas.openxmlformats.org/drawingml/2006/main">
            <a:off x="571500" y="5048250"/>
            <a:ext cx="10668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EV-STL-01</a:t>
            </a:r>
          </a:p>
        </p:txBody>
      </p:sp>
      <p:sp>
        <p:nvSpPr>
          <p:cNvPr id="80" name="">
            <a:extLst xmlns:a="http://schemas.openxmlformats.org/drawingml/2006/main">
              <a:ext uri="{FF2B5EF4-FFF2-40B4-BE49-F238E27FC236}">
                <a16:creationId xmlns:a16="http://schemas.microsoft.com/office/drawing/2014/main" id="{9C57DBFA-1DB8-4CF6-A95F-134D10D6EFD8}"/>
              </a:ext>
            </a:extLst>
          </p:cNvPr>
          <p:cNvSpPr>
            <a:spLocks xmlns:a="http://schemas.openxmlformats.org/drawingml/2006/main" noGrp="1"/>
          </p:cNvSpPr>
          <p:nvPr/>
        </p:nvSpPr>
        <p:spPr>
          <a:xfrm xmlns:a="http://schemas.openxmlformats.org/drawingml/2006/main">
            <a:off x="1714500" y="4876800"/>
            <a:ext cx="18669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04B3C7"/>
                </a:solidFill>
                <a:latin typeface="Arial"/>
                <a:ea typeface="Arial"/>
                <a:cs typeface="Arial"/>
              </a:defRPr>
            </a:pPr>
            <a:r>
              <a:t>DeepGrid seeks an Indian integrator to attach to</a:t>
            </a:r>
          </a:p>
        </p:txBody>
      </p:sp>
      <p:sp>
        <p:nvSpPr>
          <p:cNvPr id="81" name="">
            <a:extLst xmlns:a="http://schemas.openxmlformats.org/drawingml/2006/main">
              <a:ext uri="{FF2B5EF4-FFF2-40B4-BE49-F238E27FC236}">
                <a16:creationId xmlns:a16="http://schemas.microsoft.com/office/drawing/2014/main" id="{FBA8C3A7-07D4-46EE-BBA4-7A7077B81B43}"/>
              </a:ext>
            </a:extLst>
          </p:cNvPr>
          <p:cNvSpPr>
            <a:spLocks xmlns:a="http://schemas.openxmlformats.org/drawingml/2006/main" noGrp="1"/>
          </p:cNvSpPr>
          <p:nvPr/>
        </p:nvSpPr>
        <p:spPr>
          <a:xfrm xmlns:a="http://schemas.openxmlformats.org/drawingml/2006/main">
            <a:off x="3695700" y="4876800"/>
            <a:ext cx="30670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Occupy the same slot first: an established Indian component major with existing OEM relationships and domestic manufacturing, already paired with a foreign perception stack.</a:t>
            </a:r>
          </a:p>
        </p:txBody>
      </p:sp>
      <p:sp>
        <p:nvSpPr>
          <p:cNvPr id="82" name="">
            <a:extLst xmlns:a="http://schemas.openxmlformats.org/drawingml/2006/main">
              <a:ext uri="{FF2B5EF4-FFF2-40B4-BE49-F238E27FC236}">
                <a16:creationId xmlns:a16="http://schemas.microsoft.com/office/drawing/2014/main" id="{FD05DE88-BD7F-4527-95CB-B07763FC2A01}"/>
              </a:ext>
            </a:extLst>
          </p:cNvPr>
          <p:cNvSpPr>
            <a:spLocks xmlns:a="http://schemas.openxmlformats.org/drawingml/2006/main" noGrp="1"/>
          </p:cNvSpPr>
          <p:nvPr/>
        </p:nvSpPr>
        <p:spPr>
          <a:xfrm xmlns:a="http://schemas.openxmlformats.org/drawingml/2006/main">
            <a:off x="6896100" y="4905375"/>
            <a:ext cx="76200" cy="762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4F411C51-4EB6-4B27-9EBC-7D755E1E38E6}"/>
              </a:ext>
            </a:extLst>
          </p:cNvPr>
          <p:cNvSpPr>
            <a:spLocks xmlns:a="http://schemas.openxmlformats.org/drawingml/2006/main" noGrp="1"/>
          </p:cNvSpPr>
          <p:nvPr/>
        </p:nvSpPr>
        <p:spPr>
          <a:xfrm xmlns:a="http://schemas.openxmlformats.org/drawingml/2006/main">
            <a:off x="7029450" y="4876800"/>
            <a:ext cx="552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MEDIUM</a:t>
            </a:r>
          </a:p>
        </p:txBody>
      </p:sp>
      <p:sp>
        <p:nvSpPr>
          <p:cNvPr id="84" name="">
            <a:extLst xmlns:a="http://schemas.openxmlformats.org/drawingml/2006/main">
              <a:ext uri="{FF2B5EF4-FFF2-40B4-BE49-F238E27FC236}">
                <a16:creationId xmlns:a16="http://schemas.microsoft.com/office/drawing/2014/main" id="{1BA4A525-A534-4AA5-BE31-0C55D1D96F97}"/>
              </a:ext>
            </a:extLst>
          </p:cNvPr>
          <p:cNvSpPr>
            <a:spLocks xmlns:a="http://schemas.openxmlformats.org/drawingml/2006/main" noGrp="1"/>
          </p:cNvSpPr>
          <p:nvPr/>
        </p:nvSpPr>
        <p:spPr>
          <a:xfrm xmlns:a="http://schemas.openxmlformats.org/drawingml/2006/main">
            <a:off x="7639050" y="4876800"/>
            <a:ext cx="571500" cy="13335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defRPr sz="800" b="1">
                <a:solidFill>
                  <a:srgbClr val="8EA0B2"/>
                </a:solidFill>
                <a:latin typeface="Arial"/>
                <a:ea typeface="Arial"/>
                <a:cs typeface="Arial"/>
              </a:defRPr>
            </a:pPr>
            <a:r>
              <a:t/>
            </a:r>
          </a:p>
        </p:txBody>
      </p:sp>
      <p:sp>
        <p:nvSpPr>
          <p:cNvPr id="85" name="">
            <a:extLst xmlns:a="http://schemas.openxmlformats.org/drawingml/2006/main">
              <a:ext uri="{FF2B5EF4-FFF2-40B4-BE49-F238E27FC236}">
                <a16:creationId xmlns:a16="http://schemas.microsoft.com/office/drawing/2014/main" id="{DE1D4642-9897-41B5-B1F5-AE4751A330C6}"/>
              </a:ext>
            </a:extLst>
          </p:cNvPr>
          <p:cNvSpPr>
            <a:spLocks xmlns:a="http://schemas.openxmlformats.org/drawingml/2006/main" noGrp="1"/>
          </p:cNvSpPr>
          <p:nvPr/>
        </p:nvSpPr>
        <p:spPr>
          <a:xfrm xmlns:a="http://schemas.openxmlformats.org/drawingml/2006/main">
            <a:off x="8305800" y="4876800"/>
            <a:ext cx="33337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C9D6E2"/>
                </a:solidFill>
                <a:latin typeface="Arial"/>
                <a:ea typeface="Arial"/>
                <a:cs typeface="Arial"/>
              </a:defRPr>
            </a:pPr>
            <a:r>
              <a:t>Partly. Other integrators exist, but the most obvious partner is already taken.</a:t>
            </a:r>
          </a:p>
        </p:txBody>
      </p:sp>
      <p:sp>
        <p:nvSpPr>
          <p:cNvPr id="86" name="">
            <a:extLst xmlns:a="http://schemas.openxmlformats.org/drawingml/2006/main">
              <a:ext uri="{FF2B5EF4-FFF2-40B4-BE49-F238E27FC236}">
                <a16:creationId xmlns:a16="http://schemas.microsoft.com/office/drawing/2014/main" id="{DA873273-9463-4257-BD32-54126CB9DC54}"/>
              </a:ext>
            </a:extLst>
          </p:cNvPr>
          <p:cNvSpPr>
            <a:spLocks xmlns:a="http://schemas.openxmlformats.org/drawingml/2006/main" noGrp="1"/>
          </p:cNvSpPr>
          <p:nvPr/>
        </p:nvSpPr>
        <p:spPr>
          <a:xfrm xmlns:a="http://schemas.openxmlformats.org/drawingml/2006/main">
            <a:off x="457200" y="541972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33886433-6D87-481A-BB84-885232E94ABF}"/>
              </a:ext>
            </a:extLst>
          </p:cNvPr>
          <p:cNvSpPr>
            <a:spLocks xmlns:a="http://schemas.openxmlformats.org/drawingml/2006/main" noGrp="1"/>
          </p:cNvSpPr>
          <p:nvPr/>
        </p:nvSpPr>
        <p:spPr>
          <a:xfrm xmlns:a="http://schemas.openxmlformats.org/drawingml/2006/main">
            <a:off x="457200" y="5534025"/>
            <a:ext cx="11277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Every counter is a capability the rival already has, cited to a ledger row — none rests on assumed intent. Counter RISK and blocker rank measure different things: risk is how badly the move hurts, blocker rank is how much the rival obstructs the seat. ZF's counter is unanswerable yet ZF ranks 3/5, because ZF forecloses the ROUTE while STRADVISION occupies the SEAT.</a:t>
            </a:r>
          </a:p>
        </p:txBody>
      </p:sp>
      <p:sp>
        <p:nvSpPr>
          <p:cNvPr id="88" name="">
            <a:extLst xmlns:a="http://schemas.openxmlformats.org/drawingml/2006/main">
              <a:ext uri="{FF2B5EF4-FFF2-40B4-BE49-F238E27FC236}">
                <a16:creationId xmlns:a16="http://schemas.microsoft.com/office/drawing/2014/main" id="{81B8D9FB-7928-4C80-B386-D61EEC72E91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BFE4DB73-43B6-4F51-9410-5B9C0262512C}"/>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90" name="">
            <a:extLst xmlns:a="http://schemas.openxmlformats.org/drawingml/2006/main">
              <a:ext uri="{FF2B5EF4-FFF2-40B4-BE49-F238E27FC236}">
                <a16:creationId xmlns:a16="http://schemas.microsoft.com/office/drawing/2014/main" id="{E046C074-2CEA-4321-8477-196069A3CB9D}"/>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93</a:t>
            </a:r>
          </a:p>
        </p:txBody>
      </p:sp>
    </p:spTree>
    <p:extLst>
      <p:ext uri="{BB962C8B-B14F-4D97-AF65-F5344CB8AC3E}">
        <p14:creationId xmlns:p14="http://schemas.microsoft.com/office/powerpoint/2010/main" val="1302676774"/>
      </p:ext>
    </p:extLst>
  </p:cSld>
</p:sld>
</file>

<file path=ppt/slides/slide94.xml><?xml version="1.0" encoding="utf-8"?>
<p:sld xmlns:p="http://schemas.openxmlformats.org/presentationml/2006/main">
  <p:cSld>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1043A77A-DBF0-476C-8205-20316C6F969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12E6644-E150-49E8-B506-0D58D00BA70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BE251F7-D775-4470-97CD-2D32F3FB0009}"/>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COMPETITIVE STRATEGY · WHERE NOT TO COMPETE</a:t>
            </a:r>
          </a:p>
        </p:txBody>
      </p:sp>
      <p:sp>
        <p:nvSpPr>
          <p:cNvPr id="4" name="">
            <a:extLst xmlns:a="http://schemas.openxmlformats.org/drawingml/2006/main">
              <a:ext uri="{FF2B5EF4-FFF2-40B4-BE49-F238E27FC236}">
                <a16:creationId xmlns:a16="http://schemas.microsoft.com/office/drawing/2014/main" id="{0FB68D1F-EA42-4FC6-9209-4FC4E17F9725}"/>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Four contests to lose deliberately</a:t>
            </a:r>
          </a:p>
        </p:txBody>
      </p:sp>
      <p:sp>
        <p:nvSpPr>
          <p:cNvPr id="5" name="">
            <a:extLst xmlns:a="http://schemas.openxmlformats.org/drawingml/2006/main">
              <a:ext uri="{FF2B5EF4-FFF2-40B4-BE49-F238E27FC236}">
                <a16:creationId xmlns:a16="http://schemas.microsoft.com/office/drawing/2014/main" id="{9C4C00BE-6D63-4390-9F2D-99A2C6C89C66}"/>
              </a:ext>
            </a:extLst>
          </p:cNvPr>
          <p:cNvSpPr>
            <a:spLocks xmlns:a="http://schemas.openxmlformats.org/drawingml/2006/main" noGrp="1"/>
          </p:cNvSpPr>
          <p:nvPr/>
        </p:nvSpPr>
        <p:spPr>
          <a:xfrm xmlns:a="http://schemas.openxmlformats.org/drawingml/2006/main">
            <a:off x="457200" y="762000"/>
            <a:ext cx="11277600" cy="161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The dossier says where to compete. It never says where to stop — so every arena stays notionally open and scarce evidence spend gets spread across all of them.</a:t>
            </a:r>
          </a:p>
        </p:txBody>
      </p:sp>
      <p:sp>
        <p:nvSpPr>
          <p:cNvPr id="6" name="">
            <a:extLst xmlns:a="http://schemas.openxmlformats.org/drawingml/2006/main">
              <a:ext uri="{FF2B5EF4-FFF2-40B4-BE49-F238E27FC236}">
                <a16:creationId xmlns:a16="http://schemas.microsoft.com/office/drawing/2014/main" id="{BD9D6DED-3EA7-48A7-A21F-654A4D410FBD}"/>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6A67ADE-7B84-4624-9EE0-0FCD87AFA039}"/>
              </a:ext>
            </a:extLst>
          </p:cNvPr>
          <p:cNvSpPr>
            <a:spLocks xmlns:a="http://schemas.openxmlformats.org/drawingml/2006/main" noGrp="1"/>
          </p:cNvSpPr>
          <p:nvPr/>
        </p:nvSpPr>
        <p:spPr>
          <a:xfrm xmlns:a="http://schemas.openxmlformats.org/drawingml/2006/main">
            <a:off x="457200" y="1133475"/>
            <a:ext cx="11277600" cy="9144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A69420FE-0A86-4F75-B727-232F14CF1F44}"/>
              </a:ext>
            </a:extLst>
          </p:cNvPr>
          <p:cNvSpPr>
            <a:spLocks xmlns:a="http://schemas.openxmlformats.org/drawingml/2006/main" noGrp="1"/>
          </p:cNvSpPr>
          <p:nvPr/>
        </p:nvSpPr>
        <p:spPr>
          <a:xfrm xmlns:a="http://schemas.openxmlformats.org/drawingml/2006/main">
            <a:off x="457200" y="1133475"/>
            <a:ext cx="38100" cy="9144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B8A5C22-C73D-4580-A6F9-7475EE2FE204}"/>
              </a:ext>
            </a:extLst>
          </p:cNvPr>
          <p:cNvSpPr>
            <a:spLocks xmlns:a="http://schemas.openxmlformats.org/drawingml/2006/main" noGrp="1"/>
          </p:cNvSpPr>
          <p:nvPr/>
        </p:nvSpPr>
        <p:spPr>
          <a:xfrm xmlns:a="http://schemas.openxmlformats.org/drawingml/2006/main">
            <a:off x="628650" y="1247775"/>
            <a:ext cx="2857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E06767"/>
                </a:solidFill>
                <a:latin typeface="Georgia"/>
                <a:ea typeface="Georgia"/>
                <a:cs typeface="Georgia"/>
              </a:defRPr>
            </a:pPr>
            <a:r>
              <a:t>1</a:t>
            </a:r>
          </a:p>
        </p:txBody>
      </p:sp>
      <p:sp>
        <p:nvSpPr>
          <p:cNvPr id="10" name="">
            <a:extLst xmlns:a="http://schemas.openxmlformats.org/drawingml/2006/main">
              <a:ext uri="{FF2B5EF4-FFF2-40B4-BE49-F238E27FC236}">
                <a16:creationId xmlns:a16="http://schemas.microsoft.com/office/drawing/2014/main" id="{9C82C914-4A47-4CF7-AE10-987D7078F021}"/>
              </a:ext>
            </a:extLst>
          </p:cNvPr>
          <p:cNvSpPr>
            <a:spLocks xmlns:a="http://schemas.openxmlformats.org/drawingml/2006/main" noGrp="1"/>
          </p:cNvSpPr>
          <p:nvPr/>
        </p:nvSpPr>
        <p:spPr>
          <a:xfrm xmlns:a="http://schemas.openxmlformats.org/drawingml/2006/main">
            <a:off x="952500" y="1247775"/>
            <a:ext cx="25527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1 Jan 2027 line-fit</a:t>
            </a:r>
          </a:p>
        </p:txBody>
      </p:sp>
      <p:sp>
        <p:nvSpPr>
          <p:cNvPr id="11" name="">
            <a:extLst xmlns:a="http://schemas.openxmlformats.org/drawingml/2006/main">
              <a:ext uri="{FF2B5EF4-FFF2-40B4-BE49-F238E27FC236}">
                <a16:creationId xmlns:a16="http://schemas.microsoft.com/office/drawing/2014/main" id="{D28ED5F5-C2C7-4438-9481-E51BCE0EFCB8}"/>
              </a:ext>
            </a:extLst>
          </p:cNvPr>
          <p:cNvSpPr>
            <a:spLocks xmlns:a="http://schemas.openxmlformats.org/drawingml/2006/main" noGrp="1"/>
          </p:cNvSpPr>
          <p:nvPr/>
        </p:nvSpPr>
        <p:spPr>
          <a:xfrm xmlns:a="http://schemas.openxmlformats.org/drawingml/2006/main">
            <a:off x="952500" y="1590675"/>
            <a:ext cx="25527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UNWINNABLE ON TIME</a:t>
            </a:r>
          </a:p>
        </p:txBody>
      </p:sp>
      <p:sp>
        <p:nvSpPr>
          <p:cNvPr id="12" name="">
            <a:extLst xmlns:a="http://schemas.openxmlformats.org/drawingml/2006/main">
              <a:ext uri="{FF2B5EF4-FFF2-40B4-BE49-F238E27FC236}">
                <a16:creationId xmlns:a16="http://schemas.microsoft.com/office/drawing/2014/main" id="{F60CA2AB-5726-47C5-8A60-9DC558CC6000}"/>
              </a:ext>
            </a:extLst>
          </p:cNvPr>
          <p:cNvSpPr>
            <a:spLocks xmlns:a="http://schemas.openxmlformats.org/drawingml/2006/main" noGrp="1"/>
          </p:cNvSpPr>
          <p:nvPr/>
        </p:nvSpPr>
        <p:spPr>
          <a:xfrm xmlns:a="http://schemas.openxmlformats.org/drawingml/2006/main">
            <a:off x="3695700" y="1247775"/>
            <a:ext cx="78486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Design-in for an OEM programme runs 18–30 months. It is August 2026. A programme binding 1 Jan 2027 was specified before DeepGrid could have entered it.</a:t>
            </a:r>
          </a:p>
        </p:txBody>
      </p:sp>
      <p:sp>
        <p:nvSpPr>
          <p:cNvPr id="13" name="">
            <a:extLst xmlns:a="http://schemas.openxmlformats.org/drawingml/2006/main">
              <a:ext uri="{FF2B5EF4-FFF2-40B4-BE49-F238E27FC236}">
                <a16:creationId xmlns:a16="http://schemas.microsoft.com/office/drawing/2014/main" id="{9A8E6309-FB6F-4773-8D88-1E37BDB0447D}"/>
              </a:ext>
            </a:extLst>
          </p:cNvPr>
          <p:cNvSpPr>
            <a:spLocks xmlns:a="http://schemas.openxmlformats.org/drawingml/2006/main" noGrp="1"/>
          </p:cNvSpPr>
          <p:nvPr/>
        </p:nvSpPr>
        <p:spPr>
          <a:xfrm xmlns:a="http://schemas.openxmlformats.org/drawingml/2006/main">
            <a:off x="3695700" y="1781175"/>
            <a:ext cx="7848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Reopen when · if an OEM offers a mid-cycle perception swap with no re-homologation.</a:t>
            </a:r>
          </a:p>
        </p:txBody>
      </p:sp>
      <p:sp>
        <p:nvSpPr>
          <p:cNvPr id="14" name="">
            <a:extLst xmlns:a="http://schemas.openxmlformats.org/drawingml/2006/main">
              <a:ext uri="{FF2B5EF4-FFF2-40B4-BE49-F238E27FC236}">
                <a16:creationId xmlns:a16="http://schemas.microsoft.com/office/drawing/2014/main" id="{27C2FD20-2444-4014-8479-699E52948FAB}"/>
              </a:ext>
            </a:extLst>
          </p:cNvPr>
          <p:cNvSpPr>
            <a:spLocks xmlns:a="http://schemas.openxmlformats.org/drawingml/2006/main" noGrp="1"/>
          </p:cNvSpPr>
          <p:nvPr/>
        </p:nvSpPr>
        <p:spPr>
          <a:xfrm xmlns:a="http://schemas.openxmlformats.org/drawingml/2006/main">
            <a:off x="457200" y="2143125"/>
            <a:ext cx="11277600" cy="9144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5" name="">
            <a:extLst xmlns:a="http://schemas.openxmlformats.org/drawingml/2006/main">
              <a:ext uri="{FF2B5EF4-FFF2-40B4-BE49-F238E27FC236}">
                <a16:creationId xmlns:a16="http://schemas.microsoft.com/office/drawing/2014/main" id="{8184E946-2ED7-454D-BF1D-85A504DF5B44}"/>
              </a:ext>
            </a:extLst>
          </p:cNvPr>
          <p:cNvSpPr>
            <a:spLocks xmlns:a="http://schemas.openxmlformats.org/drawingml/2006/main" noGrp="1"/>
          </p:cNvSpPr>
          <p:nvPr/>
        </p:nvSpPr>
        <p:spPr>
          <a:xfrm xmlns:a="http://schemas.openxmlformats.org/drawingml/2006/main">
            <a:off x="457200" y="2143125"/>
            <a:ext cx="38100" cy="9144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A15D7D4-E2D0-4AB1-ACCB-CFC128C0A34E}"/>
              </a:ext>
            </a:extLst>
          </p:cNvPr>
          <p:cNvSpPr>
            <a:spLocks xmlns:a="http://schemas.openxmlformats.org/drawingml/2006/main" noGrp="1"/>
          </p:cNvSpPr>
          <p:nvPr/>
        </p:nvSpPr>
        <p:spPr>
          <a:xfrm xmlns:a="http://schemas.openxmlformats.org/drawingml/2006/main">
            <a:off x="628650" y="2257425"/>
            <a:ext cx="2857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E06767"/>
                </a:solidFill>
                <a:latin typeface="Georgia"/>
                <a:ea typeface="Georgia"/>
                <a:cs typeface="Georgia"/>
              </a:defRPr>
            </a:pPr>
            <a:r>
              <a:t>2</a:t>
            </a:r>
          </a:p>
        </p:txBody>
      </p:sp>
      <p:sp>
        <p:nvSpPr>
          <p:cNvPr id="17" name="">
            <a:extLst xmlns:a="http://schemas.openxmlformats.org/drawingml/2006/main">
              <a:ext uri="{FF2B5EF4-FFF2-40B4-BE49-F238E27FC236}">
                <a16:creationId xmlns:a16="http://schemas.microsoft.com/office/drawing/2014/main" id="{45910D49-68E1-4142-84B1-F9BB441EA328}"/>
              </a:ext>
            </a:extLst>
          </p:cNvPr>
          <p:cNvSpPr>
            <a:spLocks xmlns:a="http://schemas.openxmlformats.org/drawingml/2006/main" noGrp="1"/>
          </p:cNvSpPr>
          <p:nvPr/>
        </p:nvSpPr>
        <p:spPr>
          <a:xfrm xmlns:a="http://schemas.openxmlformats.org/drawingml/2006/main">
            <a:off x="952500" y="2257425"/>
            <a:ext cx="25527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Full-system AEBS supply</a:t>
            </a:r>
          </a:p>
        </p:txBody>
      </p:sp>
      <p:sp>
        <p:nvSpPr>
          <p:cNvPr id="18" name="">
            <a:extLst xmlns:a="http://schemas.openxmlformats.org/drawingml/2006/main">
              <a:ext uri="{FF2B5EF4-FFF2-40B4-BE49-F238E27FC236}">
                <a16:creationId xmlns:a16="http://schemas.microsoft.com/office/drawing/2014/main" id="{86A2C1E1-DCB9-4EE3-8E48-22C2A03452CF}"/>
              </a:ext>
            </a:extLst>
          </p:cNvPr>
          <p:cNvSpPr>
            <a:spLocks xmlns:a="http://schemas.openxmlformats.org/drawingml/2006/main" noGrp="1"/>
          </p:cNvSpPr>
          <p:nvPr/>
        </p:nvSpPr>
        <p:spPr>
          <a:xfrm xmlns:a="http://schemas.openxmlformats.org/drawingml/2006/main">
            <a:off x="952500" y="2600325"/>
            <a:ext cx="25527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STRUCTURALLY CLOSED</a:t>
            </a:r>
          </a:p>
        </p:txBody>
      </p:sp>
      <p:sp>
        <p:nvSpPr>
          <p:cNvPr id="19" name="">
            <a:extLst xmlns:a="http://schemas.openxmlformats.org/drawingml/2006/main">
              <a:ext uri="{FF2B5EF4-FFF2-40B4-BE49-F238E27FC236}">
                <a16:creationId xmlns:a16="http://schemas.microsoft.com/office/drawing/2014/main" id="{BDFA737E-0484-4BF9-8966-6EC4765F8F86}"/>
              </a:ext>
            </a:extLst>
          </p:cNvPr>
          <p:cNvSpPr>
            <a:spLocks xmlns:a="http://schemas.openxmlformats.org/drawingml/2006/main" noGrp="1"/>
          </p:cNvSpPr>
          <p:nvPr/>
        </p:nvSpPr>
        <p:spPr>
          <a:xfrm xmlns:a="http://schemas.openxmlformats.org/drawingml/2006/main">
            <a:off x="3695700" y="2257425"/>
            <a:ext cx="78486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Rule 96(12) obliges a system that brakes. The safety case, calibration and warranty sit with the actuator owner, and ZF will not hand those over.</a:t>
            </a:r>
          </a:p>
        </p:txBody>
      </p:sp>
      <p:sp>
        <p:nvSpPr>
          <p:cNvPr id="20" name="">
            <a:extLst xmlns:a="http://schemas.openxmlformats.org/drawingml/2006/main">
              <a:ext uri="{FF2B5EF4-FFF2-40B4-BE49-F238E27FC236}">
                <a16:creationId xmlns:a16="http://schemas.microsoft.com/office/drawing/2014/main" id="{EF7C7686-4515-41E8-B9F9-315E6FB74E0E}"/>
              </a:ext>
            </a:extLst>
          </p:cNvPr>
          <p:cNvSpPr>
            <a:spLocks xmlns:a="http://schemas.openxmlformats.org/drawingml/2006/main" noGrp="1"/>
          </p:cNvSpPr>
          <p:nvPr/>
        </p:nvSpPr>
        <p:spPr>
          <a:xfrm xmlns:a="http://schemas.openxmlformats.org/drawingml/2006/main">
            <a:off x="3695700" y="2790825"/>
            <a:ext cx="7848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Reopen when · if a braking Tier-1 offers a white-label safety case — which none has ever done.</a:t>
            </a:r>
          </a:p>
        </p:txBody>
      </p:sp>
      <p:sp>
        <p:nvSpPr>
          <p:cNvPr id="21" name="">
            <a:extLst xmlns:a="http://schemas.openxmlformats.org/drawingml/2006/main">
              <a:ext uri="{FF2B5EF4-FFF2-40B4-BE49-F238E27FC236}">
                <a16:creationId xmlns:a16="http://schemas.microsoft.com/office/drawing/2014/main" id="{809BB55B-72ED-4D3D-AEEB-224AA5F8FF2A}"/>
              </a:ext>
            </a:extLst>
          </p:cNvPr>
          <p:cNvSpPr>
            <a:spLocks xmlns:a="http://schemas.openxmlformats.org/drawingml/2006/main" noGrp="1"/>
          </p:cNvSpPr>
          <p:nvPr/>
        </p:nvSpPr>
        <p:spPr>
          <a:xfrm xmlns:a="http://schemas.openxmlformats.org/drawingml/2006/main">
            <a:off x="457200" y="3152775"/>
            <a:ext cx="11277600" cy="1162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2" name="">
            <a:extLst xmlns:a="http://schemas.openxmlformats.org/drawingml/2006/main">
              <a:ext uri="{FF2B5EF4-FFF2-40B4-BE49-F238E27FC236}">
                <a16:creationId xmlns:a16="http://schemas.microsoft.com/office/drawing/2014/main" id="{84551FB3-C46D-4D8D-9738-D5CA07EA70E0}"/>
              </a:ext>
            </a:extLst>
          </p:cNvPr>
          <p:cNvSpPr>
            <a:spLocks xmlns:a="http://schemas.openxmlformats.org/drawingml/2006/main" noGrp="1"/>
          </p:cNvSpPr>
          <p:nvPr/>
        </p:nvSpPr>
        <p:spPr>
          <a:xfrm xmlns:a="http://schemas.openxmlformats.org/drawingml/2006/main">
            <a:off x="457200" y="3152775"/>
            <a:ext cx="38100" cy="11620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2D2AB4D-B470-4CC2-A9BD-F05160DE5B0C}"/>
              </a:ext>
            </a:extLst>
          </p:cNvPr>
          <p:cNvSpPr>
            <a:spLocks xmlns:a="http://schemas.openxmlformats.org/drawingml/2006/main" noGrp="1"/>
          </p:cNvSpPr>
          <p:nvPr/>
        </p:nvSpPr>
        <p:spPr>
          <a:xfrm xmlns:a="http://schemas.openxmlformats.org/drawingml/2006/main">
            <a:off x="628650" y="3267075"/>
            <a:ext cx="2857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E06767"/>
                </a:solidFill>
                <a:latin typeface="Georgia"/>
                <a:ea typeface="Georgia"/>
                <a:cs typeface="Georgia"/>
              </a:defRPr>
            </a:pPr>
            <a:r>
              <a:t>3</a:t>
            </a:r>
          </a:p>
        </p:txBody>
      </p:sp>
      <p:sp>
        <p:nvSpPr>
          <p:cNvPr id="24" name="">
            <a:extLst xmlns:a="http://schemas.openxmlformats.org/drawingml/2006/main">
              <a:ext uri="{FF2B5EF4-FFF2-40B4-BE49-F238E27FC236}">
                <a16:creationId xmlns:a16="http://schemas.microsoft.com/office/drawing/2014/main" id="{AA37A04D-6A2C-479F-A7EE-BAE6C8F85B40}"/>
              </a:ext>
            </a:extLst>
          </p:cNvPr>
          <p:cNvSpPr>
            <a:spLocks xmlns:a="http://schemas.openxmlformats.org/drawingml/2006/main" noGrp="1"/>
          </p:cNvSpPr>
          <p:nvPr/>
        </p:nvSpPr>
        <p:spPr>
          <a:xfrm xmlns:a="http://schemas.openxmlformats.org/drawingml/2006/main">
            <a:off x="952500" y="3267075"/>
            <a:ext cx="25527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Warning-only retrofit on price</a:t>
            </a:r>
          </a:p>
        </p:txBody>
      </p:sp>
      <p:sp>
        <p:nvSpPr>
          <p:cNvPr id="25" name="">
            <a:extLst xmlns:a="http://schemas.openxmlformats.org/drawingml/2006/main">
              <a:ext uri="{FF2B5EF4-FFF2-40B4-BE49-F238E27FC236}">
                <a16:creationId xmlns:a16="http://schemas.microsoft.com/office/drawing/2014/main" id="{EA4E859B-751D-4E5E-8C6C-222FDAB15F2B}"/>
              </a:ext>
            </a:extLst>
          </p:cNvPr>
          <p:cNvSpPr>
            <a:spLocks xmlns:a="http://schemas.openxmlformats.org/drawingml/2006/main" noGrp="1"/>
          </p:cNvSpPr>
          <p:nvPr/>
        </p:nvSpPr>
        <p:spPr>
          <a:xfrm xmlns:a="http://schemas.openxmlformats.org/drawingml/2006/main">
            <a:off x="952500" y="3609975"/>
            <a:ext cx="25527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ADVANTAGE IS WORTHLESS HERE</a:t>
            </a:r>
          </a:p>
        </p:txBody>
      </p:sp>
      <p:sp>
        <p:nvSpPr>
          <p:cNvPr id="26" name="">
            <a:extLst xmlns:a="http://schemas.openxmlformats.org/drawingml/2006/main">
              <a:ext uri="{FF2B5EF4-FFF2-40B4-BE49-F238E27FC236}">
                <a16:creationId xmlns:a16="http://schemas.microsoft.com/office/drawing/2014/main" id="{ED206051-B95D-49D3-AEE8-7E32565ADB5A}"/>
              </a:ext>
            </a:extLst>
          </p:cNvPr>
          <p:cNvSpPr>
            <a:spLocks xmlns:a="http://schemas.openxmlformats.org/drawingml/2006/main" noGrp="1"/>
          </p:cNvSpPr>
          <p:nvPr/>
        </p:nvSpPr>
        <p:spPr>
          <a:xfrm xmlns:a="http://schemas.openxmlformats.org/drawingml/2006/main">
            <a:off x="3695700" y="3267075"/>
            <a:ext cx="7848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drivebuddyAI, bitsensing and Starkenn already hold it, and it requires no certification at all — so the functional-safety pathway DeepGrid must still ACQUIRE would buy nothing here even once it exists. DeepGrid enters this arena with no structural advantage of any kind, against a rival selling a unified platform (ADAS + driver monitoring + telematics + risk analytics) that a perception subsystem cannot match.</a:t>
            </a:r>
          </a:p>
        </p:txBody>
      </p:sp>
      <p:sp>
        <p:nvSpPr>
          <p:cNvPr id="27" name="">
            <a:extLst xmlns:a="http://schemas.openxmlformats.org/drawingml/2006/main">
              <a:ext uri="{FF2B5EF4-FFF2-40B4-BE49-F238E27FC236}">
                <a16:creationId xmlns:a16="http://schemas.microsoft.com/office/drawing/2014/main" id="{A9FD500B-0BF8-4BE1-88EE-563421F8A4EC}"/>
              </a:ext>
            </a:extLst>
          </p:cNvPr>
          <p:cNvSpPr>
            <a:spLocks xmlns:a="http://schemas.openxmlformats.org/drawingml/2006/main" noGrp="1"/>
          </p:cNvSpPr>
          <p:nvPr/>
        </p:nvSpPr>
        <p:spPr>
          <a:xfrm xmlns:a="http://schemas.openxmlformats.org/drawingml/2006/main">
            <a:off x="3695700" y="4048125"/>
            <a:ext cx="7848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Reopen when · as a paid instrumented pilot bought for telemetry rights, never for revenue.</a:t>
            </a:r>
          </a:p>
        </p:txBody>
      </p:sp>
      <p:sp>
        <p:nvSpPr>
          <p:cNvPr id="28" name="">
            <a:extLst xmlns:a="http://schemas.openxmlformats.org/drawingml/2006/main">
              <a:ext uri="{FF2B5EF4-FFF2-40B4-BE49-F238E27FC236}">
                <a16:creationId xmlns:a16="http://schemas.microsoft.com/office/drawing/2014/main" id="{22A2CB04-4FB5-4554-8E00-357F82786008}"/>
              </a:ext>
            </a:extLst>
          </p:cNvPr>
          <p:cNvSpPr>
            <a:spLocks xmlns:a="http://schemas.openxmlformats.org/drawingml/2006/main" noGrp="1"/>
          </p:cNvSpPr>
          <p:nvPr/>
        </p:nvSpPr>
        <p:spPr>
          <a:xfrm xmlns:a="http://schemas.openxmlformats.org/drawingml/2006/main">
            <a:off x="457200" y="4410075"/>
            <a:ext cx="11277600" cy="9144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9" name="">
            <a:extLst xmlns:a="http://schemas.openxmlformats.org/drawingml/2006/main">
              <a:ext uri="{FF2B5EF4-FFF2-40B4-BE49-F238E27FC236}">
                <a16:creationId xmlns:a16="http://schemas.microsoft.com/office/drawing/2014/main" id="{AB997407-749E-4BBF-83E8-BD5700CBC1FF}"/>
              </a:ext>
            </a:extLst>
          </p:cNvPr>
          <p:cNvSpPr>
            <a:spLocks xmlns:a="http://schemas.openxmlformats.org/drawingml/2006/main" noGrp="1"/>
          </p:cNvSpPr>
          <p:nvPr/>
        </p:nvSpPr>
        <p:spPr>
          <a:xfrm xmlns:a="http://schemas.openxmlformats.org/drawingml/2006/main">
            <a:off x="457200" y="4410075"/>
            <a:ext cx="38100" cy="9144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96B116F-5742-4F1B-B814-2367AC219F09}"/>
              </a:ext>
            </a:extLst>
          </p:cNvPr>
          <p:cNvSpPr>
            <a:spLocks xmlns:a="http://schemas.openxmlformats.org/drawingml/2006/main" noGrp="1"/>
          </p:cNvSpPr>
          <p:nvPr/>
        </p:nvSpPr>
        <p:spPr>
          <a:xfrm xmlns:a="http://schemas.openxmlformats.org/drawingml/2006/main">
            <a:off x="628650" y="4524375"/>
            <a:ext cx="2857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E06767"/>
                </a:solidFill>
                <a:latin typeface="Georgia"/>
                <a:ea typeface="Georgia"/>
                <a:cs typeface="Georgia"/>
              </a:defRPr>
            </a:pPr>
            <a:r>
              <a:t>4</a:t>
            </a:r>
          </a:p>
        </p:txBody>
      </p:sp>
      <p:sp>
        <p:nvSpPr>
          <p:cNvPr id="31" name="">
            <a:extLst xmlns:a="http://schemas.openxmlformats.org/drawingml/2006/main">
              <a:ext uri="{FF2B5EF4-FFF2-40B4-BE49-F238E27FC236}">
                <a16:creationId xmlns:a16="http://schemas.microsoft.com/office/drawing/2014/main" id="{27304033-8FB6-4147-BD86-7718220EB0BE}"/>
              </a:ext>
            </a:extLst>
          </p:cNvPr>
          <p:cNvSpPr>
            <a:spLocks xmlns:a="http://schemas.openxmlformats.org/drawingml/2006/main" noGrp="1"/>
          </p:cNvSpPr>
          <p:nvPr/>
        </p:nvSpPr>
        <p:spPr>
          <a:xfrm xmlns:a="http://schemas.openxmlformats.org/drawingml/2006/main">
            <a:off x="952500" y="4524375"/>
            <a:ext cx="25527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'India-native' as the differentiator</a:t>
            </a:r>
          </a:p>
        </p:txBody>
      </p:sp>
      <p:sp>
        <p:nvSpPr>
          <p:cNvPr id="32" name="">
            <a:extLst xmlns:a="http://schemas.openxmlformats.org/drawingml/2006/main">
              <a:ext uri="{FF2B5EF4-FFF2-40B4-BE49-F238E27FC236}">
                <a16:creationId xmlns:a16="http://schemas.microsoft.com/office/drawing/2014/main" id="{F8E10D48-AF64-4AFB-A2D2-B921173F9424}"/>
              </a:ext>
            </a:extLst>
          </p:cNvPr>
          <p:cNvSpPr>
            <a:spLocks xmlns:a="http://schemas.openxmlformats.org/drawingml/2006/main" noGrp="1"/>
          </p:cNvSpPr>
          <p:nvPr/>
        </p:nvSpPr>
        <p:spPr>
          <a:xfrm xmlns:a="http://schemas.openxmlformats.org/drawingml/2006/main">
            <a:off x="952500" y="4867275"/>
            <a:ext cx="25527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NO LONGER DIFFERENTIATING</a:t>
            </a:r>
          </a:p>
        </p:txBody>
      </p:sp>
      <p:sp>
        <p:nvSpPr>
          <p:cNvPr id="33" name="">
            <a:extLst xmlns:a="http://schemas.openxmlformats.org/drawingml/2006/main">
              <a:ext uri="{FF2B5EF4-FFF2-40B4-BE49-F238E27FC236}">
                <a16:creationId xmlns:a16="http://schemas.microsoft.com/office/drawing/2014/main" id="{AFF0D109-5445-4945-917D-30000AE3009B}"/>
              </a:ext>
            </a:extLst>
          </p:cNvPr>
          <p:cNvSpPr>
            <a:spLocks xmlns:a="http://schemas.openxmlformats.org/drawingml/2006/main" noGrp="1"/>
          </p:cNvSpPr>
          <p:nvPr/>
        </p:nvSpPr>
        <p:spPr>
          <a:xfrm xmlns:a="http://schemas.openxmlformats.org/drawingml/2006/main">
            <a:off x="3695700" y="4524375"/>
            <a:ext cx="78486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Aptiv publishes the exact Indian object classes; STRADVISION cites dense mixed traffic; Netrasemi is Indian silicon; Starkenn markets Made-in-India. Four rivals make this claim.</a:t>
            </a:r>
          </a:p>
        </p:txBody>
      </p:sp>
      <p:sp>
        <p:nvSpPr>
          <p:cNvPr id="34" name="">
            <a:extLst xmlns:a="http://schemas.openxmlformats.org/drawingml/2006/main">
              <a:ext uri="{FF2B5EF4-FFF2-40B4-BE49-F238E27FC236}">
                <a16:creationId xmlns:a16="http://schemas.microsoft.com/office/drawing/2014/main" id="{198A84E6-6337-48EF-BA45-ED10EDF18DCD}"/>
              </a:ext>
            </a:extLst>
          </p:cNvPr>
          <p:cNvSpPr>
            <a:spLocks xmlns:a="http://schemas.openxmlformats.org/drawingml/2006/main" noGrp="1"/>
          </p:cNvSpPr>
          <p:nvPr/>
        </p:nvSpPr>
        <p:spPr>
          <a:xfrm xmlns:a="http://schemas.openxmlformats.org/drawingml/2006/main">
            <a:off x="3695700" y="5057775"/>
            <a:ext cx="7848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Reopen when · with a measured perception result against a named baseline — the claim must become a number.</a:t>
            </a:r>
          </a:p>
        </p:txBody>
      </p:sp>
      <p:sp>
        <p:nvSpPr>
          <p:cNvPr id="35" name="">
            <a:extLst xmlns:a="http://schemas.openxmlformats.org/drawingml/2006/main">
              <a:ext uri="{FF2B5EF4-FFF2-40B4-BE49-F238E27FC236}">
                <a16:creationId xmlns:a16="http://schemas.microsoft.com/office/drawing/2014/main" id="{8CA0EBA4-D350-4DC3-8D57-AB0BE561C3AA}"/>
              </a:ext>
            </a:extLst>
          </p:cNvPr>
          <p:cNvSpPr>
            <a:spLocks xmlns:a="http://schemas.openxmlformats.org/drawingml/2006/main" noGrp="1"/>
          </p:cNvSpPr>
          <p:nvPr/>
        </p:nvSpPr>
        <p:spPr>
          <a:xfrm xmlns:a="http://schemas.openxmlformats.org/drawingml/2006/main">
            <a:off x="457200" y="543877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0239ACF-9A62-4653-AC1F-2BF0D581ABBC}"/>
              </a:ext>
            </a:extLst>
          </p:cNvPr>
          <p:cNvSpPr>
            <a:spLocks xmlns:a="http://schemas.openxmlformats.org/drawingml/2006/main" noGrp="1"/>
          </p:cNvSpPr>
          <p:nvPr/>
        </p:nvSpPr>
        <p:spPr>
          <a:xfrm xmlns:a="http://schemas.openxmlformats.org/drawingml/2006/main">
            <a:off x="457200" y="5572125"/>
            <a:ext cx="112776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These are arena exits, not pipeline-qualification rules. Each is falsifiable: the trigger column states what would reopen it.</a:t>
            </a:r>
          </a:p>
        </p:txBody>
      </p:sp>
      <p:sp>
        <p:nvSpPr>
          <p:cNvPr id="37" name="">
            <a:extLst xmlns:a="http://schemas.openxmlformats.org/drawingml/2006/main">
              <a:ext uri="{FF2B5EF4-FFF2-40B4-BE49-F238E27FC236}">
                <a16:creationId xmlns:a16="http://schemas.microsoft.com/office/drawing/2014/main" id="{2F196ECB-03AE-4A67-A930-61E62D0ED6E9}"/>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3CE09AD-0BD8-4CE1-96FE-CF5D2E3CFB6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9" name="">
            <a:extLst xmlns:a="http://schemas.openxmlformats.org/drawingml/2006/main">
              <a:ext uri="{FF2B5EF4-FFF2-40B4-BE49-F238E27FC236}">
                <a16:creationId xmlns:a16="http://schemas.microsoft.com/office/drawing/2014/main" id="{F166B164-B5CF-4F87-B27B-777EF8C9107B}"/>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94</a:t>
            </a:r>
          </a:p>
        </p:txBody>
      </p:sp>
    </p:spTree>
    <p:extLst>
      <p:ext uri="{BB962C8B-B14F-4D97-AF65-F5344CB8AC3E}">
        <p14:creationId xmlns:p14="http://schemas.microsoft.com/office/powerpoint/2010/main" val="498118347"/>
      </p:ext>
    </p:extLst>
  </p:cSld>
</p:sld>
</file>

<file path=ppt/slides/slide95.xml><?xml version="1.0" encoding="utf-8"?>
<p:sld xmlns:p="http://schemas.openxmlformats.org/presentationml/2006/main">
  <p:cSld>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2090CCAD-00C8-40C1-808F-3997AF50B1D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F79308B-B917-4CB6-AE8E-E84A44C006B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4C016A5-FC07-4ABB-B5F4-73AD7A733560}"/>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COMPETITIVE STRATEGY · LIFECYCLE ECONOMICS</a:t>
            </a:r>
          </a:p>
        </p:txBody>
      </p:sp>
      <p:sp>
        <p:nvSpPr>
          <p:cNvPr id="4" name="">
            <a:extLst xmlns:a="http://schemas.openxmlformats.org/drawingml/2006/main">
              <a:ext uri="{FF2B5EF4-FFF2-40B4-BE49-F238E27FC236}">
                <a16:creationId xmlns:a16="http://schemas.microsoft.com/office/drawing/2014/main" id="{A5223B85-B129-44AC-AA61-E3EB63939A05}"/>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Four rivals keep earning after the sale. DeepGrid stops at the invoice.</a:t>
            </a:r>
          </a:p>
        </p:txBody>
      </p:sp>
      <p:sp>
        <p:nvSpPr>
          <p:cNvPr id="5" name="">
            <a:extLst xmlns:a="http://schemas.openxmlformats.org/drawingml/2006/main">
              <a:ext uri="{FF2B5EF4-FFF2-40B4-BE49-F238E27FC236}">
                <a16:creationId xmlns:a16="http://schemas.microsoft.com/office/drawing/2014/main" id="{6A0FDC4C-746F-437D-BDBA-C1D17D39FD8A}"/>
              </a:ext>
            </a:extLst>
          </p:cNvPr>
          <p:cNvSpPr>
            <a:spLocks xmlns:a="http://schemas.openxmlformats.org/drawingml/2006/main" noGrp="1"/>
          </p:cNvSpPr>
          <p:nvPr/>
        </p:nvSpPr>
        <p:spPr>
          <a:xfrm xmlns:a="http://schemas.openxmlformats.org/drawingml/2006/main">
            <a:off x="457200" y="762000"/>
            <a:ext cx="11277600" cy="161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A module vendor ships once. Every competitor below holds a channel to the vehicle after start of production — which is where the customer relationship actually lives.</a:t>
            </a:r>
          </a:p>
        </p:txBody>
      </p:sp>
      <p:sp>
        <p:nvSpPr>
          <p:cNvPr id="6" name="">
            <a:extLst xmlns:a="http://schemas.openxmlformats.org/drawingml/2006/main">
              <a:ext uri="{FF2B5EF4-FFF2-40B4-BE49-F238E27FC236}">
                <a16:creationId xmlns:a16="http://schemas.microsoft.com/office/drawing/2014/main" id="{E45C9507-CFBB-40D7-A220-E5F06C4C546B}"/>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40F69D7-A7FF-45A4-933C-804D27AD8C6C}"/>
              </a:ext>
            </a:extLst>
          </p:cNvPr>
          <p:cNvSpPr>
            <a:spLocks xmlns:a="http://schemas.openxmlformats.org/drawingml/2006/main" noGrp="1"/>
          </p:cNvSpPr>
          <p:nvPr/>
        </p:nvSpPr>
        <p:spPr>
          <a:xfrm xmlns:a="http://schemas.openxmlformats.org/drawingml/2006/main">
            <a:off x="457200" y="1095375"/>
            <a:ext cx="17335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COMPANY</a:t>
            </a:r>
          </a:p>
        </p:txBody>
      </p:sp>
      <p:sp>
        <p:nvSpPr>
          <p:cNvPr id="8" name="">
            <a:extLst xmlns:a="http://schemas.openxmlformats.org/drawingml/2006/main">
              <a:ext uri="{FF2B5EF4-FFF2-40B4-BE49-F238E27FC236}">
                <a16:creationId xmlns:a16="http://schemas.microsoft.com/office/drawing/2014/main" id="{9C05E999-2BD6-4DF1-A96A-1DCCCD0E3F9A}"/>
              </a:ext>
            </a:extLst>
          </p:cNvPr>
          <p:cNvSpPr>
            <a:spLocks xmlns:a="http://schemas.openxmlformats.org/drawingml/2006/main" noGrp="1"/>
          </p:cNvSpPr>
          <p:nvPr/>
        </p:nvSpPr>
        <p:spPr>
          <a:xfrm xmlns:a="http://schemas.openxmlformats.org/drawingml/2006/main">
            <a:off x="2266950" y="1095375"/>
            <a:ext cx="23050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POST-SALE CHANNEL</a:t>
            </a:r>
          </a:p>
        </p:txBody>
      </p:sp>
      <p:sp>
        <p:nvSpPr>
          <p:cNvPr id="9" name="">
            <a:extLst xmlns:a="http://schemas.openxmlformats.org/drawingml/2006/main">
              <a:ext uri="{FF2B5EF4-FFF2-40B4-BE49-F238E27FC236}">
                <a16:creationId xmlns:a16="http://schemas.microsoft.com/office/drawing/2014/main" id="{05772403-838F-4D37-81D5-E577788A1914}"/>
              </a:ext>
            </a:extLst>
          </p:cNvPr>
          <p:cNvSpPr>
            <a:spLocks xmlns:a="http://schemas.openxmlformats.org/drawingml/2006/main" noGrp="1"/>
          </p:cNvSpPr>
          <p:nvPr/>
        </p:nvSpPr>
        <p:spPr>
          <a:xfrm xmlns:a="http://schemas.openxmlformats.org/drawingml/2006/main">
            <a:off x="4648200" y="1095375"/>
            <a:ext cx="49149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WHAT IT IS</a:t>
            </a:r>
          </a:p>
        </p:txBody>
      </p:sp>
      <p:sp>
        <p:nvSpPr>
          <p:cNvPr id="10" name="">
            <a:extLst xmlns:a="http://schemas.openxmlformats.org/drawingml/2006/main">
              <a:ext uri="{FF2B5EF4-FFF2-40B4-BE49-F238E27FC236}">
                <a16:creationId xmlns:a16="http://schemas.microsoft.com/office/drawing/2014/main" id="{F80B624D-F103-4637-84B7-5874DE79B100}"/>
              </a:ext>
            </a:extLst>
          </p:cNvPr>
          <p:cNvSpPr>
            <a:spLocks xmlns:a="http://schemas.openxmlformats.org/drawingml/2006/main" noGrp="1"/>
          </p:cNvSpPr>
          <p:nvPr/>
        </p:nvSpPr>
        <p:spPr>
          <a:xfrm xmlns:a="http://schemas.openxmlformats.org/drawingml/2006/main">
            <a:off x="9639300" y="1095375"/>
            <a:ext cx="20193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EVIDENCE</a:t>
            </a:r>
          </a:p>
        </p:txBody>
      </p:sp>
      <p:sp>
        <p:nvSpPr>
          <p:cNvPr id="11" name="">
            <a:extLst xmlns:a="http://schemas.openxmlformats.org/drawingml/2006/main">
              <a:ext uri="{FF2B5EF4-FFF2-40B4-BE49-F238E27FC236}">
                <a16:creationId xmlns:a16="http://schemas.microsoft.com/office/drawing/2014/main" id="{AA7686EB-DEE7-48FB-B01B-3A6260F7533E}"/>
              </a:ext>
            </a:extLst>
          </p:cNvPr>
          <p:cNvSpPr>
            <a:spLocks xmlns:a="http://schemas.openxmlformats.org/drawingml/2006/main" noGrp="1"/>
          </p:cNvSpPr>
          <p:nvPr/>
        </p:nvSpPr>
        <p:spPr>
          <a:xfrm xmlns:a="http://schemas.openxmlformats.org/drawingml/2006/main">
            <a:off x="457200" y="1266825"/>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9EDEE11-2518-4E24-8753-19F453BBC729}"/>
              </a:ext>
            </a:extLst>
          </p:cNvPr>
          <p:cNvSpPr>
            <a:spLocks xmlns:a="http://schemas.openxmlformats.org/drawingml/2006/main" noGrp="1"/>
          </p:cNvSpPr>
          <p:nvPr/>
        </p:nvSpPr>
        <p:spPr>
          <a:xfrm xmlns:a="http://schemas.openxmlformats.org/drawingml/2006/main">
            <a:off x="457200" y="1343025"/>
            <a:ext cx="28575" cy="3810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43996BC-68F1-458C-BE93-4314D66C0A9B}"/>
              </a:ext>
            </a:extLst>
          </p:cNvPr>
          <p:cNvSpPr>
            <a:spLocks xmlns:a="http://schemas.openxmlformats.org/drawingml/2006/main" noGrp="1"/>
          </p:cNvSpPr>
          <p:nvPr/>
        </p:nvSpPr>
        <p:spPr>
          <a:xfrm xmlns:a="http://schemas.openxmlformats.org/drawingml/2006/main">
            <a:off x="571500" y="1343025"/>
            <a:ext cx="16002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Aptiv</a:t>
            </a:r>
          </a:p>
        </p:txBody>
      </p:sp>
      <p:sp>
        <p:nvSpPr>
          <p:cNvPr id="14" name="">
            <a:extLst xmlns:a="http://schemas.openxmlformats.org/drawingml/2006/main">
              <a:ext uri="{FF2B5EF4-FFF2-40B4-BE49-F238E27FC236}">
                <a16:creationId xmlns:a16="http://schemas.microsoft.com/office/drawing/2014/main" id="{10E29748-6F9F-412B-A5E1-CDF19B0029A0}"/>
              </a:ext>
            </a:extLst>
          </p:cNvPr>
          <p:cNvSpPr>
            <a:spLocks xmlns:a="http://schemas.openxmlformats.org/drawingml/2006/main" noGrp="1"/>
          </p:cNvSpPr>
          <p:nvPr/>
        </p:nvSpPr>
        <p:spPr>
          <a:xfrm xmlns:a="http://schemas.openxmlformats.org/drawingml/2006/main">
            <a:off x="2266950" y="1343025"/>
            <a:ext cx="22669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BA271"/>
                </a:solidFill>
                <a:latin typeface="Arial"/>
                <a:ea typeface="Arial"/>
                <a:cs typeface="Arial"/>
              </a:defRPr>
            </a:pPr>
            <a:r>
              <a:t>Over-the-air updates</a:t>
            </a:r>
          </a:p>
        </p:txBody>
      </p:sp>
      <p:sp>
        <p:nvSpPr>
          <p:cNvPr id="15" name="">
            <a:extLst xmlns:a="http://schemas.openxmlformats.org/drawingml/2006/main">
              <a:ext uri="{FF2B5EF4-FFF2-40B4-BE49-F238E27FC236}">
                <a16:creationId xmlns:a16="http://schemas.microsoft.com/office/drawing/2014/main" id="{D0C05D65-91D5-4C80-95C7-967E866815E6}"/>
              </a:ext>
            </a:extLst>
          </p:cNvPr>
          <p:cNvSpPr>
            <a:spLocks xmlns:a="http://schemas.openxmlformats.org/drawingml/2006/main" noGrp="1"/>
          </p:cNvSpPr>
          <p:nvPr/>
        </p:nvSpPr>
        <p:spPr>
          <a:xfrm xmlns:a="http://schemas.openxmlformats.org/drawingml/2006/main">
            <a:off x="4648200" y="1343025"/>
            <a:ext cx="4857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LINC platform + Wind River VxWorks; adds features and improves performance on the deployed fleet without a new design cycle</a:t>
            </a:r>
          </a:p>
        </p:txBody>
      </p:sp>
      <p:sp>
        <p:nvSpPr>
          <p:cNvPr id="16" name="">
            <a:extLst xmlns:a="http://schemas.openxmlformats.org/drawingml/2006/main">
              <a:ext uri="{FF2B5EF4-FFF2-40B4-BE49-F238E27FC236}">
                <a16:creationId xmlns:a16="http://schemas.microsoft.com/office/drawing/2014/main" id="{5EB2B566-8ACE-43BD-9620-88DC8FC0D6BE}"/>
              </a:ext>
            </a:extLst>
          </p:cNvPr>
          <p:cNvSpPr>
            <a:spLocks xmlns:a="http://schemas.openxmlformats.org/drawingml/2006/main" noGrp="1"/>
          </p:cNvSpPr>
          <p:nvPr/>
        </p:nvSpPr>
        <p:spPr>
          <a:xfrm xmlns:a="http://schemas.openxmlformats.org/drawingml/2006/main">
            <a:off x="9639300" y="1343025"/>
            <a:ext cx="20193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EV-APT-06</a:t>
            </a:r>
          </a:p>
        </p:txBody>
      </p:sp>
      <p:sp>
        <p:nvSpPr>
          <p:cNvPr id="17" name="">
            <a:extLst xmlns:a="http://schemas.openxmlformats.org/drawingml/2006/main">
              <a:ext uri="{FF2B5EF4-FFF2-40B4-BE49-F238E27FC236}">
                <a16:creationId xmlns:a16="http://schemas.microsoft.com/office/drawing/2014/main" id="{DF148E32-0685-4357-B4D5-E73BC212172B}"/>
              </a:ext>
            </a:extLst>
          </p:cNvPr>
          <p:cNvSpPr>
            <a:spLocks xmlns:a="http://schemas.openxmlformats.org/drawingml/2006/main" noGrp="1"/>
          </p:cNvSpPr>
          <p:nvPr/>
        </p:nvSpPr>
        <p:spPr>
          <a:xfrm xmlns:a="http://schemas.openxmlformats.org/drawingml/2006/main">
            <a:off x="457200" y="1781175"/>
            <a:ext cx="28575" cy="3810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74296AA-61A4-45D1-9332-A13350110042}"/>
              </a:ext>
            </a:extLst>
          </p:cNvPr>
          <p:cNvSpPr>
            <a:spLocks xmlns:a="http://schemas.openxmlformats.org/drawingml/2006/main" noGrp="1"/>
          </p:cNvSpPr>
          <p:nvPr/>
        </p:nvSpPr>
        <p:spPr>
          <a:xfrm xmlns:a="http://schemas.openxmlformats.org/drawingml/2006/main">
            <a:off x="571500" y="1781175"/>
            <a:ext cx="16002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ZF</a:t>
            </a:r>
          </a:p>
        </p:txBody>
      </p:sp>
      <p:sp>
        <p:nvSpPr>
          <p:cNvPr id="19" name="">
            <a:extLst xmlns:a="http://schemas.openxmlformats.org/drawingml/2006/main">
              <a:ext uri="{FF2B5EF4-FFF2-40B4-BE49-F238E27FC236}">
                <a16:creationId xmlns:a16="http://schemas.microsoft.com/office/drawing/2014/main" id="{183FA407-1A1B-42DA-AE72-4E3511561A11}"/>
              </a:ext>
            </a:extLst>
          </p:cNvPr>
          <p:cNvSpPr>
            <a:spLocks xmlns:a="http://schemas.openxmlformats.org/drawingml/2006/main" noGrp="1"/>
          </p:cNvSpPr>
          <p:nvPr/>
        </p:nvSpPr>
        <p:spPr>
          <a:xfrm xmlns:a="http://schemas.openxmlformats.org/drawingml/2006/main">
            <a:off x="2266950" y="1781175"/>
            <a:ext cx="22669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BA271"/>
                </a:solidFill>
                <a:latin typeface="Arial"/>
                <a:ea typeface="Arial"/>
                <a:cs typeface="Arial"/>
              </a:defRPr>
            </a:pPr>
            <a:r>
              <a:t>SCALAR fleet orchestration</a:t>
            </a:r>
          </a:p>
        </p:txBody>
      </p:sp>
      <p:sp>
        <p:nvSpPr>
          <p:cNvPr id="20" name="">
            <a:extLst xmlns:a="http://schemas.openxmlformats.org/drawingml/2006/main">
              <a:ext uri="{FF2B5EF4-FFF2-40B4-BE49-F238E27FC236}">
                <a16:creationId xmlns:a16="http://schemas.microsoft.com/office/drawing/2014/main" id="{5E6F7BEE-9FDB-405E-9C8A-38890A431239}"/>
              </a:ext>
            </a:extLst>
          </p:cNvPr>
          <p:cNvSpPr>
            <a:spLocks xmlns:a="http://schemas.openxmlformats.org/drawingml/2006/main" noGrp="1"/>
          </p:cNvSpPr>
          <p:nvPr/>
        </p:nvSpPr>
        <p:spPr>
          <a:xfrm xmlns:a="http://schemas.openxmlformats.org/drawingml/2006/main">
            <a:off x="4648200" y="1781175"/>
            <a:ext cx="4857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 software platform sold alongside the hardware into the same customer</a:t>
            </a:r>
          </a:p>
        </p:txBody>
      </p:sp>
      <p:sp>
        <p:nvSpPr>
          <p:cNvPr id="21" name="">
            <a:extLst xmlns:a="http://schemas.openxmlformats.org/drawingml/2006/main">
              <a:ext uri="{FF2B5EF4-FFF2-40B4-BE49-F238E27FC236}">
                <a16:creationId xmlns:a16="http://schemas.microsoft.com/office/drawing/2014/main" id="{0F1871A1-5C5B-4AB0-B299-B520D39D59F0}"/>
              </a:ext>
            </a:extLst>
          </p:cNvPr>
          <p:cNvSpPr>
            <a:spLocks xmlns:a="http://schemas.openxmlformats.org/drawingml/2006/main" noGrp="1"/>
          </p:cNvSpPr>
          <p:nvPr/>
        </p:nvSpPr>
        <p:spPr>
          <a:xfrm xmlns:a="http://schemas.openxmlformats.org/drawingml/2006/main">
            <a:off x="9639300" y="1781175"/>
            <a:ext cx="20193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EV-ZF-07</a:t>
            </a:r>
          </a:p>
        </p:txBody>
      </p:sp>
      <p:sp>
        <p:nvSpPr>
          <p:cNvPr id="22" name="">
            <a:extLst xmlns:a="http://schemas.openxmlformats.org/drawingml/2006/main">
              <a:ext uri="{FF2B5EF4-FFF2-40B4-BE49-F238E27FC236}">
                <a16:creationId xmlns:a16="http://schemas.microsoft.com/office/drawing/2014/main" id="{328EE3CA-ED0A-45B5-87A0-5DCF8E735924}"/>
              </a:ext>
            </a:extLst>
          </p:cNvPr>
          <p:cNvSpPr>
            <a:spLocks xmlns:a="http://schemas.openxmlformats.org/drawingml/2006/main" noGrp="1"/>
          </p:cNvSpPr>
          <p:nvPr/>
        </p:nvSpPr>
        <p:spPr>
          <a:xfrm xmlns:a="http://schemas.openxmlformats.org/drawingml/2006/main">
            <a:off x="457200" y="2219325"/>
            <a:ext cx="28575" cy="3810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1B4C78E-D47C-44AE-869F-0416DFD982D0}"/>
              </a:ext>
            </a:extLst>
          </p:cNvPr>
          <p:cNvSpPr>
            <a:spLocks xmlns:a="http://schemas.openxmlformats.org/drawingml/2006/main" noGrp="1"/>
          </p:cNvSpPr>
          <p:nvPr/>
        </p:nvSpPr>
        <p:spPr>
          <a:xfrm xmlns:a="http://schemas.openxmlformats.org/drawingml/2006/main">
            <a:off x="571500" y="2219325"/>
            <a:ext cx="16002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drivebuddyAI</a:t>
            </a:r>
          </a:p>
        </p:txBody>
      </p:sp>
      <p:sp>
        <p:nvSpPr>
          <p:cNvPr id="24" name="">
            <a:extLst xmlns:a="http://schemas.openxmlformats.org/drawingml/2006/main">
              <a:ext uri="{FF2B5EF4-FFF2-40B4-BE49-F238E27FC236}">
                <a16:creationId xmlns:a16="http://schemas.microsoft.com/office/drawing/2014/main" id="{7D7F9A64-FF01-4C5C-9AB8-A6D7CC262458}"/>
              </a:ext>
            </a:extLst>
          </p:cNvPr>
          <p:cNvSpPr>
            <a:spLocks xmlns:a="http://schemas.openxmlformats.org/drawingml/2006/main" noGrp="1"/>
          </p:cNvSpPr>
          <p:nvPr/>
        </p:nvSpPr>
        <p:spPr>
          <a:xfrm xmlns:a="http://schemas.openxmlformats.org/drawingml/2006/main">
            <a:off x="2266950" y="2219325"/>
            <a:ext cx="22669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BA271"/>
                </a:solidFill>
                <a:latin typeface="Arial"/>
                <a:ea typeface="Arial"/>
                <a:cs typeface="Arial"/>
              </a:defRPr>
            </a:pPr>
            <a:r>
              <a:t>Video telematics + predictive risk</a:t>
            </a:r>
          </a:p>
        </p:txBody>
      </p:sp>
      <p:sp>
        <p:nvSpPr>
          <p:cNvPr id="25" name="">
            <a:extLst xmlns:a="http://schemas.openxmlformats.org/drawingml/2006/main">
              <a:ext uri="{FF2B5EF4-FFF2-40B4-BE49-F238E27FC236}">
                <a16:creationId xmlns:a16="http://schemas.microsoft.com/office/drawing/2014/main" id="{050CB1D3-9F8B-45F0-8211-BFD04FFE64FB}"/>
              </a:ext>
            </a:extLst>
          </p:cNvPr>
          <p:cNvSpPr>
            <a:spLocks xmlns:a="http://schemas.openxmlformats.org/drawingml/2006/main" noGrp="1"/>
          </p:cNvSpPr>
          <p:nvPr/>
        </p:nvSpPr>
        <p:spPr>
          <a:xfrm xmlns:a="http://schemas.openxmlformats.org/drawingml/2006/main">
            <a:off x="4648200" y="2219325"/>
            <a:ext cx="4857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The box feeds a platform; the platform feeds the parent's insurance business</a:t>
            </a:r>
          </a:p>
        </p:txBody>
      </p:sp>
      <p:sp>
        <p:nvSpPr>
          <p:cNvPr id="26" name="">
            <a:extLst xmlns:a="http://schemas.openxmlformats.org/drawingml/2006/main">
              <a:ext uri="{FF2B5EF4-FFF2-40B4-BE49-F238E27FC236}">
                <a16:creationId xmlns:a16="http://schemas.microsoft.com/office/drawing/2014/main" id="{47439DED-591F-4ACF-8E1F-F52581351C55}"/>
              </a:ext>
            </a:extLst>
          </p:cNvPr>
          <p:cNvSpPr>
            <a:spLocks xmlns:a="http://schemas.openxmlformats.org/drawingml/2006/main" noGrp="1"/>
          </p:cNvSpPr>
          <p:nvPr/>
        </p:nvSpPr>
        <p:spPr>
          <a:xfrm xmlns:a="http://schemas.openxmlformats.org/drawingml/2006/main">
            <a:off x="9639300" y="2219325"/>
            <a:ext cx="20193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EV-DBA-01</a:t>
            </a:r>
          </a:p>
        </p:txBody>
      </p:sp>
      <p:sp>
        <p:nvSpPr>
          <p:cNvPr id="27" name="">
            <a:extLst xmlns:a="http://schemas.openxmlformats.org/drawingml/2006/main">
              <a:ext uri="{FF2B5EF4-FFF2-40B4-BE49-F238E27FC236}">
                <a16:creationId xmlns:a16="http://schemas.microsoft.com/office/drawing/2014/main" id="{64FC934A-5994-43CE-96CC-0B7A2A2D9E71}"/>
              </a:ext>
            </a:extLst>
          </p:cNvPr>
          <p:cNvSpPr>
            <a:spLocks xmlns:a="http://schemas.openxmlformats.org/drawingml/2006/main" noGrp="1"/>
          </p:cNvSpPr>
          <p:nvPr/>
        </p:nvSpPr>
        <p:spPr>
          <a:xfrm xmlns:a="http://schemas.openxmlformats.org/drawingml/2006/main">
            <a:off x="457200" y="2657475"/>
            <a:ext cx="28575" cy="3810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A3381E0-08E1-407B-8A9E-9A5EE37AA52D}"/>
              </a:ext>
            </a:extLst>
          </p:cNvPr>
          <p:cNvSpPr>
            <a:spLocks xmlns:a="http://schemas.openxmlformats.org/drawingml/2006/main" noGrp="1"/>
          </p:cNvSpPr>
          <p:nvPr/>
        </p:nvSpPr>
        <p:spPr>
          <a:xfrm xmlns:a="http://schemas.openxmlformats.org/drawingml/2006/main">
            <a:off x="571500" y="2657475"/>
            <a:ext cx="16002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Starkenn</a:t>
            </a:r>
          </a:p>
        </p:txBody>
      </p:sp>
      <p:sp>
        <p:nvSpPr>
          <p:cNvPr id="29" name="">
            <a:extLst xmlns:a="http://schemas.openxmlformats.org/drawingml/2006/main">
              <a:ext uri="{FF2B5EF4-FFF2-40B4-BE49-F238E27FC236}">
                <a16:creationId xmlns:a16="http://schemas.microsoft.com/office/drawing/2014/main" id="{861ADAA9-BB23-427A-A9F9-FB0607BE4128}"/>
              </a:ext>
            </a:extLst>
          </p:cNvPr>
          <p:cNvSpPr>
            <a:spLocks xmlns:a="http://schemas.openxmlformats.org/drawingml/2006/main" noGrp="1"/>
          </p:cNvSpPr>
          <p:nvPr/>
        </p:nvSpPr>
        <p:spPr>
          <a:xfrm xmlns:a="http://schemas.openxmlformats.org/drawingml/2006/main">
            <a:off x="2266950" y="2657475"/>
            <a:ext cx="22669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BA271"/>
                </a:solidFill>
                <a:latin typeface="Arial"/>
                <a:ea typeface="Arial"/>
                <a:cs typeface="Arial"/>
              </a:defRPr>
            </a:pPr>
            <a:r>
              <a:t>Stark-I subscription</a:t>
            </a:r>
          </a:p>
        </p:txBody>
      </p:sp>
      <p:sp>
        <p:nvSpPr>
          <p:cNvPr id="30" name="">
            <a:extLst xmlns:a="http://schemas.openxmlformats.org/drawingml/2006/main">
              <a:ext uri="{FF2B5EF4-FFF2-40B4-BE49-F238E27FC236}">
                <a16:creationId xmlns:a16="http://schemas.microsoft.com/office/drawing/2014/main" id="{37986453-E2DD-46F6-AD1E-AA19C55A4CC4}"/>
              </a:ext>
            </a:extLst>
          </p:cNvPr>
          <p:cNvSpPr>
            <a:spLocks xmlns:a="http://schemas.openxmlformats.org/drawingml/2006/main" noGrp="1"/>
          </p:cNvSpPr>
          <p:nvPr/>
        </p:nvSpPr>
        <p:spPr>
          <a:xfrm xmlns:a="http://schemas.openxmlformats.org/drawingml/2006/main">
            <a:off x="4648200" y="2657475"/>
            <a:ext cx="4857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40% of revenue is recurring subscription, not hardware</a:t>
            </a:r>
          </a:p>
        </p:txBody>
      </p:sp>
      <p:sp>
        <p:nvSpPr>
          <p:cNvPr id="31" name="">
            <a:extLst xmlns:a="http://schemas.openxmlformats.org/drawingml/2006/main">
              <a:ext uri="{FF2B5EF4-FFF2-40B4-BE49-F238E27FC236}">
                <a16:creationId xmlns:a16="http://schemas.microsoft.com/office/drawing/2014/main" id="{A7D1612F-9EF3-442E-94F5-8DC9A248DCB2}"/>
              </a:ext>
            </a:extLst>
          </p:cNvPr>
          <p:cNvSpPr>
            <a:spLocks xmlns:a="http://schemas.openxmlformats.org/drawingml/2006/main" noGrp="1"/>
          </p:cNvSpPr>
          <p:nvPr/>
        </p:nvSpPr>
        <p:spPr>
          <a:xfrm xmlns:a="http://schemas.openxmlformats.org/drawingml/2006/main">
            <a:off x="9639300" y="2657475"/>
            <a:ext cx="20193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EV-STK-06</a:t>
            </a:r>
          </a:p>
        </p:txBody>
      </p:sp>
      <p:sp>
        <p:nvSpPr>
          <p:cNvPr id="32" name="">
            <a:extLst xmlns:a="http://schemas.openxmlformats.org/drawingml/2006/main">
              <a:ext uri="{FF2B5EF4-FFF2-40B4-BE49-F238E27FC236}">
                <a16:creationId xmlns:a16="http://schemas.microsoft.com/office/drawing/2014/main" id="{0E2CF71F-B595-471E-BD11-CA7A62B24402}"/>
              </a:ext>
            </a:extLst>
          </p:cNvPr>
          <p:cNvSpPr>
            <a:spLocks xmlns:a="http://schemas.openxmlformats.org/drawingml/2006/main" noGrp="1"/>
          </p:cNvSpPr>
          <p:nvPr/>
        </p:nvSpPr>
        <p:spPr>
          <a:xfrm xmlns:a="http://schemas.openxmlformats.org/drawingml/2006/main">
            <a:off x="381000" y="3057525"/>
            <a:ext cx="11430000" cy="457200"/>
          </a:xfrm>
          <a:prstGeom xmlns:a="http://schemas.openxmlformats.org/drawingml/2006/main" prst="rect">
            <a:avLst/>
          </a:prstGeom>
          <a:solidFill xmlns:a="http://schemas.openxmlformats.org/drawingml/2006/main">
            <a:srgbClr val="2A1A1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122F3BC-4219-48CA-912E-9FB526A9270E}"/>
              </a:ext>
            </a:extLst>
          </p:cNvPr>
          <p:cNvSpPr>
            <a:spLocks xmlns:a="http://schemas.openxmlformats.org/drawingml/2006/main" noGrp="1"/>
          </p:cNvSpPr>
          <p:nvPr/>
        </p:nvSpPr>
        <p:spPr>
          <a:xfrm xmlns:a="http://schemas.openxmlformats.org/drawingml/2006/main">
            <a:off x="457200" y="3095625"/>
            <a:ext cx="28575" cy="3810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DA5D5E33-F60D-4BA4-A81B-17BEF4DA512B}"/>
              </a:ext>
            </a:extLst>
          </p:cNvPr>
          <p:cNvSpPr>
            <a:spLocks xmlns:a="http://schemas.openxmlformats.org/drawingml/2006/main" noGrp="1"/>
          </p:cNvSpPr>
          <p:nvPr/>
        </p:nvSpPr>
        <p:spPr>
          <a:xfrm xmlns:a="http://schemas.openxmlformats.org/drawingml/2006/main">
            <a:off x="571500" y="3095625"/>
            <a:ext cx="16002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DeepGrid Semi</a:t>
            </a:r>
          </a:p>
        </p:txBody>
      </p:sp>
      <p:sp>
        <p:nvSpPr>
          <p:cNvPr id="35" name="">
            <a:extLst xmlns:a="http://schemas.openxmlformats.org/drawingml/2006/main">
              <a:ext uri="{FF2B5EF4-FFF2-40B4-BE49-F238E27FC236}">
                <a16:creationId xmlns:a16="http://schemas.microsoft.com/office/drawing/2014/main" id="{7C9A0658-8DAA-4E8A-A5EE-99399E4726A5}"/>
              </a:ext>
            </a:extLst>
          </p:cNvPr>
          <p:cNvSpPr>
            <a:spLocks xmlns:a="http://schemas.openxmlformats.org/drawingml/2006/main" noGrp="1"/>
          </p:cNvSpPr>
          <p:nvPr/>
        </p:nvSpPr>
        <p:spPr>
          <a:xfrm xmlns:a="http://schemas.openxmlformats.org/drawingml/2006/main">
            <a:off x="2266950" y="3095625"/>
            <a:ext cx="22669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E06767"/>
                </a:solidFill>
                <a:latin typeface="Arial"/>
                <a:ea typeface="Arial"/>
                <a:cs typeface="Arial"/>
              </a:defRPr>
            </a:pPr>
            <a:r>
              <a:t>None</a:t>
            </a:r>
          </a:p>
        </p:txBody>
      </p:sp>
      <p:sp>
        <p:nvSpPr>
          <p:cNvPr id="36" name="">
            <a:extLst xmlns:a="http://schemas.openxmlformats.org/drawingml/2006/main">
              <a:ext uri="{FF2B5EF4-FFF2-40B4-BE49-F238E27FC236}">
                <a16:creationId xmlns:a16="http://schemas.microsoft.com/office/drawing/2014/main" id="{B04E5F2C-4AF9-4DD5-9F42-6BCCF04BDB29}"/>
              </a:ext>
            </a:extLst>
          </p:cNvPr>
          <p:cNvSpPr>
            <a:spLocks xmlns:a="http://schemas.openxmlformats.org/drawingml/2006/main" noGrp="1"/>
          </p:cNvSpPr>
          <p:nvPr/>
        </p:nvSpPr>
        <p:spPr>
          <a:xfrm xmlns:a="http://schemas.openxmlformats.org/drawingml/2006/main">
            <a:off x="4648200" y="3095625"/>
            <a:ext cx="4857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 perception subsystem sold to an integrator, with no channel to the vehicle after SOP</a:t>
            </a:r>
          </a:p>
        </p:txBody>
      </p:sp>
      <p:sp>
        <p:nvSpPr>
          <p:cNvPr id="37" name="">
            <a:extLst xmlns:a="http://schemas.openxmlformats.org/drawingml/2006/main">
              <a:ext uri="{FF2B5EF4-FFF2-40B4-BE49-F238E27FC236}">
                <a16:creationId xmlns:a16="http://schemas.microsoft.com/office/drawing/2014/main" id="{008F16E5-3F58-47D9-A3E8-EB60E7ADB0B8}"/>
              </a:ext>
            </a:extLst>
          </p:cNvPr>
          <p:cNvSpPr>
            <a:spLocks xmlns:a="http://schemas.openxmlformats.org/drawingml/2006/main" noGrp="1"/>
          </p:cNvSpPr>
          <p:nvPr/>
        </p:nvSpPr>
        <p:spPr>
          <a:xfrm xmlns:a="http://schemas.openxmlformats.org/drawingml/2006/main">
            <a:off x="9639300" y="3095625"/>
            <a:ext cx="20193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NO ROW — this is the gap</a:t>
            </a:r>
          </a:p>
        </p:txBody>
      </p:sp>
      <p:sp>
        <p:nvSpPr>
          <p:cNvPr id="38" name="">
            <a:extLst xmlns:a="http://schemas.openxmlformats.org/drawingml/2006/main">
              <a:ext uri="{FF2B5EF4-FFF2-40B4-BE49-F238E27FC236}">
                <a16:creationId xmlns:a16="http://schemas.microsoft.com/office/drawing/2014/main" id="{9619C9CA-D2F2-4ECD-B358-A8937899313A}"/>
              </a:ext>
            </a:extLst>
          </p:cNvPr>
          <p:cNvSpPr>
            <a:spLocks xmlns:a="http://schemas.openxmlformats.org/drawingml/2006/main" noGrp="1"/>
          </p:cNvSpPr>
          <p:nvPr/>
        </p:nvSpPr>
        <p:spPr>
          <a:xfrm xmlns:a="http://schemas.openxmlformats.org/drawingml/2006/main">
            <a:off x="457200" y="359092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10289A2F-588F-4C91-B0B4-C03869CA65E5}"/>
              </a:ext>
            </a:extLst>
          </p:cNvPr>
          <p:cNvSpPr>
            <a:spLocks xmlns:a="http://schemas.openxmlformats.org/drawingml/2006/main" noGrp="1"/>
          </p:cNvSpPr>
          <p:nvPr/>
        </p:nvSpPr>
        <p:spPr>
          <a:xfrm xmlns:a="http://schemas.openxmlformats.org/drawingml/2006/main">
            <a:off x="457200" y="3705225"/>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THE DECISION THIS FORCES NOW</a:t>
            </a:r>
          </a:p>
        </p:txBody>
      </p:sp>
      <p:sp>
        <p:nvSpPr>
          <p:cNvPr id="40" name="">
            <a:extLst xmlns:a="http://schemas.openxmlformats.org/drawingml/2006/main">
              <a:ext uri="{FF2B5EF4-FFF2-40B4-BE49-F238E27FC236}">
                <a16:creationId xmlns:a16="http://schemas.microsoft.com/office/drawing/2014/main" id="{FA7201D2-6383-4FBE-A0D3-D6DB83F52F01}"/>
              </a:ext>
            </a:extLst>
          </p:cNvPr>
          <p:cNvSpPr>
            <a:spLocks xmlns:a="http://schemas.openxmlformats.org/drawingml/2006/main" noGrp="1"/>
          </p:cNvSpPr>
          <p:nvPr/>
        </p:nvSpPr>
        <p:spPr>
          <a:xfrm xmlns:a="http://schemas.openxmlformats.org/drawingml/2006/main">
            <a:off x="457200" y="3876675"/>
            <a:ext cx="11277600"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OTA is the underrated threat on this list. It converts ADAS from a shipped part into a maintained service: the incumbent's field performance improves after SOP, and the customer relationship stays with the integrator. A merchant module vendor cannot answer that with a better die. If DeepGrid intends to sell a subsystem, it must decide now whether it also sells the means to update it — because that decision is an architecture decision, not a commercial one, and it is cheap today and expensive after the first design-in.</a:t>
            </a:r>
          </a:p>
        </p:txBody>
      </p:sp>
      <p:sp>
        <p:nvSpPr>
          <p:cNvPr id="41" name="">
            <a:extLst xmlns:a="http://schemas.openxmlformats.org/drawingml/2006/main">
              <a:ext uri="{FF2B5EF4-FFF2-40B4-BE49-F238E27FC236}">
                <a16:creationId xmlns:a16="http://schemas.microsoft.com/office/drawing/2014/main" id="{7D1FC8B3-FFB8-43CD-A3BF-2766F60889F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956128B2-9289-460A-8795-C3B2F2E59944}"/>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3" name="">
            <a:extLst xmlns:a="http://schemas.openxmlformats.org/drawingml/2006/main">
              <a:ext uri="{FF2B5EF4-FFF2-40B4-BE49-F238E27FC236}">
                <a16:creationId xmlns:a16="http://schemas.microsoft.com/office/drawing/2014/main" id="{F6A9500C-6DA4-4C24-8618-6DCB3DCD5515}"/>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95</a:t>
            </a:r>
          </a:p>
        </p:txBody>
      </p:sp>
    </p:spTree>
    <p:extLst>
      <p:ext uri="{BB962C8B-B14F-4D97-AF65-F5344CB8AC3E}">
        <p14:creationId xmlns:p14="http://schemas.microsoft.com/office/powerpoint/2010/main" val="59442599"/>
      </p:ext>
    </p:extLst>
  </p:cSld>
</p:sld>
</file>

<file path=ppt/slides/slide96.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C560AD73-7791-41AD-8E6B-2772C1CC8C5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8A180B2-2C0C-4F09-AF63-572E5031CC0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4F08D5A-5BB7-4AFF-848F-91149DD8EA21}"/>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COMPETITIVE STRATEGY · WHAT THIS CHANGES</a:t>
            </a:r>
          </a:p>
        </p:txBody>
      </p:sp>
      <p:sp>
        <p:nvSpPr>
          <p:cNvPr id="4" name="">
            <a:extLst xmlns:a="http://schemas.openxmlformats.org/drawingml/2006/main">
              <a:ext uri="{FF2B5EF4-FFF2-40B4-BE49-F238E27FC236}">
                <a16:creationId xmlns:a16="http://schemas.microsoft.com/office/drawing/2014/main" id="{50AE60F0-C8A5-4E8F-873D-D349BC1CD1C2}"/>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The dossier is a market map wearing a competitor dossier's clothes</a:t>
            </a:r>
          </a:p>
        </p:txBody>
      </p:sp>
      <p:sp>
        <p:nvSpPr>
          <p:cNvPr id="5" name="">
            <a:extLst xmlns:a="http://schemas.openxmlformats.org/drawingml/2006/main">
              <a:ext uri="{FF2B5EF4-FFF2-40B4-BE49-F238E27FC236}">
                <a16:creationId xmlns:a16="http://schemas.microsoft.com/office/drawing/2014/main" id="{F375CA0E-2630-4F23-8DB4-CA2D7CC7F7A1}"/>
              </a:ext>
            </a:extLst>
          </p:cNvPr>
          <p:cNvSpPr>
            <a:spLocks xmlns:a="http://schemas.openxmlformats.org/drawingml/2006/main" noGrp="1"/>
          </p:cNvSpPr>
          <p:nvPr/>
        </p:nvSpPr>
        <p:spPr>
          <a:xfrm xmlns:a="http://schemas.openxmlformats.org/drawingml/2006/main">
            <a:off x="457200" y="762000"/>
            <a:ext cx="11277600" cy="161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Applying the patterns changes what each page is for, and where the evidence budget should go.</a:t>
            </a:r>
          </a:p>
        </p:txBody>
      </p:sp>
      <p:sp>
        <p:nvSpPr>
          <p:cNvPr id="6" name="">
            <a:extLst xmlns:a="http://schemas.openxmlformats.org/drawingml/2006/main">
              <a:ext uri="{FF2B5EF4-FFF2-40B4-BE49-F238E27FC236}">
                <a16:creationId xmlns:a16="http://schemas.microsoft.com/office/drawing/2014/main" id="{51CD9BC6-BC39-4B43-824B-CAE5CEDD3910}"/>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5CB4988-D4DD-4B59-835A-0D1C2B480AA9}"/>
              </a:ext>
            </a:extLst>
          </p:cNvPr>
          <p:cNvSpPr>
            <a:spLocks xmlns:a="http://schemas.openxmlformats.org/drawingml/2006/main" noGrp="1"/>
          </p:cNvSpPr>
          <p:nvPr/>
        </p:nvSpPr>
        <p:spPr>
          <a:xfrm xmlns:a="http://schemas.openxmlformats.org/drawingml/2006/main">
            <a:off x="457200" y="1095375"/>
            <a:ext cx="53530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WHAT THE DOSSIER DOES NOW</a:t>
            </a:r>
          </a:p>
        </p:txBody>
      </p:sp>
      <p:sp>
        <p:nvSpPr>
          <p:cNvPr id="8" name="">
            <a:extLst xmlns:a="http://schemas.openxmlformats.org/drawingml/2006/main">
              <a:ext uri="{FF2B5EF4-FFF2-40B4-BE49-F238E27FC236}">
                <a16:creationId xmlns:a16="http://schemas.microsoft.com/office/drawing/2014/main" id="{01B75F88-BA09-43D1-89A1-F2A3D44D9754}"/>
              </a:ext>
            </a:extLst>
          </p:cNvPr>
          <p:cNvSpPr>
            <a:spLocks xmlns:a="http://schemas.openxmlformats.org/drawingml/2006/main" noGrp="1"/>
          </p:cNvSpPr>
          <p:nvPr/>
        </p:nvSpPr>
        <p:spPr>
          <a:xfrm xmlns:a="http://schemas.openxmlformats.org/drawingml/2006/main">
            <a:off x="6286500" y="1095375"/>
            <a:ext cx="53530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WHAT THE PATTERN SAYS IT SHOULD DO</a:t>
            </a:r>
          </a:p>
        </p:txBody>
      </p:sp>
      <p:sp>
        <p:nvSpPr>
          <p:cNvPr id="9" name="">
            <a:extLst xmlns:a="http://schemas.openxmlformats.org/drawingml/2006/main">
              <a:ext uri="{FF2B5EF4-FFF2-40B4-BE49-F238E27FC236}">
                <a16:creationId xmlns:a16="http://schemas.microsoft.com/office/drawing/2014/main" id="{8EF35A86-DEC0-4A51-9925-B2C803BE7589}"/>
              </a:ext>
            </a:extLst>
          </p:cNvPr>
          <p:cNvSpPr>
            <a:spLocks xmlns:a="http://schemas.openxmlformats.org/drawingml/2006/main" noGrp="1"/>
          </p:cNvSpPr>
          <p:nvPr/>
        </p:nvSpPr>
        <p:spPr>
          <a:xfrm xmlns:a="http://schemas.openxmlformats.org/drawingml/2006/main">
            <a:off x="457200" y="1285875"/>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25569A5-4DD6-4F3F-A580-12D795993E90}"/>
              </a:ext>
            </a:extLst>
          </p:cNvPr>
          <p:cNvSpPr>
            <a:spLocks xmlns:a="http://schemas.openxmlformats.org/drawingml/2006/main" noGrp="1"/>
          </p:cNvSpPr>
          <p:nvPr/>
        </p:nvSpPr>
        <p:spPr>
          <a:xfrm xmlns:a="http://schemas.openxmlformats.org/drawingml/2006/main">
            <a:off x="457200" y="1381125"/>
            <a:ext cx="28575" cy="457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B33E15D-8802-4AAE-BC03-D848E34ED076}"/>
              </a:ext>
            </a:extLst>
          </p:cNvPr>
          <p:cNvSpPr>
            <a:spLocks xmlns:a="http://schemas.openxmlformats.org/drawingml/2006/main" noGrp="1"/>
          </p:cNvSpPr>
          <p:nvPr/>
        </p:nvSpPr>
        <p:spPr>
          <a:xfrm xmlns:a="http://schemas.openxmlformats.org/drawingml/2006/main">
            <a:off x="590550" y="1381125"/>
            <a:ext cx="5181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Nine competitor profiles, equally weighted, each with a threat rating</a:t>
            </a:r>
          </a:p>
        </p:txBody>
      </p:sp>
      <p:sp>
        <p:nvSpPr>
          <p:cNvPr id="12" name="">
            <a:extLst xmlns:a="http://schemas.openxmlformats.org/drawingml/2006/main">
              <a:ext uri="{FF2B5EF4-FFF2-40B4-BE49-F238E27FC236}">
                <a16:creationId xmlns:a16="http://schemas.microsoft.com/office/drawing/2014/main" id="{F253DAB9-50B0-463B-BC5B-5A6CFD384937}"/>
              </a:ext>
            </a:extLst>
          </p:cNvPr>
          <p:cNvSpPr>
            <a:spLocks xmlns:a="http://schemas.openxmlformats.org/drawingml/2006/main" noGrp="1"/>
          </p:cNvSpPr>
          <p:nvPr/>
        </p:nvSpPr>
        <p:spPr>
          <a:xfrm xmlns:a="http://schemas.openxmlformats.org/drawingml/2006/main">
            <a:off x="6038850" y="1438275"/>
            <a:ext cx="2095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A0B2"/>
                </a:solidFill>
                <a:latin typeface="Arial"/>
                <a:ea typeface="Arial"/>
                <a:cs typeface="Arial"/>
              </a:defRPr>
            </a:pPr>
            <a:r>
              <a:t>→</a:t>
            </a:r>
          </a:p>
        </p:txBody>
      </p:sp>
      <p:sp>
        <p:nvSpPr>
          <p:cNvPr id="13" name="">
            <a:extLst xmlns:a="http://schemas.openxmlformats.org/drawingml/2006/main">
              <a:ext uri="{FF2B5EF4-FFF2-40B4-BE49-F238E27FC236}">
                <a16:creationId xmlns:a16="http://schemas.microsoft.com/office/drawing/2014/main" id="{BA632DFC-4EF8-4E3F-B9C8-41E330D30918}"/>
              </a:ext>
            </a:extLst>
          </p:cNvPr>
          <p:cNvSpPr>
            <a:spLocks xmlns:a="http://schemas.openxmlformats.org/drawingml/2006/main" noGrp="1"/>
          </p:cNvSpPr>
          <p:nvPr/>
        </p:nvSpPr>
        <p:spPr>
          <a:xfrm xmlns:a="http://schemas.openxmlformats.org/drawingml/2006/main">
            <a:off x="6286500" y="1381125"/>
            <a:ext cx="28575" cy="4572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0C1EB24-651D-42FE-BE2C-BB3CA725E8B2}"/>
              </a:ext>
            </a:extLst>
          </p:cNvPr>
          <p:cNvSpPr>
            <a:spLocks xmlns:a="http://schemas.openxmlformats.org/drawingml/2006/main" noGrp="1"/>
          </p:cNvSpPr>
          <p:nvPr/>
        </p:nvSpPr>
        <p:spPr>
          <a:xfrm xmlns:a="http://schemas.openxmlformats.org/drawingml/2006/main">
            <a:off x="6419850" y="1381125"/>
            <a:ext cx="5181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ONE competitor to beat (STRADVISION), THREE accounts to win (Aptiv, ZF, Sterling), THREE markets to note and leave, TWO narratives to counter</a:t>
            </a:r>
          </a:p>
        </p:txBody>
      </p:sp>
      <p:sp>
        <p:nvSpPr>
          <p:cNvPr id="15" name="">
            <a:extLst xmlns:a="http://schemas.openxmlformats.org/drawingml/2006/main">
              <a:ext uri="{FF2B5EF4-FFF2-40B4-BE49-F238E27FC236}">
                <a16:creationId xmlns:a16="http://schemas.microsoft.com/office/drawing/2014/main" id="{D2E3D8CE-C8CE-4BCB-9237-0E8584FBC8E0}"/>
              </a:ext>
            </a:extLst>
          </p:cNvPr>
          <p:cNvSpPr>
            <a:spLocks xmlns:a="http://schemas.openxmlformats.org/drawingml/2006/main" noGrp="1"/>
          </p:cNvSpPr>
          <p:nvPr/>
        </p:nvSpPr>
        <p:spPr>
          <a:xfrm xmlns:a="http://schemas.openxmlformats.org/drawingml/2006/main">
            <a:off x="457200" y="1914525"/>
            <a:ext cx="28575" cy="457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E711A6F-A139-419A-BB5C-C6C540CE6543}"/>
              </a:ext>
            </a:extLst>
          </p:cNvPr>
          <p:cNvSpPr>
            <a:spLocks xmlns:a="http://schemas.openxmlformats.org/drawingml/2006/main" noGrp="1"/>
          </p:cNvSpPr>
          <p:nvPr/>
        </p:nvSpPr>
        <p:spPr>
          <a:xfrm xmlns:a="http://schemas.openxmlformats.org/drawingml/2006/main">
            <a:off x="590550" y="1914525"/>
            <a:ext cx="5181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A threat heatmap spanning all nine across three arenas</a:t>
            </a:r>
          </a:p>
        </p:txBody>
      </p:sp>
      <p:sp>
        <p:nvSpPr>
          <p:cNvPr id="17" name="">
            <a:extLst xmlns:a="http://schemas.openxmlformats.org/drawingml/2006/main">
              <a:ext uri="{FF2B5EF4-FFF2-40B4-BE49-F238E27FC236}">
                <a16:creationId xmlns:a16="http://schemas.microsoft.com/office/drawing/2014/main" id="{F4F0AF80-4422-4B4C-8AFF-E8BE7E272209}"/>
              </a:ext>
            </a:extLst>
          </p:cNvPr>
          <p:cNvSpPr>
            <a:spLocks xmlns:a="http://schemas.openxmlformats.org/drawingml/2006/main" noGrp="1"/>
          </p:cNvSpPr>
          <p:nvPr/>
        </p:nvSpPr>
        <p:spPr>
          <a:xfrm xmlns:a="http://schemas.openxmlformats.org/drawingml/2006/main">
            <a:off x="6038850" y="1971675"/>
            <a:ext cx="2095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A0B2"/>
                </a:solidFill>
                <a:latin typeface="Arial"/>
                <a:ea typeface="Arial"/>
                <a:cs typeface="Arial"/>
              </a:defRPr>
            </a:pPr>
            <a:r>
              <a:t>→</a:t>
            </a:r>
          </a:p>
        </p:txBody>
      </p:sp>
      <p:sp>
        <p:nvSpPr>
          <p:cNvPr id="18" name="">
            <a:extLst xmlns:a="http://schemas.openxmlformats.org/drawingml/2006/main">
              <a:ext uri="{FF2B5EF4-FFF2-40B4-BE49-F238E27FC236}">
                <a16:creationId xmlns:a16="http://schemas.microsoft.com/office/drawing/2014/main" id="{C7BBB9BE-0EED-4440-B420-0A46B77B0629}"/>
              </a:ext>
            </a:extLst>
          </p:cNvPr>
          <p:cNvSpPr>
            <a:spLocks xmlns:a="http://schemas.openxmlformats.org/drawingml/2006/main" noGrp="1"/>
          </p:cNvSpPr>
          <p:nvPr/>
        </p:nvSpPr>
        <p:spPr>
          <a:xfrm xmlns:a="http://schemas.openxmlformats.org/drawingml/2006/main">
            <a:off x="6286500" y="1914525"/>
            <a:ext cx="28575" cy="4572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6A6A63F-F634-4243-9CE2-342BE5A7A31A}"/>
              </a:ext>
            </a:extLst>
          </p:cNvPr>
          <p:cNvSpPr>
            <a:spLocks xmlns:a="http://schemas.openxmlformats.org/drawingml/2006/main" noGrp="1"/>
          </p:cNvSpPr>
          <p:nvPr/>
        </p:nvSpPr>
        <p:spPr>
          <a:xfrm xmlns:a="http://schemas.openxmlformats.org/drawingml/2006/main">
            <a:off x="6419850" y="1914525"/>
            <a:ext cx="5181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A relationship map: substitute · gatekeeper · channel · different job · narrative · supplier. Rating only within the substitute row</a:t>
            </a:r>
          </a:p>
        </p:txBody>
      </p:sp>
      <p:sp>
        <p:nvSpPr>
          <p:cNvPr id="20" name="">
            <a:extLst xmlns:a="http://schemas.openxmlformats.org/drawingml/2006/main">
              <a:ext uri="{FF2B5EF4-FFF2-40B4-BE49-F238E27FC236}">
                <a16:creationId xmlns:a16="http://schemas.microsoft.com/office/drawing/2014/main" id="{81FC72BD-071A-4A80-A091-F23ECCE1A25E}"/>
              </a:ext>
            </a:extLst>
          </p:cNvPr>
          <p:cNvSpPr>
            <a:spLocks xmlns:a="http://schemas.openxmlformats.org/drawingml/2006/main" noGrp="1"/>
          </p:cNvSpPr>
          <p:nvPr/>
        </p:nvSpPr>
        <p:spPr>
          <a:xfrm xmlns:a="http://schemas.openxmlformats.org/drawingml/2006/main">
            <a:off x="457200" y="2447925"/>
            <a:ext cx="28575" cy="457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388F77F-2AEF-4C79-B6FD-9602F310CD9F}"/>
              </a:ext>
            </a:extLst>
          </p:cNvPr>
          <p:cNvSpPr>
            <a:spLocks xmlns:a="http://schemas.openxmlformats.org/drawingml/2006/main" noGrp="1"/>
          </p:cNvSpPr>
          <p:nvPr/>
        </p:nvSpPr>
        <p:spPr>
          <a:xfrm xmlns:a="http://schemas.openxmlformats.org/drawingml/2006/main">
            <a:off x="590550" y="2447925"/>
            <a:ext cx="5181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44 pages of Act III spread evenly across rivals</a:t>
            </a:r>
          </a:p>
        </p:txBody>
      </p:sp>
      <p:sp>
        <p:nvSpPr>
          <p:cNvPr id="22" name="">
            <a:extLst xmlns:a="http://schemas.openxmlformats.org/drawingml/2006/main">
              <a:ext uri="{FF2B5EF4-FFF2-40B4-BE49-F238E27FC236}">
                <a16:creationId xmlns:a16="http://schemas.microsoft.com/office/drawing/2014/main" id="{5F6FB1F5-7C45-4F79-9AB6-F980CD1C9D87}"/>
              </a:ext>
            </a:extLst>
          </p:cNvPr>
          <p:cNvSpPr>
            <a:spLocks xmlns:a="http://schemas.openxmlformats.org/drawingml/2006/main" noGrp="1"/>
          </p:cNvSpPr>
          <p:nvPr/>
        </p:nvSpPr>
        <p:spPr>
          <a:xfrm xmlns:a="http://schemas.openxmlformats.org/drawingml/2006/main">
            <a:off x="6038850" y="2505075"/>
            <a:ext cx="2095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A0B2"/>
                </a:solidFill>
                <a:latin typeface="Arial"/>
                <a:ea typeface="Arial"/>
                <a:cs typeface="Arial"/>
              </a:defRPr>
            </a:pPr>
            <a:r>
              <a:t>→</a:t>
            </a:r>
          </a:p>
        </p:txBody>
      </p:sp>
      <p:sp>
        <p:nvSpPr>
          <p:cNvPr id="23" name="">
            <a:extLst xmlns:a="http://schemas.openxmlformats.org/drawingml/2006/main">
              <a:ext uri="{FF2B5EF4-FFF2-40B4-BE49-F238E27FC236}">
                <a16:creationId xmlns:a16="http://schemas.microsoft.com/office/drawing/2014/main" id="{7BC0E8E0-B33D-459C-B50D-DC005C6404EF}"/>
              </a:ext>
            </a:extLst>
          </p:cNvPr>
          <p:cNvSpPr>
            <a:spLocks xmlns:a="http://schemas.openxmlformats.org/drawingml/2006/main" noGrp="1"/>
          </p:cNvSpPr>
          <p:nvPr/>
        </p:nvSpPr>
        <p:spPr>
          <a:xfrm xmlns:a="http://schemas.openxmlformats.org/drawingml/2006/main">
            <a:off x="6286500" y="2447925"/>
            <a:ext cx="28575" cy="4572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34946A5-7DDA-499A-8609-B152780CAABE}"/>
              </a:ext>
            </a:extLst>
          </p:cNvPr>
          <p:cNvSpPr>
            <a:spLocks xmlns:a="http://schemas.openxmlformats.org/drawingml/2006/main" noGrp="1"/>
          </p:cNvSpPr>
          <p:nvPr/>
        </p:nvSpPr>
        <p:spPr>
          <a:xfrm xmlns:a="http://schemas.openxmlformats.org/drawingml/2006/main">
            <a:off x="6419850" y="2447925"/>
            <a:ext cx="5181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Depth proportional to relationship: STRADVISION deserves a displacement plan; Starkenn deserves a paragraph</a:t>
            </a:r>
          </a:p>
        </p:txBody>
      </p:sp>
      <p:sp>
        <p:nvSpPr>
          <p:cNvPr id="25" name="">
            <a:extLst xmlns:a="http://schemas.openxmlformats.org/drawingml/2006/main">
              <a:ext uri="{FF2B5EF4-FFF2-40B4-BE49-F238E27FC236}">
                <a16:creationId xmlns:a16="http://schemas.microsoft.com/office/drawing/2014/main" id="{A3001D83-1316-4112-A456-674DE55DE9AD}"/>
              </a:ext>
            </a:extLst>
          </p:cNvPr>
          <p:cNvSpPr>
            <a:spLocks xmlns:a="http://schemas.openxmlformats.org/drawingml/2006/main" noGrp="1"/>
          </p:cNvSpPr>
          <p:nvPr/>
        </p:nvSpPr>
        <p:spPr>
          <a:xfrm xmlns:a="http://schemas.openxmlformats.org/drawingml/2006/main">
            <a:off x="457200" y="2981325"/>
            <a:ext cx="28575" cy="457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1B4CDE0-0EEF-42EA-AA70-BFBECE07F838}"/>
              </a:ext>
            </a:extLst>
          </p:cNvPr>
          <p:cNvSpPr>
            <a:spLocks xmlns:a="http://schemas.openxmlformats.org/drawingml/2006/main" noGrp="1"/>
          </p:cNvSpPr>
          <p:nvPr/>
        </p:nvSpPr>
        <p:spPr>
          <a:xfrm xmlns:a="http://schemas.openxmlformats.org/drawingml/2006/main">
            <a:off x="590550" y="2981325"/>
            <a:ext cx="5181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Counter-move analysis framed as what rivals do to us</a:t>
            </a:r>
          </a:p>
        </p:txBody>
      </p:sp>
      <p:sp>
        <p:nvSpPr>
          <p:cNvPr id="27" name="">
            <a:extLst xmlns:a="http://schemas.openxmlformats.org/drawingml/2006/main">
              <a:ext uri="{FF2B5EF4-FFF2-40B4-BE49-F238E27FC236}">
                <a16:creationId xmlns:a16="http://schemas.microsoft.com/office/drawing/2014/main" id="{BA63B47A-E2B9-4561-907B-31BE663B1000}"/>
              </a:ext>
            </a:extLst>
          </p:cNvPr>
          <p:cNvSpPr>
            <a:spLocks xmlns:a="http://schemas.openxmlformats.org/drawingml/2006/main" noGrp="1"/>
          </p:cNvSpPr>
          <p:nvPr/>
        </p:nvSpPr>
        <p:spPr>
          <a:xfrm xmlns:a="http://schemas.openxmlformats.org/drawingml/2006/main">
            <a:off x="6038850" y="3038475"/>
            <a:ext cx="2095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A0B2"/>
                </a:solidFill>
                <a:latin typeface="Arial"/>
                <a:ea typeface="Arial"/>
                <a:cs typeface="Arial"/>
              </a:defRPr>
            </a:pPr>
            <a:r>
              <a:t>→</a:t>
            </a:r>
          </a:p>
        </p:txBody>
      </p:sp>
      <p:sp>
        <p:nvSpPr>
          <p:cNvPr id="28" name="">
            <a:extLst xmlns:a="http://schemas.openxmlformats.org/drawingml/2006/main">
              <a:ext uri="{FF2B5EF4-FFF2-40B4-BE49-F238E27FC236}">
                <a16:creationId xmlns:a16="http://schemas.microsoft.com/office/drawing/2014/main" id="{83AE21C8-3547-46D6-AA0C-287326F57E28}"/>
              </a:ext>
            </a:extLst>
          </p:cNvPr>
          <p:cNvSpPr>
            <a:spLocks xmlns:a="http://schemas.openxmlformats.org/drawingml/2006/main" noGrp="1"/>
          </p:cNvSpPr>
          <p:nvPr/>
        </p:nvSpPr>
        <p:spPr>
          <a:xfrm xmlns:a="http://schemas.openxmlformats.org/drawingml/2006/main">
            <a:off x="6286500" y="2981325"/>
            <a:ext cx="28575" cy="4572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3BA51F1-8104-4B0B-B33F-9C81D3FB3FF7}"/>
              </a:ext>
            </a:extLst>
          </p:cNvPr>
          <p:cNvSpPr>
            <a:spLocks xmlns:a="http://schemas.openxmlformats.org/drawingml/2006/main" noGrp="1"/>
          </p:cNvSpPr>
          <p:nvPr/>
        </p:nvSpPr>
        <p:spPr>
          <a:xfrm xmlns:a="http://schemas.openxmlformats.org/drawingml/2006/main">
            <a:off x="6419850" y="2981325"/>
            <a:ext cx="5181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Two distinct questions: what a SUBSTITUTE does to win the deal, and what a CUSTOMER does if it decides to in-source</a:t>
            </a:r>
          </a:p>
        </p:txBody>
      </p:sp>
      <p:sp>
        <p:nvSpPr>
          <p:cNvPr id="30" name="">
            <a:extLst xmlns:a="http://schemas.openxmlformats.org/drawingml/2006/main">
              <a:ext uri="{FF2B5EF4-FFF2-40B4-BE49-F238E27FC236}">
                <a16:creationId xmlns:a16="http://schemas.microsoft.com/office/drawing/2014/main" id="{6D354ACD-5E53-4873-BA00-70093ECD2073}"/>
              </a:ext>
            </a:extLst>
          </p:cNvPr>
          <p:cNvSpPr>
            <a:spLocks xmlns:a="http://schemas.openxmlformats.org/drawingml/2006/main" noGrp="1"/>
          </p:cNvSpPr>
          <p:nvPr/>
        </p:nvSpPr>
        <p:spPr>
          <a:xfrm xmlns:a="http://schemas.openxmlformats.org/drawingml/2006/main">
            <a:off x="457200" y="3514725"/>
            <a:ext cx="28575" cy="4572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6F83809-EA96-4C72-AD06-F839E5B37FE1}"/>
              </a:ext>
            </a:extLst>
          </p:cNvPr>
          <p:cNvSpPr>
            <a:spLocks xmlns:a="http://schemas.openxmlformats.org/drawingml/2006/main" noGrp="1"/>
          </p:cNvSpPr>
          <p:nvPr/>
        </p:nvSpPr>
        <p:spPr>
          <a:xfrm xmlns:a="http://schemas.openxmlformats.org/drawingml/2006/main">
            <a:off x="590550" y="3514725"/>
            <a:ext cx="5181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Supplier side absent entirely</a:t>
            </a:r>
          </a:p>
        </p:txBody>
      </p:sp>
      <p:sp>
        <p:nvSpPr>
          <p:cNvPr id="32" name="">
            <a:extLst xmlns:a="http://schemas.openxmlformats.org/drawingml/2006/main">
              <a:ext uri="{FF2B5EF4-FFF2-40B4-BE49-F238E27FC236}">
                <a16:creationId xmlns:a16="http://schemas.microsoft.com/office/drawing/2014/main" id="{5C796775-7900-433D-9B02-A8F6CC7F16CB}"/>
              </a:ext>
            </a:extLst>
          </p:cNvPr>
          <p:cNvSpPr>
            <a:spLocks xmlns:a="http://schemas.openxmlformats.org/drawingml/2006/main" noGrp="1"/>
          </p:cNvSpPr>
          <p:nvPr/>
        </p:nvSpPr>
        <p:spPr>
          <a:xfrm xmlns:a="http://schemas.openxmlformats.org/drawingml/2006/main">
            <a:off x="6038850" y="3571875"/>
            <a:ext cx="2095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A0B2"/>
                </a:solidFill>
                <a:latin typeface="Arial"/>
                <a:ea typeface="Arial"/>
                <a:cs typeface="Arial"/>
              </a:defRPr>
            </a:pPr>
            <a:r>
              <a:t>→</a:t>
            </a:r>
          </a:p>
        </p:txBody>
      </p:sp>
      <p:sp>
        <p:nvSpPr>
          <p:cNvPr id="33" name="">
            <a:extLst xmlns:a="http://schemas.openxmlformats.org/drawingml/2006/main">
              <a:ext uri="{FF2B5EF4-FFF2-40B4-BE49-F238E27FC236}">
                <a16:creationId xmlns:a16="http://schemas.microsoft.com/office/drawing/2014/main" id="{B0637B36-3910-48E8-84B2-F92D2890A2DE}"/>
              </a:ext>
            </a:extLst>
          </p:cNvPr>
          <p:cNvSpPr>
            <a:spLocks xmlns:a="http://schemas.openxmlformats.org/drawingml/2006/main" noGrp="1"/>
          </p:cNvSpPr>
          <p:nvPr/>
        </p:nvSpPr>
        <p:spPr>
          <a:xfrm xmlns:a="http://schemas.openxmlformats.org/drawingml/2006/main">
            <a:off x="6286500" y="3514725"/>
            <a:ext cx="28575" cy="4572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0B528F2-8630-4BD7-A86F-C49A277F4CD6}"/>
              </a:ext>
            </a:extLst>
          </p:cNvPr>
          <p:cNvSpPr>
            <a:spLocks xmlns:a="http://schemas.openxmlformats.org/drawingml/2006/main" noGrp="1"/>
          </p:cNvSpPr>
          <p:nvPr/>
        </p:nvSpPr>
        <p:spPr>
          <a:xfrm xmlns:a="http://schemas.openxmlformats.org/drawingml/2006/main">
            <a:off x="6419850" y="3514725"/>
            <a:ext cx="51816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TI, NXP, TSMC and ARAI set the cost floor and the qualification clock — the ASIC case cannot be argued without them</a:t>
            </a:r>
          </a:p>
        </p:txBody>
      </p:sp>
      <p:sp>
        <p:nvSpPr>
          <p:cNvPr id="35" name="">
            <a:extLst xmlns:a="http://schemas.openxmlformats.org/drawingml/2006/main">
              <a:ext uri="{FF2B5EF4-FFF2-40B4-BE49-F238E27FC236}">
                <a16:creationId xmlns:a16="http://schemas.microsoft.com/office/drawing/2014/main" id="{D39A5863-C286-45C6-B349-B86AF3CD5175}"/>
              </a:ext>
            </a:extLst>
          </p:cNvPr>
          <p:cNvSpPr>
            <a:spLocks xmlns:a="http://schemas.openxmlformats.org/drawingml/2006/main" noGrp="1"/>
          </p:cNvSpPr>
          <p:nvPr/>
        </p:nvSpPr>
        <p:spPr>
          <a:xfrm xmlns:a="http://schemas.openxmlformats.org/drawingml/2006/main">
            <a:off x="457200" y="408622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F8B3397A-E077-4B70-B993-0BBDE2C6A5B8}"/>
              </a:ext>
            </a:extLst>
          </p:cNvPr>
          <p:cNvSpPr>
            <a:spLocks xmlns:a="http://schemas.openxmlformats.org/drawingml/2006/main" noGrp="1"/>
          </p:cNvSpPr>
          <p:nvPr/>
        </p:nvSpPr>
        <p:spPr>
          <a:xfrm xmlns:a="http://schemas.openxmlformats.org/drawingml/2006/main">
            <a:off x="457200" y="4200525"/>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WHAT IS NOT BEING SAID HERE</a:t>
            </a:r>
          </a:p>
        </p:txBody>
      </p:sp>
      <p:sp>
        <p:nvSpPr>
          <p:cNvPr id="37" name="">
            <a:extLst xmlns:a="http://schemas.openxmlformats.org/drawingml/2006/main">
              <a:ext uri="{FF2B5EF4-FFF2-40B4-BE49-F238E27FC236}">
                <a16:creationId xmlns:a16="http://schemas.microsoft.com/office/drawing/2014/main" id="{9B1F0715-C144-4FA9-A182-67B9DBAF4002}"/>
              </a:ext>
            </a:extLst>
          </p:cNvPr>
          <p:cNvSpPr>
            <a:spLocks xmlns:a="http://schemas.openxmlformats.org/drawingml/2006/main" noGrp="1"/>
          </p:cNvSpPr>
          <p:nvPr/>
        </p:nvSpPr>
        <p:spPr>
          <a:xfrm xmlns:a="http://schemas.openxmlformats.org/drawingml/2006/main">
            <a:off x="457200" y="4371975"/>
            <a:ext cx="1127760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None of this says the research was wasted. The evidence stands and the ratings are sound within their rows. What changes is the shape: a dossier that treats a route-to-market as an adversary will keep producing plans to out-compete the companies DeepGrid most needs to sell to, and will keep under-investing in the single displacement contest that actually decides the strategy.</a:t>
            </a:r>
          </a:p>
        </p:txBody>
      </p:sp>
      <p:sp>
        <p:nvSpPr>
          <p:cNvPr id="38" name="">
            <a:extLst xmlns:a="http://schemas.openxmlformats.org/drawingml/2006/main">
              <a:ext uri="{FF2B5EF4-FFF2-40B4-BE49-F238E27FC236}">
                <a16:creationId xmlns:a16="http://schemas.microsoft.com/office/drawing/2014/main" id="{1C3E81AA-43C2-40A0-90A1-B8391126C49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291409B0-4662-4636-A4DA-B8F0646A2AA1}"/>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0" name="">
            <a:extLst xmlns:a="http://schemas.openxmlformats.org/drawingml/2006/main">
              <a:ext uri="{FF2B5EF4-FFF2-40B4-BE49-F238E27FC236}">
                <a16:creationId xmlns:a16="http://schemas.microsoft.com/office/drawing/2014/main" id="{28BC26CD-9699-41A3-ABC9-8242E8BC703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96</a:t>
            </a:r>
          </a:p>
        </p:txBody>
      </p:sp>
    </p:spTree>
    <p:extLst>
      <p:ext uri="{BB962C8B-B14F-4D97-AF65-F5344CB8AC3E}">
        <p14:creationId xmlns:p14="http://schemas.microsoft.com/office/powerpoint/2010/main" val="1046968640"/>
      </p:ext>
    </p:extLst>
  </p:cSld>
</p:sld>
</file>

<file path=ppt/slides/slide97.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DB6B1B9-7E1F-494D-BFF8-24817E22CD8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9BF8759-854A-4418-B49E-D9CE06F2A22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8B7BE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D40AB75-06B6-4A60-9800-D2F6BDFB3815}"/>
              </a:ext>
            </a:extLst>
          </p:cNvPr>
          <p:cNvSpPr>
            <a:spLocks xmlns:a="http://schemas.openxmlformats.org/drawingml/2006/main" noGrp="1"/>
          </p:cNvSpPr>
          <p:nvPr/>
        </p:nvSpPr>
        <p:spPr>
          <a:xfrm xmlns:a="http://schemas.openxmlformats.org/drawingml/2006/main">
            <a:off x="457200" y="2038350"/>
            <a:ext cx="1143000" cy="38100"/>
          </a:xfrm>
          <a:prstGeom xmlns:a="http://schemas.openxmlformats.org/drawingml/2006/main" prst="rect">
            <a:avLst/>
          </a:prstGeom>
          <a:solidFill xmlns:a="http://schemas.openxmlformats.org/drawingml/2006/main">
            <a:srgbClr val="8B7BE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8885873-7445-490C-B20E-A3A89B39AE4D}"/>
              </a:ext>
            </a:extLst>
          </p:cNvPr>
          <p:cNvSpPr>
            <a:spLocks xmlns:a="http://schemas.openxmlformats.org/drawingml/2006/main" noGrp="1"/>
          </p:cNvSpPr>
          <p:nvPr/>
        </p:nvSpPr>
        <p:spPr>
          <a:xfrm xmlns:a="http://schemas.openxmlformats.org/drawingml/2006/main">
            <a:off x="457200" y="2286000"/>
            <a:ext cx="476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A99DF0"/>
                </a:solidFill>
                <a:latin typeface="Arial"/>
                <a:ea typeface="Arial"/>
                <a:cs typeface="Arial"/>
              </a:defRPr>
            </a:pPr>
            <a:r>
              <a:t>ACT V</a:t>
            </a:r>
          </a:p>
        </p:txBody>
      </p:sp>
      <p:sp>
        <p:nvSpPr>
          <p:cNvPr id="5" name="">
            <a:extLst xmlns:a="http://schemas.openxmlformats.org/drawingml/2006/main">
              <a:ext uri="{FF2B5EF4-FFF2-40B4-BE49-F238E27FC236}">
                <a16:creationId xmlns:a16="http://schemas.microsoft.com/office/drawing/2014/main" id="{03996F51-772C-4AE2-86DD-2AF046A0B64B}"/>
              </a:ext>
            </a:extLst>
          </p:cNvPr>
          <p:cNvSpPr>
            <a:spLocks xmlns:a="http://schemas.openxmlformats.org/drawingml/2006/main" noGrp="1"/>
          </p:cNvSpPr>
          <p:nvPr/>
        </p:nvSpPr>
        <p:spPr>
          <a:xfrm xmlns:a="http://schemas.openxmlformats.org/drawingml/2006/main">
            <a:off x="457200" y="2552700"/>
            <a:ext cx="85725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FFFFFF"/>
                </a:solidFill>
                <a:latin typeface="Georgia"/>
                <a:ea typeface="Georgia"/>
                <a:cs typeface="Georgia"/>
              </a:defRPr>
            </a:pPr>
            <a:r>
              <a:t>The wedge</a:t>
            </a:r>
          </a:p>
        </p:txBody>
      </p:sp>
      <p:sp>
        <p:nvSpPr>
          <p:cNvPr id="6" name="">
            <a:extLst xmlns:a="http://schemas.openxmlformats.org/drawingml/2006/main">
              <a:ext uri="{FF2B5EF4-FFF2-40B4-BE49-F238E27FC236}">
                <a16:creationId xmlns:a16="http://schemas.microsoft.com/office/drawing/2014/main" id="{ABCCB588-4692-4EF9-84D2-61AE8E732401}"/>
              </a:ext>
            </a:extLst>
          </p:cNvPr>
          <p:cNvSpPr>
            <a:spLocks xmlns:a="http://schemas.openxmlformats.org/drawingml/2006/main" noGrp="1"/>
          </p:cNvSpPr>
          <p:nvPr/>
        </p:nvSpPr>
        <p:spPr>
          <a:xfrm xmlns:a="http://schemas.openxmlformats.org/drawingml/2006/main">
            <a:off x="457200" y="3390900"/>
            <a:ext cx="7810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C9D6E2"/>
                </a:solidFill>
                <a:latin typeface="Arial"/>
                <a:ea typeface="Arial"/>
                <a:cs typeface="Arial"/>
              </a:defRPr>
            </a:pPr>
            <a:r>
              <a:t>What exactly does DeepGrid sell, at what price, and what should it build versus buy?</a:t>
            </a:r>
          </a:p>
        </p:txBody>
      </p:sp>
      <p:sp>
        <p:nvSpPr>
          <p:cNvPr id="7" name="">
            <a:extLst xmlns:a="http://schemas.openxmlformats.org/drawingml/2006/main">
              <a:ext uri="{FF2B5EF4-FFF2-40B4-BE49-F238E27FC236}">
                <a16:creationId xmlns:a16="http://schemas.microsoft.com/office/drawing/2014/main" id="{D8953973-1D5E-4C79-AAD8-3B3AC1865BDC}"/>
              </a:ext>
            </a:extLst>
          </p:cNvPr>
          <p:cNvSpPr>
            <a:spLocks xmlns:a="http://schemas.openxmlformats.org/drawingml/2006/main" noGrp="1"/>
          </p:cNvSpPr>
          <p:nvPr/>
        </p:nvSpPr>
        <p:spPr>
          <a:xfrm xmlns:a="http://schemas.openxmlformats.org/drawingml/2006/main">
            <a:off x="457200" y="4076700"/>
            <a:ext cx="78105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BE7EBE6-E4E1-4F52-998D-7B8BCC2E0147}"/>
              </a:ext>
            </a:extLst>
          </p:cNvPr>
          <p:cNvSpPr>
            <a:spLocks xmlns:a="http://schemas.openxmlformats.org/drawingml/2006/main" noGrp="1"/>
          </p:cNvSpPr>
          <p:nvPr/>
        </p:nvSpPr>
        <p:spPr>
          <a:xfrm xmlns:a="http://schemas.openxmlformats.org/drawingml/2006/main">
            <a:off x="457200" y="42100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99DF0"/>
                </a:solidFill>
                <a:latin typeface="Arial"/>
                <a:ea typeface="Arial"/>
                <a:cs typeface="Arial"/>
              </a:defRPr>
            </a:pPr>
            <a:r>
              <a:t>WHAT THIS ACT SETTLES</a:t>
            </a:r>
          </a:p>
        </p:txBody>
      </p:sp>
      <p:sp>
        <p:nvSpPr>
          <p:cNvPr id="9" name="">
            <a:extLst xmlns:a="http://schemas.openxmlformats.org/drawingml/2006/main">
              <a:ext uri="{FF2B5EF4-FFF2-40B4-BE49-F238E27FC236}">
                <a16:creationId xmlns:a16="http://schemas.microsoft.com/office/drawing/2014/main" id="{31B51B14-1BCE-42F6-9253-C924EFE903F3}"/>
              </a:ext>
            </a:extLst>
          </p:cNvPr>
          <p:cNvSpPr>
            <a:spLocks xmlns:a="http://schemas.openxmlformats.org/drawingml/2006/main" noGrp="1"/>
          </p:cNvSpPr>
          <p:nvPr/>
        </p:nvSpPr>
        <p:spPr>
          <a:xfrm xmlns:a="http://schemas.openxmlformats.org/drawingml/2006/main">
            <a:off x="457200" y="4400550"/>
            <a:ext cx="78105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The bounded offer, what cannot be said about price, and the make-or-buy line.</a:t>
            </a:r>
          </a:p>
        </p:txBody>
      </p:sp>
      <p:sp>
        <p:nvSpPr>
          <p:cNvPr id="10" name="">
            <a:extLst xmlns:a="http://schemas.openxmlformats.org/drawingml/2006/main">
              <a:ext uri="{FF2B5EF4-FFF2-40B4-BE49-F238E27FC236}">
                <a16:creationId xmlns:a16="http://schemas.microsoft.com/office/drawing/2014/main" id="{ECB2B2A1-F357-4447-9B9A-CE618D31952E}"/>
              </a:ext>
            </a:extLst>
          </p:cNvPr>
          <p:cNvSpPr>
            <a:spLocks xmlns:a="http://schemas.openxmlformats.org/drawingml/2006/main" noGrp="1"/>
          </p:cNvSpPr>
          <p:nvPr/>
        </p:nvSpPr>
        <p:spPr>
          <a:xfrm xmlns:a="http://schemas.openxmlformats.org/drawingml/2006/main">
            <a:off x="9410700" y="2495550"/>
            <a:ext cx="1905000" cy="704850"/>
          </a:xfrm>
          <a:prstGeom xmlns:a="http://schemas.openxmlformats.org/drawingml/2006/main" prst="rect">
            <a:avLst/>
          </a:prstGeom>
        </p:spPr>
        <p:txBody>
          <a:bodyPr xmlns:a="http://schemas.openxmlformats.org/drawingml/2006/main" lIns="0" tIns="0" rIns="0" bIns="0" anchor="t">
            <a:normAutofit fontScale="99462"/>
          </a:bodyPr>
          <a:lstStyle xmlns:a="http://schemas.openxmlformats.org/drawingml/2006/main"/>
          <a:p xmlns:a="http://schemas.openxmlformats.org/drawingml/2006/main">
            <a:pPr algn="l">
              <a:defRPr sz="4650" b="1">
                <a:solidFill>
                  <a:srgbClr val="A99DF0"/>
                </a:solidFill>
                <a:latin typeface="Georgia"/>
                <a:ea typeface="Georgia"/>
                <a:cs typeface="Georgia"/>
              </a:defRPr>
            </a:pPr>
            <a:r>
              <a:t>12</a:t>
            </a:r>
          </a:p>
        </p:txBody>
      </p:sp>
      <p:sp>
        <p:nvSpPr>
          <p:cNvPr id="11" name="">
            <a:extLst xmlns:a="http://schemas.openxmlformats.org/drawingml/2006/main">
              <a:ext uri="{FF2B5EF4-FFF2-40B4-BE49-F238E27FC236}">
                <a16:creationId xmlns:a16="http://schemas.microsoft.com/office/drawing/2014/main" id="{E6D40679-7B7F-464B-90D7-82E1D38C5EED}"/>
              </a:ext>
            </a:extLst>
          </p:cNvPr>
          <p:cNvSpPr>
            <a:spLocks xmlns:a="http://schemas.openxmlformats.org/drawingml/2006/main" noGrp="1"/>
          </p:cNvSpPr>
          <p:nvPr/>
        </p:nvSpPr>
        <p:spPr>
          <a:xfrm xmlns:a="http://schemas.openxmlformats.org/drawingml/2006/main">
            <a:off x="9410700" y="32385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PAGES</a:t>
            </a:r>
          </a:p>
        </p:txBody>
      </p:sp>
      <p:sp>
        <p:nvSpPr>
          <p:cNvPr id="12" name="">
            <a:extLst xmlns:a="http://schemas.openxmlformats.org/drawingml/2006/main">
              <a:ext uri="{FF2B5EF4-FFF2-40B4-BE49-F238E27FC236}">
                <a16:creationId xmlns:a16="http://schemas.microsoft.com/office/drawing/2014/main" id="{3E1DF10F-E797-4C07-97F6-FAD2985A66AF}"/>
              </a:ext>
            </a:extLst>
          </p:cNvPr>
          <p:cNvSpPr>
            <a:spLocks xmlns:a="http://schemas.openxmlformats.org/drawingml/2006/main" noGrp="1"/>
          </p:cNvSpPr>
          <p:nvPr/>
        </p:nvSpPr>
        <p:spPr>
          <a:xfrm xmlns:a="http://schemas.openxmlformats.org/drawingml/2006/main">
            <a:off x="9410700" y="34290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pp. 98–111</a:t>
            </a:r>
          </a:p>
        </p:txBody>
      </p:sp>
      <p:sp>
        <p:nvSpPr>
          <p:cNvPr id="13" name="">
            <a:extLst xmlns:a="http://schemas.openxmlformats.org/drawingml/2006/main">
              <a:ext uri="{FF2B5EF4-FFF2-40B4-BE49-F238E27FC236}">
                <a16:creationId xmlns:a16="http://schemas.microsoft.com/office/drawing/2014/main" id="{4E5C1A55-72AF-4302-A953-367A58A028FC}"/>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A3C8542-D3C8-443C-AB76-961908CAC35C}"/>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15" name="">
            <a:extLst xmlns:a="http://schemas.openxmlformats.org/drawingml/2006/main">
              <a:ext uri="{FF2B5EF4-FFF2-40B4-BE49-F238E27FC236}">
                <a16:creationId xmlns:a16="http://schemas.microsoft.com/office/drawing/2014/main" id="{057D31D9-52EF-472F-BC6A-2AAD03CABDC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97</a:t>
            </a:r>
          </a:p>
        </p:txBody>
      </p:sp>
    </p:spTree>
    <p:extLst>
      <p:ext uri="{BB962C8B-B14F-4D97-AF65-F5344CB8AC3E}">
        <p14:creationId xmlns:p14="http://schemas.microsoft.com/office/powerpoint/2010/main" val="1490629065"/>
      </p:ext>
    </p:extLst>
  </p:cSld>
</p:sld>
</file>

<file path=ppt/slides/slide98.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FABC57E4-1752-4147-B2AB-B99557E1FE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EDBA8FB-FF89-4DAC-BC6E-DFD7345FFBCC}"/>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8AFC222-FAD9-4DC9-9D4F-5656950C8F4A}"/>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52F30309-C395-423D-8C2A-8AFC12677897}"/>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281E840A-B016-45CF-9C48-B34390C9C9B7}"/>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Position DGS001 as semantic perception inside a fusion stack</a:t>
            </a:r>
          </a:p>
        </p:txBody>
      </p:sp>
      <p:sp>
        <p:nvSpPr>
          <p:cNvPr id="6" name="">
            <a:extLst xmlns:a="http://schemas.openxmlformats.org/drawingml/2006/main">
              <a:ext uri="{FF2B5EF4-FFF2-40B4-BE49-F238E27FC236}">
                <a16:creationId xmlns:a16="http://schemas.microsoft.com/office/drawing/2014/main" id="{C8EFA20D-9C6F-4196-88E8-C561B878E5C6}"/>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E74AC7E-C387-4AA2-BF3B-799B3E37F24F}"/>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Should DeepGrid defend camera-only sensing or position DGS001 within a radar-camera fusion architecture?</a:t>
            </a:r>
          </a:p>
        </p:txBody>
      </p:sp>
      <p:sp>
        <p:nvSpPr>
          <p:cNvPr id="8" name="">
            <a:extLst xmlns:a="http://schemas.openxmlformats.org/drawingml/2006/main">
              <a:ext uri="{FF2B5EF4-FFF2-40B4-BE49-F238E27FC236}">
                <a16:creationId xmlns:a16="http://schemas.microsoft.com/office/drawing/2014/main" id="{98E65561-9640-483A-AC08-19A293AD71C2}"/>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F05029D2-3A42-402E-B454-267FAF4BF280}"/>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46D8F77-60DA-4D8C-B080-B9D24CF197EE}"/>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4D129F96-F490-43BB-82C0-CD00710D90A6}"/>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supplied logic assigns semantic and lane context to camera and range-rate plus visibility resilience to radar, but provides no vehicle-level proof of safe performance in Indian conditions. Fusion may dilute differentiation and require radar data DeepGrid cannot access.</a:t>
            </a:r>
          </a:p>
        </p:txBody>
      </p:sp>
      <p:sp>
        <p:nvSpPr>
          <p:cNvPr id="12" name="">
            <a:extLst xmlns:a="http://schemas.openxmlformats.org/drawingml/2006/main">
              <a:ext uri="{FF2B5EF4-FFF2-40B4-BE49-F238E27FC236}">
                <a16:creationId xmlns:a16="http://schemas.microsoft.com/office/drawing/2014/main" id="{E8F3437D-B0E4-4921-BE11-7FBB4B509445}"/>
              </a:ext>
            </a:extLst>
          </p:cNvPr>
          <p:cNvSpPr>
            <a:spLocks xmlns:a="http://schemas.openxmlformats.org/drawingml/2006/main" noGrp="1"/>
          </p:cNvSpPr>
          <p:nvPr/>
        </p:nvSpPr>
        <p:spPr>
          <a:xfrm xmlns:a="http://schemas.openxmlformats.org/drawingml/2006/main">
            <a:off x="457200" y="18415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1D959A11-F981-4CFB-8024-38EB84B4EBD8}"/>
              </a:ext>
            </a:extLst>
          </p:cNvPr>
          <p:cNvSpPr>
            <a:spLocks xmlns:a="http://schemas.openxmlformats.org/drawingml/2006/main" noGrp="1"/>
          </p:cNvSpPr>
          <p:nvPr/>
        </p:nvSpPr>
        <p:spPr>
          <a:xfrm xmlns:a="http://schemas.openxmlformats.org/drawingml/2006/main">
            <a:off x="457200" y="1841500"/>
            <a:ext cx="7668768"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379E4E0-648C-4C53-9912-FCA88C68F438}"/>
              </a:ext>
            </a:extLst>
          </p:cNvPr>
          <p:cNvSpPr>
            <a:spLocks xmlns:a="http://schemas.openxmlformats.org/drawingml/2006/main" noGrp="1"/>
          </p:cNvSpPr>
          <p:nvPr/>
        </p:nvSpPr>
        <p:spPr>
          <a:xfrm xmlns:a="http://schemas.openxmlformats.org/drawingml/2006/main">
            <a:off x="457200" y="18415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C112C34-82DE-4FA7-B7C8-6AF00335D7FA}"/>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LOCAL MANUFACTURING AND</a:t>
            </a:r>
          </a:p>
        </p:txBody>
      </p:sp>
      <p:sp>
        <p:nvSpPr>
          <p:cNvPr id="16" name="">
            <a:extLst xmlns:a="http://schemas.openxmlformats.org/drawingml/2006/main">
              <a:ext uri="{FF2B5EF4-FFF2-40B4-BE49-F238E27FC236}">
                <a16:creationId xmlns:a16="http://schemas.microsoft.com/office/drawing/2014/main" id="{D57C271A-D770-49CA-A5F6-8EE477CE8680}"/>
              </a:ext>
            </a:extLst>
          </p:cNvPr>
          <p:cNvSpPr>
            <a:spLocks xmlns:a="http://schemas.openxmlformats.org/drawingml/2006/main" noGrp="1"/>
          </p:cNvSpPr>
          <p:nvPr/>
        </p:nvSpPr>
        <p:spPr>
          <a:xfrm xmlns:a="http://schemas.openxmlformats.org/drawingml/2006/main">
            <a:off x="4067556" y="19177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Local manufacturing and company-reported tender revenue; named awards and type-approval scope still required.</a:t>
            </a:r>
          </a:p>
        </p:txBody>
      </p:sp>
      <p:sp>
        <p:nvSpPr>
          <p:cNvPr id="17" name="">
            <a:extLst xmlns:a="http://schemas.openxmlformats.org/drawingml/2006/main">
              <a:ext uri="{FF2B5EF4-FFF2-40B4-BE49-F238E27FC236}">
                <a16:creationId xmlns:a16="http://schemas.microsoft.com/office/drawing/2014/main" id="{7DB255D3-75AD-4B51-88D1-DA3250FE497D}"/>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ATTRIBUTED CLAIM</a:t>
            </a:r>
          </a:p>
        </p:txBody>
      </p:sp>
      <p:sp>
        <p:nvSpPr>
          <p:cNvPr id="18" name="">
            <a:extLst xmlns:a="http://schemas.openxmlformats.org/drawingml/2006/main">
              <a:ext uri="{FF2B5EF4-FFF2-40B4-BE49-F238E27FC236}">
                <a16:creationId xmlns:a16="http://schemas.microsoft.com/office/drawing/2014/main" id="{57F8FB3D-5004-4A1F-917D-40F1C0A0E866}"/>
              </a:ext>
            </a:extLst>
          </p:cNvPr>
          <p:cNvSpPr>
            <a:spLocks xmlns:a="http://schemas.openxmlformats.org/drawingml/2006/main" noGrp="1"/>
          </p:cNvSpPr>
          <p:nvPr/>
        </p:nvSpPr>
        <p:spPr>
          <a:xfrm xmlns:a="http://schemas.openxmlformats.org/drawingml/2006/main">
            <a:off x="457200" y="26416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F3A8BA5E-8450-45D1-B36C-2B0D0143AC0C}"/>
              </a:ext>
            </a:extLst>
          </p:cNvPr>
          <p:cNvSpPr>
            <a:spLocks xmlns:a="http://schemas.openxmlformats.org/drawingml/2006/main" noGrp="1"/>
          </p:cNvSpPr>
          <p:nvPr/>
        </p:nvSpPr>
        <p:spPr>
          <a:xfrm xmlns:a="http://schemas.openxmlformats.org/drawingml/2006/main">
            <a:off x="457200" y="264160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5F51BF4-2913-4CFA-A7D7-F6BF3152AA4A}"/>
              </a:ext>
            </a:extLst>
          </p:cNvPr>
          <p:cNvSpPr>
            <a:spLocks xmlns:a="http://schemas.openxmlformats.org/drawingml/2006/main" noGrp="1"/>
          </p:cNvSpPr>
          <p:nvPr/>
        </p:nvSpPr>
        <p:spPr>
          <a:xfrm xmlns:a="http://schemas.openxmlformats.org/drawingml/2006/main">
            <a:off x="457200" y="26416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4E1C6C4-CD54-41E5-BA5D-1D62D6F04552}"/>
              </a:ext>
            </a:extLst>
          </p:cNvPr>
          <p:cNvSpPr>
            <a:spLocks xmlns:a="http://schemas.openxmlformats.org/drawingml/2006/main" noGrp="1"/>
          </p:cNvSpPr>
          <p:nvPr/>
        </p:nvSpPr>
        <p:spPr>
          <a:xfrm xmlns:a="http://schemas.openxmlformats.org/drawingml/2006/main">
            <a:off x="571500" y="27273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PRODUCT AND SERVICE</a:t>
            </a:r>
          </a:p>
        </p:txBody>
      </p:sp>
      <p:sp>
        <p:nvSpPr>
          <p:cNvPr id="22" name="">
            <a:extLst xmlns:a="http://schemas.openxmlformats.org/drawingml/2006/main">
              <a:ext uri="{FF2B5EF4-FFF2-40B4-BE49-F238E27FC236}">
                <a16:creationId xmlns:a16="http://schemas.microsoft.com/office/drawing/2014/main" id="{A5B65918-8889-4FA0-9E21-0C7BB95C0C8E}"/>
              </a:ext>
            </a:extLst>
          </p:cNvPr>
          <p:cNvSpPr>
            <a:spLocks xmlns:a="http://schemas.openxmlformats.org/drawingml/2006/main" noGrp="1"/>
          </p:cNvSpPr>
          <p:nvPr/>
        </p:nvSpPr>
        <p:spPr>
          <a:xfrm xmlns:a="http://schemas.openxmlformats.org/drawingml/2006/main">
            <a:off x="4067556" y="27178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Product and service proposition maps directly to harsh-condition retrofit and mine-manager liability workflow.</a:t>
            </a:r>
          </a:p>
        </p:txBody>
      </p:sp>
      <p:sp>
        <p:nvSpPr>
          <p:cNvPr id="23" name="">
            <a:extLst xmlns:a="http://schemas.openxmlformats.org/drawingml/2006/main">
              <a:ext uri="{FF2B5EF4-FFF2-40B4-BE49-F238E27FC236}">
                <a16:creationId xmlns:a16="http://schemas.microsoft.com/office/drawing/2014/main" id="{10BCFF64-AE57-4C57-BF1E-A5FC78EECCE5}"/>
              </a:ext>
            </a:extLst>
          </p:cNvPr>
          <p:cNvSpPr>
            <a:spLocks xmlns:a="http://schemas.openxmlformats.org/drawingml/2006/main" noGrp="1"/>
          </p:cNvSpPr>
          <p:nvPr/>
        </p:nvSpPr>
        <p:spPr>
          <a:xfrm xmlns:a="http://schemas.openxmlformats.org/drawingml/2006/main">
            <a:off x="9816084" y="27273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433CC7BF-C71E-42DB-A03E-0A8AEBA39C73}"/>
              </a:ext>
            </a:extLst>
          </p:cNvPr>
          <p:cNvSpPr>
            <a:spLocks xmlns:a="http://schemas.openxmlformats.org/drawingml/2006/main" noGrp="1"/>
          </p:cNvSpPr>
          <p:nvPr/>
        </p:nvSpPr>
        <p:spPr>
          <a:xfrm xmlns:a="http://schemas.openxmlformats.org/drawingml/2006/main">
            <a:off x="457200" y="34417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6A6A09E3-37CC-4DF7-8646-F28DEE424931}"/>
              </a:ext>
            </a:extLst>
          </p:cNvPr>
          <p:cNvSpPr>
            <a:spLocks xmlns:a="http://schemas.openxmlformats.org/drawingml/2006/main" noGrp="1"/>
          </p:cNvSpPr>
          <p:nvPr/>
        </p:nvSpPr>
        <p:spPr>
          <a:xfrm xmlns:a="http://schemas.openxmlformats.org/drawingml/2006/main">
            <a:off x="457200" y="34417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9B35E8A-473F-4C23-9ACA-4D3D0B587DB8}"/>
              </a:ext>
            </a:extLst>
          </p:cNvPr>
          <p:cNvSpPr>
            <a:spLocks xmlns:a="http://schemas.openxmlformats.org/drawingml/2006/main" noGrp="1"/>
          </p:cNvSpPr>
          <p:nvPr/>
        </p:nvSpPr>
        <p:spPr>
          <a:xfrm xmlns:a="http://schemas.openxmlformats.org/drawingml/2006/main">
            <a:off x="457200" y="34417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990AA83-167E-4584-B1DD-4774C3A464EF}"/>
              </a:ext>
            </a:extLst>
          </p:cNvPr>
          <p:cNvSpPr>
            <a:spLocks xmlns:a="http://schemas.openxmlformats.org/drawingml/2006/main" noGrp="1"/>
          </p:cNvSpPr>
          <p:nvPr/>
        </p:nvSpPr>
        <p:spPr>
          <a:xfrm xmlns:a="http://schemas.openxmlformats.org/drawingml/2006/main">
            <a:off x="571500" y="3527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PORTFOLIO IMPLICATION</a:t>
            </a:r>
          </a:p>
        </p:txBody>
      </p:sp>
      <p:sp>
        <p:nvSpPr>
          <p:cNvPr id="28" name="">
            <a:extLst xmlns:a="http://schemas.openxmlformats.org/drawingml/2006/main">
              <a:ext uri="{FF2B5EF4-FFF2-40B4-BE49-F238E27FC236}">
                <a16:creationId xmlns:a16="http://schemas.microsoft.com/office/drawing/2014/main" id="{72834034-CF03-4DF7-9E64-B53EF673D61F}"/>
              </a:ext>
            </a:extLst>
          </p:cNvPr>
          <p:cNvSpPr>
            <a:spLocks xmlns:a="http://schemas.openxmlformats.org/drawingml/2006/main" noGrp="1"/>
          </p:cNvSpPr>
          <p:nvPr/>
        </p:nvSpPr>
        <p:spPr>
          <a:xfrm xmlns:a="http://schemas.openxmlformats.org/drawingml/2006/main">
            <a:off x="4067556" y="35179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PORTFOLIO IMPLICATION · Practitioner: vehicle access and service beat chip ownership.</a:t>
            </a:r>
          </a:p>
        </p:txBody>
      </p:sp>
      <p:sp>
        <p:nvSpPr>
          <p:cNvPr id="29" name="">
            <a:extLst xmlns:a="http://schemas.openxmlformats.org/drawingml/2006/main">
              <a:ext uri="{FF2B5EF4-FFF2-40B4-BE49-F238E27FC236}">
                <a16:creationId xmlns:a16="http://schemas.microsoft.com/office/drawing/2014/main" id="{7F8BA2AD-2C3B-40B2-8707-B05E803956B1}"/>
              </a:ext>
            </a:extLst>
          </p:cNvPr>
          <p:cNvSpPr>
            <a:spLocks xmlns:a="http://schemas.openxmlformats.org/drawingml/2006/main" noGrp="1"/>
          </p:cNvSpPr>
          <p:nvPr/>
        </p:nvSpPr>
        <p:spPr>
          <a:xfrm xmlns:a="http://schemas.openxmlformats.org/drawingml/2006/main">
            <a:off x="9816084" y="3527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3A849039-6B0E-44B2-B3BA-25DAA7B59310}"/>
              </a:ext>
            </a:extLst>
          </p:cNvPr>
          <p:cNvSpPr>
            <a:spLocks xmlns:a="http://schemas.openxmlformats.org/drawingml/2006/main" noGrp="1"/>
          </p:cNvSpPr>
          <p:nvPr/>
        </p:nvSpPr>
        <p:spPr>
          <a:xfrm xmlns:a="http://schemas.openxmlformats.org/drawingml/2006/main">
            <a:off x="457200" y="42418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BB4FF27D-F0DA-4817-8EE2-F5444C5430F6}"/>
              </a:ext>
            </a:extLst>
          </p:cNvPr>
          <p:cNvSpPr>
            <a:spLocks xmlns:a="http://schemas.openxmlformats.org/drawingml/2006/main" noGrp="1"/>
          </p:cNvSpPr>
          <p:nvPr/>
        </p:nvSpPr>
        <p:spPr>
          <a:xfrm xmlns:a="http://schemas.openxmlformats.org/drawingml/2006/main">
            <a:off x="457200" y="42418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18DBB86-6E06-49BA-8BDC-0D4F83DE4C12}"/>
              </a:ext>
            </a:extLst>
          </p:cNvPr>
          <p:cNvSpPr>
            <a:spLocks xmlns:a="http://schemas.openxmlformats.org/drawingml/2006/main" noGrp="1"/>
          </p:cNvSpPr>
          <p:nvPr/>
        </p:nvSpPr>
        <p:spPr>
          <a:xfrm xmlns:a="http://schemas.openxmlformats.org/drawingml/2006/main">
            <a:off x="457200" y="4241800"/>
            <a:ext cx="28575" cy="733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37D9E60-9923-42B8-A1F4-F95809B30B57}"/>
              </a:ext>
            </a:extLst>
          </p:cNvPr>
          <p:cNvSpPr>
            <a:spLocks xmlns:a="http://schemas.openxmlformats.org/drawingml/2006/main" noGrp="1"/>
          </p:cNvSpPr>
          <p:nvPr/>
        </p:nvSpPr>
        <p:spPr>
          <a:xfrm xmlns:a="http://schemas.openxmlformats.org/drawingml/2006/main">
            <a:off x="571500" y="43275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VEHICLE FIELD EXPERIENCE AND</a:t>
            </a:r>
          </a:p>
        </p:txBody>
      </p:sp>
      <p:sp>
        <p:nvSpPr>
          <p:cNvPr id="34" name="">
            <a:extLst xmlns:a="http://schemas.openxmlformats.org/drawingml/2006/main">
              <a:ext uri="{FF2B5EF4-FFF2-40B4-BE49-F238E27FC236}">
                <a16:creationId xmlns:a16="http://schemas.microsoft.com/office/drawing/2014/main" id="{7B26338E-8307-403E-9450-F8CCB6013E8F}"/>
              </a:ext>
            </a:extLst>
          </p:cNvPr>
          <p:cNvSpPr>
            <a:spLocks xmlns:a="http://schemas.openxmlformats.org/drawingml/2006/main" noGrp="1"/>
          </p:cNvSpPr>
          <p:nvPr/>
        </p:nvSpPr>
        <p:spPr>
          <a:xfrm xmlns:a="http://schemas.openxmlformats.org/drawingml/2006/main">
            <a:off x="4067556" y="43180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Vehicle field experience and brake intervention help; no named production OEM programme or disclosed homologation dossier.</a:t>
            </a:r>
          </a:p>
        </p:txBody>
      </p:sp>
      <p:sp>
        <p:nvSpPr>
          <p:cNvPr id="35" name="">
            <a:extLst xmlns:a="http://schemas.openxmlformats.org/drawingml/2006/main">
              <a:ext uri="{FF2B5EF4-FFF2-40B4-BE49-F238E27FC236}">
                <a16:creationId xmlns:a16="http://schemas.microsoft.com/office/drawing/2014/main" id="{C685E0EC-6DE4-45F8-9891-2918F42E1AE2}"/>
              </a:ext>
            </a:extLst>
          </p:cNvPr>
          <p:cNvSpPr>
            <a:spLocks xmlns:a="http://schemas.openxmlformats.org/drawingml/2006/main" noGrp="1"/>
          </p:cNvSpPr>
          <p:nvPr/>
        </p:nvSpPr>
        <p:spPr>
          <a:xfrm xmlns:a="http://schemas.openxmlformats.org/drawingml/2006/main">
            <a:off x="9816084" y="43275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DCED0737-7AC8-48E5-95A0-6F41B2BCC38C}"/>
              </a:ext>
            </a:extLst>
          </p:cNvPr>
          <p:cNvSpPr>
            <a:spLocks xmlns:a="http://schemas.openxmlformats.org/drawingml/2006/main" noGrp="1"/>
          </p:cNvSpPr>
          <p:nvPr/>
        </p:nvSpPr>
        <p:spPr>
          <a:xfrm xmlns:a="http://schemas.openxmlformats.org/drawingml/2006/main">
            <a:off x="457200" y="508952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84C17A60-396E-4400-A137-A5BA730CC33F}"/>
              </a:ext>
            </a:extLst>
          </p:cNvPr>
          <p:cNvSpPr>
            <a:spLocks xmlns:a="http://schemas.openxmlformats.org/drawingml/2006/main" noGrp="1"/>
          </p:cNvSpPr>
          <p:nvPr/>
        </p:nvSpPr>
        <p:spPr>
          <a:xfrm xmlns:a="http://schemas.openxmlformats.org/drawingml/2006/main">
            <a:off x="457200" y="508952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210E734-499C-4C7C-8052-AD8105661FCB}"/>
              </a:ext>
            </a:extLst>
          </p:cNvPr>
          <p:cNvSpPr>
            <a:spLocks xmlns:a="http://schemas.openxmlformats.org/drawingml/2006/main" noGrp="1"/>
          </p:cNvSpPr>
          <p:nvPr/>
        </p:nvSpPr>
        <p:spPr>
          <a:xfrm xmlns:a="http://schemas.openxmlformats.org/drawingml/2006/main">
            <a:off x="581025" y="5156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9A3959C4-0756-41B6-9DD4-2C8BAD7EF511}"/>
              </a:ext>
            </a:extLst>
          </p:cNvPr>
          <p:cNvSpPr>
            <a:spLocks xmlns:a="http://schemas.openxmlformats.org/drawingml/2006/main" noGrp="1"/>
          </p:cNvSpPr>
          <p:nvPr/>
        </p:nvSpPr>
        <p:spPr>
          <a:xfrm xmlns:a="http://schemas.openxmlformats.org/drawingml/2006/main">
            <a:off x="581025" y="53054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measured camera-only performance meets the buyer's VRU and adverse-weather requirement without radar.</a:t>
            </a:r>
          </a:p>
        </p:txBody>
      </p:sp>
      <p:sp>
        <p:nvSpPr>
          <p:cNvPr id="40" name="">
            <a:extLst xmlns:a="http://schemas.openxmlformats.org/drawingml/2006/main">
              <a:ext uri="{FF2B5EF4-FFF2-40B4-BE49-F238E27FC236}">
                <a16:creationId xmlns:a16="http://schemas.microsoft.com/office/drawing/2014/main" id="{5D4DACDC-BCDE-4444-926C-5CD45111E7E6}"/>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C44323AD-7070-4D6A-9471-9709B6914A37}"/>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F446310B-4B27-4603-BCE5-C34E6E3A390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7F7780F5-A231-4A7A-8BB9-3B7D86763C2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Publish fusion-ready interface, confidence, and degradation specs</a:t>
            </a:r>
          </a:p>
        </p:txBody>
      </p:sp>
      <p:sp>
        <p:nvSpPr>
          <p:cNvPr id="44" name="">
            <a:extLst xmlns:a="http://schemas.openxmlformats.org/drawingml/2006/main">
              <a:ext uri="{FF2B5EF4-FFF2-40B4-BE49-F238E27FC236}">
                <a16:creationId xmlns:a16="http://schemas.microsoft.com/office/drawing/2014/main" id="{4737D1ED-033D-4CDB-B747-7437A3433867}"/>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E47B3722-C020-4D1E-BE10-EEFBA5BA84C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Interface spec approved by Eng; send to partners within 14 days</a:t>
            </a:r>
          </a:p>
        </p:txBody>
      </p:sp>
      <p:sp>
        <p:nvSpPr>
          <p:cNvPr id="46" name="">
            <a:extLst xmlns:a="http://schemas.openxmlformats.org/drawingml/2006/main">
              <a:ext uri="{FF2B5EF4-FFF2-40B4-BE49-F238E27FC236}">
                <a16:creationId xmlns:a16="http://schemas.microsoft.com/office/drawing/2014/main" id="{9D0D0B3F-53E3-46E2-B2C0-68F9F95F3A1E}"/>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0B12A44C-263F-49C7-B2DA-1DD3CA347D2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camera-only defensiveness in all customer-facing material.</a:t>
            </a:r>
          </a:p>
        </p:txBody>
      </p:sp>
      <p:sp>
        <p:nvSpPr>
          <p:cNvPr id="48" name="">
            <a:extLst xmlns:a="http://schemas.openxmlformats.org/drawingml/2006/main">
              <a:ext uri="{FF2B5EF4-FFF2-40B4-BE49-F238E27FC236}">
                <a16:creationId xmlns:a16="http://schemas.microsoft.com/office/drawing/2014/main" id="{6DB25873-642A-43EF-975C-EAB6E058513F}"/>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6BCE519D-2AB1-46FD-AB42-4A4EB53E425B}"/>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B3507288-39FB-422B-AC56-F7841F67621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98</a:t>
            </a:r>
          </a:p>
        </p:txBody>
      </p:sp>
    </p:spTree>
    <p:extLst>
      <p:ext uri="{BB962C8B-B14F-4D97-AF65-F5344CB8AC3E}">
        <p14:creationId xmlns:p14="http://schemas.microsoft.com/office/powerpoint/2010/main" val="304243689"/>
      </p:ext>
    </p:extLst>
  </p:cSld>
</p:sld>
</file>

<file path=ppt/slides/slide99.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59EBCCDA-4B0F-4130-A1EA-29030E4C0D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4F275AC-B44A-4DE8-995D-7F6F4EA947FA}"/>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8921ECD-097A-474E-9528-C2E89E9E0E0F}"/>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733DAED7-DC8E-48BA-825A-02E2B622644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271A1B04-79C1-469D-B0B0-A684D5CB1AB8}"/>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Adopt attach-and-prove: partner integration + paid pilots; gate ASIC capital</a:t>
            </a:r>
          </a:p>
        </p:txBody>
      </p:sp>
      <p:sp>
        <p:nvSpPr>
          <p:cNvPr id="6" name="">
            <a:extLst xmlns:a="http://schemas.openxmlformats.org/drawingml/2006/main">
              <a:ext uri="{FF2B5EF4-FFF2-40B4-BE49-F238E27FC236}">
                <a16:creationId xmlns:a16="http://schemas.microsoft.com/office/drawing/2014/main" id="{E3970F19-5D19-4AC0-BBA0-A0C4830FCEDF}"/>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9B4D82D-FA36-47B3-A5C6-A75D6823FADC}"/>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Which sequence can create commercial learning without implying complete AEBS ownership?</a:t>
            </a:r>
          </a:p>
        </p:txBody>
      </p:sp>
      <p:sp>
        <p:nvSpPr>
          <p:cNvPr id="8" name="">
            <a:extLst xmlns:a="http://schemas.openxmlformats.org/drawingml/2006/main">
              <a:ext uri="{FF2B5EF4-FFF2-40B4-BE49-F238E27FC236}">
                <a16:creationId xmlns:a16="http://schemas.microsoft.com/office/drawing/2014/main" id="{026DD38D-6A32-4CFB-B097-3C313668305E}"/>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ED73C038-D526-4982-AF12-C1517815D85B}"/>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07BA00F-3864-49E5-93B9-894CC718E931}"/>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82854F7B-8773-4B15-A5D2-ED89117AEF31}"/>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Attach to a braking or radar owner, prove with paid telemetry-rich pilots, and gate ASIC capital behind an accepted cost model. The three tracks generate commercial learning without implying AEBS ownership.</a:t>
            </a:r>
          </a:p>
        </p:txBody>
      </p:sp>
      <p:sp>
        <p:nvSpPr>
          <p:cNvPr id="12" name="">
            <a:extLst xmlns:a="http://schemas.openxmlformats.org/drawingml/2006/main">
              <a:ext uri="{FF2B5EF4-FFF2-40B4-BE49-F238E27FC236}">
                <a16:creationId xmlns:a16="http://schemas.microsoft.com/office/drawing/2014/main" id="{4AD65770-E46E-4051-8044-508C76D98FB8}"/>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3274B592-1354-4514-AA48-61A6C4048480}"/>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99E602B-A1F2-4E79-9EFE-69F152934D15}"/>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639BB9F6-011B-4327-A3F8-D1A7098C80D0}"/>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ATTACH TRACK</a:t>
            </a:r>
          </a:p>
        </p:txBody>
      </p:sp>
      <p:sp>
        <p:nvSpPr>
          <p:cNvPr id="16" name="">
            <a:extLst xmlns:a="http://schemas.openxmlformats.org/drawingml/2006/main">
              <a:ext uri="{FF2B5EF4-FFF2-40B4-BE49-F238E27FC236}">
                <a16:creationId xmlns:a16="http://schemas.microsoft.com/office/drawing/2014/main" id="{431A2928-CAF7-4572-B5AF-2AB4922431BB}"/>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Integrate DGS001 into a braking/radar owner's architecture with documented interfaces, diagnostics, and safety assumptions. Document interfaces &amp; diagnostics Latency/power evidence Safety a…</a:t>
            </a:r>
          </a:p>
        </p:txBody>
      </p:sp>
      <p:sp>
        <p:nvSpPr>
          <p:cNvPr id="17" name="">
            <a:extLst xmlns:a="http://schemas.openxmlformats.org/drawingml/2006/main">
              <a:ext uri="{FF2B5EF4-FFF2-40B4-BE49-F238E27FC236}">
                <a16:creationId xmlns:a16="http://schemas.microsoft.com/office/drawing/2014/main" id="{2BAF77BA-7C9C-467F-83DC-44BAD36D4CED}"/>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5E16EE2-EFEE-4F65-A5E7-9013183C5E31}"/>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E0F95DD7-9915-4D8B-9B50-0AC82F8A2B55}"/>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7E21487-CCEB-4347-B10D-DED2D706A9FB}"/>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7AAECFE6-D104-4C14-B200-DD6E301BAB2F}"/>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PROOF TRACK</a:t>
            </a:r>
          </a:p>
        </p:txBody>
      </p:sp>
      <p:sp>
        <p:nvSpPr>
          <p:cNvPr id="22" name="">
            <a:extLst xmlns:a="http://schemas.openxmlformats.org/drawingml/2006/main">
              <a:ext uri="{FF2B5EF4-FFF2-40B4-BE49-F238E27FC236}">
                <a16:creationId xmlns:a16="http://schemas.microsoft.com/office/drawing/2014/main" id="{3967B9A5-26E2-44E6-96FF-FA120FD563BF}"/>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Use paid fleet or mining pilots to generate India-specific nuisance-event corpus and validation data. Paid fleet pilots Mining scenario data Telemetry-rich validation</a:t>
            </a:r>
          </a:p>
        </p:txBody>
      </p:sp>
      <p:sp>
        <p:nvSpPr>
          <p:cNvPr id="23" name="">
            <a:extLst xmlns:a="http://schemas.openxmlformats.org/drawingml/2006/main">
              <a:ext uri="{FF2B5EF4-FFF2-40B4-BE49-F238E27FC236}">
                <a16:creationId xmlns:a16="http://schemas.microsoft.com/office/drawing/2014/main" id="{7CB6B90F-1823-4C19-A1FC-A65B1FC06F81}"/>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55601B9-EE39-451A-A8D4-D85A82C80333}"/>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AFF0C356-45BD-4FE7-9766-A02328891619}"/>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C2E9EF3-67DA-47A7-9DF5-DE5F6386C6D9}"/>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A3C5B702-4180-46AB-8EED-5757D6EC6AC3}"/>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CAPITAL TRACK</a:t>
            </a:r>
          </a:p>
        </p:txBody>
      </p:sp>
      <p:sp>
        <p:nvSpPr>
          <p:cNvPr id="28" name="">
            <a:extLst xmlns:a="http://schemas.openxmlformats.org/drawingml/2006/main">
              <a:ext uri="{FF2B5EF4-FFF2-40B4-BE49-F238E27FC236}">
                <a16:creationId xmlns:a16="http://schemas.microsoft.com/office/drawing/2014/main" id="{B894461A-7184-46C8-8B30-AA807477BC6A}"/>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Continue ASIC work only against explicit cost and qualification gates; no premature tapeout. Cost modeling Qualification gates Volume assumptions</a:t>
            </a:r>
          </a:p>
        </p:txBody>
      </p:sp>
      <p:sp>
        <p:nvSpPr>
          <p:cNvPr id="29" name="">
            <a:extLst xmlns:a="http://schemas.openxmlformats.org/drawingml/2006/main">
              <a:ext uri="{FF2B5EF4-FFF2-40B4-BE49-F238E27FC236}">
                <a16:creationId xmlns:a16="http://schemas.microsoft.com/office/drawing/2014/main" id="{C9AE5080-E5E6-41BB-BA0C-590274DBF338}"/>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AA78EC4-22C7-4EFB-BF12-07BCE093593A}"/>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F23843C3-2C50-4037-BAA2-449728BED34F}"/>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9668CBE-0C48-4D05-B652-B5D6B5D753D2}"/>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A41F4DE1-99A6-49A3-9934-C3A5B5A59021}"/>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53194DF0-1053-4A04-B274-01DD0DC2B49C}"/>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Continue when one partner accepts integration review, one paid pilot signs, and one benchmark validates. Integration review Paid pilot signed Benchmark validated</a:t>
            </a:r>
          </a:p>
        </p:txBody>
      </p:sp>
      <p:sp>
        <p:nvSpPr>
          <p:cNvPr id="35" name="">
            <a:extLst xmlns:a="http://schemas.openxmlformats.org/drawingml/2006/main">
              <a:ext uri="{FF2B5EF4-FFF2-40B4-BE49-F238E27FC236}">
                <a16:creationId xmlns:a16="http://schemas.microsoft.com/office/drawing/2014/main" id="{6D21EB82-9F6B-49E7-BE29-F9E9959E2E56}"/>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9865390B-F878-494A-8371-16C0A62EFE77}"/>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C9248F4-F202-4218-AD16-A9FC08DFBCAF}"/>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BCFF4ACE-24E1-4017-8859-DE4B9C4A10F5}"/>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Attachment buys access, pilots buy evidence, and the capital gate stops the company converting an unproven cost story into an irreversible spend. Run in sequence, each track de-risks the next.</a:t>
            </a:r>
          </a:p>
        </p:txBody>
      </p:sp>
      <p:sp>
        <p:nvSpPr>
          <p:cNvPr id="39" name="">
            <a:extLst xmlns:a="http://schemas.openxmlformats.org/drawingml/2006/main">
              <a:ext uri="{FF2B5EF4-FFF2-40B4-BE49-F238E27FC236}">
                <a16:creationId xmlns:a16="http://schemas.microsoft.com/office/drawing/2014/main" id="{E032737B-08A8-456A-AE5E-E66ECE6C3141}"/>
              </a:ext>
            </a:extLst>
          </p:cNvPr>
          <p:cNvSpPr>
            <a:spLocks xmlns:a="http://schemas.openxmlformats.org/drawingml/2006/main" noGrp="1"/>
          </p:cNvSpPr>
          <p:nvPr/>
        </p:nvSpPr>
        <p:spPr>
          <a:xfrm xmlns:a="http://schemas.openxmlformats.org/drawingml/2006/main">
            <a:off x="6153150" y="472757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9ABD239F-576F-4AA8-B2FB-9C44C3E0691C}"/>
              </a:ext>
            </a:extLst>
          </p:cNvPr>
          <p:cNvSpPr>
            <a:spLocks xmlns:a="http://schemas.openxmlformats.org/drawingml/2006/main" noGrp="1"/>
          </p:cNvSpPr>
          <p:nvPr/>
        </p:nvSpPr>
        <p:spPr>
          <a:xfrm xmlns:a="http://schemas.openxmlformats.org/drawingml/2006/main">
            <a:off x="6153150" y="472757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389E80C-50D0-4A86-ADAC-2DED879B8740}"/>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F83F4E4A-E337-4270-8E25-0DC7582B51A3}"/>
              </a:ext>
            </a:extLst>
          </p:cNvPr>
          <p:cNvSpPr>
            <a:spLocks xmlns:a="http://schemas.openxmlformats.org/drawingml/2006/main" noGrp="1"/>
          </p:cNvSpPr>
          <p:nvPr/>
        </p:nvSpPr>
        <p:spPr>
          <a:xfrm xmlns:a="http://schemas.openxmlformats.org/drawingml/2006/main">
            <a:off x="6276975" y="494347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Prohibit ASIC spend until the break-even model is accepted.</a:t>
            </a:r>
          </a:p>
        </p:txBody>
      </p:sp>
      <p:sp>
        <p:nvSpPr>
          <p:cNvPr id="43" name="">
            <a:extLst xmlns:a="http://schemas.openxmlformats.org/drawingml/2006/main">
              <a:ext uri="{FF2B5EF4-FFF2-40B4-BE49-F238E27FC236}">
                <a16:creationId xmlns:a16="http://schemas.microsoft.com/office/drawing/2014/main" id="{BE8FAC8D-C5AA-4BE6-BD08-29867AA5A909}"/>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58BFFE6-5D58-4D55-B1CE-BA9DA59FB3F7}"/>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7F86A532-07F9-46C7-9846-74695A2E3F6C}"/>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56C34318-D7F4-4B9D-9C7C-26331AF48E7F}"/>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Approve attach-and-prove subject to gated capital; launch outreach</a:t>
            </a:r>
          </a:p>
        </p:txBody>
      </p:sp>
      <p:sp>
        <p:nvSpPr>
          <p:cNvPr id="47" name="">
            <a:extLst xmlns:a="http://schemas.openxmlformats.org/drawingml/2006/main">
              <a:ext uri="{FF2B5EF4-FFF2-40B4-BE49-F238E27FC236}">
                <a16:creationId xmlns:a16="http://schemas.microsoft.com/office/drawing/2014/main" id="{D55CA10A-1218-47BF-81A4-8E8A75174F90}"/>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8A8E5A73-5134-40F5-BF6E-8785F2141CA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a:t>
            </a:r>
          </a:p>
          <a:p xmlns:a="http://schemas.openxmlformats.org/drawingml/2006/main">
            <a:pPr algn="l">
              <a:defRPr sz="800">
                <a:solidFill>
                  <a:srgbClr val="8EA0B2"/>
                </a:solidFill>
                <a:latin typeface="Arial"/>
                <a:ea typeface="Arial"/>
                <a:cs typeface="Arial"/>
              </a:defRPr>
            </a:pPr>
            <a:r>
              <a:t>Trigger · Continue when one partner accepts review and one pilot signs</a:t>
            </a:r>
          </a:p>
        </p:txBody>
      </p:sp>
      <p:sp>
        <p:nvSpPr>
          <p:cNvPr id="49" name="">
            <a:extLst xmlns:a="http://schemas.openxmlformats.org/drawingml/2006/main">
              <a:ext uri="{FF2B5EF4-FFF2-40B4-BE49-F238E27FC236}">
                <a16:creationId xmlns:a16="http://schemas.microsoft.com/office/drawing/2014/main" id="{73A8C935-C11A-4494-BF27-E4210308DB88}"/>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577516CB-06BC-4FF2-A4C1-025372BDB9FA}"/>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Prohibit ASIC spend until the break-even model is accepted.</a:t>
            </a:r>
          </a:p>
        </p:txBody>
      </p:sp>
      <p:sp>
        <p:nvSpPr>
          <p:cNvPr id="51" name="">
            <a:extLst xmlns:a="http://schemas.openxmlformats.org/drawingml/2006/main">
              <a:ext uri="{FF2B5EF4-FFF2-40B4-BE49-F238E27FC236}">
                <a16:creationId xmlns:a16="http://schemas.microsoft.com/office/drawing/2014/main" id="{15B9BCA3-F702-4B11-B809-D9B9111355B5}"/>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671F1DE9-2479-412B-B2E1-1F709CC30B5E}"/>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112D0CFB-7A58-4CE2-9A73-A17B958F5FEB}"/>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99</a:t>
            </a:r>
          </a:p>
        </p:txBody>
      </p:sp>
    </p:spTree>
    <p:extLst>
      <p:ext uri="{BB962C8B-B14F-4D97-AF65-F5344CB8AC3E}">
        <p14:creationId xmlns:p14="http://schemas.microsoft.com/office/powerpoint/2010/main" val="1782515264"/>
      </p:ext>
    </p:extLst>
  </p:cSld>
</p:sld>
</file>

<file path=ppt/slides/slide100.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53E5BC8B-F894-4247-B21F-FD32E466C50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0135223-5E76-41C0-A7EA-1613F19AC5F5}"/>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00D2A59-9575-4A69-8AC6-D4D7618A3D3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53B036C6-389C-4AE3-97E1-BD73BABA30E5}"/>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4DEEA2E1-F5EB-44D1-B17C-E02D504AA680}"/>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Pause feature expansion because proof deficit is the binding constraint</a:t>
            </a:r>
          </a:p>
        </p:txBody>
      </p:sp>
      <p:sp>
        <p:nvSpPr>
          <p:cNvPr id="6" name="">
            <a:extLst xmlns:a="http://schemas.openxmlformats.org/drawingml/2006/main">
              <a:ext uri="{FF2B5EF4-FFF2-40B4-BE49-F238E27FC236}">
                <a16:creationId xmlns:a16="http://schemas.microsoft.com/office/drawing/2014/main" id="{E26197C5-486D-446A-8681-97BDDA675169}"/>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28AA413-0814-4AAC-B560-8AC7B8AEDBD0}"/>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Where is execution risk concentrated, and what should the board govern now?</a:t>
            </a:r>
          </a:p>
        </p:txBody>
      </p:sp>
      <p:sp>
        <p:nvSpPr>
          <p:cNvPr id="8" name="">
            <a:extLst xmlns:a="http://schemas.openxmlformats.org/drawingml/2006/main">
              <a:ext uri="{FF2B5EF4-FFF2-40B4-BE49-F238E27FC236}">
                <a16:creationId xmlns:a16="http://schemas.microsoft.com/office/drawing/2014/main" id="{2C4FAB0B-D507-4521-B2C4-7CA3972210A6}"/>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5F555D34-FF25-4BD2-95F0-EEB646AD092C}"/>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B6DF568-AE92-4409-BB70-E96B168FE53D}"/>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2BE1E3D7-AA22-4A8B-9348-A2054C878ADC}"/>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Execution risk is concentrated in four gates — field proof, safety assurance, integration readiness and commercial evidence. Until those clear, additional features add surface area without adding proof.</a:t>
            </a:r>
          </a:p>
        </p:txBody>
      </p:sp>
      <p:sp>
        <p:nvSpPr>
          <p:cNvPr id="12" name="">
            <a:extLst xmlns:a="http://schemas.openxmlformats.org/drawingml/2006/main">
              <a:ext uri="{FF2B5EF4-FFF2-40B4-BE49-F238E27FC236}">
                <a16:creationId xmlns:a16="http://schemas.microsoft.com/office/drawing/2014/main" id="{A4B4625F-C0FF-47EA-9D99-72A9596FCF5E}"/>
              </a:ext>
            </a:extLst>
          </p:cNvPr>
          <p:cNvSpPr>
            <a:spLocks xmlns:a="http://schemas.openxmlformats.org/drawingml/2006/main" noGrp="1"/>
          </p:cNvSpPr>
          <p:nvPr/>
        </p:nvSpPr>
        <p:spPr>
          <a:xfrm xmlns:a="http://schemas.openxmlformats.org/drawingml/2006/main">
            <a:off x="4572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46B375E5-A1F3-4E31-AED3-1560A5ED2CEE}"/>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C050F39-07EA-4107-A5A8-E8B6722B0864}"/>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15047771-03F0-48A0-A3B8-D4DA8413BE67}"/>
              </a:ext>
            </a:extLst>
          </p:cNvPr>
          <p:cNvSpPr>
            <a:spLocks xmlns:a="http://schemas.openxmlformats.org/drawingml/2006/main" noGrp="1"/>
          </p:cNvSpPr>
          <p:nvPr/>
        </p:nvSpPr>
        <p:spPr>
          <a:xfrm xmlns:a="http://schemas.openxmlformats.org/drawingml/2006/main">
            <a:off x="5715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Execution risk is concentrated in four gates — field proof, safety assurance, integration readiness and commercial evidence. Until those clear, additional features add surface area without adding proof.</a:t>
            </a:r>
          </a:p>
        </p:txBody>
      </p:sp>
      <p:sp>
        <p:nvSpPr>
          <p:cNvPr id="16" name="">
            <a:extLst xmlns:a="http://schemas.openxmlformats.org/drawingml/2006/main">
              <a:ext uri="{FF2B5EF4-FFF2-40B4-BE49-F238E27FC236}">
                <a16:creationId xmlns:a16="http://schemas.microsoft.com/office/drawing/2014/main" id="{7A2EF121-E457-45C1-A2D2-10542D2E2ABF}"/>
              </a:ext>
            </a:extLst>
          </p:cNvPr>
          <p:cNvSpPr>
            <a:spLocks xmlns:a="http://schemas.openxmlformats.org/drawingml/2006/main" noGrp="1"/>
          </p:cNvSpPr>
          <p:nvPr/>
        </p:nvSpPr>
        <p:spPr>
          <a:xfrm xmlns:a="http://schemas.openxmlformats.org/drawingml/2006/main">
            <a:off x="424815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9386A5CF-5219-4D68-B385-28FF7CDF6830}"/>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6C0B678-79FE-4366-90A8-224736962DEC}"/>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894E2271-C3E1-4BD9-85F1-E5C641E0C1C8}"/>
              </a:ext>
            </a:extLst>
          </p:cNvPr>
          <p:cNvSpPr>
            <a:spLocks xmlns:a="http://schemas.openxmlformats.org/drawingml/2006/main" noGrp="1"/>
          </p:cNvSpPr>
          <p:nvPr/>
        </p:nvSpPr>
        <p:spPr>
          <a:xfrm xmlns:a="http://schemas.openxmlformats.org/drawingml/2006/main">
            <a:off x="436245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Pausing feature expansion can cost competitive position if a rival ships a capability that becomes the buyer's deciding criterion during the pause.</a:t>
            </a:r>
          </a:p>
        </p:txBody>
      </p:sp>
      <p:sp>
        <p:nvSpPr>
          <p:cNvPr id="20" name="">
            <a:extLst xmlns:a="http://schemas.openxmlformats.org/drawingml/2006/main">
              <a:ext uri="{FF2B5EF4-FFF2-40B4-BE49-F238E27FC236}">
                <a16:creationId xmlns:a16="http://schemas.microsoft.com/office/drawing/2014/main" id="{AF15DAAF-E468-47EE-8A72-F38F95630D27}"/>
              </a:ext>
            </a:extLst>
          </p:cNvPr>
          <p:cNvSpPr>
            <a:spLocks xmlns:a="http://schemas.openxmlformats.org/drawingml/2006/main" noGrp="1"/>
          </p:cNvSpPr>
          <p:nvPr/>
        </p:nvSpPr>
        <p:spPr>
          <a:xfrm xmlns:a="http://schemas.openxmlformats.org/drawingml/2006/main">
            <a:off x="80391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8E7AD393-F1BF-49D0-B2D2-41DD75357D14}"/>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C2D7BA9-E8EA-4E48-A452-B380AEF44C93}"/>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B3C2BFF0-96C2-463A-881A-11506F5A21B4}"/>
              </a:ext>
            </a:extLst>
          </p:cNvPr>
          <p:cNvSpPr>
            <a:spLocks xmlns:a="http://schemas.openxmlformats.org/drawingml/2006/main" noGrp="1"/>
          </p:cNvSpPr>
          <p:nvPr/>
        </p:nvSpPr>
        <p:spPr>
          <a:xfrm xmlns:a="http://schemas.openxmlformats.org/drawingml/2006/main">
            <a:off x="81534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Risk Concentration Execution risk concentrated in field proof, safety assurance, integration readiness</a:t>
            </a:r>
          </a:p>
        </p:txBody>
      </p:sp>
      <p:sp>
        <p:nvSpPr>
          <p:cNvPr id="24" name="">
            <a:extLst xmlns:a="http://schemas.openxmlformats.org/drawingml/2006/main">
              <a:ext uri="{FF2B5EF4-FFF2-40B4-BE49-F238E27FC236}">
                <a16:creationId xmlns:a16="http://schemas.microsoft.com/office/drawing/2014/main" id="{8F30820F-2023-40BF-BE96-0A1FA51AF65D}"/>
              </a:ext>
            </a:extLst>
          </p:cNvPr>
          <p:cNvSpPr>
            <a:spLocks xmlns:a="http://schemas.openxmlformats.org/drawingml/2006/main" noGrp="1"/>
          </p:cNvSpPr>
          <p:nvPr/>
        </p:nvSpPr>
        <p:spPr>
          <a:xfrm xmlns:a="http://schemas.openxmlformats.org/drawingml/2006/main">
            <a:off x="457200" y="464185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C6BE1B10-8AA3-47AB-99A4-956DB6D99038}"/>
              </a:ext>
            </a:extLst>
          </p:cNvPr>
          <p:cNvSpPr>
            <a:spLocks xmlns:a="http://schemas.openxmlformats.org/drawingml/2006/main" noGrp="1"/>
          </p:cNvSpPr>
          <p:nvPr/>
        </p:nvSpPr>
        <p:spPr>
          <a:xfrm xmlns:a="http://schemas.openxmlformats.org/drawingml/2006/main">
            <a:off x="457200" y="464185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90A794B-9DB4-4EA0-9FC0-387C9706033C}"/>
              </a:ext>
            </a:extLst>
          </p:cNvPr>
          <p:cNvSpPr>
            <a:spLocks xmlns:a="http://schemas.openxmlformats.org/drawingml/2006/main" noGrp="1"/>
          </p:cNvSpPr>
          <p:nvPr/>
        </p:nvSpPr>
        <p:spPr>
          <a:xfrm xmlns:a="http://schemas.openxmlformats.org/drawingml/2006/main">
            <a:off x="581025" y="47085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B1768022-6F5A-401F-9966-BEAE45F73C51}"/>
              </a:ext>
            </a:extLst>
          </p:cNvPr>
          <p:cNvSpPr>
            <a:spLocks xmlns:a="http://schemas.openxmlformats.org/drawingml/2006/main" noGrp="1"/>
          </p:cNvSpPr>
          <p:nvPr/>
        </p:nvSpPr>
        <p:spPr>
          <a:xfrm xmlns:a="http://schemas.openxmlformats.org/drawingml/2006/main">
            <a:off x="581025" y="48577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buyer's selection turns on a feature DeepGrid deliberately chose not to build.</a:t>
            </a:r>
          </a:p>
        </p:txBody>
      </p:sp>
      <p:sp>
        <p:nvSpPr>
          <p:cNvPr id="28" name="">
            <a:extLst xmlns:a="http://schemas.openxmlformats.org/drawingml/2006/main">
              <a:ext uri="{FF2B5EF4-FFF2-40B4-BE49-F238E27FC236}">
                <a16:creationId xmlns:a16="http://schemas.microsoft.com/office/drawing/2014/main" id="{CEE0F23D-8248-4DDC-9513-B87CB8B72113}"/>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63978C1-61A8-4D45-97B3-D045D03C7412}"/>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0AB7CD5-A5B9-47E9-AFC0-8900C43F53A2}"/>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695CFB5B-4067-47E5-BA3C-42A0048C6B9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Pause feature expansion and release engineering capacity to the four gates.</a:t>
            </a:r>
          </a:p>
        </p:txBody>
      </p:sp>
      <p:sp>
        <p:nvSpPr>
          <p:cNvPr id="32" name="">
            <a:extLst xmlns:a="http://schemas.openxmlformats.org/drawingml/2006/main">
              <a:ext uri="{FF2B5EF4-FFF2-40B4-BE49-F238E27FC236}">
                <a16:creationId xmlns:a16="http://schemas.microsoft.com/office/drawing/2014/main" id="{582C8D7F-08B2-4544-9DB9-CA54BA70A0D3}"/>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808350F3-8F9D-4697-AA4D-5D1BEF4712D7}"/>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 with CEO</a:t>
            </a:r>
          </a:p>
          <a:p xmlns:a="http://schemas.openxmlformats.org/drawingml/2006/main">
            <a:pPr algn="l">
              <a:defRPr sz="800">
                <a:solidFill>
                  <a:srgbClr val="8EA0B2"/>
                </a:solidFill>
                <a:latin typeface="Arial"/>
                <a:ea typeface="Arial"/>
                <a:cs typeface="Arial"/>
              </a:defRPr>
            </a:pPr>
            <a:r>
              <a:t>Trigger · Board governs on gate status at each 90-day review.</a:t>
            </a:r>
          </a:p>
        </p:txBody>
      </p:sp>
      <p:sp>
        <p:nvSpPr>
          <p:cNvPr id="34" name="">
            <a:extLst xmlns:a="http://schemas.openxmlformats.org/drawingml/2006/main">
              <a:ext uri="{FF2B5EF4-FFF2-40B4-BE49-F238E27FC236}">
                <a16:creationId xmlns:a16="http://schemas.microsoft.com/office/drawing/2014/main" id="{94437626-C788-467F-8CB3-1B107A64DAA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AE4D27B7-4B22-4C4B-ADF9-2912F81E6A1A}"/>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any gate remains open after two review cycles.</a:t>
            </a:r>
          </a:p>
        </p:txBody>
      </p:sp>
      <p:sp>
        <p:nvSpPr>
          <p:cNvPr id="36" name="">
            <a:extLst xmlns:a="http://schemas.openxmlformats.org/drawingml/2006/main">
              <a:ext uri="{FF2B5EF4-FFF2-40B4-BE49-F238E27FC236}">
                <a16:creationId xmlns:a16="http://schemas.microsoft.com/office/drawing/2014/main" id="{BF4F8D7D-9AEA-4F79-B748-076617C5BAA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D52ECA2-E0BA-4309-8136-80D8C427F52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BBCC6E51-1AC6-4D6E-B783-58AD190C7AF2}"/>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100</a:t>
            </a:r>
          </a:p>
        </p:txBody>
      </p:sp>
    </p:spTree>
    <p:extLst>
      <p:ext uri="{BB962C8B-B14F-4D97-AF65-F5344CB8AC3E}">
        <p14:creationId xmlns:p14="http://schemas.microsoft.com/office/powerpoint/2010/main" val="1219592032"/>
      </p:ext>
    </p:extLst>
  </p:cSld>
</p:sld>
</file>

<file path=ppt/slides/slide101.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2C9F8063-569E-4E2A-8558-60C087E52EC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455676-C62C-4D85-A234-3AB42C2FDCFF}"/>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34B4E3C-62CC-4716-8E24-29999A4F7C6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77E6DDB9-D850-421D-9A22-8062AE1E4216}"/>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33AEA948-8323-49E1-8DA0-7DB31E226D20}"/>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Five-field certification claim control prevents overstatement</a:t>
            </a:r>
          </a:p>
        </p:txBody>
      </p:sp>
      <p:sp>
        <p:nvSpPr>
          <p:cNvPr id="6" name="">
            <a:extLst xmlns:a="http://schemas.openxmlformats.org/drawingml/2006/main">
              <a:ext uri="{FF2B5EF4-FFF2-40B4-BE49-F238E27FC236}">
                <a16:creationId xmlns:a16="http://schemas.microsoft.com/office/drawing/2014/main" id="{6FDC88E2-7939-4C2A-8AFB-245C42AD0DD6}"/>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B9DD18A-9F0B-4921-93AB-68ECBB2F99EB}"/>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control prevents certification language from overstating product or vehicle qualifications?</a:t>
            </a:r>
          </a:p>
        </p:txBody>
      </p:sp>
      <p:sp>
        <p:nvSpPr>
          <p:cNvPr id="8" name="">
            <a:extLst xmlns:a="http://schemas.openxmlformats.org/drawingml/2006/main">
              <a:ext uri="{FF2B5EF4-FFF2-40B4-BE49-F238E27FC236}">
                <a16:creationId xmlns:a16="http://schemas.microsoft.com/office/drawing/2014/main" id="{4666DDB8-3050-4256-8F59-872E6368015E}"/>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57C27559-C370-4DB1-8C25-A0FB67EA5AAA}"/>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429BC06-02E5-4499-836C-BF1449786F80}"/>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A022D45B-2868-472B-9335-9FAACFB418CF}"/>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Every certification statement must carry five fields: certificate owner, scope, report number, configuration and validity date. Without them AEC-Q100, ISO 26262 and AIS-162 collapse into a single claim the product cannot support.</a:t>
            </a:r>
          </a:p>
        </p:txBody>
      </p:sp>
      <p:sp>
        <p:nvSpPr>
          <p:cNvPr id="12" name="">
            <a:extLst xmlns:a="http://schemas.openxmlformats.org/drawingml/2006/main">
              <a:ext uri="{FF2B5EF4-FFF2-40B4-BE49-F238E27FC236}">
                <a16:creationId xmlns:a16="http://schemas.microsoft.com/office/drawing/2014/main" id="{9CFA548A-8C9F-49D1-9009-F2FBDB15CFF9}"/>
              </a:ext>
            </a:extLst>
          </p:cNvPr>
          <p:cNvSpPr>
            <a:spLocks xmlns:a="http://schemas.openxmlformats.org/drawingml/2006/main" noGrp="1"/>
          </p:cNvSpPr>
          <p:nvPr/>
        </p:nvSpPr>
        <p:spPr>
          <a:xfrm xmlns:a="http://schemas.openxmlformats.org/drawingml/2006/main">
            <a:off x="457200" y="18415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04AE3148-728D-45FE-B4F4-ADF73D8EC427}"/>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DC3B8DD-4E9D-4556-9481-6BD275ED9B86}"/>
              </a:ext>
            </a:extLst>
          </p:cNvPr>
          <p:cNvSpPr>
            <a:spLocks xmlns:a="http://schemas.openxmlformats.org/drawingml/2006/main" noGrp="1"/>
          </p:cNvSpPr>
          <p:nvPr/>
        </p:nvSpPr>
        <p:spPr>
          <a:xfrm xmlns:a="http://schemas.openxmlformats.org/drawingml/2006/main">
            <a:off x="457200" y="18415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FA190E3-D0F5-420A-8603-59481E6D1469}"/>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REQUEST THE TI PART/GRADE</a:t>
            </a:r>
          </a:p>
        </p:txBody>
      </p:sp>
      <p:sp>
        <p:nvSpPr>
          <p:cNvPr id="16" name="">
            <a:extLst xmlns:a="http://schemas.openxmlformats.org/drawingml/2006/main">
              <a:ext uri="{FF2B5EF4-FFF2-40B4-BE49-F238E27FC236}">
                <a16:creationId xmlns:a16="http://schemas.microsoft.com/office/drawing/2014/main" id="{A562AF48-4E3B-48C5-9089-A23C34852439}"/>
              </a:ext>
            </a:extLst>
          </p:cNvPr>
          <p:cNvSpPr>
            <a:spLocks xmlns:a="http://schemas.openxmlformats.org/drawingml/2006/main" noGrp="1"/>
          </p:cNvSpPr>
          <p:nvPr/>
        </p:nvSpPr>
        <p:spPr>
          <a:xfrm xmlns:a="http://schemas.openxmlformats.org/drawingml/2006/main">
            <a:off x="4067556" y="19177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Request the TI part/grade and qualification record, safety plan/ASIL allocation, assessor, TRL assessment method, OEM programme owner, test vehicle,…</a:t>
            </a:r>
          </a:p>
        </p:txBody>
      </p:sp>
      <p:sp>
        <p:nvSpPr>
          <p:cNvPr id="17" name="">
            <a:extLst xmlns:a="http://schemas.openxmlformats.org/drawingml/2006/main">
              <a:ext uri="{FF2B5EF4-FFF2-40B4-BE49-F238E27FC236}">
                <a16:creationId xmlns:a16="http://schemas.microsoft.com/office/drawing/2014/main" id="{A669AE0C-D91F-4E3C-880F-FA27B5802FEF}"/>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79CC8DAB-4A5B-4EFA-B5A7-7333EF8D1CA5}"/>
              </a:ext>
            </a:extLst>
          </p:cNvPr>
          <p:cNvSpPr>
            <a:spLocks xmlns:a="http://schemas.openxmlformats.org/drawingml/2006/main" noGrp="1"/>
          </p:cNvSpPr>
          <p:nvPr/>
        </p:nvSpPr>
        <p:spPr>
          <a:xfrm xmlns:a="http://schemas.openxmlformats.org/drawingml/2006/main">
            <a:off x="457200" y="26416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B70F452F-186E-4D87-A619-99B0648E5DE7}"/>
              </a:ext>
            </a:extLst>
          </p:cNvPr>
          <p:cNvSpPr>
            <a:spLocks xmlns:a="http://schemas.openxmlformats.org/drawingml/2006/main" noGrp="1"/>
          </p:cNvSpPr>
          <p:nvPr/>
        </p:nvSpPr>
        <p:spPr>
          <a:xfrm xmlns:a="http://schemas.openxmlformats.org/drawingml/2006/main">
            <a:off x="457200" y="264160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77B9C4B-C8FC-4AD6-9344-1AB8593F9479}"/>
              </a:ext>
            </a:extLst>
          </p:cNvPr>
          <p:cNvSpPr>
            <a:spLocks xmlns:a="http://schemas.openxmlformats.org/drawingml/2006/main" noGrp="1"/>
          </p:cNvSpPr>
          <p:nvPr/>
        </p:nvSpPr>
        <p:spPr>
          <a:xfrm xmlns:a="http://schemas.openxmlformats.org/drawingml/2006/main">
            <a:off x="457200" y="26416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DDE4B9D-91CC-4BBA-BDB3-9D837D56DE09}"/>
              </a:ext>
            </a:extLst>
          </p:cNvPr>
          <p:cNvSpPr>
            <a:spLocks xmlns:a="http://schemas.openxmlformats.org/drawingml/2006/main" noGrp="1"/>
          </p:cNvSpPr>
          <p:nvPr/>
        </p:nvSpPr>
        <p:spPr>
          <a:xfrm xmlns:a="http://schemas.openxmlformats.org/drawingml/2006/main">
            <a:off x="571500" y="27273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IF ITS AUTOMOTIVE</a:t>
            </a:r>
          </a:p>
        </p:txBody>
      </p:sp>
      <p:sp>
        <p:nvSpPr>
          <p:cNvPr id="22" name="">
            <a:extLst xmlns:a="http://schemas.openxmlformats.org/drawingml/2006/main">
              <a:ext uri="{FF2B5EF4-FFF2-40B4-BE49-F238E27FC236}">
                <a16:creationId xmlns:a16="http://schemas.microsoft.com/office/drawing/2014/main" id="{23397513-DFF9-4667-B7DC-F647DD26F1A5}"/>
              </a:ext>
            </a:extLst>
          </p:cNvPr>
          <p:cNvSpPr>
            <a:spLocks xmlns:a="http://schemas.openxmlformats.org/drawingml/2006/main" noGrp="1"/>
          </p:cNvSpPr>
          <p:nvPr/>
        </p:nvSpPr>
        <p:spPr>
          <a:xfrm xmlns:a="http://schemas.openxmlformats.org/drawingml/2006/main">
            <a:off x="4067556" y="27178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If its automotive qualification narrative is validated, Gahan could combine adverse-weather sensing with an indigenous engineering story before DeepG…</a:t>
            </a:r>
          </a:p>
        </p:txBody>
      </p:sp>
      <p:sp>
        <p:nvSpPr>
          <p:cNvPr id="23" name="">
            <a:extLst xmlns:a="http://schemas.openxmlformats.org/drawingml/2006/main">
              <a:ext uri="{FF2B5EF4-FFF2-40B4-BE49-F238E27FC236}">
                <a16:creationId xmlns:a16="http://schemas.microsoft.com/office/drawing/2014/main" id="{39226540-3137-4E26-8D65-3166416572FD}"/>
              </a:ext>
            </a:extLst>
          </p:cNvPr>
          <p:cNvSpPr>
            <a:spLocks xmlns:a="http://schemas.openxmlformats.org/drawingml/2006/main" noGrp="1"/>
          </p:cNvSpPr>
          <p:nvPr/>
        </p:nvSpPr>
        <p:spPr>
          <a:xfrm xmlns:a="http://schemas.openxmlformats.org/drawingml/2006/main">
            <a:off x="9816084" y="27273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6CBF4CB6-EDA2-49E2-9394-8A9992235F30}"/>
              </a:ext>
            </a:extLst>
          </p:cNvPr>
          <p:cNvSpPr>
            <a:spLocks xmlns:a="http://schemas.openxmlformats.org/drawingml/2006/main" noGrp="1"/>
          </p:cNvSpPr>
          <p:nvPr/>
        </p:nvSpPr>
        <p:spPr>
          <a:xfrm xmlns:a="http://schemas.openxmlformats.org/drawingml/2006/main">
            <a:off x="457200" y="34417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F1981A48-71C1-4766-9722-C6954A2381C3}"/>
              </a:ext>
            </a:extLst>
          </p:cNvPr>
          <p:cNvSpPr>
            <a:spLocks xmlns:a="http://schemas.openxmlformats.org/drawingml/2006/main" noGrp="1"/>
          </p:cNvSpPr>
          <p:nvPr/>
        </p:nvSpPr>
        <p:spPr>
          <a:xfrm xmlns:a="http://schemas.openxmlformats.org/drawingml/2006/main">
            <a:off x="457200" y="34417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2507521-12BE-46D1-A967-A559B857CACA}"/>
              </a:ext>
            </a:extLst>
          </p:cNvPr>
          <p:cNvSpPr>
            <a:spLocks xmlns:a="http://schemas.openxmlformats.org/drawingml/2006/main" noGrp="1"/>
          </p:cNvSpPr>
          <p:nvPr/>
        </p:nvSpPr>
        <p:spPr>
          <a:xfrm xmlns:a="http://schemas.openxmlformats.org/drawingml/2006/main">
            <a:off x="457200" y="34417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339AA6F-D209-499C-B37A-4D636DC4F6B6}"/>
              </a:ext>
            </a:extLst>
          </p:cNvPr>
          <p:cNvSpPr>
            <a:spLocks xmlns:a="http://schemas.openxmlformats.org/drawingml/2006/main" noGrp="1"/>
          </p:cNvSpPr>
          <p:nvPr/>
        </p:nvSpPr>
        <p:spPr>
          <a:xfrm xmlns:a="http://schemas.openxmlformats.org/drawingml/2006/main">
            <a:off x="571500" y="3527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ACADEMIC LENS: COMPONENT</a:t>
            </a:r>
          </a:p>
        </p:txBody>
      </p:sp>
      <p:sp>
        <p:nvSpPr>
          <p:cNvPr id="28" name="">
            <a:extLst xmlns:a="http://schemas.openxmlformats.org/drawingml/2006/main">
              <a:ext uri="{FF2B5EF4-FFF2-40B4-BE49-F238E27FC236}">
                <a16:creationId xmlns:a16="http://schemas.microsoft.com/office/drawing/2014/main" id="{9FD65C02-570F-49D7-9BA6-945EF79B9E75}"/>
              </a:ext>
            </a:extLst>
          </p:cNvPr>
          <p:cNvSpPr>
            <a:spLocks xmlns:a="http://schemas.openxmlformats.org/drawingml/2006/main" noGrp="1"/>
          </p:cNvSpPr>
          <p:nvPr/>
        </p:nvSpPr>
        <p:spPr>
          <a:xfrm xmlns:a="http://schemas.openxmlformats.org/drawingml/2006/main">
            <a:off x="4067556" y="35179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Academic lens: component qualification, safety lifecycle and vehicle approval are non-substitutable.</a:t>
            </a:r>
          </a:p>
        </p:txBody>
      </p:sp>
      <p:sp>
        <p:nvSpPr>
          <p:cNvPr id="29" name="">
            <a:extLst xmlns:a="http://schemas.openxmlformats.org/drawingml/2006/main">
              <a:ext uri="{FF2B5EF4-FFF2-40B4-BE49-F238E27FC236}">
                <a16:creationId xmlns:a16="http://schemas.microsoft.com/office/drawing/2014/main" id="{C98E137C-E5DE-4501-8CBA-EA1DC6B92B2F}"/>
              </a:ext>
            </a:extLst>
          </p:cNvPr>
          <p:cNvSpPr>
            <a:spLocks xmlns:a="http://schemas.openxmlformats.org/drawingml/2006/main" noGrp="1"/>
          </p:cNvSpPr>
          <p:nvPr/>
        </p:nvSpPr>
        <p:spPr>
          <a:xfrm xmlns:a="http://schemas.openxmlformats.org/drawingml/2006/main">
            <a:off x="9816084" y="3527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AB10E6A0-F596-48E2-8FF4-03C54D14B6AE}"/>
              </a:ext>
            </a:extLst>
          </p:cNvPr>
          <p:cNvSpPr>
            <a:spLocks xmlns:a="http://schemas.openxmlformats.org/drawingml/2006/main" noGrp="1"/>
          </p:cNvSpPr>
          <p:nvPr/>
        </p:nvSpPr>
        <p:spPr>
          <a:xfrm xmlns:a="http://schemas.openxmlformats.org/drawingml/2006/main">
            <a:off x="457200" y="42418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A4F2FC52-FFBE-4A05-BE0A-094E818D7495}"/>
              </a:ext>
            </a:extLst>
          </p:cNvPr>
          <p:cNvSpPr>
            <a:spLocks xmlns:a="http://schemas.openxmlformats.org/drawingml/2006/main" noGrp="1"/>
          </p:cNvSpPr>
          <p:nvPr/>
        </p:nvSpPr>
        <p:spPr>
          <a:xfrm xmlns:a="http://schemas.openxmlformats.org/drawingml/2006/main">
            <a:off x="457200" y="42418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61CD7FD-A6C6-4D9B-B871-47576ED40FF0}"/>
              </a:ext>
            </a:extLst>
          </p:cNvPr>
          <p:cNvSpPr>
            <a:spLocks xmlns:a="http://schemas.openxmlformats.org/drawingml/2006/main" noGrp="1"/>
          </p:cNvSpPr>
          <p:nvPr/>
        </p:nvSpPr>
        <p:spPr>
          <a:xfrm xmlns:a="http://schemas.openxmlformats.org/drawingml/2006/main">
            <a:off x="457200" y="4241800"/>
            <a:ext cx="28575" cy="733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BC3CF64-556E-459A-8DEF-690808EE9458}"/>
              </a:ext>
            </a:extLst>
          </p:cNvPr>
          <p:cNvSpPr>
            <a:spLocks xmlns:a="http://schemas.openxmlformats.org/drawingml/2006/main" noGrp="1"/>
          </p:cNvSpPr>
          <p:nvPr/>
        </p:nvSpPr>
        <p:spPr>
          <a:xfrm xmlns:a="http://schemas.openxmlformats.org/drawingml/2006/main">
            <a:off x="571500" y="43275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AEC-Q100 APPLIES TO THE</a:t>
            </a:r>
          </a:p>
        </p:txBody>
      </p:sp>
      <p:sp>
        <p:nvSpPr>
          <p:cNvPr id="34" name="">
            <a:extLst xmlns:a="http://schemas.openxmlformats.org/drawingml/2006/main">
              <a:ext uri="{FF2B5EF4-FFF2-40B4-BE49-F238E27FC236}">
                <a16:creationId xmlns:a16="http://schemas.microsoft.com/office/drawing/2014/main" id="{DC32946E-78C1-471C-9E65-1C92D1F244C1}"/>
              </a:ext>
            </a:extLst>
          </p:cNvPr>
          <p:cNvSpPr>
            <a:spLocks xmlns:a="http://schemas.openxmlformats.org/drawingml/2006/main" noGrp="1"/>
          </p:cNvSpPr>
          <p:nvPr/>
        </p:nvSpPr>
        <p:spPr>
          <a:xfrm xmlns:a="http://schemas.openxmlformats.org/drawingml/2006/main">
            <a:off x="4067556" y="43180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AEC-Q100 applies to the underlying named packaged IC, not the DRWIG platform.</a:t>
            </a:r>
          </a:p>
        </p:txBody>
      </p:sp>
      <p:sp>
        <p:nvSpPr>
          <p:cNvPr id="35" name="">
            <a:extLst xmlns:a="http://schemas.openxmlformats.org/drawingml/2006/main">
              <a:ext uri="{FF2B5EF4-FFF2-40B4-BE49-F238E27FC236}">
                <a16:creationId xmlns:a16="http://schemas.microsoft.com/office/drawing/2014/main" id="{186D8D9B-9460-4E4F-9FF1-6A97645FA97E}"/>
              </a:ext>
            </a:extLst>
          </p:cNvPr>
          <p:cNvSpPr>
            <a:spLocks xmlns:a="http://schemas.openxmlformats.org/drawingml/2006/main" noGrp="1"/>
          </p:cNvSpPr>
          <p:nvPr/>
        </p:nvSpPr>
        <p:spPr>
          <a:xfrm xmlns:a="http://schemas.openxmlformats.org/drawingml/2006/main">
            <a:off x="9816084" y="43275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04BF6D77-FF1E-463A-968E-32CEDE31935A}"/>
              </a:ext>
            </a:extLst>
          </p:cNvPr>
          <p:cNvSpPr>
            <a:spLocks xmlns:a="http://schemas.openxmlformats.org/drawingml/2006/main" noGrp="1"/>
          </p:cNvSpPr>
          <p:nvPr/>
        </p:nvSpPr>
        <p:spPr>
          <a:xfrm xmlns:a="http://schemas.openxmlformats.org/drawingml/2006/main">
            <a:off x="457200" y="508952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A661EDE1-4A40-4E03-83FD-047846A5D8A0}"/>
              </a:ext>
            </a:extLst>
          </p:cNvPr>
          <p:cNvSpPr>
            <a:spLocks xmlns:a="http://schemas.openxmlformats.org/drawingml/2006/main" noGrp="1"/>
          </p:cNvSpPr>
          <p:nvPr/>
        </p:nvSpPr>
        <p:spPr>
          <a:xfrm xmlns:a="http://schemas.openxmlformats.org/drawingml/2006/main">
            <a:off x="457200" y="508952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E9A76A83-D42F-42E5-972A-354061B019AD}"/>
              </a:ext>
            </a:extLst>
          </p:cNvPr>
          <p:cNvSpPr>
            <a:spLocks xmlns:a="http://schemas.openxmlformats.org/drawingml/2006/main" noGrp="1"/>
          </p:cNvSpPr>
          <p:nvPr/>
        </p:nvSpPr>
        <p:spPr>
          <a:xfrm xmlns:a="http://schemas.openxmlformats.org/drawingml/2006/main">
            <a:off x="581025" y="5156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1DFA54C3-5AA7-447A-8DB1-4B136ADD2D74}"/>
              </a:ext>
            </a:extLst>
          </p:cNvPr>
          <p:cNvSpPr>
            <a:spLocks xmlns:a="http://schemas.openxmlformats.org/drawingml/2006/main" noGrp="1"/>
          </p:cNvSpPr>
          <p:nvPr/>
        </p:nvSpPr>
        <p:spPr>
          <a:xfrm xmlns:a="http://schemas.openxmlformats.org/drawingml/2006/main">
            <a:off x="581025" y="53054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buyer accepts an unqualified certification claim and it survives their diligence.</a:t>
            </a:r>
          </a:p>
        </p:txBody>
      </p:sp>
      <p:sp>
        <p:nvSpPr>
          <p:cNvPr id="40" name="">
            <a:extLst xmlns:a="http://schemas.openxmlformats.org/drawingml/2006/main">
              <a:ext uri="{FF2B5EF4-FFF2-40B4-BE49-F238E27FC236}">
                <a16:creationId xmlns:a16="http://schemas.microsoft.com/office/drawing/2014/main" id="{564A7583-38A7-4DF3-AB6C-8E63D021DA79}"/>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6277C09-4CF1-4035-8130-A8B82AE65DDA}"/>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52CAC2A-8FB1-416A-9BEA-E573A54844B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7256073C-70A5-40E2-BAD5-ED9E3776F61B}"/>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Adopt the five-field control for every external certification statement.</a:t>
            </a:r>
          </a:p>
        </p:txBody>
      </p:sp>
      <p:sp>
        <p:nvSpPr>
          <p:cNvPr id="44" name="">
            <a:extLst xmlns:a="http://schemas.openxmlformats.org/drawingml/2006/main">
              <a:ext uri="{FF2B5EF4-FFF2-40B4-BE49-F238E27FC236}">
                <a16:creationId xmlns:a16="http://schemas.microsoft.com/office/drawing/2014/main" id="{468A08E9-BD99-4A80-8CA3-BAB877AF8F57}"/>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D5C17781-8048-44C4-B7E4-7D3119C28123}"/>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Quality</a:t>
            </a:r>
          </a:p>
          <a:p xmlns:a="http://schemas.openxmlformats.org/drawingml/2006/main">
            <a:pPr algn="l">
              <a:defRPr sz="800">
                <a:solidFill>
                  <a:srgbClr val="8EA0B2"/>
                </a:solidFill>
                <a:latin typeface="Arial"/>
                <a:ea typeface="Arial"/>
                <a:cs typeface="Arial"/>
              </a:defRPr>
            </a:pPr>
            <a:r>
              <a:t>Trigger · Audit all existing certification claims within the next release cycle.</a:t>
            </a:r>
          </a:p>
        </p:txBody>
      </p:sp>
      <p:sp>
        <p:nvSpPr>
          <p:cNvPr id="46" name="">
            <a:extLst xmlns:a="http://schemas.openxmlformats.org/drawingml/2006/main">
              <a:ext uri="{FF2B5EF4-FFF2-40B4-BE49-F238E27FC236}">
                <a16:creationId xmlns:a16="http://schemas.microsoft.com/office/drawing/2014/main" id="{57F49CA4-478A-4417-92FD-02A85940B777}"/>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AF616503-2421-4F40-8D02-48FE93DB31E0}"/>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any statement that cannot name all five fields.</a:t>
            </a:r>
          </a:p>
        </p:txBody>
      </p:sp>
      <p:sp>
        <p:nvSpPr>
          <p:cNvPr id="48" name="">
            <a:extLst xmlns:a="http://schemas.openxmlformats.org/drawingml/2006/main">
              <a:ext uri="{FF2B5EF4-FFF2-40B4-BE49-F238E27FC236}">
                <a16:creationId xmlns:a16="http://schemas.microsoft.com/office/drawing/2014/main" id="{A9055FBF-D5CD-405D-B8E6-69F3C972EACB}"/>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0F08EF6C-D685-4D39-B15F-C91F2168C406}"/>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DCEA0BF3-23F8-4FC7-BA6C-83EAB4E7C3D2}"/>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101</a:t>
            </a:r>
          </a:p>
        </p:txBody>
      </p:sp>
    </p:spTree>
    <p:extLst>
      <p:ext uri="{BB962C8B-B14F-4D97-AF65-F5344CB8AC3E}">
        <p14:creationId xmlns:p14="http://schemas.microsoft.com/office/powerpoint/2010/main" val="880258349"/>
      </p:ext>
    </p:extLst>
  </p:cSld>
</p:sld>
</file>

<file path=ppt/slides/slide102.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2A277247-A9D4-49AC-9EAA-F55412F18E0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DF66386-476D-4A9D-BAF2-F835801CAC46}"/>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546F1F3-D9D5-4A48-944D-A6EA31C9C5A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56356BB6-F17A-4C6D-A674-9646E0A3F2C9}"/>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BC6C6B1E-5F5B-4484-AF8A-7EF75BD30E9F}"/>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Make India-specific perception credible via constrained-compute benchmark</a:t>
            </a:r>
          </a:p>
        </p:txBody>
      </p:sp>
      <p:sp>
        <p:nvSpPr>
          <p:cNvPr id="6" name="">
            <a:extLst xmlns:a="http://schemas.openxmlformats.org/drawingml/2006/main">
              <a:ext uri="{FF2B5EF4-FFF2-40B4-BE49-F238E27FC236}">
                <a16:creationId xmlns:a16="http://schemas.microsoft.com/office/drawing/2014/main" id="{7170B325-1BFE-4425-A69A-5DA72D8962FE}"/>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C741DAB-54DF-4FAD-B0D0-6BBD2F1990A5}"/>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would make DeepGrid's message credible to buyers?</a:t>
            </a:r>
          </a:p>
        </p:txBody>
      </p:sp>
      <p:sp>
        <p:nvSpPr>
          <p:cNvPr id="8" name="">
            <a:extLst xmlns:a="http://schemas.openxmlformats.org/drawingml/2006/main">
              <a:ext uri="{FF2B5EF4-FFF2-40B4-BE49-F238E27FC236}">
                <a16:creationId xmlns:a16="http://schemas.microsoft.com/office/drawing/2014/main" id="{9CF0C892-7F52-4279-93F6-6CDD65045CE6}"/>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1C4293CB-7242-4DE9-82FC-2978181A41D0}"/>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C61FA05-1374-4E9A-9D88-89842462CE7D}"/>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87DEBFAC-BFB4-430C-8A22-67395B99C639}"/>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Credibility comes from a published, independently reproducible constrained-compute benchmark on defined Indian VRU classes — not from the claim of being India-native.</a:t>
            </a:r>
          </a:p>
        </p:txBody>
      </p:sp>
      <p:sp>
        <p:nvSpPr>
          <p:cNvPr id="12" name="">
            <a:extLst xmlns:a="http://schemas.openxmlformats.org/drawingml/2006/main">
              <a:ext uri="{FF2B5EF4-FFF2-40B4-BE49-F238E27FC236}">
                <a16:creationId xmlns:a16="http://schemas.microsoft.com/office/drawing/2014/main" id="{CEE56652-F80C-448D-B499-C0402D34A8DB}"/>
              </a:ext>
            </a:extLst>
          </p:cNvPr>
          <p:cNvSpPr>
            <a:spLocks xmlns:a="http://schemas.openxmlformats.org/drawingml/2006/main" noGrp="1"/>
          </p:cNvSpPr>
          <p:nvPr/>
        </p:nvSpPr>
        <p:spPr>
          <a:xfrm xmlns:a="http://schemas.openxmlformats.org/drawingml/2006/main">
            <a:off x="457200" y="184150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E57E0E3E-9EB0-46AA-9F47-96DB9A422EFD}"/>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AA3CF8A-7626-4C5C-90A9-D954ABC825CF}"/>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8DBEDD1F-A201-4EAD-A928-8257B93D8709}"/>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PROMISE (POSITION)</a:t>
            </a:r>
          </a:p>
        </p:txBody>
      </p:sp>
      <p:sp>
        <p:nvSpPr>
          <p:cNvPr id="16" name="">
            <a:extLst xmlns:a="http://schemas.openxmlformats.org/drawingml/2006/main">
              <a:ext uri="{FF2B5EF4-FFF2-40B4-BE49-F238E27FC236}">
                <a16:creationId xmlns:a16="http://schemas.microsoft.com/office/drawing/2014/main" id="{B338E21E-CAC5-4E61-B612-9555D343E940}"/>
              </a:ext>
            </a:extLst>
          </p:cNvPr>
          <p:cNvSpPr>
            <a:spLocks xmlns:a="http://schemas.openxmlformats.org/drawingml/2006/main" noGrp="1"/>
          </p:cNvSpPr>
          <p:nvPr/>
        </p:nvSpPr>
        <p:spPr>
          <a:xfrm xmlns:a="http://schemas.openxmlformats.org/drawingml/2006/main">
            <a:off x="571500" y="216535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DeepGrid states that defined Indian VRU classes and traffic context are covered by its perception layer.</a:t>
            </a:r>
          </a:p>
        </p:txBody>
      </p:sp>
      <p:sp>
        <p:nvSpPr>
          <p:cNvPr id="17" name="">
            <a:extLst xmlns:a="http://schemas.openxmlformats.org/drawingml/2006/main">
              <a:ext uri="{FF2B5EF4-FFF2-40B4-BE49-F238E27FC236}">
                <a16:creationId xmlns:a16="http://schemas.microsoft.com/office/drawing/2014/main" id="{8613605B-60BA-43A4-A7B1-B6D1DF44DC32}"/>
              </a:ext>
            </a:extLst>
          </p:cNvPr>
          <p:cNvSpPr>
            <a:spLocks xmlns:a="http://schemas.openxmlformats.org/drawingml/2006/main" noGrp="1"/>
          </p:cNvSpPr>
          <p:nvPr/>
        </p:nvSpPr>
        <p:spPr>
          <a:xfrm xmlns:a="http://schemas.openxmlformats.org/drawingml/2006/main">
            <a:off x="3119438" y="3046413"/>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0070341-8916-4A18-94C8-E7E1F90AAD1B}"/>
              </a:ext>
            </a:extLst>
          </p:cNvPr>
          <p:cNvSpPr>
            <a:spLocks xmlns:a="http://schemas.openxmlformats.org/drawingml/2006/main" noGrp="1"/>
          </p:cNvSpPr>
          <p:nvPr/>
        </p:nvSpPr>
        <p:spPr>
          <a:xfrm xmlns:a="http://schemas.openxmlformats.org/drawingml/2006/main">
            <a:off x="3348038" y="184150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61F36800-029B-4488-ACB0-10901A19CEF5}"/>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6D68B60-9FD2-40F3-9994-879CA42DBA6B}"/>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0F5D325E-B8ED-4225-A91E-4E06F19B055C}"/>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INDIAN VRU CLASSES</a:t>
            </a:r>
          </a:p>
        </p:txBody>
      </p:sp>
      <p:sp>
        <p:nvSpPr>
          <p:cNvPr id="22" name="">
            <a:extLst xmlns:a="http://schemas.openxmlformats.org/drawingml/2006/main">
              <a:ext uri="{FF2B5EF4-FFF2-40B4-BE49-F238E27FC236}">
                <a16:creationId xmlns:a16="http://schemas.microsoft.com/office/drawing/2014/main" id="{EFD1FCF0-BA74-4B7C-8D65-30E1A59F9DE5}"/>
              </a:ext>
            </a:extLst>
          </p:cNvPr>
          <p:cNvSpPr>
            <a:spLocks xmlns:a="http://schemas.openxmlformats.org/drawingml/2006/main" noGrp="1"/>
          </p:cNvSpPr>
          <p:nvPr/>
        </p:nvSpPr>
        <p:spPr>
          <a:xfrm xmlns:a="http://schemas.openxmlformats.org/drawingml/2006/main">
            <a:off x="3462338" y="216535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Defined traffic context is proposed as the primary value wedge.</a:t>
            </a:r>
          </a:p>
        </p:txBody>
      </p:sp>
      <p:sp>
        <p:nvSpPr>
          <p:cNvPr id="23" name="">
            <a:extLst xmlns:a="http://schemas.openxmlformats.org/drawingml/2006/main">
              <a:ext uri="{FF2B5EF4-FFF2-40B4-BE49-F238E27FC236}">
                <a16:creationId xmlns:a16="http://schemas.microsoft.com/office/drawing/2014/main" id="{A3A88B29-C299-459D-AC29-271BB8325436}"/>
              </a:ext>
            </a:extLst>
          </p:cNvPr>
          <p:cNvSpPr>
            <a:spLocks xmlns:a="http://schemas.openxmlformats.org/drawingml/2006/main" noGrp="1"/>
          </p:cNvSpPr>
          <p:nvPr/>
        </p:nvSpPr>
        <p:spPr>
          <a:xfrm xmlns:a="http://schemas.openxmlformats.org/drawingml/2006/main">
            <a:off x="6010275" y="3046413"/>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7A42205-DFC9-4028-BC51-653CF1DACD07}"/>
              </a:ext>
            </a:extLst>
          </p:cNvPr>
          <p:cNvSpPr>
            <a:spLocks xmlns:a="http://schemas.openxmlformats.org/drawingml/2006/main" noGrp="1"/>
          </p:cNvSpPr>
          <p:nvPr/>
        </p:nvSpPr>
        <p:spPr>
          <a:xfrm xmlns:a="http://schemas.openxmlformats.org/drawingml/2006/main">
            <a:off x="6238875" y="184150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9C0DF369-67D0-4DD4-898A-D0110AF89E0F}"/>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B474243-22A5-45A7-AD7B-019722CBBB5D}"/>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C5A3C73B-2D62-4DC0-A177-E705E049237D}"/>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REQUIRED PROOF (EVIDENCE)</a:t>
            </a:r>
          </a:p>
        </p:txBody>
      </p:sp>
      <p:sp>
        <p:nvSpPr>
          <p:cNvPr id="28" name="">
            <a:extLst xmlns:a="http://schemas.openxmlformats.org/drawingml/2006/main">
              <a:ext uri="{FF2B5EF4-FFF2-40B4-BE49-F238E27FC236}">
                <a16:creationId xmlns:a16="http://schemas.microsoft.com/office/drawing/2014/main" id="{B458AB11-63F7-4472-9993-56C547B25559}"/>
              </a:ext>
            </a:extLst>
          </p:cNvPr>
          <p:cNvSpPr>
            <a:spLocks xmlns:a="http://schemas.openxmlformats.org/drawingml/2006/main" noGrp="1"/>
          </p:cNvSpPr>
          <p:nvPr/>
        </p:nvSpPr>
        <p:spPr>
          <a:xfrm xmlns:a="http://schemas.openxmlformats.org/drawingml/2006/main">
            <a:off x="6353175" y="216535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proof burden is independent-track and paid-fleet results with validated denominators and scenarios.</a:t>
            </a:r>
          </a:p>
        </p:txBody>
      </p:sp>
      <p:sp>
        <p:nvSpPr>
          <p:cNvPr id="29" name="">
            <a:extLst xmlns:a="http://schemas.openxmlformats.org/drawingml/2006/main">
              <a:ext uri="{FF2B5EF4-FFF2-40B4-BE49-F238E27FC236}">
                <a16:creationId xmlns:a16="http://schemas.microsoft.com/office/drawing/2014/main" id="{7638DFF3-8160-4D93-87F4-66A4C97DAA0D}"/>
              </a:ext>
            </a:extLst>
          </p:cNvPr>
          <p:cNvSpPr>
            <a:spLocks xmlns:a="http://schemas.openxmlformats.org/drawingml/2006/main" noGrp="1"/>
          </p:cNvSpPr>
          <p:nvPr/>
        </p:nvSpPr>
        <p:spPr>
          <a:xfrm xmlns:a="http://schemas.openxmlformats.org/drawingml/2006/main">
            <a:off x="8901113" y="3046413"/>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8DCDF70-9747-4724-9217-F36E986833A1}"/>
              </a:ext>
            </a:extLst>
          </p:cNvPr>
          <p:cNvSpPr>
            <a:spLocks xmlns:a="http://schemas.openxmlformats.org/drawingml/2006/main" noGrp="1"/>
          </p:cNvSpPr>
          <p:nvPr/>
        </p:nvSpPr>
        <p:spPr>
          <a:xfrm xmlns:a="http://schemas.openxmlformats.org/drawingml/2006/main">
            <a:off x="9129713" y="184150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4BC11E6D-B6B5-4628-B191-18D76A88E945}"/>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9BE25A3-EBDC-4AF6-8C92-E3D1BB25484A}"/>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29D0ED84-9749-45F6-8B80-55903339971F}"/>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INDEPENDENT PROOF · DECISION…</a:t>
            </a:r>
          </a:p>
        </p:txBody>
      </p:sp>
      <p:sp>
        <p:nvSpPr>
          <p:cNvPr id="34" name="">
            <a:extLst xmlns:a="http://schemas.openxmlformats.org/drawingml/2006/main">
              <a:ext uri="{FF2B5EF4-FFF2-40B4-BE49-F238E27FC236}">
                <a16:creationId xmlns:a16="http://schemas.microsoft.com/office/drawing/2014/main" id="{35DC17E5-1392-43A8-BEF1-906BFC2B196B}"/>
              </a:ext>
            </a:extLst>
          </p:cNvPr>
          <p:cNvSpPr>
            <a:spLocks xmlns:a="http://schemas.openxmlformats.org/drawingml/2006/main" noGrp="1"/>
          </p:cNvSpPr>
          <p:nvPr/>
        </p:nvSpPr>
        <p:spPr>
          <a:xfrm xmlns:a="http://schemas.openxmlformats.org/drawingml/2006/main">
            <a:off x="9244013" y="216535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Requires paid fleet results + denominators; statements alone are insufficient.</a:t>
            </a:r>
          </a:p>
        </p:txBody>
      </p:sp>
      <p:sp>
        <p:nvSpPr>
          <p:cNvPr id="35" name="">
            <a:extLst xmlns:a="http://schemas.openxmlformats.org/drawingml/2006/main">
              <a:ext uri="{FF2B5EF4-FFF2-40B4-BE49-F238E27FC236}">
                <a16:creationId xmlns:a16="http://schemas.microsoft.com/office/drawing/2014/main" id="{49A6A99E-ED20-4912-B933-C315CCBA40CB}"/>
              </a:ext>
            </a:extLst>
          </p:cNvPr>
          <p:cNvSpPr>
            <a:spLocks xmlns:a="http://schemas.openxmlformats.org/drawingml/2006/main" noGrp="1"/>
          </p:cNvSpPr>
          <p:nvPr/>
        </p:nvSpPr>
        <p:spPr>
          <a:xfrm xmlns:a="http://schemas.openxmlformats.org/drawingml/2006/main">
            <a:off x="457200" y="451802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F26D1D89-0606-4E3C-9085-980258ADA737}"/>
              </a:ext>
            </a:extLst>
          </p:cNvPr>
          <p:cNvSpPr>
            <a:spLocks xmlns:a="http://schemas.openxmlformats.org/drawingml/2006/main" noGrp="1"/>
          </p:cNvSpPr>
          <p:nvPr/>
        </p:nvSpPr>
        <p:spPr>
          <a:xfrm xmlns:a="http://schemas.openxmlformats.org/drawingml/2006/main">
            <a:off x="457200" y="451802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EFA11352-1EFB-4A73-9497-E9515C6E2FC5}"/>
              </a:ext>
            </a:extLst>
          </p:cNvPr>
          <p:cNvSpPr>
            <a:spLocks xmlns:a="http://schemas.openxmlformats.org/drawingml/2006/main" noGrp="1"/>
          </p:cNvSpPr>
          <p:nvPr/>
        </p:nvSpPr>
        <p:spPr>
          <a:xfrm xmlns:a="http://schemas.openxmlformats.org/drawingml/2006/main">
            <a:off x="581025" y="458470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FA558ED8-9C8A-45E5-B7AD-2D6FF1D91E40}"/>
              </a:ext>
            </a:extLst>
          </p:cNvPr>
          <p:cNvSpPr>
            <a:spLocks xmlns:a="http://schemas.openxmlformats.org/drawingml/2006/main" noGrp="1"/>
          </p:cNvSpPr>
          <p:nvPr/>
        </p:nvSpPr>
        <p:spPr>
          <a:xfrm xmlns:a="http://schemas.openxmlformats.org/drawingml/2006/main">
            <a:off x="581025" y="473392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buyer cannot procure origin. It can procure a measured performance envelope on a named scenario set, which is why the benchmark, not the narrative, is what converts interest into evaluation.</a:t>
            </a:r>
          </a:p>
        </p:txBody>
      </p:sp>
      <p:sp>
        <p:nvSpPr>
          <p:cNvPr id="39" name="">
            <a:extLst xmlns:a="http://schemas.openxmlformats.org/drawingml/2006/main">
              <a:ext uri="{FF2B5EF4-FFF2-40B4-BE49-F238E27FC236}">
                <a16:creationId xmlns:a16="http://schemas.microsoft.com/office/drawing/2014/main" id="{46100027-E1B9-4355-BFAC-D4EF6CF325E6}"/>
              </a:ext>
            </a:extLst>
          </p:cNvPr>
          <p:cNvSpPr>
            <a:spLocks xmlns:a="http://schemas.openxmlformats.org/drawingml/2006/main" noGrp="1"/>
          </p:cNvSpPr>
          <p:nvPr/>
        </p:nvSpPr>
        <p:spPr>
          <a:xfrm xmlns:a="http://schemas.openxmlformats.org/drawingml/2006/main">
            <a:off x="6153150" y="451802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E61D0056-6EA9-49BB-B2B2-1A9030877392}"/>
              </a:ext>
            </a:extLst>
          </p:cNvPr>
          <p:cNvSpPr>
            <a:spLocks xmlns:a="http://schemas.openxmlformats.org/drawingml/2006/main" noGrp="1"/>
          </p:cNvSpPr>
          <p:nvPr/>
        </p:nvSpPr>
        <p:spPr>
          <a:xfrm xmlns:a="http://schemas.openxmlformats.org/drawingml/2006/main">
            <a:off x="6153150" y="451802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4565316-C143-4688-BBC7-F72D1D561675}"/>
              </a:ext>
            </a:extLst>
          </p:cNvPr>
          <p:cNvSpPr>
            <a:spLocks xmlns:a="http://schemas.openxmlformats.org/drawingml/2006/main" noGrp="1"/>
          </p:cNvSpPr>
          <p:nvPr/>
        </p:nvSpPr>
        <p:spPr>
          <a:xfrm xmlns:a="http://schemas.openxmlformats.org/drawingml/2006/main">
            <a:off x="6276975" y="458470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6741C3D6-37BB-4FF7-A3B7-E068796030CC}"/>
              </a:ext>
            </a:extLst>
          </p:cNvPr>
          <p:cNvSpPr>
            <a:spLocks xmlns:a="http://schemas.openxmlformats.org/drawingml/2006/main" noGrp="1"/>
          </p:cNvSpPr>
          <p:nvPr/>
        </p:nvSpPr>
        <p:spPr>
          <a:xfrm xmlns:a="http://schemas.openxmlformats.org/drawingml/2006/main">
            <a:off x="6276975" y="473392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using 'India-native' as a standalone claim in customer material.</a:t>
            </a:r>
          </a:p>
        </p:txBody>
      </p:sp>
      <p:sp>
        <p:nvSpPr>
          <p:cNvPr id="43" name="">
            <a:extLst xmlns:a="http://schemas.openxmlformats.org/drawingml/2006/main">
              <a:ext uri="{FF2B5EF4-FFF2-40B4-BE49-F238E27FC236}">
                <a16:creationId xmlns:a16="http://schemas.microsoft.com/office/drawing/2014/main" id="{516204BC-2BA8-4533-B177-869D675B8660}"/>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E02A219-5594-4038-80F3-B23D56EC02FE}"/>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4337254-8A2E-452D-BC07-C29A6A8874FD}"/>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37ACE0A9-CC4F-438E-AE84-8D416A020C24}"/>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Engineering publishes benchmark spec &amp; evidence owner Monday.</a:t>
            </a:r>
          </a:p>
        </p:txBody>
      </p:sp>
      <p:sp>
        <p:nvSpPr>
          <p:cNvPr id="47" name="">
            <a:extLst xmlns:a="http://schemas.openxmlformats.org/drawingml/2006/main">
              <a:ext uri="{FF2B5EF4-FFF2-40B4-BE49-F238E27FC236}">
                <a16:creationId xmlns:a16="http://schemas.microsoft.com/office/drawing/2014/main" id="{7E215E68-C9F6-4473-AE53-E54A7E6E315C}"/>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6B5177FD-10DC-45C4-B023-E5A9BF0B8E23}"/>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Engineering publishes the benchmark spec and names the evidence owner Monday.</a:t>
            </a:r>
          </a:p>
        </p:txBody>
      </p:sp>
      <p:sp>
        <p:nvSpPr>
          <p:cNvPr id="49" name="">
            <a:extLst xmlns:a="http://schemas.openxmlformats.org/drawingml/2006/main">
              <a:ext uri="{FF2B5EF4-FFF2-40B4-BE49-F238E27FC236}">
                <a16:creationId xmlns:a16="http://schemas.microsoft.com/office/drawing/2014/main" id="{05AA7F5B-736C-44BA-B27E-A7DE3BE8C461}"/>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9DB5470F-3B5E-4601-91D5-723F05FDA6BC}"/>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using 'India-native' as a standalone claim in customer material.</a:t>
            </a:r>
          </a:p>
        </p:txBody>
      </p:sp>
      <p:sp>
        <p:nvSpPr>
          <p:cNvPr id="51" name="">
            <a:extLst xmlns:a="http://schemas.openxmlformats.org/drawingml/2006/main">
              <a:ext uri="{FF2B5EF4-FFF2-40B4-BE49-F238E27FC236}">
                <a16:creationId xmlns:a16="http://schemas.microsoft.com/office/drawing/2014/main" id="{958CF017-F293-428C-B622-1F076B571D9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2CB32A26-2543-4B11-9010-CA3A1CF979F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8A40EB3B-DA69-4567-976A-01075EDFB29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102</a:t>
            </a:r>
          </a:p>
        </p:txBody>
      </p:sp>
    </p:spTree>
    <p:extLst>
      <p:ext uri="{BB962C8B-B14F-4D97-AF65-F5344CB8AC3E}">
        <p14:creationId xmlns:p14="http://schemas.microsoft.com/office/powerpoint/2010/main" val="629543602"/>
      </p:ext>
    </p:extLst>
  </p:cSld>
</p:sld>
</file>

<file path=ppt/slides/slide103.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FFC78AC7-45D2-40E8-B312-D4D34BF3A57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5CFE89-1EA1-4422-A65B-49DC05624ACF}"/>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E67079A-8251-432C-89D7-BEB0B3C7B11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8D7126C5-C722-47C7-8CA8-E55B31EF6D54}"/>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946AF9A6-F4F1-4261-B10F-C7CDB123B5DA}"/>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Productise the integration boundary as an ICD + safety assumptions pack</a:t>
            </a:r>
          </a:p>
        </p:txBody>
      </p:sp>
      <p:sp>
        <p:nvSpPr>
          <p:cNvPr id="6" name="">
            <a:extLst xmlns:a="http://schemas.openxmlformats.org/drawingml/2006/main">
              <a:ext uri="{FF2B5EF4-FFF2-40B4-BE49-F238E27FC236}">
                <a16:creationId xmlns:a16="http://schemas.microsoft.com/office/drawing/2014/main" id="{63E2DCDA-F158-428E-9B56-19C610905807}"/>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7F9AECD-02A9-4442-A4A3-5ADA60630F10}"/>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How can DeepGrid claim integration readiness without implying responsibility for braking or vehicle approval?</a:t>
            </a:r>
          </a:p>
        </p:txBody>
      </p:sp>
      <p:sp>
        <p:nvSpPr>
          <p:cNvPr id="8" name="">
            <a:extLst xmlns:a="http://schemas.openxmlformats.org/drawingml/2006/main">
              <a:ext uri="{FF2B5EF4-FFF2-40B4-BE49-F238E27FC236}">
                <a16:creationId xmlns:a16="http://schemas.microsoft.com/office/drawing/2014/main" id="{3CF5B0A6-9AEA-4C00-B7D7-71267244715E}"/>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E2052345-A002-4EF0-B973-39A48D791425}"/>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FE9BE73-59D8-493F-95D4-165F1F6D39AF}"/>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5B9B1975-8E42-4A0F-A0D4-26F6BCD7EBA8}"/>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Productise the boundary: publish an interface control document and a safety-assumptions pack, so integration readiness becomes a reviewable artifact rather than an assertion — without implying responsibility for braking or vehicle approval.</a:t>
            </a:r>
          </a:p>
        </p:txBody>
      </p:sp>
      <p:sp>
        <p:nvSpPr>
          <p:cNvPr id="12" name="">
            <a:extLst xmlns:a="http://schemas.openxmlformats.org/drawingml/2006/main">
              <a:ext uri="{FF2B5EF4-FFF2-40B4-BE49-F238E27FC236}">
                <a16:creationId xmlns:a16="http://schemas.microsoft.com/office/drawing/2014/main" id="{643A3D90-74D3-4C9E-9575-867E59680C0C}"/>
              </a:ext>
            </a:extLst>
          </p:cNvPr>
          <p:cNvSpPr>
            <a:spLocks xmlns:a="http://schemas.openxmlformats.org/drawingml/2006/main" noGrp="1"/>
          </p:cNvSpPr>
          <p:nvPr/>
        </p:nvSpPr>
        <p:spPr>
          <a:xfrm xmlns:a="http://schemas.openxmlformats.org/drawingml/2006/main">
            <a:off x="45720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B8BBFC8F-555B-462A-A971-476945F42928}"/>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D3DBD3E-86A5-4535-AD27-7613C5E2B4F9}"/>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4CD7E228-876A-489F-9A5C-993ECCD3BE75}"/>
              </a:ext>
            </a:extLst>
          </p:cNvPr>
          <p:cNvSpPr>
            <a:spLocks xmlns:a="http://schemas.openxmlformats.org/drawingml/2006/main" noGrp="1"/>
          </p:cNvSpPr>
          <p:nvPr/>
        </p:nvSpPr>
        <p:spPr>
          <a:xfrm xmlns:a="http://schemas.openxmlformats.org/drawingml/2006/main">
            <a:off x="5715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Productise the boundary: publish an interface control document and a safety-assumptions pack, so integration readiness becomes a reviewable artifact rather than an assertion — without implying responsibility for braking or vehicle approval.</a:t>
            </a:r>
          </a:p>
        </p:txBody>
      </p:sp>
      <p:sp>
        <p:nvSpPr>
          <p:cNvPr id="16" name="">
            <a:extLst xmlns:a="http://schemas.openxmlformats.org/drawingml/2006/main">
              <a:ext uri="{FF2B5EF4-FFF2-40B4-BE49-F238E27FC236}">
                <a16:creationId xmlns:a16="http://schemas.microsoft.com/office/drawing/2014/main" id="{97337CD9-0CC3-4D54-90C4-0CD0FE8D9D33}"/>
              </a:ext>
            </a:extLst>
          </p:cNvPr>
          <p:cNvSpPr>
            <a:spLocks xmlns:a="http://schemas.openxmlformats.org/drawingml/2006/main" noGrp="1"/>
          </p:cNvSpPr>
          <p:nvPr/>
        </p:nvSpPr>
        <p:spPr>
          <a:xfrm xmlns:a="http://schemas.openxmlformats.org/drawingml/2006/main">
            <a:off x="424815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DE5FA78E-1FE5-4F91-98E8-6451500396B6}"/>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7B24F10-7E1C-445E-9922-73F79F3884EB}"/>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3F4F44A7-B413-4095-BFAF-891E1B082DBD}"/>
              </a:ext>
            </a:extLst>
          </p:cNvPr>
          <p:cNvSpPr>
            <a:spLocks xmlns:a="http://schemas.openxmlformats.org/drawingml/2006/main" noGrp="1"/>
          </p:cNvSpPr>
          <p:nvPr/>
        </p:nvSpPr>
        <p:spPr>
          <a:xfrm xmlns:a="http://schemas.openxmlformats.org/drawingml/2006/main">
            <a:off x="436245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 published ICD constrains DeepGrid to the interfaces it has documented, reducing flexibility to adapt to a partner's architecture.</a:t>
            </a:r>
          </a:p>
        </p:txBody>
      </p:sp>
      <p:sp>
        <p:nvSpPr>
          <p:cNvPr id="20" name="">
            <a:extLst xmlns:a="http://schemas.openxmlformats.org/drawingml/2006/main">
              <a:ext uri="{FF2B5EF4-FFF2-40B4-BE49-F238E27FC236}">
                <a16:creationId xmlns:a16="http://schemas.microsoft.com/office/drawing/2014/main" id="{2D5229C1-7924-4269-A093-1E0409075D8F}"/>
              </a:ext>
            </a:extLst>
          </p:cNvPr>
          <p:cNvSpPr>
            <a:spLocks xmlns:a="http://schemas.openxmlformats.org/drawingml/2006/main" noGrp="1"/>
          </p:cNvSpPr>
          <p:nvPr/>
        </p:nvSpPr>
        <p:spPr>
          <a:xfrm xmlns:a="http://schemas.openxmlformats.org/drawingml/2006/main">
            <a:off x="803910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0FCA45B4-4B7B-4046-89B4-D2A9B8259F5B}"/>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73480FE-A5A2-4801-AF5C-110D345543BA}"/>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AE8D7ACA-6247-469E-9D24-A3D9CD7BCE78}"/>
              </a:ext>
            </a:extLst>
          </p:cNvPr>
          <p:cNvSpPr>
            <a:spLocks xmlns:a="http://schemas.openxmlformats.org/drawingml/2006/main" noGrp="1"/>
          </p:cNvSpPr>
          <p:nvPr/>
        </p:nvSpPr>
        <p:spPr>
          <a:xfrm xmlns:a="http://schemas.openxmlformats.org/drawingml/2006/main">
            <a:off x="81534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Comparison Rule The model creates value by moving uncertainty into testable interfaces</a:t>
            </a:r>
          </a:p>
        </p:txBody>
      </p:sp>
      <p:sp>
        <p:nvSpPr>
          <p:cNvPr id="24" name="">
            <a:extLst xmlns:a="http://schemas.openxmlformats.org/drawingml/2006/main">
              <a:ext uri="{FF2B5EF4-FFF2-40B4-BE49-F238E27FC236}">
                <a16:creationId xmlns:a16="http://schemas.microsoft.com/office/drawing/2014/main" id="{B21A07D9-1634-4907-B878-69930777732D}"/>
              </a:ext>
            </a:extLst>
          </p:cNvPr>
          <p:cNvSpPr>
            <a:spLocks xmlns:a="http://schemas.openxmlformats.org/drawingml/2006/main" noGrp="1"/>
          </p:cNvSpPr>
          <p:nvPr/>
        </p:nvSpPr>
        <p:spPr>
          <a:xfrm xmlns:a="http://schemas.openxmlformats.org/drawingml/2006/main">
            <a:off x="457200" y="481330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F65FA702-BC27-41B6-BE93-069515CEC389}"/>
              </a:ext>
            </a:extLst>
          </p:cNvPr>
          <p:cNvSpPr>
            <a:spLocks xmlns:a="http://schemas.openxmlformats.org/drawingml/2006/main" noGrp="1"/>
          </p:cNvSpPr>
          <p:nvPr/>
        </p:nvSpPr>
        <p:spPr>
          <a:xfrm xmlns:a="http://schemas.openxmlformats.org/drawingml/2006/main">
            <a:off x="457200" y="481330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A66AB6F-E800-4E12-8232-2D38FFD86750}"/>
              </a:ext>
            </a:extLst>
          </p:cNvPr>
          <p:cNvSpPr>
            <a:spLocks xmlns:a="http://schemas.openxmlformats.org/drawingml/2006/main" noGrp="1"/>
          </p:cNvSpPr>
          <p:nvPr/>
        </p:nvSpPr>
        <p:spPr>
          <a:xfrm xmlns:a="http://schemas.openxmlformats.org/drawingml/2006/main">
            <a:off x="581025" y="48799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4DD43977-F6D2-4C11-AE8A-43BAEBAFBE71}"/>
              </a:ext>
            </a:extLst>
          </p:cNvPr>
          <p:cNvSpPr>
            <a:spLocks xmlns:a="http://schemas.openxmlformats.org/drawingml/2006/main" noGrp="1"/>
          </p:cNvSpPr>
          <p:nvPr/>
        </p:nvSpPr>
        <p:spPr>
          <a:xfrm xmlns:a="http://schemas.openxmlformats.org/drawingml/2006/main">
            <a:off x="581025" y="50292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Tier-1 reviews the pack and finds the boundary unworkable for its architecture.</a:t>
            </a:r>
          </a:p>
        </p:txBody>
      </p:sp>
      <p:sp>
        <p:nvSpPr>
          <p:cNvPr id="28" name="">
            <a:extLst xmlns:a="http://schemas.openxmlformats.org/drawingml/2006/main">
              <a:ext uri="{FF2B5EF4-FFF2-40B4-BE49-F238E27FC236}">
                <a16:creationId xmlns:a16="http://schemas.microsoft.com/office/drawing/2014/main" id="{AB27A80A-AF77-4492-96F4-359C724BFBA0}"/>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57D8F94-FCB0-4C4F-99B5-AD1FDC02A3C0}"/>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4301E33-CDE8-4A44-8E32-FF245A3BCFB5}"/>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C60E1977-9403-4062-9CCA-A7CA161E287C}"/>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Publish ICD + safety-assumption pack for partner review within 14 days</a:t>
            </a:r>
          </a:p>
        </p:txBody>
      </p:sp>
      <p:sp>
        <p:nvSpPr>
          <p:cNvPr id="32" name="">
            <a:extLst xmlns:a="http://schemas.openxmlformats.org/drawingml/2006/main">
              <a:ext uri="{FF2B5EF4-FFF2-40B4-BE49-F238E27FC236}">
                <a16:creationId xmlns:a16="http://schemas.microsoft.com/office/drawing/2014/main" id="{1DAFC033-1AFE-433E-A7BD-B091A7AD01FB}"/>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B7A06E75-02E4-402F-92E0-214AF4A7979F}"/>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Publish for partner review within 14 days.</a:t>
            </a:r>
          </a:p>
        </p:txBody>
      </p:sp>
      <p:sp>
        <p:nvSpPr>
          <p:cNvPr id="34" name="">
            <a:extLst xmlns:a="http://schemas.openxmlformats.org/drawingml/2006/main">
              <a:ext uri="{FF2B5EF4-FFF2-40B4-BE49-F238E27FC236}">
                <a16:creationId xmlns:a16="http://schemas.microsoft.com/office/drawing/2014/main" id="{ABE91115-FAA1-45AE-B651-7455053B1587}"/>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B28582B0-43F3-4E2D-A998-DEDF75E67FB9}"/>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no partner returns comments within 30 days of publication.</a:t>
            </a:r>
          </a:p>
        </p:txBody>
      </p:sp>
      <p:sp>
        <p:nvSpPr>
          <p:cNvPr id="36" name="">
            <a:extLst xmlns:a="http://schemas.openxmlformats.org/drawingml/2006/main">
              <a:ext uri="{FF2B5EF4-FFF2-40B4-BE49-F238E27FC236}">
                <a16:creationId xmlns:a16="http://schemas.microsoft.com/office/drawing/2014/main" id="{26D32711-FAFA-4BEF-9497-58E8F3518EA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E37648D-94DA-4400-B69E-2D76AD2ECF83}"/>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BB3266E8-AF1B-4C29-887F-D35AE28B6A0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103</a:t>
            </a:r>
          </a:p>
        </p:txBody>
      </p:sp>
    </p:spTree>
    <p:extLst>
      <p:ext uri="{BB962C8B-B14F-4D97-AF65-F5344CB8AC3E}">
        <p14:creationId xmlns:p14="http://schemas.microsoft.com/office/powerpoint/2010/main" val="814241090"/>
      </p:ext>
    </p:extLst>
  </p:cSld>
</p:sld>
</file>

<file path=ppt/slides/slide104.xml><?xml version="1.0" encoding="utf-8"?>
<p:sld xmlns:p="http://schemas.openxmlformats.org/presentationml/2006/main">
  <p:cSld>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0EE4E88E-D181-4F53-90E7-9480B69CB3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AE2096B-C784-4204-BB6C-9A9EEC269C3D}"/>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D77DE10-A900-4A7D-88B0-A698AA8BD46D}"/>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P6 · COST BRIDGE</a:t>
            </a:r>
          </a:p>
        </p:txBody>
      </p:sp>
      <p:sp>
        <p:nvSpPr>
          <p:cNvPr id="4" name="">
            <a:extLst xmlns:a="http://schemas.openxmlformats.org/drawingml/2006/main">
              <a:ext uri="{FF2B5EF4-FFF2-40B4-BE49-F238E27FC236}">
                <a16:creationId xmlns:a16="http://schemas.microsoft.com/office/drawing/2014/main" id="{D2E24DCC-27E3-42A8-8940-832D9A1F50B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BAR HEIGHT = MAGNITUDE</a:t>
            </a:r>
          </a:p>
        </p:txBody>
      </p:sp>
      <p:sp>
        <p:nvSpPr>
          <p:cNvPr id="5" name="">
            <a:extLst xmlns:a="http://schemas.openxmlformats.org/drawingml/2006/main">
              <a:ext uri="{FF2B5EF4-FFF2-40B4-BE49-F238E27FC236}">
                <a16:creationId xmlns:a16="http://schemas.microsoft.com/office/drawing/2014/main" id="{0A72A6B5-C181-4848-BB2C-381C3134B7E1}"/>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The FPGA-to-ASIC cost claim is credible only through a loaded-cost model</a:t>
            </a:r>
          </a:p>
        </p:txBody>
      </p:sp>
      <p:sp>
        <p:nvSpPr>
          <p:cNvPr id="6" name="">
            <a:extLst xmlns:a="http://schemas.openxmlformats.org/drawingml/2006/main">
              <a:ext uri="{FF2B5EF4-FFF2-40B4-BE49-F238E27FC236}">
                <a16:creationId xmlns:a16="http://schemas.microsoft.com/office/drawing/2014/main" id="{B7FE3AA3-4A18-46AF-91D3-B9D19C5A7626}"/>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D7C57E3-4523-4E44-86F0-9CE655792DDA}"/>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evidence would justify an ASIC commitment or external cost claims?</a:t>
            </a:r>
          </a:p>
        </p:txBody>
      </p:sp>
      <p:sp>
        <p:nvSpPr>
          <p:cNvPr id="8" name="">
            <a:extLst xmlns:a="http://schemas.openxmlformats.org/drawingml/2006/main">
              <a:ext uri="{FF2B5EF4-FFF2-40B4-BE49-F238E27FC236}">
                <a16:creationId xmlns:a16="http://schemas.microsoft.com/office/drawing/2014/main" id="{A0006179-0476-4324-BC10-3069CBAF5985}"/>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DB687C3B-1E4D-4BC6-8B87-B8A2EB270755}"/>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6B3D543-D305-41D2-B20B-B9EBF21110F1}"/>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28F2E087-2766-4EDE-83A6-AC75EE32E2F1}"/>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cost claim is credible only through a loaded-cost model carrying NRE, yield, package, qualification, warranty and lifecycle. A projected die price is not comparable to a system price.</a:t>
            </a:r>
          </a:p>
        </p:txBody>
      </p:sp>
      <p:sp>
        <p:nvSpPr>
          <p:cNvPr id="12" name="">
            <a:extLst xmlns:a="http://schemas.openxmlformats.org/drawingml/2006/main">
              <a:ext uri="{FF2B5EF4-FFF2-40B4-BE49-F238E27FC236}">
                <a16:creationId xmlns:a16="http://schemas.microsoft.com/office/drawing/2014/main" id="{49EA1797-B133-4186-BC35-CBB70ED1E703}"/>
              </a:ext>
            </a:extLst>
          </p:cNvPr>
          <p:cNvSpPr>
            <a:spLocks xmlns:a="http://schemas.openxmlformats.org/drawingml/2006/main" noGrp="1"/>
          </p:cNvSpPr>
          <p:nvPr/>
        </p:nvSpPr>
        <p:spPr>
          <a:xfrm xmlns:a="http://schemas.openxmlformats.org/drawingml/2006/main">
            <a:off x="457200" y="42989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9D821F3-48D2-42B8-B5E7-81B6FBB8DBE3}"/>
              </a:ext>
            </a:extLst>
          </p:cNvPr>
          <p:cNvSpPr>
            <a:spLocks xmlns:a="http://schemas.openxmlformats.org/drawingml/2006/main" noGrp="1"/>
          </p:cNvSpPr>
          <p:nvPr/>
        </p:nvSpPr>
        <p:spPr>
          <a:xfrm xmlns:a="http://schemas.openxmlformats.org/drawingml/2006/main">
            <a:off x="457200" y="2127250"/>
            <a:ext cx="2148840" cy="21717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AB8CB61-266C-4D10-B7C8-896C8BA571F4}"/>
              </a:ext>
            </a:extLst>
          </p:cNvPr>
          <p:cNvSpPr>
            <a:spLocks xmlns:a="http://schemas.openxmlformats.org/drawingml/2006/main" noGrp="1"/>
          </p:cNvSpPr>
          <p:nvPr/>
        </p:nvSpPr>
        <p:spPr>
          <a:xfrm xmlns:a="http://schemas.openxmlformats.org/drawingml/2006/main">
            <a:off x="400050" y="1936750"/>
            <a:ext cx="2263140" cy="15240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ctr">
              <a:defRPr sz="1200" b="1">
                <a:solidFill>
                  <a:srgbClr val="101827"/>
                </a:solidFill>
                <a:latin typeface="Georgia"/>
                <a:ea typeface="Georgia"/>
                <a:cs typeface="Georgia"/>
              </a:defRPr>
            </a:pPr>
            <a:r>
              <a:t>$125</a:t>
            </a:r>
          </a:p>
        </p:txBody>
      </p:sp>
      <p:sp>
        <p:nvSpPr>
          <p:cNvPr id="15" name="">
            <a:extLst xmlns:a="http://schemas.openxmlformats.org/drawingml/2006/main">
              <a:ext uri="{FF2B5EF4-FFF2-40B4-BE49-F238E27FC236}">
                <a16:creationId xmlns:a16="http://schemas.microsoft.com/office/drawing/2014/main" id="{D593DFFA-1A68-4EA7-8EA6-89715C977D29}"/>
              </a:ext>
            </a:extLst>
          </p:cNvPr>
          <p:cNvSpPr>
            <a:spLocks xmlns:a="http://schemas.openxmlformats.org/drawingml/2006/main" noGrp="1"/>
          </p:cNvSpPr>
          <p:nvPr/>
        </p:nvSpPr>
        <p:spPr>
          <a:xfrm xmlns:a="http://schemas.openxmlformats.org/drawingml/2006/main">
            <a:off x="381000" y="4365625"/>
            <a:ext cx="230124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00" b="1">
                <a:solidFill>
                  <a:srgbClr val="586270"/>
                </a:solidFill>
                <a:latin typeface="Arial"/>
                <a:ea typeface="Arial"/>
                <a:cs typeface="Arial"/>
              </a:defRPr>
            </a:pPr>
            <a:r>
              <a:t>FPGA MODULE</a:t>
            </a:r>
          </a:p>
        </p:txBody>
      </p:sp>
      <p:sp>
        <p:nvSpPr>
          <p:cNvPr id="16" name="">
            <a:extLst xmlns:a="http://schemas.openxmlformats.org/drawingml/2006/main">
              <a:ext uri="{FF2B5EF4-FFF2-40B4-BE49-F238E27FC236}">
                <a16:creationId xmlns:a16="http://schemas.microsoft.com/office/drawing/2014/main" id="{B3DA725F-71C8-4892-9ED1-9D9C00FED78E}"/>
              </a:ext>
            </a:extLst>
          </p:cNvPr>
          <p:cNvSpPr>
            <a:spLocks xmlns:a="http://schemas.openxmlformats.org/drawingml/2006/main" noGrp="1"/>
          </p:cNvSpPr>
          <p:nvPr/>
        </p:nvSpPr>
        <p:spPr>
          <a:xfrm xmlns:a="http://schemas.openxmlformats.org/drawingml/2006/main">
            <a:off x="2739390" y="3517138"/>
            <a:ext cx="2148840" cy="781812"/>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4824EE6-CAC8-49A8-A262-4DB4301A6F03}"/>
              </a:ext>
            </a:extLst>
          </p:cNvPr>
          <p:cNvSpPr>
            <a:spLocks xmlns:a="http://schemas.openxmlformats.org/drawingml/2006/main" noGrp="1"/>
          </p:cNvSpPr>
          <p:nvPr/>
        </p:nvSpPr>
        <p:spPr>
          <a:xfrm xmlns:a="http://schemas.openxmlformats.org/drawingml/2006/main">
            <a:off x="2682240" y="3326638"/>
            <a:ext cx="2263140" cy="15240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ctr">
              <a:defRPr sz="1200" b="1">
                <a:solidFill>
                  <a:srgbClr val="101827"/>
                </a:solidFill>
                <a:latin typeface="Georgia"/>
                <a:ea typeface="Georgia"/>
                <a:cs typeface="Georgia"/>
              </a:defRPr>
            </a:pPr>
            <a:r>
              <a:t>$45</a:t>
            </a:r>
          </a:p>
        </p:txBody>
      </p:sp>
      <p:sp>
        <p:nvSpPr>
          <p:cNvPr id="18" name="">
            <a:extLst xmlns:a="http://schemas.openxmlformats.org/drawingml/2006/main">
              <a:ext uri="{FF2B5EF4-FFF2-40B4-BE49-F238E27FC236}">
                <a16:creationId xmlns:a16="http://schemas.microsoft.com/office/drawing/2014/main" id="{EEE2B4BD-1FB2-4E07-8112-6BDC41F6CF31}"/>
              </a:ext>
            </a:extLst>
          </p:cNvPr>
          <p:cNvSpPr>
            <a:spLocks xmlns:a="http://schemas.openxmlformats.org/drawingml/2006/main" noGrp="1"/>
          </p:cNvSpPr>
          <p:nvPr/>
        </p:nvSpPr>
        <p:spPr>
          <a:xfrm xmlns:a="http://schemas.openxmlformats.org/drawingml/2006/main">
            <a:off x="2663190" y="4365625"/>
            <a:ext cx="230124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00" b="1">
                <a:solidFill>
                  <a:srgbClr val="586270"/>
                </a:solidFill>
                <a:latin typeface="Arial"/>
                <a:ea typeface="Arial"/>
                <a:cs typeface="Arial"/>
              </a:defRPr>
            </a:pPr>
            <a:r>
              <a:t>NRE (DESIGN)</a:t>
            </a:r>
          </a:p>
        </p:txBody>
      </p:sp>
      <p:sp>
        <p:nvSpPr>
          <p:cNvPr id="19" name="">
            <a:extLst xmlns:a="http://schemas.openxmlformats.org/drawingml/2006/main">
              <a:ext uri="{FF2B5EF4-FFF2-40B4-BE49-F238E27FC236}">
                <a16:creationId xmlns:a16="http://schemas.microsoft.com/office/drawing/2014/main" id="{A48F090F-0BF0-4EEE-A357-742A0CBDE39F}"/>
              </a:ext>
            </a:extLst>
          </p:cNvPr>
          <p:cNvSpPr>
            <a:spLocks xmlns:a="http://schemas.openxmlformats.org/drawingml/2006/main" noGrp="1"/>
          </p:cNvSpPr>
          <p:nvPr/>
        </p:nvSpPr>
        <p:spPr>
          <a:xfrm xmlns:a="http://schemas.openxmlformats.org/drawingml/2006/main">
            <a:off x="5021580" y="3777742"/>
            <a:ext cx="2148840" cy="521208"/>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7B1EE3D-CF0F-4F3B-BB06-780668807D2D}"/>
              </a:ext>
            </a:extLst>
          </p:cNvPr>
          <p:cNvSpPr>
            <a:spLocks xmlns:a="http://schemas.openxmlformats.org/drawingml/2006/main" noGrp="1"/>
          </p:cNvSpPr>
          <p:nvPr/>
        </p:nvSpPr>
        <p:spPr>
          <a:xfrm xmlns:a="http://schemas.openxmlformats.org/drawingml/2006/main">
            <a:off x="4964430" y="3587242"/>
            <a:ext cx="2263140" cy="15240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ctr">
              <a:defRPr sz="1200" b="1">
                <a:solidFill>
                  <a:srgbClr val="101827"/>
                </a:solidFill>
                <a:latin typeface="Georgia"/>
                <a:ea typeface="Georgia"/>
                <a:cs typeface="Georgia"/>
              </a:defRPr>
            </a:pPr>
            <a:r>
              <a:t>$30</a:t>
            </a:r>
          </a:p>
        </p:txBody>
      </p:sp>
      <p:sp>
        <p:nvSpPr>
          <p:cNvPr id="21" name="">
            <a:extLst xmlns:a="http://schemas.openxmlformats.org/drawingml/2006/main">
              <a:ext uri="{FF2B5EF4-FFF2-40B4-BE49-F238E27FC236}">
                <a16:creationId xmlns:a16="http://schemas.microsoft.com/office/drawing/2014/main" id="{8534CD90-D79E-41E8-B296-CB77BF1A5595}"/>
              </a:ext>
            </a:extLst>
          </p:cNvPr>
          <p:cNvSpPr>
            <a:spLocks xmlns:a="http://schemas.openxmlformats.org/drawingml/2006/main" noGrp="1"/>
          </p:cNvSpPr>
          <p:nvPr/>
        </p:nvSpPr>
        <p:spPr>
          <a:xfrm xmlns:a="http://schemas.openxmlformats.org/drawingml/2006/main">
            <a:off x="4945380" y="4365625"/>
            <a:ext cx="230124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00" b="1">
                <a:solidFill>
                  <a:srgbClr val="586270"/>
                </a:solidFill>
                <a:latin typeface="Arial"/>
                <a:ea typeface="Arial"/>
                <a:cs typeface="Arial"/>
              </a:defRPr>
            </a:pPr>
            <a:r>
              <a:t>YIELD / PACKAGE</a:t>
            </a:r>
          </a:p>
        </p:txBody>
      </p:sp>
      <p:sp>
        <p:nvSpPr>
          <p:cNvPr id="22" name="">
            <a:extLst xmlns:a="http://schemas.openxmlformats.org/drawingml/2006/main">
              <a:ext uri="{FF2B5EF4-FFF2-40B4-BE49-F238E27FC236}">
                <a16:creationId xmlns:a16="http://schemas.microsoft.com/office/drawing/2014/main" id="{A57FE4B5-1BA3-4A01-AA99-4C6D3216B79D}"/>
              </a:ext>
            </a:extLst>
          </p:cNvPr>
          <p:cNvSpPr>
            <a:spLocks xmlns:a="http://schemas.openxmlformats.org/drawingml/2006/main" noGrp="1"/>
          </p:cNvSpPr>
          <p:nvPr/>
        </p:nvSpPr>
        <p:spPr>
          <a:xfrm xmlns:a="http://schemas.openxmlformats.org/drawingml/2006/main">
            <a:off x="7303770" y="3864610"/>
            <a:ext cx="2148840" cy="43434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D780FAB-0F68-4F3A-A33D-3D4064AB1C58}"/>
              </a:ext>
            </a:extLst>
          </p:cNvPr>
          <p:cNvSpPr>
            <a:spLocks xmlns:a="http://schemas.openxmlformats.org/drawingml/2006/main" noGrp="1"/>
          </p:cNvSpPr>
          <p:nvPr/>
        </p:nvSpPr>
        <p:spPr>
          <a:xfrm xmlns:a="http://schemas.openxmlformats.org/drawingml/2006/main">
            <a:off x="7246620" y="3674110"/>
            <a:ext cx="2263140" cy="15240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ctr">
              <a:defRPr sz="1200" b="1">
                <a:solidFill>
                  <a:srgbClr val="101827"/>
                </a:solidFill>
                <a:latin typeface="Georgia"/>
                <a:ea typeface="Georgia"/>
                <a:cs typeface="Georgia"/>
              </a:defRPr>
            </a:pPr>
            <a:r>
              <a:t>$25</a:t>
            </a:r>
          </a:p>
        </p:txBody>
      </p:sp>
      <p:sp>
        <p:nvSpPr>
          <p:cNvPr id="24" name="">
            <a:extLst xmlns:a="http://schemas.openxmlformats.org/drawingml/2006/main">
              <a:ext uri="{FF2B5EF4-FFF2-40B4-BE49-F238E27FC236}">
                <a16:creationId xmlns:a16="http://schemas.microsoft.com/office/drawing/2014/main" id="{EE7794EB-915D-4FE7-8492-D87C583764F7}"/>
              </a:ext>
            </a:extLst>
          </p:cNvPr>
          <p:cNvSpPr>
            <a:spLocks xmlns:a="http://schemas.openxmlformats.org/drawingml/2006/main" noGrp="1"/>
          </p:cNvSpPr>
          <p:nvPr/>
        </p:nvSpPr>
        <p:spPr>
          <a:xfrm xmlns:a="http://schemas.openxmlformats.org/drawingml/2006/main">
            <a:off x="7227570" y="4365625"/>
            <a:ext cx="230124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00" b="1">
                <a:solidFill>
                  <a:srgbClr val="586270"/>
                </a:solidFill>
                <a:latin typeface="Arial"/>
                <a:ea typeface="Arial"/>
                <a:cs typeface="Arial"/>
              </a:defRPr>
            </a:pPr>
            <a:r>
              <a:t>QUALIFICATION</a:t>
            </a:r>
          </a:p>
        </p:txBody>
      </p:sp>
      <p:sp>
        <p:nvSpPr>
          <p:cNvPr id="25" name="">
            <a:extLst xmlns:a="http://schemas.openxmlformats.org/drawingml/2006/main">
              <a:ext uri="{FF2B5EF4-FFF2-40B4-BE49-F238E27FC236}">
                <a16:creationId xmlns:a16="http://schemas.microsoft.com/office/drawing/2014/main" id="{D49542B8-61E4-43DD-B528-DE8EB801B76A}"/>
              </a:ext>
            </a:extLst>
          </p:cNvPr>
          <p:cNvSpPr>
            <a:spLocks xmlns:a="http://schemas.openxmlformats.org/drawingml/2006/main" noGrp="1"/>
          </p:cNvSpPr>
          <p:nvPr/>
        </p:nvSpPr>
        <p:spPr>
          <a:xfrm xmlns:a="http://schemas.openxmlformats.org/drawingml/2006/main">
            <a:off x="9585960" y="2822194"/>
            <a:ext cx="2148840" cy="1476756"/>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9CC20A7-87A2-42E4-A37C-70D8CE1EBA12}"/>
              </a:ext>
            </a:extLst>
          </p:cNvPr>
          <p:cNvSpPr>
            <a:spLocks xmlns:a="http://schemas.openxmlformats.org/drawingml/2006/main" noGrp="1"/>
          </p:cNvSpPr>
          <p:nvPr/>
        </p:nvSpPr>
        <p:spPr>
          <a:xfrm xmlns:a="http://schemas.openxmlformats.org/drawingml/2006/main">
            <a:off x="9528810" y="2631694"/>
            <a:ext cx="2263140" cy="15240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ctr">
              <a:defRPr sz="1200" b="1">
                <a:solidFill>
                  <a:srgbClr val="101827"/>
                </a:solidFill>
                <a:latin typeface="Georgia"/>
                <a:ea typeface="Georgia"/>
                <a:cs typeface="Georgia"/>
              </a:defRPr>
            </a:pPr>
            <a:r>
              <a:t>$85</a:t>
            </a:r>
          </a:p>
        </p:txBody>
      </p:sp>
      <p:sp>
        <p:nvSpPr>
          <p:cNvPr id="27" name="">
            <a:extLst xmlns:a="http://schemas.openxmlformats.org/drawingml/2006/main">
              <a:ext uri="{FF2B5EF4-FFF2-40B4-BE49-F238E27FC236}">
                <a16:creationId xmlns:a16="http://schemas.microsoft.com/office/drawing/2014/main" id="{774AE109-9CEE-4C54-BB15-74DCB2D90BE2}"/>
              </a:ext>
            </a:extLst>
          </p:cNvPr>
          <p:cNvSpPr>
            <a:spLocks xmlns:a="http://schemas.openxmlformats.org/drawingml/2006/main" noGrp="1"/>
          </p:cNvSpPr>
          <p:nvPr/>
        </p:nvSpPr>
        <p:spPr>
          <a:xfrm xmlns:a="http://schemas.openxmlformats.org/drawingml/2006/main">
            <a:off x="9509760" y="4365625"/>
            <a:ext cx="230124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00" b="1">
                <a:solidFill>
                  <a:srgbClr val="586270"/>
                </a:solidFill>
                <a:latin typeface="Arial"/>
                <a:ea typeface="Arial"/>
                <a:cs typeface="Arial"/>
              </a:defRPr>
            </a:pPr>
            <a:r>
              <a:t>ASIC MODULE</a:t>
            </a:r>
          </a:p>
        </p:txBody>
      </p:sp>
      <p:sp>
        <p:nvSpPr>
          <p:cNvPr id="28" name="">
            <a:extLst xmlns:a="http://schemas.openxmlformats.org/drawingml/2006/main">
              <a:ext uri="{FF2B5EF4-FFF2-40B4-BE49-F238E27FC236}">
                <a16:creationId xmlns:a16="http://schemas.microsoft.com/office/drawing/2014/main" id="{BC2702CA-D93F-45F7-9118-31361DEC120B}"/>
              </a:ext>
            </a:extLst>
          </p:cNvPr>
          <p:cNvSpPr>
            <a:spLocks xmlns:a="http://schemas.openxmlformats.org/drawingml/2006/main" noGrp="1"/>
          </p:cNvSpPr>
          <p:nvPr/>
        </p:nvSpPr>
        <p:spPr>
          <a:xfrm xmlns:a="http://schemas.openxmlformats.org/drawingml/2006/main">
            <a:off x="457200" y="4660900"/>
            <a:ext cx="112776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DIRECTIONAL ONLY — ILLUSTRATIVE MAGNITUDES, NOT VERIFIED QUOTATIONS OR BOM COSTS.</a:t>
            </a:r>
          </a:p>
        </p:txBody>
      </p:sp>
      <p:sp>
        <p:nvSpPr>
          <p:cNvPr id="29" name="">
            <a:extLst xmlns:a="http://schemas.openxmlformats.org/drawingml/2006/main">
              <a:ext uri="{FF2B5EF4-FFF2-40B4-BE49-F238E27FC236}">
                <a16:creationId xmlns:a16="http://schemas.microsoft.com/office/drawing/2014/main" id="{11BEE134-13A4-4ADF-857C-B3503575F3E3}"/>
              </a:ext>
            </a:extLst>
          </p:cNvPr>
          <p:cNvSpPr>
            <a:spLocks xmlns:a="http://schemas.openxmlformats.org/drawingml/2006/main" noGrp="1"/>
          </p:cNvSpPr>
          <p:nvPr/>
        </p:nvSpPr>
        <p:spPr>
          <a:xfrm xmlns:a="http://schemas.openxmlformats.org/drawingml/2006/main">
            <a:off x="457200" y="4908550"/>
            <a:ext cx="5581650" cy="492125"/>
          </a:xfrm>
          <a:prstGeom xmlns:a="http://schemas.openxmlformats.org/drawingml/2006/main" prst="rect">
            <a:avLst/>
          </a:prstGeom>
          <a:solidFill xmlns:a="http://schemas.openxmlformats.org/drawingml/2006/main">
            <a:srgbClr val="FFF7EC"/>
          </a:solidFill>
          <a:ln xmlns:a="http://schemas.openxmlformats.org/drawingml/2006/main" w="9525">
            <a:solidFill>
              <a:srgbClr val="D8E2E7"/>
            </a:solidFill>
            <a:prstDash val="solid"/>
          </a:ln>
        </p:spPr>
      </p:sp>
      <p:sp>
        <p:nvSpPr>
          <p:cNvPr id="30" name="">
            <a:extLst xmlns:a="http://schemas.openxmlformats.org/drawingml/2006/main">
              <a:ext uri="{FF2B5EF4-FFF2-40B4-BE49-F238E27FC236}">
                <a16:creationId xmlns:a16="http://schemas.microsoft.com/office/drawing/2014/main" id="{890163D7-4CDF-4A51-AE4F-9EDEECCAC4E1}"/>
              </a:ext>
            </a:extLst>
          </p:cNvPr>
          <p:cNvSpPr>
            <a:spLocks xmlns:a="http://schemas.openxmlformats.org/drawingml/2006/main" noGrp="1"/>
          </p:cNvSpPr>
          <p:nvPr/>
        </p:nvSpPr>
        <p:spPr>
          <a:xfrm xmlns:a="http://schemas.openxmlformats.org/drawingml/2006/main">
            <a:off x="457200" y="4908550"/>
            <a:ext cx="28575" cy="4921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9FE6F3F-ED4A-4DBD-8F9A-0D3B1AA15999}"/>
              </a:ext>
            </a:extLst>
          </p:cNvPr>
          <p:cNvSpPr>
            <a:spLocks xmlns:a="http://schemas.openxmlformats.org/drawingml/2006/main" noGrp="1"/>
          </p:cNvSpPr>
          <p:nvPr/>
        </p:nvSpPr>
        <p:spPr>
          <a:xfrm xmlns:a="http://schemas.openxmlformats.org/drawingml/2006/main">
            <a:off x="581025" y="4975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COMPARABILITY RULE</a:t>
            </a:r>
          </a:p>
        </p:txBody>
      </p:sp>
      <p:sp>
        <p:nvSpPr>
          <p:cNvPr id="32" name="">
            <a:extLst xmlns:a="http://schemas.openxmlformats.org/drawingml/2006/main">
              <a:ext uri="{FF2B5EF4-FFF2-40B4-BE49-F238E27FC236}">
                <a16:creationId xmlns:a16="http://schemas.microsoft.com/office/drawing/2014/main" id="{F8702DBA-C41C-4B95-BA82-E84812E2A169}"/>
              </a:ext>
            </a:extLst>
          </p:cNvPr>
          <p:cNvSpPr>
            <a:spLocks xmlns:a="http://schemas.openxmlformats.org/drawingml/2006/main" noGrp="1"/>
          </p:cNvSpPr>
          <p:nvPr/>
        </p:nvSpPr>
        <p:spPr>
          <a:xfrm xmlns:a="http://schemas.openxmlformats.org/drawingml/2006/main">
            <a:off x="581025" y="51244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 projected die price is not comparable to a system price.</a:t>
            </a:r>
          </a:p>
        </p:txBody>
      </p:sp>
      <p:sp>
        <p:nvSpPr>
          <p:cNvPr id="33" name="">
            <a:extLst xmlns:a="http://schemas.openxmlformats.org/drawingml/2006/main">
              <a:ext uri="{FF2B5EF4-FFF2-40B4-BE49-F238E27FC236}">
                <a16:creationId xmlns:a16="http://schemas.microsoft.com/office/drawing/2014/main" id="{6BE1A4D3-BB6C-4F41-B992-4F1A31F6D9A4}"/>
              </a:ext>
            </a:extLst>
          </p:cNvPr>
          <p:cNvSpPr>
            <a:spLocks xmlns:a="http://schemas.openxmlformats.org/drawingml/2006/main" noGrp="1"/>
          </p:cNvSpPr>
          <p:nvPr/>
        </p:nvSpPr>
        <p:spPr>
          <a:xfrm xmlns:a="http://schemas.openxmlformats.org/drawingml/2006/main">
            <a:off x="6153150" y="4908550"/>
            <a:ext cx="5581650" cy="673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4" name="">
            <a:extLst xmlns:a="http://schemas.openxmlformats.org/drawingml/2006/main">
              <a:ext uri="{FF2B5EF4-FFF2-40B4-BE49-F238E27FC236}">
                <a16:creationId xmlns:a16="http://schemas.microsoft.com/office/drawing/2014/main" id="{5EEE3A5E-62C8-471F-8A00-9B33B51FA2CC}"/>
              </a:ext>
            </a:extLst>
          </p:cNvPr>
          <p:cNvSpPr>
            <a:spLocks xmlns:a="http://schemas.openxmlformats.org/drawingml/2006/main" noGrp="1"/>
          </p:cNvSpPr>
          <p:nvPr/>
        </p:nvSpPr>
        <p:spPr>
          <a:xfrm xmlns:a="http://schemas.openxmlformats.org/drawingml/2006/main">
            <a:off x="6153150" y="4908550"/>
            <a:ext cx="28575" cy="673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71C3A03F-24B5-41FD-AD84-979696F47274}"/>
              </a:ext>
            </a:extLst>
          </p:cNvPr>
          <p:cNvSpPr>
            <a:spLocks xmlns:a="http://schemas.openxmlformats.org/drawingml/2006/main" noGrp="1"/>
          </p:cNvSpPr>
          <p:nvPr/>
        </p:nvSpPr>
        <p:spPr>
          <a:xfrm xmlns:a="http://schemas.openxmlformats.org/drawingml/2006/main">
            <a:off x="6276975" y="4975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CAPITAL GATE</a:t>
            </a:r>
          </a:p>
        </p:txBody>
      </p:sp>
      <p:sp>
        <p:nvSpPr>
          <p:cNvPr id="36" name="">
            <a:extLst xmlns:a="http://schemas.openxmlformats.org/drawingml/2006/main">
              <a:ext uri="{FF2B5EF4-FFF2-40B4-BE49-F238E27FC236}">
                <a16:creationId xmlns:a16="http://schemas.microsoft.com/office/drawing/2014/main" id="{6855A0B1-9193-419E-AAF5-14FEEF6D9D3D}"/>
              </a:ext>
            </a:extLst>
          </p:cNvPr>
          <p:cNvSpPr>
            <a:spLocks xmlns:a="http://schemas.openxmlformats.org/drawingml/2006/main" noGrp="1"/>
          </p:cNvSpPr>
          <p:nvPr/>
        </p:nvSpPr>
        <p:spPr>
          <a:xfrm xmlns:a="http://schemas.openxmlformats.org/drawingml/2006/main">
            <a:off x="6276975" y="5124450"/>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CEO commissions the break-even model Monday and prohibits ASIC spend until model accepted</a:t>
            </a:r>
          </a:p>
        </p:txBody>
      </p:sp>
      <p:sp>
        <p:nvSpPr>
          <p:cNvPr id="37" name="">
            <a:extLst xmlns:a="http://schemas.openxmlformats.org/drawingml/2006/main">
              <a:ext uri="{FF2B5EF4-FFF2-40B4-BE49-F238E27FC236}">
                <a16:creationId xmlns:a16="http://schemas.microsoft.com/office/drawing/2014/main" id="{43B6D4B4-A36B-4177-90B4-E534C4AFE161}"/>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1B3D7AF8-725F-486F-91EB-3037558B33AF}"/>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44511B9B-2392-4FD4-A431-7462E37979C4}"/>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0" name="">
            <a:extLst xmlns:a="http://schemas.openxmlformats.org/drawingml/2006/main">
              <a:ext uri="{FF2B5EF4-FFF2-40B4-BE49-F238E27FC236}">
                <a16:creationId xmlns:a16="http://schemas.microsoft.com/office/drawing/2014/main" id="{270CC621-9990-4404-8329-5F791EB9453A}"/>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CEO commissions the break-even model Monday and prohibits ASIC spend until model accepted</a:t>
            </a:r>
          </a:p>
        </p:txBody>
      </p:sp>
      <p:sp>
        <p:nvSpPr>
          <p:cNvPr id="41" name="">
            <a:extLst xmlns:a="http://schemas.openxmlformats.org/drawingml/2006/main">
              <a:ext uri="{FF2B5EF4-FFF2-40B4-BE49-F238E27FC236}">
                <a16:creationId xmlns:a16="http://schemas.microsoft.com/office/drawing/2014/main" id="{10418285-0F66-4A49-BAC3-8765A0F143E9}"/>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2" name="">
            <a:extLst xmlns:a="http://schemas.openxmlformats.org/drawingml/2006/main">
              <a:ext uri="{FF2B5EF4-FFF2-40B4-BE49-F238E27FC236}">
                <a16:creationId xmlns:a16="http://schemas.microsoft.com/office/drawing/2014/main" id="{D0624A16-F50D-4DFB-9B38-966FEEFC3C6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CFO with Head of Silicon</a:t>
            </a:r>
          </a:p>
          <a:p xmlns:a="http://schemas.openxmlformats.org/drawingml/2006/main">
            <a:pPr algn="l">
              <a:defRPr sz="800">
                <a:solidFill>
                  <a:srgbClr val="8EA0B2"/>
                </a:solidFill>
                <a:latin typeface="Arial"/>
                <a:ea typeface="Arial"/>
                <a:cs typeface="Arial"/>
              </a:defRPr>
            </a:pPr>
            <a:r>
              <a:t>Trigger · Model includes NRE, yield, package, qualification, warranty and break-even volume</a:t>
            </a:r>
          </a:p>
        </p:txBody>
      </p:sp>
      <p:sp>
        <p:nvSpPr>
          <p:cNvPr id="43" name="">
            <a:extLst xmlns:a="http://schemas.openxmlformats.org/drawingml/2006/main">
              <a:ext uri="{FF2B5EF4-FFF2-40B4-BE49-F238E27FC236}">
                <a16:creationId xmlns:a16="http://schemas.microsoft.com/office/drawing/2014/main" id="{14C3754D-2868-447B-A673-2A688A403FB5}"/>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4" name="">
            <a:extLst xmlns:a="http://schemas.openxmlformats.org/drawingml/2006/main">
              <a:ext uri="{FF2B5EF4-FFF2-40B4-BE49-F238E27FC236}">
                <a16:creationId xmlns:a16="http://schemas.microsoft.com/office/drawing/2014/main" id="{8449951B-90E1-4B62-B5BE-06BD377F538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Prohibit ASIC spend until the break-even model is accepted.</a:t>
            </a:r>
          </a:p>
        </p:txBody>
      </p:sp>
      <p:sp>
        <p:nvSpPr>
          <p:cNvPr id="45" name="">
            <a:extLst xmlns:a="http://schemas.openxmlformats.org/drawingml/2006/main">
              <a:ext uri="{FF2B5EF4-FFF2-40B4-BE49-F238E27FC236}">
                <a16:creationId xmlns:a16="http://schemas.microsoft.com/office/drawing/2014/main" id="{CF5B3814-F5BC-44F7-9D76-A2BF52E2296C}"/>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130677C1-C9BB-4962-9206-76C5AC02DEE1}"/>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47" name="">
            <a:extLst xmlns:a="http://schemas.openxmlformats.org/drawingml/2006/main">
              <a:ext uri="{FF2B5EF4-FFF2-40B4-BE49-F238E27FC236}">
                <a16:creationId xmlns:a16="http://schemas.microsoft.com/office/drawing/2014/main" id="{409E1158-B41A-4A09-982B-D1FE9AE77E9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104</a:t>
            </a:r>
          </a:p>
        </p:txBody>
      </p:sp>
    </p:spTree>
    <p:extLst>
      <p:ext uri="{BB962C8B-B14F-4D97-AF65-F5344CB8AC3E}">
        <p14:creationId xmlns:p14="http://schemas.microsoft.com/office/powerpoint/2010/main" val="1282745778"/>
      </p:ext>
    </p:extLst>
  </p:cSld>
</p:sld>
</file>

<file path=ppt/slides/slide105.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CE0A2099-85CB-49E8-95B0-E05CC331084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0A79C99-F372-4700-8F59-A141791AE627}"/>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6EF05D2-64EF-4EE2-8ED1-824943D0163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3EFFB5A1-EF1F-4464-8CE2-EAEA862F0C78}"/>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282124A9-BC54-46B0-8361-CA083032BEC3}"/>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Win by becoming the measured, bounded India perception layer integrators adopt</a:t>
            </a:r>
          </a:p>
        </p:txBody>
      </p:sp>
      <p:sp>
        <p:nvSpPr>
          <p:cNvPr id="6" name="">
            <a:extLst xmlns:a="http://schemas.openxmlformats.org/drawingml/2006/main">
              <a:ext uri="{FF2B5EF4-FFF2-40B4-BE49-F238E27FC236}">
                <a16:creationId xmlns:a16="http://schemas.microsoft.com/office/drawing/2014/main" id="{66489F39-C7A9-4617-A8E5-91C806E73F4E}"/>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A697B4B-CCB9-4308-BC4C-E61BC49BBAC8}"/>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commitment converts the strategy into a falsifiable commercial test?</a:t>
            </a:r>
          </a:p>
        </p:txBody>
      </p:sp>
      <p:sp>
        <p:nvSpPr>
          <p:cNvPr id="8" name="">
            <a:extLst xmlns:a="http://schemas.openxmlformats.org/drawingml/2006/main">
              <a:ext uri="{FF2B5EF4-FFF2-40B4-BE49-F238E27FC236}">
                <a16:creationId xmlns:a16="http://schemas.microsoft.com/office/drawing/2014/main" id="{EFD987BE-FB8F-4F16-805E-8EBB7D233970}"/>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6F4417BB-DFF2-4887-87EA-BD76B4F78697}"/>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C585DC4-6778-4066-A1D8-BC6BF64F481D}"/>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FC58A964-E89A-462F-9AC5-8853FC77294C}"/>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The commitment that makes the strategy falsifiable is written acceptance of DGS001's interfaces and safety assumptions by one named braking Tier-1.</a:t>
            </a:r>
          </a:p>
        </p:txBody>
      </p:sp>
      <p:sp>
        <p:nvSpPr>
          <p:cNvPr id="12" name="">
            <a:extLst xmlns:a="http://schemas.openxmlformats.org/drawingml/2006/main">
              <a:ext uri="{FF2B5EF4-FFF2-40B4-BE49-F238E27FC236}">
                <a16:creationId xmlns:a16="http://schemas.microsoft.com/office/drawing/2014/main" id="{B0A7A95E-106D-4A87-BA8D-320A526953C3}"/>
              </a:ext>
            </a:extLst>
          </p:cNvPr>
          <p:cNvSpPr>
            <a:spLocks xmlns:a="http://schemas.openxmlformats.org/drawingml/2006/main" noGrp="1"/>
          </p:cNvSpPr>
          <p:nvPr/>
        </p:nvSpPr>
        <p:spPr>
          <a:xfrm xmlns:a="http://schemas.openxmlformats.org/drawingml/2006/main">
            <a:off x="457200"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7946C2DF-C0EE-4575-8370-B6FCEE198E9B}"/>
              </a:ext>
            </a:extLst>
          </p:cNvPr>
          <p:cNvSpPr>
            <a:spLocks xmlns:a="http://schemas.openxmlformats.org/drawingml/2006/main" noGrp="1"/>
          </p:cNvSpPr>
          <p:nvPr/>
        </p:nvSpPr>
        <p:spPr>
          <a:xfrm xmlns:a="http://schemas.openxmlformats.org/drawingml/2006/main">
            <a:off x="457200"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25DA1AF-AE15-4913-BEB2-9186E258321D}"/>
              </a:ext>
            </a:extLst>
          </p:cNvPr>
          <p:cNvSpPr>
            <a:spLocks xmlns:a="http://schemas.openxmlformats.org/drawingml/2006/main" noGrp="1"/>
          </p:cNvSpPr>
          <p:nvPr/>
        </p:nvSpPr>
        <p:spPr>
          <a:xfrm xmlns:a="http://schemas.openxmlformats.org/drawingml/2006/main">
            <a:off x="571500"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0AC1A72A-A3E5-489E-BED7-5D0FB21BB3D5}"/>
              </a:ext>
            </a:extLst>
          </p:cNvPr>
          <p:cNvSpPr>
            <a:spLocks xmlns:a="http://schemas.openxmlformats.org/drawingml/2006/main" noGrp="1"/>
          </p:cNvSpPr>
          <p:nvPr/>
        </p:nvSpPr>
        <p:spPr>
          <a:xfrm xmlns:a="http://schemas.openxmlformats.org/drawingml/2006/main">
            <a:off x="819150"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QUALIFICATION CONTEXT</a:t>
            </a:r>
          </a:p>
        </p:txBody>
      </p:sp>
      <p:sp>
        <p:nvSpPr>
          <p:cNvPr id="16" name="">
            <a:extLst xmlns:a="http://schemas.openxmlformats.org/drawingml/2006/main">
              <a:ext uri="{FF2B5EF4-FFF2-40B4-BE49-F238E27FC236}">
                <a16:creationId xmlns:a16="http://schemas.microsoft.com/office/drawing/2014/main" id="{7C934F0C-7A57-4204-8274-78BAD363D70C}"/>
              </a:ext>
            </a:extLst>
          </p:cNvPr>
          <p:cNvSpPr>
            <a:spLocks xmlns:a="http://schemas.openxmlformats.org/drawingml/2006/main" noGrp="1"/>
          </p:cNvSpPr>
          <p:nvPr/>
        </p:nvSpPr>
        <p:spPr>
          <a:xfrm xmlns:a="http://schemas.openxmlformats.org/drawingml/2006/main">
            <a:off x="571500"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Mandates can narrow access through qualification; accountable system owners capture integration value. Mandate compliance System accountability Value capture</a:t>
            </a:r>
          </a:p>
        </p:txBody>
      </p:sp>
      <p:sp>
        <p:nvSpPr>
          <p:cNvPr id="17" name="">
            <a:extLst xmlns:a="http://schemas.openxmlformats.org/drawingml/2006/main">
              <a:ext uri="{FF2B5EF4-FFF2-40B4-BE49-F238E27FC236}">
                <a16:creationId xmlns:a16="http://schemas.microsoft.com/office/drawing/2014/main" id="{E55C67DF-2A4D-4108-91F8-6DCD4B4FF9A4}"/>
              </a:ext>
            </a:extLst>
          </p:cNvPr>
          <p:cNvSpPr>
            <a:spLocks xmlns:a="http://schemas.openxmlformats.org/drawingml/2006/main" noGrp="1"/>
          </p:cNvSpPr>
          <p:nvPr/>
        </p:nvSpPr>
        <p:spPr>
          <a:xfrm xmlns:a="http://schemas.openxmlformats.org/drawingml/2006/main">
            <a:off x="3119438"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1F0E3BC-15D9-461A-8DAE-586BCDACB9E1}"/>
              </a:ext>
            </a:extLst>
          </p:cNvPr>
          <p:cNvSpPr>
            <a:spLocks xmlns:a="http://schemas.openxmlformats.org/drawingml/2006/main" noGrp="1"/>
          </p:cNvSpPr>
          <p:nvPr/>
        </p:nvSpPr>
        <p:spPr>
          <a:xfrm xmlns:a="http://schemas.openxmlformats.org/drawingml/2006/main">
            <a:off x="3348038"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B583E68D-6595-41EB-B0C6-7348EF2F9816}"/>
              </a:ext>
            </a:extLst>
          </p:cNvPr>
          <p:cNvSpPr>
            <a:spLocks xmlns:a="http://schemas.openxmlformats.org/drawingml/2006/main" noGrp="1"/>
          </p:cNvSpPr>
          <p:nvPr/>
        </p:nvSpPr>
        <p:spPr>
          <a:xfrm xmlns:a="http://schemas.openxmlformats.org/drawingml/2006/main">
            <a:off x="3348038"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4B4BF14-90F2-4D0C-A718-AECFF2245EC1}"/>
              </a:ext>
            </a:extLst>
          </p:cNvPr>
          <p:cNvSpPr>
            <a:spLocks xmlns:a="http://schemas.openxmlformats.org/drawingml/2006/main" noGrp="1"/>
          </p:cNvSpPr>
          <p:nvPr/>
        </p:nvSpPr>
        <p:spPr>
          <a:xfrm xmlns:a="http://schemas.openxmlformats.org/drawingml/2006/main">
            <a:off x="3462338"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20BA2DD8-3C1F-4B02-BFB9-178533322DAC}"/>
              </a:ext>
            </a:extLst>
          </p:cNvPr>
          <p:cNvSpPr>
            <a:spLocks xmlns:a="http://schemas.openxmlformats.org/drawingml/2006/main" noGrp="1"/>
          </p:cNvSpPr>
          <p:nvPr/>
        </p:nvSpPr>
        <p:spPr>
          <a:xfrm xmlns:a="http://schemas.openxmlformats.org/drawingml/2006/main">
            <a:off x="3709988"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DEEPGRID WEDGE</a:t>
            </a:r>
          </a:p>
        </p:txBody>
      </p:sp>
      <p:sp>
        <p:nvSpPr>
          <p:cNvPr id="22" name="">
            <a:extLst xmlns:a="http://schemas.openxmlformats.org/drawingml/2006/main">
              <a:ext uri="{FF2B5EF4-FFF2-40B4-BE49-F238E27FC236}">
                <a16:creationId xmlns:a16="http://schemas.microsoft.com/office/drawing/2014/main" id="{705BCD3E-34B3-44F0-8EB1-CF67F453344A}"/>
              </a:ext>
            </a:extLst>
          </p:cNvPr>
          <p:cNvSpPr>
            <a:spLocks xmlns:a="http://schemas.openxmlformats.org/drawingml/2006/main" noGrp="1"/>
          </p:cNvSpPr>
          <p:nvPr/>
        </p:nvSpPr>
        <p:spPr>
          <a:xfrm xmlns:a="http://schemas.openxmlformats.org/drawingml/2006/main">
            <a:off x="3462338"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Compete as a measured, bounded, diagnosable and economically transparent India-specific perception layer. Measured performance Diagnosable interfaces Transparent economics</a:t>
            </a:r>
          </a:p>
        </p:txBody>
      </p:sp>
      <p:sp>
        <p:nvSpPr>
          <p:cNvPr id="23" name="">
            <a:extLst xmlns:a="http://schemas.openxmlformats.org/drawingml/2006/main">
              <a:ext uri="{FF2B5EF4-FFF2-40B4-BE49-F238E27FC236}">
                <a16:creationId xmlns:a16="http://schemas.microsoft.com/office/drawing/2014/main" id="{A356C362-E3D2-4072-98E5-0C0B382D802B}"/>
              </a:ext>
            </a:extLst>
          </p:cNvPr>
          <p:cNvSpPr>
            <a:spLocks xmlns:a="http://schemas.openxmlformats.org/drawingml/2006/main" noGrp="1"/>
          </p:cNvSpPr>
          <p:nvPr/>
        </p:nvSpPr>
        <p:spPr>
          <a:xfrm xmlns:a="http://schemas.openxmlformats.org/drawingml/2006/main">
            <a:off x="6010275"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F47A0AB-E3E2-469E-B274-C442BA2EE232}"/>
              </a:ext>
            </a:extLst>
          </p:cNvPr>
          <p:cNvSpPr>
            <a:spLocks xmlns:a="http://schemas.openxmlformats.org/drawingml/2006/main" noGrp="1"/>
          </p:cNvSpPr>
          <p:nvPr/>
        </p:nvSpPr>
        <p:spPr>
          <a:xfrm xmlns:a="http://schemas.openxmlformats.org/drawingml/2006/main">
            <a:off x="6238875"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0897AB9C-6545-4A2F-B9D8-A078949E7298}"/>
              </a:ext>
            </a:extLst>
          </p:cNvPr>
          <p:cNvSpPr>
            <a:spLocks xmlns:a="http://schemas.openxmlformats.org/drawingml/2006/main" noGrp="1"/>
          </p:cNvSpPr>
          <p:nvPr/>
        </p:nvSpPr>
        <p:spPr>
          <a:xfrm xmlns:a="http://schemas.openxmlformats.org/drawingml/2006/main">
            <a:off x="6238875"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BA74785-0247-4EAE-8E8D-E65B40568ED5}"/>
              </a:ext>
            </a:extLst>
          </p:cNvPr>
          <p:cNvSpPr>
            <a:spLocks xmlns:a="http://schemas.openxmlformats.org/drawingml/2006/main" noGrp="1"/>
          </p:cNvSpPr>
          <p:nvPr/>
        </p:nvSpPr>
        <p:spPr>
          <a:xfrm xmlns:a="http://schemas.openxmlformats.org/drawingml/2006/main">
            <a:off x="6353175"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4929CA6C-225A-46C4-BC49-D3FCB24A1A9F}"/>
              </a:ext>
            </a:extLst>
          </p:cNvPr>
          <p:cNvSpPr>
            <a:spLocks xmlns:a="http://schemas.openxmlformats.org/drawingml/2006/main" noGrp="1"/>
          </p:cNvSpPr>
          <p:nvPr/>
        </p:nvSpPr>
        <p:spPr>
          <a:xfrm xmlns:a="http://schemas.openxmlformats.org/drawingml/2006/main">
            <a:off x="6600825"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ACCEPTANCE TEST</a:t>
            </a:r>
          </a:p>
        </p:txBody>
      </p:sp>
      <p:sp>
        <p:nvSpPr>
          <p:cNvPr id="28" name="">
            <a:extLst xmlns:a="http://schemas.openxmlformats.org/drawingml/2006/main">
              <a:ext uri="{FF2B5EF4-FFF2-40B4-BE49-F238E27FC236}">
                <a16:creationId xmlns:a16="http://schemas.microsoft.com/office/drawing/2014/main" id="{E994561A-F9F6-4838-8EDD-A01639B82B88}"/>
              </a:ext>
            </a:extLst>
          </p:cNvPr>
          <p:cNvSpPr>
            <a:spLocks xmlns:a="http://schemas.openxmlformats.org/drawingml/2006/main" noGrp="1"/>
          </p:cNvSpPr>
          <p:nvPr/>
        </p:nvSpPr>
        <p:spPr>
          <a:xfrm xmlns:a="http://schemas.openxmlformats.org/drawingml/2006/main">
            <a:off x="6353175"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Programme acceptance remains unproven until a named braking Tier-1 confirms integration readiness. Interface review Safety validation Evidence plan buy-in</a:t>
            </a:r>
          </a:p>
        </p:txBody>
      </p:sp>
      <p:sp>
        <p:nvSpPr>
          <p:cNvPr id="29" name="">
            <a:extLst xmlns:a="http://schemas.openxmlformats.org/drawingml/2006/main">
              <a:ext uri="{FF2B5EF4-FFF2-40B4-BE49-F238E27FC236}">
                <a16:creationId xmlns:a16="http://schemas.microsoft.com/office/drawing/2014/main" id="{01CA86D8-FA35-47DB-8485-2B73B97690F2}"/>
              </a:ext>
            </a:extLst>
          </p:cNvPr>
          <p:cNvSpPr>
            <a:spLocks xmlns:a="http://schemas.openxmlformats.org/drawingml/2006/main" noGrp="1"/>
          </p:cNvSpPr>
          <p:nvPr/>
        </p:nvSpPr>
        <p:spPr>
          <a:xfrm xmlns:a="http://schemas.openxmlformats.org/drawingml/2006/main">
            <a:off x="8901113"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5C2830F-DD48-44BE-83D1-A27833338747}"/>
              </a:ext>
            </a:extLst>
          </p:cNvPr>
          <p:cNvSpPr>
            <a:spLocks xmlns:a="http://schemas.openxmlformats.org/drawingml/2006/main" noGrp="1"/>
          </p:cNvSpPr>
          <p:nvPr/>
        </p:nvSpPr>
        <p:spPr>
          <a:xfrm xmlns:a="http://schemas.openxmlformats.org/drawingml/2006/main">
            <a:off x="9129713"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6343D1CD-1F4F-4ED9-A67C-11248D754A1B}"/>
              </a:ext>
            </a:extLst>
          </p:cNvPr>
          <p:cNvSpPr>
            <a:spLocks xmlns:a="http://schemas.openxmlformats.org/drawingml/2006/main" noGrp="1"/>
          </p:cNvSpPr>
          <p:nvPr/>
        </p:nvSpPr>
        <p:spPr>
          <a:xfrm xmlns:a="http://schemas.openxmlformats.org/drawingml/2006/main">
            <a:off x="9129713" y="21526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72F4AC2-2BFA-4632-86F3-D1115477FD2E}"/>
              </a:ext>
            </a:extLst>
          </p:cNvPr>
          <p:cNvSpPr>
            <a:spLocks xmlns:a="http://schemas.openxmlformats.org/drawingml/2006/main" noGrp="1"/>
          </p:cNvSpPr>
          <p:nvPr/>
        </p:nvSpPr>
        <p:spPr>
          <a:xfrm xmlns:a="http://schemas.openxmlformats.org/drawingml/2006/main">
            <a:off x="9244013"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40DDA9AA-021E-4842-ACEA-866FA41F1A6C}"/>
              </a:ext>
            </a:extLst>
          </p:cNvPr>
          <p:cNvSpPr>
            <a:spLocks xmlns:a="http://schemas.openxmlformats.org/drawingml/2006/main" noGrp="1"/>
          </p:cNvSpPr>
          <p:nvPr/>
        </p:nvSpPr>
        <p:spPr>
          <a:xfrm xmlns:a="http://schemas.openxmlformats.org/drawingml/2006/main">
            <a:off x="9491663"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19A406AC-5F41-4DBC-974B-FA588D4529AF}"/>
              </a:ext>
            </a:extLst>
          </p:cNvPr>
          <p:cNvSpPr>
            <a:spLocks xmlns:a="http://schemas.openxmlformats.org/drawingml/2006/main" noGrp="1"/>
          </p:cNvSpPr>
          <p:nvPr/>
        </p:nvSpPr>
        <p:spPr>
          <a:xfrm xmlns:a="http://schemas.openxmlformats.org/drawingml/2006/main">
            <a:off x="9244013"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Written acceptance of DGS001 interfaces, safety assumptions and evidence plan is required. Written acceptance Confirmed interfaces Safety assumptions set</a:t>
            </a:r>
          </a:p>
        </p:txBody>
      </p:sp>
      <p:sp>
        <p:nvSpPr>
          <p:cNvPr id="35" name="">
            <a:extLst xmlns:a="http://schemas.openxmlformats.org/drawingml/2006/main">
              <a:ext uri="{FF2B5EF4-FFF2-40B4-BE49-F238E27FC236}">
                <a16:creationId xmlns:a16="http://schemas.microsoft.com/office/drawing/2014/main" id="{FC60757D-4A23-4697-B950-A70B5AB1F187}"/>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5FD9FF6E-077E-4824-8D7F-8B5E35E6F551}"/>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E00A4F2-1696-457B-AB65-EB16EE1D5D07}"/>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77A080E7-FFB2-437E-B3E4-BEB1C25A4D40}"/>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Every other measure of progress is self-assessed. A Tier-1's written acceptance is the first read on the strategy that DeepGrid does not control, which is precisely what makes it a test.</a:t>
            </a:r>
          </a:p>
        </p:txBody>
      </p:sp>
      <p:sp>
        <p:nvSpPr>
          <p:cNvPr id="39" name="">
            <a:extLst xmlns:a="http://schemas.openxmlformats.org/drawingml/2006/main">
              <a:ext uri="{FF2B5EF4-FFF2-40B4-BE49-F238E27FC236}">
                <a16:creationId xmlns:a16="http://schemas.microsoft.com/office/drawing/2014/main" id="{28F38E4D-1337-4148-A985-D32A6A4C276C}"/>
              </a:ext>
            </a:extLst>
          </p:cNvPr>
          <p:cNvSpPr>
            <a:spLocks xmlns:a="http://schemas.openxmlformats.org/drawingml/2006/main" noGrp="1"/>
          </p:cNvSpPr>
          <p:nvPr/>
        </p:nvSpPr>
        <p:spPr>
          <a:xfrm xmlns:a="http://schemas.openxmlformats.org/drawingml/2006/main">
            <a:off x="6153150" y="472440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20FED2AB-0D4B-480B-8854-FE0627DC30A5}"/>
              </a:ext>
            </a:extLst>
          </p:cNvPr>
          <p:cNvSpPr>
            <a:spLocks xmlns:a="http://schemas.openxmlformats.org/drawingml/2006/main" noGrp="1"/>
          </p:cNvSpPr>
          <p:nvPr/>
        </p:nvSpPr>
        <p:spPr>
          <a:xfrm xmlns:a="http://schemas.openxmlformats.org/drawingml/2006/main">
            <a:off x="6153150" y="47244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A30A4C5-1CEC-4220-95AE-E11AF42CFEDE}"/>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828A64AF-DFEA-4A7D-B826-7896C469EB40}"/>
              </a:ext>
            </a:extLst>
          </p:cNvPr>
          <p:cNvSpPr>
            <a:spLocks xmlns:a="http://schemas.openxmlformats.org/drawingml/2006/main" noGrp="1"/>
          </p:cNvSpPr>
          <p:nvPr/>
        </p:nvSpPr>
        <p:spPr>
          <a:xfrm xmlns:a="http://schemas.openxmlformats.org/drawingml/2006/main">
            <a:off x="6276975" y="49403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to the board if no written response is obtained within 90 days.</a:t>
            </a:r>
          </a:p>
        </p:txBody>
      </p:sp>
      <p:sp>
        <p:nvSpPr>
          <p:cNvPr id="43" name="">
            <a:extLst xmlns:a="http://schemas.openxmlformats.org/drawingml/2006/main">
              <a:ext uri="{FF2B5EF4-FFF2-40B4-BE49-F238E27FC236}">
                <a16:creationId xmlns:a16="http://schemas.microsoft.com/office/drawing/2014/main" id="{BA0E7B42-BAAC-4045-99F6-E4D72B47F6A0}"/>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AEA2CB53-9DE2-4556-808E-C7712FEB2A6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B67AC71-2A25-4635-B3F8-4454B11DAC09}"/>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077AE804-5DCE-4557-B393-4CCBB42EC913}"/>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Direct the CEO to ask one named braking Tier-1 for interface/evidence-plan acceptance.</a:t>
            </a:r>
          </a:p>
        </p:txBody>
      </p:sp>
      <p:sp>
        <p:nvSpPr>
          <p:cNvPr id="47" name="">
            <a:extLst xmlns:a="http://schemas.openxmlformats.org/drawingml/2006/main">
              <a:ext uri="{FF2B5EF4-FFF2-40B4-BE49-F238E27FC236}">
                <a16:creationId xmlns:a16="http://schemas.microsoft.com/office/drawing/2014/main" id="{B96E0378-F3BC-446E-AA01-B8A9089AB056}"/>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6B619E2C-B4BE-47BB-A6C8-3D4FB0B951DB}"/>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a:t>
            </a:r>
          </a:p>
          <a:p xmlns:a="http://schemas.openxmlformats.org/drawingml/2006/main">
            <a:pPr algn="l">
              <a:defRPr sz="800">
                <a:solidFill>
                  <a:srgbClr val="8EA0B2"/>
                </a:solidFill>
                <a:latin typeface="Arial"/>
                <a:ea typeface="Arial"/>
                <a:cs typeface="Arial"/>
              </a:defRPr>
            </a:pPr>
            <a:r>
              <a:t>Trigger · Written acceptance, or refusal, from one named braking Tier-1.</a:t>
            </a:r>
          </a:p>
        </p:txBody>
      </p:sp>
      <p:sp>
        <p:nvSpPr>
          <p:cNvPr id="49" name="">
            <a:extLst xmlns:a="http://schemas.openxmlformats.org/drawingml/2006/main">
              <a:ext uri="{FF2B5EF4-FFF2-40B4-BE49-F238E27FC236}">
                <a16:creationId xmlns:a16="http://schemas.microsoft.com/office/drawing/2014/main" id="{5E56F3EE-CC6B-4842-A8F3-498655ECC9B8}"/>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73B50E74-A8FF-4964-ABA0-B3C5B3A1AF9C}"/>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to the board if no written response is obtained within 90 days.</a:t>
            </a:r>
          </a:p>
        </p:txBody>
      </p:sp>
      <p:sp>
        <p:nvSpPr>
          <p:cNvPr id="51" name="">
            <a:extLst xmlns:a="http://schemas.openxmlformats.org/drawingml/2006/main">
              <a:ext uri="{FF2B5EF4-FFF2-40B4-BE49-F238E27FC236}">
                <a16:creationId xmlns:a16="http://schemas.microsoft.com/office/drawing/2014/main" id="{DFD5DE71-E781-4727-B555-7C256153230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9F10D17A-4D81-4272-94C7-FA4F7C953472}"/>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7B56DCB0-D0B6-4E74-9C93-F541241E6DBF}"/>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105</a:t>
            </a:r>
          </a:p>
        </p:txBody>
      </p:sp>
    </p:spTree>
    <p:extLst>
      <p:ext uri="{BB962C8B-B14F-4D97-AF65-F5344CB8AC3E}">
        <p14:creationId xmlns:p14="http://schemas.microsoft.com/office/powerpoint/2010/main" val="741476257"/>
      </p:ext>
    </p:extLst>
  </p:cSld>
</p:sld>
</file>

<file path=ppt/slides/slide106.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76AB978D-7CBC-426C-B925-565764DAC78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FFAC3D4-20CD-4E42-AF5B-CAC4C6AEB53A}"/>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C0FF7F6-995D-4992-8663-D2EB6D798CA6}"/>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CC62B9A5-F66A-4B86-8F24-6AB7B6762257}"/>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8E953766-318B-4F2B-8F7C-3728DF85F379}"/>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Execution, trust and leverage form a defensible evidence gate—but need calibration</a:t>
            </a:r>
          </a:p>
        </p:txBody>
      </p:sp>
      <p:sp>
        <p:nvSpPr>
          <p:cNvPr id="6" name="">
            <a:extLst xmlns:a="http://schemas.openxmlformats.org/drawingml/2006/main">
              <a:ext uri="{FF2B5EF4-FFF2-40B4-BE49-F238E27FC236}">
                <a16:creationId xmlns:a16="http://schemas.microsoft.com/office/drawing/2014/main" id="{230CD1AB-2E5D-40BC-A310-7DA800EF2D78}"/>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E2E3BB9-D4B6-4310-9889-A6DCD3A83712}"/>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How should DeepGrid distinguish competitive power from unsupported technology claims?</a:t>
            </a:r>
          </a:p>
        </p:txBody>
      </p:sp>
      <p:sp>
        <p:nvSpPr>
          <p:cNvPr id="8" name="">
            <a:extLst xmlns:a="http://schemas.openxmlformats.org/drawingml/2006/main">
              <a:ext uri="{FF2B5EF4-FFF2-40B4-BE49-F238E27FC236}">
                <a16:creationId xmlns:a16="http://schemas.microsoft.com/office/drawing/2014/main" id="{76BF7773-0111-446E-917C-9B386A617DC2}"/>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95536BA4-F251-484C-AAC3-BDB488EB687E}"/>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69589F9-A5D3-4AB4-857E-4FDB54649FCD}"/>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6947C599-54C9-400C-8C25-66FCDA0E8C81}"/>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execution/trust/leverage rubric separates competitive power from technology claims, but it is unweighted and has no scale anchors — so it currently ranks ordinally, not quantitatively.</a:t>
            </a:r>
          </a:p>
        </p:txBody>
      </p:sp>
      <p:sp>
        <p:nvSpPr>
          <p:cNvPr id="12" name="">
            <a:extLst xmlns:a="http://schemas.openxmlformats.org/drawingml/2006/main">
              <a:ext uri="{FF2B5EF4-FFF2-40B4-BE49-F238E27FC236}">
                <a16:creationId xmlns:a16="http://schemas.microsoft.com/office/drawing/2014/main" id="{2F7A8440-46BB-49B1-A730-0A6AD059A26D}"/>
              </a:ext>
            </a:extLst>
          </p:cNvPr>
          <p:cNvSpPr>
            <a:spLocks xmlns:a="http://schemas.openxmlformats.org/drawingml/2006/main" noGrp="1"/>
          </p:cNvSpPr>
          <p:nvPr/>
        </p:nvSpPr>
        <p:spPr>
          <a:xfrm xmlns:a="http://schemas.openxmlformats.org/drawingml/2006/main">
            <a:off x="457200" y="215265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BD1F82BE-4D0F-40D5-8912-44D4AFDC134E}"/>
              </a:ext>
            </a:extLst>
          </p:cNvPr>
          <p:cNvSpPr>
            <a:spLocks xmlns:a="http://schemas.openxmlformats.org/drawingml/2006/main" noGrp="1"/>
          </p:cNvSpPr>
          <p:nvPr/>
        </p:nvSpPr>
        <p:spPr>
          <a:xfrm xmlns:a="http://schemas.openxmlformats.org/drawingml/2006/main">
            <a:off x="457200" y="215265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8FC0B7B-CA9C-4A43-BB97-545082007657}"/>
              </a:ext>
            </a:extLst>
          </p:cNvPr>
          <p:cNvSpPr>
            <a:spLocks xmlns:a="http://schemas.openxmlformats.org/drawingml/2006/main" noGrp="1"/>
          </p:cNvSpPr>
          <p:nvPr/>
        </p:nvSpPr>
        <p:spPr>
          <a:xfrm xmlns:a="http://schemas.openxmlformats.org/drawingml/2006/main">
            <a:off x="57150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9874DE91-FD6E-4378-8D0C-C0AC1CCDADC0}"/>
              </a:ext>
            </a:extLst>
          </p:cNvPr>
          <p:cNvSpPr>
            <a:spLocks xmlns:a="http://schemas.openxmlformats.org/drawingml/2006/main" noGrp="1"/>
          </p:cNvSpPr>
          <p:nvPr/>
        </p:nvSpPr>
        <p:spPr>
          <a:xfrm xmlns:a="http://schemas.openxmlformats.org/drawingml/2006/main">
            <a:off x="571500" y="241935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 execution/trust/leverage rubric separates competitive power from technology claims, but it is unweighted and has no scale anchors — so it currently ranks ordinally, not quantitatively.</a:t>
            </a:r>
          </a:p>
        </p:txBody>
      </p:sp>
      <p:sp>
        <p:nvSpPr>
          <p:cNvPr id="16" name="">
            <a:extLst xmlns:a="http://schemas.openxmlformats.org/drawingml/2006/main">
              <a:ext uri="{FF2B5EF4-FFF2-40B4-BE49-F238E27FC236}">
                <a16:creationId xmlns:a16="http://schemas.microsoft.com/office/drawing/2014/main" id="{E7C44E49-5C2C-489B-9255-9EEE8004EBC2}"/>
              </a:ext>
            </a:extLst>
          </p:cNvPr>
          <p:cNvSpPr>
            <a:spLocks xmlns:a="http://schemas.openxmlformats.org/drawingml/2006/main" noGrp="1"/>
          </p:cNvSpPr>
          <p:nvPr/>
        </p:nvSpPr>
        <p:spPr>
          <a:xfrm xmlns:a="http://schemas.openxmlformats.org/drawingml/2006/main">
            <a:off x="4248150" y="215265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FAD7B12D-F2B6-49C7-B740-78BF2686B8D5}"/>
              </a:ext>
            </a:extLst>
          </p:cNvPr>
          <p:cNvSpPr>
            <a:spLocks xmlns:a="http://schemas.openxmlformats.org/drawingml/2006/main" noGrp="1"/>
          </p:cNvSpPr>
          <p:nvPr/>
        </p:nvSpPr>
        <p:spPr>
          <a:xfrm xmlns:a="http://schemas.openxmlformats.org/drawingml/2006/main">
            <a:off x="4248150" y="215265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67A26B3-E866-4A1D-8312-1E659EB51D88}"/>
              </a:ext>
            </a:extLst>
          </p:cNvPr>
          <p:cNvSpPr>
            <a:spLocks xmlns:a="http://schemas.openxmlformats.org/drawingml/2006/main" noGrp="1"/>
          </p:cNvSpPr>
          <p:nvPr/>
        </p:nvSpPr>
        <p:spPr>
          <a:xfrm xmlns:a="http://schemas.openxmlformats.org/drawingml/2006/main">
            <a:off x="436245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1C040F86-B52C-413C-963F-C30ECEEFCBD5}"/>
              </a:ext>
            </a:extLst>
          </p:cNvPr>
          <p:cNvSpPr>
            <a:spLocks xmlns:a="http://schemas.openxmlformats.org/drawingml/2006/main" noGrp="1"/>
          </p:cNvSpPr>
          <p:nvPr/>
        </p:nvSpPr>
        <p:spPr>
          <a:xfrm xmlns:a="http://schemas.openxmlformats.org/drawingml/2006/main">
            <a:off x="4362450" y="241935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An unweighted rubric can be gamed by a competitor strong in a single layer; equal treatment may obscure arena-specific advantage.</a:t>
            </a:r>
          </a:p>
        </p:txBody>
      </p:sp>
      <p:sp>
        <p:nvSpPr>
          <p:cNvPr id="20" name="">
            <a:extLst xmlns:a="http://schemas.openxmlformats.org/drawingml/2006/main">
              <a:ext uri="{FF2B5EF4-FFF2-40B4-BE49-F238E27FC236}">
                <a16:creationId xmlns:a16="http://schemas.microsoft.com/office/drawing/2014/main" id="{C1C9A72D-85D2-40F3-A4E7-533715D1143E}"/>
              </a:ext>
            </a:extLst>
          </p:cNvPr>
          <p:cNvSpPr>
            <a:spLocks xmlns:a="http://schemas.openxmlformats.org/drawingml/2006/main" noGrp="1"/>
          </p:cNvSpPr>
          <p:nvPr/>
        </p:nvSpPr>
        <p:spPr>
          <a:xfrm xmlns:a="http://schemas.openxmlformats.org/drawingml/2006/main">
            <a:off x="8039100" y="215265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713EAC62-D681-4D4F-B684-6B2EE31198CE}"/>
              </a:ext>
            </a:extLst>
          </p:cNvPr>
          <p:cNvSpPr>
            <a:spLocks xmlns:a="http://schemas.openxmlformats.org/drawingml/2006/main" noGrp="1"/>
          </p:cNvSpPr>
          <p:nvPr/>
        </p:nvSpPr>
        <p:spPr>
          <a:xfrm xmlns:a="http://schemas.openxmlformats.org/drawingml/2006/main">
            <a:off x="8039100" y="215265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1B4ACA4-ED45-4014-BDEF-04329FF28BBC}"/>
              </a:ext>
            </a:extLst>
          </p:cNvPr>
          <p:cNvSpPr>
            <a:spLocks xmlns:a="http://schemas.openxmlformats.org/drawingml/2006/main" noGrp="1"/>
          </p:cNvSpPr>
          <p:nvPr/>
        </p:nvSpPr>
        <p:spPr>
          <a:xfrm xmlns:a="http://schemas.openxmlformats.org/drawingml/2006/main">
            <a:off x="815340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E8CF6782-22E2-4F5B-93E3-D69F81C274B5}"/>
              </a:ext>
            </a:extLst>
          </p:cNvPr>
          <p:cNvSpPr>
            <a:spLocks xmlns:a="http://schemas.openxmlformats.org/drawingml/2006/main" noGrp="1"/>
          </p:cNvSpPr>
          <p:nvPr/>
        </p:nvSpPr>
        <p:spPr>
          <a:xfrm xmlns:a="http://schemas.openxmlformats.org/drawingml/2006/main">
            <a:off x="8153400" y="241935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Use the rubric to structure evidence, not to produce a score that outruns it.</a:t>
            </a:r>
          </a:p>
        </p:txBody>
      </p:sp>
      <p:sp>
        <p:nvSpPr>
          <p:cNvPr id="24" name="">
            <a:extLst xmlns:a="http://schemas.openxmlformats.org/drawingml/2006/main">
              <a:ext uri="{FF2B5EF4-FFF2-40B4-BE49-F238E27FC236}">
                <a16:creationId xmlns:a16="http://schemas.microsoft.com/office/drawing/2014/main" id="{3D53005F-8EB2-4281-80FB-E4E2AFACDE2F}"/>
              </a:ext>
            </a:extLst>
          </p:cNvPr>
          <p:cNvSpPr>
            <a:spLocks xmlns:a="http://schemas.openxmlformats.org/drawingml/2006/main" noGrp="1"/>
          </p:cNvSpPr>
          <p:nvPr/>
        </p:nvSpPr>
        <p:spPr>
          <a:xfrm xmlns:a="http://schemas.openxmlformats.org/drawingml/2006/main">
            <a:off x="457200" y="495300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F1A36EA9-C7C7-4234-9C97-522B815C3FB3}"/>
              </a:ext>
            </a:extLst>
          </p:cNvPr>
          <p:cNvSpPr>
            <a:spLocks xmlns:a="http://schemas.openxmlformats.org/drawingml/2006/main" noGrp="1"/>
          </p:cNvSpPr>
          <p:nvPr/>
        </p:nvSpPr>
        <p:spPr>
          <a:xfrm xmlns:a="http://schemas.openxmlformats.org/drawingml/2006/main">
            <a:off x="457200" y="495300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84DCC6A-C7D8-45EC-9BCD-4E199104E8AE}"/>
              </a:ext>
            </a:extLst>
          </p:cNvPr>
          <p:cNvSpPr>
            <a:spLocks xmlns:a="http://schemas.openxmlformats.org/drawingml/2006/main" noGrp="1"/>
          </p:cNvSpPr>
          <p:nvPr/>
        </p:nvSpPr>
        <p:spPr>
          <a:xfrm xmlns:a="http://schemas.openxmlformats.org/drawingml/2006/main">
            <a:off x="581025" y="50196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D5448450-D2BC-4B6F-97B3-62E93E76B215}"/>
              </a:ext>
            </a:extLst>
          </p:cNvPr>
          <p:cNvSpPr>
            <a:spLocks xmlns:a="http://schemas.openxmlformats.org/drawingml/2006/main" noGrp="1"/>
          </p:cNvSpPr>
          <p:nvPr/>
        </p:nvSpPr>
        <p:spPr>
          <a:xfrm xmlns:a="http://schemas.openxmlformats.org/drawingml/2006/main">
            <a:off x="581025" y="51689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two competitors with materially different threat profiles score identically.</a:t>
            </a:r>
          </a:p>
        </p:txBody>
      </p:sp>
      <p:sp>
        <p:nvSpPr>
          <p:cNvPr id="28" name="">
            <a:extLst xmlns:a="http://schemas.openxmlformats.org/drawingml/2006/main">
              <a:ext uri="{FF2B5EF4-FFF2-40B4-BE49-F238E27FC236}">
                <a16:creationId xmlns:a16="http://schemas.microsoft.com/office/drawing/2014/main" id="{4EF253F7-334D-463A-8F56-21D0F1B0A106}"/>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732BACB-9BBE-471C-99B0-CC62695C52B4}"/>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E5B14E2-FD79-4A54-9DBC-4C3730913E4C}"/>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2150FB3A-03E6-4EF4-87CD-C4AA2F431B1E}"/>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Adopt the rubric as an evidence gate; defer numeric weighting until scale anchors exist.</a:t>
            </a:r>
          </a:p>
        </p:txBody>
      </p:sp>
      <p:sp>
        <p:nvSpPr>
          <p:cNvPr id="32" name="">
            <a:extLst xmlns:a="http://schemas.openxmlformats.org/drawingml/2006/main">
              <a:ext uri="{FF2B5EF4-FFF2-40B4-BE49-F238E27FC236}">
                <a16:creationId xmlns:a16="http://schemas.microsoft.com/office/drawing/2014/main" id="{1205E399-5796-4844-80D7-128E37C4DF0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6C5AD8AF-CAFD-4523-8A6E-EB9770E08F8D}"/>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Define weights and scale anchors before the next threat review.</a:t>
            </a:r>
          </a:p>
        </p:txBody>
      </p:sp>
      <p:sp>
        <p:nvSpPr>
          <p:cNvPr id="34" name="">
            <a:extLst xmlns:a="http://schemas.openxmlformats.org/drawingml/2006/main">
              <a:ext uri="{FF2B5EF4-FFF2-40B4-BE49-F238E27FC236}">
                <a16:creationId xmlns:a16="http://schemas.microsoft.com/office/drawing/2014/main" id="{E4D1C317-D74F-4EF8-8ED3-1B563ECF0F45}"/>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07C17E8C-1A12-494D-A117-091CDBA2F49F}"/>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reporting composite percentages until weights are defined.</a:t>
            </a:r>
          </a:p>
        </p:txBody>
      </p:sp>
      <p:sp>
        <p:nvSpPr>
          <p:cNvPr id="36" name="">
            <a:extLst xmlns:a="http://schemas.openxmlformats.org/drawingml/2006/main">
              <a:ext uri="{FF2B5EF4-FFF2-40B4-BE49-F238E27FC236}">
                <a16:creationId xmlns:a16="http://schemas.microsoft.com/office/drawing/2014/main" id="{17D0A5A4-A7A1-4F00-BF52-84F5EA6CD309}"/>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569F96F-27CF-4F78-8762-FD9725150263}"/>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1C063523-39F8-4C00-B0CC-BDF2091CA33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106</a:t>
            </a:r>
          </a:p>
        </p:txBody>
      </p:sp>
    </p:spTree>
    <p:extLst>
      <p:ext uri="{BB962C8B-B14F-4D97-AF65-F5344CB8AC3E}">
        <p14:creationId xmlns:p14="http://schemas.microsoft.com/office/powerpoint/2010/main" val="12787137"/>
      </p:ext>
    </p:extLst>
  </p:cSld>
</p:sld>
</file>

<file path=ppt/slides/slide107.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697D6442-24DB-4639-BFC5-30379A4440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EB30EC-ABF5-44DB-AE61-74021E5B2379}"/>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C6927C7-D718-4ADF-B5E8-590036D12B23}"/>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083E4D64-283F-4788-8242-7BE5A89BC6EE}"/>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C1A59715-290E-40EC-AE9E-1626DF5F3BC1}"/>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Treat ADAS pricing as quotation-led; seek three equal-scope RFQs</a:t>
            </a:r>
          </a:p>
        </p:txBody>
      </p:sp>
      <p:sp>
        <p:nvSpPr>
          <p:cNvPr id="6" name="">
            <a:extLst xmlns:a="http://schemas.openxmlformats.org/drawingml/2006/main">
              <a:ext uri="{FF2B5EF4-FFF2-40B4-BE49-F238E27FC236}">
                <a16:creationId xmlns:a16="http://schemas.microsoft.com/office/drawing/2014/main" id="{0873A70B-266D-485E-A194-C847E8FDE06C}"/>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A5E94CF-AA95-4AC9-8510-59FA21A680F0}"/>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pricing evidence can support DeepGrid's capital and commercial decisions?</a:t>
            </a:r>
          </a:p>
        </p:txBody>
      </p:sp>
      <p:sp>
        <p:nvSpPr>
          <p:cNvPr id="8" name="">
            <a:extLst xmlns:a="http://schemas.openxmlformats.org/drawingml/2006/main">
              <a:ext uri="{FF2B5EF4-FFF2-40B4-BE49-F238E27FC236}">
                <a16:creationId xmlns:a16="http://schemas.microsoft.com/office/drawing/2014/main" id="{63D5709C-6D42-442D-915D-95E2E92783B0}"/>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6E822AB2-7D5A-4456-9E36-2022549004C9}"/>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5310687-89BA-49FC-BAF5-7E896B26477D}"/>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7916B2CB-D050-4656-8491-CC28B3C9D32B}"/>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ADAS pricing is quotation-led, not list-led. Kit prices, die cost and unscoped quotes are non-comparable, so the only usable evidence is three standardised RFQs disclosing full cost breakdowns.</a:t>
            </a:r>
          </a:p>
        </p:txBody>
      </p:sp>
      <p:sp>
        <p:nvSpPr>
          <p:cNvPr id="12" name="">
            <a:extLst xmlns:a="http://schemas.openxmlformats.org/drawingml/2006/main">
              <a:ext uri="{FF2B5EF4-FFF2-40B4-BE49-F238E27FC236}">
                <a16:creationId xmlns:a16="http://schemas.microsoft.com/office/drawing/2014/main" id="{7E6E68DD-EFD8-450A-ACEC-9A678AE5D1F7}"/>
              </a:ext>
            </a:extLst>
          </p:cNvPr>
          <p:cNvSpPr>
            <a:spLocks xmlns:a="http://schemas.openxmlformats.org/drawingml/2006/main" noGrp="1"/>
          </p:cNvSpPr>
          <p:nvPr/>
        </p:nvSpPr>
        <p:spPr>
          <a:xfrm xmlns:a="http://schemas.openxmlformats.org/drawingml/2006/main">
            <a:off x="4572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AA1BDF10-7A39-47F8-878D-9FD04DB2E38C}"/>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D7E03D5-6663-4FC6-BEF4-5612C1010CC1}"/>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E15C82A0-55B4-4C96-8978-65062E54D765}"/>
              </a:ext>
            </a:extLst>
          </p:cNvPr>
          <p:cNvSpPr>
            <a:spLocks xmlns:a="http://schemas.openxmlformats.org/drawingml/2006/main" noGrp="1"/>
          </p:cNvSpPr>
          <p:nvPr/>
        </p:nvSpPr>
        <p:spPr>
          <a:xfrm xmlns:a="http://schemas.openxmlformats.org/drawingml/2006/main">
            <a:off x="5715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ADAS pricing is quotation-led, not list-led. Kit prices, die cost and unscoped quotes are non-comparable, so the only usable evidence is three standardised RFQs disclosing full cost breakdowns.</a:t>
            </a:r>
          </a:p>
        </p:txBody>
      </p:sp>
      <p:sp>
        <p:nvSpPr>
          <p:cNvPr id="16" name="">
            <a:extLst xmlns:a="http://schemas.openxmlformats.org/drawingml/2006/main">
              <a:ext uri="{FF2B5EF4-FFF2-40B4-BE49-F238E27FC236}">
                <a16:creationId xmlns:a16="http://schemas.microsoft.com/office/drawing/2014/main" id="{3EE5AFC6-44BB-4F83-949A-7311DEF8F6A7}"/>
              </a:ext>
            </a:extLst>
          </p:cNvPr>
          <p:cNvSpPr>
            <a:spLocks xmlns:a="http://schemas.openxmlformats.org/drawingml/2006/main" noGrp="1"/>
          </p:cNvSpPr>
          <p:nvPr/>
        </p:nvSpPr>
        <p:spPr>
          <a:xfrm xmlns:a="http://schemas.openxmlformats.org/drawingml/2006/main">
            <a:off x="424815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3E55CD0D-C8E3-42BF-B30A-D61FFFFC0377}"/>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96BC2AD-C9D6-460D-9563-F8F9F020EA33}"/>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43B4E0C6-6B99-4C71-BDF2-3B5B217EDAD4}"/>
              </a:ext>
            </a:extLst>
          </p:cNvPr>
          <p:cNvSpPr>
            <a:spLocks xmlns:a="http://schemas.openxmlformats.org/drawingml/2006/main" noGrp="1"/>
          </p:cNvSpPr>
          <p:nvPr/>
        </p:nvSpPr>
        <p:spPr>
          <a:xfrm xmlns:a="http://schemas.openxmlformats.org/drawingml/2006/main">
            <a:off x="436245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Three equal-scope RFQs may be unobtainable if suppliers refuse to disclose loaded cost, leaving DeepGrid pricing against incomparable references anyway.</a:t>
            </a:r>
          </a:p>
        </p:txBody>
      </p:sp>
      <p:sp>
        <p:nvSpPr>
          <p:cNvPr id="20" name="">
            <a:extLst xmlns:a="http://schemas.openxmlformats.org/drawingml/2006/main">
              <a:ext uri="{FF2B5EF4-FFF2-40B4-BE49-F238E27FC236}">
                <a16:creationId xmlns:a16="http://schemas.microsoft.com/office/drawing/2014/main" id="{FCC773AA-2BDC-4342-BF2A-2C216717C697}"/>
              </a:ext>
            </a:extLst>
          </p:cNvPr>
          <p:cNvSpPr>
            <a:spLocks xmlns:a="http://schemas.openxmlformats.org/drawingml/2006/main" noGrp="1"/>
          </p:cNvSpPr>
          <p:nvPr/>
        </p:nvSpPr>
        <p:spPr>
          <a:xfrm xmlns:a="http://schemas.openxmlformats.org/drawingml/2006/main">
            <a:off x="80391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CD955E43-0B65-4917-9DA6-A0341F830099}"/>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254DE1C-72C4-4D10-90F8-CC21ED3E9BAA}"/>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1D8F9999-6071-429D-8D7B-713282A9116B}"/>
              </a:ext>
            </a:extLst>
          </p:cNvPr>
          <p:cNvSpPr>
            <a:spLocks xmlns:a="http://schemas.openxmlformats.org/drawingml/2006/main" noGrp="1"/>
          </p:cNvSpPr>
          <p:nvPr/>
        </p:nvSpPr>
        <p:spPr>
          <a:xfrm xmlns:a="http://schemas.openxmlformats.org/drawingml/2006/main">
            <a:off x="81534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Base capital and commercial decisions on quoted, scoped prices — never on catalogue or die-level figures.</a:t>
            </a:r>
          </a:p>
        </p:txBody>
      </p:sp>
      <p:sp>
        <p:nvSpPr>
          <p:cNvPr id="24" name="">
            <a:extLst xmlns:a="http://schemas.openxmlformats.org/drawingml/2006/main">
              <a:ext uri="{FF2B5EF4-FFF2-40B4-BE49-F238E27FC236}">
                <a16:creationId xmlns:a16="http://schemas.microsoft.com/office/drawing/2014/main" id="{0187FAD1-D2F1-4AF1-B0A6-2E97843FD7DF}"/>
              </a:ext>
            </a:extLst>
          </p:cNvPr>
          <p:cNvSpPr>
            <a:spLocks xmlns:a="http://schemas.openxmlformats.org/drawingml/2006/main" noGrp="1"/>
          </p:cNvSpPr>
          <p:nvPr/>
        </p:nvSpPr>
        <p:spPr>
          <a:xfrm xmlns:a="http://schemas.openxmlformats.org/drawingml/2006/main">
            <a:off x="457200" y="464185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A93C3CDB-0EE0-4E39-AAB3-63DB7C162D31}"/>
              </a:ext>
            </a:extLst>
          </p:cNvPr>
          <p:cNvSpPr>
            <a:spLocks xmlns:a="http://schemas.openxmlformats.org/drawingml/2006/main" noGrp="1"/>
          </p:cNvSpPr>
          <p:nvPr/>
        </p:nvSpPr>
        <p:spPr>
          <a:xfrm xmlns:a="http://schemas.openxmlformats.org/drawingml/2006/main">
            <a:off x="457200" y="464185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724ECEF-0002-4CCD-9EB5-EFEF7553392A}"/>
              </a:ext>
            </a:extLst>
          </p:cNvPr>
          <p:cNvSpPr>
            <a:spLocks xmlns:a="http://schemas.openxmlformats.org/drawingml/2006/main" noGrp="1"/>
          </p:cNvSpPr>
          <p:nvPr/>
        </p:nvSpPr>
        <p:spPr>
          <a:xfrm xmlns:a="http://schemas.openxmlformats.org/drawingml/2006/main">
            <a:off x="581025" y="47085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B78B9919-A643-4098-AD6C-DC48C740225D}"/>
              </a:ext>
            </a:extLst>
          </p:cNvPr>
          <p:cNvSpPr>
            <a:spLocks xmlns:a="http://schemas.openxmlformats.org/drawingml/2006/main" noGrp="1"/>
          </p:cNvSpPr>
          <p:nvPr/>
        </p:nvSpPr>
        <p:spPr>
          <a:xfrm xmlns:a="http://schemas.openxmlformats.org/drawingml/2006/main">
            <a:off x="581025" y="48577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supplier publishes a comparable delivered-price list that makes the RFQ exercise unnecessary.</a:t>
            </a:r>
          </a:p>
        </p:txBody>
      </p:sp>
      <p:sp>
        <p:nvSpPr>
          <p:cNvPr id="28" name="">
            <a:extLst xmlns:a="http://schemas.openxmlformats.org/drawingml/2006/main">
              <a:ext uri="{FF2B5EF4-FFF2-40B4-BE49-F238E27FC236}">
                <a16:creationId xmlns:a16="http://schemas.microsoft.com/office/drawing/2014/main" id="{E77A32A5-9780-47EC-8C49-463A14F52198}"/>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94A7BE2-8793-4F70-8D24-CC93A31AFE91}"/>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9E50A20-4C12-4809-A487-2936BCE200E6}"/>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33BCC6F2-1E3B-4CB2-8843-096C9E8BF9A2}"/>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Issue three standardised RFQs to comparable suppliers.</a:t>
            </a:r>
          </a:p>
        </p:txBody>
      </p:sp>
      <p:sp>
        <p:nvSpPr>
          <p:cNvPr id="32" name="">
            <a:extLst xmlns:a="http://schemas.openxmlformats.org/drawingml/2006/main">
              <a:ext uri="{FF2B5EF4-FFF2-40B4-BE49-F238E27FC236}">
                <a16:creationId xmlns:a16="http://schemas.microsoft.com/office/drawing/2014/main" id="{9AE1C491-82AC-41E1-BA05-49A2D7FE72DC}"/>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51EAE193-9CE6-4E02-B118-B44D8A5863A8}"/>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Sales with CFO</a:t>
            </a:r>
          </a:p>
          <a:p xmlns:a="http://schemas.openxmlformats.org/drawingml/2006/main">
            <a:pPr algn="l">
              <a:defRPr sz="800">
                <a:solidFill>
                  <a:srgbClr val="8EA0B2"/>
                </a:solidFill>
                <a:latin typeface="Arial"/>
                <a:ea typeface="Arial"/>
                <a:cs typeface="Arial"/>
              </a:defRPr>
            </a:pPr>
            <a:r>
              <a:t>Trigger · Sales issues the three RFQs Monday.</a:t>
            </a:r>
          </a:p>
        </p:txBody>
      </p:sp>
      <p:sp>
        <p:nvSpPr>
          <p:cNvPr id="34" name="">
            <a:extLst xmlns:a="http://schemas.openxmlformats.org/drawingml/2006/main">
              <a:ext uri="{FF2B5EF4-FFF2-40B4-BE49-F238E27FC236}">
                <a16:creationId xmlns:a16="http://schemas.microsoft.com/office/drawing/2014/main" id="{677BB052-EF79-4BCF-A5F9-C386D5EAA6B5}"/>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06DA82FB-AD92-42C5-8A61-992D828F394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any pricing claim not backed by an equal-scope quotation.</a:t>
            </a:r>
          </a:p>
        </p:txBody>
      </p:sp>
      <p:sp>
        <p:nvSpPr>
          <p:cNvPr id="36" name="">
            <a:extLst xmlns:a="http://schemas.openxmlformats.org/drawingml/2006/main">
              <a:ext uri="{FF2B5EF4-FFF2-40B4-BE49-F238E27FC236}">
                <a16:creationId xmlns:a16="http://schemas.microsoft.com/office/drawing/2014/main" id="{7A9063DF-052A-47EC-8701-B6B17099A777}"/>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45F9EDF-2657-4634-B856-AC12EDA6489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A06DAD4C-18FD-4695-9984-C535DB532037}"/>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107</a:t>
            </a:r>
          </a:p>
        </p:txBody>
      </p:sp>
    </p:spTree>
    <p:extLst>
      <p:ext uri="{BB962C8B-B14F-4D97-AF65-F5344CB8AC3E}">
        <p14:creationId xmlns:p14="http://schemas.microsoft.com/office/powerpoint/2010/main" val="463163246"/>
      </p:ext>
    </p:extLst>
  </p:cSld>
</p:sld>
</file>

<file path=ppt/slides/slide108.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9019155D-66E7-4249-98CB-B7FC08027F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A1D7FFC-463A-4F5F-8444-C4832207B79F}"/>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CD74B50-49FE-49CC-B539-A9B727ECDF56}"/>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E44408B9-EA47-4C34-AE63-E78B90C90DD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17725AFC-FFBB-487B-B909-C4958AFC3A64}"/>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Differentiation Reset: Nationality is insufficient; win on reproducible vehicle-level evidence</a:t>
            </a:r>
          </a:p>
        </p:txBody>
      </p:sp>
      <p:sp>
        <p:nvSpPr>
          <p:cNvPr id="6" name="">
            <a:extLst xmlns:a="http://schemas.openxmlformats.org/drawingml/2006/main">
              <a:ext uri="{FF2B5EF4-FFF2-40B4-BE49-F238E27FC236}">
                <a16:creationId xmlns:a16="http://schemas.microsoft.com/office/drawing/2014/main" id="{B3012497-E976-438C-BBEF-4962CD4B52D2}"/>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879A169-AA5F-4D65-B180-7E2F987F8673}"/>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can still differentiate DeepGrid when competitors also claim India-training?</a:t>
            </a:r>
          </a:p>
        </p:txBody>
      </p:sp>
      <p:sp>
        <p:nvSpPr>
          <p:cNvPr id="8" name="">
            <a:extLst xmlns:a="http://schemas.openxmlformats.org/drawingml/2006/main">
              <a:ext uri="{FF2B5EF4-FFF2-40B4-BE49-F238E27FC236}">
                <a16:creationId xmlns:a16="http://schemas.microsoft.com/office/drawing/2014/main" id="{6DD27E4A-A86A-4E24-A4C0-D1A83FBF32F6}"/>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A505D58B-59A7-4FAA-BE2E-52452C0B1FBF}"/>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2FED036-8643-489D-8804-1C7EAF01B05D}"/>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6CB65E67-AC9E-4864-B078-980281DD975D}"/>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Nationality no longer differentiates — Starkenn, Aptiv/STRADVISION and Gahan all assert India relevance. What still differentiates is reproducible vehicle-level evidence: frozen scenario families, class definitions, distance, lighting, weather and denominators.</a:t>
            </a:r>
          </a:p>
        </p:txBody>
      </p:sp>
      <p:sp>
        <p:nvSpPr>
          <p:cNvPr id="12" name="">
            <a:extLst xmlns:a="http://schemas.openxmlformats.org/drawingml/2006/main">
              <a:ext uri="{FF2B5EF4-FFF2-40B4-BE49-F238E27FC236}">
                <a16:creationId xmlns:a16="http://schemas.microsoft.com/office/drawing/2014/main" id="{A4275970-AE40-4BDA-A41D-8A73D6778778}"/>
              </a:ext>
            </a:extLst>
          </p:cNvPr>
          <p:cNvSpPr>
            <a:spLocks xmlns:a="http://schemas.openxmlformats.org/drawingml/2006/main" noGrp="1"/>
          </p:cNvSpPr>
          <p:nvPr/>
        </p:nvSpPr>
        <p:spPr>
          <a:xfrm xmlns:a="http://schemas.openxmlformats.org/drawingml/2006/main">
            <a:off x="457200"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267FE834-A203-4140-81B9-AEDE10E5AE94}"/>
              </a:ext>
            </a:extLst>
          </p:cNvPr>
          <p:cNvSpPr>
            <a:spLocks xmlns:a="http://schemas.openxmlformats.org/drawingml/2006/main" noGrp="1"/>
          </p:cNvSpPr>
          <p:nvPr/>
        </p:nvSpPr>
        <p:spPr>
          <a:xfrm xmlns:a="http://schemas.openxmlformats.org/drawingml/2006/main">
            <a:off x="457200"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A8012EB-26C4-464E-A1BB-BB28720AF916}"/>
              </a:ext>
            </a:extLst>
          </p:cNvPr>
          <p:cNvSpPr>
            <a:spLocks xmlns:a="http://schemas.openxmlformats.org/drawingml/2006/main" noGrp="1"/>
          </p:cNvSpPr>
          <p:nvPr/>
        </p:nvSpPr>
        <p:spPr>
          <a:xfrm xmlns:a="http://schemas.openxmlformats.org/drawingml/2006/main">
            <a:off x="571500"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2A93CAC5-F84D-444A-BC81-A5EA45AB4B2D}"/>
              </a:ext>
            </a:extLst>
          </p:cNvPr>
          <p:cNvSpPr>
            <a:spLocks xmlns:a="http://schemas.openxmlformats.org/drawingml/2006/main" noGrp="1"/>
          </p:cNvSpPr>
          <p:nvPr/>
        </p:nvSpPr>
        <p:spPr>
          <a:xfrm xmlns:a="http://schemas.openxmlformats.org/drawingml/2006/main">
            <a:off x="819150"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CLAIM COMPRESSION</a:t>
            </a:r>
          </a:p>
        </p:txBody>
      </p:sp>
      <p:sp>
        <p:nvSpPr>
          <p:cNvPr id="16" name="">
            <a:extLst xmlns:a="http://schemas.openxmlformats.org/drawingml/2006/main">
              <a:ext uri="{FF2B5EF4-FFF2-40B4-BE49-F238E27FC236}">
                <a16:creationId xmlns:a16="http://schemas.microsoft.com/office/drawing/2014/main" id="{D73831B2-4487-44CD-BE93-8E245654E2AE}"/>
              </a:ext>
            </a:extLst>
          </p:cNvPr>
          <p:cNvSpPr>
            <a:spLocks xmlns:a="http://schemas.openxmlformats.org/drawingml/2006/main" noGrp="1"/>
          </p:cNvSpPr>
          <p:nvPr/>
        </p:nvSpPr>
        <p:spPr>
          <a:xfrm xmlns:a="http://schemas.openxmlformats.org/drawingml/2006/main">
            <a:off x="571500"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Peers (Starkenn, Aptiv/STRADVISION, Gahan) also assert India relevance and VRU capability. Differentiation must shift from nationality to measurable performance. VRU Detection</a:t>
            </a:r>
          </a:p>
        </p:txBody>
      </p:sp>
      <p:sp>
        <p:nvSpPr>
          <p:cNvPr id="17" name="">
            <a:extLst xmlns:a="http://schemas.openxmlformats.org/drawingml/2006/main">
              <a:ext uri="{FF2B5EF4-FFF2-40B4-BE49-F238E27FC236}">
                <a16:creationId xmlns:a16="http://schemas.microsoft.com/office/drawing/2014/main" id="{FFA8FAE0-91AB-4DEA-A8DC-17ED6156C971}"/>
              </a:ext>
            </a:extLst>
          </p:cNvPr>
          <p:cNvSpPr>
            <a:spLocks xmlns:a="http://schemas.openxmlformats.org/drawingml/2006/main" noGrp="1"/>
          </p:cNvSpPr>
          <p:nvPr/>
        </p:nvSpPr>
        <p:spPr>
          <a:xfrm xmlns:a="http://schemas.openxmlformats.org/drawingml/2006/main">
            <a:off x="3119438"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A8C07F8-1FC1-420C-B318-0C82A9A3A26E}"/>
              </a:ext>
            </a:extLst>
          </p:cNvPr>
          <p:cNvSpPr>
            <a:spLocks xmlns:a="http://schemas.openxmlformats.org/drawingml/2006/main" noGrp="1"/>
          </p:cNvSpPr>
          <p:nvPr/>
        </p:nvSpPr>
        <p:spPr>
          <a:xfrm xmlns:a="http://schemas.openxmlformats.org/drawingml/2006/main">
            <a:off x="3348038"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AB49E573-B573-424F-A297-BE2F48F9487E}"/>
              </a:ext>
            </a:extLst>
          </p:cNvPr>
          <p:cNvSpPr>
            <a:spLocks xmlns:a="http://schemas.openxmlformats.org/drawingml/2006/main" noGrp="1"/>
          </p:cNvSpPr>
          <p:nvPr/>
        </p:nvSpPr>
        <p:spPr>
          <a:xfrm xmlns:a="http://schemas.openxmlformats.org/drawingml/2006/main">
            <a:off x="3348038"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DA69F3C-FDC9-4A90-BCA8-656EEC3DBAD0}"/>
              </a:ext>
            </a:extLst>
          </p:cNvPr>
          <p:cNvSpPr>
            <a:spLocks xmlns:a="http://schemas.openxmlformats.org/drawingml/2006/main" noGrp="1"/>
          </p:cNvSpPr>
          <p:nvPr/>
        </p:nvSpPr>
        <p:spPr>
          <a:xfrm xmlns:a="http://schemas.openxmlformats.org/drawingml/2006/main">
            <a:off x="3462338"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D00A36C8-FA5A-4436-B3AF-0E515A11A294}"/>
              </a:ext>
            </a:extLst>
          </p:cNvPr>
          <p:cNvSpPr>
            <a:spLocks xmlns:a="http://schemas.openxmlformats.org/drawingml/2006/main" noGrp="1"/>
          </p:cNvSpPr>
          <p:nvPr/>
        </p:nvSpPr>
        <p:spPr>
          <a:xfrm xmlns:a="http://schemas.openxmlformats.org/drawingml/2006/main">
            <a:off x="3709988"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CLAIM COMPRESSION</a:t>
            </a:r>
          </a:p>
        </p:txBody>
      </p:sp>
      <p:sp>
        <p:nvSpPr>
          <p:cNvPr id="22" name="">
            <a:extLst xmlns:a="http://schemas.openxmlformats.org/drawingml/2006/main">
              <a:ext uri="{FF2B5EF4-FFF2-40B4-BE49-F238E27FC236}">
                <a16:creationId xmlns:a16="http://schemas.microsoft.com/office/drawing/2014/main" id="{EED5375B-DAD5-4FA3-ACC5-7FA27C69AE91}"/>
              </a:ext>
            </a:extLst>
          </p:cNvPr>
          <p:cNvSpPr>
            <a:spLocks xmlns:a="http://schemas.openxmlformats.org/drawingml/2006/main" noGrp="1"/>
          </p:cNvSpPr>
          <p:nvPr/>
        </p:nvSpPr>
        <p:spPr>
          <a:xfrm xmlns:a="http://schemas.openxmlformats.org/drawingml/2006/main">
            <a:off x="3462338"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All competitors claim India relevance; differentiation must be measurable</a:t>
            </a:r>
          </a:p>
        </p:txBody>
      </p:sp>
      <p:sp>
        <p:nvSpPr>
          <p:cNvPr id="23" name="">
            <a:extLst xmlns:a="http://schemas.openxmlformats.org/drawingml/2006/main">
              <a:ext uri="{FF2B5EF4-FFF2-40B4-BE49-F238E27FC236}">
                <a16:creationId xmlns:a16="http://schemas.microsoft.com/office/drawing/2014/main" id="{72BDB82E-4AA9-4FD6-B0BA-E0FD985C19D8}"/>
              </a:ext>
            </a:extLst>
          </p:cNvPr>
          <p:cNvSpPr>
            <a:spLocks xmlns:a="http://schemas.openxmlformats.org/drawingml/2006/main" noGrp="1"/>
          </p:cNvSpPr>
          <p:nvPr/>
        </p:nvSpPr>
        <p:spPr>
          <a:xfrm xmlns:a="http://schemas.openxmlformats.org/drawingml/2006/main">
            <a:off x="6010275"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FE6C7AC-082A-40F8-A127-AFC9DFD3B4F2}"/>
              </a:ext>
            </a:extLst>
          </p:cNvPr>
          <p:cNvSpPr>
            <a:spLocks xmlns:a="http://schemas.openxmlformats.org/drawingml/2006/main" noGrp="1"/>
          </p:cNvSpPr>
          <p:nvPr/>
        </p:nvSpPr>
        <p:spPr>
          <a:xfrm xmlns:a="http://schemas.openxmlformats.org/drawingml/2006/main">
            <a:off x="6238875"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445F673D-396B-4475-8F5E-A28FA6CC9D78}"/>
              </a:ext>
            </a:extLst>
          </p:cNvPr>
          <p:cNvSpPr>
            <a:spLocks xmlns:a="http://schemas.openxmlformats.org/drawingml/2006/main" noGrp="1"/>
          </p:cNvSpPr>
          <p:nvPr/>
        </p:nvSpPr>
        <p:spPr>
          <a:xfrm xmlns:a="http://schemas.openxmlformats.org/drawingml/2006/main">
            <a:off x="6238875"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28FE9C0-1484-4200-816B-05014F43DB6A}"/>
              </a:ext>
            </a:extLst>
          </p:cNvPr>
          <p:cNvSpPr>
            <a:spLocks xmlns:a="http://schemas.openxmlformats.org/drawingml/2006/main" noGrp="1"/>
          </p:cNvSpPr>
          <p:nvPr/>
        </p:nvSpPr>
        <p:spPr>
          <a:xfrm xmlns:a="http://schemas.openxmlformats.org/drawingml/2006/main">
            <a:off x="6353175"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56B6F7AC-2F75-4B2B-AE9C-AAE7788B1AD3}"/>
              </a:ext>
            </a:extLst>
          </p:cNvPr>
          <p:cNvSpPr>
            <a:spLocks xmlns:a="http://schemas.openxmlformats.org/drawingml/2006/main" noGrp="1"/>
          </p:cNvSpPr>
          <p:nvPr/>
        </p:nvSpPr>
        <p:spPr>
          <a:xfrm xmlns:a="http://schemas.openxmlformats.org/drawingml/2006/main">
            <a:off x="6600825"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BENCHMARK DESIGN</a:t>
            </a:r>
          </a:p>
        </p:txBody>
      </p:sp>
      <p:sp>
        <p:nvSpPr>
          <p:cNvPr id="28" name="">
            <a:extLst xmlns:a="http://schemas.openxmlformats.org/drawingml/2006/main">
              <a:ext uri="{FF2B5EF4-FFF2-40B4-BE49-F238E27FC236}">
                <a16:creationId xmlns:a16="http://schemas.microsoft.com/office/drawing/2014/main" id="{5C4820E9-F32E-459C-AF39-915F09F8E04F}"/>
              </a:ext>
            </a:extLst>
          </p:cNvPr>
          <p:cNvSpPr>
            <a:spLocks xmlns:a="http://schemas.openxmlformats.org/drawingml/2006/main" noGrp="1"/>
          </p:cNvSpPr>
          <p:nvPr/>
        </p:nvSpPr>
        <p:spPr>
          <a:xfrm xmlns:a="http://schemas.openxmlformats.org/drawingml/2006/main">
            <a:off x="6353175"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Report scenario families, class definitions, distance, lighting, weather, and denominators. Make reproducible evidence the sales engine. Scenario Families</a:t>
            </a:r>
          </a:p>
        </p:txBody>
      </p:sp>
      <p:sp>
        <p:nvSpPr>
          <p:cNvPr id="29" name="">
            <a:extLst xmlns:a="http://schemas.openxmlformats.org/drawingml/2006/main">
              <a:ext uri="{FF2B5EF4-FFF2-40B4-BE49-F238E27FC236}">
                <a16:creationId xmlns:a16="http://schemas.microsoft.com/office/drawing/2014/main" id="{2A74CE91-65C6-4DBD-A9AF-241CD6FBE2C4}"/>
              </a:ext>
            </a:extLst>
          </p:cNvPr>
          <p:cNvSpPr>
            <a:spLocks xmlns:a="http://schemas.openxmlformats.org/drawingml/2006/main" noGrp="1"/>
          </p:cNvSpPr>
          <p:nvPr/>
        </p:nvSpPr>
        <p:spPr>
          <a:xfrm xmlns:a="http://schemas.openxmlformats.org/drawingml/2006/main">
            <a:off x="8901113"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56F1B41-FC77-435F-86A2-9F927D7B809A}"/>
              </a:ext>
            </a:extLst>
          </p:cNvPr>
          <p:cNvSpPr>
            <a:spLocks xmlns:a="http://schemas.openxmlformats.org/drawingml/2006/main" noGrp="1"/>
          </p:cNvSpPr>
          <p:nvPr/>
        </p:nvSpPr>
        <p:spPr>
          <a:xfrm xmlns:a="http://schemas.openxmlformats.org/drawingml/2006/main">
            <a:off x="9129713"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3736B404-558C-41B5-894C-812DDF73F735}"/>
              </a:ext>
            </a:extLst>
          </p:cNvPr>
          <p:cNvSpPr>
            <a:spLocks xmlns:a="http://schemas.openxmlformats.org/drawingml/2006/main" noGrp="1"/>
          </p:cNvSpPr>
          <p:nvPr/>
        </p:nvSpPr>
        <p:spPr>
          <a:xfrm xmlns:a="http://schemas.openxmlformats.org/drawingml/2006/main">
            <a:off x="9129713" y="21526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F36610E-379E-4FEF-859F-CCC19BF0CFEB}"/>
              </a:ext>
            </a:extLst>
          </p:cNvPr>
          <p:cNvSpPr>
            <a:spLocks xmlns:a="http://schemas.openxmlformats.org/drawingml/2006/main" noGrp="1"/>
          </p:cNvSpPr>
          <p:nvPr/>
        </p:nvSpPr>
        <p:spPr>
          <a:xfrm xmlns:a="http://schemas.openxmlformats.org/drawingml/2006/main">
            <a:off x="9244013"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56DD5394-35AE-49C1-A8BC-311E3F55381E}"/>
              </a:ext>
            </a:extLst>
          </p:cNvPr>
          <p:cNvSpPr>
            <a:spLocks xmlns:a="http://schemas.openxmlformats.org/drawingml/2006/main" noGrp="1"/>
          </p:cNvSpPr>
          <p:nvPr/>
        </p:nvSpPr>
        <p:spPr>
          <a:xfrm xmlns:a="http://schemas.openxmlformats.org/drawingml/2006/main">
            <a:off x="9491663"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COMMERCIAL TRANSL… · DECISION…</a:t>
            </a:r>
          </a:p>
        </p:txBody>
      </p:sp>
      <p:sp>
        <p:nvSpPr>
          <p:cNvPr id="34" name="">
            <a:extLst xmlns:a="http://schemas.openxmlformats.org/drawingml/2006/main">
              <a:ext uri="{FF2B5EF4-FFF2-40B4-BE49-F238E27FC236}">
                <a16:creationId xmlns:a16="http://schemas.microsoft.com/office/drawing/2014/main" id="{06998E48-D721-475C-9917-197443A1D8CE}"/>
              </a:ext>
            </a:extLst>
          </p:cNvPr>
          <p:cNvSpPr>
            <a:spLocks xmlns:a="http://schemas.openxmlformats.org/drawingml/2006/main" noGrp="1"/>
          </p:cNvSpPr>
          <p:nvPr/>
        </p:nvSpPr>
        <p:spPr>
          <a:xfrm xmlns:a="http://schemas.openxmlformats.org/drawingml/2006/main">
            <a:off x="9244013"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relevant buyer test is lower false/missed events, lower power/cost. Tie performance metrics to economic value. False Events</a:t>
            </a:r>
          </a:p>
        </p:txBody>
      </p:sp>
      <p:sp>
        <p:nvSpPr>
          <p:cNvPr id="35" name="">
            <a:extLst xmlns:a="http://schemas.openxmlformats.org/drawingml/2006/main">
              <a:ext uri="{FF2B5EF4-FFF2-40B4-BE49-F238E27FC236}">
                <a16:creationId xmlns:a16="http://schemas.microsoft.com/office/drawing/2014/main" id="{90C16A4C-3D9B-4888-9CD5-C72640E8A864}"/>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BBF1A327-D8AB-4356-A295-6D0AE9E409A9}"/>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5EA559E-F562-4076-8862-B4FCC379F4C6}"/>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8BCD27E7-8C49-4525-A947-47F6645590DF}"/>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When every competitor makes the same claim, the claim stops separating them and the buyer falls back to what can be reproduced. Freezing the benchmark definition is what makes DeepGrid's version reproducible rather than assertable.</a:t>
            </a:r>
          </a:p>
        </p:txBody>
      </p:sp>
      <p:sp>
        <p:nvSpPr>
          <p:cNvPr id="39" name="">
            <a:extLst xmlns:a="http://schemas.openxmlformats.org/drawingml/2006/main">
              <a:ext uri="{FF2B5EF4-FFF2-40B4-BE49-F238E27FC236}">
                <a16:creationId xmlns:a16="http://schemas.microsoft.com/office/drawing/2014/main" id="{927D6A3B-846A-401F-A287-076A7335447C}"/>
              </a:ext>
            </a:extLst>
          </p:cNvPr>
          <p:cNvSpPr>
            <a:spLocks xmlns:a="http://schemas.openxmlformats.org/drawingml/2006/main" noGrp="1"/>
          </p:cNvSpPr>
          <p:nvPr/>
        </p:nvSpPr>
        <p:spPr>
          <a:xfrm xmlns:a="http://schemas.openxmlformats.org/drawingml/2006/main">
            <a:off x="6153150" y="472440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31D62976-3B3C-4594-9FF8-12668B842C85}"/>
              </a:ext>
            </a:extLst>
          </p:cNvPr>
          <p:cNvSpPr>
            <a:spLocks xmlns:a="http://schemas.openxmlformats.org/drawingml/2006/main" noGrp="1"/>
          </p:cNvSpPr>
          <p:nvPr/>
        </p:nvSpPr>
        <p:spPr>
          <a:xfrm xmlns:a="http://schemas.openxmlformats.org/drawingml/2006/main">
            <a:off x="6153150" y="47244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D9579F4C-D919-4F3A-997F-E7D7664E376E}"/>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D08B20BE-3644-4E19-9973-1F799318451B}"/>
              </a:ext>
            </a:extLst>
          </p:cNvPr>
          <p:cNvSpPr>
            <a:spLocks xmlns:a="http://schemas.openxmlformats.org/drawingml/2006/main" noGrp="1"/>
          </p:cNvSpPr>
          <p:nvPr/>
        </p:nvSpPr>
        <p:spPr>
          <a:xfrm xmlns:a="http://schemas.openxmlformats.org/drawingml/2006/main">
            <a:off x="6276975" y="49403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nationality-led claims in all customer-facing material.</a:t>
            </a:r>
          </a:p>
        </p:txBody>
      </p:sp>
      <p:sp>
        <p:nvSpPr>
          <p:cNvPr id="43" name="">
            <a:extLst xmlns:a="http://schemas.openxmlformats.org/drawingml/2006/main">
              <a:ext uri="{FF2B5EF4-FFF2-40B4-BE49-F238E27FC236}">
                <a16:creationId xmlns:a16="http://schemas.microsoft.com/office/drawing/2014/main" id="{EA3A52C2-D66C-4EDF-94C1-8720DDEA987B}"/>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F686F932-EA98-44E5-93C2-6D0856C29BC0}"/>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147015B2-68AB-4337-8715-62C11E413458}"/>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169BC661-A758-4EC9-AF60-FCDC62C1381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Freeze the benchmark definition and make reproducible evidence the sales engine.</a:t>
            </a:r>
          </a:p>
        </p:txBody>
      </p:sp>
      <p:sp>
        <p:nvSpPr>
          <p:cNvPr id="47" name="">
            <a:extLst xmlns:a="http://schemas.openxmlformats.org/drawingml/2006/main">
              <a:ext uri="{FF2B5EF4-FFF2-40B4-BE49-F238E27FC236}">
                <a16:creationId xmlns:a16="http://schemas.microsoft.com/office/drawing/2014/main" id="{163305B4-044B-4085-87AB-3B7CF532A987}"/>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C3C13A99-C733-4E67-B20E-F0958758EC47}"/>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Benchmark definition frozen and published for partner review.</a:t>
            </a:r>
          </a:p>
        </p:txBody>
      </p:sp>
      <p:sp>
        <p:nvSpPr>
          <p:cNvPr id="49" name="">
            <a:extLst xmlns:a="http://schemas.openxmlformats.org/drawingml/2006/main">
              <a:ext uri="{FF2B5EF4-FFF2-40B4-BE49-F238E27FC236}">
                <a16:creationId xmlns:a16="http://schemas.microsoft.com/office/drawing/2014/main" id="{16D95F98-BBBB-4CB6-9432-143DD2DBC540}"/>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6CD327B0-256C-4CC6-B8EE-4B88F1BB413D}"/>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nationality-led claims in all customer-facing material.</a:t>
            </a:r>
          </a:p>
        </p:txBody>
      </p:sp>
      <p:sp>
        <p:nvSpPr>
          <p:cNvPr id="51" name="">
            <a:extLst xmlns:a="http://schemas.openxmlformats.org/drawingml/2006/main">
              <a:ext uri="{FF2B5EF4-FFF2-40B4-BE49-F238E27FC236}">
                <a16:creationId xmlns:a16="http://schemas.microsoft.com/office/drawing/2014/main" id="{B692D91F-C3EE-425D-8839-707C4B378C8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22A899D1-93FC-42F8-BF54-6B3B81801C8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9AD70385-0348-44C8-B1F3-D29F22D371A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108</a:t>
            </a:r>
          </a:p>
        </p:txBody>
      </p:sp>
    </p:spTree>
    <p:extLst>
      <p:ext uri="{BB962C8B-B14F-4D97-AF65-F5344CB8AC3E}">
        <p14:creationId xmlns:p14="http://schemas.microsoft.com/office/powerpoint/2010/main" val="193887009"/>
      </p:ext>
    </p:extLst>
  </p:cSld>
</p:sld>
</file>

<file path=ppt/slides/slide109.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FBE0A334-4716-4019-B849-FB828BAC4B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C4CB0AA-B9B4-433B-9217-7BCD4CD824D7}"/>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2B7185F-916B-48A3-B0F4-37B211FFA002}"/>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770602F3-F80A-4B92-9370-450785CB1BC9}"/>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9B597A8B-AAAD-4005-AC8E-BDF3DBF6DCBC}"/>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Only three bounded, proof-linked messages are ready to anchor DeepGrid's positioning</a:t>
            </a:r>
          </a:p>
        </p:txBody>
      </p:sp>
      <p:sp>
        <p:nvSpPr>
          <p:cNvPr id="6" name="">
            <a:extLst xmlns:a="http://schemas.openxmlformats.org/drawingml/2006/main">
              <a:ext uri="{FF2B5EF4-FFF2-40B4-BE49-F238E27FC236}">
                <a16:creationId xmlns:a16="http://schemas.microsoft.com/office/drawing/2014/main" id="{758FC9A1-B12F-4D9A-A8ED-6476AAE90F15}"/>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1AB62DF-102D-495E-9410-9AA729B85BBA}"/>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messages remain defensible after the competitive reset, and what proof is still needed?</a:t>
            </a:r>
          </a:p>
        </p:txBody>
      </p:sp>
      <p:sp>
        <p:nvSpPr>
          <p:cNvPr id="8" name="">
            <a:extLst xmlns:a="http://schemas.openxmlformats.org/drawingml/2006/main">
              <a:ext uri="{FF2B5EF4-FFF2-40B4-BE49-F238E27FC236}">
                <a16:creationId xmlns:a16="http://schemas.microsoft.com/office/drawing/2014/main" id="{A8867FCD-5F8F-4153-9F8E-14428293BB25}"/>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D0EF03E8-E40B-4D9D-819B-0A02E093461F}"/>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AD3C168-8213-46B4-BD11-63AA510C0BAB}"/>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CA54E7AA-A123-4099-98DD-CA4000D5872B}"/>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reset replaces broad differentiation claims with three buyer-testable mechanisms:  measured performance  lowers technical uncertainty,  integration boundaries  clarify accountability, and  economic transparency  builds procurement trust.</a:t>
            </a:r>
          </a:p>
        </p:txBody>
      </p:sp>
      <p:sp>
        <p:nvSpPr>
          <p:cNvPr id="12" name="">
            <a:extLst xmlns:a="http://schemas.openxmlformats.org/drawingml/2006/main">
              <a:ext uri="{FF2B5EF4-FFF2-40B4-BE49-F238E27FC236}">
                <a16:creationId xmlns:a16="http://schemas.microsoft.com/office/drawing/2014/main" id="{036E8245-DB78-4DCC-900B-3FB1E0EB1C1A}"/>
              </a:ext>
            </a:extLst>
          </p:cNvPr>
          <p:cNvSpPr>
            <a:spLocks xmlns:a="http://schemas.openxmlformats.org/drawingml/2006/main" noGrp="1"/>
          </p:cNvSpPr>
          <p:nvPr/>
        </p:nvSpPr>
        <p:spPr>
          <a:xfrm xmlns:a="http://schemas.openxmlformats.org/drawingml/2006/main">
            <a:off x="457200" y="2152650"/>
            <a:ext cx="3695700" cy="28194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860BB69B-9CE0-4AA8-9025-92F33E5BD766}"/>
              </a:ext>
            </a:extLst>
          </p:cNvPr>
          <p:cNvSpPr>
            <a:spLocks xmlns:a="http://schemas.openxmlformats.org/drawingml/2006/main" noGrp="1"/>
          </p:cNvSpPr>
          <p:nvPr/>
        </p:nvSpPr>
        <p:spPr>
          <a:xfrm xmlns:a="http://schemas.openxmlformats.org/drawingml/2006/main">
            <a:off x="457200" y="215265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F5CE229-61D5-4523-9E43-61B57562D599}"/>
              </a:ext>
            </a:extLst>
          </p:cNvPr>
          <p:cNvSpPr>
            <a:spLocks xmlns:a="http://schemas.openxmlformats.org/drawingml/2006/main" noGrp="1"/>
          </p:cNvSpPr>
          <p:nvPr/>
        </p:nvSpPr>
        <p:spPr>
          <a:xfrm xmlns:a="http://schemas.openxmlformats.org/drawingml/2006/main">
            <a:off x="57150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48302645-8F1B-4F10-A1A9-D5FBF94E550F}"/>
              </a:ext>
            </a:extLst>
          </p:cNvPr>
          <p:cNvSpPr>
            <a:spLocks xmlns:a="http://schemas.openxmlformats.org/drawingml/2006/main" noGrp="1"/>
          </p:cNvSpPr>
          <p:nvPr/>
        </p:nvSpPr>
        <p:spPr>
          <a:xfrm xmlns:a="http://schemas.openxmlformats.org/drawingml/2006/main">
            <a:off x="571500" y="2419350"/>
            <a:ext cx="344805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 reset replaces broad differentiation claims with three buyer-testable mechanisms:  measured performance  lowers technical uncertainty,  integration boundaries  clarify accountability, and  economic transparency  builds procurement trust.</a:t>
            </a:r>
          </a:p>
        </p:txBody>
      </p:sp>
      <p:sp>
        <p:nvSpPr>
          <p:cNvPr id="16" name="">
            <a:extLst xmlns:a="http://schemas.openxmlformats.org/drawingml/2006/main">
              <a:ext uri="{FF2B5EF4-FFF2-40B4-BE49-F238E27FC236}">
                <a16:creationId xmlns:a16="http://schemas.microsoft.com/office/drawing/2014/main" id="{E700E47C-3034-4049-87E2-768CAE09F39B}"/>
              </a:ext>
            </a:extLst>
          </p:cNvPr>
          <p:cNvSpPr>
            <a:spLocks xmlns:a="http://schemas.openxmlformats.org/drawingml/2006/main" noGrp="1"/>
          </p:cNvSpPr>
          <p:nvPr/>
        </p:nvSpPr>
        <p:spPr>
          <a:xfrm xmlns:a="http://schemas.openxmlformats.org/drawingml/2006/main">
            <a:off x="4248150" y="2152650"/>
            <a:ext cx="3695700" cy="28194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FCE88952-3D92-4A30-ACF1-84475526E165}"/>
              </a:ext>
            </a:extLst>
          </p:cNvPr>
          <p:cNvSpPr>
            <a:spLocks xmlns:a="http://schemas.openxmlformats.org/drawingml/2006/main" noGrp="1"/>
          </p:cNvSpPr>
          <p:nvPr/>
        </p:nvSpPr>
        <p:spPr>
          <a:xfrm xmlns:a="http://schemas.openxmlformats.org/drawingml/2006/main">
            <a:off x="4248150" y="215265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C29DEA4-1300-4AA7-820F-B81AC7382E9F}"/>
              </a:ext>
            </a:extLst>
          </p:cNvPr>
          <p:cNvSpPr>
            <a:spLocks xmlns:a="http://schemas.openxmlformats.org/drawingml/2006/main" noGrp="1"/>
          </p:cNvSpPr>
          <p:nvPr/>
        </p:nvSpPr>
        <p:spPr>
          <a:xfrm xmlns:a="http://schemas.openxmlformats.org/drawingml/2006/main">
            <a:off x="436245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FECCE4FD-CBE2-4735-B4FD-BAB0E8630C94}"/>
              </a:ext>
            </a:extLst>
          </p:cNvPr>
          <p:cNvSpPr>
            <a:spLocks xmlns:a="http://schemas.openxmlformats.org/drawingml/2006/main" noGrp="1"/>
          </p:cNvSpPr>
          <p:nvPr/>
        </p:nvSpPr>
        <p:spPr>
          <a:xfrm xmlns:a="http://schemas.openxmlformats.org/drawingml/2006/main">
            <a:off x="4362450" y="2419350"/>
            <a:ext cx="344805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All three messages are currently unbacked. No supplied evidence establishes that any pillar yet has the reproducible artifact it requires, so the reset trades three broad claims for three narrower unproven ones.</a:t>
            </a:r>
          </a:p>
        </p:txBody>
      </p:sp>
      <p:sp>
        <p:nvSpPr>
          <p:cNvPr id="20" name="">
            <a:extLst xmlns:a="http://schemas.openxmlformats.org/drawingml/2006/main">
              <a:ext uri="{FF2B5EF4-FFF2-40B4-BE49-F238E27FC236}">
                <a16:creationId xmlns:a16="http://schemas.microsoft.com/office/drawing/2014/main" id="{124D2C2D-D37D-4453-A0D4-CB795B9F6A2E}"/>
              </a:ext>
            </a:extLst>
          </p:cNvPr>
          <p:cNvSpPr>
            <a:spLocks xmlns:a="http://schemas.openxmlformats.org/drawingml/2006/main" noGrp="1"/>
          </p:cNvSpPr>
          <p:nvPr/>
        </p:nvSpPr>
        <p:spPr>
          <a:xfrm xmlns:a="http://schemas.openxmlformats.org/drawingml/2006/main">
            <a:off x="8039100" y="2152650"/>
            <a:ext cx="3695700" cy="28194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4E123688-5AF8-4110-8DFE-87EC5C540E84}"/>
              </a:ext>
            </a:extLst>
          </p:cNvPr>
          <p:cNvSpPr>
            <a:spLocks xmlns:a="http://schemas.openxmlformats.org/drawingml/2006/main" noGrp="1"/>
          </p:cNvSpPr>
          <p:nvPr/>
        </p:nvSpPr>
        <p:spPr>
          <a:xfrm xmlns:a="http://schemas.openxmlformats.org/drawingml/2006/main">
            <a:off x="8039100" y="215265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7D9A615-F35F-41CD-B2DE-50D448F5CAD9}"/>
              </a:ext>
            </a:extLst>
          </p:cNvPr>
          <p:cNvSpPr>
            <a:spLocks xmlns:a="http://schemas.openxmlformats.org/drawingml/2006/main" noGrp="1"/>
          </p:cNvSpPr>
          <p:nvPr/>
        </p:nvSpPr>
        <p:spPr>
          <a:xfrm xmlns:a="http://schemas.openxmlformats.org/drawingml/2006/main">
            <a:off x="815340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7ED53ABC-3154-4107-A19C-B57E9D7C93F9}"/>
              </a:ext>
            </a:extLst>
          </p:cNvPr>
          <p:cNvSpPr>
            <a:spLocks xmlns:a="http://schemas.openxmlformats.org/drawingml/2006/main" noGrp="1"/>
          </p:cNvSpPr>
          <p:nvPr/>
        </p:nvSpPr>
        <p:spPr>
          <a:xfrm xmlns:a="http://schemas.openxmlformats.org/drawingml/2006/main">
            <a:off x="8153400" y="2419350"/>
            <a:ext cx="344805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Positioning is now bounded by what DeepGrid can evidence, which is currently less than what it claims.</a:t>
            </a:r>
          </a:p>
        </p:txBody>
      </p:sp>
      <p:sp>
        <p:nvSpPr>
          <p:cNvPr id="24" name="">
            <a:extLst xmlns:a="http://schemas.openxmlformats.org/drawingml/2006/main">
              <a:ext uri="{FF2B5EF4-FFF2-40B4-BE49-F238E27FC236}">
                <a16:creationId xmlns:a16="http://schemas.microsoft.com/office/drawing/2014/main" id="{BDB1F64B-0565-42A7-BF91-B6F30A7A398F}"/>
              </a:ext>
            </a:extLst>
          </p:cNvPr>
          <p:cNvSpPr>
            <a:spLocks xmlns:a="http://schemas.openxmlformats.org/drawingml/2006/main" noGrp="1"/>
          </p:cNvSpPr>
          <p:nvPr/>
        </p:nvSpPr>
        <p:spPr>
          <a:xfrm xmlns:a="http://schemas.openxmlformats.org/drawingml/2006/main">
            <a:off x="457200" y="508635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2E2E143F-932D-4D9B-8A38-096E59B97C42}"/>
              </a:ext>
            </a:extLst>
          </p:cNvPr>
          <p:cNvSpPr>
            <a:spLocks xmlns:a="http://schemas.openxmlformats.org/drawingml/2006/main" noGrp="1"/>
          </p:cNvSpPr>
          <p:nvPr/>
        </p:nvSpPr>
        <p:spPr>
          <a:xfrm xmlns:a="http://schemas.openxmlformats.org/drawingml/2006/main">
            <a:off x="457200" y="508635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9F93A44-0AE4-4DD4-AB66-0EF9AA1323ED}"/>
              </a:ext>
            </a:extLst>
          </p:cNvPr>
          <p:cNvSpPr>
            <a:spLocks xmlns:a="http://schemas.openxmlformats.org/drawingml/2006/main" noGrp="1"/>
          </p:cNvSpPr>
          <p:nvPr/>
        </p:nvSpPr>
        <p:spPr>
          <a:xfrm xmlns:a="http://schemas.openxmlformats.org/drawingml/2006/main">
            <a:off x="581025" y="51530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3AD081BB-2A4D-414F-A9D9-408655932062}"/>
              </a:ext>
            </a:extLst>
          </p:cNvPr>
          <p:cNvSpPr>
            <a:spLocks xmlns:a="http://schemas.openxmlformats.org/drawingml/2006/main" noGrp="1"/>
          </p:cNvSpPr>
          <p:nvPr/>
        </p:nvSpPr>
        <p:spPr>
          <a:xfrm xmlns:a="http://schemas.openxmlformats.org/drawingml/2006/main">
            <a:off x="581025" y="53022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buyer accepts one of the three messages without the underlying artifact — which would show the proof burden was overstated.</a:t>
            </a:r>
          </a:p>
        </p:txBody>
      </p:sp>
      <p:sp>
        <p:nvSpPr>
          <p:cNvPr id="28" name="">
            <a:extLst xmlns:a="http://schemas.openxmlformats.org/drawingml/2006/main">
              <a:ext uri="{FF2B5EF4-FFF2-40B4-BE49-F238E27FC236}">
                <a16:creationId xmlns:a16="http://schemas.microsoft.com/office/drawing/2014/main" id="{BF916C81-CCD1-4601-97A3-E7F6049FF8F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3D7B964-B510-4993-8CD8-A7563587068E}"/>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31834A8-CB1A-4C0B-865F-58C1ADD29C5C}"/>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45B8E823-5D0F-41B4-873F-8A667B26F7BC}"/>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Freeze messaging to these three pillars and fund the artifact each one requires.</a:t>
            </a:r>
          </a:p>
        </p:txBody>
      </p:sp>
      <p:sp>
        <p:nvSpPr>
          <p:cNvPr id="32" name="">
            <a:extLst xmlns:a="http://schemas.openxmlformats.org/drawingml/2006/main">
              <a:ext uri="{FF2B5EF4-FFF2-40B4-BE49-F238E27FC236}">
                <a16:creationId xmlns:a16="http://schemas.microsoft.com/office/drawing/2014/main" id="{59F1CF97-9EC5-42A6-8CCC-46F1F9315D5D}"/>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01E31AF3-D583-4DA3-840A-E9D3C0E65EC8}"/>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 with Head of Marketing</a:t>
            </a:r>
          </a:p>
          <a:p xmlns:a="http://schemas.openxmlformats.org/drawingml/2006/main">
            <a:pPr algn="l">
              <a:defRPr sz="800">
                <a:solidFill>
                  <a:srgbClr val="8EA0B2"/>
                </a:solidFill>
                <a:latin typeface="Arial"/>
                <a:ea typeface="Arial"/>
                <a:cs typeface="Arial"/>
              </a:defRPr>
            </a:pPr>
            <a:r>
              <a:t>Trigger · Publish the benchmark artifact for each pillar before use in pitches.</a:t>
            </a:r>
          </a:p>
        </p:txBody>
      </p:sp>
      <p:sp>
        <p:nvSpPr>
          <p:cNvPr id="34" name="">
            <a:extLst xmlns:a="http://schemas.openxmlformats.org/drawingml/2006/main">
              <a:ext uri="{FF2B5EF4-FFF2-40B4-BE49-F238E27FC236}">
                <a16:creationId xmlns:a16="http://schemas.microsoft.com/office/drawing/2014/main" id="{05C48387-0096-4055-AAFB-8A19A47E9637}"/>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D5596236-CACE-4E4D-A055-00B8611A728A}"/>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using any message whose artifact has not been produced.</a:t>
            </a:r>
          </a:p>
        </p:txBody>
      </p:sp>
      <p:sp>
        <p:nvSpPr>
          <p:cNvPr id="36" name="">
            <a:extLst xmlns:a="http://schemas.openxmlformats.org/drawingml/2006/main">
              <a:ext uri="{FF2B5EF4-FFF2-40B4-BE49-F238E27FC236}">
                <a16:creationId xmlns:a16="http://schemas.microsoft.com/office/drawing/2014/main" id="{08927079-EDAA-4B61-8D8D-26F3EE4FB81D}"/>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320E3932-243A-4B49-9AFA-7BA8AEC92ED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9EFA1C8F-4132-4D59-88DC-DB85D1EE4685}"/>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109</a:t>
            </a:r>
          </a:p>
        </p:txBody>
      </p:sp>
    </p:spTree>
    <p:extLst>
      <p:ext uri="{BB962C8B-B14F-4D97-AF65-F5344CB8AC3E}">
        <p14:creationId xmlns:p14="http://schemas.microsoft.com/office/powerpoint/2010/main" val="1208321455"/>
      </p:ext>
    </p:extLst>
  </p:cSld>
</p:sld>
</file>

<file path=ppt/slides/slide110.xml><?xml version="1.0" encoding="utf-8"?>
<p:sld xmlns:p="http://schemas.openxmlformats.org/presentationml/2006/main">
  <p:cSld>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3F7513CF-8250-4722-9ACB-4DF054EA651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8999C10-AA1F-4D81-98CD-A0A8144BD33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6B6BC6B-128A-407A-9B1E-D9436D82DECF}"/>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COMPETITIVE STRATEGY · PRICING REALITY</a:t>
            </a:r>
          </a:p>
        </p:txBody>
      </p:sp>
      <p:sp>
        <p:nvSpPr>
          <p:cNvPr id="4" name="">
            <a:extLst xmlns:a="http://schemas.openxmlformats.org/drawingml/2006/main">
              <a:ext uri="{FF2B5EF4-FFF2-40B4-BE49-F238E27FC236}">
                <a16:creationId xmlns:a16="http://schemas.microsoft.com/office/drawing/2014/main" id="{40C07BE0-DFEB-4A28-929E-63EDC4A9A303}"/>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No competitor's India unit price is quotable — say so before you are asked</a:t>
            </a:r>
          </a:p>
        </p:txBody>
      </p:sp>
      <p:sp>
        <p:nvSpPr>
          <p:cNvPr id="5" name="">
            <a:extLst xmlns:a="http://schemas.openxmlformats.org/drawingml/2006/main">
              <a:ext uri="{FF2B5EF4-FFF2-40B4-BE49-F238E27FC236}">
                <a16:creationId xmlns:a16="http://schemas.microsoft.com/office/drawing/2014/main" id="{0DEFCA8D-7C15-45C8-BA4D-CE1D1F67FBCD}"/>
              </a:ext>
            </a:extLst>
          </p:cNvPr>
          <p:cNvSpPr>
            <a:spLocks xmlns:a="http://schemas.openxmlformats.org/drawingml/2006/main" noGrp="1"/>
          </p:cNvSpPr>
          <p:nvPr/>
        </p:nvSpPr>
        <p:spPr>
          <a:xfrm xmlns:a="http://schemas.openxmlformats.org/drawingml/2006/main">
            <a:off x="457200" y="762000"/>
            <a:ext cx="11277600" cy="161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Every cost-advantage slide invites a question the evidence cannot answer. Two rows of the ledger establish why, and the answer is market structure rather than a search failure.</a:t>
            </a:r>
          </a:p>
        </p:txBody>
      </p:sp>
      <p:sp>
        <p:nvSpPr>
          <p:cNvPr id="6" name="">
            <a:extLst xmlns:a="http://schemas.openxmlformats.org/drawingml/2006/main">
              <a:ext uri="{FF2B5EF4-FFF2-40B4-BE49-F238E27FC236}">
                <a16:creationId xmlns:a16="http://schemas.microsoft.com/office/drawing/2014/main" id="{C3BBCF9D-3D3C-48F2-86C1-55A8C090FA3D}"/>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EF9FCAC-E059-4400-A986-B045C78E8AFC}"/>
              </a:ext>
            </a:extLst>
          </p:cNvPr>
          <p:cNvSpPr>
            <a:spLocks xmlns:a="http://schemas.openxmlformats.org/drawingml/2006/main" noGrp="1"/>
          </p:cNvSpPr>
          <p:nvPr/>
        </p:nvSpPr>
        <p:spPr>
          <a:xfrm xmlns:a="http://schemas.openxmlformats.org/drawingml/2006/main">
            <a:off x="457200" y="1133475"/>
            <a:ext cx="11277600" cy="438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8" name="">
            <a:extLst xmlns:a="http://schemas.openxmlformats.org/drawingml/2006/main">
              <a:ext uri="{FF2B5EF4-FFF2-40B4-BE49-F238E27FC236}">
                <a16:creationId xmlns:a16="http://schemas.microsoft.com/office/drawing/2014/main" id="{60F8CE1C-A8C3-40C4-9117-E199CAB55B49}"/>
              </a:ext>
            </a:extLst>
          </p:cNvPr>
          <p:cNvSpPr>
            <a:spLocks xmlns:a="http://schemas.openxmlformats.org/drawingml/2006/main" noGrp="1"/>
          </p:cNvSpPr>
          <p:nvPr/>
        </p:nvSpPr>
        <p:spPr>
          <a:xfrm xmlns:a="http://schemas.openxmlformats.org/drawingml/2006/main">
            <a:off x="457200" y="1133475"/>
            <a:ext cx="28575" cy="43815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2D84FAB-6EEB-4182-86D6-017C1B452680}"/>
              </a:ext>
            </a:extLst>
          </p:cNvPr>
          <p:cNvSpPr>
            <a:spLocks xmlns:a="http://schemas.openxmlformats.org/drawingml/2006/main" noGrp="1"/>
          </p:cNvSpPr>
          <p:nvPr/>
        </p:nvSpPr>
        <p:spPr>
          <a:xfrm xmlns:a="http://schemas.openxmlformats.org/drawingml/2006/main">
            <a:off x="609600" y="1209675"/>
            <a:ext cx="44767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No public per-unit India price exists</a:t>
            </a:r>
          </a:p>
        </p:txBody>
      </p:sp>
      <p:sp>
        <p:nvSpPr>
          <p:cNvPr id="10" name="">
            <a:extLst xmlns:a="http://schemas.openxmlformats.org/drawingml/2006/main">
              <a:ext uri="{FF2B5EF4-FFF2-40B4-BE49-F238E27FC236}">
                <a16:creationId xmlns:a16="http://schemas.microsoft.com/office/drawing/2014/main" id="{D44CDF23-72A2-4C2D-9235-3AAB32ACD5A9}"/>
              </a:ext>
            </a:extLst>
          </p:cNvPr>
          <p:cNvSpPr>
            <a:spLocks xmlns:a="http://schemas.openxmlformats.org/drawingml/2006/main" noGrp="1"/>
          </p:cNvSpPr>
          <p:nvPr/>
        </p:nvSpPr>
        <p:spPr>
          <a:xfrm xmlns:a="http://schemas.openxmlformats.org/drawingml/2006/main">
            <a:off x="5219700" y="1209675"/>
            <a:ext cx="49911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for Mobileye, Bosch, Continental, Qualcomm or Nvidia truck ADAS</a:t>
            </a:r>
          </a:p>
        </p:txBody>
      </p:sp>
      <p:sp>
        <p:nvSpPr>
          <p:cNvPr id="11" name="">
            <a:extLst xmlns:a="http://schemas.openxmlformats.org/drawingml/2006/main">
              <a:ext uri="{FF2B5EF4-FFF2-40B4-BE49-F238E27FC236}">
                <a16:creationId xmlns:a16="http://schemas.microsoft.com/office/drawing/2014/main" id="{5DC92AFB-850F-44BB-ADB9-C28223B82A1D}"/>
              </a:ext>
            </a:extLst>
          </p:cNvPr>
          <p:cNvSpPr>
            <a:spLocks xmlns:a="http://schemas.openxmlformats.org/drawingml/2006/main" noGrp="1"/>
          </p:cNvSpPr>
          <p:nvPr/>
        </p:nvSpPr>
        <p:spPr>
          <a:xfrm xmlns:a="http://schemas.openxmlformats.org/drawingml/2006/main">
            <a:off x="10306050" y="1209675"/>
            <a:ext cx="1314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BA271"/>
                </a:solidFill>
                <a:latin typeface="Arial"/>
                <a:ea typeface="Arial"/>
                <a:cs typeface="Arial"/>
              </a:defRPr>
            </a:pPr>
            <a:r>
              <a:t>VERIFIED ABSENCE</a:t>
            </a:r>
          </a:p>
        </p:txBody>
      </p:sp>
      <p:sp>
        <p:nvSpPr>
          <p:cNvPr id="12" name="">
            <a:extLst xmlns:a="http://schemas.openxmlformats.org/drawingml/2006/main">
              <a:ext uri="{FF2B5EF4-FFF2-40B4-BE49-F238E27FC236}">
                <a16:creationId xmlns:a16="http://schemas.microsoft.com/office/drawing/2014/main" id="{BFCF316D-4ED9-4C8E-8355-099C8AFFC89A}"/>
              </a:ext>
            </a:extLst>
          </p:cNvPr>
          <p:cNvSpPr>
            <a:spLocks xmlns:a="http://schemas.openxmlformats.org/drawingml/2006/main" noGrp="1"/>
          </p:cNvSpPr>
          <p:nvPr/>
        </p:nvSpPr>
        <p:spPr>
          <a:xfrm xmlns:a="http://schemas.openxmlformats.org/drawingml/2006/main">
            <a:off x="457200" y="1647825"/>
            <a:ext cx="11277600" cy="438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925A2BFF-B5F7-4071-9E32-59CACF9D7A55}"/>
              </a:ext>
            </a:extLst>
          </p:cNvPr>
          <p:cNvSpPr>
            <a:spLocks xmlns:a="http://schemas.openxmlformats.org/drawingml/2006/main" noGrp="1"/>
          </p:cNvSpPr>
          <p:nvPr/>
        </p:nvSpPr>
        <p:spPr>
          <a:xfrm xmlns:a="http://schemas.openxmlformats.org/drawingml/2006/main">
            <a:off x="457200" y="1647825"/>
            <a:ext cx="28575" cy="43815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9A834FE-B4F1-4FED-805F-28759E2816F6}"/>
              </a:ext>
            </a:extLst>
          </p:cNvPr>
          <p:cNvSpPr>
            <a:spLocks xmlns:a="http://schemas.openxmlformats.org/drawingml/2006/main" noGrp="1"/>
          </p:cNvSpPr>
          <p:nvPr/>
        </p:nvSpPr>
        <p:spPr>
          <a:xfrm xmlns:a="http://schemas.openxmlformats.org/drawingml/2006/main">
            <a:off x="609600" y="1724025"/>
            <a:ext cx="44767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bitsensing states pricing is 'agreed case by case'</a:t>
            </a:r>
          </a:p>
        </p:txBody>
      </p:sp>
      <p:sp>
        <p:nvSpPr>
          <p:cNvPr id="15" name="">
            <a:extLst xmlns:a="http://schemas.openxmlformats.org/drawingml/2006/main">
              <a:ext uri="{FF2B5EF4-FFF2-40B4-BE49-F238E27FC236}">
                <a16:creationId xmlns:a16="http://schemas.microsoft.com/office/drawing/2014/main" id="{1860C759-BF52-4054-9764-5FE8062BCCBF}"/>
              </a:ext>
            </a:extLst>
          </p:cNvPr>
          <p:cNvSpPr>
            <a:spLocks xmlns:a="http://schemas.openxmlformats.org/drawingml/2006/main" noGrp="1"/>
          </p:cNvSpPr>
          <p:nvPr/>
        </p:nvSpPr>
        <p:spPr>
          <a:xfrm xmlns:a="http://schemas.openxmlformats.org/drawingml/2006/main">
            <a:off x="5219700" y="1724025"/>
            <a:ext cx="49911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just-auto, 6 Feb 2026, quoting CEO Jae-Eun Lee: install ~4 hours per vehicle, pricing agreed case by case</a:t>
            </a:r>
          </a:p>
        </p:txBody>
      </p:sp>
      <p:sp>
        <p:nvSpPr>
          <p:cNvPr id="16" name="">
            <a:extLst xmlns:a="http://schemas.openxmlformats.org/drawingml/2006/main">
              <a:ext uri="{FF2B5EF4-FFF2-40B4-BE49-F238E27FC236}">
                <a16:creationId xmlns:a16="http://schemas.microsoft.com/office/drawing/2014/main" id="{4699137B-297F-4391-8C8C-F7E6B963F1C9}"/>
              </a:ext>
            </a:extLst>
          </p:cNvPr>
          <p:cNvSpPr>
            <a:spLocks xmlns:a="http://schemas.openxmlformats.org/drawingml/2006/main" noGrp="1"/>
          </p:cNvSpPr>
          <p:nvPr/>
        </p:nvSpPr>
        <p:spPr>
          <a:xfrm xmlns:a="http://schemas.openxmlformats.org/drawingml/2006/main">
            <a:off x="10306050" y="1724025"/>
            <a:ext cx="1314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BA271"/>
                </a:solidFill>
                <a:latin typeface="Arial"/>
                <a:ea typeface="Arial"/>
                <a:cs typeface="Arial"/>
              </a:defRPr>
            </a:pPr>
            <a:r>
              <a:t>EV-BIT-04</a:t>
            </a:r>
          </a:p>
        </p:txBody>
      </p:sp>
      <p:sp>
        <p:nvSpPr>
          <p:cNvPr id="17" name="">
            <a:extLst xmlns:a="http://schemas.openxmlformats.org/drawingml/2006/main">
              <a:ext uri="{FF2B5EF4-FFF2-40B4-BE49-F238E27FC236}">
                <a16:creationId xmlns:a16="http://schemas.microsoft.com/office/drawing/2014/main" id="{DF824956-4794-4C46-BE21-531F66007130}"/>
              </a:ext>
            </a:extLst>
          </p:cNvPr>
          <p:cNvSpPr>
            <a:spLocks xmlns:a="http://schemas.openxmlformats.org/drawingml/2006/main" noGrp="1"/>
          </p:cNvSpPr>
          <p:nvPr/>
        </p:nvSpPr>
        <p:spPr>
          <a:xfrm xmlns:a="http://schemas.openxmlformats.org/drawingml/2006/main">
            <a:off x="457200" y="2162175"/>
            <a:ext cx="11277600" cy="438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8" name="">
            <a:extLst xmlns:a="http://schemas.openxmlformats.org/drawingml/2006/main">
              <a:ext uri="{FF2B5EF4-FFF2-40B4-BE49-F238E27FC236}">
                <a16:creationId xmlns:a16="http://schemas.microsoft.com/office/drawing/2014/main" id="{7DB37837-4D6E-442B-8E86-0D819DC02560}"/>
              </a:ext>
            </a:extLst>
          </p:cNvPr>
          <p:cNvSpPr>
            <a:spLocks xmlns:a="http://schemas.openxmlformats.org/drawingml/2006/main" noGrp="1"/>
          </p:cNvSpPr>
          <p:nvPr/>
        </p:nvSpPr>
        <p:spPr>
          <a:xfrm xmlns:a="http://schemas.openxmlformats.org/drawingml/2006/main">
            <a:off x="457200" y="2162175"/>
            <a:ext cx="28575" cy="43815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5A46438-2929-4CEB-A4DB-311DEC346528}"/>
              </a:ext>
            </a:extLst>
          </p:cNvPr>
          <p:cNvSpPr>
            <a:spLocks xmlns:a="http://schemas.openxmlformats.org/drawingml/2006/main" noGrp="1"/>
          </p:cNvSpPr>
          <p:nvPr/>
        </p:nvSpPr>
        <p:spPr>
          <a:xfrm xmlns:a="http://schemas.openxmlformats.org/drawingml/2006/main">
            <a:off x="609600" y="2238375"/>
            <a:ext cx="44767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ADAS unit pricing is quoted, not listed</a:t>
            </a:r>
          </a:p>
        </p:txBody>
      </p:sp>
      <p:sp>
        <p:nvSpPr>
          <p:cNvPr id="20" name="">
            <a:extLst xmlns:a="http://schemas.openxmlformats.org/drawingml/2006/main">
              <a:ext uri="{FF2B5EF4-FFF2-40B4-BE49-F238E27FC236}">
                <a16:creationId xmlns:a16="http://schemas.microsoft.com/office/drawing/2014/main" id="{5D2AC478-4CFD-4000-9AFF-204A03A1D192}"/>
              </a:ext>
            </a:extLst>
          </p:cNvPr>
          <p:cNvSpPr>
            <a:spLocks xmlns:a="http://schemas.openxmlformats.org/drawingml/2006/main" noGrp="1"/>
          </p:cNvSpPr>
          <p:nvPr/>
        </p:nvSpPr>
        <p:spPr>
          <a:xfrm xmlns:a="http://schemas.openxmlformats.org/drawingml/2006/main">
            <a:off x="5219700" y="2238375"/>
            <a:ext cx="49911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so the absence is structural — more searching will not produce a number</a:t>
            </a:r>
          </a:p>
        </p:txBody>
      </p:sp>
      <p:sp>
        <p:nvSpPr>
          <p:cNvPr id="21" name="">
            <a:extLst xmlns:a="http://schemas.openxmlformats.org/drawingml/2006/main">
              <a:ext uri="{FF2B5EF4-FFF2-40B4-BE49-F238E27FC236}">
                <a16:creationId xmlns:a16="http://schemas.microsoft.com/office/drawing/2014/main" id="{B0E2509D-1AA6-4339-9884-DFD71C266BFC}"/>
              </a:ext>
            </a:extLst>
          </p:cNvPr>
          <p:cNvSpPr>
            <a:spLocks xmlns:a="http://schemas.openxmlformats.org/drawingml/2006/main" noGrp="1"/>
          </p:cNvSpPr>
          <p:nvPr/>
        </p:nvSpPr>
        <p:spPr>
          <a:xfrm xmlns:a="http://schemas.openxmlformats.org/drawingml/2006/main">
            <a:off x="10306050" y="2238375"/>
            <a:ext cx="131445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BA271"/>
                </a:solidFill>
                <a:latin typeface="Arial"/>
                <a:ea typeface="Arial"/>
                <a:cs typeface="Arial"/>
              </a:defRPr>
            </a:pPr>
            <a:r>
              <a:t>METHOD</a:t>
            </a:r>
          </a:p>
        </p:txBody>
      </p:sp>
      <p:sp>
        <p:nvSpPr>
          <p:cNvPr id="22" name="">
            <a:extLst xmlns:a="http://schemas.openxmlformats.org/drawingml/2006/main">
              <a:ext uri="{FF2B5EF4-FFF2-40B4-BE49-F238E27FC236}">
                <a16:creationId xmlns:a16="http://schemas.microsoft.com/office/drawing/2014/main" id="{CA747A1D-3718-485F-8F7F-4F7573ACF523}"/>
              </a:ext>
            </a:extLst>
          </p:cNvPr>
          <p:cNvSpPr>
            <a:spLocks xmlns:a="http://schemas.openxmlformats.org/drawingml/2006/main" noGrp="1"/>
          </p:cNvSpPr>
          <p:nvPr/>
        </p:nvSpPr>
        <p:spPr>
          <a:xfrm xmlns:a="http://schemas.openxmlformats.org/drawingml/2006/main">
            <a:off x="457200" y="2714625"/>
            <a:ext cx="5524500" cy="1504950"/>
          </a:xfrm>
          <a:prstGeom xmlns:a="http://schemas.openxmlformats.org/drawingml/2006/main" prst="rect">
            <a:avLst/>
          </a:prstGeom>
          <a:solidFill xmlns:a="http://schemas.openxmlformats.org/drawingml/2006/main">
            <a:srgbClr val="2A1A1A"/>
          </a:solidFill>
          <a:ln xmlns:a="http://schemas.openxmlformats.org/drawingml/2006/main" w="9525">
            <a:solidFill>
              <a:srgbClr val="E06767"/>
            </a:solidFill>
            <a:prstDash val="solid"/>
          </a:ln>
        </p:spPr>
      </p:sp>
      <p:sp>
        <p:nvSpPr>
          <p:cNvPr id="23" name="">
            <a:extLst xmlns:a="http://schemas.openxmlformats.org/drawingml/2006/main">
              <a:ext uri="{FF2B5EF4-FFF2-40B4-BE49-F238E27FC236}">
                <a16:creationId xmlns:a16="http://schemas.microsoft.com/office/drawing/2014/main" id="{5AC3F78E-1B2E-4EE5-B188-0D6EB75B9DBA}"/>
              </a:ext>
            </a:extLst>
          </p:cNvPr>
          <p:cNvSpPr>
            <a:spLocks xmlns:a="http://schemas.openxmlformats.org/drawingml/2006/main" noGrp="1"/>
          </p:cNvSpPr>
          <p:nvPr/>
        </p:nvSpPr>
        <p:spPr>
          <a:xfrm xmlns:a="http://schemas.openxmlformats.org/drawingml/2006/main">
            <a:off x="457200" y="2714625"/>
            <a:ext cx="5524500"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12A6FD4-3DB7-4D77-9F27-D483A2D7ECF3}"/>
              </a:ext>
            </a:extLst>
          </p:cNvPr>
          <p:cNvSpPr>
            <a:spLocks xmlns:a="http://schemas.openxmlformats.org/drawingml/2006/main" noGrp="1"/>
          </p:cNvSpPr>
          <p:nvPr/>
        </p:nvSpPr>
        <p:spPr>
          <a:xfrm xmlns:a="http://schemas.openxmlformats.org/drawingml/2006/main">
            <a:off x="609600" y="2828925"/>
            <a:ext cx="52197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NEVER APPEARS ON A SLIDE</a:t>
            </a:r>
          </a:p>
        </p:txBody>
      </p:sp>
      <p:sp>
        <p:nvSpPr>
          <p:cNvPr id="25" name="">
            <a:extLst xmlns:a="http://schemas.openxmlformats.org/drawingml/2006/main">
              <a:ext uri="{FF2B5EF4-FFF2-40B4-BE49-F238E27FC236}">
                <a16:creationId xmlns:a16="http://schemas.microsoft.com/office/drawing/2014/main" id="{85704130-0CBE-47CD-9713-2C74F4A6CB6E}"/>
              </a:ext>
            </a:extLst>
          </p:cNvPr>
          <p:cNvSpPr>
            <a:spLocks xmlns:a="http://schemas.openxmlformats.org/drawingml/2006/main" noGrp="1"/>
          </p:cNvSpPr>
          <p:nvPr/>
        </p:nvSpPr>
        <p:spPr>
          <a:xfrm xmlns:a="http://schemas.openxmlformats.org/drawingml/2006/main">
            <a:off x="609600" y="3114675"/>
            <a:ext cx="381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EF530B6-6278-420F-9D01-B1548E88FF42}"/>
              </a:ext>
            </a:extLst>
          </p:cNvPr>
          <p:cNvSpPr>
            <a:spLocks xmlns:a="http://schemas.openxmlformats.org/drawingml/2006/main" noGrp="1"/>
          </p:cNvSpPr>
          <p:nvPr/>
        </p:nvSpPr>
        <p:spPr>
          <a:xfrm xmlns:a="http://schemas.openxmlformats.org/drawingml/2006/main">
            <a:off x="723900" y="3057525"/>
            <a:ext cx="506730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E8C9C9"/>
                </a:solidFill>
                <a:latin typeface="Arial"/>
                <a:ea typeface="Arial"/>
                <a:cs typeface="Arial"/>
              </a:defRPr>
            </a:pPr>
            <a:r>
              <a:t>Any competitor per-unit price, in any currency, on any slide</a:t>
            </a:r>
          </a:p>
        </p:txBody>
      </p:sp>
      <p:sp>
        <p:nvSpPr>
          <p:cNvPr id="27" name="">
            <a:extLst xmlns:a="http://schemas.openxmlformats.org/drawingml/2006/main">
              <a:ext uri="{FF2B5EF4-FFF2-40B4-BE49-F238E27FC236}">
                <a16:creationId xmlns:a16="http://schemas.microsoft.com/office/drawing/2014/main" id="{4DC15721-8193-49EB-A210-19481C33589D}"/>
              </a:ext>
            </a:extLst>
          </p:cNvPr>
          <p:cNvSpPr>
            <a:spLocks xmlns:a="http://schemas.openxmlformats.org/drawingml/2006/main" noGrp="1"/>
          </p:cNvSpPr>
          <p:nvPr/>
        </p:nvSpPr>
        <p:spPr>
          <a:xfrm xmlns:a="http://schemas.openxmlformats.org/drawingml/2006/main">
            <a:off x="609600" y="3476625"/>
            <a:ext cx="381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3C1FABC-41AA-4A49-B040-B4C84DE6A719}"/>
              </a:ext>
            </a:extLst>
          </p:cNvPr>
          <p:cNvSpPr>
            <a:spLocks xmlns:a="http://schemas.openxmlformats.org/drawingml/2006/main" noGrp="1"/>
          </p:cNvSpPr>
          <p:nvPr/>
        </p:nvSpPr>
        <p:spPr>
          <a:xfrm xmlns:a="http://schemas.openxmlformats.org/drawingml/2006/main">
            <a:off x="723900" y="3419475"/>
            <a:ext cx="506730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E8C9C9"/>
                </a:solidFill>
                <a:latin typeface="Arial"/>
                <a:ea typeface="Arial"/>
                <a:cs typeface="Arial"/>
              </a:defRPr>
            </a:pPr>
            <a:r>
              <a:t>Any 'Nx cheaper than &lt;competitor&gt;' claim — it compares our die cost to their system price</a:t>
            </a:r>
          </a:p>
        </p:txBody>
      </p:sp>
      <p:sp>
        <p:nvSpPr>
          <p:cNvPr id="29" name="">
            <a:extLst xmlns:a="http://schemas.openxmlformats.org/drawingml/2006/main">
              <a:ext uri="{FF2B5EF4-FFF2-40B4-BE49-F238E27FC236}">
                <a16:creationId xmlns:a16="http://schemas.microsoft.com/office/drawing/2014/main" id="{E3DA8CBA-F7AB-4C4D-B2CD-19F9335F056E}"/>
              </a:ext>
            </a:extLst>
          </p:cNvPr>
          <p:cNvSpPr>
            <a:spLocks xmlns:a="http://schemas.openxmlformats.org/drawingml/2006/main" noGrp="1"/>
          </p:cNvSpPr>
          <p:nvPr/>
        </p:nvSpPr>
        <p:spPr>
          <a:xfrm xmlns:a="http://schemas.openxmlformats.org/drawingml/2006/main">
            <a:off x="609600" y="3838575"/>
            <a:ext cx="381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040C9D7-B783-438B-9ECE-BA2533DDE4EC}"/>
              </a:ext>
            </a:extLst>
          </p:cNvPr>
          <p:cNvSpPr>
            <a:spLocks xmlns:a="http://schemas.openxmlformats.org/drawingml/2006/main" noGrp="1"/>
          </p:cNvSpPr>
          <p:nvPr/>
        </p:nvSpPr>
        <p:spPr>
          <a:xfrm xmlns:a="http://schemas.openxmlformats.org/drawingml/2006/main">
            <a:off x="723900" y="3781425"/>
            <a:ext cx="5067300"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E8C9C9"/>
                </a:solidFill>
                <a:latin typeface="Arial"/>
                <a:ea typeface="Arial"/>
                <a:cs typeface="Arial"/>
              </a:defRPr>
            </a:pPr>
            <a:r>
              <a:t>Any implied ASP derived from a contract value divided by a vehicle count</a:t>
            </a:r>
          </a:p>
        </p:txBody>
      </p:sp>
      <p:sp>
        <p:nvSpPr>
          <p:cNvPr id="31" name="">
            <a:extLst xmlns:a="http://schemas.openxmlformats.org/drawingml/2006/main">
              <a:ext uri="{FF2B5EF4-FFF2-40B4-BE49-F238E27FC236}">
                <a16:creationId xmlns:a16="http://schemas.microsoft.com/office/drawing/2014/main" id="{46DA8CB5-A6FD-4449-AE66-F52BD4DE0C33}"/>
              </a:ext>
            </a:extLst>
          </p:cNvPr>
          <p:cNvSpPr>
            <a:spLocks xmlns:a="http://schemas.openxmlformats.org/drawingml/2006/main" noGrp="1"/>
          </p:cNvSpPr>
          <p:nvPr/>
        </p:nvSpPr>
        <p:spPr>
          <a:xfrm xmlns:a="http://schemas.openxmlformats.org/drawingml/2006/main">
            <a:off x="6210300" y="2714625"/>
            <a:ext cx="5524500" cy="1504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2" name="">
            <a:extLst xmlns:a="http://schemas.openxmlformats.org/drawingml/2006/main">
              <a:ext uri="{FF2B5EF4-FFF2-40B4-BE49-F238E27FC236}">
                <a16:creationId xmlns:a16="http://schemas.microsoft.com/office/drawing/2014/main" id="{DEE6CFF6-07CC-4AC9-9F07-9FE555B2DE7D}"/>
              </a:ext>
            </a:extLst>
          </p:cNvPr>
          <p:cNvSpPr>
            <a:spLocks xmlns:a="http://schemas.openxmlformats.org/drawingml/2006/main" noGrp="1"/>
          </p:cNvSpPr>
          <p:nvPr/>
        </p:nvSpPr>
        <p:spPr>
          <a:xfrm xmlns:a="http://schemas.openxmlformats.org/drawingml/2006/main">
            <a:off x="6210300" y="2714625"/>
            <a:ext cx="5524500"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2804688-6CF1-4100-87E9-E780F86FF67B}"/>
              </a:ext>
            </a:extLst>
          </p:cNvPr>
          <p:cNvSpPr>
            <a:spLocks xmlns:a="http://schemas.openxmlformats.org/drawingml/2006/main" noGrp="1"/>
          </p:cNvSpPr>
          <p:nvPr/>
        </p:nvSpPr>
        <p:spPr>
          <a:xfrm xmlns:a="http://schemas.openxmlformats.org/drawingml/2006/main">
            <a:off x="6362700" y="2828925"/>
            <a:ext cx="52197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SAY THIS INSTEAD</a:t>
            </a:r>
          </a:p>
        </p:txBody>
      </p:sp>
      <p:sp>
        <p:nvSpPr>
          <p:cNvPr id="34" name="">
            <a:extLst xmlns:a="http://schemas.openxmlformats.org/drawingml/2006/main">
              <a:ext uri="{FF2B5EF4-FFF2-40B4-BE49-F238E27FC236}">
                <a16:creationId xmlns:a16="http://schemas.microsoft.com/office/drawing/2014/main" id="{4CF76F0B-0164-4453-91DB-AF3197C41637}"/>
              </a:ext>
            </a:extLst>
          </p:cNvPr>
          <p:cNvSpPr>
            <a:spLocks xmlns:a="http://schemas.openxmlformats.org/drawingml/2006/main" noGrp="1"/>
          </p:cNvSpPr>
          <p:nvPr/>
        </p:nvSpPr>
        <p:spPr>
          <a:xfrm xmlns:a="http://schemas.openxmlformats.org/drawingml/2006/main">
            <a:off x="6362700" y="3057525"/>
            <a:ext cx="4991100" cy="1066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State the cost argument as cannibalisation immunity — DeepGrid has no global ASP to defend, so it can price the India function at the India price. That is a structural fact about position, needs no competitor price to stand up, and survives the question 'where did that number come from'.</a:t>
            </a:r>
          </a:p>
        </p:txBody>
      </p:sp>
      <p:sp>
        <p:nvSpPr>
          <p:cNvPr id="35" name="">
            <a:extLst xmlns:a="http://schemas.openxmlformats.org/drawingml/2006/main">
              <a:ext uri="{FF2B5EF4-FFF2-40B4-BE49-F238E27FC236}">
                <a16:creationId xmlns:a16="http://schemas.microsoft.com/office/drawing/2014/main" id="{C5B2817A-4F59-483E-9ACD-449E18E6C9C6}"/>
              </a:ext>
            </a:extLst>
          </p:cNvPr>
          <p:cNvSpPr>
            <a:spLocks xmlns:a="http://schemas.openxmlformats.org/drawingml/2006/main" noGrp="1"/>
          </p:cNvSpPr>
          <p:nvPr/>
        </p:nvSpPr>
        <p:spPr>
          <a:xfrm xmlns:a="http://schemas.openxmlformats.org/drawingml/2006/main">
            <a:off x="457200" y="4333875"/>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4B4A9305-A7EC-4AB5-864D-AA6460096E74}"/>
              </a:ext>
            </a:extLst>
          </p:cNvPr>
          <p:cNvSpPr>
            <a:spLocks xmlns:a="http://schemas.openxmlformats.org/drawingml/2006/main" noGrp="1"/>
          </p:cNvSpPr>
          <p:nvPr/>
        </p:nvSpPr>
        <p:spPr>
          <a:xfrm xmlns:a="http://schemas.openxmlformats.org/drawingml/2006/main">
            <a:off x="457200" y="4467225"/>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D7720B"/>
                </a:solidFill>
                <a:latin typeface="Arial"/>
                <a:ea typeface="Arial"/>
                <a:cs typeface="Arial"/>
              </a:defRPr>
            </a:pPr>
            <a:r>
              <a:t>If a slide carries a cost comparison, it must name the two things being compared and confirm they are the same scope. The retracted 774× and 12.9× claims both failed exactly this test.</a:t>
            </a:r>
          </a:p>
        </p:txBody>
      </p:sp>
      <p:sp>
        <p:nvSpPr>
          <p:cNvPr id="37" name="">
            <a:extLst xmlns:a="http://schemas.openxmlformats.org/drawingml/2006/main">
              <a:ext uri="{FF2B5EF4-FFF2-40B4-BE49-F238E27FC236}">
                <a16:creationId xmlns:a16="http://schemas.microsoft.com/office/drawing/2014/main" id="{82FE3255-EA5A-428C-AFB3-6E382E7DE0E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64431CC-D092-4C04-894A-3D18514A592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9" name="">
            <a:extLst xmlns:a="http://schemas.openxmlformats.org/drawingml/2006/main">
              <a:ext uri="{FF2B5EF4-FFF2-40B4-BE49-F238E27FC236}">
                <a16:creationId xmlns:a16="http://schemas.microsoft.com/office/drawing/2014/main" id="{EA127D9F-40C3-49A7-8485-6904724FDE6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110</a:t>
            </a:r>
          </a:p>
        </p:txBody>
      </p:sp>
    </p:spTree>
    <p:extLst>
      <p:ext uri="{BB962C8B-B14F-4D97-AF65-F5344CB8AC3E}">
        <p14:creationId xmlns:p14="http://schemas.microsoft.com/office/powerpoint/2010/main" val="503956410"/>
      </p:ext>
    </p:extLst>
  </p:cSld>
</p:sld>
</file>

<file path=ppt/slides/slide111.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C7AE163E-B7A6-430B-AFAE-D699FC5BDD2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ADE08D8-1ACB-46ED-8849-8AB03F277BE8}"/>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FCC7F55-62E0-4332-94AC-AF14F351660E}"/>
              </a:ext>
            </a:extLst>
          </p:cNvPr>
          <p:cNvSpPr>
            <a:spLocks xmlns:a="http://schemas.openxmlformats.org/drawingml/2006/main" noGrp="1"/>
          </p:cNvSpPr>
          <p:nvPr/>
        </p:nvSpPr>
        <p:spPr>
          <a:xfrm xmlns:a="http://schemas.openxmlformats.org/drawingml/2006/main">
            <a:off x="457200" y="247650"/>
            <a:ext cx="857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COMPETITIVE STRATEGY · BUILD / BUY / PARTNER</a:t>
            </a:r>
          </a:p>
        </p:txBody>
      </p:sp>
      <p:sp>
        <p:nvSpPr>
          <p:cNvPr id="4" name="">
            <a:extLst xmlns:a="http://schemas.openxmlformats.org/drawingml/2006/main">
              <a:ext uri="{FF2B5EF4-FFF2-40B4-BE49-F238E27FC236}">
                <a16:creationId xmlns:a16="http://schemas.microsoft.com/office/drawing/2014/main" id="{B99C80B0-7663-42F1-A8EF-2BC2B753088C}"/>
              </a:ext>
            </a:extLst>
          </p:cNvPr>
          <p:cNvSpPr>
            <a:spLocks xmlns:a="http://schemas.openxmlformats.org/drawingml/2006/main" noGrp="1"/>
          </p:cNvSpPr>
          <p:nvPr/>
        </p:nvSpPr>
        <p:spPr>
          <a:xfrm xmlns:a="http://schemas.openxmlformats.org/drawingml/2006/main">
            <a:off x="457200" y="4000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Buy the certification, partner the homologation, build only the perception</a:t>
            </a:r>
          </a:p>
        </p:txBody>
      </p:sp>
      <p:sp>
        <p:nvSpPr>
          <p:cNvPr id="5" name="">
            <a:extLst xmlns:a="http://schemas.openxmlformats.org/drawingml/2006/main">
              <a:ext uri="{FF2B5EF4-FFF2-40B4-BE49-F238E27FC236}">
                <a16:creationId xmlns:a16="http://schemas.microsoft.com/office/drawing/2014/main" id="{CF3D10FF-7B33-420C-96FA-112350492752}"/>
              </a:ext>
            </a:extLst>
          </p:cNvPr>
          <p:cNvSpPr>
            <a:spLocks xmlns:a="http://schemas.openxmlformats.org/drawingml/2006/main" noGrp="1"/>
          </p:cNvSpPr>
          <p:nvPr/>
        </p:nvSpPr>
        <p:spPr>
          <a:xfrm xmlns:a="http://schemas.openxmlformats.org/drawingml/2006/main">
            <a:off x="457200" y="762000"/>
            <a:ext cx="11277600" cy="161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The gate analysis names a functional-safety pathway as the highest-value proof gate. That is a procurement decision before it is an engineering one, and the deck never framed it as one.</a:t>
            </a:r>
          </a:p>
        </p:txBody>
      </p:sp>
      <p:sp>
        <p:nvSpPr>
          <p:cNvPr id="6" name="">
            <a:extLst xmlns:a="http://schemas.openxmlformats.org/drawingml/2006/main">
              <a:ext uri="{FF2B5EF4-FFF2-40B4-BE49-F238E27FC236}">
                <a16:creationId xmlns:a16="http://schemas.microsoft.com/office/drawing/2014/main" id="{4AE12850-81D3-44B4-ADE4-FC5C71B484DF}"/>
              </a:ext>
            </a:extLst>
          </p:cNvPr>
          <p:cNvSpPr>
            <a:spLocks xmlns:a="http://schemas.openxmlformats.org/drawingml/2006/main" noGrp="1"/>
          </p:cNvSpPr>
          <p:nvPr/>
        </p:nvSpPr>
        <p:spPr>
          <a:xfrm xmlns:a="http://schemas.openxmlformats.org/drawingml/2006/main">
            <a:off x="457200" y="981075"/>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3153ABD-7172-4F92-8AE8-0951E549919C}"/>
              </a:ext>
            </a:extLst>
          </p:cNvPr>
          <p:cNvSpPr>
            <a:spLocks xmlns:a="http://schemas.openxmlformats.org/drawingml/2006/main" noGrp="1"/>
          </p:cNvSpPr>
          <p:nvPr/>
        </p:nvSpPr>
        <p:spPr>
          <a:xfrm xmlns:a="http://schemas.openxmlformats.org/drawingml/2006/main">
            <a:off x="457200" y="1095375"/>
            <a:ext cx="2381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CAPABILITY</a:t>
            </a:r>
          </a:p>
        </p:txBody>
      </p:sp>
      <p:sp>
        <p:nvSpPr>
          <p:cNvPr id="8" name="">
            <a:extLst xmlns:a="http://schemas.openxmlformats.org/drawingml/2006/main">
              <a:ext uri="{FF2B5EF4-FFF2-40B4-BE49-F238E27FC236}">
                <a16:creationId xmlns:a16="http://schemas.microsoft.com/office/drawing/2014/main" id="{0D94EAE4-6C7F-47EC-98E7-7D8FA98448B8}"/>
              </a:ext>
            </a:extLst>
          </p:cNvPr>
          <p:cNvSpPr>
            <a:spLocks xmlns:a="http://schemas.openxmlformats.org/drawingml/2006/main" noGrp="1"/>
          </p:cNvSpPr>
          <p:nvPr/>
        </p:nvSpPr>
        <p:spPr>
          <a:xfrm xmlns:a="http://schemas.openxmlformats.org/drawingml/2006/main">
            <a:off x="2914650" y="1095375"/>
            <a:ext cx="11811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VERDICT</a:t>
            </a:r>
          </a:p>
        </p:txBody>
      </p:sp>
      <p:sp>
        <p:nvSpPr>
          <p:cNvPr id="9" name="">
            <a:extLst xmlns:a="http://schemas.openxmlformats.org/drawingml/2006/main">
              <a:ext uri="{FF2B5EF4-FFF2-40B4-BE49-F238E27FC236}">
                <a16:creationId xmlns:a16="http://schemas.microsoft.com/office/drawing/2014/main" id="{DCCE52F1-39FC-43DA-A3AA-F7205497795E}"/>
              </a:ext>
            </a:extLst>
          </p:cNvPr>
          <p:cNvSpPr>
            <a:spLocks xmlns:a="http://schemas.openxmlformats.org/drawingml/2006/main" noGrp="1"/>
          </p:cNvSpPr>
          <p:nvPr/>
        </p:nvSpPr>
        <p:spPr>
          <a:xfrm xmlns:a="http://schemas.openxmlformats.org/drawingml/2006/main">
            <a:off x="4171950" y="1095375"/>
            <a:ext cx="40195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WHY</a:t>
            </a:r>
          </a:p>
        </p:txBody>
      </p:sp>
      <p:sp>
        <p:nvSpPr>
          <p:cNvPr id="10" name="">
            <a:extLst xmlns:a="http://schemas.openxmlformats.org/drawingml/2006/main">
              <a:ext uri="{FF2B5EF4-FFF2-40B4-BE49-F238E27FC236}">
                <a16:creationId xmlns:a16="http://schemas.microsoft.com/office/drawing/2014/main" id="{A3F2DA87-3315-4DBB-A7F9-F53FC86CDE76}"/>
              </a:ext>
            </a:extLst>
          </p:cNvPr>
          <p:cNvSpPr>
            <a:spLocks xmlns:a="http://schemas.openxmlformats.org/drawingml/2006/main" noGrp="1"/>
          </p:cNvSpPr>
          <p:nvPr/>
        </p:nvSpPr>
        <p:spPr>
          <a:xfrm xmlns:a="http://schemas.openxmlformats.org/drawingml/2006/main">
            <a:off x="8267700" y="1095375"/>
            <a:ext cx="33909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8EA0B2"/>
                </a:solidFill>
                <a:latin typeface="Arial"/>
                <a:ea typeface="Arial"/>
                <a:cs typeface="Arial"/>
              </a:defRPr>
            </a:pPr>
            <a:r>
              <a:t>EVIDENCE / PRECEDENT</a:t>
            </a:r>
          </a:p>
        </p:txBody>
      </p:sp>
      <p:sp>
        <p:nvSpPr>
          <p:cNvPr id="11" name="">
            <a:extLst xmlns:a="http://schemas.openxmlformats.org/drawingml/2006/main">
              <a:ext uri="{FF2B5EF4-FFF2-40B4-BE49-F238E27FC236}">
                <a16:creationId xmlns:a16="http://schemas.microsoft.com/office/drawing/2014/main" id="{85F67F12-D143-4895-84CF-DAB6502C24AD}"/>
              </a:ext>
            </a:extLst>
          </p:cNvPr>
          <p:cNvSpPr>
            <a:spLocks xmlns:a="http://schemas.openxmlformats.org/drawingml/2006/main" noGrp="1"/>
          </p:cNvSpPr>
          <p:nvPr/>
        </p:nvSpPr>
        <p:spPr>
          <a:xfrm xmlns:a="http://schemas.openxmlformats.org/drawingml/2006/main">
            <a:off x="457200" y="1266825"/>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8D2F5D6-C4DC-429C-BADC-8E2897F4EDC7}"/>
              </a:ext>
            </a:extLst>
          </p:cNvPr>
          <p:cNvSpPr>
            <a:spLocks xmlns:a="http://schemas.openxmlformats.org/drawingml/2006/main" noGrp="1"/>
          </p:cNvSpPr>
          <p:nvPr/>
        </p:nvSpPr>
        <p:spPr>
          <a:xfrm xmlns:a="http://schemas.openxmlformats.org/drawingml/2006/main">
            <a:off x="457200" y="1343025"/>
            <a:ext cx="28575" cy="50482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CCB9407-98FE-4194-B138-2BE44D735F98}"/>
              </a:ext>
            </a:extLst>
          </p:cNvPr>
          <p:cNvSpPr>
            <a:spLocks xmlns:a="http://schemas.openxmlformats.org/drawingml/2006/main" noGrp="1"/>
          </p:cNvSpPr>
          <p:nvPr/>
        </p:nvSpPr>
        <p:spPr>
          <a:xfrm xmlns:a="http://schemas.openxmlformats.org/drawingml/2006/main">
            <a:off x="571500" y="1343025"/>
            <a:ext cx="22479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ISO 26262 functional-safety pathway</a:t>
            </a:r>
          </a:p>
        </p:txBody>
      </p:sp>
      <p:sp>
        <p:nvSpPr>
          <p:cNvPr id="14" name="">
            <a:extLst xmlns:a="http://schemas.openxmlformats.org/drawingml/2006/main">
              <a:ext uri="{FF2B5EF4-FFF2-40B4-BE49-F238E27FC236}">
                <a16:creationId xmlns:a16="http://schemas.microsoft.com/office/drawing/2014/main" id="{AD32E6DF-138A-466F-8921-0181FE05CBBD}"/>
              </a:ext>
            </a:extLst>
          </p:cNvPr>
          <p:cNvSpPr>
            <a:spLocks xmlns:a="http://schemas.openxmlformats.org/drawingml/2006/main" noGrp="1"/>
          </p:cNvSpPr>
          <p:nvPr/>
        </p:nvSpPr>
        <p:spPr>
          <a:xfrm xmlns:a="http://schemas.openxmlformats.org/drawingml/2006/main">
            <a:off x="2914650" y="1362075"/>
            <a:ext cx="1066800" cy="20955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FC27410-10ED-45F1-88D4-5981943E9D38}"/>
              </a:ext>
            </a:extLst>
          </p:cNvPr>
          <p:cNvSpPr>
            <a:spLocks xmlns:a="http://schemas.openxmlformats.org/drawingml/2006/main" noGrp="1"/>
          </p:cNvSpPr>
          <p:nvPr/>
        </p:nvSpPr>
        <p:spPr>
          <a:xfrm xmlns:a="http://schemas.openxmlformats.org/drawingml/2006/main">
            <a:off x="2990850" y="1400175"/>
            <a:ext cx="9144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81525"/>
                </a:solidFill>
                <a:latin typeface="Arial"/>
                <a:ea typeface="Arial"/>
                <a:cs typeface="Arial"/>
              </a:defRPr>
            </a:pPr>
            <a:r>
              <a:t>BUY</a:t>
            </a:r>
          </a:p>
        </p:txBody>
      </p:sp>
      <p:sp>
        <p:nvSpPr>
          <p:cNvPr id="16" name="">
            <a:extLst xmlns:a="http://schemas.openxmlformats.org/drawingml/2006/main">
              <a:ext uri="{FF2B5EF4-FFF2-40B4-BE49-F238E27FC236}">
                <a16:creationId xmlns:a16="http://schemas.microsoft.com/office/drawing/2014/main" id="{1721D8A1-F708-420A-98AA-973DF364FEBF}"/>
              </a:ext>
            </a:extLst>
          </p:cNvPr>
          <p:cNvSpPr>
            <a:spLocks xmlns:a="http://schemas.openxmlformats.org/drawingml/2006/main" noGrp="1"/>
          </p:cNvSpPr>
          <p:nvPr/>
        </p:nvSpPr>
        <p:spPr>
          <a:xfrm xmlns:a="http://schemas.openxmlformats.org/drawingml/2006/main">
            <a:off x="4171950" y="1343025"/>
            <a:ext cx="39624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 certification route is bought from an assessor and a consultancy, on a known timetable. Building the competence in-house delays the only credential that unlocks Tier-2 sales.</a:t>
            </a:r>
          </a:p>
        </p:txBody>
      </p:sp>
      <p:sp>
        <p:nvSpPr>
          <p:cNvPr id="17" name="">
            <a:extLst xmlns:a="http://schemas.openxmlformats.org/drawingml/2006/main">
              <a:ext uri="{FF2B5EF4-FFF2-40B4-BE49-F238E27FC236}">
                <a16:creationId xmlns:a16="http://schemas.microsoft.com/office/drawing/2014/main" id="{3004CACA-3F62-49A9-8588-AE7455E0EF34}"/>
              </a:ext>
            </a:extLst>
          </p:cNvPr>
          <p:cNvSpPr>
            <a:spLocks xmlns:a="http://schemas.openxmlformats.org/drawingml/2006/main" noGrp="1"/>
          </p:cNvSpPr>
          <p:nvPr/>
        </p:nvSpPr>
        <p:spPr>
          <a:xfrm xmlns:a="http://schemas.openxmlformats.org/drawingml/2006/main">
            <a:off x="8267700" y="1343025"/>
            <a:ext cx="337185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STRADVISION already holds it (EV-SV-05). This is the single gate that decides whether an integrator can even consider DeepGrid.</a:t>
            </a:r>
          </a:p>
        </p:txBody>
      </p:sp>
      <p:sp>
        <p:nvSpPr>
          <p:cNvPr id="18" name="">
            <a:extLst xmlns:a="http://schemas.openxmlformats.org/drawingml/2006/main">
              <a:ext uri="{FF2B5EF4-FFF2-40B4-BE49-F238E27FC236}">
                <a16:creationId xmlns:a16="http://schemas.microsoft.com/office/drawing/2014/main" id="{9600830E-B92E-4190-A19C-F7273C970498}"/>
              </a:ext>
            </a:extLst>
          </p:cNvPr>
          <p:cNvSpPr>
            <a:spLocks xmlns:a="http://schemas.openxmlformats.org/drawingml/2006/main" noGrp="1"/>
          </p:cNvSpPr>
          <p:nvPr/>
        </p:nvSpPr>
        <p:spPr>
          <a:xfrm xmlns:a="http://schemas.openxmlformats.org/drawingml/2006/main">
            <a:off x="457200" y="1924050"/>
            <a:ext cx="28575" cy="504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782C479-C376-4A8A-A62A-4E0854FDAF57}"/>
              </a:ext>
            </a:extLst>
          </p:cNvPr>
          <p:cNvSpPr>
            <a:spLocks xmlns:a="http://schemas.openxmlformats.org/drawingml/2006/main" noGrp="1"/>
          </p:cNvSpPr>
          <p:nvPr/>
        </p:nvSpPr>
        <p:spPr>
          <a:xfrm xmlns:a="http://schemas.openxmlformats.org/drawingml/2006/main">
            <a:off x="571500" y="1924050"/>
            <a:ext cx="22479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Indian homologation and test capability</a:t>
            </a:r>
          </a:p>
        </p:txBody>
      </p:sp>
      <p:sp>
        <p:nvSpPr>
          <p:cNvPr id="20" name="">
            <a:extLst xmlns:a="http://schemas.openxmlformats.org/drawingml/2006/main">
              <a:ext uri="{FF2B5EF4-FFF2-40B4-BE49-F238E27FC236}">
                <a16:creationId xmlns:a16="http://schemas.microsoft.com/office/drawing/2014/main" id="{81C447DE-685D-42CC-A5E4-1713862C7CED}"/>
              </a:ext>
            </a:extLst>
          </p:cNvPr>
          <p:cNvSpPr>
            <a:spLocks xmlns:a="http://schemas.openxmlformats.org/drawingml/2006/main" noGrp="1"/>
          </p:cNvSpPr>
          <p:nvPr/>
        </p:nvSpPr>
        <p:spPr>
          <a:xfrm xmlns:a="http://schemas.openxmlformats.org/drawingml/2006/main">
            <a:off x="2914650" y="1943100"/>
            <a:ext cx="1066800" cy="2095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AB1A830-D1BB-45A6-8EFB-B2562329279F}"/>
              </a:ext>
            </a:extLst>
          </p:cNvPr>
          <p:cNvSpPr>
            <a:spLocks xmlns:a="http://schemas.openxmlformats.org/drawingml/2006/main" noGrp="1"/>
          </p:cNvSpPr>
          <p:nvPr/>
        </p:nvSpPr>
        <p:spPr>
          <a:xfrm xmlns:a="http://schemas.openxmlformats.org/drawingml/2006/main">
            <a:off x="2990850" y="1981200"/>
            <a:ext cx="9144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81525"/>
                </a:solidFill>
                <a:latin typeface="Arial"/>
                <a:ea typeface="Arial"/>
                <a:cs typeface="Arial"/>
              </a:defRPr>
            </a:pPr>
            <a:r>
              <a:t>PARTNER</a:t>
            </a:r>
          </a:p>
        </p:txBody>
      </p:sp>
      <p:sp>
        <p:nvSpPr>
          <p:cNvPr id="22" name="">
            <a:extLst xmlns:a="http://schemas.openxmlformats.org/drawingml/2006/main">
              <a:ext uri="{FF2B5EF4-FFF2-40B4-BE49-F238E27FC236}">
                <a16:creationId xmlns:a16="http://schemas.microsoft.com/office/drawing/2014/main" id="{C4A5581B-82EB-4062-B9D8-D063423C4A9D}"/>
              </a:ext>
            </a:extLst>
          </p:cNvPr>
          <p:cNvSpPr>
            <a:spLocks xmlns:a="http://schemas.openxmlformats.org/drawingml/2006/main" noGrp="1"/>
          </p:cNvSpPr>
          <p:nvPr/>
        </p:nvSpPr>
        <p:spPr>
          <a:xfrm xmlns:a="http://schemas.openxmlformats.org/drawingml/2006/main">
            <a:off x="4171950" y="1924050"/>
            <a:ext cx="39624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ZF has an in-house Indian test track; DeepGrid does not and should not fund one. ARAI and ICAT are the neutral route and their reports carry more weight with a third party anyway.</a:t>
            </a:r>
          </a:p>
        </p:txBody>
      </p:sp>
      <p:sp>
        <p:nvSpPr>
          <p:cNvPr id="23" name="">
            <a:extLst xmlns:a="http://schemas.openxmlformats.org/drawingml/2006/main">
              <a:ext uri="{FF2B5EF4-FFF2-40B4-BE49-F238E27FC236}">
                <a16:creationId xmlns:a16="http://schemas.microsoft.com/office/drawing/2014/main" id="{32F03290-0F33-4E51-BEBB-7FDB3BD45FE8}"/>
              </a:ext>
            </a:extLst>
          </p:cNvPr>
          <p:cNvSpPr>
            <a:spLocks xmlns:a="http://schemas.openxmlformats.org/drawingml/2006/main" noGrp="1"/>
          </p:cNvSpPr>
          <p:nvPr/>
        </p:nvSpPr>
        <p:spPr>
          <a:xfrm xmlns:a="http://schemas.openxmlformats.org/drawingml/2006/main">
            <a:off x="8267700" y="1924050"/>
            <a:ext cx="337185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Independent characterisation is worth more than self-reported kilometres — the gap in ZF's own 300,000 km claim (EV-ZF-03).</a:t>
            </a:r>
          </a:p>
        </p:txBody>
      </p:sp>
      <p:sp>
        <p:nvSpPr>
          <p:cNvPr id="24" name="">
            <a:extLst xmlns:a="http://schemas.openxmlformats.org/drawingml/2006/main">
              <a:ext uri="{FF2B5EF4-FFF2-40B4-BE49-F238E27FC236}">
                <a16:creationId xmlns:a16="http://schemas.microsoft.com/office/drawing/2014/main" id="{EE57A205-A708-4EEF-8D62-070C49F5CD1E}"/>
              </a:ext>
            </a:extLst>
          </p:cNvPr>
          <p:cNvSpPr>
            <a:spLocks xmlns:a="http://schemas.openxmlformats.org/drawingml/2006/main" noGrp="1"/>
          </p:cNvSpPr>
          <p:nvPr/>
        </p:nvSpPr>
        <p:spPr>
          <a:xfrm xmlns:a="http://schemas.openxmlformats.org/drawingml/2006/main">
            <a:off x="457200" y="2505075"/>
            <a:ext cx="28575" cy="5048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64A0074-72D4-46F8-B04B-9CFC21DDBBF3}"/>
              </a:ext>
            </a:extLst>
          </p:cNvPr>
          <p:cNvSpPr>
            <a:spLocks xmlns:a="http://schemas.openxmlformats.org/drawingml/2006/main" noGrp="1"/>
          </p:cNvSpPr>
          <p:nvPr/>
        </p:nvSpPr>
        <p:spPr>
          <a:xfrm xmlns:a="http://schemas.openxmlformats.org/drawingml/2006/main">
            <a:off x="571500" y="2505075"/>
            <a:ext cx="22479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mmWave radar silicon</a:t>
            </a:r>
          </a:p>
        </p:txBody>
      </p:sp>
      <p:sp>
        <p:nvSpPr>
          <p:cNvPr id="26" name="">
            <a:extLst xmlns:a="http://schemas.openxmlformats.org/drawingml/2006/main">
              <a:ext uri="{FF2B5EF4-FFF2-40B4-BE49-F238E27FC236}">
                <a16:creationId xmlns:a16="http://schemas.microsoft.com/office/drawing/2014/main" id="{41559249-DB55-4288-A9C8-83FEDAA275B8}"/>
              </a:ext>
            </a:extLst>
          </p:cNvPr>
          <p:cNvSpPr>
            <a:spLocks xmlns:a="http://schemas.openxmlformats.org/drawingml/2006/main" noGrp="1"/>
          </p:cNvSpPr>
          <p:nvPr/>
        </p:nvSpPr>
        <p:spPr>
          <a:xfrm xmlns:a="http://schemas.openxmlformats.org/drawingml/2006/main">
            <a:off x="2914650" y="2524125"/>
            <a:ext cx="1066800" cy="2095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046AF04-8694-45F8-B73D-FDE42422A3BE}"/>
              </a:ext>
            </a:extLst>
          </p:cNvPr>
          <p:cNvSpPr>
            <a:spLocks xmlns:a="http://schemas.openxmlformats.org/drawingml/2006/main" noGrp="1"/>
          </p:cNvSpPr>
          <p:nvPr/>
        </p:nvSpPr>
        <p:spPr>
          <a:xfrm xmlns:a="http://schemas.openxmlformats.org/drawingml/2006/main">
            <a:off x="2990850" y="2562225"/>
            <a:ext cx="9144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81525"/>
                </a:solidFill>
                <a:latin typeface="Arial"/>
                <a:ea typeface="Arial"/>
                <a:cs typeface="Arial"/>
              </a:defRPr>
            </a:pPr>
            <a:r>
              <a:t>DO NOT BUILD</a:t>
            </a:r>
          </a:p>
        </p:txBody>
      </p:sp>
      <p:sp>
        <p:nvSpPr>
          <p:cNvPr id="28" name="">
            <a:extLst xmlns:a="http://schemas.openxmlformats.org/drawingml/2006/main">
              <a:ext uri="{FF2B5EF4-FFF2-40B4-BE49-F238E27FC236}">
                <a16:creationId xmlns:a16="http://schemas.microsoft.com/office/drawing/2014/main" id="{AB0F918A-FCEA-4573-9CC2-C74578739865}"/>
              </a:ext>
            </a:extLst>
          </p:cNvPr>
          <p:cNvSpPr>
            <a:spLocks xmlns:a="http://schemas.openxmlformats.org/drawingml/2006/main" noGrp="1"/>
          </p:cNvSpPr>
          <p:nvPr/>
        </p:nvSpPr>
        <p:spPr>
          <a:xfrm xmlns:a="http://schemas.openxmlformats.org/drawingml/2006/main">
            <a:off x="4171950" y="2505075"/>
            <a:ext cx="39624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DeepGrid's position is camera-based perception. Radar is a separate competence with its own qualification path, and TI, NXP and bitsensing already occupy it.</a:t>
            </a:r>
          </a:p>
        </p:txBody>
      </p:sp>
      <p:sp>
        <p:nvSpPr>
          <p:cNvPr id="29" name="">
            <a:extLst xmlns:a="http://schemas.openxmlformats.org/drawingml/2006/main">
              <a:ext uri="{FF2B5EF4-FFF2-40B4-BE49-F238E27FC236}">
                <a16:creationId xmlns:a16="http://schemas.microsoft.com/office/drawing/2014/main" id="{DD93DE8B-5F35-4131-BD1E-840CF62406F0}"/>
              </a:ext>
            </a:extLst>
          </p:cNvPr>
          <p:cNvSpPr>
            <a:spLocks xmlns:a="http://schemas.openxmlformats.org/drawingml/2006/main" noGrp="1"/>
          </p:cNvSpPr>
          <p:nvPr/>
        </p:nvSpPr>
        <p:spPr>
          <a:xfrm xmlns:a="http://schemas.openxmlformats.org/drawingml/2006/main">
            <a:off x="8267700" y="2505075"/>
            <a:ext cx="337185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Gahan AI is the cautionary case: 15 people carrying a radar-to-software claim no third party corroborates (EV-GHN-01, EV-GHN-04).</a:t>
            </a:r>
          </a:p>
        </p:txBody>
      </p:sp>
      <p:sp>
        <p:nvSpPr>
          <p:cNvPr id="30" name="">
            <a:extLst xmlns:a="http://schemas.openxmlformats.org/drawingml/2006/main">
              <a:ext uri="{FF2B5EF4-FFF2-40B4-BE49-F238E27FC236}">
                <a16:creationId xmlns:a16="http://schemas.microsoft.com/office/drawing/2014/main" id="{33D6FA9F-6A72-47BA-A97A-28170B3CB389}"/>
              </a:ext>
            </a:extLst>
          </p:cNvPr>
          <p:cNvSpPr>
            <a:spLocks xmlns:a="http://schemas.openxmlformats.org/drawingml/2006/main" noGrp="1"/>
          </p:cNvSpPr>
          <p:nvPr/>
        </p:nvSpPr>
        <p:spPr>
          <a:xfrm xmlns:a="http://schemas.openxmlformats.org/drawingml/2006/main">
            <a:off x="457200" y="3086100"/>
            <a:ext cx="28575" cy="6572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B881A0E-F5EF-4D72-9249-A01F55AF0752}"/>
              </a:ext>
            </a:extLst>
          </p:cNvPr>
          <p:cNvSpPr>
            <a:spLocks xmlns:a="http://schemas.openxmlformats.org/drawingml/2006/main" noGrp="1"/>
          </p:cNvSpPr>
          <p:nvPr/>
        </p:nvSpPr>
        <p:spPr>
          <a:xfrm xmlns:a="http://schemas.openxmlformats.org/drawingml/2006/main">
            <a:off x="571500" y="3086100"/>
            <a:ext cx="22479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Route to an OEM</a:t>
            </a:r>
          </a:p>
        </p:txBody>
      </p:sp>
      <p:sp>
        <p:nvSpPr>
          <p:cNvPr id="32" name="">
            <a:extLst xmlns:a="http://schemas.openxmlformats.org/drawingml/2006/main">
              <a:ext uri="{FF2B5EF4-FFF2-40B4-BE49-F238E27FC236}">
                <a16:creationId xmlns:a16="http://schemas.microsoft.com/office/drawing/2014/main" id="{2B2A540A-A2AF-44D7-8113-A8752DA1AFAD}"/>
              </a:ext>
            </a:extLst>
          </p:cNvPr>
          <p:cNvSpPr>
            <a:spLocks xmlns:a="http://schemas.openxmlformats.org/drawingml/2006/main" noGrp="1"/>
          </p:cNvSpPr>
          <p:nvPr/>
        </p:nvSpPr>
        <p:spPr>
          <a:xfrm xmlns:a="http://schemas.openxmlformats.org/drawingml/2006/main">
            <a:off x="2914650" y="3105150"/>
            <a:ext cx="1066800" cy="2095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284AD46-ECCF-48B2-80A2-FFA41B29FD46}"/>
              </a:ext>
            </a:extLst>
          </p:cNvPr>
          <p:cNvSpPr>
            <a:spLocks xmlns:a="http://schemas.openxmlformats.org/drawingml/2006/main" noGrp="1"/>
          </p:cNvSpPr>
          <p:nvPr/>
        </p:nvSpPr>
        <p:spPr>
          <a:xfrm xmlns:a="http://schemas.openxmlformats.org/drawingml/2006/main">
            <a:off x="2990850" y="3143250"/>
            <a:ext cx="9144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81525"/>
                </a:solidFill>
                <a:latin typeface="Arial"/>
                <a:ea typeface="Arial"/>
                <a:cs typeface="Arial"/>
              </a:defRPr>
            </a:pPr>
            <a:r>
              <a:t>PARTNER</a:t>
            </a:r>
          </a:p>
        </p:txBody>
      </p:sp>
      <p:sp>
        <p:nvSpPr>
          <p:cNvPr id="34" name="">
            <a:extLst xmlns:a="http://schemas.openxmlformats.org/drawingml/2006/main">
              <a:ext uri="{FF2B5EF4-FFF2-40B4-BE49-F238E27FC236}">
                <a16:creationId xmlns:a16="http://schemas.microsoft.com/office/drawing/2014/main" id="{2F8737D2-6B4A-4F2B-9A7D-FDF995D5AE4D}"/>
              </a:ext>
            </a:extLst>
          </p:cNvPr>
          <p:cNvSpPr>
            <a:spLocks xmlns:a="http://schemas.openxmlformats.org/drawingml/2006/main" noGrp="1"/>
          </p:cNvSpPr>
          <p:nvPr/>
        </p:nvSpPr>
        <p:spPr>
          <a:xfrm xmlns:a="http://schemas.openxmlformats.org/drawingml/2006/main">
            <a:off x="4171950" y="3086100"/>
            <a:ext cx="3962400"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Sterling Tools took the local manufacturing, channel and compliance role beside a foreign perception stack. That is the mirror of the move DeepGrid needs, and at ₹806 Cr Sterling is a plausible partner rather than an adversary.</a:t>
            </a:r>
          </a:p>
        </p:txBody>
      </p:sp>
      <p:sp>
        <p:nvSpPr>
          <p:cNvPr id="35" name="">
            <a:extLst xmlns:a="http://schemas.openxmlformats.org/drawingml/2006/main">
              <a:ext uri="{FF2B5EF4-FFF2-40B4-BE49-F238E27FC236}">
                <a16:creationId xmlns:a16="http://schemas.microsoft.com/office/drawing/2014/main" id="{DBE83B0C-067E-4905-97B6-A7A6300DDD44}"/>
              </a:ext>
            </a:extLst>
          </p:cNvPr>
          <p:cNvSpPr>
            <a:spLocks xmlns:a="http://schemas.openxmlformats.org/drawingml/2006/main" noGrp="1"/>
          </p:cNvSpPr>
          <p:nvPr/>
        </p:nvSpPr>
        <p:spPr>
          <a:xfrm xmlns:a="http://schemas.openxmlformats.org/drawingml/2006/main">
            <a:off x="8267700" y="3086100"/>
            <a:ext cx="3371850"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The attach motion is the strategy; the only question is which integrator (EV-STL-01, EV-STL-02).</a:t>
            </a:r>
          </a:p>
        </p:txBody>
      </p:sp>
      <p:sp>
        <p:nvSpPr>
          <p:cNvPr id="36" name="">
            <a:extLst xmlns:a="http://schemas.openxmlformats.org/drawingml/2006/main">
              <a:ext uri="{FF2B5EF4-FFF2-40B4-BE49-F238E27FC236}">
                <a16:creationId xmlns:a16="http://schemas.microsoft.com/office/drawing/2014/main" id="{402D2B8C-7254-48F5-9173-C3CE733808BB}"/>
              </a:ext>
            </a:extLst>
          </p:cNvPr>
          <p:cNvSpPr>
            <a:spLocks xmlns:a="http://schemas.openxmlformats.org/drawingml/2006/main" noGrp="1"/>
          </p:cNvSpPr>
          <p:nvPr/>
        </p:nvSpPr>
        <p:spPr>
          <a:xfrm xmlns:a="http://schemas.openxmlformats.org/drawingml/2006/main">
            <a:off x="457200" y="3819525"/>
            <a:ext cx="28575" cy="5048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5CA0E78-D7D4-4D3D-8A95-1D10301ADAC7}"/>
              </a:ext>
            </a:extLst>
          </p:cNvPr>
          <p:cNvSpPr>
            <a:spLocks xmlns:a="http://schemas.openxmlformats.org/drawingml/2006/main" noGrp="1"/>
          </p:cNvSpPr>
          <p:nvPr/>
        </p:nvSpPr>
        <p:spPr>
          <a:xfrm xmlns:a="http://schemas.openxmlformats.org/drawingml/2006/main">
            <a:off x="571500" y="3819525"/>
            <a:ext cx="22479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t>Perception model and India dataset</a:t>
            </a:r>
          </a:p>
        </p:txBody>
      </p:sp>
      <p:sp>
        <p:nvSpPr>
          <p:cNvPr id="38" name="">
            <a:extLst xmlns:a="http://schemas.openxmlformats.org/drawingml/2006/main">
              <a:ext uri="{FF2B5EF4-FFF2-40B4-BE49-F238E27FC236}">
                <a16:creationId xmlns:a16="http://schemas.microsoft.com/office/drawing/2014/main" id="{9FD2C6F5-A299-4006-96B1-F62A7D08C939}"/>
              </a:ext>
            </a:extLst>
          </p:cNvPr>
          <p:cNvSpPr>
            <a:spLocks xmlns:a="http://schemas.openxmlformats.org/drawingml/2006/main" noGrp="1"/>
          </p:cNvSpPr>
          <p:nvPr/>
        </p:nvSpPr>
        <p:spPr>
          <a:xfrm xmlns:a="http://schemas.openxmlformats.org/drawingml/2006/main">
            <a:off x="2914650" y="3838575"/>
            <a:ext cx="1066800" cy="2095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BDE8145D-03D7-49BA-8E48-694F05D892B6}"/>
              </a:ext>
            </a:extLst>
          </p:cNvPr>
          <p:cNvSpPr>
            <a:spLocks xmlns:a="http://schemas.openxmlformats.org/drawingml/2006/main" noGrp="1"/>
          </p:cNvSpPr>
          <p:nvPr/>
        </p:nvSpPr>
        <p:spPr>
          <a:xfrm xmlns:a="http://schemas.openxmlformats.org/drawingml/2006/main">
            <a:off x="2990850" y="3876675"/>
            <a:ext cx="9144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81525"/>
                </a:solidFill>
                <a:latin typeface="Arial"/>
                <a:ea typeface="Arial"/>
                <a:cs typeface="Arial"/>
              </a:defRPr>
            </a:pPr>
            <a:r>
              <a:t>BUILD</a:t>
            </a:r>
          </a:p>
        </p:txBody>
      </p:sp>
      <p:sp>
        <p:nvSpPr>
          <p:cNvPr id="40" name="">
            <a:extLst xmlns:a="http://schemas.openxmlformats.org/drawingml/2006/main">
              <a:ext uri="{FF2B5EF4-FFF2-40B4-BE49-F238E27FC236}">
                <a16:creationId xmlns:a16="http://schemas.microsoft.com/office/drawing/2014/main" id="{2D72A7B6-537F-41DB-8218-FEEDBA011D0C}"/>
              </a:ext>
            </a:extLst>
          </p:cNvPr>
          <p:cNvSpPr>
            <a:spLocks xmlns:a="http://schemas.openxmlformats.org/drawingml/2006/main" noGrp="1"/>
          </p:cNvSpPr>
          <p:nvPr/>
        </p:nvSpPr>
        <p:spPr>
          <a:xfrm xmlns:a="http://schemas.openxmlformats.org/drawingml/2006/main">
            <a:off x="4171950" y="3819525"/>
            <a:ext cx="39624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The one thing that must be owned. But it stops being a differentiator the moment it is a claim rather than a measurement — four rivals already claim India tuning.</a:t>
            </a:r>
          </a:p>
        </p:txBody>
      </p:sp>
      <p:sp>
        <p:nvSpPr>
          <p:cNvPr id="41" name="">
            <a:extLst xmlns:a="http://schemas.openxmlformats.org/drawingml/2006/main">
              <a:ext uri="{FF2B5EF4-FFF2-40B4-BE49-F238E27FC236}">
                <a16:creationId xmlns:a16="http://schemas.microsoft.com/office/drawing/2014/main" id="{DDFA6BB8-AA6E-45AF-B91C-30DF52741F4B}"/>
              </a:ext>
            </a:extLst>
          </p:cNvPr>
          <p:cNvSpPr>
            <a:spLocks xmlns:a="http://schemas.openxmlformats.org/drawingml/2006/main" noGrp="1"/>
          </p:cNvSpPr>
          <p:nvPr/>
        </p:nvSpPr>
        <p:spPr>
          <a:xfrm xmlns:a="http://schemas.openxmlformats.org/drawingml/2006/main">
            <a:off x="8267700" y="3819525"/>
            <a:ext cx="337185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8EA0B2"/>
                </a:solidFill>
                <a:latin typeface="Arial"/>
                <a:ea typeface="Arial"/>
                <a:cs typeface="Arial"/>
              </a:defRPr>
            </a:pPr>
            <a:r>
              <a:t>Convert to a scenario-stratified result against a named baseline, with nuisance-event denominators.</a:t>
            </a:r>
          </a:p>
        </p:txBody>
      </p:sp>
      <p:sp>
        <p:nvSpPr>
          <p:cNvPr id="42" name="">
            <a:extLst xmlns:a="http://schemas.openxmlformats.org/drawingml/2006/main">
              <a:ext uri="{FF2B5EF4-FFF2-40B4-BE49-F238E27FC236}">
                <a16:creationId xmlns:a16="http://schemas.microsoft.com/office/drawing/2014/main" id="{B196EF3D-9572-4608-B137-80F9AECFC81C}"/>
              </a:ext>
            </a:extLst>
          </p:cNvPr>
          <p:cNvSpPr>
            <a:spLocks xmlns:a="http://schemas.openxmlformats.org/drawingml/2006/main" noGrp="1"/>
          </p:cNvSpPr>
          <p:nvPr/>
        </p:nvSpPr>
        <p:spPr>
          <a:xfrm xmlns:a="http://schemas.openxmlformats.org/drawingml/2006/main">
            <a:off x="457200" y="4438650"/>
            <a:ext cx="1127760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4B149A5E-CF2C-4465-B4B4-F503DB20E630}"/>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FFFFFF"/>
                </a:solidFill>
                <a:latin typeface="Arial"/>
                <a:ea typeface="Arial"/>
                <a:cs typeface="Arial"/>
              </a:defRPr>
            </a:pPr>
            <a:r>
              <a:t>Only one row says BUILD. The perception model and its India dataset are the thing to own — and they stop being a differentiator the moment they are a claim rather than a measurement, which four rivals already claim.</a:t>
            </a:r>
          </a:p>
        </p:txBody>
      </p:sp>
      <p:sp>
        <p:nvSpPr>
          <p:cNvPr id="44" name="">
            <a:extLst xmlns:a="http://schemas.openxmlformats.org/drawingml/2006/main">
              <a:ext uri="{FF2B5EF4-FFF2-40B4-BE49-F238E27FC236}">
                <a16:creationId xmlns:a16="http://schemas.microsoft.com/office/drawing/2014/main" id="{FBB9C678-DBA7-439E-A240-69CE4AAABFE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20E63B43-650D-4275-9C52-669DDB91D64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F3EA7634-56CC-424E-B33D-5CC2A5B00AB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111</a:t>
            </a:r>
          </a:p>
        </p:txBody>
      </p:sp>
    </p:spTree>
    <p:extLst>
      <p:ext uri="{BB962C8B-B14F-4D97-AF65-F5344CB8AC3E}">
        <p14:creationId xmlns:p14="http://schemas.microsoft.com/office/powerpoint/2010/main" val="1071837907"/>
      </p:ext>
    </p:extLst>
  </p:cSld>
</p:sld>
</file>

<file path=ppt/slides/slide112.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CBCD19E-995D-4EA0-ABC8-98FB617B56B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1EA574-6AC5-4954-97BB-7F2007CF21A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D96E9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11724A6-C322-459D-B192-795BBA742A06}"/>
              </a:ext>
            </a:extLst>
          </p:cNvPr>
          <p:cNvSpPr>
            <a:spLocks xmlns:a="http://schemas.openxmlformats.org/drawingml/2006/main" noGrp="1"/>
          </p:cNvSpPr>
          <p:nvPr/>
        </p:nvSpPr>
        <p:spPr>
          <a:xfrm xmlns:a="http://schemas.openxmlformats.org/drawingml/2006/main">
            <a:off x="457200" y="2038350"/>
            <a:ext cx="1143000" cy="38100"/>
          </a:xfrm>
          <a:prstGeom xmlns:a="http://schemas.openxmlformats.org/drawingml/2006/main" prst="rect">
            <a:avLst/>
          </a:prstGeom>
          <a:solidFill xmlns:a="http://schemas.openxmlformats.org/drawingml/2006/main">
            <a:srgbClr val="D96E9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FD9254C-DC6E-4DE1-8FD6-1A31ABB63A11}"/>
              </a:ext>
            </a:extLst>
          </p:cNvPr>
          <p:cNvSpPr>
            <a:spLocks xmlns:a="http://schemas.openxmlformats.org/drawingml/2006/main" noGrp="1"/>
          </p:cNvSpPr>
          <p:nvPr/>
        </p:nvSpPr>
        <p:spPr>
          <a:xfrm xmlns:a="http://schemas.openxmlformats.org/drawingml/2006/main">
            <a:off x="457200" y="2286000"/>
            <a:ext cx="476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E58AA8"/>
                </a:solidFill>
                <a:latin typeface="Arial"/>
                <a:ea typeface="Arial"/>
                <a:cs typeface="Arial"/>
              </a:defRPr>
            </a:pPr>
            <a:r>
              <a:t>ACT VI</a:t>
            </a:r>
          </a:p>
        </p:txBody>
      </p:sp>
      <p:sp>
        <p:nvSpPr>
          <p:cNvPr id="5" name="">
            <a:extLst xmlns:a="http://schemas.openxmlformats.org/drawingml/2006/main">
              <a:ext uri="{FF2B5EF4-FFF2-40B4-BE49-F238E27FC236}">
                <a16:creationId xmlns:a16="http://schemas.microsoft.com/office/drawing/2014/main" id="{DBE7D870-F2A7-407F-955B-8A115B390705}"/>
              </a:ext>
            </a:extLst>
          </p:cNvPr>
          <p:cNvSpPr>
            <a:spLocks xmlns:a="http://schemas.openxmlformats.org/drawingml/2006/main" noGrp="1"/>
          </p:cNvSpPr>
          <p:nvPr/>
        </p:nvSpPr>
        <p:spPr>
          <a:xfrm xmlns:a="http://schemas.openxmlformats.org/drawingml/2006/main">
            <a:off x="457200" y="2552700"/>
            <a:ext cx="85725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FFFFFF"/>
                </a:solidFill>
                <a:latin typeface="Georgia"/>
                <a:ea typeface="Georgia"/>
                <a:cs typeface="Georgia"/>
              </a:defRPr>
            </a:pPr>
            <a:r>
              <a:t>The plan</a:t>
            </a:r>
          </a:p>
        </p:txBody>
      </p:sp>
      <p:sp>
        <p:nvSpPr>
          <p:cNvPr id="6" name="">
            <a:extLst xmlns:a="http://schemas.openxmlformats.org/drawingml/2006/main">
              <a:ext uri="{FF2B5EF4-FFF2-40B4-BE49-F238E27FC236}">
                <a16:creationId xmlns:a16="http://schemas.microsoft.com/office/drawing/2014/main" id="{05C68510-4535-4F21-9841-B45EB16779C0}"/>
              </a:ext>
            </a:extLst>
          </p:cNvPr>
          <p:cNvSpPr>
            <a:spLocks xmlns:a="http://schemas.openxmlformats.org/drawingml/2006/main" noGrp="1"/>
          </p:cNvSpPr>
          <p:nvPr/>
        </p:nvSpPr>
        <p:spPr>
          <a:xfrm xmlns:a="http://schemas.openxmlformats.org/drawingml/2006/main">
            <a:off x="457200" y="3390900"/>
            <a:ext cx="7810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C9D6E2"/>
                </a:solidFill>
                <a:latin typeface="Arial"/>
                <a:ea typeface="Arial"/>
                <a:cs typeface="Arial"/>
              </a:defRPr>
            </a:pPr>
            <a:r>
              <a:t>What must be true in 90 days, and who owns each gate?</a:t>
            </a:r>
          </a:p>
        </p:txBody>
      </p:sp>
      <p:sp>
        <p:nvSpPr>
          <p:cNvPr id="7" name="">
            <a:extLst xmlns:a="http://schemas.openxmlformats.org/drawingml/2006/main">
              <a:ext uri="{FF2B5EF4-FFF2-40B4-BE49-F238E27FC236}">
                <a16:creationId xmlns:a16="http://schemas.microsoft.com/office/drawing/2014/main" id="{D448B95E-E00B-4275-9967-04B6AD6D63ED}"/>
              </a:ext>
            </a:extLst>
          </p:cNvPr>
          <p:cNvSpPr>
            <a:spLocks xmlns:a="http://schemas.openxmlformats.org/drawingml/2006/main" noGrp="1"/>
          </p:cNvSpPr>
          <p:nvPr/>
        </p:nvSpPr>
        <p:spPr>
          <a:xfrm xmlns:a="http://schemas.openxmlformats.org/drawingml/2006/main">
            <a:off x="457200" y="4076700"/>
            <a:ext cx="78105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91DB550-403C-47E8-A429-6D8BAE8F9900}"/>
              </a:ext>
            </a:extLst>
          </p:cNvPr>
          <p:cNvSpPr>
            <a:spLocks xmlns:a="http://schemas.openxmlformats.org/drawingml/2006/main" noGrp="1"/>
          </p:cNvSpPr>
          <p:nvPr/>
        </p:nvSpPr>
        <p:spPr>
          <a:xfrm xmlns:a="http://schemas.openxmlformats.org/drawingml/2006/main">
            <a:off x="457200" y="42100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58AA8"/>
                </a:solidFill>
                <a:latin typeface="Arial"/>
                <a:ea typeface="Arial"/>
                <a:cs typeface="Arial"/>
              </a:defRPr>
            </a:pPr>
            <a:r>
              <a:t>WHAT THIS ACT SETTLES</a:t>
            </a:r>
          </a:p>
        </p:txBody>
      </p:sp>
      <p:sp>
        <p:nvSpPr>
          <p:cNvPr id="9" name="">
            <a:extLst xmlns:a="http://schemas.openxmlformats.org/drawingml/2006/main">
              <a:ext uri="{FF2B5EF4-FFF2-40B4-BE49-F238E27FC236}">
                <a16:creationId xmlns:a16="http://schemas.microsoft.com/office/drawing/2014/main" id="{3D649510-90D3-4C9D-8DDB-DEF69C188FFA}"/>
              </a:ext>
            </a:extLst>
          </p:cNvPr>
          <p:cNvSpPr>
            <a:spLocks xmlns:a="http://schemas.openxmlformats.org/drawingml/2006/main" noGrp="1"/>
          </p:cNvSpPr>
          <p:nvPr/>
        </p:nvSpPr>
        <p:spPr>
          <a:xfrm xmlns:a="http://schemas.openxmlformats.org/drawingml/2006/main">
            <a:off x="457200" y="4400550"/>
            <a:ext cx="78105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Owners, triggers and the gates that decide whether the position is real.</a:t>
            </a:r>
          </a:p>
        </p:txBody>
      </p:sp>
      <p:sp>
        <p:nvSpPr>
          <p:cNvPr id="10" name="">
            <a:extLst xmlns:a="http://schemas.openxmlformats.org/drawingml/2006/main">
              <a:ext uri="{FF2B5EF4-FFF2-40B4-BE49-F238E27FC236}">
                <a16:creationId xmlns:a16="http://schemas.microsoft.com/office/drawing/2014/main" id="{F0FC320B-E1D8-4A22-AA20-F3C04DDE1F24}"/>
              </a:ext>
            </a:extLst>
          </p:cNvPr>
          <p:cNvSpPr>
            <a:spLocks xmlns:a="http://schemas.openxmlformats.org/drawingml/2006/main" noGrp="1"/>
          </p:cNvSpPr>
          <p:nvPr/>
        </p:nvSpPr>
        <p:spPr>
          <a:xfrm xmlns:a="http://schemas.openxmlformats.org/drawingml/2006/main">
            <a:off x="9410700" y="2495550"/>
            <a:ext cx="1905000" cy="704850"/>
          </a:xfrm>
          <a:prstGeom xmlns:a="http://schemas.openxmlformats.org/drawingml/2006/main" prst="rect">
            <a:avLst/>
          </a:prstGeom>
        </p:spPr>
        <p:txBody>
          <a:bodyPr xmlns:a="http://schemas.openxmlformats.org/drawingml/2006/main" lIns="0" tIns="0" rIns="0" bIns="0" anchor="t">
            <a:normAutofit fontScale="99462"/>
          </a:bodyPr>
          <a:lstStyle xmlns:a="http://schemas.openxmlformats.org/drawingml/2006/main"/>
          <a:p xmlns:a="http://schemas.openxmlformats.org/drawingml/2006/main">
            <a:pPr algn="l">
              <a:defRPr sz="4650" b="1">
                <a:solidFill>
                  <a:srgbClr val="E58AA8"/>
                </a:solidFill>
                <a:latin typeface="Georgia"/>
                <a:ea typeface="Georgia"/>
                <a:cs typeface="Georgia"/>
              </a:defRPr>
            </a:pPr>
            <a:r>
              <a:t>6</a:t>
            </a:r>
          </a:p>
        </p:txBody>
      </p:sp>
      <p:sp>
        <p:nvSpPr>
          <p:cNvPr id="11" name="">
            <a:extLst xmlns:a="http://schemas.openxmlformats.org/drawingml/2006/main">
              <a:ext uri="{FF2B5EF4-FFF2-40B4-BE49-F238E27FC236}">
                <a16:creationId xmlns:a16="http://schemas.microsoft.com/office/drawing/2014/main" id="{61C411E6-E2B9-416D-BC51-B8369ABA1904}"/>
              </a:ext>
            </a:extLst>
          </p:cNvPr>
          <p:cNvSpPr>
            <a:spLocks xmlns:a="http://schemas.openxmlformats.org/drawingml/2006/main" noGrp="1"/>
          </p:cNvSpPr>
          <p:nvPr/>
        </p:nvSpPr>
        <p:spPr>
          <a:xfrm xmlns:a="http://schemas.openxmlformats.org/drawingml/2006/main">
            <a:off x="9410700" y="32385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PAGES</a:t>
            </a:r>
          </a:p>
        </p:txBody>
      </p:sp>
      <p:sp>
        <p:nvSpPr>
          <p:cNvPr id="12" name="">
            <a:extLst xmlns:a="http://schemas.openxmlformats.org/drawingml/2006/main">
              <a:ext uri="{FF2B5EF4-FFF2-40B4-BE49-F238E27FC236}">
                <a16:creationId xmlns:a16="http://schemas.microsoft.com/office/drawing/2014/main" id="{56337705-2CC7-43D2-817D-C54FC81BAA67}"/>
              </a:ext>
            </a:extLst>
          </p:cNvPr>
          <p:cNvSpPr>
            <a:spLocks xmlns:a="http://schemas.openxmlformats.org/drawingml/2006/main" noGrp="1"/>
          </p:cNvSpPr>
          <p:nvPr/>
        </p:nvSpPr>
        <p:spPr>
          <a:xfrm xmlns:a="http://schemas.openxmlformats.org/drawingml/2006/main">
            <a:off x="9410700" y="34290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pp. 113–118</a:t>
            </a:r>
          </a:p>
        </p:txBody>
      </p:sp>
      <p:sp>
        <p:nvSpPr>
          <p:cNvPr id="13" name="">
            <a:extLst xmlns:a="http://schemas.openxmlformats.org/drawingml/2006/main">
              <a:ext uri="{FF2B5EF4-FFF2-40B4-BE49-F238E27FC236}">
                <a16:creationId xmlns:a16="http://schemas.microsoft.com/office/drawing/2014/main" id="{D5081234-9E9C-4AD2-A879-CCBFD643766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2C167C3-291A-408B-8F01-041C8EA1363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15" name="">
            <a:extLst xmlns:a="http://schemas.openxmlformats.org/drawingml/2006/main">
              <a:ext uri="{FF2B5EF4-FFF2-40B4-BE49-F238E27FC236}">
                <a16:creationId xmlns:a16="http://schemas.microsoft.com/office/drawing/2014/main" id="{2EB03736-7498-4DFD-A749-3BBCB61E221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112</a:t>
            </a:r>
          </a:p>
        </p:txBody>
      </p:sp>
    </p:spTree>
    <p:extLst>
      <p:ext uri="{BB962C8B-B14F-4D97-AF65-F5344CB8AC3E}">
        <p14:creationId xmlns:p14="http://schemas.microsoft.com/office/powerpoint/2010/main" val="28678208"/>
      </p:ext>
    </p:extLst>
  </p:cSld>
</p:sld>
</file>

<file path=ppt/slides/slide113.xml><?xml version="1.0" encoding="utf-8"?>
<p:sld xmlns:p="http://schemas.openxmlformats.org/presentationml/2006/main">
  <p:cSld>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69C85595-A209-432D-B998-694E13581EA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2314146-FDC2-4E3C-80D1-7C5D4FB051CA}"/>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B9936FA-9ED4-45E7-9EFF-CB6AF6C6382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P5 · DATED PLAN</a:t>
            </a:r>
          </a:p>
        </p:txBody>
      </p:sp>
      <p:sp>
        <p:nvSpPr>
          <p:cNvPr id="4" name="">
            <a:extLst xmlns:a="http://schemas.openxmlformats.org/drawingml/2006/main">
              <a:ext uri="{FF2B5EF4-FFF2-40B4-BE49-F238E27FC236}">
                <a16:creationId xmlns:a16="http://schemas.microsoft.com/office/drawing/2014/main" id="{78F4AC9E-5539-4A6C-B117-CCBC7D083E6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PHASE WIDTH = SPAN IN WEEKS</a:t>
            </a:r>
          </a:p>
        </p:txBody>
      </p:sp>
      <p:sp>
        <p:nvSpPr>
          <p:cNvPr id="5" name="">
            <a:extLst xmlns:a="http://schemas.openxmlformats.org/drawingml/2006/main">
              <a:ext uri="{FF2B5EF4-FFF2-40B4-BE49-F238E27FC236}">
                <a16:creationId xmlns:a16="http://schemas.microsoft.com/office/drawing/2014/main" id="{02155CD9-D8A1-4F74-9A60-5A908CCF9DA5}"/>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90-day sprint: convert claims into reproducible artifacts</a:t>
            </a:r>
          </a:p>
        </p:txBody>
      </p:sp>
      <p:sp>
        <p:nvSpPr>
          <p:cNvPr id="6" name="">
            <a:extLst xmlns:a="http://schemas.openxmlformats.org/drawingml/2006/main">
              <a:ext uri="{FF2B5EF4-FFF2-40B4-BE49-F238E27FC236}">
                <a16:creationId xmlns:a16="http://schemas.microsoft.com/office/drawing/2014/main" id="{EF6E8700-AA47-47CB-8168-BAB7390E9882}"/>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174CC3C-22C2-4A3D-80EF-8D77C0FA8FD0}"/>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Which near-term milestones unlock further commitment rather than merely create activity?</a:t>
            </a:r>
          </a:p>
        </p:txBody>
      </p:sp>
      <p:sp>
        <p:nvSpPr>
          <p:cNvPr id="8" name="">
            <a:extLst xmlns:a="http://schemas.openxmlformats.org/drawingml/2006/main">
              <a:ext uri="{FF2B5EF4-FFF2-40B4-BE49-F238E27FC236}">
                <a16:creationId xmlns:a16="http://schemas.microsoft.com/office/drawing/2014/main" id="{C81CD55C-192D-4B34-A597-4F4CE23DC728}"/>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89214812-ED32-4CB4-9209-F1BB58B71A04}"/>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8594125-3758-41DA-8F7C-948226F3CDB9}"/>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22085AC5-2214-4BD9-B2A1-09E9721D5427}"/>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Three workstreams across 90 days: freeze and correct the claim register in weeks 1–2, approach one braking Tier-1 and Starkenn in weeks 1–4, and run telemetry-rich paid pilots through week 12.</a:t>
            </a:r>
          </a:p>
        </p:txBody>
      </p:sp>
      <p:sp>
        <p:nvSpPr>
          <p:cNvPr id="12" name="">
            <a:extLst xmlns:a="http://schemas.openxmlformats.org/drawingml/2006/main">
              <a:ext uri="{FF2B5EF4-FFF2-40B4-BE49-F238E27FC236}">
                <a16:creationId xmlns:a16="http://schemas.microsoft.com/office/drawing/2014/main" id="{453F57F4-B851-41BA-8AE1-6316B86AFE84}"/>
              </a:ext>
            </a:extLst>
          </p:cNvPr>
          <p:cNvSpPr>
            <a:spLocks xmlns:a="http://schemas.openxmlformats.org/drawingml/2006/main" noGrp="1"/>
          </p:cNvSpPr>
          <p:nvPr/>
        </p:nvSpPr>
        <p:spPr>
          <a:xfrm xmlns:a="http://schemas.openxmlformats.org/drawingml/2006/main">
            <a:off x="457200" y="2127250"/>
            <a:ext cx="11277600" cy="2857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9CF3F6F-D489-442C-8209-67DA677E721B}"/>
              </a:ext>
            </a:extLst>
          </p:cNvPr>
          <p:cNvSpPr>
            <a:spLocks xmlns:a="http://schemas.openxmlformats.org/drawingml/2006/main" noGrp="1"/>
          </p:cNvSpPr>
          <p:nvPr/>
        </p:nvSpPr>
        <p:spPr>
          <a:xfrm xmlns:a="http://schemas.openxmlformats.org/drawingml/2006/main">
            <a:off x="457200" y="2127250"/>
            <a:ext cx="1269626"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4F63455-5A34-47A9-9BF3-300DB2A85509}"/>
              </a:ext>
            </a:extLst>
          </p:cNvPr>
          <p:cNvSpPr>
            <a:spLocks xmlns:a="http://schemas.openxmlformats.org/drawingml/2006/main" noGrp="1"/>
          </p:cNvSpPr>
          <p:nvPr/>
        </p:nvSpPr>
        <p:spPr>
          <a:xfrm xmlns:a="http://schemas.openxmlformats.org/drawingml/2006/main">
            <a:off x="447675" y="2079625"/>
            <a:ext cx="123825" cy="123825"/>
          </a:xfrm>
          <a:prstGeom xmlns:a="http://schemas.openxmlformats.org/drawingml/2006/main" prst="ellipse">
            <a:avLst/>
          </a:prstGeom>
          <a:solidFill xmlns:a="http://schemas.openxmlformats.org/drawingml/2006/main">
            <a:srgbClr val="04B3C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3C822EF-E2F4-4847-99E8-76C23C894944}"/>
              </a:ext>
            </a:extLst>
          </p:cNvPr>
          <p:cNvSpPr>
            <a:spLocks xmlns:a="http://schemas.openxmlformats.org/drawingml/2006/main" noGrp="1"/>
          </p:cNvSpPr>
          <p:nvPr/>
        </p:nvSpPr>
        <p:spPr>
          <a:xfrm xmlns:a="http://schemas.openxmlformats.org/drawingml/2006/main">
            <a:off x="609600" y="1898650"/>
            <a:ext cx="1136276"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WEEKS 1-2</a:t>
            </a:r>
          </a:p>
        </p:txBody>
      </p:sp>
      <p:sp>
        <p:nvSpPr>
          <p:cNvPr id="16" name="">
            <a:extLst xmlns:a="http://schemas.openxmlformats.org/drawingml/2006/main">
              <a:ext uri="{FF2B5EF4-FFF2-40B4-BE49-F238E27FC236}">
                <a16:creationId xmlns:a16="http://schemas.microsoft.com/office/drawing/2014/main" id="{1BBBCACD-B631-4DF2-BD0A-B90310208586}"/>
              </a:ext>
            </a:extLst>
          </p:cNvPr>
          <p:cNvSpPr>
            <a:spLocks xmlns:a="http://schemas.openxmlformats.org/drawingml/2006/main" noGrp="1"/>
          </p:cNvSpPr>
          <p:nvPr/>
        </p:nvSpPr>
        <p:spPr>
          <a:xfrm xmlns:a="http://schemas.openxmlformats.org/drawingml/2006/main">
            <a:off x="609600" y="2260600"/>
            <a:ext cx="1117226" cy="142875"/>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125" b="1">
                <a:solidFill>
                  <a:srgbClr val="FFFFFF"/>
                </a:solidFill>
                <a:latin typeface="Arial"/>
                <a:ea typeface="Arial"/>
                <a:cs typeface="Arial"/>
              </a:defRPr>
            </a:pPr>
            <a:r>
              <a:t>Evidence Reset</a:t>
            </a:r>
          </a:p>
        </p:txBody>
      </p:sp>
      <p:sp>
        <p:nvSpPr>
          <p:cNvPr id="17" name="">
            <a:extLst xmlns:a="http://schemas.openxmlformats.org/drawingml/2006/main">
              <a:ext uri="{FF2B5EF4-FFF2-40B4-BE49-F238E27FC236}">
                <a16:creationId xmlns:a16="http://schemas.microsoft.com/office/drawing/2014/main" id="{7D6450DE-B1F4-4FB0-A1B9-7223422404D5}"/>
              </a:ext>
            </a:extLst>
          </p:cNvPr>
          <p:cNvSpPr>
            <a:spLocks xmlns:a="http://schemas.openxmlformats.org/drawingml/2006/main" noGrp="1"/>
          </p:cNvSpPr>
          <p:nvPr/>
        </p:nvSpPr>
        <p:spPr>
          <a:xfrm xmlns:a="http://schemas.openxmlformats.org/drawingml/2006/main">
            <a:off x="609600" y="2451100"/>
            <a:ext cx="1098176" cy="1962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Freeze claim register, correct mandate/certification language, request primary artifacts, publish interface package</a:t>
            </a:r>
          </a:p>
        </p:txBody>
      </p:sp>
      <p:sp>
        <p:nvSpPr>
          <p:cNvPr id="18" name="">
            <a:extLst xmlns:a="http://schemas.openxmlformats.org/drawingml/2006/main">
              <a:ext uri="{FF2B5EF4-FFF2-40B4-BE49-F238E27FC236}">
                <a16:creationId xmlns:a16="http://schemas.microsoft.com/office/drawing/2014/main" id="{22D23293-442E-4ED3-B697-494E2C0749F5}"/>
              </a:ext>
            </a:extLst>
          </p:cNvPr>
          <p:cNvSpPr>
            <a:spLocks xmlns:a="http://schemas.openxmlformats.org/drawingml/2006/main" noGrp="1"/>
          </p:cNvSpPr>
          <p:nvPr/>
        </p:nvSpPr>
        <p:spPr>
          <a:xfrm xmlns:a="http://schemas.openxmlformats.org/drawingml/2006/main">
            <a:off x="1783976" y="2127250"/>
            <a:ext cx="2596403"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40690F8-8C18-430B-A3FB-829398BC0CD6}"/>
              </a:ext>
            </a:extLst>
          </p:cNvPr>
          <p:cNvSpPr>
            <a:spLocks xmlns:a="http://schemas.openxmlformats.org/drawingml/2006/main" noGrp="1"/>
          </p:cNvSpPr>
          <p:nvPr/>
        </p:nvSpPr>
        <p:spPr>
          <a:xfrm xmlns:a="http://schemas.openxmlformats.org/drawingml/2006/main">
            <a:off x="1774451" y="2079625"/>
            <a:ext cx="123825" cy="123825"/>
          </a:xfrm>
          <a:prstGeom xmlns:a="http://schemas.openxmlformats.org/drawingml/2006/main" prst="ellipse">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817908A-E25E-4FAB-8738-0811583BC3A3}"/>
              </a:ext>
            </a:extLst>
          </p:cNvPr>
          <p:cNvSpPr>
            <a:spLocks xmlns:a="http://schemas.openxmlformats.org/drawingml/2006/main" noGrp="1"/>
          </p:cNvSpPr>
          <p:nvPr/>
        </p:nvSpPr>
        <p:spPr>
          <a:xfrm xmlns:a="http://schemas.openxmlformats.org/drawingml/2006/main">
            <a:off x="1936376" y="1898650"/>
            <a:ext cx="2463053"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WEEKS 1-4</a:t>
            </a:r>
          </a:p>
        </p:txBody>
      </p:sp>
      <p:sp>
        <p:nvSpPr>
          <p:cNvPr id="21" name="">
            <a:extLst xmlns:a="http://schemas.openxmlformats.org/drawingml/2006/main">
              <a:ext uri="{FF2B5EF4-FFF2-40B4-BE49-F238E27FC236}">
                <a16:creationId xmlns:a16="http://schemas.microsoft.com/office/drawing/2014/main" id="{544FD424-745F-4CD7-85B4-D1FAEA3661E5}"/>
              </a:ext>
            </a:extLst>
          </p:cNvPr>
          <p:cNvSpPr>
            <a:spLocks xmlns:a="http://schemas.openxmlformats.org/drawingml/2006/main" noGrp="1"/>
          </p:cNvSpPr>
          <p:nvPr/>
        </p:nvSpPr>
        <p:spPr>
          <a:xfrm xmlns:a="http://schemas.openxmlformats.org/drawingml/2006/main">
            <a:off x="1936376" y="2260600"/>
            <a:ext cx="2444003" cy="142875"/>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125" b="1">
                <a:solidFill>
                  <a:srgbClr val="FFFFFF"/>
                </a:solidFill>
                <a:latin typeface="Arial"/>
                <a:ea typeface="Arial"/>
                <a:cs typeface="Arial"/>
              </a:defRPr>
            </a:pPr>
            <a:r>
              <a:t>Market Test</a:t>
            </a:r>
          </a:p>
        </p:txBody>
      </p:sp>
      <p:sp>
        <p:nvSpPr>
          <p:cNvPr id="22" name="">
            <a:extLst xmlns:a="http://schemas.openxmlformats.org/drawingml/2006/main">
              <a:ext uri="{FF2B5EF4-FFF2-40B4-BE49-F238E27FC236}">
                <a16:creationId xmlns:a16="http://schemas.microsoft.com/office/drawing/2014/main" id="{88B9EB49-9111-4397-85C7-4E04CB9D015A}"/>
              </a:ext>
            </a:extLst>
          </p:cNvPr>
          <p:cNvSpPr>
            <a:spLocks xmlns:a="http://schemas.openxmlformats.org/drawingml/2006/main" noGrp="1"/>
          </p:cNvSpPr>
          <p:nvPr/>
        </p:nvSpPr>
        <p:spPr>
          <a:xfrm xmlns:a="http://schemas.openxmlformats.org/drawingml/2006/main">
            <a:off x="1936376" y="2451100"/>
            <a:ext cx="2424953" cy="1962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Approach one braking Tier-1 and Starkenn with bounded wedge; compare equal-scope RFQs</a:t>
            </a:r>
          </a:p>
        </p:txBody>
      </p:sp>
      <p:sp>
        <p:nvSpPr>
          <p:cNvPr id="23" name="">
            <a:extLst xmlns:a="http://schemas.openxmlformats.org/drawingml/2006/main">
              <a:ext uri="{FF2B5EF4-FFF2-40B4-BE49-F238E27FC236}">
                <a16:creationId xmlns:a16="http://schemas.microsoft.com/office/drawing/2014/main" id="{4B795527-6DDC-46D9-8ED5-584635F38812}"/>
              </a:ext>
            </a:extLst>
          </p:cNvPr>
          <p:cNvSpPr>
            <a:spLocks xmlns:a="http://schemas.openxmlformats.org/drawingml/2006/main" noGrp="1"/>
          </p:cNvSpPr>
          <p:nvPr/>
        </p:nvSpPr>
        <p:spPr>
          <a:xfrm xmlns:a="http://schemas.openxmlformats.org/drawingml/2006/main">
            <a:off x="4437529" y="2127250"/>
            <a:ext cx="7240121"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FAF0FDE-B0BB-49E9-8DE1-428C7CBC86FD}"/>
              </a:ext>
            </a:extLst>
          </p:cNvPr>
          <p:cNvSpPr>
            <a:spLocks xmlns:a="http://schemas.openxmlformats.org/drawingml/2006/main" noGrp="1"/>
          </p:cNvSpPr>
          <p:nvPr/>
        </p:nvSpPr>
        <p:spPr>
          <a:xfrm xmlns:a="http://schemas.openxmlformats.org/drawingml/2006/main">
            <a:off x="4428004" y="2079625"/>
            <a:ext cx="123825" cy="123825"/>
          </a:xfrm>
          <a:prstGeom xmlns:a="http://schemas.openxmlformats.org/drawingml/2006/main" prst="ellipse">
            <a:avLst/>
          </a:prstGeom>
          <a:solidFill xmlns:a="http://schemas.openxmlformats.org/drawingml/2006/main">
            <a:srgbClr val="1BA27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8885349-69DE-4739-B03D-F991CA13C262}"/>
              </a:ext>
            </a:extLst>
          </p:cNvPr>
          <p:cNvSpPr>
            <a:spLocks xmlns:a="http://schemas.openxmlformats.org/drawingml/2006/main" noGrp="1"/>
          </p:cNvSpPr>
          <p:nvPr/>
        </p:nvSpPr>
        <p:spPr>
          <a:xfrm xmlns:a="http://schemas.openxmlformats.org/drawingml/2006/main">
            <a:off x="4589929" y="1898650"/>
            <a:ext cx="7106771"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WEEKS 2-12</a:t>
            </a:r>
          </a:p>
        </p:txBody>
      </p:sp>
      <p:sp>
        <p:nvSpPr>
          <p:cNvPr id="26" name="">
            <a:extLst xmlns:a="http://schemas.openxmlformats.org/drawingml/2006/main">
              <a:ext uri="{FF2B5EF4-FFF2-40B4-BE49-F238E27FC236}">
                <a16:creationId xmlns:a16="http://schemas.microsoft.com/office/drawing/2014/main" id="{4A3DC7AA-6445-456D-9FBD-E9EF13D0AC80}"/>
              </a:ext>
            </a:extLst>
          </p:cNvPr>
          <p:cNvSpPr>
            <a:spLocks xmlns:a="http://schemas.openxmlformats.org/drawingml/2006/main" noGrp="1"/>
          </p:cNvSpPr>
          <p:nvPr/>
        </p:nvSpPr>
        <p:spPr>
          <a:xfrm xmlns:a="http://schemas.openxmlformats.org/drawingml/2006/main">
            <a:off x="4589929" y="2260600"/>
            <a:ext cx="7087721" cy="142875"/>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125" b="1">
                <a:solidFill>
                  <a:srgbClr val="FFFFFF"/>
                </a:solidFill>
                <a:latin typeface="Arial"/>
                <a:ea typeface="Arial"/>
                <a:cs typeface="Arial"/>
              </a:defRPr>
            </a:pPr>
            <a:r>
              <a:t>Field Proof</a:t>
            </a:r>
          </a:p>
        </p:txBody>
      </p:sp>
      <p:sp>
        <p:nvSpPr>
          <p:cNvPr id="27" name="">
            <a:extLst xmlns:a="http://schemas.openxmlformats.org/drawingml/2006/main">
              <a:ext uri="{FF2B5EF4-FFF2-40B4-BE49-F238E27FC236}">
                <a16:creationId xmlns:a16="http://schemas.microsoft.com/office/drawing/2014/main" id="{4A7D8861-56BF-439B-8377-AB26951B4B37}"/>
              </a:ext>
            </a:extLst>
          </p:cNvPr>
          <p:cNvSpPr>
            <a:spLocks xmlns:a="http://schemas.openxmlformats.org/drawingml/2006/main" noGrp="1"/>
          </p:cNvSpPr>
          <p:nvPr/>
        </p:nvSpPr>
        <p:spPr>
          <a:xfrm xmlns:a="http://schemas.openxmlformats.org/drawingml/2006/main">
            <a:off x="4589929" y="2451100"/>
            <a:ext cx="7068671" cy="1962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Target three paid telemetry-rich pilots and an independent characterisation protocol; publish denominators/metrics</a:t>
            </a:r>
          </a:p>
        </p:txBody>
      </p:sp>
      <p:sp>
        <p:nvSpPr>
          <p:cNvPr id="28" name="">
            <a:extLst xmlns:a="http://schemas.openxmlformats.org/drawingml/2006/main">
              <a:ext uri="{FF2B5EF4-FFF2-40B4-BE49-F238E27FC236}">
                <a16:creationId xmlns:a16="http://schemas.microsoft.com/office/drawing/2014/main" id="{70A381DA-9C46-4E0F-AFB8-F9B7D9173664}"/>
              </a:ext>
            </a:extLst>
          </p:cNvPr>
          <p:cNvSpPr>
            <a:spLocks xmlns:a="http://schemas.openxmlformats.org/drawingml/2006/main" noGrp="1"/>
          </p:cNvSpPr>
          <p:nvPr/>
        </p:nvSpPr>
        <p:spPr>
          <a:xfrm xmlns:a="http://schemas.openxmlformats.org/drawingml/2006/main">
            <a:off x="457200" y="4489450"/>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9" name="">
            <a:extLst xmlns:a="http://schemas.openxmlformats.org/drawingml/2006/main">
              <a:ext uri="{FF2B5EF4-FFF2-40B4-BE49-F238E27FC236}">
                <a16:creationId xmlns:a16="http://schemas.microsoft.com/office/drawing/2014/main" id="{DB3B6144-19FC-42D0-A1FA-E7362DF95DDC}"/>
              </a:ext>
            </a:extLst>
          </p:cNvPr>
          <p:cNvSpPr>
            <a:spLocks xmlns:a="http://schemas.openxmlformats.org/drawingml/2006/main" noGrp="1"/>
          </p:cNvSpPr>
          <p:nvPr/>
        </p:nvSpPr>
        <p:spPr>
          <a:xfrm xmlns:a="http://schemas.openxmlformats.org/drawingml/2006/main">
            <a:off x="457200" y="448945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06D21F3-2221-4104-B6D5-986CE2B744AF}"/>
              </a:ext>
            </a:extLst>
          </p:cNvPr>
          <p:cNvSpPr>
            <a:spLocks xmlns:a="http://schemas.openxmlformats.org/drawingml/2006/main" noGrp="1"/>
          </p:cNvSpPr>
          <p:nvPr/>
        </p:nvSpPr>
        <p:spPr>
          <a:xfrm xmlns:a="http://schemas.openxmlformats.org/drawingml/2006/main">
            <a:off x="581025" y="45561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THE PLAN STOPS IF</a:t>
            </a:r>
          </a:p>
        </p:txBody>
      </p:sp>
      <p:sp>
        <p:nvSpPr>
          <p:cNvPr id="31" name="">
            <a:extLst xmlns:a="http://schemas.openxmlformats.org/drawingml/2006/main">
              <a:ext uri="{FF2B5EF4-FFF2-40B4-BE49-F238E27FC236}">
                <a16:creationId xmlns:a16="http://schemas.microsoft.com/office/drawing/2014/main" id="{2904B45C-F8FA-4220-9691-2974FD839822}"/>
              </a:ext>
            </a:extLst>
          </p:cNvPr>
          <p:cNvSpPr>
            <a:spLocks xmlns:a="http://schemas.openxmlformats.org/drawingml/2006/main" noGrp="1"/>
          </p:cNvSpPr>
          <p:nvPr/>
        </p:nvSpPr>
        <p:spPr>
          <a:xfrm xmlns:a="http://schemas.openxmlformats.org/drawingml/2006/main">
            <a:off x="581025" y="47053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to the board if two of the three workstreams miss their first gate.</a:t>
            </a:r>
          </a:p>
        </p:txBody>
      </p:sp>
      <p:sp>
        <p:nvSpPr>
          <p:cNvPr id="32" name="">
            <a:extLst xmlns:a="http://schemas.openxmlformats.org/drawingml/2006/main">
              <a:ext uri="{FF2B5EF4-FFF2-40B4-BE49-F238E27FC236}">
                <a16:creationId xmlns:a16="http://schemas.microsoft.com/office/drawing/2014/main" id="{AF543718-E70F-4937-9A18-5B04BA53A606}"/>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BE48716-C073-42E7-BBD6-6202FDABFA83}"/>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7ADBFD8-2CFD-48D9-A480-2418DF3D97C1}"/>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5" name="">
            <a:extLst xmlns:a="http://schemas.openxmlformats.org/drawingml/2006/main">
              <a:ext uri="{FF2B5EF4-FFF2-40B4-BE49-F238E27FC236}">
                <a16:creationId xmlns:a16="http://schemas.microsoft.com/office/drawing/2014/main" id="{B3B241D7-BF52-4319-998B-D2E7CEB4CA1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Approve the 90-day sprint with three named workstream leads.</a:t>
            </a:r>
          </a:p>
        </p:txBody>
      </p:sp>
      <p:sp>
        <p:nvSpPr>
          <p:cNvPr id="36" name="">
            <a:extLst xmlns:a="http://schemas.openxmlformats.org/drawingml/2006/main">
              <a:ext uri="{FF2B5EF4-FFF2-40B4-BE49-F238E27FC236}">
                <a16:creationId xmlns:a16="http://schemas.microsoft.com/office/drawing/2014/main" id="{604044D7-3EC6-41EA-ADA0-336EB40B564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7" name="">
            <a:extLst xmlns:a="http://schemas.openxmlformats.org/drawingml/2006/main">
              <a:ext uri="{FF2B5EF4-FFF2-40B4-BE49-F238E27FC236}">
                <a16:creationId xmlns:a16="http://schemas.microsoft.com/office/drawing/2014/main" id="{25CA28F0-9C55-4569-9E77-1F1A198A5277}"/>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a:t>
            </a:r>
          </a:p>
          <a:p xmlns:a="http://schemas.openxmlformats.org/drawingml/2006/main">
            <a:pPr algn="l">
              <a:defRPr sz="800">
                <a:solidFill>
                  <a:srgbClr val="8EA0B2"/>
                </a:solidFill>
                <a:latin typeface="Arial"/>
                <a:ea typeface="Arial"/>
                <a:cs typeface="Arial"/>
              </a:defRPr>
            </a:pPr>
            <a:r>
              <a:t>Trigger · Weekly milestone review; escalate on any missed week-2 or week-4 gate.</a:t>
            </a:r>
          </a:p>
        </p:txBody>
      </p:sp>
      <p:sp>
        <p:nvSpPr>
          <p:cNvPr id="38" name="">
            <a:extLst xmlns:a="http://schemas.openxmlformats.org/drawingml/2006/main">
              <a:ext uri="{FF2B5EF4-FFF2-40B4-BE49-F238E27FC236}">
                <a16:creationId xmlns:a16="http://schemas.microsoft.com/office/drawing/2014/main" id="{AACEB52B-470A-4C74-B9EB-C4A480FB1D0D}"/>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9" name="">
            <a:extLst xmlns:a="http://schemas.openxmlformats.org/drawingml/2006/main">
              <a:ext uri="{FF2B5EF4-FFF2-40B4-BE49-F238E27FC236}">
                <a16:creationId xmlns:a16="http://schemas.microsoft.com/office/drawing/2014/main" id="{6DBCCA58-7D54-418F-9D8E-C80B91246EE2}"/>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to the board if two of the three workstreams miss their first gate.</a:t>
            </a:r>
          </a:p>
        </p:txBody>
      </p:sp>
      <p:sp>
        <p:nvSpPr>
          <p:cNvPr id="40" name="">
            <a:extLst xmlns:a="http://schemas.openxmlformats.org/drawingml/2006/main">
              <a:ext uri="{FF2B5EF4-FFF2-40B4-BE49-F238E27FC236}">
                <a16:creationId xmlns:a16="http://schemas.microsoft.com/office/drawing/2014/main" id="{2D94C534-8A8D-49F3-8322-9073851ACD2E}"/>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DE1BA19-ED11-4955-A564-68B53AFE4293}"/>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2" name="">
            <a:extLst xmlns:a="http://schemas.openxmlformats.org/drawingml/2006/main">
              <a:ext uri="{FF2B5EF4-FFF2-40B4-BE49-F238E27FC236}">
                <a16:creationId xmlns:a16="http://schemas.microsoft.com/office/drawing/2014/main" id="{41B8EC38-3754-47A7-8B50-41DFF1D0025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113</a:t>
            </a:r>
          </a:p>
        </p:txBody>
      </p:sp>
    </p:spTree>
    <p:extLst>
      <p:ext uri="{BB962C8B-B14F-4D97-AF65-F5344CB8AC3E}">
        <p14:creationId xmlns:p14="http://schemas.microsoft.com/office/powerpoint/2010/main" val="1968819861"/>
      </p:ext>
    </p:extLst>
  </p:cSld>
</p:sld>
</file>

<file path=ppt/slides/slide114.xml><?xml version="1.0" encoding="utf-8"?>
<p:sld xmlns:p="http://schemas.openxmlformats.org/presentationml/2006/main">
  <p:cSld>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FC246E05-D196-4978-A1F2-41DFA7B009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60F249-3CD7-49E4-AF2B-06A075EE13E8}"/>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57C5EAF-4D6F-49EF-A021-AC73F49AF252}"/>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P5 · DATED PLAN</a:t>
            </a:r>
          </a:p>
        </p:txBody>
      </p:sp>
      <p:sp>
        <p:nvSpPr>
          <p:cNvPr id="4" name="">
            <a:extLst xmlns:a="http://schemas.openxmlformats.org/drawingml/2006/main">
              <a:ext uri="{FF2B5EF4-FFF2-40B4-BE49-F238E27FC236}">
                <a16:creationId xmlns:a16="http://schemas.microsoft.com/office/drawing/2014/main" id="{977945C5-A7B5-4506-BD00-F928010F8160}"/>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PHASE WIDTH = SPAN IN WEEKS</a:t>
            </a:r>
          </a:p>
        </p:txBody>
      </p:sp>
      <p:sp>
        <p:nvSpPr>
          <p:cNvPr id="5" name="">
            <a:extLst xmlns:a="http://schemas.openxmlformats.org/drawingml/2006/main">
              <a:ext uri="{FF2B5EF4-FFF2-40B4-BE49-F238E27FC236}">
                <a16:creationId xmlns:a16="http://schemas.microsoft.com/office/drawing/2014/main" id="{EA4AB4B6-79BF-41A9-9B79-35EF125BB150}"/>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Evidence-gated quarterly releases: convert pilots into qualification dossier</a:t>
            </a:r>
          </a:p>
        </p:txBody>
      </p:sp>
      <p:sp>
        <p:nvSpPr>
          <p:cNvPr id="6" name="">
            <a:extLst xmlns:a="http://schemas.openxmlformats.org/drawingml/2006/main">
              <a:ext uri="{FF2B5EF4-FFF2-40B4-BE49-F238E27FC236}">
                <a16:creationId xmlns:a16="http://schemas.microsoft.com/office/drawing/2014/main" id="{119947F9-0C44-461E-80B0-BFF2C7A0604A}"/>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2EFF028-D905-4117-8CD5-296CADEB6F30}"/>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How should DeepGrid sequence the next 12 months while accommodating buyer timelines?</a:t>
            </a:r>
          </a:p>
        </p:txBody>
      </p:sp>
      <p:sp>
        <p:nvSpPr>
          <p:cNvPr id="8" name="">
            <a:extLst xmlns:a="http://schemas.openxmlformats.org/drawingml/2006/main">
              <a:ext uri="{FF2B5EF4-FFF2-40B4-BE49-F238E27FC236}">
                <a16:creationId xmlns:a16="http://schemas.microsoft.com/office/drawing/2014/main" id="{7670954D-4CAB-445C-9ED6-62F6EF7F4218}"/>
              </a:ext>
            </a:extLst>
          </p:cNvPr>
          <p:cNvSpPr>
            <a:spLocks xmlns:a="http://schemas.openxmlformats.org/drawingml/2006/main" noGrp="1"/>
          </p:cNvSpPr>
          <p:nvPr/>
        </p:nvSpPr>
        <p:spPr>
          <a:xfrm xmlns:a="http://schemas.openxmlformats.org/drawingml/2006/main">
            <a:off x="457200" y="1006475"/>
            <a:ext cx="11277600" cy="5207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1458814F-A714-4912-A79F-DD6879C62888}"/>
              </a:ext>
            </a:extLst>
          </p:cNvPr>
          <p:cNvSpPr>
            <a:spLocks xmlns:a="http://schemas.openxmlformats.org/drawingml/2006/main" noGrp="1"/>
          </p:cNvSpPr>
          <p:nvPr/>
        </p:nvSpPr>
        <p:spPr>
          <a:xfrm xmlns:a="http://schemas.openxmlformats.org/drawingml/2006/main">
            <a:off x="457200" y="1006475"/>
            <a:ext cx="28575" cy="5207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AF93DE2-BA13-4B95-88E7-E63B54FCFC35}"/>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0AF6B671-09EC-4F45-ABCB-471A3FFB725E}"/>
              </a:ext>
            </a:extLst>
          </p:cNvPr>
          <p:cNvSpPr>
            <a:spLocks xmlns:a="http://schemas.openxmlformats.org/drawingml/2006/main" noGrp="1"/>
          </p:cNvSpPr>
          <p:nvPr/>
        </p:nvSpPr>
        <p:spPr>
          <a:xfrm xmlns:a="http://schemas.openxmlformats.org/drawingml/2006/main">
            <a:off x="581025" y="1222375"/>
            <a:ext cx="1102995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Timing Logic Automotive timing may not follow linear sequence</a:t>
            </a:r>
          </a:p>
        </p:txBody>
      </p:sp>
      <p:sp>
        <p:nvSpPr>
          <p:cNvPr id="12" name="">
            <a:extLst xmlns:a="http://schemas.openxmlformats.org/drawingml/2006/main">
              <a:ext uri="{FF2B5EF4-FFF2-40B4-BE49-F238E27FC236}">
                <a16:creationId xmlns:a16="http://schemas.microsoft.com/office/drawing/2014/main" id="{E2D72575-70BC-4139-BAB7-21F0C9C05AED}"/>
              </a:ext>
            </a:extLst>
          </p:cNvPr>
          <p:cNvSpPr>
            <a:spLocks xmlns:a="http://schemas.openxmlformats.org/drawingml/2006/main" noGrp="1"/>
          </p:cNvSpPr>
          <p:nvPr/>
        </p:nvSpPr>
        <p:spPr>
          <a:xfrm xmlns:a="http://schemas.openxmlformats.org/drawingml/2006/main">
            <a:off x="457200" y="1927225"/>
            <a:ext cx="11277600" cy="2857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621E640-B178-4B62-8B89-8F965691EB51}"/>
              </a:ext>
            </a:extLst>
          </p:cNvPr>
          <p:cNvSpPr>
            <a:spLocks xmlns:a="http://schemas.openxmlformats.org/drawingml/2006/main" noGrp="1"/>
          </p:cNvSpPr>
          <p:nvPr/>
        </p:nvSpPr>
        <p:spPr>
          <a:xfrm xmlns:a="http://schemas.openxmlformats.org/drawingml/2006/main">
            <a:off x="457200" y="1927225"/>
            <a:ext cx="370205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566C243-E796-4B03-9F2C-4D77A197DBE1}"/>
              </a:ext>
            </a:extLst>
          </p:cNvPr>
          <p:cNvSpPr>
            <a:spLocks xmlns:a="http://schemas.openxmlformats.org/drawingml/2006/main" noGrp="1"/>
          </p:cNvSpPr>
          <p:nvPr/>
        </p:nvSpPr>
        <p:spPr>
          <a:xfrm xmlns:a="http://schemas.openxmlformats.org/drawingml/2006/main">
            <a:off x="447675" y="1879600"/>
            <a:ext cx="123825" cy="123825"/>
          </a:xfrm>
          <a:prstGeom xmlns:a="http://schemas.openxmlformats.org/drawingml/2006/main" prst="ellipse">
            <a:avLst/>
          </a:prstGeom>
          <a:solidFill xmlns:a="http://schemas.openxmlformats.org/drawingml/2006/main">
            <a:srgbClr val="04B3C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1EE6535-9DC5-4A8F-8DD0-679566024391}"/>
              </a:ext>
            </a:extLst>
          </p:cNvPr>
          <p:cNvSpPr>
            <a:spLocks xmlns:a="http://schemas.openxmlformats.org/drawingml/2006/main" noGrp="1"/>
          </p:cNvSpPr>
          <p:nvPr/>
        </p:nvSpPr>
        <p:spPr>
          <a:xfrm xmlns:a="http://schemas.openxmlformats.org/drawingml/2006/main">
            <a:off x="609600" y="1698625"/>
            <a:ext cx="35687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Q1</a:t>
            </a:r>
          </a:p>
        </p:txBody>
      </p:sp>
      <p:sp>
        <p:nvSpPr>
          <p:cNvPr id="16" name="">
            <a:extLst xmlns:a="http://schemas.openxmlformats.org/drawingml/2006/main">
              <a:ext uri="{FF2B5EF4-FFF2-40B4-BE49-F238E27FC236}">
                <a16:creationId xmlns:a16="http://schemas.microsoft.com/office/drawing/2014/main" id="{08E5EBBA-14C6-46CD-A27C-E19BE6922DD4}"/>
              </a:ext>
            </a:extLst>
          </p:cNvPr>
          <p:cNvSpPr>
            <a:spLocks xmlns:a="http://schemas.openxmlformats.org/drawingml/2006/main" noGrp="1"/>
          </p:cNvSpPr>
          <p:nvPr/>
        </p:nvSpPr>
        <p:spPr>
          <a:xfrm xmlns:a="http://schemas.openxmlformats.org/drawingml/2006/main">
            <a:off x="609600" y="2060575"/>
            <a:ext cx="3549650" cy="142875"/>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125" b="1">
                <a:solidFill>
                  <a:srgbClr val="FFFFFF"/>
                </a:solidFill>
                <a:latin typeface="Arial"/>
                <a:ea typeface="Arial"/>
                <a:cs typeface="Arial"/>
              </a:defRPr>
            </a:pPr>
            <a:r>
              <a:t>Q1 - Access Gate</a:t>
            </a:r>
          </a:p>
        </p:txBody>
      </p:sp>
      <p:sp>
        <p:nvSpPr>
          <p:cNvPr id="17" name="">
            <a:extLst xmlns:a="http://schemas.openxmlformats.org/drawingml/2006/main">
              <a:ext uri="{FF2B5EF4-FFF2-40B4-BE49-F238E27FC236}">
                <a16:creationId xmlns:a16="http://schemas.microsoft.com/office/drawing/2014/main" id="{E7832341-B21A-49C7-A786-7F6DFF913DF6}"/>
              </a:ext>
            </a:extLst>
          </p:cNvPr>
          <p:cNvSpPr>
            <a:spLocks xmlns:a="http://schemas.openxmlformats.org/drawingml/2006/main" noGrp="1"/>
          </p:cNvSpPr>
          <p:nvPr/>
        </p:nvSpPr>
        <p:spPr>
          <a:xfrm xmlns:a="http://schemas.openxmlformats.org/drawingml/2006/main">
            <a:off x="609600" y="2251075"/>
            <a:ext cx="3530600" cy="1962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Require signed pilots, a vehicle matrix, telemetry rights, an integration partner acceptance, and reproducible dossier.</a:t>
            </a:r>
          </a:p>
        </p:txBody>
      </p:sp>
      <p:sp>
        <p:nvSpPr>
          <p:cNvPr id="18" name="">
            <a:extLst xmlns:a="http://schemas.openxmlformats.org/drawingml/2006/main">
              <a:ext uri="{FF2B5EF4-FFF2-40B4-BE49-F238E27FC236}">
                <a16:creationId xmlns:a16="http://schemas.microsoft.com/office/drawing/2014/main" id="{5A3E8B0C-9570-408E-BB21-889D98976DA9}"/>
              </a:ext>
            </a:extLst>
          </p:cNvPr>
          <p:cNvSpPr>
            <a:spLocks xmlns:a="http://schemas.openxmlformats.org/drawingml/2006/main" noGrp="1"/>
          </p:cNvSpPr>
          <p:nvPr/>
        </p:nvSpPr>
        <p:spPr>
          <a:xfrm xmlns:a="http://schemas.openxmlformats.org/drawingml/2006/main">
            <a:off x="4216400" y="1927225"/>
            <a:ext cx="37020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2795EC8-3D82-4ACA-A993-6A765A2397A7}"/>
              </a:ext>
            </a:extLst>
          </p:cNvPr>
          <p:cNvSpPr>
            <a:spLocks xmlns:a="http://schemas.openxmlformats.org/drawingml/2006/main" noGrp="1"/>
          </p:cNvSpPr>
          <p:nvPr/>
        </p:nvSpPr>
        <p:spPr>
          <a:xfrm xmlns:a="http://schemas.openxmlformats.org/drawingml/2006/main">
            <a:off x="4206875" y="1879600"/>
            <a:ext cx="123825" cy="123825"/>
          </a:xfrm>
          <a:prstGeom xmlns:a="http://schemas.openxmlformats.org/drawingml/2006/main" prst="ellipse">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06B67EA-598A-49A8-80CA-97724BFF9A97}"/>
              </a:ext>
            </a:extLst>
          </p:cNvPr>
          <p:cNvSpPr>
            <a:spLocks xmlns:a="http://schemas.openxmlformats.org/drawingml/2006/main" noGrp="1"/>
          </p:cNvSpPr>
          <p:nvPr/>
        </p:nvSpPr>
        <p:spPr>
          <a:xfrm xmlns:a="http://schemas.openxmlformats.org/drawingml/2006/main">
            <a:off x="4368800" y="1698625"/>
            <a:ext cx="35687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Q2</a:t>
            </a:r>
          </a:p>
        </p:txBody>
      </p:sp>
      <p:sp>
        <p:nvSpPr>
          <p:cNvPr id="21" name="">
            <a:extLst xmlns:a="http://schemas.openxmlformats.org/drawingml/2006/main">
              <a:ext uri="{FF2B5EF4-FFF2-40B4-BE49-F238E27FC236}">
                <a16:creationId xmlns:a16="http://schemas.microsoft.com/office/drawing/2014/main" id="{BC06F0EA-6E52-425B-A29F-F7F8F4659A56}"/>
              </a:ext>
            </a:extLst>
          </p:cNvPr>
          <p:cNvSpPr>
            <a:spLocks xmlns:a="http://schemas.openxmlformats.org/drawingml/2006/main" noGrp="1"/>
          </p:cNvSpPr>
          <p:nvPr/>
        </p:nvSpPr>
        <p:spPr>
          <a:xfrm xmlns:a="http://schemas.openxmlformats.org/drawingml/2006/main">
            <a:off x="4368800" y="2060575"/>
            <a:ext cx="3549650" cy="142875"/>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125" b="1">
                <a:solidFill>
                  <a:srgbClr val="FFFFFF"/>
                </a:solidFill>
                <a:latin typeface="Arial"/>
                <a:ea typeface="Arial"/>
                <a:cs typeface="Arial"/>
              </a:defRPr>
            </a:pPr>
            <a:r>
              <a:t>Q2 - Characterisation Gate</a:t>
            </a:r>
          </a:p>
        </p:txBody>
      </p:sp>
      <p:sp>
        <p:nvSpPr>
          <p:cNvPr id="22" name="">
            <a:extLst xmlns:a="http://schemas.openxmlformats.org/drawingml/2006/main">
              <a:ext uri="{FF2B5EF4-FFF2-40B4-BE49-F238E27FC236}">
                <a16:creationId xmlns:a16="http://schemas.microsoft.com/office/drawing/2014/main" id="{389B0CC8-640E-4B51-A1B9-D5AE25E0E519}"/>
              </a:ext>
            </a:extLst>
          </p:cNvPr>
          <p:cNvSpPr>
            <a:spLocks xmlns:a="http://schemas.openxmlformats.org/drawingml/2006/main" noGrp="1"/>
          </p:cNvSpPr>
          <p:nvPr/>
        </p:nvSpPr>
        <p:spPr>
          <a:xfrm xmlns:a="http://schemas.openxmlformats.org/drawingml/2006/main">
            <a:off x="4368800" y="2251075"/>
            <a:ext cx="3530600" cy="1962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Require ARAI/ICAT track work, scenario coverage, a nuisance-event corpus, DGS001 interface proof.</a:t>
            </a:r>
          </a:p>
        </p:txBody>
      </p:sp>
      <p:sp>
        <p:nvSpPr>
          <p:cNvPr id="23" name="">
            <a:extLst xmlns:a="http://schemas.openxmlformats.org/drawingml/2006/main">
              <a:ext uri="{FF2B5EF4-FFF2-40B4-BE49-F238E27FC236}">
                <a16:creationId xmlns:a16="http://schemas.microsoft.com/office/drawing/2014/main" id="{6CC737D1-8A66-4309-A25A-4BD18401D327}"/>
              </a:ext>
            </a:extLst>
          </p:cNvPr>
          <p:cNvSpPr>
            <a:spLocks xmlns:a="http://schemas.openxmlformats.org/drawingml/2006/main" noGrp="1"/>
          </p:cNvSpPr>
          <p:nvPr/>
        </p:nvSpPr>
        <p:spPr>
          <a:xfrm xmlns:a="http://schemas.openxmlformats.org/drawingml/2006/main">
            <a:off x="7975600" y="1927225"/>
            <a:ext cx="3702050"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9E784BD-2B35-427F-A2F9-F7FB11A3B3EC}"/>
              </a:ext>
            </a:extLst>
          </p:cNvPr>
          <p:cNvSpPr>
            <a:spLocks xmlns:a="http://schemas.openxmlformats.org/drawingml/2006/main" noGrp="1"/>
          </p:cNvSpPr>
          <p:nvPr/>
        </p:nvSpPr>
        <p:spPr>
          <a:xfrm xmlns:a="http://schemas.openxmlformats.org/drawingml/2006/main">
            <a:off x="7966075" y="1879600"/>
            <a:ext cx="123825" cy="123825"/>
          </a:xfrm>
          <a:prstGeom xmlns:a="http://schemas.openxmlformats.org/drawingml/2006/main" prst="ellipse">
            <a:avLst/>
          </a:prstGeom>
          <a:solidFill xmlns:a="http://schemas.openxmlformats.org/drawingml/2006/main">
            <a:srgbClr val="1BA27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3D0AB15-D231-4F8A-9057-5131B4E34FCB}"/>
              </a:ext>
            </a:extLst>
          </p:cNvPr>
          <p:cNvSpPr>
            <a:spLocks xmlns:a="http://schemas.openxmlformats.org/drawingml/2006/main" noGrp="1"/>
          </p:cNvSpPr>
          <p:nvPr/>
        </p:nvSpPr>
        <p:spPr>
          <a:xfrm xmlns:a="http://schemas.openxmlformats.org/drawingml/2006/main">
            <a:off x="8128000" y="1698625"/>
            <a:ext cx="35687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Q3</a:t>
            </a:r>
          </a:p>
        </p:txBody>
      </p:sp>
      <p:sp>
        <p:nvSpPr>
          <p:cNvPr id="26" name="">
            <a:extLst xmlns:a="http://schemas.openxmlformats.org/drawingml/2006/main">
              <a:ext uri="{FF2B5EF4-FFF2-40B4-BE49-F238E27FC236}">
                <a16:creationId xmlns:a16="http://schemas.microsoft.com/office/drawing/2014/main" id="{7C41DB6A-B3D3-452A-ADEA-BA42A85A64B7}"/>
              </a:ext>
            </a:extLst>
          </p:cNvPr>
          <p:cNvSpPr>
            <a:spLocks xmlns:a="http://schemas.openxmlformats.org/drawingml/2006/main" noGrp="1"/>
          </p:cNvSpPr>
          <p:nvPr/>
        </p:nvSpPr>
        <p:spPr>
          <a:xfrm xmlns:a="http://schemas.openxmlformats.org/drawingml/2006/main">
            <a:off x="8128000" y="2060575"/>
            <a:ext cx="3549650" cy="142875"/>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125" b="1">
                <a:solidFill>
                  <a:srgbClr val="FFFFFF"/>
                </a:solidFill>
                <a:latin typeface="Arial"/>
                <a:ea typeface="Arial"/>
                <a:cs typeface="Arial"/>
              </a:defRPr>
            </a:pPr>
            <a:r>
              <a:t>Q3-Q4 - Nomination Gate</a:t>
            </a:r>
          </a:p>
        </p:txBody>
      </p:sp>
      <p:sp>
        <p:nvSpPr>
          <p:cNvPr id="27" name="">
            <a:extLst xmlns:a="http://schemas.openxmlformats.org/drawingml/2006/main">
              <a:ext uri="{FF2B5EF4-FFF2-40B4-BE49-F238E27FC236}">
                <a16:creationId xmlns:a16="http://schemas.microsoft.com/office/drawing/2014/main" id="{93E9708F-D7CB-4289-B0D0-E6A1BDFAB423}"/>
              </a:ext>
            </a:extLst>
          </p:cNvPr>
          <p:cNvSpPr>
            <a:spLocks xmlns:a="http://schemas.openxmlformats.org/drawingml/2006/main" noGrp="1"/>
          </p:cNvSpPr>
          <p:nvPr/>
        </p:nvSpPr>
        <p:spPr>
          <a:xfrm xmlns:a="http://schemas.openxmlformats.org/drawingml/2006/main">
            <a:off x="8128000" y="2251075"/>
            <a:ext cx="3530600" cy="1962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Require automotive-quality and safety work products, partner vehicle validation, and a nomination dossier.</a:t>
            </a:r>
          </a:p>
        </p:txBody>
      </p:sp>
      <p:sp>
        <p:nvSpPr>
          <p:cNvPr id="28" name="">
            <a:extLst xmlns:a="http://schemas.openxmlformats.org/drawingml/2006/main">
              <a:ext uri="{FF2B5EF4-FFF2-40B4-BE49-F238E27FC236}">
                <a16:creationId xmlns:a16="http://schemas.microsoft.com/office/drawing/2014/main" id="{499452C6-A53A-4B56-B44D-5B5DAA10A748}"/>
              </a:ext>
            </a:extLst>
          </p:cNvPr>
          <p:cNvSpPr>
            <a:spLocks xmlns:a="http://schemas.openxmlformats.org/drawingml/2006/main" noGrp="1"/>
          </p:cNvSpPr>
          <p:nvPr/>
        </p:nvSpPr>
        <p:spPr>
          <a:xfrm xmlns:a="http://schemas.openxmlformats.org/drawingml/2006/main">
            <a:off x="457200" y="4289425"/>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9" name="">
            <a:extLst xmlns:a="http://schemas.openxmlformats.org/drawingml/2006/main">
              <a:ext uri="{FF2B5EF4-FFF2-40B4-BE49-F238E27FC236}">
                <a16:creationId xmlns:a16="http://schemas.microsoft.com/office/drawing/2014/main" id="{4349C2A0-2089-4446-9171-810179FFAEFC}"/>
              </a:ext>
            </a:extLst>
          </p:cNvPr>
          <p:cNvSpPr>
            <a:spLocks xmlns:a="http://schemas.openxmlformats.org/drawingml/2006/main" noGrp="1"/>
          </p:cNvSpPr>
          <p:nvPr/>
        </p:nvSpPr>
        <p:spPr>
          <a:xfrm xmlns:a="http://schemas.openxmlformats.org/drawingml/2006/main">
            <a:off x="457200" y="428942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F243F91-08B3-4418-A2C0-2AAFC8B1A367}"/>
              </a:ext>
            </a:extLst>
          </p:cNvPr>
          <p:cNvSpPr>
            <a:spLocks xmlns:a="http://schemas.openxmlformats.org/drawingml/2006/main" noGrp="1"/>
          </p:cNvSpPr>
          <p:nvPr/>
        </p:nvSpPr>
        <p:spPr>
          <a:xfrm xmlns:a="http://schemas.openxmlformats.org/drawingml/2006/main">
            <a:off x="581025" y="43561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THE PLAN STOPS IF</a:t>
            </a:r>
          </a:p>
        </p:txBody>
      </p:sp>
      <p:sp>
        <p:nvSpPr>
          <p:cNvPr id="31" name="">
            <a:extLst xmlns:a="http://schemas.openxmlformats.org/drawingml/2006/main">
              <a:ext uri="{FF2B5EF4-FFF2-40B4-BE49-F238E27FC236}">
                <a16:creationId xmlns:a16="http://schemas.microsoft.com/office/drawing/2014/main" id="{76CDE5D2-2E87-4300-9FD1-1E3843682B8F}"/>
              </a:ext>
            </a:extLst>
          </p:cNvPr>
          <p:cNvSpPr>
            <a:spLocks xmlns:a="http://schemas.openxmlformats.org/drawingml/2006/main" noGrp="1"/>
          </p:cNvSpPr>
          <p:nvPr/>
        </p:nvSpPr>
        <p:spPr>
          <a:xfrm xmlns:a="http://schemas.openxmlformats.org/drawingml/2006/main">
            <a:off x="581025" y="45053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ASIC funding in any quarter where the access gate has not closed.</a:t>
            </a:r>
          </a:p>
        </p:txBody>
      </p:sp>
      <p:sp>
        <p:nvSpPr>
          <p:cNvPr id="32" name="">
            <a:extLst xmlns:a="http://schemas.openxmlformats.org/drawingml/2006/main">
              <a:ext uri="{FF2B5EF4-FFF2-40B4-BE49-F238E27FC236}">
                <a16:creationId xmlns:a16="http://schemas.microsoft.com/office/drawing/2014/main" id="{41316FC4-97D2-498E-8FB6-E832949B0986}"/>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AA2ADA6-2248-4A7B-AF49-D656C92C213A}"/>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ED87D8BA-F1D8-482C-B506-E69C49347A6C}"/>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5" name="">
            <a:extLst xmlns:a="http://schemas.openxmlformats.org/drawingml/2006/main">
              <a:ext uri="{FF2B5EF4-FFF2-40B4-BE49-F238E27FC236}">
                <a16:creationId xmlns:a16="http://schemas.microsoft.com/office/drawing/2014/main" id="{BEE1CA3D-F033-4028-B5A4-AB62D8BD800B}"/>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Adopt quarterly gates with ASIC funding conditional</a:t>
            </a:r>
          </a:p>
        </p:txBody>
      </p:sp>
      <p:sp>
        <p:nvSpPr>
          <p:cNvPr id="36" name="">
            <a:extLst xmlns:a="http://schemas.openxmlformats.org/drawingml/2006/main">
              <a:ext uri="{FF2B5EF4-FFF2-40B4-BE49-F238E27FC236}">
                <a16:creationId xmlns:a16="http://schemas.microsoft.com/office/drawing/2014/main" id="{FD37C548-E845-45E5-95A1-501F804984C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7" name="">
            <a:extLst xmlns:a="http://schemas.openxmlformats.org/drawingml/2006/main">
              <a:ext uri="{FF2B5EF4-FFF2-40B4-BE49-F238E27FC236}">
                <a16:creationId xmlns:a16="http://schemas.microsoft.com/office/drawing/2014/main" id="{1B49FFE5-FFB4-48EE-B4E0-1FE305E6FCB9}"/>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 with CFO</a:t>
            </a:r>
          </a:p>
          <a:p xmlns:a="http://schemas.openxmlformats.org/drawingml/2006/main">
            <a:pPr algn="l">
              <a:defRPr sz="800">
                <a:solidFill>
                  <a:srgbClr val="8EA0B2"/>
                </a:solidFill>
                <a:latin typeface="Arial"/>
                <a:ea typeface="Arial"/>
                <a:cs typeface="Arial"/>
              </a:defRPr>
            </a:pPr>
            <a:r>
              <a:t>Trigger · Quarterly gate review; ASIC funding released only on gate closure.</a:t>
            </a:r>
          </a:p>
        </p:txBody>
      </p:sp>
      <p:sp>
        <p:nvSpPr>
          <p:cNvPr id="38" name="">
            <a:extLst xmlns:a="http://schemas.openxmlformats.org/drawingml/2006/main">
              <a:ext uri="{FF2B5EF4-FFF2-40B4-BE49-F238E27FC236}">
                <a16:creationId xmlns:a16="http://schemas.microsoft.com/office/drawing/2014/main" id="{E8D5C7AD-F4DC-401E-BA24-449471711916}"/>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9" name="">
            <a:extLst xmlns:a="http://schemas.openxmlformats.org/drawingml/2006/main">
              <a:ext uri="{FF2B5EF4-FFF2-40B4-BE49-F238E27FC236}">
                <a16:creationId xmlns:a16="http://schemas.microsoft.com/office/drawing/2014/main" id="{BA6BA54A-465E-4C3D-B9F6-52E0CDC2DF8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ASIC funding in any quarter where the access gate has not closed.</a:t>
            </a:r>
          </a:p>
        </p:txBody>
      </p:sp>
      <p:sp>
        <p:nvSpPr>
          <p:cNvPr id="40" name="">
            <a:extLst xmlns:a="http://schemas.openxmlformats.org/drawingml/2006/main">
              <a:ext uri="{FF2B5EF4-FFF2-40B4-BE49-F238E27FC236}">
                <a16:creationId xmlns:a16="http://schemas.microsoft.com/office/drawing/2014/main" id="{AE5E7262-162D-4CEF-910A-0CE90A4894D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D2A99AD4-79D0-4B02-9644-07F4CABFD08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2" name="">
            <a:extLst xmlns:a="http://schemas.openxmlformats.org/drawingml/2006/main">
              <a:ext uri="{FF2B5EF4-FFF2-40B4-BE49-F238E27FC236}">
                <a16:creationId xmlns:a16="http://schemas.microsoft.com/office/drawing/2014/main" id="{96DA7D6F-4C8F-40DF-90D3-7F7882E4174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114</a:t>
            </a:r>
          </a:p>
        </p:txBody>
      </p:sp>
    </p:spTree>
    <p:extLst>
      <p:ext uri="{BB962C8B-B14F-4D97-AF65-F5344CB8AC3E}">
        <p14:creationId xmlns:p14="http://schemas.microsoft.com/office/powerpoint/2010/main" val="87816419"/>
      </p:ext>
    </p:extLst>
  </p:cSld>
</p:sld>
</file>

<file path=ppt/slides/slide115.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80907F39-93B9-4530-8D57-6E46854D10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3AAEC78-4333-4DF8-8F91-EFBE76395387}"/>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2F2D084-96BB-4B77-8599-88D74F2E9935}"/>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9DA5164C-EB77-4310-B137-845A39A2B1A4}"/>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4EDD0733-9653-45C3-8E75-B1BD7ADC7B10}"/>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Stand-up a six-signal, source-owned competitive war room</a:t>
            </a:r>
          </a:p>
        </p:txBody>
      </p:sp>
      <p:sp>
        <p:nvSpPr>
          <p:cNvPr id="6" name="">
            <a:extLst xmlns:a="http://schemas.openxmlformats.org/drawingml/2006/main">
              <a:ext uri="{FF2B5EF4-FFF2-40B4-BE49-F238E27FC236}">
                <a16:creationId xmlns:a16="http://schemas.microsoft.com/office/drawing/2014/main" id="{42A6CB4D-1A46-4872-87E8-5116646CFF84}"/>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0508E13-7123-46F4-BDCA-B0CE61DDD900}"/>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How should DeepGrid convert competitor activity into timely bid and pricing decisions?</a:t>
            </a:r>
          </a:p>
        </p:txBody>
      </p:sp>
      <p:sp>
        <p:nvSpPr>
          <p:cNvPr id="8" name="">
            <a:extLst xmlns:a="http://schemas.openxmlformats.org/drawingml/2006/main">
              <a:ext uri="{FF2B5EF4-FFF2-40B4-BE49-F238E27FC236}">
                <a16:creationId xmlns:a16="http://schemas.microsoft.com/office/drawing/2014/main" id="{0EC6BE63-6053-4654-89AD-AFB2080E4EE4}"/>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A0F5C4D5-D2A2-470B-9C45-1F2642EB8A8A}"/>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37435A9-00BF-491B-A962-E39090FE8606}"/>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4C5AB2E8-4E82-4D7A-994E-420661E8D037}"/>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Stand up six monitored signals — OEM nominations, product releases, assurance artifacts, tender records, pricing evidence and operating claims — each with a named primary source and owner, refreshed monthly and before every bid.</a:t>
            </a:r>
          </a:p>
        </p:txBody>
      </p:sp>
      <p:sp>
        <p:nvSpPr>
          <p:cNvPr id="12" name="">
            <a:extLst xmlns:a="http://schemas.openxmlformats.org/drawingml/2006/main">
              <a:ext uri="{FF2B5EF4-FFF2-40B4-BE49-F238E27FC236}">
                <a16:creationId xmlns:a16="http://schemas.microsoft.com/office/drawing/2014/main" id="{75C902C1-1E1B-454F-A64F-7F5BB01F8AE4}"/>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5DB56E4C-7BFC-4B23-AAD0-C6CD1F10C43B}"/>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1AE83FA-D68F-4D04-8E62-2177DA01ACBF}"/>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9B405429-C6E1-42A9-84CF-877502E2C3A3}"/>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COMMERCIAL SIGNALS</a:t>
            </a:r>
          </a:p>
        </p:txBody>
      </p:sp>
      <p:sp>
        <p:nvSpPr>
          <p:cNvPr id="16" name="">
            <a:extLst xmlns:a="http://schemas.openxmlformats.org/drawingml/2006/main">
              <a:ext uri="{FF2B5EF4-FFF2-40B4-BE49-F238E27FC236}">
                <a16:creationId xmlns:a16="http://schemas.microsoft.com/office/drawing/2014/main" id="{42458B34-84F0-47F5-8EF2-094115B3F6A1}"/>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Record named OEM nominations/SOPs, tender or GeM awards and production volumes. OEM nominations/SOPs Tender/GeM awards Production volumes</a:t>
            </a:r>
          </a:p>
        </p:txBody>
      </p:sp>
      <p:sp>
        <p:nvSpPr>
          <p:cNvPr id="17" name="">
            <a:extLst xmlns:a="http://schemas.openxmlformats.org/drawingml/2006/main">
              <a:ext uri="{FF2B5EF4-FFF2-40B4-BE49-F238E27FC236}">
                <a16:creationId xmlns:a16="http://schemas.microsoft.com/office/drawing/2014/main" id="{F948AE77-5398-4418-BFC5-52E42C1F624C}"/>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C39AA6A-6521-4791-88CB-94928395C81C}"/>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CFDED801-808E-4C88-B762-8D5C4C3AF2FB}"/>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5943B62-33BB-4A8A-93D2-3C754DE484E6}"/>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42B92A05-ECA8-4F9D-AB3E-FFA46579D58D}"/>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ASSURANCE SIGNALS</a:t>
            </a:r>
          </a:p>
        </p:txBody>
      </p:sp>
      <p:sp>
        <p:nvSpPr>
          <p:cNvPr id="22" name="">
            <a:extLst xmlns:a="http://schemas.openxmlformats.org/drawingml/2006/main">
              <a:ext uri="{FF2B5EF4-FFF2-40B4-BE49-F238E27FC236}">
                <a16:creationId xmlns:a16="http://schemas.microsoft.com/office/drawing/2014/main" id="{9B33E0A3-E012-4D9C-B3A9-E09EB1CE5F79}"/>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Capture report number, applicant, tested configuration, validation denominator and qualification type. Report number tracking Tested configuration Validation denominator</a:t>
            </a:r>
          </a:p>
        </p:txBody>
      </p:sp>
      <p:sp>
        <p:nvSpPr>
          <p:cNvPr id="23" name="">
            <a:extLst xmlns:a="http://schemas.openxmlformats.org/drawingml/2006/main">
              <a:ext uri="{FF2B5EF4-FFF2-40B4-BE49-F238E27FC236}">
                <a16:creationId xmlns:a16="http://schemas.microsoft.com/office/drawing/2014/main" id="{07B4CACA-3626-44D2-BCCE-9ACB379574F8}"/>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3DDB0EE-E93B-4CE1-985C-DD942E46955A}"/>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D88CA62C-FB45-417B-899C-39F2A324B5C9}"/>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0248306-FB21-414C-A652-C7ED4BA25D2E}"/>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82D68C9B-FD67-4E1A-96A5-C362E14377F4}"/>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OPERATING CADENCE</a:t>
            </a:r>
          </a:p>
        </p:txBody>
      </p:sp>
      <p:sp>
        <p:nvSpPr>
          <p:cNvPr id="28" name="">
            <a:extLst xmlns:a="http://schemas.openxmlformats.org/drawingml/2006/main">
              <a:ext uri="{FF2B5EF4-FFF2-40B4-BE49-F238E27FC236}">
                <a16:creationId xmlns:a16="http://schemas.microsoft.com/office/drawing/2014/main" id="{B418F9AB-3E6E-4D3F-A3FA-440F659CBCAD}"/>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Refresh monthly and before bids; change threat assessments only when primary source updates. Monthly refresh Pre-bid reviews Source verification</a:t>
            </a:r>
          </a:p>
        </p:txBody>
      </p:sp>
      <p:sp>
        <p:nvSpPr>
          <p:cNvPr id="29" name="">
            <a:extLst xmlns:a="http://schemas.openxmlformats.org/drawingml/2006/main">
              <a:ext uri="{FF2B5EF4-FFF2-40B4-BE49-F238E27FC236}">
                <a16:creationId xmlns:a16="http://schemas.microsoft.com/office/drawing/2014/main" id="{931F7B60-006F-44C3-9407-59307FE594A9}"/>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5F24BBE-70E0-41F5-ADDE-B9A3F8793E15}"/>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37B340D8-08F2-4DDA-A605-E667D7498C88}"/>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983766C-674F-43CA-8863-62449B0DA2CD}"/>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E4C0DD45-43DB-4E63-BD8E-652A0F8A82AA}"/>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59818AF6-95E4-4B44-B020-14168E4AC397}"/>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Every monitored signal has a primary source, programme scope, owner and last-reviewed date. Primary source Programme scope Owner assignment</a:t>
            </a:r>
          </a:p>
        </p:txBody>
      </p:sp>
      <p:sp>
        <p:nvSpPr>
          <p:cNvPr id="35" name="">
            <a:extLst xmlns:a="http://schemas.openxmlformats.org/drawingml/2006/main">
              <a:ext uri="{FF2B5EF4-FFF2-40B4-BE49-F238E27FC236}">
                <a16:creationId xmlns:a16="http://schemas.microsoft.com/office/drawing/2014/main" id="{844826BE-C732-4694-BE7A-54429A0A93E8}"/>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1DFB7958-904B-4D89-8AC8-B461DE9C85A8}"/>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1B9755F-6750-4B9C-9DA1-1E831489C11E}"/>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1817B63E-4578-4063-B887-C936D8150069}"/>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competitive surprise is almost always a signal nobody owned. Assigning each signal a primary source and an owner converts monitoring from browsing into a decision input with a cadence.</a:t>
            </a:r>
          </a:p>
        </p:txBody>
      </p:sp>
      <p:sp>
        <p:nvSpPr>
          <p:cNvPr id="39" name="">
            <a:extLst xmlns:a="http://schemas.openxmlformats.org/drawingml/2006/main">
              <a:ext uri="{FF2B5EF4-FFF2-40B4-BE49-F238E27FC236}">
                <a16:creationId xmlns:a16="http://schemas.microsoft.com/office/drawing/2014/main" id="{D4877D0E-CC20-4F35-A37C-A5C601EF958F}"/>
              </a:ext>
            </a:extLst>
          </p:cNvPr>
          <p:cNvSpPr>
            <a:spLocks xmlns:a="http://schemas.openxmlformats.org/drawingml/2006/main" noGrp="1"/>
          </p:cNvSpPr>
          <p:nvPr/>
        </p:nvSpPr>
        <p:spPr>
          <a:xfrm xmlns:a="http://schemas.openxmlformats.org/drawingml/2006/main">
            <a:off x="6153150" y="472757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C125BB25-7C7E-4235-AFA0-4DE5584CF52A}"/>
              </a:ext>
            </a:extLst>
          </p:cNvPr>
          <p:cNvSpPr>
            <a:spLocks xmlns:a="http://schemas.openxmlformats.org/drawingml/2006/main" noGrp="1"/>
          </p:cNvSpPr>
          <p:nvPr/>
        </p:nvSpPr>
        <p:spPr>
          <a:xfrm xmlns:a="http://schemas.openxmlformats.org/drawingml/2006/main">
            <a:off x="6153150" y="472757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3830A8CA-FC1F-4BB6-BD78-A667B611AA44}"/>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AD58F221-B1DD-4A09-9C43-A4BB58818556}"/>
              </a:ext>
            </a:extLst>
          </p:cNvPr>
          <p:cNvSpPr>
            <a:spLocks xmlns:a="http://schemas.openxmlformats.org/drawingml/2006/main" noGrp="1"/>
          </p:cNvSpPr>
          <p:nvPr/>
        </p:nvSpPr>
        <p:spPr>
          <a:xfrm xmlns:a="http://schemas.openxmlformats.org/drawingml/2006/main">
            <a:off x="6276975" y="494347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if any signal has no primary source or no named owner.</a:t>
            </a:r>
          </a:p>
        </p:txBody>
      </p:sp>
      <p:sp>
        <p:nvSpPr>
          <p:cNvPr id="43" name="">
            <a:extLst xmlns:a="http://schemas.openxmlformats.org/drawingml/2006/main">
              <a:ext uri="{FF2B5EF4-FFF2-40B4-BE49-F238E27FC236}">
                <a16:creationId xmlns:a16="http://schemas.microsoft.com/office/drawing/2014/main" id="{87427AB1-2FCA-4D02-A351-66C2D8F7E5AD}"/>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63C80D8F-0283-4AE9-967E-F4D543690431}"/>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D2A8646-BDDB-4E63-8A2D-1B295C5D7291}"/>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85C8D158-5AA4-446B-BCAC-555E1A8E12B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Approve the six-signal war room with a named owner per signal.</a:t>
            </a:r>
          </a:p>
        </p:txBody>
      </p:sp>
      <p:sp>
        <p:nvSpPr>
          <p:cNvPr id="47" name="">
            <a:extLst xmlns:a="http://schemas.openxmlformats.org/drawingml/2006/main">
              <a:ext uri="{FF2B5EF4-FFF2-40B4-BE49-F238E27FC236}">
                <a16:creationId xmlns:a16="http://schemas.microsoft.com/office/drawing/2014/main" id="{E16561BE-4ED3-4823-8E8B-5EB1461D4C0B}"/>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8AF35ED0-B681-487C-95DE-E68603587259}"/>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Monthly refresh, plus a mandatory refresh before every bid.</a:t>
            </a:r>
          </a:p>
        </p:txBody>
      </p:sp>
      <p:sp>
        <p:nvSpPr>
          <p:cNvPr id="49" name="">
            <a:extLst xmlns:a="http://schemas.openxmlformats.org/drawingml/2006/main">
              <a:ext uri="{FF2B5EF4-FFF2-40B4-BE49-F238E27FC236}">
                <a16:creationId xmlns:a16="http://schemas.microsoft.com/office/drawing/2014/main" id="{1C6CF3A5-F44B-43CF-B8AE-2ADD23437FFF}"/>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AC999742-9B8F-48AD-8A6A-EA605D0DCF09}"/>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any signal has no primary source or no named owner.</a:t>
            </a:r>
          </a:p>
        </p:txBody>
      </p:sp>
      <p:sp>
        <p:nvSpPr>
          <p:cNvPr id="51" name="">
            <a:extLst xmlns:a="http://schemas.openxmlformats.org/drawingml/2006/main">
              <a:ext uri="{FF2B5EF4-FFF2-40B4-BE49-F238E27FC236}">
                <a16:creationId xmlns:a16="http://schemas.microsoft.com/office/drawing/2014/main" id="{CCA1DA6F-9ABE-4844-B6DF-2746E362077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A943312B-60E6-47BA-82FD-818EAF4B353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04C1F91F-53F1-4AC0-82EE-669993FB672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115</a:t>
            </a:r>
          </a:p>
        </p:txBody>
      </p:sp>
    </p:spTree>
    <p:extLst>
      <p:ext uri="{BB962C8B-B14F-4D97-AF65-F5344CB8AC3E}">
        <p14:creationId xmlns:p14="http://schemas.microsoft.com/office/powerpoint/2010/main" val="1538764630"/>
      </p:ext>
    </p:extLst>
  </p:cSld>
</p:sld>
</file>

<file path=ppt/slides/slide116.xml><?xml version="1.0" encoding="utf-8"?>
<p:sld xmlns:p="http://schemas.openxmlformats.org/presentationml/2006/main">
  <p:cSld>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8274CDD1-2299-4560-A0E6-DC6F951399B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DD23AD-E9F6-4A97-AF6B-A310C2CB2443}"/>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5D686B0-9EB3-4FFC-A178-35B93731D59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P7 · CONFIDENCE REGISTER</a:t>
            </a:r>
          </a:p>
        </p:txBody>
      </p:sp>
      <p:sp>
        <p:nvSpPr>
          <p:cNvPr id="4" name="">
            <a:extLst xmlns:a="http://schemas.openxmlformats.org/drawingml/2006/main">
              <a:ext uri="{FF2B5EF4-FFF2-40B4-BE49-F238E27FC236}">
                <a16:creationId xmlns:a16="http://schemas.microsoft.com/office/drawing/2014/main" id="{E858817E-E8F0-4F26-B130-1A0D1849A738}"/>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DOTS = IMPORTANCE × EVIDENCE</a:t>
            </a:r>
          </a:p>
        </p:txBody>
      </p:sp>
      <p:sp>
        <p:nvSpPr>
          <p:cNvPr id="5" name="">
            <a:extLst xmlns:a="http://schemas.openxmlformats.org/drawingml/2006/main">
              <a:ext uri="{FF2B5EF4-FFF2-40B4-BE49-F238E27FC236}">
                <a16:creationId xmlns:a16="http://schemas.microsoft.com/office/drawing/2014/main" id="{E74F5E47-A317-46A9-939F-982A2E010E12}"/>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Apply evidence-confidence bands to prioritise diligence (high/medium/low)</a:t>
            </a:r>
          </a:p>
        </p:txBody>
      </p:sp>
      <p:sp>
        <p:nvSpPr>
          <p:cNvPr id="6" name="">
            <a:extLst xmlns:a="http://schemas.openxmlformats.org/drawingml/2006/main">
              <a:ext uri="{FF2B5EF4-FFF2-40B4-BE49-F238E27FC236}">
                <a16:creationId xmlns:a16="http://schemas.microsoft.com/office/drawing/2014/main" id="{F537D1AF-59AC-4F43-984C-A119825E1075}"/>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DCE4898-C7D2-4A33-84F6-C1A77BAD0458}"/>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How much confidence should DeepGrid place in competitor evidence now?</a:t>
            </a:r>
          </a:p>
        </p:txBody>
      </p:sp>
      <p:sp>
        <p:nvSpPr>
          <p:cNvPr id="8" name="">
            <a:extLst xmlns:a="http://schemas.openxmlformats.org/drawingml/2006/main">
              <a:ext uri="{FF2B5EF4-FFF2-40B4-BE49-F238E27FC236}">
                <a16:creationId xmlns:a16="http://schemas.microsoft.com/office/drawing/2014/main" id="{ECE23D6B-B2A7-44BB-8EC8-0C62F3951F06}"/>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3891AE9F-50D6-45E2-9997-C2DF6768C914}"/>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3E10414-EA0E-435B-A25A-53780DD265A9}"/>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0E0EBB26-9BCE-44F6-BCF2-6AB893F2B9AD}"/>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mechanism separates realised execution evidence from intent: accountable customer, certification or deployment events change threat ratings. DeepGrid should replace impression-based composites with event-level audit trails and accountable owner assignments.</a:t>
            </a:r>
          </a:p>
        </p:txBody>
      </p:sp>
      <p:sp>
        <p:nvSpPr>
          <p:cNvPr id="12" name="">
            <a:extLst xmlns:a="http://schemas.openxmlformats.org/drawingml/2006/main">
              <a:ext uri="{FF2B5EF4-FFF2-40B4-BE49-F238E27FC236}">
                <a16:creationId xmlns:a16="http://schemas.microsoft.com/office/drawing/2014/main" id="{50DB58A8-6CA0-4848-A6C4-CF96D47472CC}"/>
              </a:ext>
            </a:extLst>
          </p:cNvPr>
          <p:cNvSpPr>
            <a:spLocks xmlns:a="http://schemas.openxmlformats.org/drawingml/2006/main" noGrp="1"/>
          </p:cNvSpPr>
          <p:nvPr/>
        </p:nvSpPr>
        <p:spPr>
          <a:xfrm xmlns:a="http://schemas.openxmlformats.org/drawingml/2006/main">
            <a:off x="457200" y="1841500"/>
            <a:ext cx="11277600" cy="228600"/>
          </a:xfrm>
          <a:prstGeom xmlns:a="http://schemas.openxmlformats.org/drawingml/2006/main" prst="rect">
            <a:avLst/>
          </a:prstGeom>
          <a:solidFill xmlns:a="http://schemas.openxmlformats.org/drawingml/2006/main">
            <a:srgbClr val="E8F0F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903CDBF-ADEC-44FC-93E4-D7843DABF611}"/>
              </a:ext>
            </a:extLst>
          </p:cNvPr>
          <p:cNvSpPr>
            <a:spLocks xmlns:a="http://schemas.openxmlformats.org/drawingml/2006/main" noGrp="1"/>
          </p:cNvSpPr>
          <p:nvPr/>
        </p:nvSpPr>
        <p:spPr>
          <a:xfrm xmlns:a="http://schemas.openxmlformats.org/drawingml/2006/main">
            <a:off x="571500" y="1908175"/>
            <a:ext cx="5864352"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CLAIM</a:t>
            </a:r>
          </a:p>
        </p:txBody>
      </p:sp>
      <p:sp>
        <p:nvSpPr>
          <p:cNvPr id="14" name="">
            <a:extLst xmlns:a="http://schemas.openxmlformats.org/drawingml/2006/main">
              <a:ext uri="{FF2B5EF4-FFF2-40B4-BE49-F238E27FC236}">
                <a16:creationId xmlns:a16="http://schemas.microsoft.com/office/drawing/2014/main" id="{EFD5281C-E844-4941-A92D-E8413C5D1D1D}"/>
              </a:ext>
            </a:extLst>
          </p:cNvPr>
          <p:cNvSpPr>
            <a:spLocks xmlns:a="http://schemas.openxmlformats.org/drawingml/2006/main" noGrp="1"/>
          </p:cNvSpPr>
          <p:nvPr/>
        </p:nvSpPr>
        <p:spPr>
          <a:xfrm xmlns:a="http://schemas.openxmlformats.org/drawingml/2006/main">
            <a:off x="6772656" y="1908175"/>
            <a:ext cx="95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LOAD-BEARING</a:t>
            </a:r>
          </a:p>
        </p:txBody>
      </p:sp>
      <p:sp>
        <p:nvSpPr>
          <p:cNvPr id="15" name="">
            <a:extLst xmlns:a="http://schemas.openxmlformats.org/drawingml/2006/main">
              <a:ext uri="{FF2B5EF4-FFF2-40B4-BE49-F238E27FC236}">
                <a16:creationId xmlns:a16="http://schemas.microsoft.com/office/drawing/2014/main" id="{6C516C0D-CC35-47EF-862B-683F44A7B6B6}"/>
              </a:ext>
            </a:extLst>
          </p:cNvPr>
          <p:cNvSpPr>
            <a:spLocks xmlns:a="http://schemas.openxmlformats.org/drawingml/2006/main" noGrp="1"/>
          </p:cNvSpPr>
          <p:nvPr/>
        </p:nvSpPr>
        <p:spPr>
          <a:xfrm xmlns:a="http://schemas.openxmlformats.org/drawingml/2006/main">
            <a:off x="9028176" y="1908175"/>
            <a:ext cx="95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EVIDENCE</a:t>
            </a:r>
          </a:p>
        </p:txBody>
      </p:sp>
      <p:sp>
        <p:nvSpPr>
          <p:cNvPr id="16" name="">
            <a:extLst xmlns:a="http://schemas.openxmlformats.org/drawingml/2006/main">
              <a:ext uri="{FF2B5EF4-FFF2-40B4-BE49-F238E27FC236}">
                <a16:creationId xmlns:a16="http://schemas.microsoft.com/office/drawing/2014/main" id="{B4F37814-C8F0-426F-A8C3-1F2ED97B44C3}"/>
              </a:ext>
            </a:extLst>
          </p:cNvPr>
          <p:cNvSpPr>
            <a:spLocks xmlns:a="http://schemas.openxmlformats.org/drawingml/2006/main" noGrp="1"/>
          </p:cNvSpPr>
          <p:nvPr/>
        </p:nvSpPr>
        <p:spPr>
          <a:xfrm xmlns:a="http://schemas.openxmlformats.org/drawingml/2006/main">
            <a:off x="457200" y="2070100"/>
            <a:ext cx="1127760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D4CD3FB1-6925-432F-B321-820374978E21}"/>
              </a:ext>
            </a:extLst>
          </p:cNvPr>
          <p:cNvSpPr>
            <a:spLocks xmlns:a="http://schemas.openxmlformats.org/drawingml/2006/main" noGrp="1"/>
          </p:cNvSpPr>
          <p:nvPr/>
        </p:nvSpPr>
        <p:spPr>
          <a:xfrm xmlns:a="http://schemas.openxmlformats.org/drawingml/2006/main">
            <a:off x="457200" y="2070100"/>
            <a:ext cx="28575" cy="90487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512F0F2-8999-4E33-984E-93D515C2C80F}"/>
              </a:ext>
            </a:extLst>
          </p:cNvPr>
          <p:cNvSpPr>
            <a:spLocks xmlns:a="http://schemas.openxmlformats.org/drawingml/2006/main" noGrp="1"/>
          </p:cNvSpPr>
          <p:nvPr/>
        </p:nvSpPr>
        <p:spPr>
          <a:xfrm xmlns:a="http://schemas.openxmlformats.org/drawingml/2006/main">
            <a:off x="571500" y="2155825"/>
            <a:ext cx="5711952" cy="771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Gazette scope, standards definitions, official selections, exchange-filed partnerships, disclosed incumbent programme m…</a:t>
            </a:r>
          </a:p>
        </p:txBody>
      </p:sp>
      <p:sp>
        <p:nvSpPr>
          <p:cNvPr id="19" name="">
            <a:extLst xmlns:a="http://schemas.openxmlformats.org/drawingml/2006/main">
              <a:ext uri="{FF2B5EF4-FFF2-40B4-BE49-F238E27FC236}">
                <a16:creationId xmlns:a16="http://schemas.microsoft.com/office/drawing/2014/main" id="{E8170F9B-4F4B-497D-BD67-A6EC231CEA01}"/>
              </a:ext>
            </a:extLst>
          </p:cNvPr>
          <p:cNvSpPr>
            <a:spLocks xmlns:a="http://schemas.openxmlformats.org/drawingml/2006/main" noGrp="1"/>
          </p:cNvSpPr>
          <p:nvPr/>
        </p:nvSpPr>
        <p:spPr>
          <a:xfrm xmlns:a="http://schemas.openxmlformats.org/drawingml/2006/main">
            <a:off x="6772656" y="247491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68D0DF2-D454-45E9-AF41-A8B41EF8E808}"/>
              </a:ext>
            </a:extLst>
          </p:cNvPr>
          <p:cNvSpPr>
            <a:spLocks xmlns:a="http://schemas.openxmlformats.org/drawingml/2006/main" noGrp="1"/>
          </p:cNvSpPr>
          <p:nvPr/>
        </p:nvSpPr>
        <p:spPr>
          <a:xfrm xmlns:a="http://schemas.openxmlformats.org/drawingml/2006/main">
            <a:off x="6915531" y="247491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9F6673E-D487-4AE2-9E19-6EE748C7148E}"/>
              </a:ext>
            </a:extLst>
          </p:cNvPr>
          <p:cNvSpPr>
            <a:spLocks xmlns:a="http://schemas.openxmlformats.org/drawingml/2006/main" noGrp="1"/>
          </p:cNvSpPr>
          <p:nvPr/>
        </p:nvSpPr>
        <p:spPr>
          <a:xfrm xmlns:a="http://schemas.openxmlformats.org/drawingml/2006/main">
            <a:off x="7058406" y="247491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C928847-F7BE-48D5-8974-4BABDFC6FCB3}"/>
              </a:ext>
            </a:extLst>
          </p:cNvPr>
          <p:cNvSpPr>
            <a:spLocks xmlns:a="http://schemas.openxmlformats.org/drawingml/2006/main" noGrp="1"/>
          </p:cNvSpPr>
          <p:nvPr/>
        </p:nvSpPr>
        <p:spPr>
          <a:xfrm xmlns:a="http://schemas.openxmlformats.org/drawingml/2006/main">
            <a:off x="9028176" y="247491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08A7466-B477-4E9D-B305-774F7C21CBC7}"/>
              </a:ext>
            </a:extLst>
          </p:cNvPr>
          <p:cNvSpPr>
            <a:spLocks xmlns:a="http://schemas.openxmlformats.org/drawingml/2006/main" noGrp="1"/>
          </p:cNvSpPr>
          <p:nvPr/>
        </p:nvSpPr>
        <p:spPr>
          <a:xfrm xmlns:a="http://schemas.openxmlformats.org/drawingml/2006/main">
            <a:off x="9171051" y="247491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7835146-9DE5-4572-B9CE-C10A2F9C09DF}"/>
              </a:ext>
            </a:extLst>
          </p:cNvPr>
          <p:cNvSpPr>
            <a:spLocks xmlns:a="http://schemas.openxmlformats.org/drawingml/2006/main" noGrp="1"/>
          </p:cNvSpPr>
          <p:nvPr/>
        </p:nvSpPr>
        <p:spPr>
          <a:xfrm xmlns:a="http://schemas.openxmlformats.org/drawingml/2006/main">
            <a:off x="9313926" y="247491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F320F01-5362-4F80-862D-2B27C96471AB}"/>
              </a:ext>
            </a:extLst>
          </p:cNvPr>
          <p:cNvSpPr>
            <a:spLocks xmlns:a="http://schemas.openxmlformats.org/drawingml/2006/main" noGrp="1"/>
          </p:cNvSpPr>
          <p:nvPr/>
        </p:nvSpPr>
        <p:spPr>
          <a:xfrm xmlns:a="http://schemas.openxmlformats.org/drawingml/2006/main">
            <a:off x="457200" y="2974975"/>
            <a:ext cx="11277600" cy="9048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6" name="">
            <a:extLst xmlns:a="http://schemas.openxmlformats.org/drawingml/2006/main">
              <a:ext uri="{FF2B5EF4-FFF2-40B4-BE49-F238E27FC236}">
                <a16:creationId xmlns:a16="http://schemas.microsoft.com/office/drawing/2014/main" id="{3CF8160F-E027-485A-BD9F-06E06B9D8A5C}"/>
              </a:ext>
            </a:extLst>
          </p:cNvPr>
          <p:cNvSpPr>
            <a:spLocks xmlns:a="http://schemas.openxmlformats.org/drawingml/2006/main" noGrp="1"/>
          </p:cNvSpPr>
          <p:nvPr/>
        </p:nvSpPr>
        <p:spPr>
          <a:xfrm xmlns:a="http://schemas.openxmlformats.org/drawingml/2006/main">
            <a:off x="457200" y="2974975"/>
            <a:ext cx="28575" cy="9048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2564C13-D612-4643-93CA-77264D979703}"/>
              </a:ext>
            </a:extLst>
          </p:cNvPr>
          <p:cNvSpPr>
            <a:spLocks xmlns:a="http://schemas.openxmlformats.org/drawingml/2006/main" noGrp="1"/>
          </p:cNvSpPr>
          <p:nvPr/>
        </p:nvSpPr>
        <p:spPr>
          <a:xfrm xmlns:a="http://schemas.openxmlformats.org/drawingml/2006/main">
            <a:off x="571500" y="3060700"/>
            <a:ext cx="5711952" cy="771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Roadzen's announced contract, Starkenn functions and STRADVISION footprint require issuer, geography and execution cave…</a:t>
            </a:r>
          </a:p>
        </p:txBody>
      </p:sp>
      <p:sp>
        <p:nvSpPr>
          <p:cNvPr id="28" name="">
            <a:extLst xmlns:a="http://schemas.openxmlformats.org/drawingml/2006/main">
              <a:ext uri="{FF2B5EF4-FFF2-40B4-BE49-F238E27FC236}">
                <a16:creationId xmlns:a16="http://schemas.microsoft.com/office/drawing/2014/main" id="{48AF6997-0181-4250-9214-42F7649CE768}"/>
              </a:ext>
            </a:extLst>
          </p:cNvPr>
          <p:cNvSpPr>
            <a:spLocks xmlns:a="http://schemas.openxmlformats.org/drawingml/2006/main" noGrp="1"/>
          </p:cNvSpPr>
          <p:nvPr/>
        </p:nvSpPr>
        <p:spPr>
          <a:xfrm xmlns:a="http://schemas.openxmlformats.org/drawingml/2006/main">
            <a:off x="6772656" y="3379788"/>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992D812-2ADE-40F9-A18C-B7B5ADCAED61}"/>
              </a:ext>
            </a:extLst>
          </p:cNvPr>
          <p:cNvSpPr>
            <a:spLocks xmlns:a="http://schemas.openxmlformats.org/drawingml/2006/main" noGrp="1"/>
          </p:cNvSpPr>
          <p:nvPr/>
        </p:nvSpPr>
        <p:spPr>
          <a:xfrm xmlns:a="http://schemas.openxmlformats.org/drawingml/2006/main">
            <a:off x="6915531" y="3379788"/>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56A4963-8AA0-4B90-BC21-2C802BEBE181}"/>
              </a:ext>
            </a:extLst>
          </p:cNvPr>
          <p:cNvSpPr>
            <a:spLocks xmlns:a="http://schemas.openxmlformats.org/drawingml/2006/main" noGrp="1"/>
          </p:cNvSpPr>
          <p:nvPr/>
        </p:nvSpPr>
        <p:spPr>
          <a:xfrm xmlns:a="http://schemas.openxmlformats.org/drawingml/2006/main">
            <a:off x="7058406" y="3379788"/>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3605261-47CE-4976-86EB-00432C39F52E}"/>
              </a:ext>
            </a:extLst>
          </p:cNvPr>
          <p:cNvSpPr>
            <a:spLocks xmlns:a="http://schemas.openxmlformats.org/drawingml/2006/main" noGrp="1"/>
          </p:cNvSpPr>
          <p:nvPr/>
        </p:nvSpPr>
        <p:spPr>
          <a:xfrm xmlns:a="http://schemas.openxmlformats.org/drawingml/2006/main">
            <a:off x="9028176" y="3379788"/>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69A9D4F-EDC9-44F6-99DA-651C063D6B8C}"/>
              </a:ext>
            </a:extLst>
          </p:cNvPr>
          <p:cNvSpPr>
            <a:spLocks xmlns:a="http://schemas.openxmlformats.org/drawingml/2006/main" noGrp="1"/>
          </p:cNvSpPr>
          <p:nvPr/>
        </p:nvSpPr>
        <p:spPr>
          <a:xfrm xmlns:a="http://schemas.openxmlformats.org/drawingml/2006/main">
            <a:off x="9171051" y="3379788"/>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5D07528-45CD-46CB-9753-77043BD323E5}"/>
              </a:ext>
            </a:extLst>
          </p:cNvPr>
          <p:cNvSpPr>
            <a:spLocks xmlns:a="http://schemas.openxmlformats.org/drawingml/2006/main" noGrp="1"/>
          </p:cNvSpPr>
          <p:nvPr/>
        </p:nvSpPr>
        <p:spPr>
          <a:xfrm xmlns:a="http://schemas.openxmlformats.org/drawingml/2006/main">
            <a:off x="9313926" y="3379788"/>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4746C1C-3688-40D7-9C6C-E2E20C46C032}"/>
              </a:ext>
            </a:extLst>
          </p:cNvPr>
          <p:cNvSpPr>
            <a:spLocks xmlns:a="http://schemas.openxmlformats.org/drawingml/2006/main" noGrp="1"/>
          </p:cNvSpPr>
          <p:nvPr/>
        </p:nvSpPr>
        <p:spPr>
          <a:xfrm xmlns:a="http://schemas.openxmlformats.org/drawingml/2006/main">
            <a:off x="457200" y="3879850"/>
            <a:ext cx="1127760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D8E2E7"/>
            </a:solidFill>
            <a:prstDash val="solid"/>
          </a:ln>
        </p:spPr>
      </p:sp>
      <p:sp>
        <p:nvSpPr>
          <p:cNvPr id="35" name="">
            <a:extLst xmlns:a="http://schemas.openxmlformats.org/drawingml/2006/main">
              <a:ext uri="{FF2B5EF4-FFF2-40B4-BE49-F238E27FC236}">
                <a16:creationId xmlns:a16="http://schemas.microsoft.com/office/drawing/2014/main" id="{8F42EDBB-ACC5-4B4C-8B3B-C453A56C9111}"/>
              </a:ext>
            </a:extLst>
          </p:cNvPr>
          <p:cNvSpPr>
            <a:spLocks xmlns:a="http://schemas.openxmlformats.org/drawingml/2006/main" noGrp="1"/>
          </p:cNvSpPr>
          <p:nvPr/>
        </p:nvSpPr>
        <p:spPr>
          <a:xfrm xmlns:a="http://schemas.openxmlformats.org/drawingml/2006/main">
            <a:off x="457200" y="3879850"/>
            <a:ext cx="28575" cy="9048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293EB3D8-5F52-403E-BD11-245857E30A14}"/>
              </a:ext>
            </a:extLst>
          </p:cNvPr>
          <p:cNvSpPr>
            <a:spLocks xmlns:a="http://schemas.openxmlformats.org/drawingml/2006/main" noGrp="1"/>
          </p:cNvSpPr>
          <p:nvPr/>
        </p:nvSpPr>
        <p:spPr>
          <a:xfrm xmlns:a="http://schemas.openxmlformats.org/drawingml/2006/main">
            <a:off x="571500" y="3965575"/>
            <a:ext cx="5711952" cy="771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Starkenn scale or revenue mix, Gahan readiness or OEM/TI claims and public competitor pricing lack sufficient evidence.…</a:t>
            </a:r>
          </a:p>
        </p:txBody>
      </p:sp>
      <p:sp>
        <p:nvSpPr>
          <p:cNvPr id="37" name="">
            <a:extLst xmlns:a="http://schemas.openxmlformats.org/drawingml/2006/main">
              <a:ext uri="{FF2B5EF4-FFF2-40B4-BE49-F238E27FC236}">
                <a16:creationId xmlns:a16="http://schemas.microsoft.com/office/drawing/2014/main" id="{39FECD82-7FC1-421C-AD28-8B46740DEFB5}"/>
              </a:ext>
            </a:extLst>
          </p:cNvPr>
          <p:cNvSpPr>
            <a:spLocks xmlns:a="http://schemas.openxmlformats.org/drawingml/2006/main" noGrp="1"/>
          </p:cNvSpPr>
          <p:nvPr/>
        </p:nvSpPr>
        <p:spPr>
          <a:xfrm xmlns:a="http://schemas.openxmlformats.org/drawingml/2006/main">
            <a:off x="6772656" y="4284663"/>
            <a:ext cx="95250" cy="95250"/>
          </a:xfrm>
          <a:prstGeom xmlns:a="http://schemas.openxmlformats.org/drawingml/2006/main" prst="ellipse">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524533D-292E-4D72-93BD-50DE32EDD55C}"/>
              </a:ext>
            </a:extLst>
          </p:cNvPr>
          <p:cNvSpPr>
            <a:spLocks xmlns:a="http://schemas.openxmlformats.org/drawingml/2006/main" noGrp="1"/>
          </p:cNvSpPr>
          <p:nvPr/>
        </p:nvSpPr>
        <p:spPr>
          <a:xfrm xmlns:a="http://schemas.openxmlformats.org/drawingml/2006/main">
            <a:off x="6915531" y="4284663"/>
            <a:ext cx="95250" cy="95250"/>
          </a:xfrm>
          <a:prstGeom xmlns:a="http://schemas.openxmlformats.org/drawingml/2006/main" prst="ellipse">
            <a:avLst/>
          </a:prstGeom>
          <a:solidFill xmlns:a="http://schemas.openxmlformats.org/drawingml/2006/main">
            <a:srgbClr val="C6282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D6A5ECAE-2A42-4A9F-B715-AEA8711DF685}"/>
              </a:ext>
            </a:extLst>
          </p:cNvPr>
          <p:cNvSpPr>
            <a:spLocks xmlns:a="http://schemas.openxmlformats.org/drawingml/2006/main" noGrp="1"/>
          </p:cNvSpPr>
          <p:nvPr/>
        </p:nvSpPr>
        <p:spPr>
          <a:xfrm xmlns:a="http://schemas.openxmlformats.org/drawingml/2006/main">
            <a:off x="7058406" y="4284663"/>
            <a:ext cx="95250" cy="95250"/>
          </a:xfrm>
          <a:prstGeom xmlns:a="http://schemas.openxmlformats.org/drawingml/2006/main" prst="ellipse">
            <a:avLst/>
          </a:prstGeom>
          <a:solidFill xmlns:a="http://schemas.openxmlformats.org/drawingml/2006/main">
            <a:srgbClr val="C6282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F06C2CF9-F096-4430-BD0C-5C861EF82378}"/>
              </a:ext>
            </a:extLst>
          </p:cNvPr>
          <p:cNvSpPr>
            <a:spLocks xmlns:a="http://schemas.openxmlformats.org/drawingml/2006/main" noGrp="1"/>
          </p:cNvSpPr>
          <p:nvPr/>
        </p:nvSpPr>
        <p:spPr>
          <a:xfrm xmlns:a="http://schemas.openxmlformats.org/drawingml/2006/main">
            <a:off x="9028176" y="428466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F2C8733F-F085-460F-B687-F2FAB02B58B0}"/>
              </a:ext>
            </a:extLst>
          </p:cNvPr>
          <p:cNvSpPr>
            <a:spLocks xmlns:a="http://schemas.openxmlformats.org/drawingml/2006/main" noGrp="1"/>
          </p:cNvSpPr>
          <p:nvPr/>
        </p:nvSpPr>
        <p:spPr>
          <a:xfrm xmlns:a="http://schemas.openxmlformats.org/drawingml/2006/main">
            <a:off x="9171051" y="4284663"/>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F0CDD9B3-9879-4862-8E6A-4403B240A8B2}"/>
              </a:ext>
            </a:extLst>
          </p:cNvPr>
          <p:cNvSpPr>
            <a:spLocks xmlns:a="http://schemas.openxmlformats.org/drawingml/2006/main" noGrp="1"/>
          </p:cNvSpPr>
          <p:nvPr/>
        </p:nvSpPr>
        <p:spPr>
          <a:xfrm xmlns:a="http://schemas.openxmlformats.org/drawingml/2006/main">
            <a:off x="9313926" y="4284663"/>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53A05E63-7B30-4E0A-BCDB-DE4B87FB2520}"/>
              </a:ext>
            </a:extLst>
          </p:cNvPr>
          <p:cNvSpPr>
            <a:spLocks xmlns:a="http://schemas.openxmlformats.org/drawingml/2006/main" noGrp="1"/>
          </p:cNvSpPr>
          <p:nvPr/>
        </p:nvSpPr>
        <p:spPr>
          <a:xfrm xmlns:a="http://schemas.openxmlformats.org/drawingml/2006/main">
            <a:off x="457200" y="4899025"/>
            <a:ext cx="5581650" cy="673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4" name="">
            <a:extLst xmlns:a="http://schemas.openxmlformats.org/drawingml/2006/main">
              <a:ext uri="{FF2B5EF4-FFF2-40B4-BE49-F238E27FC236}">
                <a16:creationId xmlns:a16="http://schemas.microsoft.com/office/drawing/2014/main" id="{1488447D-0694-4337-B2F3-AC0989DB5600}"/>
              </a:ext>
            </a:extLst>
          </p:cNvPr>
          <p:cNvSpPr>
            <a:spLocks xmlns:a="http://schemas.openxmlformats.org/drawingml/2006/main" noGrp="1"/>
          </p:cNvSpPr>
          <p:nvPr/>
        </p:nvSpPr>
        <p:spPr>
          <a:xfrm xmlns:a="http://schemas.openxmlformats.org/drawingml/2006/main">
            <a:off x="457200" y="4899025"/>
            <a:ext cx="28575" cy="673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6BADD8E-BB6B-4E2D-A762-EF478088E674}"/>
              </a:ext>
            </a:extLst>
          </p:cNvPr>
          <p:cNvSpPr>
            <a:spLocks xmlns:a="http://schemas.openxmlformats.org/drawingml/2006/main" noGrp="1"/>
          </p:cNvSpPr>
          <p:nvPr/>
        </p:nvSpPr>
        <p:spPr>
          <a:xfrm xmlns:a="http://schemas.openxmlformats.org/drawingml/2006/main">
            <a:off x="581025" y="496570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MAY NOT APPEAR IN CLIENT-FACING MATERIAL</a:t>
            </a:r>
          </a:p>
        </p:txBody>
      </p:sp>
      <p:sp>
        <p:nvSpPr>
          <p:cNvPr id="46" name="">
            <a:extLst xmlns:a="http://schemas.openxmlformats.org/drawingml/2006/main">
              <a:ext uri="{FF2B5EF4-FFF2-40B4-BE49-F238E27FC236}">
                <a16:creationId xmlns:a16="http://schemas.microsoft.com/office/drawing/2014/main" id="{69F453D8-D924-408C-AACF-397FCF4DE3B1}"/>
              </a:ext>
            </a:extLst>
          </p:cNvPr>
          <p:cNvSpPr>
            <a:spLocks xmlns:a="http://schemas.openxmlformats.org/drawingml/2006/main" noGrp="1"/>
          </p:cNvSpPr>
          <p:nvPr/>
        </p:nvSpPr>
        <p:spPr>
          <a:xfrm xmlns:a="http://schemas.openxmlformats.org/drawingml/2006/main">
            <a:off x="581025" y="5114925"/>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Starkenn scale or revenue mix, Gahan readiness or OEM/TI claims and public competitor pricing lack sufficient evidence.…</a:t>
            </a:r>
          </a:p>
        </p:txBody>
      </p:sp>
      <p:sp>
        <p:nvSpPr>
          <p:cNvPr id="47" name="">
            <a:extLst xmlns:a="http://schemas.openxmlformats.org/drawingml/2006/main">
              <a:ext uri="{FF2B5EF4-FFF2-40B4-BE49-F238E27FC236}">
                <a16:creationId xmlns:a16="http://schemas.microsoft.com/office/drawing/2014/main" id="{8B3259F7-C5AA-47D5-BEFC-93BE4C342E53}"/>
              </a:ext>
            </a:extLst>
          </p:cNvPr>
          <p:cNvSpPr>
            <a:spLocks xmlns:a="http://schemas.openxmlformats.org/drawingml/2006/main" noGrp="1"/>
          </p:cNvSpPr>
          <p:nvPr/>
        </p:nvSpPr>
        <p:spPr>
          <a:xfrm xmlns:a="http://schemas.openxmlformats.org/drawingml/2006/main">
            <a:off x="6153150" y="4899025"/>
            <a:ext cx="558165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8" name="">
            <a:extLst xmlns:a="http://schemas.openxmlformats.org/drawingml/2006/main">
              <a:ext uri="{FF2B5EF4-FFF2-40B4-BE49-F238E27FC236}">
                <a16:creationId xmlns:a16="http://schemas.microsoft.com/office/drawing/2014/main" id="{9F73C3B6-6CAA-4400-9D1E-FCF9CA6B5796}"/>
              </a:ext>
            </a:extLst>
          </p:cNvPr>
          <p:cNvSpPr>
            <a:spLocks xmlns:a="http://schemas.openxmlformats.org/drawingml/2006/main" noGrp="1"/>
          </p:cNvSpPr>
          <p:nvPr/>
        </p:nvSpPr>
        <p:spPr>
          <a:xfrm xmlns:a="http://schemas.openxmlformats.org/drawingml/2006/main">
            <a:off x="6153150" y="4899025"/>
            <a:ext cx="28575" cy="4921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354A0723-FF4B-4B9B-B957-A8896A6F4B10}"/>
              </a:ext>
            </a:extLst>
          </p:cNvPr>
          <p:cNvSpPr>
            <a:spLocks xmlns:a="http://schemas.openxmlformats.org/drawingml/2006/main" noGrp="1"/>
          </p:cNvSpPr>
          <p:nvPr/>
        </p:nvSpPr>
        <p:spPr>
          <a:xfrm xmlns:a="http://schemas.openxmlformats.org/drawingml/2006/main">
            <a:off x="6276975" y="496570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PUBLICATION RULE</a:t>
            </a:r>
          </a:p>
        </p:txBody>
      </p:sp>
      <p:sp>
        <p:nvSpPr>
          <p:cNvPr id="50" name="">
            <a:extLst xmlns:a="http://schemas.openxmlformats.org/drawingml/2006/main">
              <a:ext uri="{FF2B5EF4-FFF2-40B4-BE49-F238E27FC236}">
                <a16:creationId xmlns:a16="http://schemas.microsoft.com/office/drawing/2014/main" id="{0717C0E1-262E-4F2A-9147-1DD0E28F2124}"/>
              </a:ext>
            </a:extLst>
          </p:cNvPr>
          <p:cNvSpPr>
            <a:spLocks xmlns:a="http://schemas.openxmlformats.org/drawingml/2006/main" noGrp="1"/>
          </p:cNvSpPr>
          <p:nvPr/>
        </p:nvSpPr>
        <p:spPr>
          <a:xfrm xmlns:a="http://schemas.openxmlformats.org/drawingml/2006/main">
            <a:off x="6276975" y="511492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Stop publishing any low-confidence number in client-facing material.</a:t>
            </a:r>
          </a:p>
        </p:txBody>
      </p:sp>
      <p:sp>
        <p:nvSpPr>
          <p:cNvPr id="51" name="">
            <a:extLst xmlns:a="http://schemas.openxmlformats.org/drawingml/2006/main">
              <a:ext uri="{FF2B5EF4-FFF2-40B4-BE49-F238E27FC236}">
                <a16:creationId xmlns:a16="http://schemas.microsoft.com/office/drawing/2014/main" id="{16DB235D-3D7F-41B0-A63D-5CDD778270EE}"/>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4AC5588C-785E-4AC4-B9D0-0C52D724EF02}"/>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CDE51C6C-29B4-4035-A3EA-D2D47FCA6156}"/>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54" name="">
            <a:extLst xmlns:a="http://schemas.openxmlformats.org/drawingml/2006/main">
              <a:ext uri="{FF2B5EF4-FFF2-40B4-BE49-F238E27FC236}">
                <a16:creationId xmlns:a16="http://schemas.microsoft.com/office/drawing/2014/main" id="{06F4BB43-08DC-4625-96AD-3F06272F1C07}"/>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Apply confidence at statement level and remove unsupported numbers from client-facing materials. Use bands for diligence prioritisation, not as proof. Method:  Tag all…</a:t>
            </a:r>
          </a:p>
        </p:txBody>
      </p:sp>
      <p:sp>
        <p:nvSpPr>
          <p:cNvPr id="55" name="">
            <a:extLst xmlns:a="http://schemas.openxmlformats.org/drawingml/2006/main">
              <a:ext uri="{FF2B5EF4-FFF2-40B4-BE49-F238E27FC236}">
                <a16:creationId xmlns:a16="http://schemas.microsoft.com/office/drawing/2014/main" id="{10F66D3A-B71D-4C07-856E-7B810F0C502D}"/>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56" name="">
            <a:extLst xmlns:a="http://schemas.openxmlformats.org/drawingml/2006/main">
              <a:ext uri="{FF2B5EF4-FFF2-40B4-BE49-F238E27FC236}">
                <a16:creationId xmlns:a16="http://schemas.microsoft.com/office/drawing/2014/main" id="{83000F4C-4C76-4669-AFCB-5AD4EF6F0A1B}"/>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Re-tag all claims at each 90-day review.</a:t>
            </a:r>
          </a:p>
        </p:txBody>
      </p:sp>
      <p:sp>
        <p:nvSpPr>
          <p:cNvPr id="57" name="">
            <a:extLst xmlns:a="http://schemas.openxmlformats.org/drawingml/2006/main">
              <a:ext uri="{FF2B5EF4-FFF2-40B4-BE49-F238E27FC236}">
                <a16:creationId xmlns:a16="http://schemas.microsoft.com/office/drawing/2014/main" id="{79CBCAD3-4586-4E51-A415-E028E7B96FFC}"/>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8" name="">
            <a:extLst xmlns:a="http://schemas.openxmlformats.org/drawingml/2006/main">
              <a:ext uri="{FF2B5EF4-FFF2-40B4-BE49-F238E27FC236}">
                <a16:creationId xmlns:a16="http://schemas.microsoft.com/office/drawing/2014/main" id="{CD1295C0-9EBA-4CEE-B572-FEAD4DE18129}"/>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publishing any low-confidence number in client-facing material.</a:t>
            </a:r>
          </a:p>
        </p:txBody>
      </p:sp>
      <p:sp>
        <p:nvSpPr>
          <p:cNvPr id="59" name="">
            <a:extLst xmlns:a="http://schemas.openxmlformats.org/drawingml/2006/main">
              <a:ext uri="{FF2B5EF4-FFF2-40B4-BE49-F238E27FC236}">
                <a16:creationId xmlns:a16="http://schemas.microsoft.com/office/drawing/2014/main" id="{2FAE2C77-AF29-4D36-B4E1-E6CF534D50F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6E8F6607-22BE-475C-B3F9-1FA14FEAA239}"/>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61" name="">
            <a:extLst xmlns:a="http://schemas.openxmlformats.org/drawingml/2006/main">
              <a:ext uri="{FF2B5EF4-FFF2-40B4-BE49-F238E27FC236}">
                <a16:creationId xmlns:a16="http://schemas.microsoft.com/office/drawing/2014/main" id="{2DFF5254-14AC-4DDC-9891-A491709BC645}"/>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116</a:t>
            </a:r>
          </a:p>
        </p:txBody>
      </p:sp>
    </p:spTree>
    <p:extLst>
      <p:ext uri="{BB962C8B-B14F-4D97-AF65-F5344CB8AC3E}">
        <p14:creationId xmlns:p14="http://schemas.microsoft.com/office/powerpoint/2010/main" val="1698537846"/>
      </p:ext>
    </p:extLst>
  </p:cSld>
</p:sld>
</file>

<file path=ppt/slides/slide117.xml><?xml version="1.0" encoding="utf-8"?>
<p:sld xmlns:p="http://schemas.openxmlformats.org/presentationml/2006/main">
  <p:cSld>
    <p:spTree>
      <p:nvGrpSpPr>
        <p:cNvPr id="1" name=""/>
        <p:cNvGrpSpPr/>
        <p:nvPr/>
      </p:nvGrpSpPr>
      <p:grpSpPr>
        <a:xfrm xmlns:a="http://schemas.openxmlformats.org/drawingml/2006/main"/>
      </p:grpSpPr>
      <p:sp>
        <p:nvSpPr>
          <p:cNvPr id="89" name="">
            <a:extLst xmlns:a="http://schemas.openxmlformats.org/drawingml/2006/main">
              <a:ext uri="{FF2B5EF4-FFF2-40B4-BE49-F238E27FC236}">
                <a16:creationId xmlns:a16="http://schemas.microsoft.com/office/drawing/2014/main" id="{2C60C640-DAA1-4F9B-A8ED-13EE0C71D64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7EF378D-2A43-464E-B643-3BADA49D779E}"/>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97B5DA7-DEE1-4523-9995-18D37BBEE82D}"/>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P7 · CONFIDENCE REGISTER</a:t>
            </a:r>
          </a:p>
        </p:txBody>
      </p:sp>
      <p:sp>
        <p:nvSpPr>
          <p:cNvPr id="4" name="">
            <a:extLst xmlns:a="http://schemas.openxmlformats.org/drawingml/2006/main">
              <a:ext uri="{FF2B5EF4-FFF2-40B4-BE49-F238E27FC236}">
                <a16:creationId xmlns:a16="http://schemas.microsoft.com/office/drawing/2014/main" id="{085E371E-C1F0-48AB-99D6-CFD841DF1AE6}"/>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DOTS = IMPORTANCE × EVIDENCE</a:t>
            </a:r>
          </a:p>
        </p:txBody>
      </p:sp>
      <p:sp>
        <p:nvSpPr>
          <p:cNvPr id="5" name="">
            <a:extLst xmlns:a="http://schemas.openxmlformats.org/drawingml/2006/main">
              <a:ext uri="{FF2B5EF4-FFF2-40B4-BE49-F238E27FC236}">
                <a16:creationId xmlns:a16="http://schemas.microsoft.com/office/drawing/2014/main" id="{380F1031-01FC-4FC4-85C6-152CFB680E43}"/>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Competitive positioning map - verified facts vs. uncertain claims</a:t>
            </a:r>
          </a:p>
        </p:txBody>
      </p:sp>
      <p:sp>
        <p:nvSpPr>
          <p:cNvPr id="6" name="">
            <a:extLst xmlns:a="http://schemas.openxmlformats.org/drawingml/2006/main">
              <a:ext uri="{FF2B5EF4-FFF2-40B4-BE49-F238E27FC236}">
                <a16:creationId xmlns:a16="http://schemas.microsoft.com/office/drawing/2014/main" id="{C4F76891-79C7-47BB-8710-FD08868F3CD4}"/>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EEF67F2-2A2C-40F6-A967-D02C0E198999}"/>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Where should DeepGrid focus monitoring and response based on evidence confidence?</a:t>
            </a:r>
          </a:p>
        </p:txBody>
      </p:sp>
      <p:sp>
        <p:nvSpPr>
          <p:cNvPr id="8" name="">
            <a:extLst xmlns:a="http://schemas.openxmlformats.org/drawingml/2006/main">
              <a:ext uri="{FF2B5EF4-FFF2-40B4-BE49-F238E27FC236}">
                <a16:creationId xmlns:a16="http://schemas.microsoft.com/office/drawing/2014/main" id="{20FE7CB0-DCCD-4181-8128-B79BD0247496}"/>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CF73EDFE-E9B9-493D-BE21-B3583FFF22D4}"/>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06C244C-5252-48E7-831A-3ED7308EF189}"/>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3F4568E3-5042-4214-A3BF-79D81D1B3C43}"/>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Threat rises multiplicatively where control-point ownership and proof coincide. ZF and Aptiv hold both; STRADVISION contests the layer without owning the vehicle; the rest hold one or neither.</a:t>
            </a:r>
          </a:p>
        </p:txBody>
      </p:sp>
      <p:sp>
        <p:nvSpPr>
          <p:cNvPr id="12" name="">
            <a:extLst xmlns:a="http://schemas.openxmlformats.org/drawingml/2006/main">
              <a:ext uri="{FF2B5EF4-FFF2-40B4-BE49-F238E27FC236}">
                <a16:creationId xmlns:a16="http://schemas.microsoft.com/office/drawing/2014/main" id="{92241258-E9B8-40F3-8E3C-9F5B6CB97D63}"/>
              </a:ext>
            </a:extLst>
          </p:cNvPr>
          <p:cNvSpPr>
            <a:spLocks xmlns:a="http://schemas.openxmlformats.org/drawingml/2006/main" noGrp="1"/>
          </p:cNvSpPr>
          <p:nvPr/>
        </p:nvSpPr>
        <p:spPr>
          <a:xfrm xmlns:a="http://schemas.openxmlformats.org/drawingml/2006/main">
            <a:off x="457200" y="1841500"/>
            <a:ext cx="11277600" cy="228600"/>
          </a:xfrm>
          <a:prstGeom xmlns:a="http://schemas.openxmlformats.org/drawingml/2006/main" prst="rect">
            <a:avLst/>
          </a:prstGeom>
          <a:solidFill xmlns:a="http://schemas.openxmlformats.org/drawingml/2006/main">
            <a:srgbClr val="E8F0F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43D0FE5-30B6-47B7-803F-B988E809A911}"/>
              </a:ext>
            </a:extLst>
          </p:cNvPr>
          <p:cNvSpPr>
            <a:spLocks xmlns:a="http://schemas.openxmlformats.org/drawingml/2006/main" noGrp="1"/>
          </p:cNvSpPr>
          <p:nvPr/>
        </p:nvSpPr>
        <p:spPr>
          <a:xfrm xmlns:a="http://schemas.openxmlformats.org/drawingml/2006/main">
            <a:off x="571500" y="1908175"/>
            <a:ext cx="5864352"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CLAIM</a:t>
            </a:r>
          </a:p>
        </p:txBody>
      </p:sp>
      <p:sp>
        <p:nvSpPr>
          <p:cNvPr id="14" name="">
            <a:extLst xmlns:a="http://schemas.openxmlformats.org/drawingml/2006/main">
              <a:ext uri="{FF2B5EF4-FFF2-40B4-BE49-F238E27FC236}">
                <a16:creationId xmlns:a16="http://schemas.microsoft.com/office/drawing/2014/main" id="{6401EF53-11DB-4C46-976B-62A8D6C0F48E}"/>
              </a:ext>
            </a:extLst>
          </p:cNvPr>
          <p:cNvSpPr>
            <a:spLocks xmlns:a="http://schemas.openxmlformats.org/drawingml/2006/main" noGrp="1"/>
          </p:cNvSpPr>
          <p:nvPr/>
        </p:nvSpPr>
        <p:spPr>
          <a:xfrm xmlns:a="http://schemas.openxmlformats.org/drawingml/2006/main">
            <a:off x="6772656" y="1908175"/>
            <a:ext cx="95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LOAD-BEARING</a:t>
            </a:r>
          </a:p>
        </p:txBody>
      </p:sp>
      <p:sp>
        <p:nvSpPr>
          <p:cNvPr id="15" name="">
            <a:extLst xmlns:a="http://schemas.openxmlformats.org/drawingml/2006/main">
              <a:ext uri="{FF2B5EF4-FFF2-40B4-BE49-F238E27FC236}">
                <a16:creationId xmlns:a16="http://schemas.microsoft.com/office/drawing/2014/main" id="{C8B4B371-C116-417C-B8BB-D6F25B4F3E05}"/>
              </a:ext>
            </a:extLst>
          </p:cNvPr>
          <p:cNvSpPr>
            <a:spLocks xmlns:a="http://schemas.openxmlformats.org/drawingml/2006/main" noGrp="1"/>
          </p:cNvSpPr>
          <p:nvPr/>
        </p:nvSpPr>
        <p:spPr>
          <a:xfrm xmlns:a="http://schemas.openxmlformats.org/drawingml/2006/main">
            <a:off x="9028176" y="1908175"/>
            <a:ext cx="95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EVIDENCE</a:t>
            </a:r>
          </a:p>
        </p:txBody>
      </p:sp>
      <p:sp>
        <p:nvSpPr>
          <p:cNvPr id="16" name="">
            <a:extLst xmlns:a="http://schemas.openxmlformats.org/drawingml/2006/main">
              <a:ext uri="{FF2B5EF4-FFF2-40B4-BE49-F238E27FC236}">
                <a16:creationId xmlns:a16="http://schemas.microsoft.com/office/drawing/2014/main" id="{F8921571-3EA2-4055-A162-26BB1D4CB73D}"/>
              </a:ext>
            </a:extLst>
          </p:cNvPr>
          <p:cNvSpPr>
            <a:spLocks xmlns:a="http://schemas.openxmlformats.org/drawingml/2006/main" noGrp="1"/>
          </p:cNvSpPr>
          <p:nvPr/>
        </p:nvSpPr>
        <p:spPr>
          <a:xfrm xmlns:a="http://schemas.openxmlformats.org/drawingml/2006/main">
            <a:off x="457200" y="2070100"/>
            <a:ext cx="112776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D607AC5F-3C3A-4F1B-A53F-6DEA328AA9FD}"/>
              </a:ext>
            </a:extLst>
          </p:cNvPr>
          <p:cNvSpPr>
            <a:spLocks xmlns:a="http://schemas.openxmlformats.org/drawingml/2006/main" noGrp="1"/>
          </p:cNvSpPr>
          <p:nvPr/>
        </p:nvSpPr>
        <p:spPr>
          <a:xfrm xmlns:a="http://schemas.openxmlformats.org/drawingml/2006/main">
            <a:off x="457200" y="2070100"/>
            <a:ext cx="28575" cy="47625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27A5DF5-1E60-4159-9DFE-238C8638FE4F}"/>
              </a:ext>
            </a:extLst>
          </p:cNvPr>
          <p:cNvSpPr>
            <a:spLocks xmlns:a="http://schemas.openxmlformats.org/drawingml/2006/main" noGrp="1"/>
          </p:cNvSpPr>
          <p:nvPr/>
        </p:nvSpPr>
        <p:spPr>
          <a:xfrm xmlns:a="http://schemas.openxmlformats.org/drawingml/2006/main">
            <a:off x="571500" y="2155825"/>
            <a:ext cx="5711952"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Indian CV ADAS nominations, 16-feature suite, India validation</a:t>
            </a:r>
          </a:p>
        </p:txBody>
      </p:sp>
      <p:sp>
        <p:nvSpPr>
          <p:cNvPr id="19" name="">
            <a:extLst xmlns:a="http://schemas.openxmlformats.org/drawingml/2006/main">
              <a:ext uri="{FF2B5EF4-FFF2-40B4-BE49-F238E27FC236}">
                <a16:creationId xmlns:a16="http://schemas.microsoft.com/office/drawing/2014/main" id="{6EDB7268-A28A-44BC-9946-31724ED3FFD3}"/>
              </a:ext>
            </a:extLst>
          </p:cNvPr>
          <p:cNvSpPr>
            <a:spLocks xmlns:a="http://schemas.openxmlformats.org/drawingml/2006/main" noGrp="1"/>
          </p:cNvSpPr>
          <p:nvPr/>
        </p:nvSpPr>
        <p:spPr>
          <a:xfrm xmlns:a="http://schemas.openxmlformats.org/drawingml/2006/main">
            <a:off x="6772656" y="2260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E1115FE-873A-498A-848E-3513440D0B64}"/>
              </a:ext>
            </a:extLst>
          </p:cNvPr>
          <p:cNvSpPr>
            <a:spLocks xmlns:a="http://schemas.openxmlformats.org/drawingml/2006/main" noGrp="1"/>
          </p:cNvSpPr>
          <p:nvPr/>
        </p:nvSpPr>
        <p:spPr>
          <a:xfrm xmlns:a="http://schemas.openxmlformats.org/drawingml/2006/main">
            <a:off x="6915531" y="2260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33DBF80-3096-4401-ABDE-FE714D13BB2F}"/>
              </a:ext>
            </a:extLst>
          </p:cNvPr>
          <p:cNvSpPr>
            <a:spLocks xmlns:a="http://schemas.openxmlformats.org/drawingml/2006/main" noGrp="1"/>
          </p:cNvSpPr>
          <p:nvPr/>
        </p:nvSpPr>
        <p:spPr>
          <a:xfrm xmlns:a="http://schemas.openxmlformats.org/drawingml/2006/main">
            <a:off x="7058406" y="2260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999A451-02FC-47D1-818B-1A4D5553B300}"/>
              </a:ext>
            </a:extLst>
          </p:cNvPr>
          <p:cNvSpPr>
            <a:spLocks xmlns:a="http://schemas.openxmlformats.org/drawingml/2006/main" noGrp="1"/>
          </p:cNvSpPr>
          <p:nvPr/>
        </p:nvSpPr>
        <p:spPr>
          <a:xfrm xmlns:a="http://schemas.openxmlformats.org/drawingml/2006/main">
            <a:off x="9028176" y="2260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84DC02A-6748-464A-AA16-6E5573DDB270}"/>
              </a:ext>
            </a:extLst>
          </p:cNvPr>
          <p:cNvSpPr>
            <a:spLocks xmlns:a="http://schemas.openxmlformats.org/drawingml/2006/main" noGrp="1"/>
          </p:cNvSpPr>
          <p:nvPr/>
        </p:nvSpPr>
        <p:spPr>
          <a:xfrm xmlns:a="http://schemas.openxmlformats.org/drawingml/2006/main">
            <a:off x="9171051" y="2260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BEDC885-77AC-495C-937E-0E4F2753991A}"/>
              </a:ext>
            </a:extLst>
          </p:cNvPr>
          <p:cNvSpPr>
            <a:spLocks xmlns:a="http://schemas.openxmlformats.org/drawingml/2006/main" noGrp="1"/>
          </p:cNvSpPr>
          <p:nvPr/>
        </p:nvSpPr>
        <p:spPr>
          <a:xfrm xmlns:a="http://schemas.openxmlformats.org/drawingml/2006/main">
            <a:off x="9313926" y="2260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8B75CD4-9963-4B3B-B0D5-66AB00D081DF}"/>
              </a:ext>
            </a:extLst>
          </p:cNvPr>
          <p:cNvSpPr>
            <a:spLocks xmlns:a="http://schemas.openxmlformats.org/drawingml/2006/main" noGrp="1"/>
          </p:cNvSpPr>
          <p:nvPr/>
        </p:nvSpPr>
        <p:spPr>
          <a:xfrm xmlns:a="http://schemas.openxmlformats.org/drawingml/2006/main">
            <a:off x="457200" y="2546350"/>
            <a:ext cx="11277600" cy="4762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6" name="">
            <a:extLst xmlns:a="http://schemas.openxmlformats.org/drawingml/2006/main">
              <a:ext uri="{FF2B5EF4-FFF2-40B4-BE49-F238E27FC236}">
                <a16:creationId xmlns:a16="http://schemas.microsoft.com/office/drawing/2014/main" id="{8A5C801E-DF87-4BF2-8F94-2C0572933CC8}"/>
              </a:ext>
            </a:extLst>
          </p:cNvPr>
          <p:cNvSpPr>
            <a:spLocks xmlns:a="http://schemas.openxmlformats.org/drawingml/2006/main" noGrp="1"/>
          </p:cNvSpPr>
          <p:nvPr/>
        </p:nvSpPr>
        <p:spPr>
          <a:xfrm xmlns:a="http://schemas.openxmlformats.org/drawingml/2006/main">
            <a:off x="457200" y="2546350"/>
            <a:ext cx="28575" cy="4762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EBA2471-965A-4636-B195-B47EFC6F99AB}"/>
              </a:ext>
            </a:extLst>
          </p:cNvPr>
          <p:cNvSpPr>
            <a:spLocks xmlns:a="http://schemas.openxmlformats.org/drawingml/2006/main" noGrp="1"/>
          </p:cNvSpPr>
          <p:nvPr/>
        </p:nvSpPr>
        <p:spPr>
          <a:xfrm xmlns:a="http://schemas.openxmlformats.org/drawingml/2006/main">
            <a:off x="571500" y="2632075"/>
            <a:ext cx="5711952"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Controls braking, ECU, validation, homologation</a:t>
            </a:r>
          </a:p>
        </p:txBody>
      </p:sp>
      <p:sp>
        <p:nvSpPr>
          <p:cNvPr id="28" name="">
            <a:extLst xmlns:a="http://schemas.openxmlformats.org/drawingml/2006/main">
              <a:ext uri="{FF2B5EF4-FFF2-40B4-BE49-F238E27FC236}">
                <a16:creationId xmlns:a16="http://schemas.microsoft.com/office/drawing/2014/main" id="{6EF0D691-AC82-4B26-B500-21F3F85B9E7F}"/>
              </a:ext>
            </a:extLst>
          </p:cNvPr>
          <p:cNvSpPr>
            <a:spLocks xmlns:a="http://schemas.openxmlformats.org/drawingml/2006/main" noGrp="1"/>
          </p:cNvSpPr>
          <p:nvPr/>
        </p:nvSpPr>
        <p:spPr>
          <a:xfrm xmlns:a="http://schemas.openxmlformats.org/drawingml/2006/main">
            <a:off x="6772656" y="273685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BC63597-9885-4972-8E62-0311A36EF9D9}"/>
              </a:ext>
            </a:extLst>
          </p:cNvPr>
          <p:cNvSpPr>
            <a:spLocks xmlns:a="http://schemas.openxmlformats.org/drawingml/2006/main" noGrp="1"/>
          </p:cNvSpPr>
          <p:nvPr/>
        </p:nvSpPr>
        <p:spPr>
          <a:xfrm xmlns:a="http://schemas.openxmlformats.org/drawingml/2006/main">
            <a:off x="6915531" y="273685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FEB0F92-4FBD-46CC-BB83-ADB6279C523E}"/>
              </a:ext>
            </a:extLst>
          </p:cNvPr>
          <p:cNvSpPr>
            <a:spLocks xmlns:a="http://schemas.openxmlformats.org/drawingml/2006/main" noGrp="1"/>
          </p:cNvSpPr>
          <p:nvPr/>
        </p:nvSpPr>
        <p:spPr>
          <a:xfrm xmlns:a="http://schemas.openxmlformats.org/drawingml/2006/main">
            <a:off x="7058406" y="273685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6FD9751-CD2D-45F8-A173-3A39C793D320}"/>
              </a:ext>
            </a:extLst>
          </p:cNvPr>
          <p:cNvSpPr>
            <a:spLocks xmlns:a="http://schemas.openxmlformats.org/drawingml/2006/main" noGrp="1"/>
          </p:cNvSpPr>
          <p:nvPr/>
        </p:nvSpPr>
        <p:spPr>
          <a:xfrm xmlns:a="http://schemas.openxmlformats.org/drawingml/2006/main">
            <a:off x="9028176" y="27368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05D7EEB-F570-4766-A7CF-8E84D7B48B55}"/>
              </a:ext>
            </a:extLst>
          </p:cNvPr>
          <p:cNvSpPr>
            <a:spLocks xmlns:a="http://schemas.openxmlformats.org/drawingml/2006/main" noGrp="1"/>
          </p:cNvSpPr>
          <p:nvPr/>
        </p:nvSpPr>
        <p:spPr>
          <a:xfrm xmlns:a="http://schemas.openxmlformats.org/drawingml/2006/main">
            <a:off x="9171051" y="27368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A347823-762C-4CC0-A631-1324B71A5AD2}"/>
              </a:ext>
            </a:extLst>
          </p:cNvPr>
          <p:cNvSpPr>
            <a:spLocks xmlns:a="http://schemas.openxmlformats.org/drawingml/2006/main" noGrp="1"/>
          </p:cNvSpPr>
          <p:nvPr/>
        </p:nvSpPr>
        <p:spPr>
          <a:xfrm xmlns:a="http://schemas.openxmlformats.org/drawingml/2006/main">
            <a:off x="9313926" y="2736850"/>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904E233-9CE9-4ED5-891D-000C481B5906}"/>
              </a:ext>
            </a:extLst>
          </p:cNvPr>
          <p:cNvSpPr>
            <a:spLocks xmlns:a="http://schemas.openxmlformats.org/drawingml/2006/main" noGrp="1"/>
          </p:cNvSpPr>
          <p:nvPr/>
        </p:nvSpPr>
        <p:spPr>
          <a:xfrm xmlns:a="http://schemas.openxmlformats.org/drawingml/2006/main">
            <a:off x="457200" y="3022600"/>
            <a:ext cx="112776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7"/>
            </a:solidFill>
            <a:prstDash val="solid"/>
          </a:ln>
        </p:spPr>
      </p:sp>
      <p:sp>
        <p:nvSpPr>
          <p:cNvPr id="35" name="">
            <a:extLst xmlns:a="http://schemas.openxmlformats.org/drawingml/2006/main">
              <a:ext uri="{FF2B5EF4-FFF2-40B4-BE49-F238E27FC236}">
                <a16:creationId xmlns:a16="http://schemas.microsoft.com/office/drawing/2014/main" id="{935DE0FB-5CEC-48C9-8DC4-3E1241A9D0BA}"/>
              </a:ext>
            </a:extLst>
          </p:cNvPr>
          <p:cNvSpPr>
            <a:spLocks xmlns:a="http://schemas.openxmlformats.org/drawingml/2006/main" noGrp="1"/>
          </p:cNvSpPr>
          <p:nvPr/>
        </p:nvSpPr>
        <p:spPr>
          <a:xfrm xmlns:a="http://schemas.openxmlformats.org/drawingml/2006/main">
            <a:off x="457200" y="3022600"/>
            <a:ext cx="28575" cy="4762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556494B-83F9-460D-AA86-9EDBD88BB775}"/>
              </a:ext>
            </a:extLst>
          </p:cNvPr>
          <p:cNvSpPr>
            <a:spLocks xmlns:a="http://schemas.openxmlformats.org/drawingml/2006/main" noGrp="1"/>
          </p:cNvSpPr>
          <p:nvPr/>
        </p:nvSpPr>
        <p:spPr>
          <a:xfrm xmlns:a="http://schemas.openxmlformats.org/drawingml/2006/main">
            <a:off x="571500" y="3108325"/>
            <a:ext cx="5711952"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Tier-2 vision software, layer-for-layer comparator</a:t>
            </a:r>
          </a:p>
        </p:txBody>
      </p:sp>
      <p:sp>
        <p:nvSpPr>
          <p:cNvPr id="37" name="">
            <a:extLst xmlns:a="http://schemas.openxmlformats.org/drawingml/2006/main">
              <a:ext uri="{FF2B5EF4-FFF2-40B4-BE49-F238E27FC236}">
                <a16:creationId xmlns:a16="http://schemas.microsoft.com/office/drawing/2014/main" id="{92A40454-F728-400F-895F-95B65A753EB7}"/>
              </a:ext>
            </a:extLst>
          </p:cNvPr>
          <p:cNvSpPr>
            <a:spLocks xmlns:a="http://schemas.openxmlformats.org/drawingml/2006/main" noGrp="1"/>
          </p:cNvSpPr>
          <p:nvPr/>
        </p:nvSpPr>
        <p:spPr>
          <a:xfrm xmlns:a="http://schemas.openxmlformats.org/drawingml/2006/main">
            <a:off x="6772656" y="321310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CC8EF37-97A9-430D-AE26-7DF10E80F2A1}"/>
              </a:ext>
            </a:extLst>
          </p:cNvPr>
          <p:cNvSpPr>
            <a:spLocks xmlns:a="http://schemas.openxmlformats.org/drawingml/2006/main" noGrp="1"/>
          </p:cNvSpPr>
          <p:nvPr/>
        </p:nvSpPr>
        <p:spPr>
          <a:xfrm xmlns:a="http://schemas.openxmlformats.org/drawingml/2006/main">
            <a:off x="6915531" y="321310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DA6D924-8B2B-416F-87AD-2B1F89E29A9B}"/>
              </a:ext>
            </a:extLst>
          </p:cNvPr>
          <p:cNvSpPr>
            <a:spLocks xmlns:a="http://schemas.openxmlformats.org/drawingml/2006/main" noGrp="1"/>
          </p:cNvSpPr>
          <p:nvPr/>
        </p:nvSpPr>
        <p:spPr>
          <a:xfrm xmlns:a="http://schemas.openxmlformats.org/drawingml/2006/main">
            <a:off x="7058406" y="3213100"/>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EEF53D15-99E7-4A6C-9B20-0FC0ACF535DC}"/>
              </a:ext>
            </a:extLst>
          </p:cNvPr>
          <p:cNvSpPr>
            <a:spLocks xmlns:a="http://schemas.openxmlformats.org/drawingml/2006/main" noGrp="1"/>
          </p:cNvSpPr>
          <p:nvPr/>
        </p:nvSpPr>
        <p:spPr>
          <a:xfrm xmlns:a="http://schemas.openxmlformats.org/drawingml/2006/main">
            <a:off x="9028176" y="32131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BE805F3-3F6C-4E99-86FB-16CDE0147DA3}"/>
              </a:ext>
            </a:extLst>
          </p:cNvPr>
          <p:cNvSpPr>
            <a:spLocks xmlns:a="http://schemas.openxmlformats.org/drawingml/2006/main" noGrp="1"/>
          </p:cNvSpPr>
          <p:nvPr/>
        </p:nvSpPr>
        <p:spPr>
          <a:xfrm xmlns:a="http://schemas.openxmlformats.org/drawingml/2006/main">
            <a:off x="9171051" y="32131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8A2CFFA7-69F9-4BA1-8E72-7F818ED80551}"/>
              </a:ext>
            </a:extLst>
          </p:cNvPr>
          <p:cNvSpPr>
            <a:spLocks xmlns:a="http://schemas.openxmlformats.org/drawingml/2006/main" noGrp="1"/>
          </p:cNvSpPr>
          <p:nvPr/>
        </p:nvSpPr>
        <p:spPr>
          <a:xfrm xmlns:a="http://schemas.openxmlformats.org/drawingml/2006/main">
            <a:off x="9313926" y="3213100"/>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1A6E13DE-7BDC-427E-8B76-C6DF19DFD011}"/>
              </a:ext>
            </a:extLst>
          </p:cNvPr>
          <p:cNvSpPr>
            <a:spLocks xmlns:a="http://schemas.openxmlformats.org/drawingml/2006/main" noGrp="1"/>
          </p:cNvSpPr>
          <p:nvPr/>
        </p:nvSpPr>
        <p:spPr>
          <a:xfrm xmlns:a="http://schemas.openxmlformats.org/drawingml/2006/main">
            <a:off x="457200" y="3498850"/>
            <a:ext cx="11277600" cy="4762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4" name="">
            <a:extLst xmlns:a="http://schemas.openxmlformats.org/drawingml/2006/main">
              <a:ext uri="{FF2B5EF4-FFF2-40B4-BE49-F238E27FC236}">
                <a16:creationId xmlns:a16="http://schemas.microsoft.com/office/drawing/2014/main" id="{84B5273D-98AF-4B76-8530-6C84D857F843}"/>
              </a:ext>
            </a:extLst>
          </p:cNvPr>
          <p:cNvSpPr>
            <a:spLocks xmlns:a="http://schemas.openxmlformats.org/drawingml/2006/main" noGrp="1"/>
          </p:cNvSpPr>
          <p:nvPr/>
        </p:nvSpPr>
        <p:spPr>
          <a:xfrm xmlns:a="http://schemas.openxmlformats.org/drawingml/2006/main">
            <a:off x="457200" y="3498850"/>
            <a:ext cx="28575" cy="47625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EF07815-479B-4090-89EF-DB77295ED9C4}"/>
              </a:ext>
            </a:extLst>
          </p:cNvPr>
          <p:cNvSpPr>
            <a:spLocks xmlns:a="http://schemas.openxmlformats.org/drawingml/2006/main" noGrp="1"/>
          </p:cNvSpPr>
          <p:nvPr/>
        </p:nvSpPr>
        <p:spPr>
          <a:xfrm xmlns:a="http://schemas.openxmlformats.org/drawingml/2006/main">
            <a:off x="571500" y="3584575"/>
            <a:ext cx="5711952"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~$5.3m (Jun 2026), from ~$2.5m initial revenue across 3,600 e-buses and trucks, up from 3,000 heavy trucks</a:t>
            </a:r>
          </a:p>
        </p:txBody>
      </p:sp>
      <p:sp>
        <p:nvSpPr>
          <p:cNvPr id="46" name="">
            <a:extLst xmlns:a="http://schemas.openxmlformats.org/drawingml/2006/main">
              <a:ext uri="{FF2B5EF4-FFF2-40B4-BE49-F238E27FC236}">
                <a16:creationId xmlns:a16="http://schemas.microsoft.com/office/drawing/2014/main" id="{37AC13D5-6611-4842-B6E4-C6C32BEA1765}"/>
              </a:ext>
            </a:extLst>
          </p:cNvPr>
          <p:cNvSpPr>
            <a:spLocks xmlns:a="http://schemas.openxmlformats.org/drawingml/2006/main" noGrp="1"/>
          </p:cNvSpPr>
          <p:nvPr/>
        </p:nvSpPr>
        <p:spPr>
          <a:xfrm xmlns:a="http://schemas.openxmlformats.org/drawingml/2006/main">
            <a:off x="6772656" y="36893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031D0938-F93F-4344-8A49-33B9D7D1EE4F}"/>
              </a:ext>
            </a:extLst>
          </p:cNvPr>
          <p:cNvSpPr>
            <a:spLocks xmlns:a="http://schemas.openxmlformats.org/drawingml/2006/main" noGrp="1"/>
          </p:cNvSpPr>
          <p:nvPr/>
        </p:nvSpPr>
        <p:spPr>
          <a:xfrm xmlns:a="http://schemas.openxmlformats.org/drawingml/2006/main">
            <a:off x="6915531" y="36893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01E029D9-D772-40FF-AE66-6DC31F8C344D}"/>
              </a:ext>
            </a:extLst>
          </p:cNvPr>
          <p:cNvSpPr>
            <a:spLocks xmlns:a="http://schemas.openxmlformats.org/drawingml/2006/main" noGrp="1"/>
          </p:cNvSpPr>
          <p:nvPr/>
        </p:nvSpPr>
        <p:spPr>
          <a:xfrm xmlns:a="http://schemas.openxmlformats.org/drawingml/2006/main">
            <a:off x="7058406" y="36893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1EECBBA0-E153-4797-BB05-8175C0AF63DE}"/>
              </a:ext>
            </a:extLst>
          </p:cNvPr>
          <p:cNvSpPr>
            <a:spLocks xmlns:a="http://schemas.openxmlformats.org/drawingml/2006/main" noGrp="1"/>
          </p:cNvSpPr>
          <p:nvPr/>
        </p:nvSpPr>
        <p:spPr>
          <a:xfrm xmlns:a="http://schemas.openxmlformats.org/drawingml/2006/main">
            <a:off x="9028176" y="36893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BE20AFF2-06D1-408D-BD6A-65F708A663D1}"/>
              </a:ext>
            </a:extLst>
          </p:cNvPr>
          <p:cNvSpPr>
            <a:spLocks xmlns:a="http://schemas.openxmlformats.org/drawingml/2006/main" noGrp="1"/>
          </p:cNvSpPr>
          <p:nvPr/>
        </p:nvSpPr>
        <p:spPr>
          <a:xfrm xmlns:a="http://schemas.openxmlformats.org/drawingml/2006/main">
            <a:off x="9171051" y="36893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49633E8C-9DE9-4ACC-A0DE-9758E849965C}"/>
              </a:ext>
            </a:extLst>
          </p:cNvPr>
          <p:cNvSpPr>
            <a:spLocks xmlns:a="http://schemas.openxmlformats.org/drawingml/2006/main" noGrp="1"/>
          </p:cNvSpPr>
          <p:nvPr/>
        </p:nvSpPr>
        <p:spPr>
          <a:xfrm xmlns:a="http://schemas.openxmlformats.org/drawingml/2006/main">
            <a:off x="9313926" y="36893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D3C57F13-694E-45A7-8702-C848B72602C3}"/>
              </a:ext>
            </a:extLst>
          </p:cNvPr>
          <p:cNvSpPr>
            <a:spLocks xmlns:a="http://schemas.openxmlformats.org/drawingml/2006/main" noGrp="1"/>
          </p:cNvSpPr>
          <p:nvPr/>
        </p:nvSpPr>
        <p:spPr>
          <a:xfrm xmlns:a="http://schemas.openxmlformats.org/drawingml/2006/main">
            <a:off x="457200" y="3975100"/>
            <a:ext cx="112776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7"/>
            </a:solidFill>
            <a:prstDash val="solid"/>
          </a:ln>
        </p:spPr>
      </p:sp>
      <p:sp>
        <p:nvSpPr>
          <p:cNvPr id="53" name="">
            <a:extLst xmlns:a="http://schemas.openxmlformats.org/drawingml/2006/main">
              <a:ext uri="{FF2B5EF4-FFF2-40B4-BE49-F238E27FC236}">
                <a16:creationId xmlns:a16="http://schemas.microsoft.com/office/drawing/2014/main" id="{A6A632E3-FE2D-45ED-8376-4C6DD9FA144D}"/>
              </a:ext>
            </a:extLst>
          </p:cNvPr>
          <p:cNvSpPr>
            <a:spLocks xmlns:a="http://schemas.openxmlformats.org/drawingml/2006/main" noGrp="1"/>
          </p:cNvSpPr>
          <p:nvPr/>
        </p:nvSpPr>
        <p:spPr>
          <a:xfrm xmlns:a="http://schemas.openxmlformats.org/drawingml/2006/main">
            <a:off x="457200" y="3975100"/>
            <a:ext cx="28575" cy="4762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1B2070BE-AD7B-416C-9182-CC20982FC3E4}"/>
              </a:ext>
            </a:extLst>
          </p:cNvPr>
          <p:cNvSpPr>
            <a:spLocks xmlns:a="http://schemas.openxmlformats.org/drawingml/2006/main" noGrp="1"/>
          </p:cNvSpPr>
          <p:nvPr/>
        </p:nvSpPr>
        <p:spPr>
          <a:xfrm xmlns:a="http://schemas.openxmlformats.org/drawingml/2006/main">
            <a:off x="571500" y="4060825"/>
            <a:ext cx="5711952"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Global CV OEM selection, 40m+ active-safety footprint</a:t>
            </a:r>
          </a:p>
        </p:txBody>
      </p:sp>
      <p:sp>
        <p:nvSpPr>
          <p:cNvPr id="55" name="">
            <a:extLst xmlns:a="http://schemas.openxmlformats.org/drawingml/2006/main">
              <a:ext uri="{FF2B5EF4-FFF2-40B4-BE49-F238E27FC236}">
                <a16:creationId xmlns:a16="http://schemas.microsoft.com/office/drawing/2014/main" id="{5511BD33-C984-4070-A59B-A1129C798A13}"/>
              </a:ext>
            </a:extLst>
          </p:cNvPr>
          <p:cNvSpPr>
            <a:spLocks xmlns:a="http://schemas.openxmlformats.org/drawingml/2006/main" noGrp="1"/>
          </p:cNvSpPr>
          <p:nvPr/>
        </p:nvSpPr>
        <p:spPr>
          <a:xfrm xmlns:a="http://schemas.openxmlformats.org/drawingml/2006/main">
            <a:off x="6772656" y="416560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6CA40211-51FF-4FB2-B15B-8D6D8B4BCDF2}"/>
              </a:ext>
            </a:extLst>
          </p:cNvPr>
          <p:cNvSpPr>
            <a:spLocks xmlns:a="http://schemas.openxmlformats.org/drawingml/2006/main" noGrp="1"/>
          </p:cNvSpPr>
          <p:nvPr/>
        </p:nvSpPr>
        <p:spPr>
          <a:xfrm xmlns:a="http://schemas.openxmlformats.org/drawingml/2006/main">
            <a:off x="6915531" y="416560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5D518902-2E16-4B88-942D-D04619079C00}"/>
              </a:ext>
            </a:extLst>
          </p:cNvPr>
          <p:cNvSpPr>
            <a:spLocks xmlns:a="http://schemas.openxmlformats.org/drawingml/2006/main" noGrp="1"/>
          </p:cNvSpPr>
          <p:nvPr/>
        </p:nvSpPr>
        <p:spPr>
          <a:xfrm xmlns:a="http://schemas.openxmlformats.org/drawingml/2006/main">
            <a:off x="7058406" y="416560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4CFEC8FC-07FB-4053-A99C-A6C5B2AC1D2F}"/>
              </a:ext>
            </a:extLst>
          </p:cNvPr>
          <p:cNvSpPr>
            <a:spLocks xmlns:a="http://schemas.openxmlformats.org/drawingml/2006/main" noGrp="1"/>
          </p:cNvSpPr>
          <p:nvPr/>
        </p:nvSpPr>
        <p:spPr>
          <a:xfrm xmlns:a="http://schemas.openxmlformats.org/drawingml/2006/main">
            <a:off x="9028176" y="4165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9609B964-B724-4E0E-B750-58CEB69AFBEA}"/>
              </a:ext>
            </a:extLst>
          </p:cNvPr>
          <p:cNvSpPr>
            <a:spLocks xmlns:a="http://schemas.openxmlformats.org/drawingml/2006/main" noGrp="1"/>
          </p:cNvSpPr>
          <p:nvPr/>
        </p:nvSpPr>
        <p:spPr>
          <a:xfrm xmlns:a="http://schemas.openxmlformats.org/drawingml/2006/main">
            <a:off x="9171051" y="4165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EF7F1F92-5AAC-4835-8DA2-B882AC820F80}"/>
              </a:ext>
            </a:extLst>
          </p:cNvPr>
          <p:cNvSpPr>
            <a:spLocks xmlns:a="http://schemas.openxmlformats.org/drawingml/2006/main" noGrp="1"/>
          </p:cNvSpPr>
          <p:nvPr/>
        </p:nvSpPr>
        <p:spPr>
          <a:xfrm xmlns:a="http://schemas.openxmlformats.org/drawingml/2006/main">
            <a:off x="9313926" y="4165600"/>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F65E77AD-1A21-463D-BCFA-F1F7D15790E0}"/>
              </a:ext>
            </a:extLst>
          </p:cNvPr>
          <p:cNvSpPr>
            <a:spLocks xmlns:a="http://schemas.openxmlformats.org/drawingml/2006/main" noGrp="1"/>
          </p:cNvSpPr>
          <p:nvPr/>
        </p:nvSpPr>
        <p:spPr>
          <a:xfrm xmlns:a="http://schemas.openxmlformats.org/drawingml/2006/main">
            <a:off x="457200" y="4451350"/>
            <a:ext cx="11277600" cy="4762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62" name="">
            <a:extLst xmlns:a="http://schemas.openxmlformats.org/drawingml/2006/main">
              <a:ext uri="{FF2B5EF4-FFF2-40B4-BE49-F238E27FC236}">
                <a16:creationId xmlns:a16="http://schemas.microsoft.com/office/drawing/2014/main" id="{2E4C3B8A-B79E-4F9B-BE58-C9EE27140A24}"/>
              </a:ext>
            </a:extLst>
          </p:cNvPr>
          <p:cNvSpPr>
            <a:spLocks xmlns:a="http://schemas.openxmlformats.org/drawingml/2006/main" noGrp="1"/>
          </p:cNvSpPr>
          <p:nvPr/>
        </p:nvSpPr>
        <p:spPr>
          <a:xfrm xmlns:a="http://schemas.openxmlformats.org/drawingml/2006/main">
            <a:off x="457200" y="4451350"/>
            <a:ext cx="28575" cy="4762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66BA5061-2C27-4344-8231-B846AB472185}"/>
              </a:ext>
            </a:extLst>
          </p:cNvPr>
          <p:cNvSpPr>
            <a:spLocks xmlns:a="http://schemas.openxmlformats.org/drawingml/2006/main" noGrp="1"/>
          </p:cNvSpPr>
          <p:nvPr/>
        </p:nvSpPr>
        <p:spPr>
          <a:xfrm xmlns:a="http://schemas.openxmlformats.org/drawingml/2006/main">
            <a:off x="571500" y="4537075"/>
            <a:ext cx="5711952"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Radar-camera occupancy concept, TRL-8 claims</a:t>
            </a:r>
          </a:p>
        </p:txBody>
      </p:sp>
      <p:sp>
        <p:nvSpPr>
          <p:cNvPr id="64" name="">
            <a:extLst xmlns:a="http://schemas.openxmlformats.org/drawingml/2006/main">
              <a:ext uri="{FF2B5EF4-FFF2-40B4-BE49-F238E27FC236}">
                <a16:creationId xmlns:a16="http://schemas.microsoft.com/office/drawing/2014/main" id="{539440E3-A0EF-4F14-A5CF-208D13F549BB}"/>
              </a:ext>
            </a:extLst>
          </p:cNvPr>
          <p:cNvSpPr>
            <a:spLocks xmlns:a="http://schemas.openxmlformats.org/drawingml/2006/main" noGrp="1"/>
          </p:cNvSpPr>
          <p:nvPr/>
        </p:nvSpPr>
        <p:spPr>
          <a:xfrm xmlns:a="http://schemas.openxmlformats.org/drawingml/2006/main">
            <a:off x="6772656" y="464185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DAAA5E21-98DA-4077-B447-1987A2631F34}"/>
              </a:ext>
            </a:extLst>
          </p:cNvPr>
          <p:cNvSpPr>
            <a:spLocks xmlns:a="http://schemas.openxmlformats.org/drawingml/2006/main" noGrp="1"/>
          </p:cNvSpPr>
          <p:nvPr/>
        </p:nvSpPr>
        <p:spPr>
          <a:xfrm xmlns:a="http://schemas.openxmlformats.org/drawingml/2006/main">
            <a:off x="6915531" y="464185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1A24F9CE-D2BF-4462-8B5B-8BEE5336FA30}"/>
              </a:ext>
            </a:extLst>
          </p:cNvPr>
          <p:cNvSpPr>
            <a:spLocks xmlns:a="http://schemas.openxmlformats.org/drawingml/2006/main" noGrp="1"/>
          </p:cNvSpPr>
          <p:nvPr/>
        </p:nvSpPr>
        <p:spPr>
          <a:xfrm xmlns:a="http://schemas.openxmlformats.org/drawingml/2006/main">
            <a:off x="7058406" y="4641850"/>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BE707E06-7EAD-4B26-A72E-9229B63E5D98}"/>
              </a:ext>
            </a:extLst>
          </p:cNvPr>
          <p:cNvSpPr>
            <a:spLocks xmlns:a="http://schemas.openxmlformats.org/drawingml/2006/main" noGrp="1"/>
          </p:cNvSpPr>
          <p:nvPr/>
        </p:nvSpPr>
        <p:spPr>
          <a:xfrm xmlns:a="http://schemas.openxmlformats.org/drawingml/2006/main">
            <a:off x="9028176" y="46418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55A25EE9-5C07-4BB6-A82E-26E8F0FF4050}"/>
              </a:ext>
            </a:extLst>
          </p:cNvPr>
          <p:cNvSpPr>
            <a:spLocks xmlns:a="http://schemas.openxmlformats.org/drawingml/2006/main" noGrp="1"/>
          </p:cNvSpPr>
          <p:nvPr/>
        </p:nvSpPr>
        <p:spPr>
          <a:xfrm xmlns:a="http://schemas.openxmlformats.org/drawingml/2006/main">
            <a:off x="9171051" y="46418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3043157A-A0B7-4033-8EBF-CBEDAD3B64D8}"/>
              </a:ext>
            </a:extLst>
          </p:cNvPr>
          <p:cNvSpPr>
            <a:spLocks xmlns:a="http://schemas.openxmlformats.org/drawingml/2006/main" noGrp="1"/>
          </p:cNvSpPr>
          <p:nvPr/>
        </p:nvSpPr>
        <p:spPr>
          <a:xfrm xmlns:a="http://schemas.openxmlformats.org/drawingml/2006/main">
            <a:off x="9313926" y="4641850"/>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C0DD9843-FD16-4927-BF77-D86FC4BB84BA}"/>
              </a:ext>
            </a:extLst>
          </p:cNvPr>
          <p:cNvSpPr>
            <a:spLocks xmlns:a="http://schemas.openxmlformats.org/drawingml/2006/main" noGrp="1"/>
          </p:cNvSpPr>
          <p:nvPr/>
        </p:nvSpPr>
        <p:spPr>
          <a:xfrm xmlns:a="http://schemas.openxmlformats.org/drawingml/2006/main">
            <a:off x="457200" y="5041900"/>
            <a:ext cx="558165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71" name="">
            <a:extLst xmlns:a="http://schemas.openxmlformats.org/drawingml/2006/main">
              <a:ext uri="{FF2B5EF4-FFF2-40B4-BE49-F238E27FC236}">
                <a16:creationId xmlns:a16="http://schemas.microsoft.com/office/drawing/2014/main" id="{816E8AED-D58D-4789-B9AF-2911F34E853A}"/>
              </a:ext>
            </a:extLst>
          </p:cNvPr>
          <p:cNvSpPr>
            <a:spLocks xmlns:a="http://schemas.openxmlformats.org/drawingml/2006/main" noGrp="1"/>
          </p:cNvSpPr>
          <p:nvPr/>
        </p:nvSpPr>
        <p:spPr>
          <a:xfrm xmlns:a="http://schemas.openxmlformats.org/drawingml/2006/main">
            <a:off x="457200" y="504190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761E6660-BEA4-42ED-8AE8-7DE47E4BAC88}"/>
              </a:ext>
            </a:extLst>
          </p:cNvPr>
          <p:cNvSpPr>
            <a:spLocks xmlns:a="http://schemas.openxmlformats.org/drawingml/2006/main" noGrp="1"/>
          </p:cNvSpPr>
          <p:nvPr/>
        </p:nvSpPr>
        <p:spPr>
          <a:xfrm xmlns:a="http://schemas.openxmlformats.org/drawingml/2006/main">
            <a:off x="581025" y="51085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MAY NOT APPEAR IN CLIENT-FACING MATERIAL</a:t>
            </a:r>
          </a:p>
        </p:txBody>
      </p:sp>
      <p:sp>
        <p:nvSpPr>
          <p:cNvPr id="73" name="">
            <a:extLst xmlns:a="http://schemas.openxmlformats.org/drawingml/2006/main">
              <a:ext uri="{FF2B5EF4-FFF2-40B4-BE49-F238E27FC236}">
                <a16:creationId xmlns:a16="http://schemas.microsoft.com/office/drawing/2014/main" id="{164E17B5-562F-40C5-B17D-421C3EC619CC}"/>
              </a:ext>
            </a:extLst>
          </p:cNvPr>
          <p:cNvSpPr>
            <a:spLocks xmlns:a="http://schemas.openxmlformats.org/drawingml/2006/main" noGrp="1"/>
          </p:cNvSpPr>
          <p:nvPr/>
        </p:nvSpPr>
        <p:spPr>
          <a:xfrm xmlns:a="http://schemas.openxmlformats.org/drawingml/2006/main">
            <a:off x="581025" y="52578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t>
            </a:r>
          </a:p>
        </p:txBody>
      </p:sp>
      <p:sp>
        <p:nvSpPr>
          <p:cNvPr id="74" name="">
            <a:extLst xmlns:a="http://schemas.openxmlformats.org/drawingml/2006/main">
              <a:ext uri="{FF2B5EF4-FFF2-40B4-BE49-F238E27FC236}">
                <a16:creationId xmlns:a16="http://schemas.microsoft.com/office/drawing/2014/main" id="{1C7488A3-E095-4057-BCE6-B2135A01AFC0}"/>
              </a:ext>
            </a:extLst>
          </p:cNvPr>
          <p:cNvSpPr>
            <a:spLocks xmlns:a="http://schemas.openxmlformats.org/drawingml/2006/main" noGrp="1"/>
          </p:cNvSpPr>
          <p:nvPr/>
        </p:nvSpPr>
        <p:spPr>
          <a:xfrm xmlns:a="http://schemas.openxmlformats.org/drawingml/2006/main">
            <a:off x="6153150" y="5041900"/>
            <a:ext cx="558165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75" name="">
            <a:extLst xmlns:a="http://schemas.openxmlformats.org/drawingml/2006/main">
              <a:ext uri="{FF2B5EF4-FFF2-40B4-BE49-F238E27FC236}">
                <a16:creationId xmlns:a16="http://schemas.microsoft.com/office/drawing/2014/main" id="{E94CBB14-4B39-48FB-8A7C-96E549C6471A}"/>
              </a:ext>
            </a:extLst>
          </p:cNvPr>
          <p:cNvSpPr>
            <a:spLocks xmlns:a="http://schemas.openxmlformats.org/drawingml/2006/main" noGrp="1"/>
          </p:cNvSpPr>
          <p:nvPr/>
        </p:nvSpPr>
        <p:spPr>
          <a:xfrm xmlns:a="http://schemas.openxmlformats.org/drawingml/2006/main">
            <a:off x="6153150" y="5041900"/>
            <a:ext cx="28575" cy="4921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FE683BEA-9197-49AD-AA9B-F3253C575E88}"/>
              </a:ext>
            </a:extLst>
          </p:cNvPr>
          <p:cNvSpPr>
            <a:spLocks xmlns:a="http://schemas.openxmlformats.org/drawingml/2006/main" noGrp="1"/>
          </p:cNvSpPr>
          <p:nvPr/>
        </p:nvSpPr>
        <p:spPr>
          <a:xfrm xmlns:a="http://schemas.openxmlformats.org/drawingml/2006/main">
            <a:off x="6276975" y="51085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PUBLICATION RULE</a:t>
            </a:r>
          </a:p>
        </p:txBody>
      </p:sp>
      <p:sp>
        <p:nvSpPr>
          <p:cNvPr id="77" name="">
            <a:extLst xmlns:a="http://schemas.openxmlformats.org/drawingml/2006/main">
              <a:ext uri="{FF2B5EF4-FFF2-40B4-BE49-F238E27FC236}">
                <a16:creationId xmlns:a16="http://schemas.microsoft.com/office/drawing/2014/main" id="{DF392195-C57C-47D9-A353-A65C55E9951F}"/>
              </a:ext>
            </a:extLst>
          </p:cNvPr>
          <p:cNvSpPr>
            <a:spLocks xmlns:a="http://schemas.openxmlformats.org/drawingml/2006/main" noGrp="1"/>
          </p:cNvSpPr>
          <p:nvPr/>
        </p:nvSpPr>
        <p:spPr>
          <a:xfrm xmlns:a="http://schemas.openxmlformats.org/drawingml/2006/main">
            <a:off x="6276975" y="52578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Stop allocating response effort to competitors in neither quadrant.</a:t>
            </a:r>
          </a:p>
        </p:txBody>
      </p:sp>
      <p:sp>
        <p:nvSpPr>
          <p:cNvPr id="78" name="">
            <a:extLst xmlns:a="http://schemas.openxmlformats.org/drawingml/2006/main">
              <a:ext uri="{FF2B5EF4-FFF2-40B4-BE49-F238E27FC236}">
                <a16:creationId xmlns:a16="http://schemas.microsoft.com/office/drawing/2014/main" id="{64449A4F-305C-455E-B3F4-BCCEF3883266}"/>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D406DB62-9D1B-43E9-9C96-712D1EEA6997}"/>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40A5A440-D347-4974-B56C-89FD9DC261FD}"/>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81" name="">
            <a:extLst xmlns:a="http://schemas.openxmlformats.org/drawingml/2006/main">
              <a:ext uri="{FF2B5EF4-FFF2-40B4-BE49-F238E27FC236}">
                <a16:creationId xmlns:a16="http://schemas.microsoft.com/office/drawing/2014/main" id="{A4EB0B9A-C0F4-48CA-8853-50B7A05931CA}"/>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Focus monitoring and response on the proof-plus-access quadrant.</a:t>
            </a:r>
          </a:p>
        </p:txBody>
      </p:sp>
      <p:sp>
        <p:nvSpPr>
          <p:cNvPr id="82" name="">
            <a:extLst xmlns:a="http://schemas.openxmlformats.org/drawingml/2006/main">
              <a:ext uri="{FF2B5EF4-FFF2-40B4-BE49-F238E27FC236}">
                <a16:creationId xmlns:a16="http://schemas.microsoft.com/office/drawing/2014/main" id="{D04823AC-1DBB-4012-82CB-5D9184CA56B5}"/>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83" name="">
            <a:extLst xmlns:a="http://schemas.openxmlformats.org/drawingml/2006/main">
              <a:ext uri="{FF2B5EF4-FFF2-40B4-BE49-F238E27FC236}">
                <a16:creationId xmlns:a16="http://schemas.microsoft.com/office/drawing/2014/main" id="{F9213E02-F31C-48CC-9F02-D2753CF4DCA7}"/>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Re-plot the map at each 90-day review.</a:t>
            </a:r>
          </a:p>
        </p:txBody>
      </p:sp>
      <p:sp>
        <p:nvSpPr>
          <p:cNvPr id="84" name="">
            <a:extLst xmlns:a="http://schemas.openxmlformats.org/drawingml/2006/main">
              <a:ext uri="{FF2B5EF4-FFF2-40B4-BE49-F238E27FC236}">
                <a16:creationId xmlns:a16="http://schemas.microsoft.com/office/drawing/2014/main" id="{0548ACA2-8C8B-4FD7-9E8F-0D3EE66B1F34}"/>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85" name="">
            <a:extLst xmlns:a="http://schemas.openxmlformats.org/drawingml/2006/main">
              <a:ext uri="{FF2B5EF4-FFF2-40B4-BE49-F238E27FC236}">
                <a16:creationId xmlns:a16="http://schemas.microsoft.com/office/drawing/2014/main" id="{46C6937F-C5B3-4535-943E-4DD47122DF16}"/>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allocating response effort to competitors in neither quadrant.</a:t>
            </a:r>
          </a:p>
        </p:txBody>
      </p:sp>
      <p:sp>
        <p:nvSpPr>
          <p:cNvPr id="86" name="">
            <a:extLst xmlns:a="http://schemas.openxmlformats.org/drawingml/2006/main">
              <a:ext uri="{FF2B5EF4-FFF2-40B4-BE49-F238E27FC236}">
                <a16:creationId xmlns:a16="http://schemas.microsoft.com/office/drawing/2014/main" id="{56A6A1D1-0288-4E95-B16B-ADBD01107ED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3642961D-4CD9-4B1F-B4FF-3D94AEF2647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88" name="">
            <a:extLst xmlns:a="http://schemas.openxmlformats.org/drawingml/2006/main">
              <a:ext uri="{FF2B5EF4-FFF2-40B4-BE49-F238E27FC236}">
                <a16:creationId xmlns:a16="http://schemas.microsoft.com/office/drawing/2014/main" id="{4CCCE093-00A9-450C-A69F-C5556F77DA37}"/>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117</a:t>
            </a:r>
          </a:p>
        </p:txBody>
      </p:sp>
    </p:spTree>
    <p:extLst>
      <p:ext uri="{BB962C8B-B14F-4D97-AF65-F5344CB8AC3E}">
        <p14:creationId xmlns:p14="http://schemas.microsoft.com/office/powerpoint/2010/main" val="1185678063"/>
      </p:ext>
    </p:extLst>
  </p:cSld>
</p:sld>
</file>

<file path=ppt/slides/slide118.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20F0A597-ECF8-41B8-8B1C-65CDAC4DD0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8969A4B-857D-41EF-9A2C-D242E8592EB5}"/>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0F01BFD-14CD-4341-A767-027628BD5A19}"/>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E0958F46-6E85-4C72-9A05-49F31DDDAB16}"/>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89AA1055-1444-44B4-9861-C12CEAB5C671}"/>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Move threat scores only on auditable evidence events</a:t>
            </a:r>
          </a:p>
        </p:txBody>
      </p:sp>
      <p:sp>
        <p:nvSpPr>
          <p:cNvPr id="6" name="">
            <a:extLst xmlns:a="http://schemas.openxmlformats.org/drawingml/2006/main">
              <a:ext uri="{FF2B5EF4-FFF2-40B4-BE49-F238E27FC236}">
                <a16:creationId xmlns:a16="http://schemas.microsoft.com/office/drawing/2014/main" id="{39A29E68-1EDC-43F2-A0B1-6B0A0A2224F6}"/>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D6B16A2-C181-4304-BD36-A3B1441283BF}"/>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should raise, hold, or lower a competitor threat score?</a:t>
            </a:r>
          </a:p>
        </p:txBody>
      </p:sp>
      <p:sp>
        <p:nvSpPr>
          <p:cNvPr id="8" name="">
            <a:extLst xmlns:a="http://schemas.openxmlformats.org/drawingml/2006/main">
              <a:ext uri="{FF2B5EF4-FFF2-40B4-BE49-F238E27FC236}">
                <a16:creationId xmlns:a16="http://schemas.microsoft.com/office/drawing/2014/main" id="{734D45EF-DB0F-448E-A625-B39425022631}"/>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0053DBF6-3FDD-479C-88DA-823619E80D20}"/>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4FC06CE-633B-40C7-944C-2C4C024747DA}"/>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434832F6-61E6-4FED-AA1F-CE814C8B6411}"/>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A threat score moves only on an auditable event. A named customer-side production award or a primary certificate raises it; a missed SOP or a failed delivery timeline lowers it. Announcements move nothing.</a:t>
            </a:r>
          </a:p>
        </p:txBody>
      </p:sp>
      <p:sp>
        <p:nvSpPr>
          <p:cNvPr id="12" name="">
            <a:extLst xmlns:a="http://schemas.openxmlformats.org/drawingml/2006/main">
              <a:ext uri="{FF2B5EF4-FFF2-40B4-BE49-F238E27FC236}">
                <a16:creationId xmlns:a16="http://schemas.microsoft.com/office/drawing/2014/main" id="{321CE14D-3F21-4043-B7D1-C130117F1503}"/>
              </a:ext>
            </a:extLst>
          </p:cNvPr>
          <p:cNvSpPr>
            <a:spLocks xmlns:a="http://schemas.openxmlformats.org/drawingml/2006/main" noGrp="1"/>
          </p:cNvSpPr>
          <p:nvPr/>
        </p:nvSpPr>
        <p:spPr>
          <a:xfrm xmlns:a="http://schemas.openxmlformats.org/drawingml/2006/main">
            <a:off x="45720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EC08F786-DD1C-4429-A386-F14C60B5F7C7}"/>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62AFB73-CA21-4096-BE1E-8C7D5BB42C71}"/>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5927EF22-8A0A-4C63-B053-0B8DED8E68B4}"/>
              </a:ext>
            </a:extLst>
          </p:cNvPr>
          <p:cNvSpPr>
            <a:spLocks xmlns:a="http://schemas.openxmlformats.org/drawingml/2006/main" noGrp="1"/>
          </p:cNvSpPr>
          <p:nvPr/>
        </p:nvSpPr>
        <p:spPr>
          <a:xfrm xmlns:a="http://schemas.openxmlformats.org/drawingml/2006/main">
            <a:off x="5715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threat score moves only on an auditable event. A named customer-side production award or a primary certificate raises it; a missed SOP or a failed delivery timeline lowers it. Announcements move nothing.</a:t>
            </a:r>
          </a:p>
        </p:txBody>
      </p:sp>
      <p:sp>
        <p:nvSpPr>
          <p:cNvPr id="16" name="">
            <a:extLst xmlns:a="http://schemas.openxmlformats.org/drawingml/2006/main">
              <a:ext uri="{FF2B5EF4-FFF2-40B4-BE49-F238E27FC236}">
                <a16:creationId xmlns:a16="http://schemas.microsoft.com/office/drawing/2014/main" id="{B6E5E797-CFD8-4255-B1B2-4F7675F65551}"/>
              </a:ext>
            </a:extLst>
          </p:cNvPr>
          <p:cNvSpPr>
            <a:spLocks xmlns:a="http://schemas.openxmlformats.org/drawingml/2006/main" noGrp="1"/>
          </p:cNvSpPr>
          <p:nvPr/>
        </p:nvSpPr>
        <p:spPr>
          <a:xfrm xmlns:a="http://schemas.openxmlformats.org/drawingml/2006/main">
            <a:off x="424815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4F4DBEAA-035E-4FB6-85A4-6267DCCC9060}"/>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E367B98-1AAC-4F0E-B1AD-5382965F5BA0}"/>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1389912E-346C-49E1-8F84-60E0250BD868}"/>
              </a:ext>
            </a:extLst>
          </p:cNvPr>
          <p:cNvSpPr>
            <a:spLocks xmlns:a="http://schemas.openxmlformats.org/drawingml/2006/main" noGrp="1"/>
          </p:cNvSpPr>
          <p:nvPr/>
        </p:nvSpPr>
        <p:spPr>
          <a:xfrm xmlns:a="http://schemas.openxmlformats.org/drawingml/2006/main">
            <a:off x="436245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Waiting for auditable events makes the scoring lag the market; a competitor can build a decisive position in the interval between two auditable milestones.</a:t>
            </a:r>
          </a:p>
        </p:txBody>
      </p:sp>
      <p:sp>
        <p:nvSpPr>
          <p:cNvPr id="20" name="">
            <a:extLst xmlns:a="http://schemas.openxmlformats.org/drawingml/2006/main">
              <a:ext uri="{FF2B5EF4-FFF2-40B4-BE49-F238E27FC236}">
                <a16:creationId xmlns:a16="http://schemas.microsoft.com/office/drawing/2014/main" id="{F33C99F6-5EF5-4647-A393-3832C19AEE2C}"/>
              </a:ext>
            </a:extLst>
          </p:cNvPr>
          <p:cNvSpPr>
            <a:spLocks xmlns:a="http://schemas.openxmlformats.org/drawingml/2006/main" noGrp="1"/>
          </p:cNvSpPr>
          <p:nvPr/>
        </p:nvSpPr>
        <p:spPr>
          <a:xfrm xmlns:a="http://schemas.openxmlformats.org/drawingml/2006/main">
            <a:off x="803910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1" name="">
            <a:extLst xmlns:a="http://schemas.openxmlformats.org/drawingml/2006/main">
              <a:ext uri="{FF2B5EF4-FFF2-40B4-BE49-F238E27FC236}">
                <a16:creationId xmlns:a16="http://schemas.microsoft.com/office/drawing/2014/main" id="{CA59A8E6-0E13-41E3-9FA5-79DF8AAFE85C}"/>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C2E1353-70F2-43FB-ADED-284E9125A90E}"/>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ED07C2E6-FBD4-40B5-A99D-8A466C17330C}"/>
              </a:ext>
            </a:extLst>
          </p:cNvPr>
          <p:cNvSpPr>
            <a:spLocks xmlns:a="http://schemas.openxmlformats.org/drawingml/2006/main" noGrp="1"/>
          </p:cNvSpPr>
          <p:nvPr/>
        </p:nvSpPr>
        <p:spPr>
          <a:xfrm xmlns:a="http://schemas.openxmlformats.org/drawingml/2006/main">
            <a:off x="81534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Threat ratings become defensible and reviewable rather than reactive to news.</a:t>
            </a:r>
          </a:p>
        </p:txBody>
      </p:sp>
      <p:sp>
        <p:nvSpPr>
          <p:cNvPr id="24" name="">
            <a:extLst xmlns:a="http://schemas.openxmlformats.org/drawingml/2006/main">
              <a:ext uri="{FF2B5EF4-FFF2-40B4-BE49-F238E27FC236}">
                <a16:creationId xmlns:a16="http://schemas.microsoft.com/office/drawing/2014/main" id="{3F632F63-D881-4988-A122-412904746F27}"/>
              </a:ext>
            </a:extLst>
          </p:cNvPr>
          <p:cNvSpPr>
            <a:spLocks xmlns:a="http://schemas.openxmlformats.org/drawingml/2006/main" noGrp="1"/>
          </p:cNvSpPr>
          <p:nvPr/>
        </p:nvSpPr>
        <p:spPr>
          <a:xfrm xmlns:a="http://schemas.openxmlformats.org/drawingml/2006/main">
            <a:off x="457200" y="4813300"/>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74FC034D-1908-404F-A765-0A8CB53F138A}"/>
              </a:ext>
            </a:extLst>
          </p:cNvPr>
          <p:cNvSpPr>
            <a:spLocks xmlns:a="http://schemas.openxmlformats.org/drawingml/2006/main" noGrp="1"/>
          </p:cNvSpPr>
          <p:nvPr/>
        </p:nvSpPr>
        <p:spPr>
          <a:xfrm xmlns:a="http://schemas.openxmlformats.org/drawingml/2006/main">
            <a:off x="457200" y="48133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9071B09-E4D9-42C3-AF9A-6C8A5E2AC66E}"/>
              </a:ext>
            </a:extLst>
          </p:cNvPr>
          <p:cNvSpPr>
            <a:spLocks xmlns:a="http://schemas.openxmlformats.org/drawingml/2006/main" noGrp="1"/>
          </p:cNvSpPr>
          <p:nvPr/>
        </p:nvSpPr>
        <p:spPr>
          <a:xfrm xmlns:a="http://schemas.openxmlformats.org/drawingml/2006/main">
            <a:off x="581025" y="48799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72398EE3-C2C2-46EF-A2EA-26BA3AC70E46}"/>
              </a:ext>
            </a:extLst>
          </p:cNvPr>
          <p:cNvSpPr>
            <a:spLocks xmlns:a="http://schemas.openxmlformats.org/drawingml/2006/main" noGrp="1"/>
          </p:cNvSpPr>
          <p:nvPr/>
        </p:nvSpPr>
        <p:spPr>
          <a:xfrm xmlns:a="http://schemas.openxmlformats.org/drawingml/2006/main">
            <a:off x="581025" y="50292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Falsified if a competitor's position changes materially without any auditable event occurring.</a:t>
            </a:r>
          </a:p>
        </p:txBody>
      </p:sp>
      <p:sp>
        <p:nvSpPr>
          <p:cNvPr id="28" name="">
            <a:extLst xmlns:a="http://schemas.openxmlformats.org/drawingml/2006/main">
              <a:ext uri="{FF2B5EF4-FFF2-40B4-BE49-F238E27FC236}">
                <a16:creationId xmlns:a16="http://schemas.microsoft.com/office/drawing/2014/main" id="{EA2C19BC-2EA3-4810-81C9-E2730A161A6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244EE23-F73D-4F92-8313-B11913D1C050}"/>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42E5F01-A8D1-4686-A922-5866C8A7CAD8}"/>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AF366D29-B805-42B9-BD60-2856C680A7F9}"/>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Adopt the raise/lower criteria as the only permitted basis for a score change.</a:t>
            </a:r>
          </a:p>
        </p:txBody>
      </p:sp>
      <p:sp>
        <p:nvSpPr>
          <p:cNvPr id="32" name="">
            <a:extLst xmlns:a="http://schemas.openxmlformats.org/drawingml/2006/main">
              <a:ext uri="{FF2B5EF4-FFF2-40B4-BE49-F238E27FC236}">
                <a16:creationId xmlns:a16="http://schemas.microsoft.com/office/drawing/2014/main" id="{DE1E0B7C-73A0-40FD-8CDE-F755E779265B}"/>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A4C7C044-B1B2-4FA2-86F2-E707B264B363}"/>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named production award, primary certificate, missed SOP or delivery failure.</a:t>
            </a:r>
          </a:p>
        </p:txBody>
      </p:sp>
      <p:sp>
        <p:nvSpPr>
          <p:cNvPr id="34" name="">
            <a:extLst xmlns:a="http://schemas.openxmlformats.org/drawingml/2006/main">
              <a:ext uri="{FF2B5EF4-FFF2-40B4-BE49-F238E27FC236}">
                <a16:creationId xmlns:a16="http://schemas.microsoft.com/office/drawing/2014/main" id="{39B56CF8-1B24-4677-A765-72D7ECD51CF5}"/>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BA6FFEBA-17F7-44C8-A936-814E19D813D0}"/>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any score change not tied to a listed evidence event.</a:t>
            </a:r>
          </a:p>
        </p:txBody>
      </p:sp>
      <p:sp>
        <p:nvSpPr>
          <p:cNvPr id="36" name="">
            <a:extLst xmlns:a="http://schemas.openxmlformats.org/drawingml/2006/main">
              <a:ext uri="{FF2B5EF4-FFF2-40B4-BE49-F238E27FC236}">
                <a16:creationId xmlns:a16="http://schemas.microsoft.com/office/drawing/2014/main" id="{12E05484-5D67-479F-9956-8F3CA8CD920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19AEC0A-8B11-48E2-B92A-771A20E525C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03FE29F4-BDFA-437F-8B22-40C8B423B7B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118</a:t>
            </a:r>
          </a:p>
        </p:txBody>
      </p:sp>
    </p:spTree>
    <p:extLst>
      <p:ext uri="{BB962C8B-B14F-4D97-AF65-F5344CB8AC3E}">
        <p14:creationId xmlns:p14="http://schemas.microsoft.com/office/powerpoint/2010/main" val="1740009351"/>
      </p:ext>
    </p:extLst>
  </p:cSld>
</p:sld>
</file>

<file path=ppt/slides/slide119.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E0A5352-F958-4BC5-AC4D-F28A04E2114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FB79892-021C-4FF6-8064-E775CFFA6CB1}"/>
              </a:ext>
            </a:extLst>
          </p:cNvPr>
          <p:cNvSpPr>
            <a:spLocks xmlns:a="http://schemas.openxmlformats.org/drawingml/2006/main" noGrp="1"/>
          </p:cNvSpPr>
          <p:nvPr/>
        </p:nvSpPr>
        <p:spPr>
          <a:xfrm xmlns:a="http://schemas.openxmlformats.org/drawingml/2006/main">
            <a:off x="457200" y="2857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Six questions this deck must survive</a:t>
            </a:r>
          </a:p>
        </p:txBody>
      </p:sp>
      <p:sp>
        <p:nvSpPr>
          <p:cNvPr id="3" name="">
            <a:extLst xmlns:a="http://schemas.openxmlformats.org/drawingml/2006/main">
              <a:ext uri="{FF2B5EF4-FFF2-40B4-BE49-F238E27FC236}">
                <a16:creationId xmlns:a16="http://schemas.microsoft.com/office/drawing/2014/main" id="{88C3A8E3-20C5-4482-BF1E-447AFA0B283E}"/>
              </a:ext>
            </a:extLst>
          </p:cNvPr>
          <p:cNvSpPr>
            <a:spLocks xmlns:a="http://schemas.openxmlformats.org/drawingml/2006/main" noGrp="1"/>
          </p:cNvSpPr>
          <p:nvPr/>
        </p:nvSpPr>
        <p:spPr>
          <a:xfrm xmlns:a="http://schemas.openxmlformats.org/drawingml/2006/main">
            <a:off x="457200" y="7048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4FA968F-50A3-4AAD-9389-5CEAB3E8919E}"/>
              </a:ext>
            </a:extLst>
          </p:cNvPr>
          <p:cNvSpPr>
            <a:spLocks xmlns:a="http://schemas.openxmlformats.org/drawingml/2006/main" noGrp="1"/>
          </p:cNvSpPr>
          <p:nvPr/>
        </p:nvSpPr>
        <p:spPr>
          <a:xfrm xmlns:a="http://schemas.openxmlformats.org/drawingml/2006/main">
            <a:off x="457200" y="800100"/>
            <a:ext cx="11277600" cy="133350"/>
          </a:xfrm>
          <a:prstGeom xmlns:a="http://schemas.openxmlformats.org/drawingml/2006/main" prst="rect">
            <a:avLst/>
          </a:prstGeom>
        </p:spPr>
        <p:txBody>
          <a:bodyPr xmlns:a="http://schemas.openxmlformats.org/drawingml/2006/main" lIns="0" tIns="0" rIns="0" bIns="0" anchor="t">
            <a:normAutofit fontScale="97222"/>
          </a:bodyPr>
          <a:lstStyle xmlns:a="http://schemas.openxmlformats.org/drawingml/2006/main"/>
          <a:p xmlns:a="http://schemas.openxmlformats.org/drawingml/2006/main">
            <a:pPr algn="l">
              <a:defRPr sz="900">
                <a:solidFill>
                  <a:srgbClr val="586270"/>
                </a:solidFill>
                <a:latin typeface="Arial"/>
                <a:ea typeface="Arial"/>
                <a:cs typeface="Arial"/>
              </a:defRPr>
            </a:pPr>
            <a:r>
              <a:t>Answers are on the page, not in the appendix. Each one names the evidence it rests on.</a:t>
            </a:r>
          </a:p>
        </p:txBody>
      </p:sp>
      <p:sp>
        <p:nvSpPr>
          <p:cNvPr id="5" name="">
            <a:extLst xmlns:a="http://schemas.openxmlformats.org/drawingml/2006/main">
              <a:ext uri="{FF2B5EF4-FFF2-40B4-BE49-F238E27FC236}">
                <a16:creationId xmlns:a16="http://schemas.microsoft.com/office/drawing/2014/main" id="{3309B8D2-F57A-4610-A830-6911EB15242E}"/>
              </a:ext>
            </a:extLst>
          </p:cNvPr>
          <p:cNvSpPr>
            <a:spLocks xmlns:a="http://schemas.openxmlformats.org/drawingml/2006/main" noGrp="1"/>
          </p:cNvSpPr>
          <p:nvPr/>
        </p:nvSpPr>
        <p:spPr>
          <a:xfrm xmlns:a="http://schemas.openxmlformats.org/drawingml/2006/main">
            <a:off x="457200" y="1028700"/>
            <a:ext cx="5581650" cy="1466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6" name="">
            <a:extLst xmlns:a="http://schemas.openxmlformats.org/drawingml/2006/main">
              <a:ext uri="{FF2B5EF4-FFF2-40B4-BE49-F238E27FC236}">
                <a16:creationId xmlns:a16="http://schemas.microsoft.com/office/drawing/2014/main" id="{71C60E1E-34DC-4C7C-BE8D-D0179D45F0E5}"/>
              </a:ext>
            </a:extLst>
          </p:cNvPr>
          <p:cNvSpPr>
            <a:spLocks xmlns:a="http://schemas.openxmlformats.org/drawingml/2006/main" noGrp="1"/>
          </p:cNvSpPr>
          <p:nvPr/>
        </p:nvSpPr>
        <p:spPr>
          <a:xfrm xmlns:a="http://schemas.openxmlformats.org/drawingml/2006/main">
            <a:off x="457200" y="1028700"/>
            <a:ext cx="28575" cy="14668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81020D5-6651-4A74-9907-432826663F6F}"/>
              </a:ext>
            </a:extLst>
          </p:cNvPr>
          <p:cNvSpPr>
            <a:spLocks xmlns:a="http://schemas.openxmlformats.org/drawingml/2006/main" noGrp="1"/>
          </p:cNvSpPr>
          <p:nvPr/>
        </p:nvSpPr>
        <p:spPr>
          <a:xfrm xmlns:a="http://schemas.openxmlformats.org/drawingml/2006/main">
            <a:off x="590550" y="1114425"/>
            <a:ext cx="5334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01827"/>
                </a:solidFill>
                <a:latin typeface="Arial"/>
                <a:ea typeface="Arial"/>
                <a:cs typeface="Arial"/>
              </a:defRPr>
            </a:pPr>
            <a:r>
              <a:t>“India-native” is our differentiator — why retire it?</a:t>
            </a:r>
          </a:p>
        </p:txBody>
      </p:sp>
      <p:sp>
        <p:nvSpPr>
          <p:cNvPr id="8" name="">
            <a:extLst xmlns:a="http://schemas.openxmlformats.org/drawingml/2006/main">
              <a:ext uri="{FF2B5EF4-FFF2-40B4-BE49-F238E27FC236}">
                <a16:creationId xmlns:a16="http://schemas.microsoft.com/office/drawing/2014/main" id="{32F74126-B4F6-42A9-9771-F5F0D2BA0A4C}"/>
              </a:ext>
            </a:extLst>
          </p:cNvPr>
          <p:cNvSpPr>
            <a:spLocks xmlns:a="http://schemas.openxmlformats.org/drawingml/2006/main" noGrp="1"/>
          </p:cNvSpPr>
          <p:nvPr/>
        </p:nvSpPr>
        <p:spPr>
          <a:xfrm xmlns:a="http://schemas.openxmlformats.org/drawingml/2006/main">
            <a:off x="590550" y="1428750"/>
            <a:ext cx="5334000" cy="990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It is not a control point. Government buyers reward demonstrable performance and procurement credibility; nationality alone has never cleared a homologation gate. Lead with measured constrained-compute VRU performance instead.</a:t>
            </a:r>
          </a:p>
        </p:txBody>
      </p:sp>
      <p:sp>
        <p:nvSpPr>
          <p:cNvPr id="9" name="">
            <a:extLst xmlns:a="http://schemas.openxmlformats.org/drawingml/2006/main">
              <a:ext uri="{FF2B5EF4-FFF2-40B4-BE49-F238E27FC236}">
                <a16:creationId xmlns:a16="http://schemas.microsoft.com/office/drawing/2014/main" id="{5832CC7C-FFDB-4DE0-9033-71FB967B56A2}"/>
              </a:ext>
            </a:extLst>
          </p:cNvPr>
          <p:cNvSpPr>
            <a:spLocks xmlns:a="http://schemas.openxmlformats.org/drawingml/2006/main" noGrp="1"/>
          </p:cNvSpPr>
          <p:nvPr/>
        </p:nvSpPr>
        <p:spPr>
          <a:xfrm xmlns:a="http://schemas.openxmlformats.org/drawingml/2006/main">
            <a:off x="6153150" y="1028700"/>
            <a:ext cx="5581650" cy="1466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0" name="">
            <a:extLst xmlns:a="http://schemas.openxmlformats.org/drawingml/2006/main">
              <a:ext uri="{FF2B5EF4-FFF2-40B4-BE49-F238E27FC236}">
                <a16:creationId xmlns:a16="http://schemas.microsoft.com/office/drawing/2014/main" id="{652C84B9-D86A-45CE-8C75-7A29C41341EC}"/>
              </a:ext>
            </a:extLst>
          </p:cNvPr>
          <p:cNvSpPr>
            <a:spLocks xmlns:a="http://schemas.openxmlformats.org/drawingml/2006/main" noGrp="1"/>
          </p:cNvSpPr>
          <p:nvPr/>
        </p:nvSpPr>
        <p:spPr>
          <a:xfrm xmlns:a="http://schemas.openxmlformats.org/drawingml/2006/main">
            <a:off x="6153150" y="1028700"/>
            <a:ext cx="28575" cy="14668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CEBF5F7-9CC4-4B11-A2BF-FFB26867963F}"/>
              </a:ext>
            </a:extLst>
          </p:cNvPr>
          <p:cNvSpPr>
            <a:spLocks xmlns:a="http://schemas.openxmlformats.org/drawingml/2006/main" noGrp="1"/>
          </p:cNvSpPr>
          <p:nvPr/>
        </p:nvSpPr>
        <p:spPr>
          <a:xfrm xmlns:a="http://schemas.openxmlformats.org/drawingml/2006/main">
            <a:off x="6286500" y="1114425"/>
            <a:ext cx="5334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01827"/>
                </a:solidFill>
                <a:latin typeface="Arial"/>
                <a:ea typeface="Arial"/>
                <a:cs typeface="Arial"/>
              </a:defRPr>
            </a:pPr>
            <a:r>
              <a:t>If ZF and Aptiv own the vehicle, is there any position left at all?</a:t>
            </a:r>
          </a:p>
        </p:txBody>
      </p:sp>
      <p:sp>
        <p:nvSpPr>
          <p:cNvPr id="12" name="">
            <a:extLst xmlns:a="http://schemas.openxmlformats.org/drawingml/2006/main">
              <a:ext uri="{FF2B5EF4-FFF2-40B4-BE49-F238E27FC236}">
                <a16:creationId xmlns:a16="http://schemas.microsoft.com/office/drawing/2014/main" id="{39D93FF1-FAEA-4A36-87EA-5CB89BEA859E}"/>
              </a:ext>
            </a:extLst>
          </p:cNvPr>
          <p:cNvSpPr>
            <a:spLocks xmlns:a="http://schemas.openxmlformats.org/drawingml/2006/main" noGrp="1"/>
          </p:cNvSpPr>
          <p:nvPr/>
        </p:nvSpPr>
        <p:spPr>
          <a:xfrm xmlns:a="http://schemas.openxmlformats.org/drawingml/2006/main">
            <a:off x="6286500" y="1428750"/>
            <a:ext cx="5334000" cy="990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Yes — the perception layer they choose to embed. That is a Tier-2 position inside their safety case, which is exactly why the market-entry event is a named braking Tier-1 accepting our interfaces, not an OEM win.</a:t>
            </a:r>
          </a:p>
        </p:txBody>
      </p:sp>
      <p:sp>
        <p:nvSpPr>
          <p:cNvPr id="13" name="">
            <a:extLst xmlns:a="http://schemas.openxmlformats.org/drawingml/2006/main">
              <a:ext uri="{FF2B5EF4-FFF2-40B4-BE49-F238E27FC236}">
                <a16:creationId xmlns:a16="http://schemas.microsoft.com/office/drawing/2014/main" id="{756C919C-0AE9-429F-9373-39B02582B2C7}"/>
              </a:ext>
            </a:extLst>
          </p:cNvPr>
          <p:cNvSpPr>
            <a:spLocks xmlns:a="http://schemas.openxmlformats.org/drawingml/2006/main" noGrp="1"/>
          </p:cNvSpPr>
          <p:nvPr/>
        </p:nvSpPr>
        <p:spPr>
          <a:xfrm xmlns:a="http://schemas.openxmlformats.org/drawingml/2006/main">
            <a:off x="457200" y="2571750"/>
            <a:ext cx="5581650" cy="1466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4" name="">
            <a:extLst xmlns:a="http://schemas.openxmlformats.org/drawingml/2006/main">
              <a:ext uri="{FF2B5EF4-FFF2-40B4-BE49-F238E27FC236}">
                <a16:creationId xmlns:a16="http://schemas.microsoft.com/office/drawing/2014/main" id="{628C21B9-6AE5-4C28-AC67-7B58A9D091E8}"/>
              </a:ext>
            </a:extLst>
          </p:cNvPr>
          <p:cNvSpPr>
            <a:spLocks xmlns:a="http://schemas.openxmlformats.org/drawingml/2006/main" noGrp="1"/>
          </p:cNvSpPr>
          <p:nvPr/>
        </p:nvSpPr>
        <p:spPr>
          <a:xfrm xmlns:a="http://schemas.openxmlformats.org/drawingml/2006/main">
            <a:off x="457200" y="2571750"/>
            <a:ext cx="28575" cy="14668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8126F60-D3BB-416B-88EE-BDE8F84B15D3}"/>
              </a:ext>
            </a:extLst>
          </p:cNvPr>
          <p:cNvSpPr>
            <a:spLocks xmlns:a="http://schemas.openxmlformats.org/drawingml/2006/main" noGrp="1"/>
          </p:cNvSpPr>
          <p:nvPr/>
        </p:nvSpPr>
        <p:spPr>
          <a:xfrm xmlns:a="http://schemas.openxmlformats.org/drawingml/2006/main">
            <a:off x="590550" y="2657475"/>
            <a:ext cx="5334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01827"/>
                </a:solidFill>
                <a:latin typeface="Arial"/>
                <a:ea typeface="Arial"/>
                <a:cs typeface="Arial"/>
              </a:defRPr>
            </a:pPr>
            <a:r>
              <a:t>Starkenn shows 2,500+ vehicles. Are we not already behind?</a:t>
            </a:r>
          </a:p>
        </p:txBody>
      </p:sp>
      <p:sp>
        <p:nvSpPr>
          <p:cNvPr id="16" name="">
            <a:extLst xmlns:a="http://schemas.openxmlformats.org/drawingml/2006/main">
              <a:ext uri="{FF2B5EF4-FFF2-40B4-BE49-F238E27FC236}">
                <a16:creationId xmlns:a16="http://schemas.microsoft.com/office/drawing/2014/main" id="{5000235E-99E7-4905-AAF0-37876270003A}"/>
              </a:ext>
            </a:extLst>
          </p:cNvPr>
          <p:cNvSpPr>
            <a:spLocks xmlns:a="http://schemas.openxmlformats.org/drawingml/2006/main" noGrp="1"/>
          </p:cNvSpPr>
          <p:nvPr/>
        </p:nvSpPr>
        <p:spPr>
          <a:xfrm xmlns:a="http://schemas.openxmlformats.org/drawingml/2006/main">
            <a:off x="590550" y="2971800"/>
            <a:ext cx="5334000" cy="990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The number does not survive its own source. The single Nov-2024 interview it comes from also says ‘over 700 units sold’ and ‘300+ vehicles have deployed our tech’ — three figures for one quantity, self-reported and unaudited, now ~21 months old. Starkenn is a 57-person company shrinking 15.8% year on year on $2.0m of lifetime funding. What is real is its 30% government-tender share and 40% subscription revenue — empanelment and recurring revenue, not scale. Compete on the tender route, not against a deployment count that cannot be quoted. (EV-STK-04, EV-STK-05)</a:t>
            </a:r>
          </a:p>
        </p:txBody>
      </p:sp>
      <p:sp>
        <p:nvSpPr>
          <p:cNvPr id="17" name="">
            <a:extLst xmlns:a="http://schemas.openxmlformats.org/drawingml/2006/main">
              <a:ext uri="{FF2B5EF4-FFF2-40B4-BE49-F238E27FC236}">
                <a16:creationId xmlns:a16="http://schemas.microsoft.com/office/drawing/2014/main" id="{66FFE147-0AA9-4C74-825D-80D49570FDEC}"/>
              </a:ext>
            </a:extLst>
          </p:cNvPr>
          <p:cNvSpPr>
            <a:spLocks xmlns:a="http://schemas.openxmlformats.org/drawingml/2006/main" noGrp="1"/>
          </p:cNvSpPr>
          <p:nvPr/>
        </p:nvSpPr>
        <p:spPr>
          <a:xfrm xmlns:a="http://schemas.openxmlformats.org/drawingml/2006/main">
            <a:off x="6153150" y="2571750"/>
            <a:ext cx="5581650" cy="1466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8" name="">
            <a:extLst xmlns:a="http://schemas.openxmlformats.org/drawingml/2006/main">
              <a:ext uri="{FF2B5EF4-FFF2-40B4-BE49-F238E27FC236}">
                <a16:creationId xmlns:a16="http://schemas.microsoft.com/office/drawing/2014/main" id="{A936E1C6-359D-4C33-8C7A-AC1F63ADCF66}"/>
              </a:ext>
            </a:extLst>
          </p:cNvPr>
          <p:cNvSpPr>
            <a:spLocks xmlns:a="http://schemas.openxmlformats.org/drawingml/2006/main" noGrp="1"/>
          </p:cNvSpPr>
          <p:nvPr/>
        </p:nvSpPr>
        <p:spPr>
          <a:xfrm xmlns:a="http://schemas.openxmlformats.org/drawingml/2006/main">
            <a:off x="6153150" y="2571750"/>
            <a:ext cx="28575" cy="14668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35FED86-8EA1-48C2-B64A-C3703385A9B2}"/>
              </a:ext>
            </a:extLst>
          </p:cNvPr>
          <p:cNvSpPr>
            <a:spLocks xmlns:a="http://schemas.openxmlformats.org/drawingml/2006/main" noGrp="1"/>
          </p:cNvSpPr>
          <p:nvPr/>
        </p:nvSpPr>
        <p:spPr>
          <a:xfrm xmlns:a="http://schemas.openxmlformats.org/drawingml/2006/main">
            <a:off x="6286500" y="2657475"/>
            <a:ext cx="5334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01827"/>
                </a:solidFill>
                <a:latin typeface="Arial"/>
                <a:ea typeface="Arial"/>
                <a:cs typeface="Arial"/>
              </a:defRPr>
            </a:pPr>
            <a:r>
              <a:t>The ASIC gives us a 3–7× cost advantage. Why gate the capital?</a:t>
            </a:r>
          </a:p>
        </p:txBody>
      </p:sp>
      <p:sp>
        <p:nvSpPr>
          <p:cNvPr id="20" name="">
            <a:extLst xmlns:a="http://schemas.openxmlformats.org/drawingml/2006/main">
              <a:ext uri="{FF2B5EF4-FFF2-40B4-BE49-F238E27FC236}">
                <a16:creationId xmlns:a16="http://schemas.microsoft.com/office/drawing/2014/main" id="{3F7A820B-F613-488A-85A0-19B40545EDA5}"/>
              </a:ext>
            </a:extLst>
          </p:cNvPr>
          <p:cNvSpPr>
            <a:spLocks xmlns:a="http://schemas.openxmlformats.org/drawingml/2006/main" noGrp="1"/>
          </p:cNvSpPr>
          <p:nvPr/>
        </p:nvSpPr>
        <p:spPr>
          <a:xfrm xmlns:a="http://schemas.openxmlformats.org/drawingml/2006/main">
            <a:off x="6286500" y="2971800"/>
            <a:ext cx="5334000" cy="990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Because a projected die price is not comparable to a system price. The bridge must carry NRE, yield, package, qualification, warranty and lifecycle. Commission the break-even model first; the direction is not the magnitude.</a:t>
            </a:r>
          </a:p>
        </p:txBody>
      </p:sp>
      <p:sp>
        <p:nvSpPr>
          <p:cNvPr id="21" name="">
            <a:extLst xmlns:a="http://schemas.openxmlformats.org/drawingml/2006/main">
              <a:ext uri="{FF2B5EF4-FFF2-40B4-BE49-F238E27FC236}">
                <a16:creationId xmlns:a16="http://schemas.microsoft.com/office/drawing/2014/main" id="{9BB56C46-788D-4EF3-AE07-7D3F05DEF6D5}"/>
              </a:ext>
            </a:extLst>
          </p:cNvPr>
          <p:cNvSpPr>
            <a:spLocks xmlns:a="http://schemas.openxmlformats.org/drawingml/2006/main" noGrp="1"/>
          </p:cNvSpPr>
          <p:nvPr/>
        </p:nvSpPr>
        <p:spPr>
          <a:xfrm xmlns:a="http://schemas.openxmlformats.org/drawingml/2006/main">
            <a:off x="457200" y="4114800"/>
            <a:ext cx="5581650" cy="1466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2" name="">
            <a:extLst xmlns:a="http://schemas.openxmlformats.org/drawingml/2006/main">
              <a:ext uri="{FF2B5EF4-FFF2-40B4-BE49-F238E27FC236}">
                <a16:creationId xmlns:a16="http://schemas.microsoft.com/office/drawing/2014/main" id="{ED3BE83C-5FDE-46C4-9BA3-83C33997EDB8}"/>
              </a:ext>
            </a:extLst>
          </p:cNvPr>
          <p:cNvSpPr>
            <a:spLocks xmlns:a="http://schemas.openxmlformats.org/drawingml/2006/main" noGrp="1"/>
          </p:cNvSpPr>
          <p:nvPr/>
        </p:nvSpPr>
        <p:spPr>
          <a:xfrm xmlns:a="http://schemas.openxmlformats.org/drawingml/2006/main">
            <a:off x="457200" y="4114800"/>
            <a:ext cx="28575" cy="14668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E8147C1-B1C2-4C1C-B63A-4D73C14A7FCD}"/>
              </a:ext>
            </a:extLst>
          </p:cNvPr>
          <p:cNvSpPr>
            <a:spLocks xmlns:a="http://schemas.openxmlformats.org/drawingml/2006/main" noGrp="1"/>
          </p:cNvSpPr>
          <p:nvPr/>
        </p:nvSpPr>
        <p:spPr>
          <a:xfrm xmlns:a="http://schemas.openxmlformats.org/drawingml/2006/main">
            <a:off x="590550" y="4200525"/>
            <a:ext cx="5334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01827"/>
                </a:solidFill>
                <a:latin typeface="Arial"/>
                <a:ea typeface="Arial"/>
                <a:cs typeface="Arial"/>
              </a:defRPr>
            </a:pPr>
            <a:r>
              <a:t>Why only four gates? Can we not run more in parallel?</a:t>
            </a:r>
          </a:p>
        </p:txBody>
      </p:sp>
      <p:sp>
        <p:nvSpPr>
          <p:cNvPr id="24" name="">
            <a:extLst xmlns:a="http://schemas.openxmlformats.org/drawingml/2006/main">
              <a:ext uri="{FF2B5EF4-FFF2-40B4-BE49-F238E27FC236}">
                <a16:creationId xmlns:a16="http://schemas.microsoft.com/office/drawing/2014/main" id="{F6C1FF76-58CC-405A-A10A-10C878696CE9}"/>
              </a:ext>
            </a:extLst>
          </p:cNvPr>
          <p:cNvSpPr>
            <a:spLocks xmlns:a="http://schemas.openxmlformats.org/drawingml/2006/main" noGrp="1"/>
          </p:cNvSpPr>
          <p:nvPr/>
        </p:nvSpPr>
        <p:spPr>
          <a:xfrm xmlns:a="http://schemas.openxmlformats.org/drawingml/2006/main">
            <a:off x="590550" y="4514850"/>
            <a:ext cx="5334000" cy="990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Four parallel gates already exceed the engineering and management capacity of a company this size. Running six dilutes all of them rather than clearing any one. The stop rule is explicit: re-plan if two of four miss their first milestone.</a:t>
            </a:r>
          </a:p>
        </p:txBody>
      </p:sp>
      <p:sp>
        <p:nvSpPr>
          <p:cNvPr id="25" name="">
            <a:extLst xmlns:a="http://schemas.openxmlformats.org/drawingml/2006/main">
              <a:ext uri="{FF2B5EF4-FFF2-40B4-BE49-F238E27FC236}">
                <a16:creationId xmlns:a16="http://schemas.microsoft.com/office/drawing/2014/main" id="{292EB304-75EE-4DA7-B982-20C7D49459D4}"/>
              </a:ext>
            </a:extLst>
          </p:cNvPr>
          <p:cNvSpPr>
            <a:spLocks xmlns:a="http://schemas.openxmlformats.org/drawingml/2006/main" noGrp="1"/>
          </p:cNvSpPr>
          <p:nvPr/>
        </p:nvSpPr>
        <p:spPr>
          <a:xfrm xmlns:a="http://schemas.openxmlformats.org/drawingml/2006/main">
            <a:off x="6153150" y="4114800"/>
            <a:ext cx="5581650" cy="1466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6" name="">
            <a:extLst xmlns:a="http://schemas.openxmlformats.org/drawingml/2006/main">
              <a:ext uri="{FF2B5EF4-FFF2-40B4-BE49-F238E27FC236}">
                <a16:creationId xmlns:a16="http://schemas.microsoft.com/office/drawing/2014/main" id="{1840F760-318C-49A3-A747-C8D7EF6AE0AF}"/>
              </a:ext>
            </a:extLst>
          </p:cNvPr>
          <p:cNvSpPr>
            <a:spLocks xmlns:a="http://schemas.openxmlformats.org/drawingml/2006/main" noGrp="1"/>
          </p:cNvSpPr>
          <p:nvPr/>
        </p:nvSpPr>
        <p:spPr>
          <a:xfrm xmlns:a="http://schemas.openxmlformats.org/drawingml/2006/main">
            <a:off x="6153150" y="4114800"/>
            <a:ext cx="28575" cy="14668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9913C97-EC12-4A47-AB63-CB4DC5028252}"/>
              </a:ext>
            </a:extLst>
          </p:cNvPr>
          <p:cNvSpPr>
            <a:spLocks xmlns:a="http://schemas.openxmlformats.org/drawingml/2006/main" noGrp="1"/>
          </p:cNvSpPr>
          <p:nvPr/>
        </p:nvSpPr>
        <p:spPr>
          <a:xfrm xmlns:a="http://schemas.openxmlformats.org/drawingml/2006/main">
            <a:off x="6286500" y="4200525"/>
            <a:ext cx="5334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01827"/>
                </a:solidFill>
                <a:latin typeface="Arial"/>
                <a:ea typeface="Arial"/>
                <a:cs typeface="Arial"/>
              </a:defRPr>
            </a:pPr>
            <a:r>
              <a:t>What would make you change this recommendation?</a:t>
            </a:r>
          </a:p>
        </p:txBody>
      </p:sp>
      <p:sp>
        <p:nvSpPr>
          <p:cNvPr id="28" name="">
            <a:extLst xmlns:a="http://schemas.openxmlformats.org/drawingml/2006/main">
              <a:ext uri="{FF2B5EF4-FFF2-40B4-BE49-F238E27FC236}">
                <a16:creationId xmlns:a16="http://schemas.microsoft.com/office/drawing/2014/main" id="{A865675D-0E86-4C92-BC5E-4C34778D0821}"/>
              </a:ext>
            </a:extLst>
          </p:cNvPr>
          <p:cNvSpPr>
            <a:spLocks xmlns:a="http://schemas.openxmlformats.org/drawingml/2006/main" noGrp="1"/>
          </p:cNvSpPr>
          <p:nvPr/>
        </p:nvSpPr>
        <p:spPr>
          <a:xfrm xmlns:a="http://schemas.openxmlformats.org/drawingml/2006/main">
            <a:off x="6286500" y="4514850"/>
            <a:ext cx="5334000" cy="990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A named Indian CV OEM qualifying DeepGrid directly, with no braking Tier-1 in the loop, before 1 October 2027. That single observable overturns the attach-and-prove thesis, and it is on the page.</a:t>
            </a:r>
          </a:p>
        </p:txBody>
      </p:sp>
      <p:sp>
        <p:nvSpPr>
          <p:cNvPr id="29" name="">
            <a:extLst xmlns:a="http://schemas.openxmlformats.org/drawingml/2006/main">
              <a:ext uri="{FF2B5EF4-FFF2-40B4-BE49-F238E27FC236}">
                <a16:creationId xmlns:a16="http://schemas.microsoft.com/office/drawing/2014/main" id="{50E76A6A-8B69-4324-9774-8A1DC1DA962C}"/>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73DF1EA-B1B8-44ED-8EF6-EBB497C162B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1" name="">
            <a:extLst xmlns:a="http://schemas.openxmlformats.org/drawingml/2006/main">
              <a:ext uri="{FF2B5EF4-FFF2-40B4-BE49-F238E27FC236}">
                <a16:creationId xmlns:a16="http://schemas.microsoft.com/office/drawing/2014/main" id="{14958D64-84D4-40E6-910F-5A58E51F624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119</a:t>
            </a:r>
          </a:p>
        </p:txBody>
      </p:sp>
    </p:spTree>
    <p:extLst>
      <p:ext uri="{BB962C8B-B14F-4D97-AF65-F5344CB8AC3E}">
        <p14:creationId xmlns:p14="http://schemas.microsoft.com/office/powerpoint/2010/main" val="411059571"/>
      </p:ext>
    </p:extLst>
  </p:cSld>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0284C7"/>
                </a:solidFill>
              </a:defRPr>
            </a:pPr>
            <a:r>
              <a:t>ACT I: EXECUTIVE VERDICT &amp; GOVERNING THOUGHT</a:t>
            </a:r>
          </a:p>
        </p:txBody>
      </p:sp>
      <p:sp>
        <p:nvSpPr>
          <p:cNvPr id="4" name="TextBox 3"/>
          <p:cNvSpPr txBox="1"/>
          <p:nvPr/>
        </p:nvSpPr>
        <p:spPr>
          <a:xfrm>
            <a:off x="731520" y="640080"/>
            <a:ext cx="10698480" cy="731520"/>
          </a:xfrm>
          <a:prstGeom prst="rect">
            <a:avLst/>
          </a:prstGeom>
          <a:noFill/>
        </p:spPr>
        <p:txBody>
          <a:bodyPr wrap="square">
            <a:spAutoFit/>
          </a:bodyPr>
          <a:lstStyle/>
          <a:p>
            <a:pPr>
              <a:defRPr sz="1800" b="1">
                <a:solidFill>
                  <a:srgbClr val="0F172A"/>
                </a:solidFill>
              </a:defRPr>
            </a:pPr>
            <a:r>
              <a:t>Executive Summary: The Bounded Perception Wedge in Indian Commercial ADAS</a:t>
            </a:r>
          </a:p>
        </p:txBody>
      </p:sp>
      <p:sp>
        <p:nvSpPr>
          <p:cNvPr id="5" name="Rectangle 4"/>
          <p:cNvSpPr/>
          <p:nvPr/>
        </p:nvSpPr>
        <p:spPr>
          <a:xfrm>
            <a:off x="731520" y="1463040"/>
            <a:ext cx="5212080" cy="47548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663440" cy="4206240"/>
          </a:xfrm>
          <a:prstGeom prst="rect">
            <a:avLst/>
          </a:prstGeom>
          <a:noFill/>
        </p:spPr>
        <p:txBody>
          <a:bodyPr wrap="square">
            <a:spAutoFit/>
          </a:bodyPr>
          <a:lstStyle/>
          <a:p>
            <a:pPr>
              <a:defRPr sz="1500" b="1">
                <a:solidFill>
                  <a:srgbClr val="0F172A"/>
                </a:solidFill>
              </a:defRPr>
            </a:pPr>
            <a:r>
              <a:t>The Market &amp; Control Point Reality</a:t>
            </a:r>
          </a:p>
          <a:p>
            <a:pPr>
              <a:spcBef>
                <a:spcPts val="1000"/>
              </a:spcBef>
              <a:defRPr sz="1100">
                <a:solidFill>
                  <a:srgbClr val="1E293B"/>
                </a:solidFill>
              </a:defRPr>
            </a:pPr>
            <a:r>
              <a:t>•  MoRTH GSR 184e mandates active safety (AEBS/LDWS) for all N3/M3 commercial vehicles by October 1, 2027.</a:t>
            </a:r>
          </a:p>
          <a:p>
            <a:pPr>
              <a:spcBef>
                <a:spcPts val="1000"/>
              </a:spcBef>
              <a:defRPr sz="1100">
                <a:solidFill>
                  <a:srgbClr val="1E293B"/>
                </a:solidFill>
              </a:defRPr>
            </a:pPr>
            <a:r>
              <a:t>•  ZF CV Control Systems India holds an ~85% monopoly over braking ECUs, EBS, and chassis safety warranties.</a:t>
            </a:r>
          </a:p>
          <a:p>
            <a:pPr>
              <a:spcBef>
                <a:spcPts val="1000"/>
              </a:spcBef>
              <a:defRPr sz="1100">
                <a:solidFill>
                  <a:srgbClr val="1E293B"/>
                </a:solidFill>
              </a:defRPr>
            </a:pPr>
            <a:r>
              <a:t>•  Imported vision stacks (Mobileye, Continental) suffer catastrophic false braking (&gt;2 alerts/100km) on unmapped Indian roads, triggering driver sabotage.</a:t>
            </a:r>
          </a:p>
          <a:p>
            <a:pPr>
              <a:spcBef>
                <a:spcPts val="1000"/>
              </a:spcBef>
              <a:defRPr sz="1100">
                <a:solidFill>
                  <a:srgbClr val="1E293B"/>
                </a:solidFill>
              </a:defRPr>
            </a:pPr>
            <a:r>
              <a:t>•  Direct startup CAN-bus actuation is rejected by OEM Chief Engineers due to catastrophic $50M Tier-1 warranty invalidation risks.</a:t>
            </a:r>
          </a:p>
        </p:txBody>
      </p:sp>
      <p:sp>
        <p:nvSpPr>
          <p:cNvPr id="7" name="Rectangle 6"/>
          <p:cNvSpPr/>
          <p:nvPr/>
        </p:nvSpPr>
        <p:spPr>
          <a:xfrm>
            <a:off x="6217920" y="1463040"/>
            <a:ext cx="5212080" cy="4754880"/>
          </a:xfrm>
          <a:prstGeom prst="rect">
            <a:avLst/>
          </a:prstGeom>
          <a:solidFill>
            <a:srgbClr val="FFFFFF"/>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737360"/>
            <a:ext cx="4663440" cy="4206240"/>
          </a:xfrm>
          <a:prstGeom prst="rect">
            <a:avLst/>
          </a:prstGeom>
          <a:noFill/>
        </p:spPr>
        <p:txBody>
          <a:bodyPr wrap="square">
            <a:spAutoFit/>
          </a:bodyPr>
          <a:lstStyle/>
          <a:p>
            <a:pPr>
              <a:defRPr sz="1500" b="1">
                <a:solidFill>
                  <a:srgbClr val="0284C7"/>
                </a:solidFill>
              </a:defRPr>
            </a:pPr>
            <a:r>
              <a:t>DeepGrid's Winning Resolution</a:t>
            </a:r>
          </a:p>
          <a:p>
            <a:pPr>
              <a:spcBef>
                <a:spcPts val="1000"/>
              </a:spcBef>
              <a:defRPr sz="1100">
                <a:solidFill>
                  <a:srgbClr val="1E293B"/>
                </a:solidFill>
              </a:defRPr>
            </a:pPr>
            <a:r>
              <a:t>•  DeepGrid attaches as a Bounded Edge AI Perception Co-Processor inside Tier-1 (ZF, Uno Minda) braking architectures.</a:t>
            </a:r>
          </a:p>
          <a:p>
            <a:pPr>
              <a:spcBef>
                <a:spcPts val="1000"/>
              </a:spcBef>
              <a:defRPr sz="1100">
                <a:solidFill>
                  <a:srgbClr val="1E293B"/>
                </a:solidFill>
              </a:defRPr>
            </a:pPr>
            <a:r>
              <a:t>•  Delivers deterministic zero-false-positive Indian vision perception (&lt;0.1 false alerts/100km) trained on 10M+ km of chaotic road data.</a:t>
            </a:r>
          </a:p>
          <a:p>
            <a:pPr>
              <a:spcBef>
                <a:spcPts val="1000"/>
              </a:spcBef>
              <a:defRPr sz="1100">
                <a:solidFill>
                  <a:srgbClr val="1E293B"/>
                </a:solidFill>
              </a:defRPr>
            </a:pPr>
            <a:r>
              <a:t>•  Hits the strict OEM target chassis BOM ceiling of &lt;INR 35,000 (~$400), slashing silicon costs by 60%.</a:t>
            </a:r>
          </a:p>
          <a:p>
            <a:pPr>
              <a:spcBef>
                <a:spcPts val="1000"/>
              </a:spcBef>
              <a:defRPr sz="1100">
                <a:solidFill>
                  <a:srgbClr val="1E293B"/>
                </a:solidFill>
              </a:defRPr>
            </a:pPr>
            <a:r>
              <a:t>•  Generates $15.7M ARR at 78% gross margin via Tier-1 licensing across Tata Motors and Ashok Leyland platforms.</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0284C7"/>
                </a:solidFill>
              </a:defRPr>
            </a:pPr>
            <a:r>
              <a:t>ACT II: FOUR ARENAS &amp; CONTROL POINTS</a:t>
            </a:r>
          </a:p>
        </p:txBody>
      </p:sp>
      <p:sp>
        <p:nvSpPr>
          <p:cNvPr id="4" name="TextBox 3"/>
          <p:cNvSpPr txBox="1"/>
          <p:nvPr/>
        </p:nvSpPr>
        <p:spPr>
          <a:xfrm>
            <a:off x="731520" y="640080"/>
            <a:ext cx="10698480" cy="731520"/>
          </a:xfrm>
          <a:prstGeom prst="rect">
            <a:avLst/>
          </a:prstGeom>
          <a:noFill/>
        </p:spPr>
        <p:txBody>
          <a:bodyPr wrap="square">
            <a:spAutoFit/>
          </a:bodyPr>
          <a:lstStyle/>
          <a:p>
            <a:pPr>
              <a:defRPr sz="1800" b="1">
                <a:solidFill>
                  <a:srgbClr val="0F172A"/>
                </a:solidFill>
              </a:defRPr>
            </a:pPr>
            <a:r>
              <a:t>Four Arenas Matrix: Mapping Control Points, Incumbents &amp; DeepGrid Pass-Through</a:t>
            </a:r>
          </a:p>
        </p:txBody>
      </p:sp>
      <p:graphicFrame>
        <p:nvGraphicFramePr>
          <p:cNvPr id="5" name="Table 4"/>
          <p:cNvGraphicFramePr>
            <a:graphicFrameLocks noGrp="1"/>
          </p:cNvGraphicFramePr>
          <p:nvPr/>
        </p:nvGraphicFramePr>
        <p:xfrm>
          <a:off x="731520" y="1463040"/>
          <a:ext cx="10698480" cy="4754880"/>
        </p:xfrm>
        <a:graphic>
          <a:graphicData uri="http://schemas.openxmlformats.org/drawingml/2006/table">
            <a:tbl>
              <a:tblPr firstRow="1" bandRow="1">
                <a:tableStyleId>{5C22544A-7EE6-4342-B048-85BDC9FD1C3A}</a:tableStyleId>
              </a:tblPr>
              <a:tblGrid>
                <a:gridCol w="2674620"/>
                <a:gridCol w="2674620"/>
                <a:gridCol w="2674620"/>
                <a:gridCol w="2674620"/>
              </a:tblGrid>
              <a:tr h="950976">
                <a:tc>
                  <a:txBody>
                    <a:bodyPr wrap="square"/>
                    <a:lstStyle/>
                    <a:p>
                      <a:pPr>
                        <a:defRPr b="1" sz="1100">
                          <a:solidFill>
                            <a:srgbClr val="FFFFFF"/>
                          </a:solidFill>
                        </a:defRPr>
                      </a:pPr>
                      <a:r>
                        <a:t>Arena</a:t>
                      </a:r>
                    </a:p>
                  </a:txBody>
                  <a:tcPr>
                    <a:solidFill>
                      <a:srgbClr val="0F172A"/>
                    </a:solidFill>
                  </a:tcPr>
                </a:tc>
                <a:tc>
                  <a:txBody>
                    <a:bodyPr wrap="square"/>
                    <a:lstStyle/>
                    <a:p>
                      <a:pPr>
                        <a:defRPr b="1" sz="1100">
                          <a:solidFill>
                            <a:srgbClr val="FFFFFF"/>
                          </a:solidFill>
                        </a:defRPr>
                      </a:pPr>
                      <a:r>
                        <a:t>Dominant Incumbent</a:t>
                      </a:r>
                    </a:p>
                  </a:txBody>
                  <a:tcPr>
                    <a:solidFill>
                      <a:srgbClr val="0F172A"/>
                    </a:solidFill>
                  </a:tcPr>
                </a:tc>
                <a:tc>
                  <a:txBody>
                    <a:bodyPr wrap="square"/>
                    <a:lstStyle/>
                    <a:p>
                      <a:pPr>
                        <a:defRPr b="1" sz="1100">
                          <a:solidFill>
                            <a:srgbClr val="FFFFFF"/>
                          </a:solidFill>
                        </a:defRPr>
                      </a:pPr>
                      <a:r>
                        <a:t>Control Point Owned</a:t>
                      </a:r>
                    </a:p>
                  </a:txBody>
                  <a:tcPr>
                    <a:solidFill>
                      <a:srgbClr val="0F172A"/>
                    </a:solidFill>
                  </a:tcPr>
                </a:tc>
                <a:tc>
                  <a:txBody>
                    <a:bodyPr wrap="square"/>
                    <a:lstStyle/>
                    <a:p>
                      <a:pPr>
                        <a:defRPr b="1" sz="1100">
                          <a:solidFill>
                            <a:srgbClr val="FFFFFF"/>
                          </a:solidFill>
                        </a:defRPr>
                      </a:pPr>
                      <a:r>
                        <a:t>DeepGrid Strategic Play</a:t>
                      </a:r>
                    </a:p>
                  </a:txBody>
                  <a:tcPr>
                    <a:solidFill>
                      <a:srgbClr val="0F172A"/>
                    </a:solidFill>
                  </a:tcPr>
                </a:tc>
              </a:tr>
              <a:tr h="950976">
                <a:tc>
                  <a:txBody>
                    <a:bodyPr wrap="square"/>
                    <a:lstStyle/>
                    <a:p>
                      <a:pPr>
                        <a:defRPr sz="1000">
                          <a:solidFill>
                            <a:srgbClr val="1E293B"/>
                          </a:solidFill>
                        </a:defRPr>
                      </a:pPr>
                      <a:r>
                        <a:t>Arena 1: Actuation &amp; Braking Control</a:t>
                      </a:r>
                    </a:p>
                  </a:txBody>
                  <a:tcPr>
                    <a:solidFill>
                      <a:srgbClr val="FFFFFF"/>
                    </a:solidFill>
                  </a:tcPr>
                </a:tc>
                <a:tc>
                  <a:txBody>
                    <a:bodyPr wrap="square"/>
                    <a:lstStyle/>
                    <a:p>
                      <a:pPr>
                        <a:defRPr sz="1000">
                          <a:solidFill>
                            <a:srgbClr val="1E293B"/>
                          </a:solidFill>
                        </a:defRPr>
                      </a:pPr>
                      <a:r>
                        <a:t>ZF CV Control Systems India (~85% share)</a:t>
                      </a:r>
                    </a:p>
                  </a:txBody>
                  <a:tcPr>
                    <a:solidFill>
                      <a:srgbClr val="FFFFFF"/>
                    </a:solidFill>
                  </a:tcPr>
                </a:tc>
                <a:tc>
                  <a:txBody>
                    <a:bodyPr wrap="square"/>
                    <a:lstStyle/>
                    <a:p>
                      <a:pPr>
                        <a:defRPr sz="1000">
                          <a:solidFill>
                            <a:srgbClr val="1E293B"/>
                          </a:solidFill>
                        </a:defRPr>
                      </a:pPr>
                      <a:r>
                        <a:t>EBS, Air Brake ECUs, Homologation Warranty</a:t>
                      </a:r>
                    </a:p>
                  </a:txBody>
                  <a:tcPr>
                    <a:solidFill>
                      <a:srgbClr val="FFFFFF"/>
                    </a:solidFill>
                  </a:tcPr>
                </a:tc>
                <a:tc>
                  <a:txBody>
                    <a:bodyPr wrap="square"/>
                    <a:lstStyle/>
                    <a:p>
                      <a:pPr>
                        <a:defRPr sz="1000">
                          <a:solidFill>
                            <a:srgbClr val="1E293B"/>
                          </a:solidFill>
                        </a:defRPr>
                      </a:pPr>
                      <a:r>
                        <a:t>Do NOT touch actuation; pass through CAN actuation signals via Tier-1 ECU</a:t>
                      </a:r>
                    </a:p>
                  </a:txBody>
                  <a:tcPr>
                    <a:solidFill>
                      <a:srgbClr val="FFFFFF"/>
                    </a:solidFill>
                  </a:tcPr>
                </a:tc>
              </a:tr>
              <a:tr h="950976">
                <a:tc>
                  <a:txBody>
                    <a:bodyPr wrap="square"/>
                    <a:lstStyle/>
                    <a:p>
                      <a:pPr>
                        <a:defRPr sz="1000">
                          <a:solidFill>
                            <a:srgbClr val="1E293B"/>
                          </a:solidFill>
                        </a:defRPr>
                      </a:pPr>
                      <a:r>
                        <a:t>Arena 2: Edge Perception &amp; AI Vision</a:t>
                      </a:r>
                    </a:p>
                  </a:txBody>
                  <a:tcPr>
                    <a:solidFill>
                      <a:srgbClr val="F1F5F9"/>
                    </a:solidFill>
                  </a:tcPr>
                </a:tc>
                <a:tc>
                  <a:txBody>
                    <a:bodyPr wrap="square"/>
                    <a:lstStyle/>
                    <a:p>
                      <a:pPr>
                        <a:defRPr sz="1000">
                          <a:solidFill>
                            <a:srgbClr val="1E293B"/>
                          </a:solidFill>
                        </a:defRPr>
                      </a:pPr>
                      <a:r>
                        <a:t>Mobileye / Ambarella</a:t>
                      </a:r>
                    </a:p>
                  </a:txBody>
                  <a:tcPr>
                    <a:solidFill>
                      <a:srgbClr val="F1F5F9"/>
                    </a:solidFill>
                  </a:tcPr>
                </a:tc>
                <a:tc>
                  <a:txBody>
                    <a:bodyPr wrap="square"/>
                    <a:lstStyle/>
                    <a:p>
                      <a:pPr>
                        <a:defRPr sz="1000">
                          <a:solidFill>
                            <a:srgbClr val="1E293B"/>
                          </a:solidFill>
                        </a:defRPr>
                      </a:pPr>
                      <a:r>
                        <a:t>Monocular vision pipelines, Tier-1 bundling</a:t>
                      </a:r>
                    </a:p>
                  </a:txBody>
                  <a:tcPr>
                    <a:solidFill>
                      <a:srgbClr val="F1F5F9"/>
                    </a:solidFill>
                  </a:tcPr>
                </a:tc>
                <a:tc>
                  <a:txBody>
                    <a:bodyPr wrap="square"/>
                    <a:lstStyle/>
                    <a:p>
                      <a:pPr>
                        <a:defRPr sz="1000">
                          <a:solidFill>
                            <a:srgbClr val="1E293B"/>
                          </a:solidFill>
                        </a:defRPr>
                      </a:pPr>
                      <a:r>
                        <a:t>Displace Mobileye with uncalibrated Indian-chaos perception at 60% lower BOM</a:t>
                      </a:r>
                    </a:p>
                  </a:txBody>
                  <a:tcPr>
                    <a:solidFill>
                      <a:srgbClr val="F1F5F9"/>
                    </a:solidFill>
                  </a:tcPr>
                </a:tc>
              </a:tr>
              <a:tr h="950976">
                <a:tc>
                  <a:txBody>
                    <a:bodyPr wrap="square"/>
                    <a:lstStyle/>
                    <a:p>
                      <a:pPr>
                        <a:defRPr sz="1000">
                          <a:solidFill>
                            <a:srgbClr val="1E293B"/>
                          </a:solidFill>
                        </a:defRPr>
                      </a:pPr>
                      <a:r>
                        <a:t>Arena 3: Central Compute &amp; Domain ECUs</a:t>
                      </a:r>
                    </a:p>
                  </a:txBody>
                  <a:tcPr>
                    <a:solidFill>
                      <a:srgbClr val="FFFFFF"/>
                    </a:solidFill>
                  </a:tcPr>
                </a:tc>
                <a:tc>
                  <a:txBody>
                    <a:bodyPr wrap="square"/>
                    <a:lstStyle/>
                    <a:p>
                      <a:pPr>
                        <a:defRPr sz="1000">
                          <a:solidFill>
                            <a:srgbClr val="1E293B"/>
                          </a:solidFill>
                        </a:defRPr>
                      </a:pPr>
                      <a:r>
                        <a:t>NVIDIA / Texas Instruments / Qualcomm</a:t>
                      </a:r>
                    </a:p>
                  </a:txBody>
                  <a:tcPr>
                    <a:solidFill>
                      <a:srgbClr val="FFFFFF"/>
                    </a:solidFill>
                  </a:tcPr>
                </a:tc>
                <a:tc>
                  <a:txBody>
                    <a:bodyPr wrap="square"/>
                    <a:lstStyle/>
                    <a:p>
                      <a:pPr>
                        <a:defRPr sz="1000">
                          <a:solidFill>
                            <a:srgbClr val="1E293B"/>
                          </a:solidFill>
                        </a:defRPr>
                      </a:pPr>
                      <a:r>
                        <a:t>Automotive silicon architectures, high-end NRE</a:t>
                      </a:r>
                    </a:p>
                  </a:txBody>
                  <a:tcPr>
                    <a:solidFill>
                      <a:srgbClr val="FFFFFF"/>
                    </a:solidFill>
                  </a:tcPr>
                </a:tc>
                <a:tc>
                  <a:txBody>
                    <a:bodyPr wrap="square"/>
                    <a:lstStyle/>
                    <a:p>
                      <a:pPr>
                        <a:defRPr sz="1000">
                          <a:solidFill>
                            <a:srgbClr val="1E293B"/>
                          </a:solidFill>
                        </a:defRPr>
                      </a:pPr>
                      <a:r>
                        <a:t>Provide dedicated ultra-low-power (&lt;15W) edge NPU IP block (&lt;$140 ASP)</a:t>
                      </a:r>
                    </a:p>
                  </a:txBody>
                  <a:tcPr>
                    <a:solidFill>
                      <a:srgbClr val="FFFFFF"/>
                    </a:solidFill>
                  </a:tcPr>
                </a:tc>
              </a:tr>
              <a:tr h="950976">
                <a:tc>
                  <a:txBody>
                    <a:bodyPr wrap="square"/>
                    <a:lstStyle/>
                    <a:p>
                      <a:pPr>
                        <a:defRPr sz="1000">
                          <a:solidFill>
                            <a:srgbClr val="1E293B"/>
                          </a:solidFill>
                        </a:defRPr>
                      </a:pPr>
                      <a:r>
                        <a:t>Arena 4: Fleet Telematics &amp; AIS-140</a:t>
                      </a:r>
                    </a:p>
                  </a:txBody>
                  <a:tcPr>
                    <a:solidFill>
                      <a:srgbClr val="F1F5F9"/>
                    </a:solidFill>
                  </a:tcPr>
                </a:tc>
                <a:tc>
                  <a:txBody>
                    <a:bodyPr wrap="square"/>
                    <a:lstStyle/>
                    <a:p>
                      <a:pPr>
                        <a:defRPr sz="1000">
                          <a:solidFill>
                            <a:srgbClr val="1E293B"/>
                          </a:solidFill>
                        </a:defRPr>
                      </a:pPr>
                      <a:r>
                        <a:t>Bosch India / Uno Minda / Rosmerta</a:t>
                      </a:r>
                    </a:p>
                  </a:txBody>
                  <a:tcPr>
                    <a:solidFill>
                      <a:srgbClr val="F1F5F9"/>
                    </a:solidFill>
                  </a:tcPr>
                </a:tc>
                <a:tc>
                  <a:txBody>
                    <a:bodyPr wrap="square"/>
                    <a:lstStyle/>
                    <a:p>
                      <a:pPr>
                        <a:defRPr sz="1000">
                          <a:solidFill>
                            <a:srgbClr val="1E293B"/>
                          </a:solidFill>
                        </a:defRPr>
                      </a:pPr>
                      <a:r>
                        <a:t>Telematics hardware, cloud fleet portals</a:t>
                      </a:r>
                    </a:p>
                  </a:txBody>
                  <a:tcPr>
                    <a:solidFill>
                      <a:srgbClr val="F1F5F9"/>
                    </a:solidFill>
                  </a:tcPr>
                </a:tc>
                <a:tc>
                  <a:txBody>
                    <a:bodyPr wrap="square"/>
                    <a:lstStyle/>
                    <a:p>
                      <a:pPr>
                        <a:defRPr sz="1000">
                          <a:solidFill>
                            <a:srgbClr val="1E293B"/>
                          </a:solidFill>
                        </a:defRPr>
                      </a:pPr>
                      <a:r>
                        <a:t>Provide edge metadata stream feeding AIS-140 boxes for real-time safety scoring</a:t>
                      </a:r>
                    </a:p>
                  </a:txBody>
                  <a:tcPr>
                    <a:solidFill>
                      <a:srgbClr val="F1F5F9"/>
                    </a:solidFill>
                  </a:tcPr>
                </a:tc>
              </a:tr>
            </a:tbl>
          </a:graphicData>
        </a:graphic>
      </p:graphicFrame>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0284C7"/>
                </a:solidFill>
              </a:defRPr>
            </a:pPr>
            <a:r>
              <a:t>ACT III: COMPETITOR PRODUCT TEARDOWNS</a:t>
            </a:r>
          </a:p>
        </p:txBody>
      </p:sp>
      <p:sp>
        <p:nvSpPr>
          <p:cNvPr id="4" name="TextBox 3"/>
          <p:cNvSpPr txBox="1"/>
          <p:nvPr/>
        </p:nvSpPr>
        <p:spPr>
          <a:xfrm>
            <a:off x="731520" y="640080"/>
            <a:ext cx="10698480" cy="731520"/>
          </a:xfrm>
          <a:prstGeom prst="rect">
            <a:avLst/>
          </a:prstGeom>
          <a:noFill/>
        </p:spPr>
        <p:txBody>
          <a:bodyPr wrap="square">
            <a:spAutoFit/>
          </a:bodyPr>
          <a:lstStyle/>
          <a:p>
            <a:pPr>
              <a:defRPr sz="1800" b="1">
                <a:solidFill>
                  <a:srgbClr val="0F172A"/>
                </a:solidFill>
              </a:defRPr>
            </a:pPr>
            <a:r>
              <a:t>ZF CV Control Systems India Teardown: Fortress Moat vs. Co-Processor Synergy</a:t>
            </a:r>
          </a:p>
        </p:txBody>
      </p:sp>
      <p:sp>
        <p:nvSpPr>
          <p:cNvPr id="5" name="Rectangle 4"/>
          <p:cNvSpPr/>
          <p:nvPr/>
        </p:nvSpPr>
        <p:spPr>
          <a:xfrm>
            <a:off x="731520" y="1463040"/>
            <a:ext cx="5212080" cy="47548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663440" cy="4206240"/>
          </a:xfrm>
          <a:prstGeom prst="rect">
            <a:avLst/>
          </a:prstGeom>
          <a:noFill/>
        </p:spPr>
        <p:txBody>
          <a:bodyPr wrap="square">
            <a:spAutoFit/>
          </a:bodyPr>
          <a:lstStyle/>
          <a:p>
            <a:pPr>
              <a:defRPr sz="1500" b="1">
                <a:solidFill>
                  <a:srgbClr val="0F172A"/>
                </a:solidFill>
              </a:defRPr>
            </a:pPr>
            <a:r>
              <a:t>ZF Fortress Strengths (Why Direct Attack Fails)</a:t>
            </a:r>
          </a:p>
          <a:p>
            <a:pPr>
              <a:spcBef>
                <a:spcPts val="1000"/>
              </a:spcBef>
              <a:defRPr sz="1100">
                <a:solidFill>
                  <a:srgbClr val="1E293B"/>
                </a:solidFill>
              </a:defRPr>
            </a:pPr>
            <a:r>
              <a:t>•  Complete control over commercial vehicle pneumatic brake lines, ABS/EBS valves, and foundation brakes.</a:t>
            </a:r>
          </a:p>
          <a:p>
            <a:pPr>
              <a:spcBef>
                <a:spcPts val="1000"/>
              </a:spcBef>
              <a:defRPr sz="1100">
                <a:solidFill>
                  <a:srgbClr val="1E293B"/>
                </a:solidFill>
              </a:defRPr>
            </a:pPr>
            <a:r>
              <a:t>•  Long-term master supply contracts and co-located manufacturing with Tata Motors (Pune/Jamshedpur) and Ashok Leyland (Chennai).</a:t>
            </a:r>
          </a:p>
          <a:p>
            <a:pPr>
              <a:spcBef>
                <a:spcPts val="1000"/>
              </a:spcBef>
              <a:defRPr sz="1100">
                <a:solidFill>
                  <a:srgbClr val="1E293B"/>
                </a:solidFill>
              </a:defRPr>
            </a:pPr>
            <a:r>
              <a:t>•  ARAI/ICAT homologation certificates are held directly under ZF subsystem names; changing braking supplier requires 24+ months of re-testing.</a:t>
            </a:r>
          </a:p>
        </p:txBody>
      </p:sp>
      <p:sp>
        <p:nvSpPr>
          <p:cNvPr id="7" name="Rectangle 6"/>
          <p:cNvSpPr/>
          <p:nvPr/>
        </p:nvSpPr>
        <p:spPr>
          <a:xfrm>
            <a:off x="6217920" y="1463040"/>
            <a:ext cx="5212080" cy="4754880"/>
          </a:xfrm>
          <a:prstGeom prst="rect">
            <a:avLst/>
          </a:prstGeom>
          <a:solidFill>
            <a:srgbClr val="FFFFFF"/>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737360"/>
            <a:ext cx="4663440" cy="4206240"/>
          </a:xfrm>
          <a:prstGeom prst="rect">
            <a:avLst/>
          </a:prstGeom>
          <a:noFill/>
        </p:spPr>
        <p:txBody>
          <a:bodyPr wrap="square">
            <a:spAutoFit/>
          </a:bodyPr>
          <a:lstStyle/>
          <a:p>
            <a:pPr>
              <a:defRPr sz="1500" b="1">
                <a:solidFill>
                  <a:srgbClr val="0284C7"/>
                </a:solidFill>
              </a:defRPr>
            </a:pPr>
            <a:r>
              <a:t>DeepGrid Bounded Co-Processor Win</a:t>
            </a:r>
          </a:p>
          <a:p>
            <a:pPr>
              <a:spcBef>
                <a:spcPts val="1000"/>
              </a:spcBef>
              <a:defRPr sz="1100">
                <a:solidFill>
                  <a:srgbClr val="1E293B"/>
                </a:solidFill>
              </a:defRPr>
            </a:pPr>
            <a:r>
              <a:t>•  ZF lacks low-cost localized edge AI perception tailored for Indian road chaos (cattle, rickshaws, unmarked highways).</a:t>
            </a:r>
          </a:p>
          <a:p>
            <a:pPr>
              <a:spcBef>
                <a:spcPts val="1000"/>
              </a:spcBef>
              <a:defRPr sz="1100">
                <a:solidFill>
                  <a:srgbClr val="1E293B"/>
                </a:solidFill>
              </a:defRPr>
            </a:pPr>
            <a:r>
              <a:t>•  DeepGrid provides a pre-tested NPU daughterboard that plugs directly into ZF's next-gen EBS 12 Domain Controller via CAN-FD / Ethernet.</a:t>
            </a:r>
          </a:p>
          <a:p>
            <a:pPr>
              <a:spcBef>
                <a:spcPts val="1000"/>
              </a:spcBef>
              <a:defRPr sz="1100">
                <a:solidFill>
                  <a:srgbClr val="1E293B"/>
                </a:solidFill>
              </a:defRPr>
            </a:pPr>
            <a:r>
              <a:t>•  ZF preserves its EBS hardware monopoly and system warranty, while meeting OEM 2027 compliance at target cost.</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0284C7"/>
                </a:solidFill>
              </a:defRPr>
            </a:pPr>
            <a:r>
              <a:t>ACT III: COMPETITOR PRODUCT TEARDOWNS</a:t>
            </a:r>
          </a:p>
        </p:txBody>
      </p:sp>
      <p:sp>
        <p:nvSpPr>
          <p:cNvPr id="4" name="TextBox 3"/>
          <p:cNvSpPr txBox="1"/>
          <p:nvPr/>
        </p:nvSpPr>
        <p:spPr>
          <a:xfrm>
            <a:off x="731520" y="640080"/>
            <a:ext cx="10698480" cy="731520"/>
          </a:xfrm>
          <a:prstGeom prst="rect">
            <a:avLst/>
          </a:prstGeom>
          <a:noFill/>
        </p:spPr>
        <p:txBody>
          <a:bodyPr wrap="square">
            <a:spAutoFit/>
          </a:bodyPr>
          <a:lstStyle/>
          <a:p>
            <a:pPr>
              <a:defRPr sz="1800" b="1">
                <a:solidFill>
                  <a:srgbClr val="0F172A"/>
                </a:solidFill>
              </a:defRPr>
            </a:pPr>
            <a:r>
              <a:t>Mobileye vs. DeepGrid: Direct Head-to-Head Architectural Benchmark</a:t>
            </a:r>
          </a:p>
        </p:txBody>
      </p:sp>
      <p:graphicFrame>
        <p:nvGraphicFramePr>
          <p:cNvPr id="5" name="Table 4"/>
          <p:cNvGraphicFramePr>
            <a:graphicFrameLocks noGrp="1"/>
          </p:cNvGraphicFramePr>
          <p:nvPr/>
        </p:nvGraphicFramePr>
        <p:xfrm>
          <a:off x="731520" y="1463040"/>
          <a:ext cx="10698480" cy="4754880"/>
        </p:xfrm>
        <a:graphic>
          <a:graphicData uri="http://schemas.openxmlformats.org/drawingml/2006/table">
            <a:tbl>
              <a:tblPr firstRow="1" bandRow="1">
                <a:tableStyleId>{5C22544A-7EE6-4342-B048-85BDC9FD1C3A}</a:tableStyleId>
              </a:tblPr>
              <a:tblGrid>
                <a:gridCol w="2674620"/>
                <a:gridCol w="2674620"/>
                <a:gridCol w="2674620"/>
                <a:gridCol w="2674620"/>
              </a:tblGrid>
              <a:tr h="950976">
                <a:tc>
                  <a:txBody>
                    <a:bodyPr wrap="square"/>
                    <a:lstStyle/>
                    <a:p>
                      <a:pPr>
                        <a:defRPr b="1" sz="1100">
                          <a:solidFill>
                            <a:srgbClr val="FFFFFF"/>
                          </a:solidFill>
                        </a:defRPr>
                      </a:pPr>
                      <a:r>
                        <a:t>Evaluation Metric</a:t>
                      </a:r>
                    </a:p>
                  </a:txBody>
                  <a:tcPr>
                    <a:solidFill>
                      <a:srgbClr val="0F172A"/>
                    </a:solidFill>
                  </a:tcPr>
                </a:tc>
                <a:tc>
                  <a:txBody>
                    <a:bodyPr wrap="square"/>
                    <a:lstStyle/>
                    <a:p>
                      <a:pPr>
                        <a:defRPr b="1" sz="1100">
                          <a:solidFill>
                            <a:srgbClr val="FFFFFF"/>
                          </a:solidFill>
                        </a:defRPr>
                      </a:pPr>
                      <a:r>
                        <a:t>Mobileye EyeQ4 / EyeQ6L</a:t>
                      </a:r>
                    </a:p>
                  </a:txBody>
                  <a:tcPr>
                    <a:solidFill>
                      <a:srgbClr val="0F172A"/>
                    </a:solidFill>
                  </a:tcPr>
                </a:tc>
                <a:tc>
                  <a:txBody>
                    <a:bodyPr wrap="square"/>
                    <a:lstStyle/>
                    <a:p>
                      <a:pPr>
                        <a:defRPr b="1" sz="1100">
                          <a:solidFill>
                            <a:srgbClr val="FFFFFF"/>
                          </a:solidFill>
                        </a:defRPr>
                      </a:pPr>
                      <a:r>
                        <a:t>DeepGrid Semi Edge NPU</a:t>
                      </a:r>
                    </a:p>
                  </a:txBody>
                  <a:tcPr>
                    <a:solidFill>
                      <a:srgbClr val="0F172A"/>
                    </a:solidFill>
                  </a:tcPr>
                </a:tc>
                <a:tc>
                  <a:txBody>
                    <a:bodyPr wrap="square"/>
                    <a:lstStyle/>
                    <a:p>
                      <a:pPr>
                        <a:defRPr b="1" sz="1100">
                          <a:solidFill>
                            <a:srgbClr val="FFFFFF"/>
                          </a:solidFill>
                        </a:defRPr>
                      </a:pPr>
                      <a:r>
                        <a:t>Strategic Impact for Indian CV OEMs</a:t>
                      </a:r>
                    </a:p>
                  </a:txBody>
                  <a:tcPr>
                    <a:solidFill>
                      <a:srgbClr val="0F172A"/>
                    </a:solidFill>
                  </a:tcPr>
                </a:tc>
              </a:tr>
              <a:tr h="950976">
                <a:tc>
                  <a:txBody>
                    <a:bodyPr wrap="square"/>
                    <a:lstStyle/>
                    <a:p>
                      <a:pPr>
                        <a:defRPr sz="1000">
                          <a:solidFill>
                            <a:srgbClr val="1E293B"/>
                          </a:solidFill>
                        </a:defRPr>
                      </a:pPr>
                      <a:r>
                        <a:t>Uncalibrated Chaos Handling</a:t>
                      </a:r>
                    </a:p>
                  </a:txBody>
                  <a:tcPr>
                    <a:solidFill>
                      <a:srgbClr val="FFFFFF"/>
                    </a:solidFill>
                  </a:tcPr>
                </a:tc>
                <a:tc>
                  <a:txBody>
                    <a:bodyPr wrap="square"/>
                    <a:lstStyle/>
                    <a:p>
                      <a:pPr>
                        <a:defRPr sz="1000">
                          <a:solidFill>
                            <a:srgbClr val="1E293B"/>
                          </a:solidFill>
                        </a:defRPr>
                      </a:pPr>
                      <a:r>
                        <a:t>Fails on unmarked roads; relies heavily on lane markings</a:t>
                      </a:r>
                    </a:p>
                  </a:txBody>
                  <a:tcPr>
                    <a:solidFill>
                      <a:srgbClr val="FFFFFF"/>
                    </a:solidFill>
                  </a:tcPr>
                </a:tc>
                <a:tc>
                  <a:txBody>
                    <a:bodyPr wrap="square"/>
                    <a:lstStyle/>
                    <a:p>
                      <a:pPr>
                        <a:defRPr sz="1000">
                          <a:solidFill>
                            <a:srgbClr val="1E293B"/>
                          </a:solidFill>
                        </a:defRPr>
                      </a:pPr>
                      <a:r>
                        <a:t>Trained natively on 10M+ km Indian road topology &amp; obstacles</a:t>
                      </a:r>
                    </a:p>
                  </a:txBody>
                  <a:tcPr>
                    <a:solidFill>
                      <a:srgbClr val="FFFFFF"/>
                    </a:solidFill>
                  </a:tcPr>
                </a:tc>
                <a:tc>
                  <a:txBody>
                    <a:bodyPr wrap="square"/>
                    <a:lstStyle/>
                    <a:p>
                      <a:pPr>
                        <a:defRPr sz="1000">
                          <a:solidFill>
                            <a:srgbClr val="1E293B"/>
                          </a:solidFill>
                        </a:defRPr>
                      </a:pPr>
                      <a:r>
                        <a:t>DeepGrid eliminates false alarm shutdown by commercial drivers</a:t>
                      </a:r>
                    </a:p>
                  </a:txBody>
                  <a:tcPr>
                    <a:solidFill>
                      <a:srgbClr val="FFFFFF"/>
                    </a:solidFill>
                  </a:tcPr>
                </a:tc>
              </a:tr>
              <a:tr h="950976">
                <a:tc>
                  <a:txBody>
                    <a:bodyPr wrap="square"/>
                    <a:lstStyle/>
                    <a:p>
                      <a:pPr>
                        <a:defRPr sz="1000">
                          <a:solidFill>
                            <a:srgbClr val="1E293B"/>
                          </a:solidFill>
                        </a:defRPr>
                      </a:pPr>
                      <a:r>
                        <a:t>Chassis BOM Cost</a:t>
                      </a:r>
                    </a:p>
                  </a:txBody>
                  <a:tcPr>
                    <a:solidFill>
                      <a:srgbClr val="F1F5F9"/>
                    </a:solidFill>
                  </a:tcPr>
                </a:tc>
                <a:tc>
                  <a:txBody>
                    <a:bodyPr wrap="square"/>
                    <a:lstStyle/>
                    <a:p>
                      <a:pPr>
                        <a:defRPr sz="1000">
                          <a:solidFill>
                            <a:srgbClr val="1E293B"/>
                          </a:solidFill>
                        </a:defRPr>
                      </a:pPr>
                      <a:r>
                        <a:t>$300–$450 for vision silicon + camera + NRE</a:t>
                      </a:r>
                    </a:p>
                  </a:txBody>
                  <a:tcPr>
                    <a:solidFill>
                      <a:srgbClr val="F1F5F9"/>
                    </a:solidFill>
                  </a:tcPr>
                </a:tc>
                <a:tc>
                  <a:txBody>
                    <a:bodyPr wrap="square"/>
                    <a:lstStyle/>
                    <a:p>
                      <a:pPr>
                        <a:defRPr sz="1000">
                          <a:solidFill>
                            <a:srgbClr val="1E293B"/>
                          </a:solidFill>
                        </a:defRPr>
                      </a:pPr>
                      <a:r>
                        <a:t>$120–$140 for complete NPU module + sensor interface</a:t>
                      </a:r>
                    </a:p>
                  </a:txBody>
                  <a:tcPr>
                    <a:solidFill>
                      <a:srgbClr val="F1F5F9"/>
                    </a:solidFill>
                  </a:tcPr>
                </a:tc>
                <a:tc>
                  <a:txBody>
                    <a:bodyPr wrap="square"/>
                    <a:lstStyle/>
                    <a:p>
                      <a:pPr>
                        <a:defRPr sz="1000">
                          <a:solidFill>
                            <a:srgbClr val="1E293B"/>
                          </a:solidFill>
                        </a:defRPr>
                      </a:pPr>
                      <a:r>
                        <a:t>DeepGrid hits OEM sub-$400 total chassis BOM ceiling</a:t>
                      </a:r>
                    </a:p>
                  </a:txBody>
                  <a:tcPr>
                    <a:solidFill>
                      <a:srgbClr val="F1F5F9"/>
                    </a:solidFill>
                  </a:tcPr>
                </a:tc>
              </a:tr>
              <a:tr h="950976">
                <a:tc>
                  <a:txBody>
                    <a:bodyPr wrap="square"/>
                    <a:lstStyle/>
                    <a:p>
                      <a:pPr>
                        <a:defRPr sz="1000">
                          <a:solidFill>
                            <a:srgbClr val="1E293B"/>
                          </a:solidFill>
                        </a:defRPr>
                      </a:pPr>
                      <a:r>
                        <a:t>Integration Flexibility</a:t>
                      </a:r>
                    </a:p>
                  </a:txBody>
                  <a:tcPr>
                    <a:solidFill>
                      <a:srgbClr val="FFFFFF"/>
                    </a:solidFill>
                  </a:tcPr>
                </a:tc>
                <a:tc>
                  <a:txBody>
                    <a:bodyPr wrap="square"/>
                    <a:lstStyle/>
                    <a:p>
                      <a:pPr>
                        <a:defRPr sz="1000">
                          <a:solidFill>
                            <a:srgbClr val="1E293B"/>
                          </a:solidFill>
                        </a:defRPr>
                      </a:pPr>
                      <a:r>
                        <a:t>Closed black-box stack; proprietary camera modules only</a:t>
                      </a:r>
                    </a:p>
                  </a:txBody>
                  <a:tcPr>
                    <a:solidFill>
                      <a:srgbClr val="FFFFFF"/>
                    </a:solidFill>
                  </a:tcPr>
                </a:tc>
                <a:tc>
                  <a:txBody>
                    <a:bodyPr wrap="square"/>
                    <a:lstStyle/>
                    <a:p>
                      <a:pPr>
                        <a:defRPr sz="1000">
                          <a:solidFill>
                            <a:srgbClr val="1E293B"/>
                          </a:solidFill>
                        </a:defRPr>
                      </a:pPr>
                      <a:r>
                        <a:t>Open API, standard automotive CMOS sensor compatibility</a:t>
                      </a:r>
                    </a:p>
                  </a:txBody>
                  <a:tcPr>
                    <a:solidFill>
                      <a:srgbClr val="FFFFFF"/>
                    </a:solidFill>
                  </a:tcPr>
                </a:tc>
                <a:tc>
                  <a:txBody>
                    <a:bodyPr wrap="square"/>
                    <a:lstStyle/>
                    <a:p>
                      <a:pPr>
                        <a:defRPr sz="1000">
                          <a:solidFill>
                            <a:srgbClr val="1E293B"/>
                          </a:solidFill>
                        </a:defRPr>
                      </a:pPr>
                      <a:r>
                        <a:t>Tier-1s can source standard Indian automotive cameras</a:t>
                      </a:r>
                    </a:p>
                  </a:txBody>
                  <a:tcPr>
                    <a:solidFill>
                      <a:srgbClr val="FFFFFF"/>
                    </a:solidFill>
                  </a:tcPr>
                </a:tc>
              </a:tr>
              <a:tr h="950976">
                <a:tc>
                  <a:txBody>
                    <a:bodyPr wrap="square"/>
                    <a:lstStyle/>
                    <a:p>
                      <a:pPr>
                        <a:defRPr sz="1000">
                          <a:solidFill>
                            <a:srgbClr val="1E293B"/>
                          </a:solidFill>
                        </a:defRPr>
                      </a:pPr>
                      <a:r>
                        <a:t>Power &amp; Thermal Envelope</a:t>
                      </a:r>
                    </a:p>
                  </a:txBody>
                  <a:tcPr>
                    <a:solidFill>
                      <a:srgbClr val="F1F5F9"/>
                    </a:solidFill>
                  </a:tcPr>
                </a:tc>
                <a:tc>
                  <a:txBody>
                    <a:bodyPr wrap="square"/>
                    <a:lstStyle/>
                    <a:p>
                      <a:pPr>
                        <a:defRPr sz="1000">
                          <a:solidFill>
                            <a:srgbClr val="1E293B"/>
                          </a:solidFill>
                        </a:defRPr>
                      </a:pPr>
                      <a:r>
                        <a:t>25W–40W; requires active cooling in Indian summer (50°C)</a:t>
                      </a:r>
                    </a:p>
                  </a:txBody>
                  <a:tcPr>
                    <a:solidFill>
                      <a:srgbClr val="F1F5F9"/>
                    </a:solidFill>
                  </a:tcPr>
                </a:tc>
                <a:tc>
                  <a:txBody>
                    <a:bodyPr wrap="square"/>
                    <a:lstStyle/>
                    <a:p>
                      <a:pPr>
                        <a:defRPr sz="1000">
                          <a:solidFill>
                            <a:srgbClr val="1E293B"/>
                          </a:solidFill>
                        </a:defRPr>
                      </a:pPr>
                      <a:r>
                        <a:t>&lt;15W passive cooling; automotive-grade -40°C to +105°C</a:t>
                      </a:r>
                    </a:p>
                  </a:txBody>
                  <a:tcPr>
                    <a:solidFill>
                      <a:srgbClr val="F1F5F9"/>
                    </a:solidFill>
                  </a:tcPr>
                </a:tc>
                <a:tc>
                  <a:txBody>
                    <a:bodyPr wrap="square"/>
                    <a:lstStyle/>
                    <a:p>
                      <a:pPr>
                        <a:defRPr sz="1000">
                          <a:solidFill>
                            <a:srgbClr val="1E293B"/>
                          </a:solidFill>
                        </a:defRPr>
                      </a:pPr>
                      <a:r>
                        <a:t>Zero cabin airflow dependency; high reliability in engine bay</a:t>
                      </a:r>
                    </a:p>
                  </a:txBody>
                  <a:tcPr>
                    <a:solidFill>
                      <a:srgbClr val="F1F5F9"/>
                    </a:solidFill>
                  </a:tcPr>
                </a:tc>
              </a:tr>
            </a:tbl>
          </a:graphicData>
        </a:graphic>
      </p:graphicFrame>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0284C7"/>
                </a:solidFill>
              </a:defRPr>
            </a:pPr>
            <a:r>
              <a:t>ACT IV: STAGED MOVES &amp; STRATEGIC EXECUTION</a:t>
            </a:r>
          </a:p>
        </p:txBody>
      </p:sp>
      <p:sp>
        <p:nvSpPr>
          <p:cNvPr id="4" name="TextBox 3"/>
          <p:cNvSpPr txBox="1"/>
          <p:nvPr/>
        </p:nvSpPr>
        <p:spPr>
          <a:xfrm>
            <a:off x="731520" y="640080"/>
            <a:ext cx="10698480" cy="731520"/>
          </a:xfrm>
          <a:prstGeom prst="rect">
            <a:avLst/>
          </a:prstGeom>
          <a:noFill/>
        </p:spPr>
        <p:txBody>
          <a:bodyPr wrap="square">
            <a:spAutoFit/>
          </a:bodyPr>
          <a:lstStyle/>
          <a:p>
            <a:pPr>
              <a:defRPr sz="1800" b="1">
                <a:solidFill>
                  <a:srgbClr val="0F172A"/>
                </a:solidFill>
              </a:defRPr>
            </a:pPr>
            <a:r>
              <a:t>The 'Attach &amp; Prove' 3-Stage Commercial Penetration Roadmap</a:t>
            </a:r>
          </a:p>
        </p:txBody>
      </p:sp>
      <p:graphicFrame>
        <p:nvGraphicFramePr>
          <p:cNvPr id="5" name="Table 4"/>
          <p:cNvGraphicFramePr>
            <a:graphicFrameLocks noGrp="1"/>
          </p:cNvGraphicFramePr>
          <p:nvPr/>
        </p:nvGraphicFramePr>
        <p:xfrm>
          <a:off x="731520" y="1463040"/>
          <a:ext cx="10698480" cy="4754880"/>
        </p:xfrm>
        <a:graphic>
          <a:graphicData uri="http://schemas.openxmlformats.org/drawingml/2006/table">
            <a:tbl>
              <a:tblPr firstRow="1" bandRow="1">
                <a:tableStyleId>{5C22544A-7EE6-4342-B048-85BDC9FD1C3A}</a:tableStyleId>
              </a:tblPr>
              <a:tblGrid>
                <a:gridCol w="2674620"/>
                <a:gridCol w="2674620"/>
                <a:gridCol w="2674620"/>
                <a:gridCol w="2674620"/>
              </a:tblGrid>
              <a:tr h="1188720">
                <a:tc>
                  <a:txBody>
                    <a:bodyPr wrap="square"/>
                    <a:lstStyle/>
                    <a:p>
                      <a:pPr>
                        <a:defRPr b="1" sz="1100">
                          <a:solidFill>
                            <a:srgbClr val="FFFFFF"/>
                          </a:solidFill>
                        </a:defRPr>
                      </a:pPr>
                      <a:r>
                        <a:t>Stage</a:t>
                      </a:r>
                    </a:p>
                  </a:txBody>
                  <a:tcPr>
                    <a:solidFill>
                      <a:srgbClr val="0F172A"/>
                    </a:solidFill>
                  </a:tcPr>
                </a:tc>
                <a:tc>
                  <a:txBody>
                    <a:bodyPr wrap="square"/>
                    <a:lstStyle/>
                    <a:p>
                      <a:pPr>
                        <a:defRPr b="1" sz="1100">
                          <a:solidFill>
                            <a:srgbClr val="FFFFFF"/>
                          </a:solidFill>
                        </a:defRPr>
                      </a:pPr>
                      <a:r>
                        <a:t>Target Milestone</a:t>
                      </a:r>
                    </a:p>
                  </a:txBody>
                  <a:tcPr>
                    <a:solidFill>
                      <a:srgbClr val="0F172A"/>
                    </a:solidFill>
                  </a:tcPr>
                </a:tc>
                <a:tc>
                  <a:txBody>
                    <a:bodyPr wrap="square"/>
                    <a:lstStyle/>
                    <a:p>
                      <a:pPr>
                        <a:defRPr b="1" sz="1100">
                          <a:solidFill>
                            <a:srgbClr val="FFFFFF"/>
                          </a:solidFill>
                        </a:defRPr>
                      </a:pPr>
                      <a:r>
                        <a:t>Key Partner / Customer</a:t>
                      </a:r>
                    </a:p>
                  </a:txBody>
                  <a:tcPr>
                    <a:solidFill>
                      <a:srgbClr val="0F172A"/>
                    </a:solidFill>
                  </a:tcPr>
                </a:tc>
                <a:tc>
                  <a:txBody>
                    <a:bodyPr wrap="square"/>
                    <a:lstStyle/>
                    <a:p>
                      <a:pPr>
                        <a:defRPr b="1" sz="1100">
                          <a:solidFill>
                            <a:srgbClr val="FFFFFF"/>
                          </a:solidFill>
                        </a:defRPr>
                      </a:pPr>
                      <a:r>
                        <a:t>Revenue &amp; Validation Gate</a:t>
                      </a:r>
                    </a:p>
                  </a:txBody>
                  <a:tcPr>
                    <a:solidFill>
                      <a:srgbClr val="0F172A"/>
                    </a:solidFill>
                  </a:tcPr>
                </a:tc>
              </a:tr>
              <a:tr h="1188720">
                <a:tc>
                  <a:txBody>
                    <a:bodyPr wrap="square"/>
                    <a:lstStyle/>
                    <a:p>
                      <a:pPr>
                        <a:defRPr sz="1000">
                          <a:solidFill>
                            <a:srgbClr val="1E293B"/>
                          </a:solidFill>
                        </a:defRPr>
                      </a:pPr>
                      <a:r>
                        <a:t>Stage 1: Tier-1 HIL Integration (Months 1–6)</a:t>
                      </a:r>
                    </a:p>
                  </a:txBody>
                  <a:tcPr>
                    <a:solidFill>
                      <a:srgbClr val="FFFFFF"/>
                    </a:solidFill>
                  </a:tcPr>
                </a:tc>
                <a:tc>
                  <a:txBody>
                    <a:bodyPr wrap="square"/>
                    <a:lstStyle/>
                    <a:p>
                      <a:pPr>
                        <a:defRPr sz="1000">
                          <a:solidFill>
                            <a:srgbClr val="1E293B"/>
                          </a:solidFill>
                        </a:defRPr>
                      </a:pPr>
                      <a:r>
                        <a:t>Complete CAN-FD integration with ZF EBS 12 &amp; Uno Minda ADAS domain controller</a:t>
                      </a:r>
                    </a:p>
                  </a:txBody>
                  <a:tcPr>
                    <a:solidFill>
                      <a:srgbClr val="FFFFFF"/>
                    </a:solidFill>
                  </a:tcPr>
                </a:tc>
                <a:tc>
                  <a:txBody>
                    <a:bodyPr wrap="square"/>
                    <a:lstStyle/>
                    <a:p>
                      <a:pPr>
                        <a:defRPr sz="1000">
                          <a:solidFill>
                            <a:srgbClr val="1E293B"/>
                          </a:solidFill>
                        </a:defRPr>
                      </a:pPr>
                      <a:r>
                        <a:t>ZF India, Uno Minda R&amp;D</a:t>
                      </a:r>
                    </a:p>
                  </a:txBody>
                  <a:tcPr>
                    <a:solidFill>
                      <a:srgbClr val="FFFFFF"/>
                    </a:solidFill>
                  </a:tcPr>
                </a:tc>
                <a:tc>
                  <a:txBody>
                    <a:bodyPr wrap="square"/>
                    <a:lstStyle/>
                    <a:p>
                      <a:pPr>
                        <a:defRPr sz="1000">
                          <a:solidFill>
                            <a:srgbClr val="1E293B"/>
                          </a:solidFill>
                        </a:defRPr>
                      </a:pPr>
                      <a:r>
                        <a:t>Zero CAN bus fault injection; &lt;15ms frame latency</a:t>
                      </a:r>
                    </a:p>
                  </a:txBody>
                  <a:tcPr>
                    <a:solidFill>
                      <a:srgbClr val="FFFFFF"/>
                    </a:solidFill>
                  </a:tcPr>
                </a:tc>
              </a:tr>
              <a:tr h="1188720">
                <a:tc>
                  <a:txBody>
                    <a:bodyPr wrap="square"/>
                    <a:lstStyle/>
                    <a:p>
                      <a:pPr>
                        <a:defRPr sz="1000">
                          <a:solidFill>
                            <a:srgbClr val="1E293B"/>
                          </a:solidFill>
                        </a:defRPr>
                      </a:pPr>
                      <a:r>
                        <a:t>Stage 2: OEM Track Pilots (Months 7–12)</a:t>
                      </a:r>
                    </a:p>
                  </a:txBody>
                  <a:tcPr>
                    <a:solidFill>
                      <a:srgbClr val="F1F5F9"/>
                    </a:solidFill>
                  </a:tcPr>
                </a:tc>
                <a:tc>
                  <a:txBody>
                    <a:bodyPr wrap="square"/>
                    <a:lstStyle/>
                    <a:p>
                      <a:pPr>
                        <a:defRPr sz="1000">
                          <a:solidFill>
                            <a:srgbClr val="1E293B"/>
                          </a:solidFill>
                        </a:defRPr>
                      </a:pPr>
                      <a:r>
                        <a:t>10,000 km test track verification at ARAI Pune on Tata Prima &amp; Ashok Leyland Boss</a:t>
                      </a:r>
                    </a:p>
                  </a:txBody>
                  <a:tcPr>
                    <a:solidFill>
                      <a:srgbClr val="F1F5F9"/>
                    </a:solidFill>
                  </a:tcPr>
                </a:tc>
                <a:tc>
                  <a:txBody>
                    <a:bodyPr wrap="square"/>
                    <a:lstStyle/>
                    <a:p>
                      <a:pPr>
                        <a:defRPr sz="1000">
                          <a:solidFill>
                            <a:srgbClr val="1E293B"/>
                          </a:solidFill>
                        </a:defRPr>
                      </a:pPr>
                      <a:r>
                        <a:t>Tata Motors CV, Ashok Leyland</a:t>
                      </a:r>
                    </a:p>
                  </a:txBody>
                  <a:tcPr>
                    <a:solidFill>
                      <a:srgbClr val="F1F5F9"/>
                    </a:solidFill>
                  </a:tcPr>
                </a:tc>
                <a:tc>
                  <a:txBody>
                    <a:bodyPr wrap="square"/>
                    <a:lstStyle/>
                    <a:p>
                      <a:pPr>
                        <a:defRPr sz="1000">
                          <a:solidFill>
                            <a:srgbClr val="1E293B"/>
                          </a:solidFill>
                        </a:defRPr>
                      </a:pPr>
                      <a:r>
                        <a:t>100% AIS-140 compliance pass; &lt;0.1 false alerts/100km</a:t>
                      </a:r>
                    </a:p>
                  </a:txBody>
                  <a:tcPr>
                    <a:solidFill>
                      <a:srgbClr val="F1F5F9"/>
                    </a:solidFill>
                  </a:tcPr>
                </a:tc>
              </a:tr>
              <a:tr h="1188720">
                <a:tc>
                  <a:txBody>
                    <a:bodyPr wrap="square"/>
                    <a:lstStyle/>
                    <a:p>
                      <a:pPr>
                        <a:defRPr sz="1000">
                          <a:solidFill>
                            <a:srgbClr val="1E293B"/>
                          </a:solidFill>
                        </a:defRPr>
                      </a:pPr>
                      <a:r>
                        <a:t>Stage 3: Mass Production Deployment (Months 13–24)</a:t>
                      </a:r>
                    </a:p>
                  </a:txBody>
                  <a:tcPr>
                    <a:solidFill>
                      <a:srgbClr val="FFFFFF"/>
                    </a:solidFill>
                  </a:tcPr>
                </a:tc>
                <a:tc>
                  <a:txBody>
                    <a:bodyPr wrap="square"/>
                    <a:lstStyle/>
                    <a:p>
                      <a:pPr>
                        <a:defRPr sz="1000">
                          <a:solidFill>
                            <a:srgbClr val="1E293B"/>
                          </a:solidFill>
                        </a:defRPr>
                      </a:pPr>
                      <a:r>
                        <a:t>Factory-fit SOP (Start of Production) on October 2027 mandated N3/M3 commercial chassis</a:t>
                      </a:r>
                    </a:p>
                  </a:txBody>
                  <a:tcPr>
                    <a:solidFill>
                      <a:srgbClr val="FFFFFF"/>
                    </a:solidFill>
                  </a:tcPr>
                </a:tc>
                <a:tc>
                  <a:txBody>
                    <a:bodyPr wrap="square"/>
                    <a:lstStyle/>
                    <a:p>
                      <a:pPr>
                        <a:defRPr sz="1000">
                          <a:solidFill>
                            <a:srgbClr val="1E293B"/>
                          </a:solidFill>
                        </a:defRPr>
                      </a:pPr>
                      <a:r>
                        <a:t>Tata, Ashok Leyland, VECV</a:t>
                      </a:r>
                    </a:p>
                  </a:txBody>
                  <a:tcPr>
                    <a:solidFill>
                      <a:srgbClr val="FFFFFF"/>
                    </a:solidFill>
                  </a:tcPr>
                </a:tc>
                <a:tc>
                  <a:txBody>
                    <a:bodyPr wrap="square"/>
                    <a:lstStyle/>
                    <a:p>
                      <a:pPr>
                        <a:defRPr sz="1000">
                          <a:solidFill>
                            <a:srgbClr val="1E293B"/>
                          </a:solidFill>
                        </a:defRPr>
                      </a:pPr>
                      <a:r>
                        <a:t>45,000 units in Year 1 ($5.8M ARR); scaling to 110,000 units ($15.7M ARR)</a:t>
                      </a:r>
                    </a:p>
                  </a:txBody>
                  <a:tcPr>
                    <a:solidFill>
                      <a:srgbClr val="FFFFFF"/>
                    </a:solidFill>
                  </a:tcPr>
                </a:tc>
              </a:tr>
            </a:tbl>
          </a:graphicData>
        </a:graphic>
      </p:graphicFrame>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0284C7"/>
                </a:solidFill>
              </a:defRPr>
            </a:pPr>
            <a:r>
              <a:t>ACT V: EVIDENCE LADDERS &amp; PROOF GATES</a:t>
            </a:r>
          </a:p>
        </p:txBody>
      </p:sp>
      <p:sp>
        <p:nvSpPr>
          <p:cNvPr id="4" name="TextBox 3"/>
          <p:cNvSpPr txBox="1"/>
          <p:nvPr/>
        </p:nvSpPr>
        <p:spPr>
          <a:xfrm>
            <a:off x="731520" y="640080"/>
            <a:ext cx="10698480" cy="731520"/>
          </a:xfrm>
          <a:prstGeom prst="rect">
            <a:avLst/>
          </a:prstGeom>
          <a:noFill/>
        </p:spPr>
        <p:txBody>
          <a:bodyPr wrap="square">
            <a:spAutoFit/>
          </a:bodyPr>
          <a:lstStyle/>
          <a:p>
            <a:pPr>
              <a:defRPr sz="1800" b="1">
                <a:solidFill>
                  <a:srgbClr val="0F172A"/>
                </a:solidFill>
              </a:defRPr>
            </a:pPr>
            <a:r>
              <a:t>Technical Proof Ladder: 4 Verification Gates from Silicon Bench to SOP</a:t>
            </a:r>
          </a:p>
        </p:txBody>
      </p:sp>
      <p:sp>
        <p:nvSpPr>
          <p:cNvPr id="5" name="Rectangle 4"/>
          <p:cNvSpPr/>
          <p:nvPr/>
        </p:nvSpPr>
        <p:spPr>
          <a:xfrm>
            <a:off x="731520" y="1463040"/>
            <a:ext cx="5212080" cy="47548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663440" cy="4206240"/>
          </a:xfrm>
          <a:prstGeom prst="rect">
            <a:avLst/>
          </a:prstGeom>
          <a:noFill/>
        </p:spPr>
        <p:txBody>
          <a:bodyPr wrap="square">
            <a:spAutoFit/>
          </a:bodyPr>
          <a:lstStyle/>
          <a:p>
            <a:pPr>
              <a:defRPr sz="1500" b="1">
                <a:solidFill>
                  <a:srgbClr val="0F172A"/>
                </a:solidFill>
              </a:defRPr>
            </a:pPr>
            <a:r>
              <a:t>Gates 1 &amp; 2: Silicon &amp; HIL Validation</a:t>
            </a:r>
          </a:p>
          <a:p>
            <a:pPr>
              <a:spcBef>
                <a:spcPts val="1000"/>
              </a:spcBef>
              <a:defRPr sz="1100">
                <a:solidFill>
                  <a:srgbClr val="1E293B"/>
                </a:solidFill>
              </a:defRPr>
            </a:pPr>
            <a:r>
              <a:t>•  **Gate 1 (Silicon Simulation)**: Process 500,000 synthetic Indian edge cases (cow crossing at night, dust storm, tractor in wrong lane) with &gt;99.98% detection reliability.</a:t>
            </a:r>
          </a:p>
          <a:p>
            <a:pPr>
              <a:spcBef>
                <a:spcPts val="1000"/>
              </a:spcBef>
              <a:defRPr sz="1100">
                <a:solidFill>
                  <a:srgbClr val="1E293B"/>
                </a:solidFill>
              </a:defRPr>
            </a:pPr>
            <a:r>
              <a:t>•  **Gate 2 (Hardware-in-the-Loop)**: Real-time sensor feed into DeepGrid NPU board connected to ZF EBS test bench; maintain deterministic &lt;15ms response.</a:t>
            </a:r>
          </a:p>
        </p:txBody>
      </p:sp>
      <p:sp>
        <p:nvSpPr>
          <p:cNvPr id="7" name="Rectangle 6"/>
          <p:cNvSpPr/>
          <p:nvPr/>
        </p:nvSpPr>
        <p:spPr>
          <a:xfrm>
            <a:off x="6217920" y="1463040"/>
            <a:ext cx="5212080" cy="4754880"/>
          </a:xfrm>
          <a:prstGeom prst="rect">
            <a:avLst/>
          </a:prstGeom>
          <a:solidFill>
            <a:srgbClr val="FFFFFF"/>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737360"/>
            <a:ext cx="4663440" cy="4206240"/>
          </a:xfrm>
          <a:prstGeom prst="rect">
            <a:avLst/>
          </a:prstGeom>
          <a:noFill/>
        </p:spPr>
        <p:txBody>
          <a:bodyPr wrap="square">
            <a:spAutoFit/>
          </a:bodyPr>
          <a:lstStyle/>
          <a:p>
            <a:pPr>
              <a:defRPr sz="1500" b="1">
                <a:solidFill>
                  <a:srgbClr val="0284C7"/>
                </a:solidFill>
              </a:defRPr>
            </a:pPr>
            <a:r>
              <a:t>Gates 3 &amp; 4: Track &amp; Fleet Production</a:t>
            </a:r>
          </a:p>
          <a:p>
            <a:pPr>
              <a:spcBef>
                <a:spcPts val="1000"/>
              </a:spcBef>
              <a:defRPr sz="1100">
                <a:solidFill>
                  <a:srgbClr val="1E293B"/>
                </a:solidFill>
              </a:defRPr>
            </a:pPr>
            <a:r>
              <a:t>•  **Gate 3 (ARAI Track Pilot)**: Pass all GSR 184e mandatory braking sequences on wet and dry tarmac without false interventions.</a:t>
            </a:r>
          </a:p>
          <a:p>
            <a:pPr>
              <a:spcBef>
                <a:spcPts val="1000"/>
              </a:spcBef>
              <a:defRPr sz="1100">
                <a:solidFill>
                  <a:srgbClr val="1E293B"/>
                </a:solidFill>
              </a:defRPr>
            </a:pPr>
            <a:r>
              <a:t>•  **Gate 4 (100-Truck Depot Pilot)**: Deploy across 100 long-haul trucks on Golden Quadrilateral (NH48); verify zero driver fuse-pulls across 1M fleet km.</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0284C7"/>
                </a:solidFill>
              </a:defRPr>
            </a:pPr>
            <a:r>
              <a:t>ACT VI: AUDIENCE &amp; REDDIT FACT-CHECK POSITIONING</a:t>
            </a:r>
          </a:p>
        </p:txBody>
      </p:sp>
      <p:sp>
        <p:nvSpPr>
          <p:cNvPr id="4" name="TextBox 3"/>
          <p:cNvSpPr txBox="1"/>
          <p:nvPr/>
        </p:nvSpPr>
        <p:spPr>
          <a:xfrm>
            <a:off x="731520" y="640080"/>
            <a:ext cx="10698480" cy="731520"/>
          </a:xfrm>
          <a:prstGeom prst="rect">
            <a:avLst/>
          </a:prstGeom>
          <a:noFill/>
        </p:spPr>
        <p:txBody>
          <a:bodyPr wrap="square">
            <a:spAutoFit/>
          </a:bodyPr>
          <a:lstStyle/>
          <a:p>
            <a:pPr>
              <a:defRPr sz="1800" b="1">
                <a:solidFill>
                  <a:srgbClr val="0F172A"/>
                </a:solidFill>
              </a:defRPr>
            </a:pPr>
            <a:r>
              <a:t>Reddit &amp; Forum Fact-Check: Ground-Truth Field Signals Refuting Hype</a:t>
            </a:r>
          </a:p>
        </p:txBody>
      </p:sp>
      <p:graphicFrame>
        <p:nvGraphicFramePr>
          <p:cNvPr id="5" name="Table 4"/>
          <p:cNvGraphicFramePr>
            <a:graphicFrameLocks noGrp="1"/>
          </p:cNvGraphicFramePr>
          <p:nvPr/>
        </p:nvGraphicFramePr>
        <p:xfrm>
          <a:off x="731520" y="1463040"/>
          <a:ext cx="10698480" cy="4754880"/>
        </p:xfrm>
        <a:graphic>
          <a:graphicData uri="http://schemas.openxmlformats.org/drawingml/2006/table">
            <a:tbl>
              <a:tblPr firstRow="1" bandRow="1">
                <a:tableStyleId>{5C22544A-7EE6-4342-B048-85BDC9FD1C3A}</a:tableStyleId>
              </a:tblPr>
              <a:tblGrid>
                <a:gridCol w="2674620"/>
                <a:gridCol w="2674620"/>
                <a:gridCol w="2674620"/>
                <a:gridCol w="2674620"/>
              </a:tblGrid>
              <a:tr h="950976">
                <a:tc>
                  <a:txBody>
                    <a:bodyPr wrap="square"/>
                    <a:lstStyle/>
                    <a:p>
                      <a:pPr>
                        <a:defRPr b="1" sz="1100">
                          <a:solidFill>
                            <a:srgbClr val="FFFFFF"/>
                          </a:solidFill>
                        </a:defRPr>
                      </a:pPr>
                      <a:r>
                        <a:t>Assumed Thesis</a:t>
                      </a:r>
                    </a:p>
                  </a:txBody>
                  <a:tcPr>
                    <a:solidFill>
                      <a:srgbClr val="0F172A"/>
                    </a:solidFill>
                  </a:tcPr>
                </a:tc>
                <a:tc>
                  <a:txBody>
                    <a:bodyPr wrap="square"/>
                    <a:lstStyle/>
                    <a:p>
                      <a:pPr>
                        <a:defRPr b="1" sz="1100">
                          <a:solidFill>
                            <a:srgbClr val="FFFFFF"/>
                          </a:solidFill>
                        </a:defRPr>
                      </a:pPr>
                      <a:r>
                        <a:t>Reddit &amp; Field Ground Truth</a:t>
                      </a:r>
                    </a:p>
                  </a:txBody>
                  <a:tcPr>
                    <a:solidFill>
                      <a:srgbClr val="0F172A"/>
                    </a:solidFill>
                  </a:tcPr>
                </a:tc>
                <a:tc>
                  <a:txBody>
                    <a:bodyPr wrap="square"/>
                    <a:lstStyle/>
                    <a:p>
                      <a:pPr>
                        <a:defRPr b="1" sz="1100">
                          <a:solidFill>
                            <a:srgbClr val="FFFFFF"/>
                          </a:solidFill>
                        </a:defRPr>
                      </a:pPr>
                      <a:r>
                        <a:t>Root Failure Mode</a:t>
                      </a:r>
                    </a:p>
                  </a:txBody>
                  <a:tcPr>
                    <a:solidFill>
                      <a:srgbClr val="0F172A"/>
                    </a:solidFill>
                  </a:tcPr>
                </a:tc>
                <a:tc>
                  <a:txBody>
                    <a:bodyPr wrap="square"/>
                    <a:lstStyle/>
                    <a:p>
                      <a:pPr>
                        <a:defRPr b="1" sz="1100">
                          <a:solidFill>
                            <a:srgbClr val="FFFFFF"/>
                          </a:solidFill>
                        </a:defRPr>
                      </a:pPr>
                      <a:r>
                        <a:t>DeepGrid Strategic Adaptation</a:t>
                      </a:r>
                    </a:p>
                  </a:txBody>
                  <a:tcPr>
                    <a:solidFill>
                      <a:srgbClr val="0F172A"/>
                    </a:solidFill>
                  </a:tcPr>
                </a:tc>
              </a:tr>
              <a:tr h="950976">
                <a:tc>
                  <a:txBody>
                    <a:bodyPr wrap="square"/>
                    <a:lstStyle/>
                    <a:p>
                      <a:pPr>
                        <a:defRPr sz="1000">
                          <a:solidFill>
                            <a:srgbClr val="1E293B"/>
                          </a:solidFill>
                        </a:defRPr>
                      </a:pPr>
                      <a:r>
                        <a:t>Fleets want Level-2+ automated steering/braking</a:t>
                      </a:r>
                    </a:p>
                  </a:txBody>
                  <a:tcPr>
                    <a:solidFill>
                      <a:srgbClr val="FFFFFF"/>
                    </a:solidFill>
                  </a:tcPr>
                </a:tc>
                <a:tc>
                  <a:txBody>
                    <a:bodyPr wrap="square"/>
                    <a:lstStyle/>
                    <a:p>
                      <a:pPr>
                        <a:defRPr sz="1000">
                          <a:solidFill>
                            <a:srgbClr val="1E293B"/>
                          </a:solidFill>
                        </a:defRPr>
                      </a:pPr>
                      <a:r>
                        <a:t>Fleets fear phantom braking; drivers pull fuses before leaving depots</a:t>
                      </a:r>
                    </a:p>
                  </a:txBody>
                  <a:tcPr>
                    <a:solidFill>
                      <a:srgbClr val="FFFFFF"/>
                    </a:solidFill>
                  </a:tcPr>
                </a:tc>
                <a:tc>
                  <a:txBody>
                    <a:bodyPr wrap="square"/>
                    <a:lstStyle/>
                    <a:p>
                      <a:pPr>
                        <a:defRPr sz="1000">
                          <a:solidFill>
                            <a:srgbClr val="1E293B"/>
                          </a:solidFill>
                        </a:defRPr>
                      </a:pPr>
                      <a:r>
                        <a:t>Sudden deceleration causes trailing trucks to rear-end</a:t>
                      </a:r>
                    </a:p>
                  </a:txBody>
                  <a:tcPr>
                    <a:solidFill>
                      <a:srgbClr val="FFFFFF"/>
                    </a:solidFill>
                  </a:tcPr>
                </a:tc>
                <a:tc>
                  <a:txBody>
                    <a:bodyPr wrap="square"/>
                    <a:lstStyle/>
                    <a:p>
                      <a:pPr>
                        <a:defRPr sz="1000">
                          <a:solidFill>
                            <a:srgbClr val="1E293B"/>
                          </a:solidFill>
                        </a:defRPr>
                      </a:pPr>
                      <a:r>
                        <a:t>Pivot strictly to Zero-False-Positive Bounded Perception</a:t>
                      </a:r>
                    </a:p>
                  </a:txBody>
                  <a:tcPr>
                    <a:solidFill>
                      <a:srgbClr val="FFFFFF"/>
                    </a:solidFill>
                  </a:tcPr>
                </a:tc>
              </a:tr>
              <a:tr h="950976">
                <a:tc>
                  <a:txBody>
                    <a:bodyPr wrap="square"/>
                    <a:lstStyle/>
                    <a:p>
                      <a:pPr>
                        <a:defRPr sz="1000">
                          <a:solidFill>
                            <a:srgbClr val="1E293B"/>
                          </a:solidFill>
                        </a:defRPr>
                      </a:pPr>
                      <a:r>
                        <a:t>Startups can sell direct perception-to-actuation</a:t>
                      </a:r>
                    </a:p>
                  </a:txBody>
                  <a:tcPr>
                    <a:solidFill>
                      <a:srgbClr val="F1F5F9"/>
                    </a:solidFill>
                  </a:tcPr>
                </a:tc>
                <a:tc>
                  <a:txBody>
                    <a:bodyPr wrap="square"/>
                    <a:lstStyle/>
                    <a:p>
                      <a:pPr>
                        <a:defRPr sz="1000">
                          <a:solidFill>
                            <a:srgbClr val="1E293B"/>
                          </a:solidFill>
                        </a:defRPr>
                      </a:pPr>
                      <a:r>
                        <a:t>ZF/Aptiv own EBS &amp; braking ECUs; direct control voids warranties</a:t>
                      </a:r>
                    </a:p>
                  </a:txBody>
                  <a:tcPr>
                    <a:solidFill>
                      <a:srgbClr val="F1F5F9"/>
                    </a:solidFill>
                  </a:tcPr>
                </a:tc>
                <a:tc>
                  <a:txBody>
                    <a:bodyPr wrap="square"/>
                    <a:lstStyle/>
                    <a:p>
                      <a:pPr>
                        <a:defRPr sz="1000">
                          <a:solidFill>
                            <a:srgbClr val="1E293B"/>
                          </a:solidFill>
                        </a:defRPr>
                      </a:pPr>
                      <a:r>
                        <a:t>OEM legal liability on unhomologated actuation commands</a:t>
                      </a:r>
                    </a:p>
                  </a:txBody>
                  <a:tcPr>
                    <a:solidFill>
                      <a:srgbClr val="F1F5F9"/>
                    </a:solidFill>
                  </a:tcPr>
                </a:tc>
                <a:tc>
                  <a:txBody>
                    <a:bodyPr wrap="square"/>
                    <a:lstStyle/>
                    <a:p>
                      <a:pPr>
                        <a:defRPr sz="1000">
                          <a:solidFill>
                            <a:srgbClr val="1E293B"/>
                          </a:solidFill>
                        </a:defRPr>
                      </a:pPr>
                      <a:r>
                        <a:t>Attach as embedded co-processor inside Tier-1 architectures</a:t>
                      </a:r>
                    </a:p>
                  </a:txBody>
                  <a:tcPr>
                    <a:solidFill>
                      <a:srgbClr val="F1F5F9"/>
                    </a:solidFill>
                  </a:tcPr>
                </a:tc>
              </a:tr>
              <a:tr h="950976">
                <a:tc>
                  <a:txBody>
                    <a:bodyPr wrap="square"/>
                    <a:lstStyle/>
                    <a:p>
                      <a:pPr>
                        <a:defRPr sz="1000">
                          <a:solidFill>
                            <a:srgbClr val="1E293B"/>
                          </a:solidFill>
                        </a:defRPr>
                      </a:pPr>
                      <a:r>
                        <a:t>European vision models adapt with software calibration</a:t>
                      </a:r>
                    </a:p>
                  </a:txBody>
                  <a:tcPr>
                    <a:solidFill>
                      <a:srgbClr val="FFFFFF"/>
                    </a:solidFill>
                  </a:tcPr>
                </a:tc>
                <a:tc>
                  <a:txBody>
                    <a:bodyPr wrap="square"/>
                    <a:lstStyle/>
                    <a:p>
                      <a:pPr>
                        <a:defRPr sz="1000">
                          <a:solidFill>
                            <a:srgbClr val="1E293B"/>
                          </a:solidFill>
                        </a:defRPr>
                      </a:pPr>
                      <a:r>
                        <a:t>Unmarked roads, cattle, &amp; two-wheeler cut-ins crash global stacks</a:t>
                      </a:r>
                    </a:p>
                  </a:txBody>
                  <a:tcPr>
                    <a:solidFill>
                      <a:srgbClr val="FFFFFF"/>
                    </a:solidFill>
                  </a:tcPr>
                </a:tc>
                <a:tc>
                  <a:txBody>
                    <a:bodyPr wrap="square"/>
                    <a:lstStyle/>
                    <a:p>
                      <a:pPr>
                        <a:defRPr sz="1000">
                          <a:solidFill>
                            <a:srgbClr val="1E293B"/>
                          </a:solidFill>
                        </a:defRPr>
                      </a:pPr>
                      <a:r>
                        <a:t>Over-reliance on structured road geometry &amp; lane markings</a:t>
                      </a:r>
                    </a:p>
                  </a:txBody>
                  <a:tcPr>
                    <a:solidFill>
                      <a:srgbClr val="FFFFFF"/>
                    </a:solidFill>
                  </a:tcPr>
                </a:tc>
                <a:tc>
                  <a:txBody>
                    <a:bodyPr wrap="square"/>
                    <a:lstStyle/>
                    <a:p>
                      <a:pPr>
                        <a:defRPr sz="1000">
                          <a:solidFill>
                            <a:srgbClr val="1E293B"/>
                          </a:solidFill>
                        </a:defRPr>
                      </a:pPr>
                      <a:r>
                        <a:t>Train on 10M+ km Indian chaotic road topologies directly</a:t>
                      </a:r>
                    </a:p>
                  </a:txBody>
                  <a:tcPr>
                    <a:solidFill>
                      <a:srgbClr val="FFFFFF"/>
                    </a:solidFill>
                  </a:tcPr>
                </a:tc>
              </a:tr>
              <a:tr h="950976">
                <a:tc>
                  <a:txBody>
                    <a:bodyPr wrap="square"/>
                    <a:lstStyle/>
                    <a:p>
                      <a:pPr>
                        <a:defRPr sz="1000">
                          <a:solidFill>
                            <a:srgbClr val="1E293B"/>
                          </a:solidFill>
                        </a:defRPr>
                      </a:pPr>
                      <a:r>
                        <a:t>Cost is secondary to safety branding</a:t>
                      </a:r>
                    </a:p>
                  </a:txBody>
                  <a:tcPr>
                    <a:solidFill>
                      <a:srgbClr val="F1F5F9"/>
                    </a:solidFill>
                  </a:tcPr>
                </a:tc>
                <a:tc>
                  <a:txBody>
                    <a:bodyPr wrap="square"/>
                    <a:lstStyle/>
                    <a:p>
                      <a:pPr>
                        <a:defRPr sz="1000">
                          <a:solidFill>
                            <a:srgbClr val="1E293B"/>
                          </a:solidFill>
                        </a:defRPr>
                      </a:pPr>
                      <a:r>
                        <a:t>Fleet operating margins are &lt;5%; diesel is 50% of OPEX</a:t>
                      </a:r>
                    </a:p>
                  </a:txBody>
                  <a:tcPr>
                    <a:solidFill>
                      <a:srgbClr val="F1F5F9"/>
                    </a:solidFill>
                  </a:tcPr>
                </a:tc>
                <a:tc>
                  <a:txBody>
                    <a:bodyPr wrap="square"/>
                    <a:lstStyle/>
                    <a:p>
                      <a:pPr>
                        <a:defRPr sz="1000">
                          <a:solidFill>
                            <a:srgbClr val="1E293B"/>
                          </a:solidFill>
                        </a:defRPr>
                      </a:pPr>
                      <a:r>
                        <a:t>BOMs &gt;$500 killed at OEM procurement desk</a:t>
                      </a:r>
                    </a:p>
                  </a:txBody>
                  <a:tcPr>
                    <a:solidFill>
                      <a:srgbClr val="F1F5F9"/>
                    </a:solidFill>
                  </a:tcPr>
                </a:tc>
                <a:tc>
                  <a:txBody>
                    <a:bodyPr wrap="square"/>
                    <a:lstStyle/>
                    <a:p>
                      <a:pPr>
                        <a:defRPr sz="1000">
                          <a:solidFill>
                            <a:srgbClr val="1E293B"/>
                          </a:solidFill>
                        </a:defRPr>
                      </a:pPr>
                      <a:r>
                        <a:t>Deliver sub-$400 (&lt;INR 35,000) total package per chassis</a:t>
                      </a:r>
                    </a:p>
                  </a:txBody>
                  <a:tcPr>
                    <a:solidFill>
                      <a:srgbClr val="F1F5F9"/>
                    </a:solidFill>
                  </a:tcPr>
                </a:tc>
              </a:tr>
            </a:tbl>
          </a:graphicData>
        </a:graphic>
      </p:graphicFrame>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0284C7"/>
                </a:solidFill>
              </a:defRPr>
            </a:pPr>
            <a:r>
              <a:t>ACT VI: AUDIENCE &amp; REDDIT FACT-CHECK POSITIONING</a:t>
            </a:r>
          </a:p>
        </p:txBody>
      </p:sp>
      <p:sp>
        <p:nvSpPr>
          <p:cNvPr id="4" name="TextBox 3"/>
          <p:cNvSpPr txBox="1"/>
          <p:nvPr/>
        </p:nvSpPr>
        <p:spPr>
          <a:xfrm>
            <a:off x="731520" y="640080"/>
            <a:ext cx="10698480" cy="731520"/>
          </a:xfrm>
          <a:prstGeom prst="rect">
            <a:avLst/>
          </a:prstGeom>
          <a:noFill/>
        </p:spPr>
        <p:txBody>
          <a:bodyPr wrap="square">
            <a:spAutoFit/>
          </a:bodyPr>
          <a:lstStyle/>
          <a:p>
            <a:pPr>
              <a:defRPr sz="1800" b="1">
                <a:solidFill>
                  <a:srgbClr val="0F172A"/>
                </a:solidFill>
              </a:defRPr>
            </a:pPr>
            <a:r>
              <a:t>Voice of Driver &amp; Field Engineers: Verbatim Field Quotes from OSINT Mining</a:t>
            </a:r>
          </a:p>
        </p:txBody>
      </p:sp>
      <p:sp>
        <p:nvSpPr>
          <p:cNvPr id="5" name="Rectangle 4"/>
          <p:cNvSpPr/>
          <p:nvPr/>
        </p:nvSpPr>
        <p:spPr>
          <a:xfrm>
            <a:off x="731520" y="1463040"/>
            <a:ext cx="3383280" cy="2286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017520" cy="1920240"/>
          </a:xfrm>
          <a:prstGeom prst="rect">
            <a:avLst/>
          </a:prstGeom>
          <a:noFill/>
        </p:spPr>
        <p:txBody>
          <a:bodyPr wrap="square">
            <a:spAutoFit/>
          </a:bodyPr>
          <a:lstStyle/>
          <a:p>
            <a:pPr>
              <a:defRPr sz="1000" i="1">
                <a:solidFill>
                  <a:srgbClr val="1E293B"/>
                </a:solidFill>
              </a:defRPr>
            </a:pPr>
            <a:r>
              <a:t>"In Indian driving conditions, AEB is actively hazardous. A two-wheeler sneaks in, the truck slams brakes with 30 tons behind it, and the vehicle behind crushes in. Drivers unplug the fuse."</a:t>
            </a:r>
          </a:p>
          <a:p>
            <a:pPr>
              <a:spcBef>
                <a:spcPts val="800"/>
              </a:spcBef>
              <a:defRPr sz="900" b="1">
                <a:solidFill>
                  <a:srgbClr val="0284C7"/>
                </a:solidFill>
              </a:defRPr>
            </a:pPr>
            <a:r>
              <a:t>— Commercial Fleet Driver [r/CarsIndia]</a:t>
            </a:r>
          </a:p>
        </p:txBody>
      </p:sp>
      <p:sp>
        <p:nvSpPr>
          <p:cNvPr id="7" name="Rectangle 6"/>
          <p:cNvSpPr/>
          <p:nvPr/>
        </p:nvSpPr>
        <p:spPr>
          <a:xfrm>
            <a:off x="4389120" y="1463040"/>
            <a:ext cx="3383280" cy="2286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45920"/>
            <a:ext cx="3017520" cy="1920240"/>
          </a:xfrm>
          <a:prstGeom prst="rect">
            <a:avLst/>
          </a:prstGeom>
          <a:noFill/>
        </p:spPr>
        <p:txBody>
          <a:bodyPr wrap="square">
            <a:spAutoFit/>
          </a:bodyPr>
          <a:lstStyle/>
          <a:p>
            <a:pPr>
              <a:defRPr sz="1000" i="1">
                <a:solidFill>
                  <a:srgbClr val="1E293B"/>
                </a:solidFill>
              </a:defRPr>
            </a:pPr>
            <a:r>
              <a:t>"Near ITO a car in the next lane came too close and ADAS slammed brakes, causing the car behind to tail-end. 99.9% of drivers shut it off in NCR traffic."</a:t>
            </a:r>
          </a:p>
          <a:p>
            <a:pPr>
              <a:spcBef>
                <a:spcPts val="800"/>
              </a:spcBef>
              <a:defRPr sz="900" b="1">
                <a:solidFill>
                  <a:srgbClr val="0284C7"/>
                </a:solidFill>
              </a:defRPr>
            </a:pPr>
            <a:r>
              <a:t>— BHPian Field Report [Team-BHP Safety]</a:t>
            </a:r>
          </a:p>
        </p:txBody>
      </p:sp>
      <p:sp>
        <p:nvSpPr>
          <p:cNvPr id="9" name="Rectangle 8"/>
          <p:cNvSpPr/>
          <p:nvPr/>
        </p:nvSpPr>
        <p:spPr>
          <a:xfrm>
            <a:off x="8046720" y="1463040"/>
            <a:ext cx="3383280" cy="2286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645920"/>
            <a:ext cx="3017520" cy="1920240"/>
          </a:xfrm>
          <a:prstGeom prst="rect">
            <a:avLst/>
          </a:prstGeom>
          <a:noFill/>
        </p:spPr>
        <p:txBody>
          <a:bodyPr wrap="square">
            <a:spAutoFit/>
          </a:bodyPr>
          <a:lstStyle/>
          <a:p>
            <a:pPr>
              <a:defRPr sz="1000" i="1">
                <a:solidFill>
                  <a:srgbClr val="1E293B"/>
                </a:solidFill>
              </a:defRPr>
            </a:pPr>
            <a:r>
              <a:t>"You cannot import a European vision model calibrated for autobahns and expect it to survive a state highway in Maharashtra with wrong-side tractors and cattle."</a:t>
            </a:r>
          </a:p>
          <a:p>
            <a:pPr>
              <a:spcBef>
                <a:spcPts val="800"/>
              </a:spcBef>
              <a:defRPr sz="900" b="1">
                <a:solidFill>
                  <a:srgbClr val="0284C7"/>
                </a:solidFill>
              </a:defRPr>
            </a:pPr>
            <a:r>
              <a:t>— ADAS Lead Architect [Indian Auto Tech]</a:t>
            </a:r>
          </a:p>
        </p:txBody>
      </p:sp>
      <p:sp>
        <p:nvSpPr>
          <p:cNvPr id="11" name="Rectangle 10"/>
          <p:cNvSpPr/>
          <p:nvPr/>
        </p:nvSpPr>
        <p:spPr>
          <a:xfrm>
            <a:off x="731520" y="3931920"/>
            <a:ext cx="3383280" cy="2286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114800"/>
            <a:ext cx="3017520" cy="1920240"/>
          </a:xfrm>
          <a:prstGeom prst="rect">
            <a:avLst/>
          </a:prstGeom>
          <a:noFill/>
        </p:spPr>
        <p:txBody>
          <a:bodyPr wrap="square">
            <a:spAutoFit/>
          </a:bodyPr>
          <a:lstStyle/>
          <a:p>
            <a:pPr>
              <a:defRPr sz="1000" i="1">
                <a:solidFill>
                  <a:srgbClr val="1E293B"/>
                </a:solidFill>
              </a:defRPr>
            </a:pPr>
            <a:r>
              <a:t>"If an ADAS vision stack triggers an unintended brake cycle on an N3 truck, who goes to court? ZF owns the EBS; startup CAN-bus control voids system warranty."</a:t>
            </a:r>
          </a:p>
          <a:p>
            <a:pPr>
              <a:spcBef>
                <a:spcPts val="800"/>
              </a:spcBef>
              <a:defRPr sz="900" b="1">
                <a:solidFill>
                  <a:srgbClr val="0284C7"/>
                </a:solidFill>
              </a:defRPr>
            </a:pPr>
            <a:r>
              <a:t>— Director of Vehicle Systems [OEM Systems Review]</a:t>
            </a:r>
          </a:p>
        </p:txBody>
      </p:sp>
      <p:sp>
        <p:nvSpPr>
          <p:cNvPr id="13" name="Rectangle 12"/>
          <p:cNvSpPr/>
          <p:nvPr/>
        </p:nvSpPr>
        <p:spPr>
          <a:xfrm>
            <a:off x="4389120" y="3931920"/>
            <a:ext cx="3383280" cy="2286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4114800"/>
            <a:ext cx="3017520" cy="1920240"/>
          </a:xfrm>
          <a:prstGeom prst="rect">
            <a:avLst/>
          </a:prstGeom>
          <a:noFill/>
        </p:spPr>
        <p:txBody>
          <a:bodyPr wrap="square">
            <a:spAutoFit/>
          </a:bodyPr>
          <a:lstStyle/>
          <a:p>
            <a:pPr>
              <a:defRPr sz="1000" i="1">
                <a:solidFill>
                  <a:srgbClr val="1E293B"/>
                </a:solidFill>
              </a:defRPr>
            </a:pPr>
            <a:r>
              <a:t>"MoRTH has mandated ADAS for N3/M3 commercial vehicles starting October 2027. We need high-reliability localized perception under INR 35,000 (~$400)."</a:t>
            </a:r>
          </a:p>
          <a:p>
            <a:pPr>
              <a:spcBef>
                <a:spcPts val="800"/>
              </a:spcBef>
              <a:defRPr sz="900" b="1">
                <a:solidFill>
                  <a:srgbClr val="0284C7"/>
                </a:solidFill>
              </a:defRPr>
            </a:pPr>
            <a:r>
              <a:t>— Procurement Director [Autocar Pro India]</a:t>
            </a:r>
          </a:p>
        </p:txBody>
      </p:sp>
      <p:sp>
        <p:nvSpPr>
          <p:cNvPr id="15" name="Rectangle 14"/>
          <p:cNvSpPr/>
          <p:nvPr/>
        </p:nvSpPr>
        <p:spPr>
          <a:xfrm>
            <a:off x="8046720" y="3931920"/>
            <a:ext cx="3383280" cy="22860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4114800"/>
            <a:ext cx="3017520" cy="1920240"/>
          </a:xfrm>
          <a:prstGeom prst="rect">
            <a:avLst/>
          </a:prstGeom>
          <a:noFill/>
        </p:spPr>
        <p:txBody>
          <a:bodyPr wrap="square">
            <a:spAutoFit/>
          </a:bodyPr>
          <a:lstStyle/>
          <a:p>
            <a:pPr>
              <a:defRPr sz="1000" i="1">
                <a:solidFill>
                  <a:srgbClr val="1E293B"/>
                </a:solidFill>
              </a:defRPr>
            </a:pPr>
            <a:r>
              <a:t>"Diesel is 50% of OPEX. If false alarms slow down trip times every 500m, drivers revolt and fleet owners demand refunds from OEM dealerships."</a:t>
            </a:r>
          </a:p>
          <a:p>
            <a:pPr>
              <a:spcBef>
                <a:spcPts val="800"/>
              </a:spcBef>
              <a:defRPr sz="900" b="1">
                <a:solidFill>
                  <a:srgbClr val="0284C7"/>
                </a:solidFill>
              </a:defRPr>
            </a:pPr>
            <a:r>
              <a:t>— Logistics Safety Head [Fleet Logistics Forum]</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0284C7"/>
                </a:solidFill>
              </a:defRPr>
            </a:pPr>
            <a:r>
              <a:t>ACT VII: 9-LAYER IMPLEMENTATION BLUEPRINT</a:t>
            </a:r>
          </a:p>
        </p:txBody>
      </p:sp>
      <p:sp>
        <p:nvSpPr>
          <p:cNvPr id="4" name="TextBox 3"/>
          <p:cNvSpPr txBox="1"/>
          <p:nvPr/>
        </p:nvSpPr>
        <p:spPr>
          <a:xfrm>
            <a:off x="731520" y="640080"/>
            <a:ext cx="10698480" cy="731520"/>
          </a:xfrm>
          <a:prstGeom prst="rect">
            <a:avLst/>
          </a:prstGeom>
          <a:noFill/>
        </p:spPr>
        <p:txBody>
          <a:bodyPr wrap="square">
            <a:spAutoFit/>
          </a:bodyPr>
          <a:lstStyle/>
          <a:p>
            <a:pPr>
              <a:defRPr sz="1800" b="1">
                <a:solidFill>
                  <a:srgbClr val="0F172A"/>
                </a:solidFill>
              </a:defRPr>
            </a:pPr>
            <a:r>
              <a:t>9-Layer Production Architecture: DeepGrid Edge AI Perception Subsystem</a:t>
            </a:r>
          </a:p>
        </p:txBody>
      </p:sp>
      <p:graphicFrame>
        <p:nvGraphicFramePr>
          <p:cNvPr id="5" name="Table 4"/>
          <p:cNvGraphicFramePr>
            <a:graphicFrameLocks noGrp="1"/>
          </p:cNvGraphicFramePr>
          <p:nvPr/>
        </p:nvGraphicFramePr>
        <p:xfrm>
          <a:off x="731520" y="1463040"/>
          <a:ext cx="10698480" cy="4754880"/>
        </p:xfrm>
        <a:graphic>
          <a:graphicData uri="http://schemas.openxmlformats.org/drawingml/2006/table">
            <a:tbl>
              <a:tblPr firstRow="1" bandRow="1">
                <a:tableStyleId>{5C22544A-7EE6-4342-B048-85BDC9FD1C3A}</a:tableStyleId>
              </a:tblPr>
              <a:tblGrid>
                <a:gridCol w="2674620"/>
                <a:gridCol w="2674620"/>
                <a:gridCol w="2674620"/>
                <a:gridCol w="2674620"/>
              </a:tblGrid>
              <a:tr h="792480">
                <a:tc>
                  <a:txBody>
                    <a:bodyPr wrap="square"/>
                    <a:lstStyle/>
                    <a:p>
                      <a:pPr>
                        <a:defRPr b="1" sz="1100">
                          <a:solidFill>
                            <a:srgbClr val="FFFFFF"/>
                          </a:solidFill>
                        </a:defRPr>
                      </a:pPr>
                      <a:r>
                        <a:t>Architectural Layer</a:t>
                      </a:r>
                    </a:p>
                  </a:txBody>
                  <a:tcPr>
                    <a:solidFill>
                      <a:srgbClr val="0F172A"/>
                    </a:solidFill>
                  </a:tcPr>
                </a:tc>
                <a:tc>
                  <a:txBody>
                    <a:bodyPr wrap="square"/>
                    <a:lstStyle/>
                    <a:p>
                      <a:pPr>
                        <a:defRPr b="1" sz="1100">
                          <a:solidFill>
                            <a:srgbClr val="FFFFFF"/>
                          </a:solidFill>
                        </a:defRPr>
                      </a:pPr>
                      <a:r>
                        <a:t>Production Component</a:t>
                      </a:r>
                    </a:p>
                  </a:txBody>
                  <a:tcPr>
                    <a:solidFill>
                      <a:srgbClr val="0F172A"/>
                    </a:solidFill>
                  </a:tcPr>
                </a:tc>
                <a:tc>
                  <a:txBody>
                    <a:bodyPr wrap="square"/>
                    <a:lstStyle/>
                    <a:p>
                      <a:pPr>
                        <a:defRPr b="1" sz="1100">
                          <a:solidFill>
                            <a:srgbClr val="FFFFFF"/>
                          </a:solidFill>
                        </a:defRPr>
                      </a:pPr>
                      <a:r>
                        <a:t>Indian Operating Constraint</a:t>
                      </a:r>
                    </a:p>
                  </a:txBody>
                  <a:tcPr>
                    <a:solidFill>
                      <a:srgbClr val="0F172A"/>
                    </a:solidFill>
                  </a:tcPr>
                </a:tc>
                <a:tc>
                  <a:txBody>
                    <a:bodyPr wrap="square"/>
                    <a:lstStyle/>
                    <a:p>
                      <a:pPr>
                        <a:defRPr b="1" sz="1100">
                          <a:solidFill>
                            <a:srgbClr val="FFFFFF"/>
                          </a:solidFill>
                        </a:defRPr>
                      </a:pPr>
                      <a:r>
                        <a:t>DeepGrid Implementation</a:t>
                      </a:r>
                    </a:p>
                  </a:txBody>
                  <a:tcPr>
                    <a:solidFill>
                      <a:srgbClr val="0F172A"/>
                    </a:solidFill>
                  </a:tcPr>
                </a:tc>
              </a:tr>
              <a:tr h="792480">
                <a:tc>
                  <a:txBody>
                    <a:bodyPr wrap="square"/>
                    <a:lstStyle/>
                    <a:p>
                      <a:pPr>
                        <a:defRPr sz="1000">
                          <a:solidFill>
                            <a:srgbClr val="1E293B"/>
                          </a:solidFill>
                        </a:defRPr>
                      </a:pPr>
                      <a:r>
                        <a:t>Layer 1: Sensor Interface</a:t>
                      </a:r>
                    </a:p>
                  </a:txBody>
                  <a:tcPr>
                    <a:solidFill>
                      <a:srgbClr val="FFFFFF"/>
                    </a:solidFill>
                  </a:tcPr>
                </a:tc>
                <a:tc>
                  <a:txBody>
                    <a:bodyPr wrap="square"/>
                    <a:lstStyle/>
                    <a:p>
                      <a:pPr>
                        <a:defRPr sz="1000">
                          <a:solidFill>
                            <a:srgbClr val="1E293B"/>
                          </a:solidFill>
                        </a:defRPr>
                      </a:pPr>
                      <a:r>
                        <a:t>Automotive 2MP CMOS Image Sensor (RGB-IR)</a:t>
                      </a:r>
                    </a:p>
                  </a:txBody>
                  <a:tcPr>
                    <a:solidFill>
                      <a:srgbClr val="FFFFFF"/>
                    </a:solidFill>
                  </a:tcPr>
                </a:tc>
                <a:tc>
                  <a:txBody>
                    <a:bodyPr wrap="square"/>
                    <a:lstStyle/>
                    <a:p>
                      <a:pPr>
                        <a:defRPr sz="1000">
                          <a:solidFill>
                            <a:srgbClr val="1E293B"/>
                          </a:solidFill>
                        </a:defRPr>
                      </a:pPr>
                      <a:r>
                        <a:t>Extreme lighting variance, dust, direct sun glare</a:t>
                      </a:r>
                    </a:p>
                  </a:txBody>
                  <a:tcPr>
                    <a:solidFill>
                      <a:srgbClr val="FFFFFF"/>
                    </a:solidFill>
                  </a:tcPr>
                </a:tc>
                <a:tc>
                  <a:txBody>
                    <a:bodyPr wrap="square"/>
                    <a:lstStyle/>
                    <a:p>
                      <a:pPr>
                        <a:defRPr sz="1000">
                          <a:solidFill>
                            <a:srgbClr val="1E293B"/>
                          </a:solidFill>
                        </a:defRPr>
                      </a:pPr>
                      <a:r>
                        <a:t>High dynamic range (120dB HDR) with dynamic exposure compensation</a:t>
                      </a:r>
                    </a:p>
                  </a:txBody>
                  <a:tcPr>
                    <a:solidFill>
                      <a:srgbClr val="FFFFFF"/>
                    </a:solidFill>
                  </a:tcPr>
                </a:tc>
              </a:tr>
              <a:tr h="792480">
                <a:tc>
                  <a:txBody>
                    <a:bodyPr wrap="square"/>
                    <a:lstStyle/>
                    <a:p>
                      <a:pPr>
                        <a:defRPr sz="1000">
                          <a:solidFill>
                            <a:srgbClr val="1E293B"/>
                          </a:solidFill>
                        </a:defRPr>
                      </a:pPr>
                      <a:r>
                        <a:t>Layer 2: Edge NPU Hardware</a:t>
                      </a:r>
                    </a:p>
                  </a:txBody>
                  <a:tcPr>
                    <a:solidFill>
                      <a:srgbClr val="F1F5F9"/>
                    </a:solidFill>
                  </a:tcPr>
                </a:tc>
                <a:tc>
                  <a:txBody>
                    <a:bodyPr wrap="square"/>
                    <a:lstStyle/>
                    <a:p>
                      <a:pPr>
                        <a:defRPr sz="1000">
                          <a:solidFill>
                            <a:srgbClr val="1E293B"/>
                          </a:solidFill>
                        </a:defRPr>
                      </a:pPr>
                      <a:r>
                        <a:t>DeepGrid Custom Low-Power Edge NPU</a:t>
                      </a:r>
                    </a:p>
                  </a:txBody>
                  <a:tcPr>
                    <a:solidFill>
                      <a:srgbClr val="F1F5F9"/>
                    </a:solidFill>
                  </a:tcPr>
                </a:tc>
                <a:tc>
                  <a:txBody>
                    <a:bodyPr wrap="square"/>
                    <a:lstStyle/>
                    <a:p>
                      <a:pPr>
                        <a:defRPr sz="1000">
                          <a:solidFill>
                            <a:srgbClr val="1E293B"/>
                          </a:solidFill>
                        </a:defRPr>
                      </a:pPr>
                      <a:r>
                        <a:t>Sub-15W power envelope; 50°C cabin temperatures</a:t>
                      </a:r>
                    </a:p>
                  </a:txBody>
                  <a:tcPr>
                    <a:solidFill>
                      <a:srgbClr val="F1F5F9"/>
                    </a:solidFill>
                  </a:tcPr>
                </a:tc>
                <a:tc>
                  <a:txBody>
                    <a:bodyPr wrap="square"/>
                    <a:lstStyle/>
                    <a:p>
                      <a:pPr>
                        <a:defRPr sz="1000">
                          <a:solidFill>
                            <a:srgbClr val="1E293B"/>
                          </a:solidFill>
                        </a:defRPr>
                      </a:pPr>
                      <a:r>
                        <a:t>Dedicated INT8 matrix compute engine; passive heat dissipation</a:t>
                      </a:r>
                    </a:p>
                  </a:txBody>
                  <a:tcPr>
                    <a:solidFill>
                      <a:srgbClr val="F1F5F9"/>
                    </a:solidFill>
                  </a:tcPr>
                </a:tc>
              </a:tr>
              <a:tr h="792480">
                <a:tc>
                  <a:txBody>
                    <a:bodyPr wrap="square"/>
                    <a:lstStyle/>
                    <a:p>
                      <a:pPr>
                        <a:defRPr sz="1000">
                          <a:solidFill>
                            <a:srgbClr val="1E293B"/>
                          </a:solidFill>
                        </a:defRPr>
                      </a:pPr>
                      <a:r>
                        <a:t>Layer 3: Perception Firmware</a:t>
                      </a:r>
                    </a:p>
                  </a:txBody>
                  <a:tcPr>
                    <a:solidFill>
                      <a:srgbClr val="FFFFFF"/>
                    </a:solidFill>
                  </a:tcPr>
                </a:tc>
                <a:tc>
                  <a:txBody>
                    <a:bodyPr wrap="square"/>
                    <a:lstStyle/>
                    <a:p>
                      <a:pPr>
                        <a:defRPr sz="1000">
                          <a:solidFill>
                            <a:srgbClr val="1E293B"/>
                          </a:solidFill>
                        </a:defRPr>
                      </a:pPr>
                      <a:r>
                        <a:t>Uncalibrated Topological Vision Model</a:t>
                      </a:r>
                    </a:p>
                  </a:txBody>
                  <a:tcPr>
                    <a:solidFill>
                      <a:srgbClr val="FFFFFF"/>
                    </a:solidFill>
                  </a:tcPr>
                </a:tc>
                <a:tc>
                  <a:txBody>
                    <a:bodyPr wrap="square"/>
                    <a:lstStyle/>
                    <a:p>
                      <a:pPr>
                        <a:defRPr sz="1000">
                          <a:solidFill>
                            <a:srgbClr val="1E293B"/>
                          </a:solidFill>
                        </a:defRPr>
                      </a:pPr>
                      <a:r>
                        <a:t>Absence of road lane markings and street lights</a:t>
                      </a:r>
                    </a:p>
                  </a:txBody>
                  <a:tcPr>
                    <a:solidFill>
                      <a:srgbClr val="FFFFFF"/>
                    </a:solidFill>
                  </a:tcPr>
                </a:tc>
                <a:tc>
                  <a:txBody>
                    <a:bodyPr wrap="square"/>
                    <a:lstStyle/>
                    <a:p>
                      <a:pPr>
                        <a:defRPr sz="1000">
                          <a:solidFill>
                            <a:srgbClr val="1E293B"/>
                          </a:solidFill>
                        </a:defRPr>
                      </a:pPr>
                      <a:r>
                        <a:t>Feature-point optical flow + bounding box object classification</a:t>
                      </a:r>
                    </a:p>
                  </a:txBody>
                  <a:tcPr>
                    <a:solidFill>
                      <a:srgbClr val="FFFFFF"/>
                    </a:solidFill>
                  </a:tcPr>
                </a:tc>
              </a:tr>
              <a:tr h="792480">
                <a:tc>
                  <a:txBody>
                    <a:bodyPr wrap="square"/>
                    <a:lstStyle/>
                    <a:p>
                      <a:pPr>
                        <a:defRPr sz="1000">
                          <a:solidFill>
                            <a:srgbClr val="1E293B"/>
                          </a:solidFill>
                        </a:defRPr>
                      </a:pPr>
                      <a:r>
                        <a:t>Layer 4: Safety &amp; ASIL-B</a:t>
                      </a:r>
                    </a:p>
                  </a:txBody>
                  <a:tcPr>
                    <a:solidFill>
                      <a:srgbClr val="F1F5F9"/>
                    </a:solidFill>
                  </a:tcPr>
                </a:tc>
                <a:tc>
                  <a:txBody>
                    <a:bodyPr wrap="square"/>
                    <a:lstStyle/>
                    <a:p>
                      <a:pPr>
                        <a:defRPr sz="1000">
                          <a:solidFill>
                            <a:srgbClr val="1E293B"/>
                          </a:solidFill>
                        </a:defRPr>
                      </a:pPr>
                      <a:r>
                        <a:t>Deterministic Fault Detection Logic</a:t>
                      </a:r>
                    </a:p>
                  </a:txBody>
                  <a:tcPr>
                    <a:solidFill>
                      <a:srgbClr val="F1F5F9"/>
                    </a:solidFill>
                  </a:tcPr>
                </a:tc>
                <a:tc>
                  <a:txBody>
                    <a:bodyPr wrap="square"/>
                    <a:lstStyle/>
                    <a:p>
                      <a:pPr>
                        <a:defRPr sz="1000">
                          <a:solidFill>
                            <a:srgbClr val="1E293B"/>
                          </a:solidFill>
                        </a:defRPr>
                      </a:pPr>
                      <a:r>
                        <a:t>ISO 26262 ASIL-B automotive functional safety</a:t>
                      </a:r>
                    </a:p>
                  </a:txBody>
                  <a:tcPr>
                    <a:solidFill>
                      <a:srgbClr val="F1F5F9"/>
                    </a:solidFill>
                  </a:tcPr>
                </a:tc>
                <a:tc>
                  <a:txBody>
                    <a:bodyPr wrap="square"/>
                    <a:lstStyle/>
                    <a:p>
                      <a:pPr>
                        <a:defRPr sz="1000">
                          <a:solidFill>
                            <a:srgbClr val="1E293B"/>
                          </a:solidFill>
                        </a:defRPr>
                      </a:pPr>
                      <a:r>
                        <a:t>Dual-lockstep core architecture with &lt;5ms fail-silent heartbeat</a:t>
                      </a:r>
                    </a:p>
                  </a:txBody>
                  <a:tcPr>
                    <a:solidFill>
                      <a:srgbClr val="F1F5F9"/>
                    </a:solidFill>
                  </a:tcPr>
                </a:tc>
              </a:tr>
              <a:tr h="792480">
                <a:tc>
                  <a:txBody>
                    <a:bodyPr wrap="square"/>
                    <a:lstStyle/>
                    <a:p>
                      <a:pPr>
                        <a:defRPr sz="1000">
                          <a:solidFill>
                            <a:srgbClr val="1E293B"/>
                          </a:solidFill>
                        </a:defRPr>
                      </a:pPr>
                      <a:r>
                        <a:t>Layer 5: CAN-FD Vehicle Bus</a:t>
                      </a:r>
                    </a:p>
                  </a:txBody>
                  <a:tcPr>
                    <a:solidFill>
                      <a:srgbClr val="FFFFFF"/>
                    </a:solidFill>
                  </a:tcPr>
                </a:tc>
                <a:tc>
                  <a:txBody>
                    <a:bodyPr wrap="square"/>
                    <a:lstStyle/>
                    <a:p>
                      <a:pPr>
                        <a:defRPr sz="1000">
                          <a:solidFill>
                            <a:srgbClr val="1E293B"/>
                          </a:solidFill>
                        </a:defRPr>
                      </a:pPr>
                      <a:r>
                        <a:t>Automotive CAN-FD Transceiver (ISO 11898)</a:t>
                      </a:r>
                    </a:p>
                  </a:txBody>
                  <a:tcPr>
                    <a:solidFill>
                      <a:srgbClr val="FFFFFF"/>
                    </a:solidFill>
                  </a:tcPr>
                </a:tc>
                <a:tc>
                  <a:txBody>
                    <a:bodyPr wrap="square"/>
                    <a:lstStyle/>
                    <a:p>
                      <a:pPr>
                        <a:defRPr sz="1000">
                          <a:solidFill>
                            <a:srgbClr val="1E293B"/>
                          </a:solidFill>
                        </a:defRPr>
                      </a:pPr>
                      <a:r>
                        <a:t>Tier-1 ECU communication bandwidth limits</a:t>
                      </a:r>
                    </a:p>
                  </a:txBody>
                  <a:tcPr>
                    <a:solidFill>
                      <a:srgbClr val="FFFFFF"/>
                    </a:solidFill>
                  </a:tcPr>
                </a:tc>
                <a:tc>
                  <a:txBody>
                    <a:bodyPr wrap="square"/>
                    <a:lstStyle/>
                    <a:p>
                      <a:pPr>
                        <a:defRPr sz="1000">
                          <a:solidFill>
                            <a:srgbClr val="1E293B"/>
                          </a:solidFill>
                        </a:defRPr>
                      </a:pPr>
                      <a:r>
                        <a:t>Deterministic 2.0 Mbps CAN-FD broadcast to ZF EBS / Domain Controller</a:t>
                      </a:r>
                    </a:p>
                  </a:txBody>
                  <a:tcPr>
                    <a:solidFill>
                      <a:srgbClr val="FFFFFF"/>
                    </a:solidFill>
                  </a:tcPr>
                </a:tc>
              </a:tr>
            </a:tbl>
          </a:graphicData>
        </a:graphic>
      </p:graphicFrame>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0284C7"/>
                </a:solidFill>
              </a:defRPr>
            </a:pPr>
            <a:r>
              <a:t>ACT VII: 9-LAYER IMPLEMENTATION BLUEPRINT</a:t>
            </a:r>
          </a:p>
        </p:txBody>
      </p:sp>
      <p:sp>
        <p:nvSpPr>
          <p:cNvPr id="4" name="TextBox 3"/>
          <p:cNvSpPr txBox="1"/>
          <p:nvPr/>
        </p:nvSpPr>
        <p:spPr>
          <a:xfrm>
            <a:off x="731520" y="640080"/>
            <a:ext cx="10698480" cy="731520"/>
          </a:xfrm>
          <a:prstGeom prst="rect">
            <a:avLst/>
          </a:prstGeom>
          <a:noFill/>
        </p:spPr>
        <p:txBody>
          <a:bodyPr wrap="square">
            <a:spAutoFit/>
          </a:bodyPr>
          <a:lstStyle/>
          <a:p>
            <a:pPr>
              <a:defRPr sz="1800" b="1">
                <a:solidFill>
                  <a:srgbClr val="0F172A"/>
                </a:solidFill>
              </a:defRPr>
            </a:pPr>
            <a:r>
              <a:t>Thermal, Power &amp; Hardware Specifications for Indian Fleet Harsh Environments</a:t>
            </a:r>
          </a:p>
        </p:txBody>
      </p:sp>
      <p:sp>
        <p:nvSpPr>
          <p:cNvPr id="5" name="Rectangle 4"/>
          <p:cNvSpPr/>
          <p:nvPr/>
        </p:nvSpPr>
        <p:spPr>
          <a:xfrm>
            <a:off x="731520" y="1463040"/>
            <a:ext cx="5212080" cy="475488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663440" cy="4206240"/>
          </a:xfrm>
          <a:prstGeom prst="rect">
            <a:avLst/>
          </a:prstGeom>
          <a:noFill/>
        </p:spPr>
        <p:txBody>
          <a:bodyPr wrap="square">
            <a:spAutoFit/>
          </a:bodyPr>
          <a:lstStyle/>
          <a:p>
            <a:pPr>
              <a:defRPr sz="1500" b="1">
                <a:solidFill>
                  <a:srgbClr val="0F172A"/>
                </a:solidFill>
              </a:defRPr>
            </a:pPr>
            <a:r>
              <a:t>Environmental &amp; Hardware Enclosure</a:t>
            </a:r>
          </a:p>
          <a:p>
            <a:pPr>
              <a:spcBef>
                <a:spcPts val="1000"/>
              </a:spcBef>
              <a:defRPr sz="1100">
                <a:solidFill>
                  <a:srgbClr val="1E293B"/>
                </a:solidFill>
              </a:defRPr>
            </a:pPr>
            <a:r>
              <a:t>•  **Operating Temperature**: -40°C to +105°C (AEC-Q100 Grade 2 certified silicon).</a:t>
            </a:r>
          </a:p>
          <a:p>
            <a:pPr>
              <a:spcBef>
                <a:spcPts val="1000"/>
              </a:spcBef>
              <a:defRPr sz="1100">
                <a:solidFill>
                  <a:srgbClr val="1E293B"/>
                </a:solidFill>
              </a:defRPr>
            </a:pPr>
            <a:r>
              <a:t>•  **Ingress Protection**: IP67 sealed aluminium casing resistant to monsoon flooding and high-pressure water washing.</a:t>
            </a:r>
          </a:p>
          <a:p>
            <a:pPr>
              <a:spcBef>
                <a:spcPts val="1000"/>
              </a:spcBef>
              <a:defRPr sz="1100">
                <a:solidFill>
                  <a:srgbClr val="1E293B"/>
                </a:solidFill>
              </a:defRPr>
            </a:pPr>
            <a:r>
              <a:t>•  **Vibration Tolerance**: ISO 16750-3 severe commercial vehicle chassis vibration profile (heavy axle impact tested).</a:t>
            </a:r>
          </a:p>
        </p:txBody>
      </p:sp>
      <p:sp>
        <p:nvSpPr>
          <p:cNvPr id="7" name="Rectangle 6"/>
          <p:cNvSpPr/>
          <p:nvPr/>
        </p:nvSpPr>
        <p:spPr>
          <a:xfrm>
            <a:off x="6217920" y="1463040"/>
            <a:ext cx="5212080" cy="4754880"/>
          </a:xfrm>
          <a:prstGeom prst="rect">
            <a:avLst/>
          </a:prstGeom>
          <a:solidFill>
            <a:srgbClr val="FFFFFF"/>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737360"/>
            <a:ext cx="4663440" cy="4206240"/>
          </a:xfrm>
          <a:prstGeom prst="rect">
            <a:avLst/>
          </a:prstGeom>
          <a:noFill/>
        </p:spPr>
        <p:txBody>
          <a:bodyPr wrap="square">
            <a:spAutoFit/>
          </a:bodyPr>
          <a:lstStyle/>
          <a:p>
            <a:pPr>
              <a:defRPr sz="1500" b="1">
                <a:solidFill>
                  <a:srgbClr val="0284C7"/>
                </a:solidFill>
              </a:defRPr>
            </a:pPr>
            <a:r>
              <a:t>Electrical &amp; Compute Specifications</a:t>
            </a:r>
          </a:p>
          <a:p>
            <a:pPr>
              <a:spcBef>
                <a:spcPts val="1000"/>
              </a:spcBef>
              <a:defRPr sz="1100">
                <a:solidFill>
                  <a:srgbClr val="1E293B"/>
                </a:solidFill>
              </a:defRPr>
            </a:pPr>
            <a:r>
              <a:t>•  **Input Voltage Range**: 9V–36V DC with load dump protection (ISO 7637-2 compliant for 24V CV electrical architectures).</a:t>
            </a:r>
          </a:p>
          <a:p>
            <a:pPr>
              <a:spcBef>
                <a:spcPts val="1000"/>
              </a:spcBef>
              <a:defRPr sz="1100">
                <a:solidFill>
                  <a:srgbClr val="1E293B"/>
                </a:solidFill>
              </a:defRPr>
            </a:pPr>
            <a:r>
              <a:t>•  **Total Power Consumption**: &lt;12W under peak 60 FPS vision processing.</a:t>
            </a:r>
          </a:p>
          <a:p>
            <a:pPr>
              <a:spcBef>
                <a:spcPts val="1000"/>
              </a:spcBef>
              <a:defRPr sz="1100">
                <a:solidFill>
                  <a:srgbClr val="1E293B"/>
                </a:solidFill>
              </a:defRPr>
            </a:pPr>
            <a:r>
              <a:t>•  **End-to-End Latency**: Sensor photon to CAN-FD bus message in &lt;14.2 milliseconds.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0284C7"/>
                </a:solidFill>
              </a:defRPr>
            </a:pPr>
            <a:r>
              <a:t>ACT VIII: TAM, PROFIT POOL &amp; COMMERCIAL SCALING</a:t>
            </a:r>
          </a:p>
        </p:txBody>
      </p:sp>
      <p:sp>
        <p:nvSpPr>
          <p:cNvPr id="4" name="TextBox 3"/>
          <p:cNvSpPr txBox="1"/>
          <p:nvPr/>
        </p:nvSpPr>
        <p:spPr>
          <a:xfrm>
            <a:off x="731520" y="640080"/>
            <a:ext cx="10698480" cy="731520"/>
          </a:xfrm>
          <a:prstGeom prst="rect">
            <a:avLst/>
          </a:prstGeom>
          <a:noFill/>
        </p:spPr>
        <p:txBody>
          <a:bodyPr wrap="square">
            <a:spAutoFit/>
          </a:bodyPr>
          <a:lstStyle/>
          <a:p>
            <a:pPr>
              <a:defRPr sz="1800" b="1">
                <a:solidFill>
                  <a:srgbClr val="0F172A"/>
                </a:solidFill>
              </a:defRPr>
            </a:pPr>
            <a:r>
              <a:t>Indian Commercial Vehicle ADAS Unit Economics &amp; Profit Pool Architecture</a:t>
            </a:r>
          </a:p>
        </p:txBody>
      </p:sp>
      <p:graphicFrame>
        <p:nvGraphicFramePr>
          <p:cNvPr id="5" name="Table 4"/>
          <p:cNvGraphicFramePr>
            <a:graphicFrameLocks noGrp="1"/>
          </p:cNvGraphicFramePr>
          <p:nvPr/>
        </p:nvGraphicFramePr>
        <p:xfrm>
          <a:off x="731520" y="1463040"/>
          <a:ext cx="10698480" cy="4754880"/>
        </p:xfrm>
        <a:graphic>
          <a:graphicData uri="http://schemas.openxmlformats.org/drawingml/2006/table">
            <a:tbl>
              <a:tblPr firstRow="1" bandRow="1">
                <a:tableStyleId>{5C22544A-7EE6-4342-B048-85BDC9FD1C3A}</a:tableStyleId>
              </a:tblPr>
              <a:tblGrid>
                <a:gridCol w="2674620"/>
                <a:gridCol w="2674620"/>
                <a:gridCol w="2674620"/>
                <a:gridCol w="2674620"/>
              </a:tblGrid>
              <a:tr h="950976">
                <a:tc>
                  <a:txBody>
                    <a:bodyPr wrap="square"/>
                    <a:lstStyle/>
                    <a:p>
                      <a:pPr>
                        <a:defRPr b="1" sz="1100">
                          <a:solidFill>
                            <a:srgbClr val="FFFFFF"/>
                          </a:solidFill>
                        </a:defRPr>
                      </a:pPr>
                      <a:r>
                        <a:t>Financial Parameter</a:t>
                      </a:r>
                    </a:p>
                  </a:txBody>
                  <a:tcPr>
                    <a:solidFill>
                      <a:srgbClr val="0F172A"/>
                    </a:solidFill>
                  </a:tcPr>
                </a:tc>
                <a:tc>
                  <a:txBody>
                    <a:bodyPr wrap="square"/>
                    <a:lstStyle/>
                    <a:p>
                      <a:pPr>
                        <a:defRPr b="1" sz="1100">
                          <a:solidFill>
                            <a:srgbClr val="FFFFFF"/>
                          </a:solidFill>
                        </a:defRPr>
                      </a:pPr>
                      <a:r>
                        <a:t>Industry Baseline (Western Stacks)</a:t>
                      </a:r>
                    </a:p>
                  </a:txBody>
                  <a:tcPr>
                    <a:solidFill>
                      <a:srgbClr val="0F172A"/>
                    </a:solidFill>
                  </a:tcPr>
                </a:tc>
                <a:tc>
                  <a:txBody>
                    <a:bodyPr wrap="square"/>
                    <a:lstStyle/>
                    <a:p>
                      <a:pPr>
                        <a:defRPr b="1" sz="1100">
                          <a:solidFill>
                            <a:srgbClr val="FFFFFF"/>
                          </a:solidFill>
                        </a:defRPr>
                      </a:pPr>
                      <a:r>
                        <a:t>DeepGrid Bounded Subsystem</a:t>
                      </a:r>
                    </a:p>
                  </a:txBody>
                  <a:tcPr>
                    <a:solidFill>
                      <a:srgbClr val="0F172A"/>
                    </a:solidFill>
                  </a:tcPr>
                </a:tc>
                <a:tc>
                  <a:txBody>
                    <a:bodyPr wrap="square"/>
                    <a:lstStyle/>
                    <a:p>
                      <a:pPr>
                        <a:defRPr b="1" sz="1100">
                          <a:solidFill>
                            <a:srgbClr val="FFFFFF"/>
                          </a:solidFill>
                        </a:defRPr>
                      </a:pPr>
                      <a:r>
                        <a:t>Economic Advantage</a:t>
                      </a:r>
                    </a:p>
                  </a:txBody>
                  <a:tcPr>
                    <a:solidFill>
                      <a:srgbClr val="0F172A"/>
                    </a:solidFill>
                  </a:tcPr>
                </a:tc>
              </a:tr>
              <a:tr h="950976">
                <a:tc>
                  <a:txBody>
                    <a:bodyPr wrap="square"/>
                    <a:lstStyle/>
                    <a:p>
                      <a:pPr>
                        <a:defRPr sz="1000">
                          <a:solidFill>
                            <a:srgbClr val="1E293B"/>
                          </a:solidFill>
                        </a:defRPr>
                      </a:pPr>
                      <a:r>
                        <a:t>Per-Chassis Hardware BOM</a:t>
                      </a:r>
                    </a:p>
                  </a:txBody>
                  <a:tcPr>
                    <a:solidFill>
                      <a:srgbClr val="FFFFFF"/>
                    </a:solidFill>
                  </a:tcPr>
                </a:tc>
                <a:tc>
                  <a:txBody>
                    <a:bodyPr wrap="square"/>
                    <a:lstStyle/>
                    <a:p>
                      <a:pPr>
                        <a:defRPr sz="1000">
                          <a:solidFill>
                            <a:srgbClr val="1E293B"/>
                          </a:solidFill>
                        </a:defRPr>
                      </a:pPr>
                      <a:r>
                        <a:t>$450 – $650 per vehicle</a:t>
                      </a:r>
                    </a:p>
                  </a:txBody>
                  <a:tcPr>
                    <a:solidFill>
                      <a:srgbClr val="FFFFFF"/>
                    </a:solidFill>
                  </a:tcPr>
                </a:tc>
                <a:tc>
                  <a:txBody>
                    <a:bodyPr wrap="square"/>
                    <a:lstStyle/>
                    <a:p>
                      <a:pPr>
                        <a:defRPr sz="1000">
                          <a:solidFill>
                            <a:srgbClr val="1E293B"/>
                          </a:solidFill>
                        </a:defRPr>
                      </a:pPr>
                      <a:r>
                        <a:t>$120 – $140 per vehicle</a:t>
                      </a:r>
                    </a:p>
                  </a:txBody>
                  <a:tcPr>
                    <a:solidFill>
                      <a:srgbClr val="FFFFFF"/>
                    </a:solidFill>
                  </a:tcPr>
                </a:tc>
                <a:tc>
                  <a:txBody>
                    <a:bodyPr wrap="square"/>
                    <a:lstStyle/>
                    <a:p>
                      <a:pPr>
                        <a:defRPr sz="1000">
                          <a:solidFill>
                            <a:srgbClr val="1E293B"/>
                          </a:solidFill>
                        </a:defRPr>
                      </a:pPr>
                      <a:r>
                        <a:t>68% BOM reduction enabling OEM sub-$400 retail compliance</a:t>
                      </a:r>
                    </a:p>
                  </a:txBody>
                  <a:tcPr>
                    <a:solidFill>
                      <a:srgbClr val="FFFFFF"/>
                    </a:solidFill>
                  </a:tcPr>
                </a:tc>
              </a:tr>
              <a:tr h="950976">
                <a:tc>
                  <a:txBody>
                    <a:bodyPr wrap="square"/>
                    <a:lstStyle/>
                    <a:p>
                      <a:pPr>
                        <a:defRPr sz="1000">
                          <a:solidFill>
                            <a:srgbClr val="1E293B"/>
                          </a:solidFill>
                        </a:defRPr>
                      </a:pPr>
                      <a:r>
                        <a:t>Tier-1 Integration NRE</a:t>
                      </a:r>
                    </a:p>
                  </a:txBody>
                  <a:tcPr>
                    <a:solidFill>
                      <a:srgbClr val="F1F5F9"/>
                    </a:solidFill>
                  </a:tcPr>
                </a:tc>
                <a:tc>
                  <a:txBody>
                    <a:bodyPr wrap="square"/>
                    <a:lstStyle/>
                    <a:p>
                      <a:pPr>
                        <a:defRPr sz="1000">
                          <a:solidFill>
                            <a:srgbClr val="1E293B"/>
                          </a:solidFill>
                        </a:defRPr>
                      </a:pPr>
                      <a:r>
                        <a:t>$3.5M – $5.0M custom software porting</a:t>
                      </a:r>
                    </a:p>
                  </a:txBody>
                  <a:tcPr>
                    <a:solidFill>
                      <a:srgbClr val="F1F5F9"/>
                    </a:solidFill>
                  </a:tcPr>
                </a:tc>
                <a:tc>
                  <a:txBody>
                    <a:bodyPr wrap="square"/>
                    <a:lstStyle/>
                    <a:p>
                      <a:pPr>
                        <a:defRPr sz="1000">
                          <a:solidFill>
                            <a:srgbClr val="1E293B"/>
                          </a:solidFill>
                        </a:defRPr>
                      </a:pPr>
                      <a:r>
                        <a:t>$350K pre-packaged CAN-FD SDK</a:t>
                      </a:r>
                    </a:p>
                  </a:txBody>
                  <a:tcPr>
                    <a:solidFill>
                      <a:srgbClr val="F1F5F9"/>
                    </a:solidFill>
                  </a:tcPr>
                </a:tc>
                <a:tc>
                  <a:txBody>
                    <a:bodyPr wrap="square"/>
                    <a:lstStyle/>
                    <a:p>
                      <a:pPr>
                        <a:defRPr sz="1000">
                          <a:solidFill>
                            <a:srgbClr val="1E293B"/>
                          </a:solidFill>
                        </a:defRPr>
                      </a:pPr>
                      <a:r>
                        <a:t>90% faster time-to-market for 2027 compliance</a:t>
                      </a:r>
                    </a:p>
                  </a:txBody>
                  <a:tcPr>
                    <a:solidFill>
                      <a:srgbClr val="F1F5F9"/>
                    </a:solidFill>
                  </a:tcPr>
                </a:tc>
              </a:tr>
              <a:tr h="950976">
                <a:tc>
                  <a:txBody>
                    <a:bodyPr wrap="square"/>
                    <a:lstStyle/>
                    <a:p>
                      <a:pPr>
                        <a:defRPr sz="1000">
                          <a:solidFill>
                            <a:srgbClr val="1E293B"/>
                          </a:solidFill>
                        </a:defRPr>
                      </a:pPr>
                      <a:r>
                        <a:t>Target Chassis Volume (2028)</a:t>
                      </a:r>
                    </a:p>
                  </a:txBody>
                  <a:tcPr>
                    <a:solidFill>
                      <a:srgbClr val="FFFFFF"/>
                    </a:solidFill>
                  </a:tcPr>
                </a:tc>
                <a:tc>
                  <a:txBody>
                    <a:bodyPr wrap="square"/>
                    <a:lstStyle/>
                    <a:p>
                      <a:pPr>
                        <a:defRPr sz="1000">
                          <a:solidFill>
                            <a:srgbClr val="1E293B"/>
                          </a:solidFill>
                        </a:defRPr>
                      </a:pPr>
                      <a:r>
                        <a:t>450,000 N3/M3 commercial vehicles</a:t>
                      </a:r>
                    </a:p>
                  </a:txBody>
                  <a:tcPr>
                    <a:solidFill>
                      <a:srgbClr val="FFFFFF"/>
                    </a:solidFill>
                  </a:tcPr>
                </a:tc>
                <a:tc>
                  <a:txBody>
                    <a:bodyPr wrap="square"/>
                    <a:lstStyle/>
                    <a:p>
                      <a:pPr>
                        <a:defRPr sz="1000">
                          <a:solidFill>
                            <a:srgbClr val="1E293B"/>
                          </a:solidFill>
                        </a:defRPr>
                      </a:pPr>
                      <a:r>
                        <a:t>450,000 addressable units</a:t>
                      </a:r>
                    </a:p>
                  </a:txBody>
                  <a:tcPr>
                    <a:solidFill>
                      <a:srgbClr val="FFFFFF"/>
                    </a:solidFill>
                  </a:tcPr>
                </a:tc>
                <a:tc>
                  <a:txBody>
                    <a:bodyPr wrap="square"/>
                    <a:lstStyle/>
                    <a:p>
                      <a:pPr>
                        <a:defRPr sz="1000">
                          <a:solidFill>
                            <a:srgbClr val="1E293B"/>
                          </a:solidFill>
                        </a:defRPr>
                      </a:pPr>
                      <a:r>
                        <a:t>100% addressable TAM under MoRTH mandate</a:t>
                      </a:r>
                    </a:p>
                  </a:txBody>
                  <a:tcPr>
                    <a:solidFill>
                      <a:srgbClr val="FFFFFF"/>
                    </a:solidFill>
                  </a:tcPr>
                </a:tc>
              </a:tr>
              <a:tr h="950976">
                <a:tc>
                  <a:txBody>
                    <a:bodyPr wrap="square"/>
                    <a:lstStyle/>
                    <a:p>
                      <a:pPr>
                        <a:defRPr sz="1000">
                          <a:solidFill>
                            <a:srgbClr val="1E293B"/>
                          </a:solidFill>
                        </a:defRPr>
                      </a:pPr>
                      <a:r>
                        <a:t>DeepGrid Revenue at 25% Share</a:t>
                      </a:r>
                    </a:p>
                  </a:txBody>
                  <a:tcPr>
                    <a:solidFill>
                      <a:srgbClr val="F1F5F9"/>
                    </a:solidFill>
                  </a:tcPr>
                </a:tc>
                <a:tc>
                  <a:txBody>
                    <a:bodyPr wrap="square"/>
                    <a:lstStyle/>
                    <a:p>
                      <a:pPr>
                        <a:defRPr sz="1000">
                          <a:solidFill>
                            <a:srgbClr val="1E293B"/>
                          </a:solidFill>
                        </a:defRPr>
                      </a:pPr>
                      <a:r>
                        <a:t>N/A (Incumbent displacement)</a:t>
                      </a:r>
                    </a:p>
                  </a:txBody>
                  <a:tcPr>
                    <a:solidFill>
                      <a:srgbClr val="F1F5F9"/>
                    </a:solidFill>
                  </a:tcPr>
                </a:tc>
                <a:tc>
                  <a:txBody>
                    <a:bodyPr wrap="square"/>
                    <a:lstStyle/>
                    <a:p>
                      <a:pPr>
                        <a:defRPr sz="1000">
                          <a:solidFill>
                            <a:srgbClr val="1E293B"/>
                          </a:solidFill>
                        </a:defRPr>
                      </a:pPr>
                      <a:r>
                        <a:t>$15.75M Annual Recurring Revenue</a:t>
                      </a:r>
                    </a:p>
                  </a:txBody>
                  <a:tcPr>
                    <a:solidFill>
                      <a:srgbClr val="F1F5F9"/>
                    </a:solidFill>
                  </a:tcPr>
                </a:tc>
                <a:tc>
                  <a:txBody>
                    <a:bodyPr wrap="square"/>
                    <a:lstStyle/>
                    <a:p>
                      <a:pPr>
                        <a:defRPr sz="1000">
                          <a:solidFill>
                            <a:srgbClr val="1E293B"/>
                          </a:solidFill>
                        </a:defRPr>
                      </a:pPr>
                      <a:r>
                        <a:t>78% software &amp; silicon IP gross margin</a:t>
                      </a:r>
                    </a:p>
                  </a:txBody>
                  <a:tcPr>
                    <a:solidFill>
                      <a:srgbClr val="F1F5F9"/>
                    </a:solidFill>
                  </a:tcPr>
                </a:tc>
              </a:tr>
            </a:tbl>
          </a:graphicData>
        </a:graphic>
      </p:graphicFrame>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a:spAutoFit/>
          </a:bodyPr>
          <a:lstStyle/>
          <a:p>
            <a:pPr>
              <a:defRPr sz="1000" b="1">
                <a:solidFill>
                  <a:srgbClr val="0284C7"/>
                </a:solidFill>
              </a:defRPr>
            </a:pPr>
            <a:r>
              <a:t>ACT VIII: TAM, PROFIT POOL &amp; COMMERCIAL SCALING</a:t>
            </a:r>
          </a:p>
        </p:txBody>
      </p:sp>
      <p:sp>
        <p:nvSpPr>
          <p:cNvPr id="4" name="TextBox 3"/>
          <p:cNvSpPr txBox="1"/>
          <p:nvPr/>
        </p:nvSpPr>
        <p:spPr>
          <a:xfrm>
            <a:off x="731520" y="640080"/>
            <a:ext cx="10698480" cy="731520"/>
          </a:xfrm>
          <a:prstGeom prst="rect">
            <a:avLst/>
          </a:prstGeom>
          <a:noFill/>
        </p:spPr>
        <p:txBody>
          <a:bodyPr wrap="square">
            <a:spAutoFit/>
          </a:bodyPr>
          <a:lstStyle/>
          <a:p>
            <a:pPr>
              <a:defRPr sz="1800" b="1">
                <a:solidFill>
                  <a:srgbClr val="0F172A"/>
                </a:solidFill>
              </a:defRPr>
            </a:pPr>
            <a:r>
              <a:t>Commercial Prospect Pipeline: Target Automotive Decision Makers in India</a:t>
            </a:r>
          </a:p>
        </p:txBody>
      </p:sp>
      <p:graphicFrame>
        <p:nvGraphicFramePr>
          <p:cNvPr id="5" name="Table 4"/>
          <p:cNvGraphicFramePr>
            <a:graphicFrameLocks noGrp="1"/>
          </p:cNvGraphicFramePr>
          <p:nvPr/>
        </p:nvGraphicFramePr>
        <p:xfrm>
          <a:off x="731520" y="1463040"/>
          <a:ext cx="10698480" cy="4754880"/>
        </p:xfrm>
        <a:graphic>
          <a:graphicData uri="http://schemas.openxmlformats.org/drawingml/2006/table">
            <a:tbl>
              <a:tblPr firstRow="1" bandRow="1">
                <a:tableStyleId>{5C22544A-7EE6-4342-B048-85BDC9FD1C3A}</a:tableStyleId>
              </a:tblPr>
              <a:tblGrid>
                <a:gridCol w="2139696"/>
                <a:gridCol w="2139696"/>
                <a:gridCol w="2139696"/>
                <a:gridCol w="2139696"/>
                <a:gridCol w="2139696"/>
              </a:tblGrid>
              <a:tr h="792480">
                <a:tc>
                  <a:txBody>
                    <a:bodyPr wrap="square"/>
                    <a:lstStyle/>
                    <a:p>
                      <a:pPr>
                        <a:defRPr b="1" sz="1100">
                          <a:solidFill>
                            <a:srgbClr val="FFFFFF"/>
                          </a:solidFill>
                        </a:defRPr>
                      </a:pPr>
                      <a:r>
                        <a:t>Target Stakeholder</a:t>
                      </a:r>
                    </a:p>
                  </a:txBody>
                  <a:tcPr>
                    <a:solidFill>
                      <a:srgbClr val="0F172A"/>
                    </a:solidFill>
                  </a:tcPr>
                </a:tc>
                <a:tc>
                  <a:txBody>
                    <a:bodyPr wrap="square"/>
                    <a:lstStyle/>
                    <a:p>
                      <a:pPr>
                        <a:defRPr b="1" sz="1100">
                          <a:solidFill>
                            <a:srgbClr val="FFFFFF"/>
                          </a:solidFill>
                        </a:defRPr>
                      </a:pPr>
                      <a:r>
                        <a:t>Company / Institution</a:t>
                      </a:r>
                    </a:p>
                  </a:txBody>
                  <a:tcPr>
                    <a:solidFill>
                      <a:srgbClr val="0F172A"/>
                    </a:solidFill>
                  </a:tcPr>
                </a:tc>
                <a:tc>
                  <a:txBody>
                    <a:bodyPr wrap="square"/>
                    <a:lstStyle/>
                    <a:p>
                      <a:pPr>
                        <a:defRPr b="1" sz="1100">
                          <a:solidFill>
                            <a:srgbClr val="FFFFFF"/>
                          </a:solidFill>
                        </a:defRPr>
                      </a:pPr>
                      <a:r>
                        <a:t>Location Cluster</a:t>
                      </a:r>
                    </a:p>
                  </a:txBody>
                  <a:tcPr>
                    <a:solidFill>
                      <a:srgbClr val="0F172A"/>
                    </a:solidFill>
                  </a:tcPr>
                </a:tc>
                <a:tc>
                  <a:txBody>
                    <a:bodyPr wrap="square"/>
                    <a:lstStyle/>
                    <a:p>
                      <a:pPr>
                        <a:defRPr b="1" sz="1100">
                          <a:solidFill>
                            <a:srgbClr val="FFFFFF"/>
                          </a:solidFill>
                        </a:defRPr>
                      </a:pPr>
                      <a:r>
                        <a:t>Priority Level</a:t>
                      </a:r>
                    </a:p>
                  </a:txBody>
                  <a:tcPr>
                    <a:solidFill>
                      <a:srgbClr val="0F172A"/>
                    </a:solidFill>
                  </a:tcPr>
                </a:tc>
                <a:tc>
                  <a:txBody>
                    <a:bodyPr wrap="square"/>
                    <a:lstStyle/>
                    <a:p>
                      <a:pPr>
                        <a:defRPr b="1" sz="1100">
                          <a:solidFill>
                            <a:srgbClr val="FFFFFF"/>
                          </a:solidFill>
                        </a:defRPr>
                      </a:pPr>
                      <a:r>
                        <a:t>Engagement Wedge</a:t>
                      </a:r>
                    </a:p>
                  </a:txBody>
                  <a:tcPr>
                    <a:solidFill>
                      <a:srgbClr val="0F172A"/>
                    </a:solidFill>
                  </a:tcPr>
                </a:tc>
              </a:tr>
              <a:tr h="792480">
                <a:tc>
                  <a:txBody>
                    <a:bodyPr wrap="square"/>
                    <a:lstStyle/>
                    <a:p>
                      <a:pPr>
                        <a:defRPr sz="1000">
                          <a:solidFill>
                            <a:srgbClr val="1E293B"/>
                          </a:solidFill>
                        </a:defRPr>
                      </a:pPr>
                      <a:r>
                        <a:t>VP &amp; Head of CV Engineering</a:t>
                      </a:r>
                    </a:p>
                  </a:txBody>
                  <a:tcPr>
                    <a:solidFill>
                      <a:srgbClr val="FFFFFF"/>
                    </a:solidFill>
                  </a:tcPr>
                </a:tc>
                <a:tc>
                  <a:txBody>
                    <a:bodyPr wrap="square"/>
                    <a:lstStyle/>
                    <a:p>
                      <a:pPr>
                        <a:defRPr sz="1000">
                          <a:solidFill>
                            <a:srgbClr val="1E293B"/>
                          </a:solidFill>
                        </a:defRPr>
                      </a:pPr>
                      <a:r>
                        <a:t>Tata Motors Commercial Vehicles</a:t>
                      </a:r>
                    </a:p>
                  </a:txBody>
                  <a:tcPr>
                    <a:solidFill>
                      <a:srgbClr val="FFFFFF"/>
                    </a:solidFill>
                  </a:tcPr>
                </a:tc>
                <a:tc>
                  <a:txBody>
                    <a:bodyPr wrap="square"/>
                    <a:lstStyle/>
                    <a:p>
                      <a:pPr>
                        <a:defRPr sz="1000">
                          <a:solidFill>
                            <a:srgbClr val="1E293B"/>
                          </a:solidFill>
                        </a:defRPr>
                      </a:pPr>
                      <a:r>
                        <a:t>Pune, Maharashtra</a:t>
                      </a:r>
                    </a:p>
                  </a:txBody>
                  <a:tcPr>
                    <a:solidFill>
                      <a:srgbClr val="FFFFFF"/>
                    </a:solidFill>
                  </a:tcPr>
                </a:tc>
                <a:tc>
                  <a:txBody>
                    <a:bodyPr wrap="square"/>
                    <a:lstStyle/>
                    <a:p>
                      <a:pPr>
                        <a:defRPr sz="1000">
                          <a:solidFill>
                            <a:srgbClr val="1E293B"/>
                          </a:solidFill>
                        </a:defRPr>
                      </a:pPr>
                      <a:r>
                        <a:t>Priority 1 (OEM)</a:t>
                      </a:r>
                    </a:p>
                  </a:txBody>
                  <a:tcPr>
                    <a:solidFill>
                      <a:srgbClr val="FFFFFF"/>
                    </a:solidFill>
                  </a:tcPr>
                </a:tc>
                <a:tc>
                  <a:txBody>
                    <a:bodyPr wrap="square"/>
                    <a:lstStyle/>
                    <a:p>
                      <a:pPr>
                        <a:defRPr sz="1000">
                          <a:solidFill>
                            <a:srgbClr val="1E293B"/>
                          </a:solidFill>
                        </a:defRPr>
                      </a:pPr>
                      <a:r>
                        <a:t>MoRTH 2027 Mandate compliance for Prima &amp; Signa multi-axle trucks</a:t>
                      </a:r>
                    </a:p>
                  </a:txBody>
                  <a:tcPr>
                    <a:solidFill>
                      <a:srgbClr val="FFFFFF"/>
                    </a:solidFill>
                  </a:tcPr>
                </a:tc>
              </a:tr>
              <a:tr h="792480">
                <a:tc>
                  <a:txBody>
                    <a:bodyPr wrap="square"/>
                    <a:lstStyle/>
                    <a:p>
                      <a:pPr>
                        <a:defRPr sz="1000">
                          <a:solidFill>
                            <a:srgbClr val="1E293B"/>
                          </a:solidFill>
                        </a:defRPr>
                      </a:pPr>
                      <a:r>
                        <a:t>Director of CV Systems Integration</a:t>
                      </a:r>
                    </a:p>
                  </a:txBody>
                  <a:tcPr>
                    <a:solidFill>
                      <a:srgbClr val="F1F5F9"/>
                    </a:solidFill>
                  </a:tcPr>
                </a:tc>
                <a:tc>
                  <a:txBody>
                    <a:bodyPr wrap="square"/>
                    <a:lstStyle/>
                    <a:p>
                      <a:pPr>
                        <a:defRPr sz="1000">
                          <a:solidFill>
                            <a:srgbClr val="1E293B"/>
                          </a:solidFill>
                        </a:defRPr>
                      </a:pPr>
                      <a:r>
                        <a:t>ZF CV Control Systems India</a:t>
                      </a:r>
                    </a:p>
                  </a:txBody>
                  <a:tcPr>
                    <a:solidFill>
                      <a:srgbClr val="F1F5F9"/>
                    </a:solidFill>
                  </a:tcPr>
                </a:tc>
                <a:tc>
                  <a:txBody>
                    <a:bodyPr wrap="square"/>
                    <a:lstStyle/>
                    <a:p>
                      <a:pPr>
                        <a:defRPr sz="1000">
                          <a:solidFill>
                            <a:srgbClr val="1E293B"/>
                          </a:solidFill>
                        </a:defRPr>
                      </a:pPr>
                      <a:r>
                        <a:t>Chennai, Tamil Nadu</a:t>
                      </a:r>
                    </a:p>
                  </a:txBody>
                  <a:tcPr>
                    <a:solidFill>
                      <a:srgbClr val="F1F5F9"/>
                    </a:solidFill>
                  </a:tcPr>
                </a:tc>
                <a:tc>
                  <a:txBody>
                    <a:bodyPr wrap="square"/>
                    <a:lstStyle/>
                    <a:p>
                      <a:pPr>
                        <a:defRPr sz="1000">
                          <a:solidFill>
                            <a:srgbClr val="1E293B"/>
                          </a:solidFill>
                        </a:defRPr>
                      </a:pPr>
                      <a:r>
                        <a:t>Priority 1 (Tier-1)</a:t>
                      </a:r>
                    </a:p>
                  </a:txBody>
                  <a:tcPr>
                    <a:solidFill>
                      <a:srgbClr val="F1F5F9"/>
                    </a:solidFill>
                  </a:tcPr>
                </a:tc>
                <a:tc>
                  <a:txBody>
                    <a:bodyPr wrap="square"/>
                    <a:lstStyle/>
                    <a:p>
                      <a:pPr>
                        <a:defRPr sz="1000">
                          <a:solidFill>
                            <a:srgbClr val="1E293B"/>
                          </a:solidFill>
                        </a:defRPr>
                      </a:pPr>
                      <a:r>
                        <a:t>Pre-integrated perception coprocessor for next-gen EBS 12 controller</a:t>
                      </a:r>
                    </a:p>
                  </a:txBody>
                  <a:tcPr>
                    <a:solidFill>
                      <a:srgbClr val="F1F5F9"/>
                    </a:solidFill>
                  </a:tcPr>
                </a:tc>
              </a:tr>
              <a:tr h="792480">
                <a:tc>
                  <a:txBody>
                    <a:bodyPr wrap="square"/>
                    <a:lstStyle/>
                    <a:p>
                      <a:pPr>
                        <a:defRPr sz="1000">
                          <a:solidFill>
                            <a:srgbClr val="1E293B"/>
                          </a:solidFill>
                        </a:defRPr>
                      </a:pPr>
                      <a:r>
                        <a:t>Head of Electronics &amp; ADAS</a:t>
                      </a:r>
                    </a:p>
                  </a:txBody>
                  <a:tcPr>
                    <a:solidFill>
                      <a:srgbClr val="FFFFFF"/>
                    </a:solidFill>
                  </a:tcPr>
                </a:tc>
                <a:tc>
                  <a:txBody>
                    <a:bodyPr wrap="square"/>
                    <a:lstStyle/>
                    <a:p>
                      <a:pPr>
                        <a:defRPr sz="1000">
                          <a:solidFill>
                            <a:srgbClr val="1E293B"/>
                          </a:solidFill>
                        </a:defRPr>
                      </a:pPr>
                      <a:r>
                        <a:t>Ashok Leyland Mobility R&amp;D</a:t>
                      </a:r>
                    </a:p>
                  </a:txBody>
                  <a:tcPr>
                    <a:solidFill>
                      <a:srgbClr val="FFFFFF"/>
                    </a:solidFill>
                  </a:tcPr>
                </a:tc>
                <a:tc>
                  <a:txBody>
                    <a:bodyPr wrap="square"/>
                    <a:lstStyle/>
                    <a:p>
                      <a:pPr>
                        <a:defRPr sz="1000">
                          <a:solidFill>
                            <a:srgbClr val="1E293B"/>
                          </a:solidFill>
                        </a:defRPr>
                      </a:pPr>
                      <a:r>
                        <a:t>Chennai / Hosur</a:t>
                      </a:r>
                    </a:p>
                  </a:txBody>
                  <a:tcPr>
                    <a:solidFill>
                      <a:srgbClr val="FFFFFF"/>
                    </a:solidFill>
                  </a:tcPr>
                </a:tc>
                <a:tc>
                  <a:txBody>
                    <a:bodyPr wrap="square"/>
                    <a:lstStyle/>
                    <a:p>
                      <a:pPr>
                        <a:defRPr sz="1000">
                          <a:solidFill>
                            <a:srgbClr val="1E293B"/>
                          </a:solidFill>
                        </a:defRPr>
                      </a:pPr>
                      <a:r>
                        <a:t>Priority 1 (OEM)</a:t>
                      </a:r>
                    </a:p>
                  </a:txBody>
                  <a:tcPr>
                    <a:solidFill>
                      <a:srgbClr val="FFFFFF"/>
                    </a:solidFill>
                  </a:tcPr>
                </a:tc>
                <a:tc>
                  <a:txBody>
                    <a:bodyPr wrap="square"/>
                    <a:lstStyle/>
                    <a:p>
                      <a:pPr>
                        <a:defRPr sz="1000">
                          <a:solidFill>
                            <a:srgbClr val="1E293B"/>
                          </a:solidFill>
                        </a:defRPr>
                      </a:pPr>
                      <a:r>
                        <a:t>Zero phantom braking on AVTR and Boss heavy commercial platforms</a:t>
                      </a:r>
                    </a:p>
                  </a:txBody>
                  <a:tcPr>
                    <a:solidFill>
                      <a:srgbClr val="FFFFFF"/>
                    </a:solidFill>
                  </a:tcPr>
                </a:tc>
              </a:tr>
              <a:tr h="792480">
                <a:tc>
                  <a:txBody>
                    <a:bodyPr wrap="square"/>
                    <a:lstStyle/>
                    <a:p>
                      <a:pPr>
                        <a:defRPr sz="1000">
                          <a:solidFill>
                            <a:srgbClr val="1E293B"/>
                          </a:solidFill>
                        </a:defRPr>
                      </a:pPr>
                      <a:r>
                        <a:t>President - Electronics Division</a:t>
                      </a:r>
                    </a:p>
                  </a:txBody>
                  <a:tcPr>
                    <a:solidFill>
                      <a:srgbClr val="F1F5F9"/>
                    </a:solidFill>
                  </a:tcPr>
                </a:tc>
                <a:tc>
                  <a:txBody>
                    <a:bodyPr wrap="square"/>
                    <a:lstStyle/>
                    <a:p>
                      <a:pPr>
                        <a:defRPr sz="1000">
                          <a:solidFill>
                            <a:srgbClr val="1E293B"/>
                          </a:solidFill>
                        </a:defRPr>
                      </a:pPr>
                      <a:r>
                        <a:t>Uno Minda Group</a:t>
                      </a:r>
                    </a:p>
                  </a:txBody>
                  <a:tcPr>
                    <a:solidFill>
                      <a:srgbClr val="F1F5F9"/>
                    </a:solidFill>
                  </a:tcPr>
                </a:tc>
                <a:tc>
                  <a:txBody>
                    <a:bodyPr wrap="square"/>
                    <a:lstStyle/>
                    <a:p>
                      <a:pPr>
                        <a:defRPr sz="1000">
                          <a:solidFill>
                            <a:srgbClr val="1E293B"/>
                          </a:solidFill>
                        </a:defRPr>
                      </a:pPr>
                      <a:r>
                        <a:t>Gurgaon, Haryana</a:t>
                      </a:r>
                    </a:p>
                  </a:txBody>
                  <a:tcPr>
                    <a:solidFill>
                      <a:srgbClr val="F1F5F9"/>
                    </a:solidFill>
                  </a:tcPr>
                </a:tc>
                <a:tc>
                  <a:txBody>
                    <a:bodyPr wrap="square"/>
                    <a:lstStyle/>
                    <a:p>
                      <a:pPr>
                        <a:defRPr sz="1000">
                          <a:solidFill>
                            <a:srgbClr val="1E293B"/>
                          </a:solidFill>
                        </a:defRPr>
                      </a:pPr>
                      <a:r>
                        <a:t>Priority 2 (Tier-1)</a:t>
                      </a:r>
                    </a:p>
                  </a:txBody>
                  <a:tcPr>
                    <a:solidFill>
                      <a:srgbClr val="F1F5F9"/>
                    </a:solidFill>
                  </a:tcPr>
                </a:tc>
                <a:tc>
                  <a:txBody>
                    <a:bodyPr wrap="square"/>
                    <a:lstStyle/>
                    <a:p>
                      <a:pPr>
                        <a:defRPr sz="1000">
                          <a:solidFill>
                            <a:srgbClr val="1E293B"/>
                          </a:solidFill>
                        </a:defRPr>
                      </a:pPr>
                      <a:r>
                        <a:t>Domestic Tier-1 co-bidding package for Indian CV OEM active safety</a:t>
                      </a:r>
                    </a:p>
                  </a:txBody>
                  <a:tcPr>
                    <a:solidFill>
                      <a:srgbClr val="F1F5F9"/>
                    </a:solidFill>
                  </a:tcPr>
                </a:tc>
              </a:tr>
              <a:tr h="792480">
                <a:tc>
                  <a:txBody>
                    <a:bodyPr wrap="square"/>
                    <a:lstStyle/>
                    <a:p>
                      <a:pPr>
                        <a:defRPr sz="1000">
                          <a:solidFill>
                            <a:srgbClr val="1E293B"/>
                          </a:solidFill>
                        </a:defRPr>
                      </a:pPr>
                      <a:r>
                        <a:t>Director of Active Safety Testing</a:t>
                      </a:r>
                    </a:p>
                  </a:txBody>
                  <a:tcPr>
                    <a:solidFill>
                      <a:srgbClr val="FFFFFF"/>
                    </a:solidFill>
                  </a:tcPr>
                </a:tc>
                <a:tc>
                  <a:txBody>
                    <a:bodyPr wrap="square"/>
                    <a:lstStyle/>
                    <a:p>
                      <a:pPr>
                        <a:defRPr sz="1000">
                          <a:solidFill>
                            <a:srgbClr val="1E293B"/>
                          </a:solidFill>
                        </a:defRPr>
                      </a:pPr>
                      <a:r>
                        <a:t>ARAI (Automotive Research Assoc)</a:t>
                      </a:r>
                    </a:p>
                  </a:txBody>
                  <a:tcPr>
                    <a:solidFill>
                      <a:srgbClr val="FFFFFF"/>
                    </a:solidFill>
                  </a:tcPr>
                </a:tc>
                <a:tc>
                  <a:txBody>
                    <a:bodyPr wrap="square"/>
                    <a:lstStyle/>
                    <a:p>
                      <a:pPr>
                        <a:defRPr sz="1000">
                          <a:solidFill>
                            <a:srgbClr val="1E293B"/>
                          </a:solidFill>
                        </a:defRPr>
                      </a:pPr>
                      <a:r>
                        <a:t>Pune, Maharashtra</a:t>
                      </a:r>
                    </a:p>
                  </a:txBody>
                  <a:tcPr>
                    <a:solidFill>
                      <a:srgbClr val="FFFFFF"/>
                    </a:solidFill>
                  </a:tcPr>
                </a:tc>
                <a:tc>
                  <a:txBody>
                    <a:bodyPr wrap="square"/>
                    <a:lstStyle/>
                    <a:p>
                      <a:pPr>
                        <a:defRPr sz="1000">
                          <a:solidFill>
                            <a:srgbClr val="1E293B"/>
                          </a:solidFill>
                        </a:defRPr>
                      </a:pPr>
                      <a:r>
                        <a:t>Institutional</a:t>
                      </a:r>
                    </a:p>
                  </a:txBody>
                  <a:tcPr>
                    <a:solidFill>
                      <a:srgbClr val="FFFFFF"/>
                    </a:solidFill>
                  </a:tcPr>
                </a:tc>
                <a:tc>
                  <a:txBody>
                    <a:bodyPr wrap="square"/>
                    <a:lstStyle/>
                    <a:p>
                      <a:pPr>
                        <a:defRPr sz="1000">
                          <a:solidFill>
                            <a:srgbClr val="1E293B"/>
                          </a:solidFill>
                        </a:defRPr>
                      </a:pPr>
                      <a:r>
                        <a:t>Standardized test track verification for AIS-140 compliance</a:t>
                      </a:r>
                    </a:p>
                  </a:txBody>
                  <a:tcPr>
                    <a:solidFill>
                      <a:srgbClr val="FFFFFF"/>
                    </a:solidFill>
                  </a:tcPr>
                </a:tc>
              </a:tr>
            </a:tbl>
          </a:graphicData>
        </a:graphic>
      </p:graphicFrame>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2026-08-15T06:30:04.9910000Z</dcterms:created>
  <dcterms:modified xsi:type="dcterms:W3CDTF">2026-08-15T06:30:04.9910000Z</dcterms:modified>
</coreProperties>
</file>