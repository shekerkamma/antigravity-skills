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0A1628"/>
                </a:solidFill>
                <a:latin typeface="Arial"/>
              </a:defRPr>
            </a:pPr>
            <a:r>
              <a:t>The Omnichannel AI Revenue Operator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009B82"/>
                </a:solidFill>
                <a:latin typeface="Arial"/>
              </a:defRPr>
            </a:pPr>
            <a:r>
              <a:t>Airo RevOps Systems | airo-revops.ai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A1628"/>
                </a:solidFill>
              </a:defRPr>
            </a:pPr>
            <a:r>
              <a:t>Executive Read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Traditional B2B cold email and unmonitored RPA bots have reached their systemic limits due to Google/Yahoo's 0.3% spam rules, declining conversions, and compliance penalties (SOX/GDPR). We present 'Airo'—a Quiet AI digital revenue operator integrated natively into enterprise CRM workflows. Airo bridges REST data waterfalls, deep context-isolated memory, and margin preservation architecture to convert passive contacts into high-performing pipeline accounts.</a:t>
            </a:r>
          </a:p>
          <a:p>
            <a:pPr lvl="1">
              <a:defRPr sz="1800"/>
            </a:pPr>
            <a:r>
              <a:t>Quiet AI Background Processing: Headless APEX and Node.js integrations replace fragile screen-scraping bots (which had 30-50% failure rates).</a:t>
            </a:r>
          </a:p>
          <a:p>
            <a:pPr lvl="1">
              <a:defRPr sz="1800"/>
            </a:pPr>
            <a:r>
              <a:t>Deliverability &amp; Bounce Gates: Multi-provider waterfalls (Clay) and in-line verification (ZeroBounce) keep email bounce rates safely below 2%.</a:t>
            </a:r>
          </a:p>
          <a:p>
            <a:pPr lvl="1">
              <a:defRPr sz="1800"/>
            </a:pPr>
            <a:r>
              <a:t>PII &amp; SOX Risk Management: Local anonymization proxies isolate customer data, while staged CRM writes maintain immutable SOX Section 404 audit logs.</a:t>
            </a:r>
          </a:p>
          <a:p>
            <a:pPr lvl="1">
              <a:defRPr sz="1800"/>
            </a:pPr>
            <a:r>
              <a:t>Margin Protection (Quality-Adjusted TCO): Semantic caching (Redis) and model classifiers (RouteLLM) achieve up to 86% API cost savings.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A1628"/>
                </a:solidFill>
              </a:defRPr>
            </a:pPr>
            <a:r>
              <a:t>Modules A &amp; B: Data Waterfalls &amp; CRM 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009B82"/>
                </a:solidFill>
              </a:defRPr>
            </a:pPr>
            <a:r>
              <a:t>Data Waterfall &amp; Verification</a:t>
            </a:r>
          </a:p>
          <a:p>
            <a:pPr>
              <a:defRPr sz="1600"/>
            </a:pPr>
            <a:r>
              <a:t>• Clay-style multi-provider data cascade.</a:t>
            </a:r>
          </a:p>
          <a:p>
            <a:pPr>
              <a:defRPr sz="1600"/>
            </a:pPr>
            <a:r>
              <a:t>• In-line ZeroBounce verification check.</a:t>
            </a:r>
          </a:p>
          <a:p>
            <a:pPr>
              <a:defRPr sz="1600"/>
            </a:pPr>
            <a:r>
              <a:t>• Automates cleanup of CRM data decay (30% annual).</a:t>
            </a:r>
          </a:p>
          <a:p>
            <a:pPr>
              <a:defRPr sz="1600"/>
            </a:pPr>
            <a:r>
              <a:t>• Programmatic REST APIs override UI scraping.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8288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009B82"/>
                </a:solidFill>
              </a:defRPr>
            </a:pPr>
            <a:r>
              <a:t>Context-Isolated Memory</a:t>
            </a:r>
          </a:p>
          <a:p>
            <a:pPr>
              <a:defRPr sz="1600"/>
            </a:pPr>
            <a:r>
              <a:t>• Ingests previous email threads and Salesforce history.</a:t>
            </a:r>
          </a:p>
          <a:p>
            <a:pPr>
              <a:defRPr sz="1600"/>
            </a:pPr>
            <a:r>
              <a:t>• Prevents generic AI templates that trigger spam filters.</a:t>
            </a:r>
          </a:p>
          <a:p>
            <a:pPr>
              <a:defRPr sz="1600"/>
            </a:pPr>
            <a:r>
              <a:t>• Personalization raises reply rates from &lt;1% to 18%.</a:t>
            </a:r>
          </a:p>
          <a:p>
            <a:pPr>
              <a:defRPr sz="1600"/>
            </a:pPr>
            <a:r>
              <a:t>• Maintains account-level institutional context.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A1628"/>
                </a:solidFill>
              </a:defRPr>
            </a:pPr>
            <a:r>
              <a:t>Modules C &amp; D: Compliance Gates &amp; Social Warmup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009B82"/>
                </a:solidFill>
              </a:defRPr>
            </a:pPr>
            <a:r>
              <a:t>Pre-Flight &amp; Compliance Gateway</a:t>
            </a:r>
          </a:p>
          <a:p>
            <a:pPr>
              <a:defRPr sz="1600"/>
            </a:pPr>
            <a:r>
              <a:t>• Locks daily outbound volume to 30-50 per inbox.</a:t>
            </a:r>
          </a:p>
          <a:p>
            <a:pPr>
              <a:defRPr sz="1600"/>
            </a:pPr>
            <a:r>
              <a:t>• Checks spam likelihood against Postmaster rules.</a:t>
            </a:r>
          </a:p>
          <a:p>
            <a:pPr>
              <a:defRPr sz="1600"/>
            </a:pPr>
            <a:r>
              <a:t>• Filters PII locally to satisfy GDPR Article 44 rules.</a:t>
            </a:r>
          </a:p>
          <a:p>
            <a:pPr>
              <a:defRPr sz="1600"/>
            </a:pPr>
            <a:r>
              <a:t>• Stages updates in CRM to maintain SOX 404 logs.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8288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009B82"/>
                </a:solidFill>
              </a:defRPr>
            </a:pPr>
            <a:r>
              <a:t>Omnichannel Social Warmup</a:t>
            </a:r>
          </a:p>
          <a:p>
            <a:pPr>
              <a:defRPr sz="1600"/>
            </a:pPr>
            <a:r>
              <a:t>• Scrapes public post activities of target prospects.</a:t>
            </a:r>
          </a:p>
          <a:p>
            <a:pPr>
              <a:defRPr sz="1600"/>
            </a:pPr>
            <a:r>
              <a:t>• Monitors connection invite limit caps (~100/week).</a:t>
            </a:r>
          </a:p>
          <a:p>
            <a:pPr>
              <a:defRPr sz="1600"/>
            </a:pPr>
            <a:r>
              <a:t>• Triggers paced social comment warming.</a:t>
            </a:r>
          </a:p>
          <a:p>
            <a:pPr>
              <a:defRPr sz="1600"/>
            </a:pPr>
            <a:r>
              <a:t>• Discovers proximity path routes for warm intros.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A1628"/>
                </a:solidFill>
              </a:defRPr>
            </a:pPr>
            <a:r>
              <a:t>Module E &amp; TCO: Cost Caching &amp; Pricing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009B82"/>
                </a:solidFill>
              </a:defRPr>
            </a:pPr>
            <a:r>
              <a:t>Token-Budget Optimization</a:t>
            </a:r>
          </a:p>
          <a:p>
            <a:pPr>
              <a:defRPr sz="1600"/>
            </a:pPr>
            <a:r>
              <a:t>• Uses semantic caching for repeat context (Redis).</a:t>
            </a:r>
          </a:p>
          <a:p>
            <a:pPr>
              <a:defRPr sz="1600"/>
            </a:pPr>
            <a:r>
              <a:t>• Cuts LLM costs by 86% with 40-70% hit rates.</a:t>
            </a:r>
          </a:p>
          <a:p>
            <a:pPr>
              <a:defRPr sz="1600"/>
            </a:pPr>
            <a:r>
              <a:t>• RouteLLM routes simple queries to Flash models.</a:t>
            </a:r>
          </a:p>
          <a:p>
            <a:pPr>
              <a:defRPr sz="1600"/>
            </a:pPr>
            <a:r>
              <a:t>• LLMLingua prompt compression prunes inputs 2x-20x.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8288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009B82"/>
                </a:solidFill>
              </a:defRPr>
            </a:pPr>
            <a:r>
              <a:t>B2B Monetization Tiers</a:t>
            </a:r>
          </a:p>
          <a:p>
            <a:pPr>
              <a:defRPr sz="1600"/>
            </a:pPr>
            <a:r>
              <a:t>• Hybrid SaaS Model: Metered usage credit pricing.</a:t>
            </a:r>
          </a:p>
          <a:p>
            <a:pPr>
              <a:defRPr sz="1600"/>
            </a:pPr>
            <a:r>
              <a:t>• Productized Service: Outbound audit setup at $4,500/mo.</a:t>
            </a:r>
          </a:p>
          <a:p>
            <a:pPr>
              <a:defRPr sz="1600"/>
            </a:pPr>
            <a:r>
              <a:t>• Digital Blueprint: Deliverability setup manual package.</a:t>
            </a:r>
          </a:p>
          <a:p>
            <a:pPr>
              <a:defRPr sz="1600"/>
            </a:pPr>
            <a:r>
              <a:t>• Maintains target gross margins at 80% (BVP).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