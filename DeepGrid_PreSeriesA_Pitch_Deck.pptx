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82880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457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9B82"/>
                </a:solidFill>
                <a:latin typeface="Calibri"/>
              </a:defRPr>
            </a:pPr>
            <a:r>
              <a:t>DEEPGRID SEMI  ·  STRATEGY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DeepGrid Semi</a:t>
            </a:r>
            <a:br/>
            <a:r>
              <a:t>Pre-Series A Investor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BAE"/>
                </a:solidFill>
                <a:latin typeface="Calibri"/>
              </a:defRPr>
            </a:pPr>
            <a:r>
              <a:t>Powered by Strategy Skill Pipe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943600"/>
            <a:ext cx="1106424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B7C"/>
                </a:solidFill>
                <a:latin typeface="Calibri"/>
              </a:defRPr>
            </a:pPr>
            <a:r>
              <a:t>DeepGrid Semi Analysis  |  Strategy Skill Pipe  | 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126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B6B7C"/>
                </a:solidFill>
                <a:latin typeface="Calibri"/>
              </a:defRPr>
            </a:pPr>
            <a:r>
              <a:t>1 /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09B82"/>
                </a:solidFill>
                <a:latin typeface="Calibri"/>
              </a:defRPr>
            </a:pPr>
            <a:r>
              <a:t>DOMAIN: PRE-SERIES A INVESTOR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Commercializing Vertically Integrated Edge-AI Silicon for Non-Discretionary India &amp; GCC Autonomy Mandates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37160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AE"/>
                </a:solidFill>
                <a:latin typeface="Calibri"/>
              </a:defRPr>
            </a:pPr>
            <a:r>
              <a:t>DeepGrid Semi is a semiconductor startup incubated at T-Hub Phase 2, Hyderabad, transitioning its validated 39.3 TOPS edge-AI architecture from $420 FPGA prototypes to custom 28nm ASICs with a $30 compute board BOM. By targeting non-discretionary safety mandates across defense, high-volume aftermarket retrofits, and OEM line-fits, DeepGrid delivers compliant commercial vehicle safety at a 3x to 7x cost reduction while bypassing Western merchant silicon dependencies.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0C9A7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7152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640" y="3246120"/>
            <a:ext cx="101346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Validated 39.3 TOPS INT8 architecture on FPGA; raising 25 Cr ($3M) Pre-Series A to fund 28nm TSMC tape-out and EDA licensing.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77444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640" y="3749040"/>
            <a:ext cx="101346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Combo-die consolidation (A100, R100, T100, D100, S100, H100) drops compute board BOM from $420 to ~$30 at scaled volume.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7736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640" y="4251960"/>
            <a:ext cx="101346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Bypasses 4-year OEM validation cycles via immediate revenue wedges in tactical defense (1 Cr generated) and 5M vehicle aftermarket retrofits.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78028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640" y="4754880"/>
            <a:ext cx="101346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Highly defensible margins (84% hardware gross margin, up to 25k/yr recurring SaaS) with break-even at only 3,636 units (&lt;0.1% TAM).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943600"/>
            <a:ext cx="1106424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126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B7C"/>
                </a:solidFill>
                <a:latin typeface="Calibri"/>
              </a:defRPr>
            </a:pPr>
            <a:r>
              <a:t>DeepGrid Semi Analysis  |  Strategy Skill Pipe  |  June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126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B6B7C"/>
                </a:solidFill>
                <a:latin typeface="Calibri"/>
              </a:defRPr>
            </a:pPr>
            <a: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09B82"/>
                </a:solidFill>
                <a:latin typeface="Calibri"/>
              </a:defRPr>
            </a:pPr>
            <a:r>
              <a:t>DEEPGRID SEMI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Executive Summary &amp; The Venture Capital Mandate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37160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Calibri"/>
              </a:defRPr>
            </a:pPr>
            <a:r>
              <a:t>TECHNICAL REALITY &amp; SILICON DESTINATION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94564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9640" y="192024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FPGA Validation: Successfully validated custom 39.3 TOPS INT8 edge-AI processor architecture on Field-Programmable Gate Arrays.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8572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640" y="256032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Production Bottleneck: FPGA boards are physically too large, run at high thermal thresholds, and cost ~$420 (₹35,000) per unit.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22580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9640" y="320040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Silicon Destination: Fabricating custom 28nm ASICs slashes logic die cost to ~$3 and compute board BOM to ~$30.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5544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Calibri"/>
              </a:defRPr>
            </a:pPr>
            <a:r>
              <a:t>PRE-SERIES A ASK &amp; GTM MANDATE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0" y="194564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600" y="192024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Capital Ask: Raising ₹25 Crore (~$3M) to fund physical design compilation, EDA licenses, and MPW tape-out on TSMC 28nm node.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0" y="258572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600" y="256032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De-risked Commercial Roadmap: Dual-use defense wedges and aftermarket retrofit mandates bypass 4-year OEM validation cycles.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0" y="322580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600" y="320040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Rapid Market Entry: Immediate revenue generation via defense while building regulatory momentum.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943600"/>
            <a:ext cx="1106424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126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B7C"/>
                </a:solidFill>
                <a:latin typeface="Calibri"/>
              </a:defRPr>
            </a:pPr>
            <a:r>
              <a:t>DeepGrid Semi Analysis  |  Strategy Skill Pipe  |  June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126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B6B7C"/>
                </a:solidFill>
                <a:latin typeface="Calibri"/>
              </a:defRPr>
            </a:pPr>
            <a: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09B82"/>
                </a:solidFill>
                <a:latin typeface="Calibri"/>
              </a:defRPr>
            </a:pPr>
            <a:r>
              <a:t>DEEPGRID SEMI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The Core Problem: Merchant Silicon Squeeze Zone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37160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57988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640" y="1554480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Squeeze Zone Bottleneck: Pure-play software startups writing AV/ADAS software are structurally squeezed by high third-party hardware costs.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1996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640" y="2194560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Cost Penalty: Western autonomous stacks rely on general-purpose GPUs and CPUs, pushing compute platform BOM above $6,000.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86004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640" y="2834640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Power &amp; Memory Bottlenecks: Traditional matrix processors suffer from severe memory bandwidth limits, causing low real-world edge utilization.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500119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640" y="3474719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Local Data Failure: Global platforms use vision algorithms trained on structured Western highways, failing in chaotic, high-entropy Indian/GCC traffic.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943600"/>
            <a:ext cx="1106424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126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B7C"/>
                </a:solidFill>
                <a:latin typeface="Calibri"/>
              </a:defRPr>
            </a:pPr>
            <a:r>
              <a:t>DeepGrid Semi Analysis  |  Strategy Skill Pipe  |  June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126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B6B7C"/>
                </a:solidFill>
                <a:latin typeface="Calibri"/>
              </a:defRPr>
            </a:pPr>
            <a: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09B82"/>
                </a:solidFill>
                <a:latin typeface="Calibri"/>
              </a:defRPr>
            </a:pPr>
            <a:r>
              <a:t>DEEPGRID SEMI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DeepGrid's Architectural Solution: Custom Combo-Die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37160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Calibri"/>
              </a:defRPr>
            </a:pPr>
            <a:r>
              <a:t>HARDWARE INNOVATIONS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94564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9640" y="192024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3D Systolic Tensor Cube: Custom 888 ALU with 32,768 MAC units at 600 MHz delivering dedicated 39.3 TOPS INT8 compute.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8572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640" y="256032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Batch Dispatch Firmware: Decouples host supervision from execution, achieving up to 200x higher real-world compute efficiency.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22580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9640" y="320040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Combo-Die Integration: Combines AI processing, analog sensor interfaces, and vehicle telematics onto a single silicon die.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5544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Calibri"/>
              </a:defRPr>
            </a:pPr>
            <a:r>
              <a:t>COMMERCIAL ADVANTAGE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0" y="194564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600" y="192024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Disruptive BOM Reduction: Drops complete compute board BOM to ~$30 at scaled volume.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0" y="258572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600" y="256032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Margin Absorption: Low hardware cost allows DeepGrid to absorb hardware price pressure and focus on recurring SaaS.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0" y="322580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600" y="320040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Zero Supply Chain Dependency: Bypasses Western merchant silicon dependencies completely.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943600"/>
            <a:ext cx="1106424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126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B7C"/>
                </a:solidFill>
                <a:latin typeface="Calibri"/>
              </a:defRPr>
            </a:pPr>
            <a:r>
              <a:t>DeepGrid Semi Analysis  |  Strategy Skill Pipe  |  June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126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B6B7C"/>
                </a:solidFill>
                <a:latin typeface="Calibri"/>
              </a:defRPr>
            </a:pPr>
            <a: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09B82"/>
                </a:solidFill>
                <a:latin typeface="Calibri"/>
              </a:defRPr>
            </a:pPr>
            <a:r>
              <a:t>DEEPGRID SEMI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DeepGrid's Six-Chiplet Single-Die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37160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878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628"/>
                          </a:solidFill>
                        </a:defRPr>
                      </a:pPr>
                      <a:r>
                        <a:t>Chiplet Core</a:t>
                      </a:r>
                    </a:p>
                  </a:txBody>
                  <a:tcPr>
                    <a:solidFill>
                      <a:srgbClr val="009B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628"/>
                          </a:solidFill>
                        </a:defRPr>
                      </a:pPr>
                      <a:r>
                        <a:t>Function &amp; Specification</a:t>
                      </a:r>
                    </a:p>
                  </a:txBody>
                  <a:tcPr>
                    <a:solidFill>
                      <a:srgbClr val="009B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628"/>
                          </a:solidFill>
                        </a:defRPr>
                      </a:pPr>
                      <a:r>
                        <a:t>Target Application &amp; Feature</a:t>
                      </a:r>
                    </a:p>
                  </a:txBody>
                  <a:tcPr>
                    <a:solidFill>
                      <a:srgbClr val="009B8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A100 (AI Processor)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39.3 TOPS INT8, 40 FPS perception models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Executes heavy localized YOLOv11 &amp; VLA models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R100 (Radar DSP)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Integrated 12-bit native ADC for 77GHz radar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Eliminates external radar chips for blind spot &amp; AEB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T100 (Thermal/LiDAR)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Multi-sensor thermal &amp; LiDAR point cloud DSP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Low-light &amp; adverse weather perception fallback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D100 (Secure Enclave)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Dual-core lockstep RISC-V with crypto keys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Prevents unauthorized vehicle overrides &amp; tampering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S100 (Telematics Gateway)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Software-Defined Vehicle gateway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Runs AIS-140 &amp; Saudi WASL tracking protocols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H100 (Health/Bio-ADC)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Cabin biometrics &amp; steering torque metrics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Real-time driver fatigue &amp; drowsiness algorithms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943600"/>
            <a:ext cx="1106424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B7C"/>
                </a:solidFill>
                <a:latin typeface="Calibri"/>
              </a:defRPr>
            </a:pPr>
            <a:r>
              <a:t>DeepGrid Semi Analysis  |  Strategy Skill Pipe  | 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126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B6B7C"/>
                </a:solidFill>
                <a:latin typeface="Calibri"/>
              </a:defRPr>
            </a:pPr>
            <a: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09B82"/>
                </a:solidFill>
                <a:latin typeface="Calibri"/>
              </a:defRPr>
            </a:pPr>
            <a:r>
              <a:t>DEEPGRID SEMI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Diagnostic Framework for Early-Stage Silicon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37160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57988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640" y="1554480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Dimension 1 — Regulatory Compulsion Index: Evaluates if purchase is discretionary vs mandated by national transport safety laws.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1996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640" y="2194560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Dimension 2 — Technical Integration Friction: Measures engineering hours and homologation costs required for vehicle platform integration.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86004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640" y="2834640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Dimension 3 — Price Elasticity &amp; BOM Limit: Determines customer maximum budget tolerance for upfront hardware additions.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500119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640" y="3474719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Dimension 4 — Sales Cycle &amp; Time-to-Revenue: Tracks timeline from initial technical engagement to commercial volume purchase orders.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14020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640" y="4114800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Dimension 5 — Operational Design Domain Entropy: Assesses operating environments from structured spaces to chaotic Indian/GCC roads.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943600"/>
            <a:ext cx="1106424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126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B7C"/>
                </a:solidFill>
                <a:latin typeface="Calibri"/>
              </a:defRPr>
            </a:pPr>
            <a:r>
              <a:t>DeepGrid Semi Analysis  |  Strategy Skill Pipe  |  June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126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B6B7C"/>
                </a:solidFill>
                <a:latin typeface="Calibri"/>
              </a:defRPr>
            </a:pPr>
            <a: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09B82"/>
                </a:solidFill>
                <a:latin typeface="Calibri"/>
              </a:defRPr>
            </a:pPr>
            <a:r>
              <a:t>DEEPGRID SEMI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Segment Diagnostic Matrix &amp; Priority Scoring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37160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878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628"/>
                          </a:solidFill>
                        </a:defRPr>
                      </a:pPr>
                      <a:r>
                        <a:t>Diagnostic Dimension</a:t>
                      </a:r>
                    </a:p>
                  </a:txBody>
                  <a:tcPr>
                    <a:solidFill>
                      <a:srgbClr val="009B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628"/>
                          </a:solidFill>
                        </a:defRPr>
                      </a:pPr>
                      <a:r>
                        <a:t>Option A: Tactical Defense &amp; AGVs</a:t>
                      </a:r>
                    </a:p>
                  </a:txBody>
                  <a:tcPr>
                    <a:solidFill>
                      <a:srgbClr val="009B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628"/>
                          </a:solidFill>
                        </a:defRPr>
                      </a:pPr>
                      <a:r>
                        <a:t>Option B: Aftermarket Fleets</a:t>
                      </a:r>
                    </a:p>
                  </a:txBody>
                  <a:tcPr>
                    <a:solidFill>
                      <a:srgbClr val="009B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628"/>
                          </a:solidFill>
                        </a:defRPr>
                      </a:pPr>
                      <a:r>
                        <a:t>Option C: OEM Line-Fit</a:t>
                      </a:r>
                    </a:p>
                  </a:txBody>
                  <a:tcPr>
                    <a:solidFill>
                      <a:srgbClr val="009B8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Primary Platforms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UGVs, Port AGVs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Medium &amp; Heavy Goods Trucks (N2/N3)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New Buses &amp; Trucks (M2/M3, N2/N3)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Regulatory Compulsion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Moderate (Strategic Upgrades)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Extreme (Immediate Mandates)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High (Required for Type Approvals)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Integration Friction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Low-to-Moderate (Enclosed Spaces)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Moderate (Standard Power Mapping)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Extreme (Multi-Year E/E Redesign)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Price Elasticity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Low (Prioritizes Security)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High (Needs Rapid Payback)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Moderate-to-High (BOM Pressure)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Sales Cycle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Short (6-12 Months)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Moderate (12-18 Months)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Long (24-48 Months)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ODD Entropy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High (Tactical Terrains)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Extreme (Unstructured Mixed Traffic)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Moderate-to-High (Highways &amp; Urban)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943600"/>
            <a:ext cx="1106424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B7C"/>
                </a:solidFill>
                <a:latin typeface="Calibri"/>
              </a:defRPr>
            </a:pPr>
            <a:r>
              <a:t>DeepGrid Semi Analysis  |  Strategy Skill Pipe  | 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126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B6B7C"/>
                </a:solidFill>
                <a:latin typeface="Calibri"/>
              </a:defRPr>
            </a:pPr>
            <a: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09B82"/>
                </a:solidFill>
                <a:latin typeface="Calibri"/>
              </a:defRPr>
            </a:pPr>
            <a:r>
              <a:t>DEEPGRID SEMI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ICP Option A: Tactical Defense &amp; Robotics Wedge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37160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Calibri"/>
              </a:defRPr>
            </a:pPr>
            <a:r>
              <a:t>TARGET &amp; PAIN POINTS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94564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9640" y="192024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Target Sub-Segments: Sovereign Unmanned Ground Vehicles (UGVs), border surveillance, and seaport Automated Guided Vehicles (AGVs).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8572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640" y="256032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Core Pain Point: Foreign chips expose strategic defense systems to supply-chain threats and remote tracking vulnerabilities.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22580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9640" y="320040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Buying Behavior: Low price sensitivity; prioritizes hardware cybersecurity and sovereign data isolation.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5544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Calibri"/>
              </a:defRPr>
            </a:pPr>
            <a:r>
              <a:t>TECHNICAL FIT &amp; FPGA ADVANTAGE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0" y="194564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600" y="192024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Technical Fit: D100 RISC-V lockstep enclave executes crypto tasks in rugged, GPS-denied environments.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0" y="258572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600" y="256032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Direct FPGA Deployment: Deploys using validated FPGA dev boards—no ASIC tape-out needed for immediate revenue.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0" y="322580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600" y="320040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Cash Flow Wedge: Secured ₹1 Crore in military pilot revenue to extend financial runway.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943600"/>
            <a:ext cx="1106424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126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B7C"/>
                </a:solidFill>
                <a:latin typeface="Calibri"/>
              </a:defRPr>
            </a:pPr>
            <a:r>
              <a:t>DeepGrid Semi Analysis  |  Strategy Skill Pipe  |  June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126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B6B7C"/>
                </a:solidFill>
                <a:latin typeface="Calibri"/>
              </a:defRPr>
            </a:pPr>
            <a: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09B82"/>
                </a:solidFill>
                <a:latin typeface="Calibri"/>
              </a:defRPr>
            </a:pPr>
            <a:r>
              <a:t>DEEPGRID SEMI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ICP Option B: Non-Discretionary Aftermarket Retrofit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37160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Calibri"/>
              </a:defRPr>
            </a:pPr>
            <a:r>
              <a:t>TARGET &amp; PAIN POINTS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94564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9640" y="192024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Target Sub-Segments: Medium and heavy commercial trucks (N2/N3) owned by private transport and logistics fleets.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8572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640" y="256032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Core Pain Point: Safety mandates require immediate ADAS integration, but thin margins prevent buying new vehicles.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22580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9640" y="320040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Buying Behavior: Highly cost-sensitive; evaluates safety costs against non-compliance fines and insurance premiums.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5544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Calibri"/>
              </a:defRPr>
            </a:pPr>
            <a:r>
              <a:t>TECHNICAL &amp; COMMERCIAL FIT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0" y="194564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600" y="192024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Technical Fit: Combo-die handles perception, blind-spot monitoring, and drowsiness telemetry on a single board.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0" y="258572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600" y="256032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Disruptive Pricing: Homologated kit priced at ₹2.0L - ₹2.5L ($2.4k-$3.0k), delivering 3x to 7x cost savings over imports.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0" y="322580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600" y="320040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Volume Engine: Captures 5M+ commercial vehicle retrofit market in India &amp; GCC.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943600"/>
            <a:ext cx="1106424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126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B7C"/>
                </a:solidFill>
                <a:latin typeface="Calibri"/>
              </a:defRPr>
            </a:pPr>
            <a:r>
              <a:t>DeepGrid Semi Analysis  |  Strategy Skill Pipe  |  June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126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B6B7C"/>
                </a:solidFill>
                <a:latin typeface="Calibri"/>
              </a:defRPr>
            </a:pPr>
            <a: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09B82"/>
                </a:solidFill>
                <a:latin typeface="Calibri"/>
              </a:defRPr>
            </a:pPr>
            <a:r>
              <a:t>DEEPGRID SEMI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ICP Option C: OEM Factory Line-Fit Embedding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37160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Calibri"/>
              </a:defRPr>
            </a:pPr>
            <a:r>
              <a:t>TARGET &amp; PAIN POINTS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94564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9640" y="192024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Target Sub-Segments: Domestic Indian and emerging GCC heavy truck and passenger bus OEMs.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8572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640" y="256032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Core Pain Point: Mounting multiple mandatory safety ECUs inflates platform BOM and creates software integration bottlenecks.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22580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9640" y="320040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Buying Behavior: Conservative, risk-averse, slow-moving; OEMs refuse direct engagement with unproven startups.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5544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Calibri"/>
              </a:defRPr>
            </a:pPr>
            <a:r>
              <a:t>TIER-2 STRATEGY &amp; VALUE PROP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0" y="194564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600" y="192024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Technical Fit: Consolidating 6 chiplets onto DGrid Alpha reduces ECU footprint and simplifies vehicle E/E architecture.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0" y="258572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600" y="256032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Tier-2 Partnering: DeepGrid acts as Tier-2 ASIC supplier, partnering with Tier-1s (Uno Minda, Spark Minda, Bosch).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0" y="322580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600" y="320040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Future Scale Engine: Secures multi-year factory line-fit standardization.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943600"/>
            <a:ext cx="1106424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126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B7C"/>
                </a:solidFill>
                <a:latin typeface="Calibri"/>
              </a:defRPr>
            </a:pPr>
            <a:r>
              <a:t>DeepGrid Semi Analysis  |  Strategy Skill Pipe  |  June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126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B6B7C"/>
                </a:solidFill>
                <a:latin typeface="Calibri"/>
              </a:defRPr>
            </a:pPr>
            <a: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09B82"/>
                </a:solidFill>
                <a:latin typeface="Calibri"/>
              </a:defRPr>
            </a:pPr>
            <a:r>
              <a:t>DEEPGRID SEMI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Global Competitor Playbooks &amp; Lessons Learned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37160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57988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640" y="1554480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Gatik (Constrained Route Playbook): Focuses on B2B middle-mile using NVIDIA DRIVE AGX on Isuzu trucks. Lesson: Fixed routes reduce software complexity for faster deployment.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1996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640" y="2194560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Kodiak Robotics (Dual-Use Playbook): Combines highway trucking with defense robotics using Ambarella 5nm CV3. Lesson: Defense contracts supply non-dilutive R&amp;D funds.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86004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640" y="2834640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Aurora (Heavy-OEM Playbook): Long-haul Class-8 trucking on dual NVIDIA Thor ($6,000+ BOM). Lesson: Multi-year OEM validation requires massive capital reserves.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943600"/>
            <a:ext cx="1106424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B7C"/>
                </a:solidFill>
                <a:latin typeface="Calibri"/>
              </a:defRPr>
            </a:pPr>
            <a:r>
              <a:t>DeepGrid Semi Analysis  |  Strategy Skill Pipe  |  June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126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B6B7C"/>
                </a:solidFill>
                <a:latin typeface="Calibri"/>
              </a:defRPr>
            </a:pPr>
            <a: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09B82"/>
                </a:solidFill>
                <a:latin typeface="Calibri"/>
              </a:defRPr>
            </a:pPr>
            <a:r>
              <a:t>DEEPGRID SEMI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Global Semiconductor &amp; Hardware Dependency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37160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51435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628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9B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628"/>
                          </a:solidFill>
                        </a:defRPr>
                      </a:pPr>
                      <a:r>
                        <a:t>Aurora</a:t>
                      </a:r>
                    </a:p>
                  </a:txBody>
                  <a:tcPr>
                    <a:solidFill>
                      <a:srgbClr val="009B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628"/>
                          </a:solidFill>
                        </a:defRPr>
                      </a:pPr>
                      <a:r>
                        <a:t>Kodiak Robotics</a:t>
                      </a:r>
                    </a:p>
                  </a:txBody>
                  <a:tcPr>
                    <a:solidFill>
                      <a:srgbClr val="009B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628"/>
                          </a:solidFill>
                        </a:defRPr>
                      </a:pPr>
                      <a:r>
                        <a:t>Gatik</a:t>
                      </a:r>
                    </a:p>
                  </a:txBody>
                  <a:tcPr>
                    <a:solidFill>
                      <a:srgbClr val="009B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628"/>
                          </a:solidFill>
                        </a:defRPr>
                      </a:pPr>
                      <a:r>
                        <a:t>DeepWay</a:t>
                      </a:r>
                    </a:p>
                  </a:txBody>
                  <a:tcPr>
                    <a:solidFill>
                      <a:srgbClr val="009B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628"/>
                          </a:solidFill>
                        </a:defRPr>
                      </a:pPr>
                      <a:r>
                        <a:t>DeepGrid Semi</a:t>
                      </a:r>
                    </a:p>
                  </a:txBody>
                  <a:tcPr>
                    <a:solidFill>
                      <a:srgbClr val="009B8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Primary Markets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US Highway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US &amp; Defense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US &amp; Canada B2B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China Freight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India / GCC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Silicon Partner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NVIDIA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Ambarella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NVIDIA / Intel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Baidu Ecosystem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TSMC (28nm)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Compute Model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Merchant Silicon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Specialized Merchant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Off-The-Shelf (COTS)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Proprietary Co-design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Custom In-House ASIC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Core Processor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DRIVE Thor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CV3-AD685 (5nm)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Heterogeneous PC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High-Compute NPU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DGrid Alpha Combo-Die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Compute Capacity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2,000 TOPS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5nm Vector Logic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Varies with GPUs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&gt;500 TOPS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39.3 TOPS INT8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Chip Dependency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Extreme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Moderate-to-High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Zero 3rd-Party Dep.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943600"/>
            <a:ext cx="1106424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B7C"/>
                </a:solidFill>
                <a:latin typeface="Calibri"/>
              </a:defRPr>
            </a:pPr>
            <a:r>
              <a:t>DeepGrid Semi Analysis  |  Strategy Skill Pipe  | 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126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B6B7C"/>
                </a:solidFill>
                <a:latin typeface="Calibri"/>
              </a:defRPr>
            </a:pPr>
            <a: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09B82"/>
                </a:solidFill>
                <a:latin typeface="Calibri"/>
              </a:defRPr>
            </a:pPr>
            <a:r>
              <a:t>DEEPGRID SEMI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Domestic Indian Competitor Mapping (Part 1)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37160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57988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640" y="1554480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Netrasemi: A2000 AI SoC on TSMC 12nm. Raised ₹125 Cr (incl. ₹107 Cr Series A from Zoho in July 2025). Commercial launch Mid-2027 targeting surveillance &amp; edge servers.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1996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640" y="2194560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Mindgrove Technologies: 700 MHz secure RISC-V MCU on TSMC 28nm. Signed MoU with Bosch (June 2025). Raised $10.3M total (incl. $8M Series A led by Peak XV). Lacks deep-learning TOPS.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86004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640" y="2834640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Agnit Semiconductors: Vertically integrated GaN devices on sapphire/SiC. Defense radar pilots live; targeting 100k units in 24 mo. Raised $7.47M total ($2.6M seed extension March 2026).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943600"/>
            <a:ext cx="1106424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B7C"/>
                </a:solidFill>
                <a:latin typeface="Calibri"/>
              </a:defRPr>
            </a:pPr>
            <a:r>
              <a:t>DeepGrid Semi Analysis  |  Strategy Skill Pipe  |  June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126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B6B7C"/>
                </a:solidFill>
                <a:latin typeface="Calibri"/>
              </a:defRPr>
            </a:pPr>
            <a: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09B82"/>
                </a:solidFill>
                <a:latin typeface="Calibri"/>
              </a:defRPr>
            </a:pPr>
            <a:r>
              <a:t>DEEPGRID SEMI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Domestic Indian Competitor Mapping (Part 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37160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57988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640" y="1554480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Minus Zero: Vision-first L4 autonomy using Nature Inspired AI (NIA). Ashok Leyland port autonomy partnership. Raised $1.7M seed. Dependent on merchant hardware.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1996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640" y="2194560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Swaayatt Robots: Map-free L5 autonomous driving using reinforcement learning on unstructured roads. Raised $4M post-seed (June 2024) at $151M valuation. Software-only stack.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86004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640" y="2834640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RoshAI: Hardware-agnostic software stack for heavy industrial, mining, and port autonomy. Raised $1M seed (Aug 2024) + seed extension (April 2026). Software-only stack.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943600"/>
            <a:ext cx="1106424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B7C"/>
                </a:solidFill>
                <a:latin typeface="Calibri"/>
              </a:defRPr>
            </a:pPr>
            <a:r>
              <a:t>DeepGrid Semi Analysis  |  Strategy Skill Pipe  |  June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126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B6B7C"/>
                </a:solidFill>
                <a:latin typeface="Calibri"/>
              </a:defRPr>
            </a:pPr>
            <a: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09B82"/>
                </a:solidFill>
                <a:latin typeface="Calibri"/>
              </a:defRPr>
            </a:pPr>
            <a:r>
              <a:t>DEEPGRID SEMI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DeepGrid's Strategic Position: Why We Stand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37160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Calibri"/>
              </a:defRPr>
            </a:pPr>
            <a:r>
              <a:t>COMPETITOR LIMITATIONS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94564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9640" y="192024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Software-First Players Squeezed: Minus Zero, Swaayatt, RoshAI develop software but rely on $6k+ NVIDIA hardware, making end packages unaffordable.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8572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640" y="256032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Microcontroller Players Lack Compute: Mindgrove designs low-power MCUs but lacks the 39.3 TOPS required for real-time camera-radar fusion.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22580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9640" y="320040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Surveillance SoCs Lack Auto Specs: Netrasemi targets edge servers/surveillance, lacking integrated 77GHz radar (R100) and driver biometrics (H100).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5544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Calibri"/>
              </a:defRPr>
            </a:pPr>
            <a:r>
              <a:t>DEEPGRID'S UNFAIR ADVANTAGE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0" y="194564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600" y="192024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Full Vertical Integration: Single-die combo-die integrates AI compute, radar DSP, secure enclave, and telematics.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0" y="258572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600" y="256032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Disruptive Price Point: $30 compute board BOM enables ₹2.0L-₹2.5L complete retrofit kits with 84% gross margins.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0" y="322580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600" y="320040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Regulatory Tailwinds: Tailor-made for non-discretionary MoRTH (India) and WASL (Saudi) mandates.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943600"/>
            <a:ext cx="1106424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126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B7C"/>
                </a:solidFill>
                <a:latin typeface="Calibri"/>
              </a:defRPr>
            </a:pPr>
            <a:r>
              <a:t>DeepGrid Semi Analysis  |  Strategy Skill Pipe  |  June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126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B6B7C"/>
                </a:solidFill>
                <a:latin typeface="Calibri"/>
              </a:defRPr>
            </a:pPr>
            <a: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09B82"/>
                </a:solidFill>
                <a:latin typeface="Calibri"/>
              </a:defRPr>
            </a:pPr>
            <a:r>
              <a:t>DEEPGRID SEMI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Phase 1 GTM Strategy: Tactical &amp; Off-Highway Wedge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37160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Calibri"/>
              </a:defRPr>
            </a:pPr>
            <a:r>
              <a:t>EXECUTION (MONTHS 0 TO 6)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94564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9640" y="192024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Target Segments: Sovereign UGVs, military drones, and enclosed port cargo-handling equipment (AGVs).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8572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640" y="256032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Hardware Deployment: Deploy fully validated FPGA development boards directly into enclosed facilities.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22580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9640" y="320040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Regulatory Bypass: Operates off-highway to refine radar-vision fusion in real time without public road homologation delays.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5544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Calibri"/>
              </a:defRPr>
            </a:pPr>
            <a:r>
              <a:t>MILESTONES &amp; DE-RISKING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0" y="194564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600" y="192024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Tactical Defense Positioning: D100 RISC-V lockstep enclave isolates critical software execution for military contracts.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0" y="258572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600" y="256032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Non-Dilutive Revenue: Generated ₹1 Crore in contract revenue to extend financial runway during Pre-Series A.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0" y="322580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600" y="320040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Pitch De-risking: Field deployment data provides concrete validation to close the ₹25 Cr raise.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943600"/>
            <a:ext cx="1106424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126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B7C"/>
                </a:solidFill>
                <a:latin typeface="Calibri"/>
              </a:defRPr>
            </a:pPr>
            <a:r>
              <a:t>DeepGrid Semi Analysis  |  Strategy Skill Pipe  |  June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126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B6B7C"/>
                </a:solidFill>
                <a:latin typeface="Calibri"/>
              </a:defRPr>
            </a:pPr>
            <a: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09B82"/>
                </a:solidFill>
                <a:latin typeface="Calibri"/>
              </a:defRPr>
            </a:pPr>
            <a:r>
              <a:t>DEEPGRID SEMI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Phase 2 GTM Strategy: Regulatory Aftermarket Volume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37160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57988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640" y="1554480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Months 6 to 18 Execution: Close ₹25 Crore Pre-Series A round to fund transition from FPGA to custom 28nm ASIC.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1996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640" y="2194560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MeitY Subsidies: Apply to MeitY Product Design Linked Incentive (P-DLI) scheme to offset 50% of chip design costs.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86004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640" y="2834640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MPW Tape-Out: Execute cost-efficient Multi-Project Wafer (MPW) tape-out on TSMC 28nm HPC+ node.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500119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640" y="3474719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Aftermarket Launch: Package ASIC into complete retrofit kit for 5M commercial trucks facing safety deadlines.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14020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640" y="4114800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Price Wedge: Retail at ₹2.0L - ₹2.5L (vs imported systems at ₹8L - ₹18L), achieving 84% gross profit margin.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943600"/>
            <a:ext cx="1106424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126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B7C"/>
                </a:solidFill>
                <a:latin typeface="Calibri"/>
              </a:defRPr>
            </a:pPr>
            <a:r>
              <a:t>DeepGrid Semi Analysis  |  Strategy Skill Pipe  |  June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126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B6B7C"/>
                </a:solidFill>
                <a:latin typeface="Calibri"/>
              </a:defRPr>
            </a:pPr>
            <a: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09B82"/>
                </a:solidFill>
                <a:latin typeface="Calibri"/>
              </a:defRPr>
            </a:pPr>
            <a:r>
              <a:t>DEEPGRID SEMI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Phase 3 GTM Strategy: OEM &amp; Tier-1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37160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Calibri"/>
              </a:defRPr>
            </a:pPr>
            <a:r>
              <a:t>SCALE ENGINE (MONTHS 18 TO 36)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94564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9640" y="192024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Tier-1 Strategic Alliances: Partner with domestic Tier-1s (Uno Minda, Spark Minda, Bosch India) for licensing, manufacturing, &amp; OEM sales.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8572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640" y="256032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Sovereign OEM Line-Fit Wins: Leverage retrofit field data to pitch ASIC as standard factory equipment on new trucks/buses.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22580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9640" y="320040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SaaS Subscription Activation: Transition hardware sales into high-margin recurring subscriptions for tracking and alerts.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5544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Calibri"/>
              </a:defRPr>
            </a:pPr>
            <a:r>
              <a:t>SOVEREIGN DATA MOAT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0" y="194564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600" y="192024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Localized Data Accumulation: Every km driven by fleet retrofits generates real-world Indian/GCC road training data.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0" y="258572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600" y="256032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Model Refinement: Continuous edge model training reinforces perception accuracy.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0" y="322580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600" y="320040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High Switching Costs: Deeply integrated hardware-software stack creates immense moat against third-party entrants.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943600"/>
            <a:ext cx="1106424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126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B7C"/>
                </a:solidFill>
                <a:latin typeface="Calibri"/>
              </a:defRPr>
            </a:pPr>
            <a:r>
              <a:t>DeepGrid Semi Analysis  |  Strategy Skill Pipe  |  June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126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B6B7C"/>
                </a:solidFill>
                <a:latin typeface="Calibri"/>
              </a:defRPr>
            </a:pPr>
            <a: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09B82"/>
                </a:solidFill>
                <a:latin typeface="Calibri"/>
              </a:defRPr>
            </a:pPr>
            <a:r>
              <a:t>DEEPGRID SEMI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India Mandates: MoRTH &amp; AIS Deadline Mapping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37160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878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628"/>
                          </a:solidFill>
                        </a:defRPr>
                      </a:pPr>
                      <a:r>
                        <a:t>Regulatory Code</a:t>
                      </a:r>
                    </a:p>
                  </a:txBody>
                  <a:tcPr>
                    <a:solidFill>
                      <a:srgbClr val="009B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628"/>
                          </a:solidFill>
                        </a:defRPr>
                      </a:pPr>
                      <a:r>
                        <a:t>Core ADAS Application</a:t>
                      </a:r>
                    </a:p>
                  </a:txBody>
                  <a:tcPr>
                    <a:solidFill>
                      <a:srgbClr val="009B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628"/>
                          </a:solidFill>
                        </a:defRPr>
                      </a:pPr>
                      <a:r>
                        <a:t>DeepGrid Chiplet Mapping</a:t>
                      </a:r>
                    </a:p>
                  </a:txBody>
                  <a:tcPr>
                    <a:solidFill>
                      <a:srgbClr val="009B8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AIS-184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Driver Attention Warning (DAW)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H100 Bio-ADC Fatigue Core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AIS-186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Blind Spot Detection (BSD)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R100 Radar DSP Core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AIS-187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Moving Off Information System (MOIS)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R100 Radar + T100 Vision DSP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AIS-188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Lane Departure Warning System (LDWS)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A100 Edge AI Vision Core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AIS-162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Advanced Emergency Braking System (AEBS)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A100 Vision + R100 Radar Real-Time Logic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AIS-189 / AIS-190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Cybersecurity &amp; OTA Software Update Mgt.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D100 RISC-V Lockstep Secure Enclave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943600"/>
            <a:ext cx="1106424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B7C"/>
                </a:solidFill>
                <a:latin typeface="Calibri"/>
              </a:defRPr>
            </a:pPr>
            <a:r>
              <a:t>DeepGrid Semi Analysis  |  Strategy Skill Pipe  | 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126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B6B7C"/>
                </a:solidFill>
                <a:latin typeface="Calibri"/>
              </a:defRPr>
            </a:pPr>
            <a: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09B82"/>
                </a:solidFill>
                <a:latin typeface="Calibri"/>
              </a:defRPr>
            </a:pPr>
            <a:r>
              <a:t>DEEPGRID SEMI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GCC Regional Compliance Engine: Saudi WASL &amp; TGA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37160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57988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640" y="1554480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Saudi WASL Mandate: Transport General Authority (TGA) mandates live location &amp; weight metric sync for commercial trucks/buses.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1996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640" y="2194560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Non-Compliance Penalties: Unlinked fleet vehicles face operational suspension and severe municipal fines.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86004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640" y="2834640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Integrated Sensor Requirements: Heavy trucks must pair GPS tracking with high-accuracy (&gt;90%) on-board weight sensors.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500119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640" y="3474719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S100 Telematics Integration: Includes native WASL protocols and sensor interfaces on-chip, eliminating external tracker units.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943600"/>
            <a:ext cx="1106424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126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B7C"/>
                </a:solidFill>
                <a:latin typeface="Calibri"/>
              </a:defRPr>
            </a:pPr>
            <a:r>
              <a:t>DeepGrid Semi Analysis  |  Strategy Skill Pipe  |  June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126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B6B7C"/>
                </a:solidFill>
                <a:latin typeface="Calibri"/>
              </a:defRPr>
            </a:pPr>
            <a: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09B82"/>
                </a:solidFill>
                <a:latin typeface="Calibri"/>
              </a:defRPr>
            </a:pPr>
            <a:r>
              <a:t>DEEPGRID SEMI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Financial Model: Hardware Unit Economics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37160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Calibri"/>
              </a:defRPr>
            </a:pPr>
            <a:r>
              <a:t>MANUFACTURING &amp; BOM COST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94564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9640" y="192024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Foundry Node: TSMC 28nm mature node keeps wafer cost to ~$3,000 (vs $18,500 for 5nm).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8572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640" y="256032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Packaging: Standard QFN packaging costs $0.80 - $2.00 per unit.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22580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9640" y="320040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Custom ASIC Die Cost: ~$3 at scale.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865879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9640" y="3840479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Compute Board BOM: ~$30 total.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5544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Calibri"/>
              </a:defRPr>
            </a:pPr>
            <a:r>
              <a:t>REVENUE &amp; MARGIN PROFLE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0" y="194564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600" y="192024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Retail Price ASP: ₹2.0L - ₹2.5L ($2,400 - $3,000) per kit.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0" y="258572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600" y="256032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Cost Undercut: 3x to 7x cheaper than imported Western/Chinese systems.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0" y="322580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600" y="3200400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Hardware Gross Margin: Achieves 84% gross profit margin per hardware unit.</a:t>
            </a:r>
          </a:p>
        </p:txBody>
      </p:sp>
      <p:sp>
        <p:nvSpPr>
          <p:cNvPr id="21" name="Oval 20"/>
          <p:cNvSpPr/>
          <p:nvPr/>
        </p:nvSpPr>
        <p:spPr>
          <a:xfrm>
            <a:off x="5943600" y="3865879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600" y="3840479"/>
            <a:ext cx="46482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Reinvestment: High hardware margin funds ongoing R&amp;D and SaaS expansion.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943600"/>
            <a:ext cx="1106424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126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B7C"/>
                </a:solidFill>
                <a:latin typeface="Calibri"/>
              </a:defRPr>
            </a:pPr>
            <a:r>
              <a:t>DeepGrid Semi Analysis  |  Strategy Skill Pipe  |  June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126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B6B7C"/>
                </a:solidFill>
                <a:latin typeface="Calibri"/>
              </a:defRPr>
            </a:pPr>
            <a: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09B82"/>
                </a:solidFill>
                <a:latin typeface="Calibri"/>
              </a:defRPr>
            </a:pPr>
            <a:r>
              <a:t>DEEPGRID SEMI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Cost Curves &amp; Tape-Out Break-Even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37160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57988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640" y="1554480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Total NRE Investment: $8,000,000 (₹65 Cr) covering mask layout, Cadence/Synopsys EDA licenses, team, and MPW shuttle fees.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1996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640" y="2194560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Average Selling Price (ASP): $2,400 per retrofit kit.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86004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640" y="2834640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Variable Unit Manufacturing Cost: $200 per kit.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500119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640" y="3474719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Contribution Margin: $2,400 - $200 = $2,200 per unit.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14020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640" y="4114800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Break-Even Volume Formula: NRE / (ASP - Variable Cost) = $8,000,000 / $2,200 = 3,636 units.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78028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9640" y="4754880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Investment Thesis: Capturing just 3,636 retrofitted trucks (&lt;0.1% of active Indian commercial fleet) achieves full NRE break-even.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943600"/>
            <a:ext cx="1106424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126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B7C"/>
                </a:solidFill>
                <a:latin typeface="Calibri"/>
              </a:defRPr>
            </a:pPr>
            <a:r>
              <a:t>DeepGrid Semi Analysis  |  Strategy Skill Pipe  |  June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126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B6B7C"/>
                </a:solidFill>
                <a:latin typeface="Calibri"/>
              </a:defRPr>
            </a:pPr>
            <a: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09B82"/>
                </a:solidFill>
                <a:latin typeface="Calibri"/>
              </a:defRPr>
            </a:pPr>
            <a:r>
              <a:t>DEEPGRID SEMI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3-Year Financial Projections &amp; Scaling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37160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685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628"/>
                          </a:solidFill>
                        </a:defRPr>
                      </a:pPr>
                      <a:r>
                        <a:t>Metric / Scaling Horizon</a:t>
                      </a:r>
                    </a:p>
                  </a:txBody>
                  <a:tcPr>
                    <a:solidFill>
                      <a:srgbClr val="009B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628"/>
                          </a:solidFill>
                        </a:defRPr>
                      </a:pPr>
                      <a:r>
                        <a:t>Year 1 (Post-Raise)</a:t>
                      </a:r>
                    </a:p>
                  </a:txBody>
                  <a:tcPr>
                    <a:solidFill>
                      <a:srgbClr val="009B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628"/>
                          </a:solidFill>
                        </a:defRPr>
                      </a:pPr>
                      <a:r>
                        <a:t>Year 2 (Tier-1 Scale)</a:t>
                      </a:r>
                    </a:p>
                  </a:txBody>
                  <a:tcPr>
                    <a:solidFill>
                      <a:srgbClr val="009B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628"/>
                          </a:solidFill>
                        </a:defRPr>
                      </a:pPr>
                      <a:r>
                        <a:t>Year 3 (OEM Integration)</a:t>
                      </a:r>
                    </a:p>
                  </a:txBody>
                  <a:tcPr>
                    <a:solidFill>
                      <a:srgbClr val="009B8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Active Deployed Units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1,500 units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15,000 units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75,000 units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Average Revenue Per User (ARPU)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$20 / month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$25 / month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$30 / month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Annual Recurring Revenue (ARR)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$360,000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$4,500,000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$27,000,000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Blended Gross Margin (SaaS + HW)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72%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81%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Customer Acquisition Cost (CAC)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$120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$45 (via Tier-1s)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$20 (Factory-Line)</a:t>
                      </a:r>
                    </a:p>
                  </a:txBody>
                  <a:tcPr>
                    <a:solidFill>
                      <a:srgbClr val="14263E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943600"/>
            <a:ext cx="1106424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B7C"/>
                </a:solidFill>
                <a:latin typeface="Calibri"/>
              </a:defRPr>
            </a:pPr>
            <a:r>
              <a:t>DeepGrid Semi Analysis  |  Strategy Skill Pipe  | 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126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B6B7C"/>
                </a:solidFill>
                <a:latin typeface="Calibri"/>
              </a:defRPr>
            </a:pPr>
            <a: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09B82"/>
                </a:solidFill>
                <a:latin typeface="Calibri"/>
              </a:defRPr>
            </a:pPr>
            <a:r>
              <a:t>DEEPGRID SEMI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Recurring Software Monetization: SaaS Tiers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37160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57988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640" y="1554480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Base Compliance Tier (₹10,000 / yr): Basic safety metrics, automated driver drowsiness logs, &amp; MoRTH/WASL compliance reporting.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1996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640" y="2194560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Advanced Autonomy Tier (₹15,000 / yr): Driver fatigue tracking via H100 bio-ADC &amp; edge Visual-Language-Action (VLA) video analytics.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86004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640" y="2834640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Premium Autonomy Tier (₹25,000 / yr): Active Level 2+ collision avoidance, lane-keep assist, &amp; adaptive speed compliance via OTA.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943600"/>
            <a:ext cx="1106424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B7C"/>
                </a:solidFill>
                <a:latin typeface="Calibri"/>
              </a:defRPr>
            </a:pPr>
            <a:r>
              <a:t>DeepGrid Semi Analysis  |  Strategy Skill Pipe  |  June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126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B6B7C"/>
                </a:solidFill>
                <a:latin typeface="Calibri"/>
              </a:defRPr>
            </a:pPr>
            <a: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09B82"/>
                </a:solidFill>
                <a:latin typeface="Calibri"/>
              </a:defRPr>
            </a:pPr>
            <a:r>
              <a:t>DEEPGRID SEMI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Leveraging Sovereign Subsidies: MeitY &amp; DLI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37160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57988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640" y="1554480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Product Design Linked Incentive (P-DLI): 50% reimbursement of eligible chip design expenditure, capped at ₹15 Crore.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1996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640" y="2194560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Deployment Linked Incentive: Financial incentive of 6% to 4% of net sales turnover over 5 years (capped at ₹30 Crore).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86004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640" y="2834640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Shared EDA Grid Support: Access to ChipIN Centre centralized EDA platform, saving $100k+ in Synopsys/Cadence licensing.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500119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640" y="3474719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VC Capital Efficiency: Combined with ₹25 Cr ask, sovereign subsidies provide a fully capitalized path to first-silicon delivery.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943600"/>
            <a:ext cx="1106424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126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B7C"/>
                </a:solidFill>
                <a:latin typeface="Calibri"/>
              </a:defRPr>
            </a:pPr>
            <a:r>
              <a:t>DeepGrid Semi Analysis  |  Strategy Skill Pipe  |  June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126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B6B7C"/>
                </a:solidFill>
                <a:latin typeface="Calibri"/>
              </a:defRPr>
            </a:pPr>
            <a: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09B82"/>
                </a:solidFill>
                <a:latin typeface="Calibri"/>
              </a:defRPr>
            </a:pPr>
            <a:r>
              <a:t>DEEPGRID SEMI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Defensible Pre-Series A Investment 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37160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57988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640" y="1554480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Pillar 1 — Eliminating Hardware Squeeze: Vertical integration of silicon, sensors, and software secures 84% HW margins + recurring SaaS.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1996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640" y="2194560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Pillar 2 — De-risked Technical Validation: Core 39.3 TOPS tensor cube architecture validated on FPGA with ₹1 Cr defense revenue.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860040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640" y="2834640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Pillar 3 — Non-Discretionary Mandate Capture: India MoRTH GSR 184(E) &amp; Saudi WASL mandates unlock immediate, high-volume TAM.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500119"/>
            <a:ext cx="279400" cy="279400"/>
          </a:xfrm>
          <a:prstGeom prst="ellipse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640" y="3474719"/>
            <a:ext cx="967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AE"/>
                </a:solidFill>
                <a:latin typeface="Calibri"/>
              </a:defRPr>
            </a:pPr>
            <a:r>
              <a:t>Pillar 4 — Capital-Efficient Engineering: TSMC 28nm node + MeitY DLI subsidies ensure ₹25 Cr ask reaches first-silicon &amp; launch.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943600"/>
            <a:ext cx="11064240" cy="381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126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B7C"/>
                </a:solidFill>
                <a:latin typeface="Calibri"/>
              </a:defRPr>
            </a:pPr>
            <a:r>
              <a:t>DeepGrid Semi Analysis  |  Strategy Skill Pipe  |  June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126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B6B7C"/>
                </a:solidFill>
                <a:latin typeface="Calibri"/>
              </a:defRPr>
            </a:pPr>
            <a:r>
              <a:t>27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